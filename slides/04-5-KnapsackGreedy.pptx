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notesSlides/notesSlide3.xml" ContentType="application/vnd.openxmlformats-officedocument.presentationml.notesSlide+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notesSlides/notesSlide4.xml" ContentType="application/vnd.openxmlformats-officedocument.presentationml.notesSlide+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notesSlides/notesSlide5.xml" ContentType="application/vnd.openxmlformats-officedocument.presentationml.notesSlide+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notesSlides/notesSlide6.xml" ContentType="application/vnd.openxmlformats-officedocument.presentationml.notesSlide+xml"/>
  <Override PartName="/ppt/tags/tag26.xml" ContentType="application/vnd.openxmlformats-officedocument.presentationml.tags+xml"/>
  <Override PartName="/ppt/tags/tag27.xml" ContentType="application/vnd.openxmlformats-officedocument.presentationml.tags+xml"/>
  <Override PartName="/ppt/notesSlides/notesSlide7.xml" ContentType="application/vnd.openxmlformats-officedocument.presentationml.notesSlide+xml"/>
  <Override PartName="/ppt/tags/tag28.xml" ContentType="application/vnd.openxmlformats-officedocument.presentationml.tags+xml"/>
  <Override PartName="/ppt/tags/tag29.xml" ContentType="application/vnd.openxmlformats-officedocument.presentationml.tags+xml"/>
  <Override PartName="/ppt/notesSlides/notesSlide8.xml" ContentType="application/vnd.openxmlformats-officedocument.presentationml.notesSlide+xml"/>
  <Override PartName="/ppt/tags/tag30.xml" ContentType="application/vnd.openxmlformats-officedocument.presentationml.tags+xml"/>
  <Override PartName="/ppt/tags/tag31.xml" ContentType="application/vnd.openxmlformats-officedocument.presentationml.tags+xml"/>
  <Override PartName="/ppt/notesSlides/notesSlide9.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notesSlides/notesSlide10.xml" ContentType="application/vnd.openxmlformats-officedocument.presentationml.notesSlide+xml"/>
  <Override PartName="/ppt/tags/tag34.xml" ContentType="application/vnd.openxmlformats-officedocument.presentationml.tags+xml"/>
  <Override PartName="/ppt/tags/tag35.xml" ContentType="application/vnd.openxmlformats-officedocument.presentationml.tags+xml"/>
  <Override PartName="/ppt/notesSlides/notesSlide11.xml" ContentType="application/vnd.openxmlformats-officedocument.presentationml.notesSlide+xml"/>
  <Override PartName="/ppt/tags/tag36.xml" ContentType="application/vnd.openxmlformats-officedocument.presentationml.tags+xml"/>
  <Override PartName="/ppt/tags/tag37.xml" ContentType="application/vnd.openxmlformats-officedocument.presentationml.tags+xml"/>
  <Override PartName="/ppt/notesSlides/notesSlide12.xml" ContentType="application/vnd.openxmlformats-officedocument.presentationml.notesSlide+xml"/>
  <Override PartName="/ppt/tags/tag38.xml" ContentType="application/vnd.openxmlformats-officedocument.presentationml.tags+xml"/>
  <Override PartName="/ppt/tags/tag39.xml" ContentType="application/vnd.openxmlformats-officedocument.presentationml.tags+xml"/>
  <Override PartName="/ppt/notesSlides/notesSlide13.xml" ContentType="application/vnd.openxmlformats-officedocument.presentationml.notesSlide+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28"/>
  </p:notesMasterIdLst>
  <p:sldIdLst>
    <p:sldId id="256" r:id="rId2"/>
    <p:sldId id="617" r:id="rId3"/>
    <p:sldId id="663" r:id="rId4"/>
    <p:sldId id="452" r:id="rId5"/>
    <p:sldId id="689" r:id="rId6"/>
    <p:sldId id="690" r:id="rId7"/>
    <p:sldId id="691" r:id="rId8"/>
    <p:sldId id="692" r:id="rId9"/>
    <p:sldId id="693" r:id="rId10"/>
    <p:sldId id="694" r:id="rId11"/>
    <p:sldId id="695" r:id="rId12"/>
    <p:sldId id="696" r:id="rId13"/>
    <p:sldId id="697" r:id="rId14"/>
    <p:sldId id="698" r:id="rId15"/>
    <p:sldId id="685" r:id="rId16"/>
    <p:sldId id="686" r:id="rId17"/>
    <p:sldId id="487" r:id="rId18"/>
    <p:sldId id="657" r:id="rId19"/>
    <p:sldId id="659" r:id="rId20"/>
    <p:sldId id="660" r:id="rId21"/>
    <p:sldId id="534" r:id="rId22"/>
    <p:sldId id="535" r:id="rId23"/>
    <p:sldId id="653" r:id="rId24"/>
    <p:sldId id="687" r:id="rId25"/>
    <p:sldId id="688" r:id="rId26"/>
    <p:sldId id="328"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243"/>
    <p:restoredTop sz="94673"/>
  </p:normalViewPr>
  <p:slideViewPr>
    <p:cSldViewPr snapToGrid="0" snapToObjects="1">
      <p:cViewPr varScale="1">
        <p:scale>
          <a:sx n="133" d="100"/>
          <a:sy n="133" d="100"/>
        </p:scale>
        <p:origin x="208" y="2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8/28/25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ADCBB9-4DAA-DC4B-80A5-C231400C2D6E}" type="slidenum">
              <a:rPr lang="en-US" smtClean="0"/>
              <a:pPr/>
              <a:t>4</a:t>
            </a:fld>
            <a:endParaRPr lang="en-US"/>
          </a:p>
        </p:txBody>
      </p:sp>
    </p:spTree>
    <p:extLst>
      <p:ext uri="{BB962C8B-B14F-4D97-AF65-F5344CB8AC3E}">
        <p14:creationId xmlns:p14="http://schemas.microsoft.com/office/powerpoint/2010/main" val="33183629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EDFF9-12FF-3537-00A3-ED887AF53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E9E426-F4DF-44C2-6FEF-AF745C95C5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24466D-91C0-ECF5-4898-EE6BCAC891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92A0BC2-3090-30D6-8F4A-48B675B14916}"/>
              </a:ext>
            </a:extLst>
          </p:cNvPr>
          <p:cNvSpPr>
            <a:spLocks noGrp="1"/>
          </p:cNvSpPr>
          <p:nvPr>
            <p:ph type="sldNum" sz="quarter" idx="10"/>
          </p:nvPr>
        </p:nvSpPr>
        <p:spPr/>
        <p:txBody>
          <a:bodyPr/>
          <a:lstStyle/>
          <a:p>
            <a:fld id="{71ADCBB9-4DAA-DC4B-80A5-C231400C2D6E}" type="slidenum">
              <a:rPr lang="en-US" smtClean="0"/>
              <a:pPr/>
              <a:t>5</a:t>
            </a:fld>
            <a:endParaRPr lang="en-US"/>
          </a:p>
        </p:txBody>
      </p:sp>
    </p:spTree>
    <p:extLst>
      <p:ext uri="{BB962C8B-B14F-4D97-AF65-F5344CB8AC3E}">
        <p14:creationId xmlns:p14="http://schemas.microsoft.com/office/powerpoint/2010/main" val="16270891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31D8-5D45-C3E5-8ECC-0B53B9C2FD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CB6C9A-3DA8-ECDB-FE63-C71C57763C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3B9156-769E-77D2-AB6F-5F61B154A44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AAB90DC-048F-8EB8-383C-509B90313B6E}"/>
              </a:ext>
            </a:extLst>
          </p:cNvPr>
          <p:cNvSpPr>
            <a:spLocks noGrp="1"/>
          </p:cNvSpPr>
          <p:nvPr>
            <p:ph type="sldNum" sz="quarter" idx="10"/>
          </p:nvPr>
        </p:nvSpPr>
        <p:spPr/>
        <p:txBody>
          <a:bodyPr/>
          <a:lstStyle/>
          <a:p>
            <a:fld id="{71ADCBB9-4DAA-DC4B-80A5-C231400C2D6E}" type="slidenum">
              <a:rPr lang="en-US" smtClean="0"/>
              <a:pPr/>
              <a:t>6</a:t>
            </a:fld>
            <a:endParaRPr lang="en-US"/>
          </a:p>
        </p:txBody>
      </p:sp>
    </p:spTree>
    <p:extLst>
      <p:ext uri="{BB962C8B-B14F-4D97-AF65-F5344CB8AC3E}">
        <p14:creationId xmlns:p14="http://schemas.microsoft.com/office/powerpoint/2010/main" val="11196567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D2F2D-F78F-E27A-60CD-8070E77584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90E711-D788-E926-DC2A-E2E2D0BFB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6A0EBC-210C-B527-F90F-BB834C32F4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8603492-37FD-1E8F-1A40-F81503D1C4BE}"/>
              </a:ext>
            </a:extLst>
          </p:cNvPr>
          <p:cNvSpPr>
            <a:spLocks noGrp="1"/>
          </p:cNvSpPr>
          <p:nvPr>
            <p:ph type="sldNum" sz="quarter" idx="10"/>
          </p:nvPr>
        </p:nvSpPr>
        <p:spPr/>
        <p:txBody>
          <a:bodyPr/>
          <a:lstStyle/>
          <a:p>
            <a:fld id="{71ADCBB9-4DAA-DC4B-80A5-C231400C2D6E}" type="slidenum">
              <a:rPr lang="en-US" smtClean="0"/>
              <a:pPr/>
              <a:t>7</a:t>
            </a:fld>
            <a:endParaRPr lang="en-US"/>
          </a:p>
        </p:txBody>
      </p:sp>
    </p:spTree>
    <p:extLst>
      <p:ext uri="{BB962C8B-B14F-4D97-AF65-F5344CB8AC3E}">
        <p14:creationId xmlns:p14="http://schemas.microsoft.com/office/powerpoint/2010/main" val="14988314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3EC5C-D5DC-076A-1FCD-CEF5377C0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06F40-0687-3C06-59E5-38A72675CE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B10B4-639B-44CC-207E-5E2988DFFE5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4A9706-755D-8294-C350-18E3A797C4A7}"/>
              </a:ext>
            </a:extLst>
          </p:cNvPr>
          <p:cNvSpPr>
            <a:spLocks noGrp="1"/>
          </p:cNvSpPr>
          <p:nvPr>
            <p:ph type="sldNum" sz="quarter" idx="10"/>
          </p:nvPr>
        </p:nvSpPr>
        <p:spPr/>
        <p:txBody>
          <a:bodyPr/>
          <a:lstStyle/>
          <a:p>
            <a:fld id="{71ADCBB9-4DAA-DC4B-80A5-C231400C2D6E}" type="slidenum">
              <a:rPr lang="en-US" smtClean="0"/>
              <a:pPr/>
              <a:t>8</a:t>
            </a:fld>
            <a:endParaRPr lang="en-US"/>
          </a:p>
        </p:txBody>
      </p:sp>
    </p:spTree>
    <p:extLst>
      <p:ext uri="{BB962C8B-B14F-4D97-AF65-F5344CB8AC3E}">
        <p14:creationId xmlns:p14="http://schemas.microsoft.com/office/powerpoint/2010/main" val="4331967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31E83-A8FC-5D18-20A6-5FAC092750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D63750-87DC-1A90-E7AC-8A9C9E7310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B75EA5-F9FF-88E5-EB4B-5332847D40B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9481D85-4DB8-7410-FCE7-5058F7FA87BD}"/>
              </a:ext>
            </a:extLst>
          </p:cNvPr>
          <p:cNvSpPr>
            <a:spLocks noGrp="1"/>
          </p:cNvSpPr>
          <p:nvPr>
            <p:ph type="sldNum" sz="quarter" idx="10"/>
          </p:nvPr>
        </p:nvSpPr>
        <p:spPr/>
        <p:txBody>
          <a:bodyPr/>
          <a:lstStyle/>
          <a:p>
            <a:fld id="{71ADCBB9-4DAA-DC4B-80A5-C231400C2D6E}" type="slidenum">
              <a:rPr lang="en-US" smtClean="0"/>
              <a:pPr/>
              <a:t>9</a:t>
            </a:fld>
            <a:endParaRPr lang="en-US"/>
          </a:p>
        </p:txBody>
      </p:sp>
    </p:spTree>
    <p:extLst>
      <p:ext uri="{BB962C8B-B14F-4D97-AF65-F5344CB8AC3E}">
        <p14:creationId xmlns:p14="http://schemas.microsoft.com/office/powerpoint/2010/main" val="35268596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EAD80-9F7B-8C2D-73E1-69152BFB7C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03D8B1-F84A-F3B0-92E8-08D5D6E785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85632B-10E0-14F0-7153-DAEFA5EEEF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C36DD0C-108A-D5A0-5AAC-51E4257A0061}"/>
              </a:ext>
            </a:extLst>
          </p:cNvPr>
          <p:cNvSpPr>
            <a:spLocks noGrp="1"/>
          </p:cNvSpPr>
          <p:nvPr>
            <p:ph type="sldNum" sz="quarter" idx="10"/>
          </p:nvPr>
        </p:nvSpPr>
        <p:spPr/>
        <p:txBody>
          <a:bodyPr/>
          <a:lstStyle/>
          <a:p>
            <a:fld id="{71ADCBB9-4DAA-DC4B-80A5-C231400C2D6E}" type="slidenum">
              <a:rPr lang="en-US" smtClean="0"/>
              <a:pPr/>
              <a:t>10</a:t>
            </a:fld>
            <a:endParaRPr lang="en-US"/>
          </a:p>
        </p:txBody>
      </p:sp>
    </p:spTree>
    <p:extLst>
      <p:ext uri="{BB962C8B-B14F-4D97-AF65-F5344CB8AC3E}">
        <p14:creationId xmlns:p14="http://schemas.microsoft.com/office/powerpoint/2010/main" val="25074224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52BAC-D493-6463-A723-89448FFB66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B73FF2-323C-CF01-005C-BF3E421239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582132-C6AE-218B-E597-EFB689D42FF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CEBEE03-B366-0DD9-7AE8-6A528D2673FD}"/>
              </a:ext>
            </a:extLst>
          </p:cNvPr>
          <p:cNvSpPr>
            <a:spLocks noGrp="1"/>
          </p:cNvSpPr>
          <p:nvPr>
            <p:ph type="sldNum" sz="quarter" idx="10"/>
          </p:nvPr>
        </p:nvSpPr>
        <p:spPr/>
        <p:txBody>
          <a:bodyPr/>
          <a:lstStyle/>
          <a:p>
            <a:fld id="{71ADCBB9-4DAA-DC4B-80A5-C231400C2D6E}" type="slidenum">
              <a:rPr lang="en-US" smtClean="0"/>
              <a:pPr/>
              <a:t>11</a:t>
            </a:fld>
            <a:endParaRPr lang="en-US"/>
          </a:p>
        </p:txBody>
      </p:sp>
    </p:spTree>
    <p:extLst>
      <p:ext uri="{BB962C8B-B14F-4D97-AF65-F5344CB8AC3E}">
        <p14:creationId xmlns:p14="http://schemas.microsoft.com/office/powerpoint/2010/main" val="21605921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AF613-A970-A2A0-6F7E-FBD946F7E3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158B82-9E97-1174-062B-C0F47162B5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DC5A96-CB39-D125-5EC6-85F9268195A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F36C971-CF54-4395-19B9-E11DD25A215F}"/>
              </a:ext>
            </a:extLst>
          </p:cNvPr>
          <p:cNvSpPr>
            <a:spLocks noGrp="1"/>
          </p:cNvSpPr>
          <p:nvPr>
            <p:ph type="sldNum" sz="quarter" idx="10"/>
          </p:nvPr>
        </p:nvSpPr>
        <p:spPr/>
        <p:txBody>
          <a:bodyPr/>
          <a:lstStyle/>
          <a:p>
            <a:fld id="{71ADCBB9-4DAA-DC4B-80A5-C231400C2D6E}" type="slidenum">
              <a:rPr lang="en-US" smtClean="0"/>
              <a:pPr/>
              <a:t>12</a:t>
            </a:fld>
            <a:endParaRPr lang="en-US"/>
          </a:p>
        </p:txBody>
      </p:sp>
    </p:spTree>
    <p:extLst>
      <p:ext uri="{BB962C8B-B14F-4D97-AF65-F5344CB8AC3E}">
        <p14:creationId xmlns:p14="http://schemas.microsoft.com/office/powerpoint/2010/main" val="8601840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2FA61-9425-B0B1-337B-53571D7C4F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1F632A-791F-6E83-0343-4EE27ACA7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ADD609-A9AF-453A-CDFF-FBB97FACD6E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E7F9CE8-8E82-407A-4959-8BCD2989932B}"/>
              </a:ext>
            </a:extLst>
          </p:cNvPr>
          <p:cNvSpPr>
            <a:spLocks noGrp="1"/>
          </p:cNvSpPr>
          <p:nvPr>
            <p:ph type="sldNum" sz="quarter" idx="10"/>
          </p:nvPr>
        </p:nvSpPr>
        <p:spPr/>
        <p:txBody>
          <a:bodyPr/>
          <a:lstStyle/>
          <a:p>
            <a:fld id="{71ADCBB9-4DAA-DC4B-80A5-C231400C2D6E}" type="slidenum">
              <a:rPr lang="en-US" smtClean="0"/>
              <a:pPr/>
              <a:t>13</a:t>
            </a:fld>
            <a:endParaRPr lang="en-US"/>
          </a:p>
        </p:txBody>
      </p:sp>
    </p:spTree>
    <p:extLst>
      <p:ext uri="{BB962C8B-B14F-4D97-AF65-F5344CB8AC3E}">
        <p14:creationId xmlns:p14="http://schemas.microsoft.com/office/powerpoint/2010/main" val="11575631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FAC37-E444-0C8C-7110-B8F20B57E7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9E27BC-9D89-2455-8660-73733C10B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14151B-E394-608F-E2DD-945E159C8F4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AA5E2F7-FE6B-4978-2386-D2FD95644068}"/>
              </a:ext>
            </a:extLst>
          </p:cNvPr>
          <p:cNvSpPr>
            <a:spLocks noGrp="1"/>
          </p:cNvSpPr>
          <p:nvPr>
            <p:ph type="sldNum" sz="quarter" idx="10"/>
          </p:nvPr>
        </p:nvSpPr>
        <p:spPr/>
        <p:txBody>
          <a:bodyPr/>
          <a:lstStyle/>
          <a:p>
            <a:fld id="{71ADCBB9-4DAA-DC4B-80A5-C231400C2D6E}" type="slidenum">
              <a:rPr lang="en-US" smtClean="0"/>
              <a:pPr/>
              <a:t>14</a:t>
            </a:fld>
            <a:endParaRPr lang="en-US"/>
          </a:p>
        </p:txBody>
      </p:sp>
    </p:spTree>
    <p:extLst>
      <p:ext uri="{BB962C8B-B14F-4D97-AF65-F5344CB8AC3E}">
        <p14:creationId xmlns:p14="http://schemas.microsoft.com/office/powerpoint/2010/main" val="32286194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ADCBB9-4DAA-DC4B-80A5-C231400C2D6E}" type="slidenum">
              <a:rPr lang="en-US" smtClean="0"/>
              <a:pPr/>
              <a:t>17</a:t>
            </a:fld>
            <a:endParaRPr lang="en-US"/>
          </a:p>
        </p:txBody>
      </p:sp>
    </p:spTree>
    <p:extLst>
      <p:ext uri="{BB962C8B-B14F-4D97-AF65-F5344CB8AC3E}">
        <p14:creationId xmlns:p14="http://schemas.microsoft.com/office/powerpoint/2010/main" val="1000158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7E913D-325D-4B30-8E23-50203DB584FD}" type="slidenum">
              <a:rPr lang="en-US" smtClean="0"/>
              <a:t>26</a:t>
            </a:fld>
            <a:endParaRPr lang="en-US"/>
          </a:p>
        </p:txBody>
      </p:sp>
    </p:spTree>
    <p:extLst>
      <p:ext uri="{BB962C8B-B14F-4D97-AF65-F5344CB8AC3E}">
        <p14:creationId xmlns:p14="http://schemas.microsoft.com/office/powerpoint/2010/main" val="173401966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86FB45EE-F88A-5E4A-9CF6-6B599721C6E3}" type="datetime1">
              <a:rPr lang="en-US" smtClean="0"/>
              <a:t>8/28/25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AB8CE37-05CE-F847-88D8-A9F94EE20C02}" type="datetime1">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B10B73-E594-4545-8EC0-FF85158BF70E}" type="datetime1">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EADABBB-9FA2-3B45-9651-E65F5D50BA0A}" type="datetime1">
              <a:rPr lang="en-US" smtClean="0"/>
              <a:t>8/28/25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AAFCB45-8F0B-2644-A6DA-A17B45FFD4EC}" type="datetime1">
              <a:rPr lang="en-US" smtClean="0"/>
              <a:t>8/28/25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35D1E20-0FFF-4E47-88E4-9199312DC840}" type="datetime1">
              <a:rPr lang="en-US" smtClean="0"/>
              <a:t>8/28/25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04C6A1-7627-1140-A049-FC046666FEF3}" type="datetime1">
              <a:rPr lang="en-US" smtClean="0"/>
              <a:t>8/28/25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377189E-F65C-4C41-8535-B87DCC693C37}" type="datetime1">
              <a:rPr lang="en-US" smtClean="0"/>
              <a:t>8/28/25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2F3262D-F012-B94C-9F48-A5766D711008}" type="datetime1">
              <a:rPr lang="en-US" smtClean="0"/>
              <a:t>8/28/25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28C2BD4-882A-2741-834E-56DD06D35E40}" type="datetime1">
              <a:rPr lang="en-US" smtClean="0"/>
              <a:t>8/28/25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F79FCAE3-C011-DE45-B1F2-114A7B7FD6CC}" type="datetime1">
              <a:rPr lang="en-US" smtClean="0"/>
              <a:t>8/28/25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A1B847-08FF-7946-9F13-46E37B30F5B1}" type="datetime1">
              <a:rPr lang="en-US" smtClean="0"/>
              <a:t>8/28/25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F9774DC-9F50-C748-ABF6-E63F5E9E3663}" type="datetime1">
              <a:rPr lang="en-US" smtClean="0"/>
              <a:t>8/28/25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3960E50D-5051-EE47-950A-5CF8BCE91823}" type="datetime1">
              <a:rPr lang="en-US" smtClean="0"/>
              <a:t>8/28/25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A278F173-1CC4-F74A-9B5A-49229F399974}" type="datetime1">
              <a:rPr lang="en-US" smtClean="0"/>
              <a:t>8/28/25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29053A1-6CA2-2F4A-BF73-5F2A48415A92}" type="datetime1">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6D5258D-6C73-3F4A-878B-02D1F8A9D4A8}" type="datetime1">
              <a:rPr lang="en-US" smtClean="0"/>
              <a:t>8/28/25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F47DE922-4277-F849-BD49-451AD642E3C3}" type="datetime1">
              <a:rPr lang="en-US" smtClean="0"/>
              <a:t>8/28/25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notesSlide" Target="../notesSlides/notesSlide2.xml"/><Relationship Id="rId3" Type="http://schemas.openxmlformats.org/officeDocument/2006/relationships/tags" Target="../tags/tag3.xml"/><Relationship Id="rId7" Type="http://schemas.openxmlformats.org/officeDocument/2006/relationships/slideLayout" Target="../slideLayouts/slideLayout2.xml"/><Relationship Id="rId12" Type="http://schemas.openxmlformats.org/officeDocument/2006/relationships/image" Target="../media/image6.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image" Target="../media/image5.png"/><Relationship Id="rId5" Type="http://schemas.openxmlformats.org/officeDocument/2006/relationships/tags" Target="../tags/tag5.xml"/><Relationship Id="rId10" Type="http://schemas.openxmlformats.org/officeDocument/2006/relationships/image" Target="../media/image4.png"/><Relationship Id="rId4" Type="http://schemas.openxmlformats.org/officeDocument/2006/relationships/tags" Target="../tags/tag4.xml"/><Relationship Id="rId9"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openxmlformats.org/officeDocument/2006/relationships/notesSlide" Target="../notesSlides/notesSlide3.xml"/><Relationship Id="rId13" Type="http://schemas.openxmlformats.org/officeDocument/2006/relationships/image" Target="../media/image11.png"/><Relationship Id="rId3" Type="http://schemas.openxmlformats.org/officeDocument/2006/relationships/tags" Target="../tags/tag9.xml"/><Relationship Id="rId7" Type="http://schemas.openxmlformats.org/officeDocument/2006/relationships/slideLayout" Target="../slideLayouts/slideLayout2.xml"/><Relationship Id="rId12" Type="http://schemas.openxmlformats.org/officeDocument/2006/relationships/image" Target="../media/image10.png"/><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tags" Target="../tags/tag12.xml"/><Relationship Id="rId11" Type="http://schemas.openxmlformats.org/officeDocument/2006/relationships/image" Target="../media/image9.png"/><Relationship Id="rId5" Type="http://schemas.openxmlformats.org/officeDocument/2006/relationships/tags" Target="../tags/tag11.xml"/><Relationship Id="rId10" Type="http://schemas.openxmlformats.org/officeDocument/2006/relationships/image" Target="../media/image8.png"/><Relationship Id="rId4" Type="http://schemas.openxmlformats.org/officeDocument/2006/relationships/tags" Target="../tags/tag10.xml"/><Relationship Id="rId9" Type="http://schemas.openxmlformats.org/officeDocument/2006/relationships/image" Target="../media/image7.png"/><Relationship Id="rId1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tags" Target="../tags/tag15.xml"/><Relationship Id="rId7" Type="http://schemas.openxmlformats.org/officeDocument/2006/relationships/notesSlide" Target="../notesSlides/notesSlide4.xml"/><Relationship Id="rId12" Type="http://schemas.openxmlformats.org/officeDocument/2006/relationships/image" Target="../media/image17.png"/><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slideLayout" Target="../slideLayouts/slideLayout2.xml"/><Relationship Id="rId11" Type="http://schemas.openxmlformats.org/officeDocument/2006/relationships/image" Target="../media/image16.png"/><Relationship Id="rId5" Type="http://schemas.openxmlformats.org/officeDocument/2006/relationships/tags" Target="../tags/tag17.xml"/><Relationship Id="rId10" Type="http://schemas.openxmlformats.org/officeDocument/2006/relationships/image" Target="../media/image15.png"/><Relationship Id="rId4" Type="http://schemas.openxmlformats.org/officeDocument/2006/relationships/tags" Target="../tags/tag16.xml"/><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20.png"/><Relationship Id="rId3" Type="http://schemas.openxmlformats.org/officeDocument/2006/relationships/tags" Target="../tags/tag20.xml"/><Relationship Id="rId7" Type="http://schemas.openxmlformats.org/officeDocument/2006/relationships/notesSlide" Target="../notesSlides/notesSlide5.xml"/><Relationship Id="rId12" Type="http://schemas.openxmlformats.org/officeDocument/2006/relationships/image" Target="../media/image19.png"/><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slideLayout" Target="../slideLayouts/slideLayout2.xml"/><Relationship Id="rId11" Type="http://schemas.openxmlformats.org/officeDocument/2006/relationships/image" Target="../media/image18.png"/><Relationship Id="rId5" Type="http://schemas.openxmlformats.org/officeDocument/2006/relationships/tags" Target="../tags/tag22.xml"/><Relationship Id="rId10" Type="http://schemas.openxmlformats.org/officeDocument/2006/relationships/image" Target="../media/image15.png"/><Relationship Id="rId4" Type="http://schemas.openxmlformats.org/officeDocument/2006/relationships/tags" Target="../tags/tag21.xml"/><Relationship Id="rId9" Type="http://schemas.openxmlformats.org/officeDocument/2006/relationships/image" Target="../media/image14.png"/><Relationship Id="rId14" Type="http://schemas.openxmlformats.org/officeDocument/2006/relationships/image" Target="../media/image21.png"/></Relationships>
</file>

<file path=ppt/slides/_rels/slide8.xml.rels><?xml version="1.0" encoding="UTF-8" standalone="yes"?>
<Relationships xmlns="http://schemas.openxmlformats.org/package/2006/relationships"><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image" Target="../media/image22.png"/><Relationship Id="rId5" Type="http://schemas.openxmlformats.org/officeDocument/2006/relationships/notesSlide" Target="../notesSlides/notesSlide6.xml"/><Relationship Id="rId4"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7.xml"/><Relationship Id="rId1" Type="http://schemas.openxmlformats.org/officeDocument/2006/relationships/tags" Target="../tags/tag26.xml"/><Relationship Id="rId4"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png"/><Relationship Id="rId18" Type="http://schemas.openxmlformats.org/officeDocument/2006/relationships/image" Target="../media/image36.png"/><Relationship Id="rId3" Type="http://schemas.openxmlformats.org/officeDocument/2006/relationships/slideLayout" Target="../slideLayouts/slideLayout2.xml"/><Relationship Id="rId7" Type="http://schemas.openxmlformats.org/officeDocument/2006/relationships/image" Target="../media/image25.png"/><Relationship Id="rId12" Type="http://schemas.openxmlformats.org/officeDocument/2006/relationships/image" Target="../media/image30.png"/><Relationship Id="rId17" Type="http://schemas.openxmlformats.org/officeDocument/2006/relationships/image" Target="../media/image35.png"/><Relationship Id="rId2" Type="http://schemas.openxmlformats.org/officeDocument/2006/relationships/tags" Target="../tags/tag29.xml"/><Relationship Id="rId16" Type="http://schemas.openxmlformats.org/officeDocument/2006/relationships/image" Target="../media/image34.png"/><Relationship Id="rId1" Type="http://schemas.openxmlformats.org/officeDocument/2006/relationships/tags" Target="../tags/tag28.xml"/><Relationship Id="rId6" Type="http://schemas.openxmlformats.org/officeDocument/2006/relationships/image" Target="../media/image24.png"/><Relationship Id="rId11" Type="http://schemas.openxmlformats.org/officeDocument/2006/relationships/image" Target="../media/image29.png"/><Relationship Id="rId5" Type="http://schemas.openxmlformats.org/officeDocument/2006/relationships/image" Target="../media/image23.png"/><Relationship Id="rId15" Type="http://schemas.openxmlformats.org/officeDocument/2006/relationships/image" Target="../media/image33.png"/><Relationship Id="rId10" Type="http://schemas.openxmlformats.org/officeDocument/2006/relationships/image" Target="../media/image28.png"/><Relationship Id="rId4" Type="http://schemas.openxmlformats.org/officeDocument/2006/relationships/notesSlide" Target="../notesSlides/notesSlide8.xml"/><Relationship Id="rId9" Type="http://schemas.openxmlformats.org/officeDocument/2006/relationships/image" Target="../media/image27.png"/><Relationship Id="rId14" Type="http://schemas.openxmlformats.org/officeDocument/2006/relationships/image" Target="../media/image32.png"/></Relationships>
</file>

<file path=ppt/slides/_rels/slide11.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18" Type="http://schemas.openxmlformats.org/officeDocument/2006/relationships/image" Target="../media/image50.png"/><Relationship Id="rId3" Type="http://schemas.openxmlformats.org/officeDocument/2006/relationships/slideLayout" Target="../slideLayouts/slideLayout2.xml"/><Relationship Id="rId7" Type="http://schemas.openxmlformats.org/officeDocument/2006/relationships/image" Target="../media/image39.png"/><Relationship Id="rId12" Type="http://schemas.openxmlformats.org/officeDocument/2006/relationships/image" Target="../media/image44.png"/><Relationship Id="rId17" Type="http://schemas.openxmlformats.org/officeDocument/2006/relationships/image" Target="../media/image49.png"/><Relationship Id="rId2" Type="http://schemas.openxmlformats.org/officeDocument/2006/relationships/tags" Target="../tags/tag31.xml"/><Relationship Id="rId16" Type="http://schemas.openxmlformats.org/officeDocument/2006/relationships/image" Target="../media/image48.png"/><Relationship Id="rId1" Type="http://schemas.openxmlformats.org/officeDocument/2006/relationships/tags" Target="../tags/tag30.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7.png"/><Relationship Id="rId10" Type="http://schemas.openxmlformats.org/officeDocument/2006/relationships/image" Target="../media/image42.png"/><Relationship Id="rId4" Type="http://schemas.openxmlformats.org/officeDocument/2006/relationships/notesSlide" Target="../notesSlides/notesSlide9.xml"/><Relationship Id="rId9" Type="http://schemas.openxmlformats.org/officeDocument/2006/relationships/image" Target="../media/image41.png"/><Relationship Id="rId14" Type="http://schemas.openxmlformats.org/officeDocument/2006/relationships/image" Target="../media/image46.png"/></Relationships>
</file>

<file path=ppt/slides/_rels/slide12.xml.rels><?xml version="1.0" encoding="UTF-8" standalone="yes"?>
<Relationships xmlns="http://schemas.openxmlformats.org/package/2006/relationships"><Relationship Id="rId8" Type="http://schemas.openxmlformats.org/officeDocument/2006/relationships/image" Target="../media/image54.png"/><Relationship Id="rId13" Type="http://schemas.openxmlformats.org/officeDocument/2006/relationships/image" Target="../media/image59.png"/><Relationship Id="rId3" Type="http://schemas.openxmlformats.org/officeDocument/2006/relationships/slideLayout" Target="../slideLayouts/slideLayout2.xml"/><Relationship Id="rId7" Type="http://schemas.openxmlformats.org/officeDocument/2006/relationships/image" Target="../media/image53.png"/><Relationship Id="rId12" Type="http://schemas.openxmlformats.org/officeDocument/2006/relationships/image" Target="../media/image58.png"/><Relationship Id="rId2" Type="http://schemas.openxmlformats.org/officeDocument/2006/relationships/tags" Target="../tags/tag33.xml"/><Relationship Id="rId16" Type="http://schemas.openxmlformats.org/officeDocument/2006/relationships/image" Target="../media/image62.png"/><Relationship Id="rId1" Type="http://schemas.openxmlformats.org/officeDocument/2006/relationships/tags" Target="../tags/tag32.xml"/><Relationship Id="rId6" Type="http://schemas.openxmlformats.org/officeDocument/2006/relationships/image" Target="../media/image52.png"/><Relationship Id="rId11" Type="http://schemas.openxmlformats.org/officeDocument/2006/relationships/image" Target="../media/image57.png"/><Relationship Id="rId5" Type="http://schemas.openxmlformats.org/officeDocument/2006/relationships/image" Target="../media/image51.png"/><Relationship Id="rId15" Type="http://schemas.openxmlformats.org/officeDocument/2006/relationships/image" Target="../media/image61.png"/><Relationship Id="rId10" Type="http://schemas.openxmlformats.org/officeDocument/2006/relationships/image" Target="../media/image56.png"/><Relationship Id="rId4" Type="http://schemas.openxmlformats.org/officeDocument/2006/relationships/notesSlide" Target="../notesSlides/notesSlide10.xml"/><Relationship Id="rId9" Type="http://schemas.openxmlformats.org/officeDocument/2006/relationships/image" Target="../media/image55.png"/><Relationship Id="rId14" Type="http://schemas.openxmlformats.org/officeDocument/2006/relationships/image" Target="../media/image60.png"/></Relationships>
</file>

<file path=ppt/slides/_rels/slide13.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70.png"/><Relationship Id="rId18" Type="http://schemas.openxmlformats.org/officeDocument/2006/relationships/image" Target="../media/image75.png"/><Relationship Id="rId3" Type="http://schemas.openxmlformats.org/officeDocument/2006/relationships/slideLayout" Target="../slideLayouts/slideLayout2.xml"/><Relationship Id="rId7" Type="http://schemas.openxmlformats.org/officeDocument/2006/relationships/image" Target="../media/image64.png"/><Relationship Id="rId12" Type="http://schemas.openxmlformats.org/officeDocument/2006/relationships/image" Target="../media/image69.png"/><Relationship Id="rId17" Type="http://schemas.openxmlformats.org/officeDocument/2006/relationships/image" Target="../media/image74.png"/><Relationship Id="rId2" Type="http://schemas.openxmlformats.org/officeDocument/2006/relationships/tags" Target="../tags/tag35.xml"/><Relationship Id="rId16" Type="http://schemas.openxmlformats.org/officeDocument/2006/relationships/image" Target="../media/image73.png"/><Relationship Id="rId1" Type="http://schemas.openxmlformats.org/officeDocument/2006/relationships/tags" Target="../tags/tag34.xml"/><Relationship Id="rId6" Type="http://schemas.openxmlformats.org/officeDocument/2006/relationships/image" Target="../media/image63.png"/><Relationship Id="rId11" Type="http://schemas.openxmlformats.org/officeDocument/2006/relationships/image" Target="../media/image68.png"/><Relationship Id="rId5" Type="http://schemas.openxmlformats.org/officeDocument/2006/relationships/image" Target="../media/image51.png"/><Relationship Id="rId15" Type="http://schemas.openxmlformats.org/officeDocument/2006/relationships/image" Target="../media/image72.png"/><Relationship Id="rId10" Type="http://schemas.openxmlformats.org/officeDocument/2006/relationships/image" Target="../media/image67.png"/><Relationship Id="rId4" Type="http://schemas.openxmlformats.org/officeDocument/2006/relationships/notesSlide" Target="../notesSlides/notesSlide11.xml"/><Relationship Id="rId9" Type="http://schemas.openxmlformats.org/officeDocument/2006/relationships/image" Target="../media/image66.png"/><Relationship Id="rId14" Type="http://schemas.openxmlformats.org/officeDocument/2006/relationships/image" Target="../media/image71.png"/></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7.xml"/><Relationship Id="rId1" Type="http://schemas.openxmlformats.org/officeDocument/2006/relationships/tags" Target="../tags/tag36.xml"/><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9.xml"/><Relationship Id="rId1" Type="http://schemas.openxmlformats.org/officeDocument/2006/relationships/tags" Target="../tags/tag38.xml"/><Relationship Id="rId4"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3" Type="http://schemas.openxmlformats.org/officeDocument/2006/relationships/tags" Target="../tags/tag42.xml"/><Relationship Id="rId2" Type="http://schemas.openxmlformats.org/officeDocument/2006/relationships/tags" Target="../tags/tag41.xml"/><Relationship Id="rId1" Type="http://schemas.openxmlformats.org/officeDocument/2006/relationships/tags" Target="../tags/tag40.xml"/><Relationship Id="rId4"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tags" Target="../tags/tag45.xml"/><Relationship Id="rId2" Type="http://schemas.openxmlformats.org/officeDocument/2006/relationships/tags" Target="../tags/tag44.xml"/><Relationship Id="rId1" Type="http://schemas.openxmlformats.org/officeDocument/2006/relationships/tags" Target="../tags/tag43.xml"/><Relationship Id="rId4"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tags" Target="../tags/tag48.xml"/><Relationship Id="rId2" Type="http://schemas.openxmlformats.org/officeDocument/2006/relationships/tags" Target="../tags/tag47.xml"/><Relationship Id="rId1" Type="http://schemas.openxmlformats.org/officeDocument/2006/relationships/tags" Target="../tags/tag46.xml"/><Relationship Id="rId4"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77.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Greedy Algorithms</a:t>
            </a:r>
            <a:br>
              <a:rPr lang="en-US" dirty="0"/>
            </a:br>
            <a:r>
              <a:rPr lang="en-US" dirty="0"/>
              <a:t>Knapsack Problems</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lstStyle/>
          <a:p>
            <a:pPr algn="ctr"/>
            <a:r>
              <a:rPr lang="en-US" dirty="0"/>
              <a:t>Data Structures And Algorithms 2</a:t>
            </a:r>
            <a:br>
              <a:rPr lang="en-US" dirty="0"/>
            </a:br>
            <a:r>
              <a:rPr lang="en-US" dirty="0"/>
              <a:t>Mark Floryan</a:t>
            </a:r>
            <a:br>
              <a:rPr lang="en-US" dirty="0"/>
            </a:br>
            <a:br>
              <a:rPr lang="en-US" dirty="0"/>
            </a:br>
            <a:endParaRPr lang="en-US" dirty="0"/>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406933"/>
            <a:ext cx="9905998" cy="659866"/>
          </a:xfrm>
        </p:spPr>
        <p:txBody>
          <a:bodyPr/>
          <a:lstStyle/>
          <a:p>
            <a:pPr algn="ctr"/>
            <a:r>
              <a:rPr lang="en-US" dirty="0"/>
              <a:t>CLRS Readings</a:t>
            </a:r>
          </a:p>
        </p:txBody>
      </p:sp>
      <p:sp>
        <p:nvSpPr>
          <p:cNvPr id="3" name="Content Placeholder 2"/>
          <p:cNvSpPr>
            <a:spLocks noGrp="1"/>
          </p:cNvSpPr>
          <p:nvPr>
            <p:ph idx="1"/>
          </p:nvPr>
        </p:nvSpPr>
        <p:spPr>
          <a:xfrm>
            <a:off x="3666053" y="2089688"/>
            <a:ext cx="4859893" cy="1940773"/>
          </a:xfrm>
        </p:spPr>
        <p:txBody>
          <a:bodyPr>
            <a:normAutofit/>
          </a:bodyPr>
          <a:lstStyle/>
          <a:p>
            <a:r>
              <a:rPr lang="en-US" dirty="0"/>
              <a:t>Chapter 16, Greedy Algorithms</a:t>
            </a:r>
          </a:p>
          <a:p>
            <a:pPr lvl="1"/>
            <a:r>
              <a:rPr lang="en-US" dirty="0"/>
              <a:t>Intro, page 414</a:t>
            </a:r>
          </a:p>
          <a:p>
            <a:pPr lvl="1"/>
            <a:r>
              <a:rPr lang="en-US" dirty="0"/>
              <a:t>Section 16.2, Elements of the Greedy Strategy, Knapsack problem</a:t>
            </a:r>
          </a:p>
          <a:p>
            <a:endParaRPr lang="en-US" dirty="0"/>
          </a:p>
        </p:txBody>
      </p:sp>
    </p:spTree>
    <p:extLst>
      <p:ext uri="{BB962C8B-B14F-4D97-AF65-F5344CB8AC3E}">
        <p14:creationId xmlns:p14="http://schemas.microsoft.com/office/powerpoint/2010/main" val="2467469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58326-C22D-AE4C-B559-1F292B8DDF84}"/>
              </a:ext>
            </a:extLst>
          </p:cNvPr>
          <p:cNvSpPr>
            <a:spLocks noGrp="1"/>
          </p:cNvSpPr>
          <p:nvPr>
            <p:ph type="ctrTitle"/>
          </p:nvPr>
        </p:nvSpPr>
        <p:spPr/>
        <p:txBody>
          <a:bodyPr/>
          <a:lstStyle/>
          <a:p>
            <a:pPr algn="ctr"/>
            <a:r>
              <a:rPr lang="en-US" dirty="0"/>
              <a:t>Knapsack Problems</a:t>
            </a:r>
          </a:p>
        </p:txBody>
      </p:sp>
    </p:spTree>
    <p:extLst>
      <p:ext uri="{BB962C8B-B14F-4D97-AF65-F5344CB8AC3E}">
        <p14:creationId xmlns:p14="http://schemas.microsoft.com/office/powerpoint/2010/main" val="17833987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Knapsack Problems</a:t>
            </a:r>
          </a:p>
        </p:txBody>
      </p:sp>
      <p:sp>
        <p:nvSpPr>
          <p:cNvPr id="22532" name="Rectangle 3"/>
          <p:cNvSpPr>
            <a:spLocks noGrp="1" noChangeArrowheads="1"/>
          </p:cNvSpPr>
          <p:nvPr>
            <p:ph type="body" idx="1"/>
            <p:custDataLst>
              <p:tags r:id="rId2"/>
            </p:custDataLst>
          </p:nvPr>
        </p:nvSpPr>
        <p:spPr>
          <a:xfrm>
            <a:off x="1035727" y="1028206"/>
            <a:ext cx="10120543" cy="677622"/>
          </a:xfrm>
        </p:spPr>
        <p:txBody>
          <a:bodyPr>
            <a:normAutofit/>
          </a:bodyPr>
          <a:lstStyle/>
          <a:p>
            <a:pPr marL="0" indent="0">
              <a:buNone/>
            </a:pPr>
            <a:r>
              <a:rPr lang="en-US" sz="2800" dirty="0"/>
              <a:t>Knapsack Problem:</a:t>
            </a:r>
          </a:p>
        </p:txBody>
      </p:sp>
      <mc:AlternateContent xmlns:mc="http://schemas.openxmlformats.org/markup-compatibility/2006">
        <mc:Choice xmlns:a14="http://schemas.microsoft.com/office/drawing/2010/main" Requires="a14">
          <p:sp>
            <p:nvSpPr>
              <p:cNvPr id="2" name="Rectangle 3">
                <a:extLst>
                  <a:ext uri="{FF2B5EF4-FFF2-40B4-BE49-F238E27FC236}">
                    <a16:creationId xmlns:a16="http://schemas.microsoft.com/office/drawing/2014/main" id="{25AF4BE6-1EEE-8944-22B9-B6C0A601E47D}"/>
                  </a:ext>
                </a:extLst>
              </p:cNvPr>
              <p:cNvSpPr txBox="1">
                <a:spLocks noChangeArrowheads="1"/>
              </p:cNvSpPr>
              <p:nvPr>
                <p:custDataLst>
                  <p:tags r:id="rId3"/>
                </p:custDataLst>
              </p:nvPr>
            </p:nvSpPr>
            <p:spPr>
              <a:xfrm>
                <a:off x="1035728" y="1563785"/>
                <a:ext cx="10120543" cy="270781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ea typeface="ＭＳ Ｐゴシック" charset="0"/>
                    <a:cs typeface="ＭＳ Ｐゴシック" charset="0"/>
                  </a:rPr>
                  <a:t>Scenario</a:t>
                </a:r>
                <a:r>
                  <a:rPr lang="en-US" dirty="0">
                    <a:solidFill>
                      <a:schemeClr val="bg1"/>
                    </a:solidFill>
                    <a:ea typeface="ＭＳ Ｐゴシック" charset="0"/>
                    <a:cs typeface="ＭＳ Ｐゴシック" charset="0"/>
                  </a:rPr>
                  <a:t>: A thief is </a:t>
                </a:r>
                <a:r>
                  <a:rPr lang="en-US" dirty="0">
                    <a:solidFill>
                      <a:schemeClr val="bg1"/>
                    </a:solidFill>
                  </a:rPr>
                  <a:t>robbing a store and finds </a:t>
                </a:r>
                <a:r>
                  <a:rPr lang="en-US" dirty="0">
                    <a:solidFill>
                      <a:schemeClr val="accent3"/>
                    </a:solidFill>
                  </a:rPr>
                  <a:t>n</a:t>
                </a:r>
                <a:r>
                  <a:rPr lang="en-US" dirty="0">
                    <a:solidFill>
                      <a:schemeClr val="bg1"/>
                    </a:solidFill>
                  </a:rPr>
                  <a:t> items, each with a </a:t>
                </a:r>
                <a:r>
                  <a:rPr lang="en-US" dirty="0">
                    <a:solidFill>
                      <a:schemeClr val="accent1"/>
                    </a:solidFill>
                  </a:rPr>
                  <a:t>profit amount </a:t>
                </a:r>
                <a14:m>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𝑖</m:t>
                        </m:r>
                      </m:sub>
                    </m:sSub>
                  </m:oMath>
                </a14:m>
                <a:r>
                  <a:rPr lang="en-US" dirty="0">
                    <a:solidFill>
                      <a:schemeClr val="accent1"/>
                    </a:solidFill>
                  </a:rPr>
                  <a:t> </a:t>
                </a:r>
                <a:r>
                  <a:rPr lang="en-US" dirty="0">
                    <a:solidFill>
                      <a:schemeClr val="bg1"/>
                    </a:solidFill>
                  </a:rPr>
                  <a:t>and a </a:t>
                </a:r>
                <a:r>
                  <a:rPr lang="en-US" dirty="0">
                    <a:solidFill>
                      <a:schemeClr val="accent4"/>
                    </a:solidFill>
                  </a:rPr>
                  <a:t>weight </a:t>
                </a:r>
                <a14:m>
                  <m:oMath xmlns:m="http://schemas.openxmlformats.org/officeDocument/2006/math">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𝑤</m:t>
                        </m:r>
                      </m:e>
                      <m:sub>
                        <m:r>
                          <a:rPr lang="en-US" b="0" i="1" smtClean="0">
                            <a:solidFill>
                              <a:schemeClr val="accent4"/>
                            </a:solidFill>
                            <a:latin typeface="Cambria Math" panose="02040503050406030204" pitchFamily="18" charset="0"/>
                          </a:rPr>
                          <m:t>𝑖</m:t>
                        </m:r>
                      </m:sub>
                    </m:sSub>
                  </m:oMath>
                </a14:m>
                <a:r>
                  <a:rPr lang="en-US" dirty="0">
                    <a:solidFill>
                      <a:schemeClr val="bg1"/>
                    </a:solidFill>
                  </a:rPr>
                  <a:t>. The thief also has a knapsack that can fit a total weight of </a:t>
                </a:r>
                <a14:m>
                  <m:oMath xmlns:m="http://schemas.openxmlformats.org/officeDocument/2006/math">
                    <m:r>
                      <a:rPr lang="en-US" b="0" i="1" smtClean="0">
                        <a:solidFill>
                          <a:schemeClr val="accent2"/>
                        </a:solidFill>
                        <a:latin typeface="Cambria Math" panose="02040503050406030204" pitchFamily="18" charset="0"/>
                      </a:rPr>
                      <m:t>𝐶</m:t>
                    </m:r>
                  </m:oMath>
                </a14:m>
                <a:r>
                  <a:rPr lang="en-US" dirty="0">
                    <a:solidFill>
                      <a:schemeClr val="bg1"/>
                    </a:solidFill>
                  </a:rPr>
                  <a:t>.</a:t>
                </a:r>
              </a:p>
              <a:p>
                <a:pPr marL="0" indent="0">
                  <a:buNone/>
                </a:pPr>
                <a:endParaRPr lang="en-US" dirty="0">
                  <a:solidFill>
                    <a:schemeClr val="bg1"/>
                  </a:solidFill>
                </a:endParaRPr>
              </a:p>
              <a:p>
                <a:pPr marL="0" indent="0">
                  <a:buNone/>
                </a:pPr>
                <a:r>
                  <a:rPr lang="en-US" b="1" i="1" u="sng" dirty="0">
                    <a:solidFill>
                      <a:schemeClr val="bg1"/>
                    </a:solidFill>
                  </a:rPr>
                  <a:t>Problem</a:t>
                </a:r>
                <a:r>
                  <a:rPr lang="en-US" dirty="0">
                    <a:solidFill>
                      <a:schemeClr val="bg1"/>
                    </a:solidFill>
                  </a:rPr>
                  <a:t>: Which </a:t>
                </a:r>
                <a:r>
                  <a:rPr lang="en-US" dirty="0">
                    <a:solidFill>
                      <a:schemeClr val="accent3"/>
                    </a:solidFill>
                  </a:rPr>
                  <a:t>items</a:t>
                </a:r>
                <a:r>
                  <a:rPr lang="en-US" dirty="0">
                    <a:solidFill>
                      <a:schemeClr val="bg1"/>
                    </a:solidFill>
                  </a:rPr>
                  <a:t> should the thief steal such that </a:t>
                </a:r>
                <a14:m>
                  <m:oMath xmlns:m="http://schemas.openxmlformats.org/officeDocument/2006/math">
                    <m:nary>
                      <m:naryPr>
                        <m:chr m:val="∑"/>
                        <m:supHide m:val="on"/>
                        <m:ctrlPr>
                          <a:rPr lang="en-US" b="0" i="1" smtClean="0">
                            <a:solidFill>
                              <a:schemeClr val="bg1"/>
                            </a:solidFill>
                            <a:latin typeface="Cambria Math" panose="02040503050406030204" pitchFamily="18" charset="0"/>
                          </a:rPr>
                        </m:ctrlPr>
                      </m:naryPr>
                      <m:sub>
                        <m:r>
                          <a:rPr lang="en-US" b="0" i="1" smtClean="0">
                            <a:solidFill>
                              <a:schemeClr val="bg1"/>
                            </a:solidFill>
                            <a:latin typeface="Cambria Math" panose="02040503050406030204" pitchFamily="18" charset="0"/>
                          </a:rPr>
                          <m:t>𝑖</m:t>
                        </m:r>
                      </m:sub>
                      <m:sup/>
                      <m:e>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𝑖</m:t>
                            </m:r>
                          </m:sub>
                        </m:sSub>
                      </m:e>
                    </m:nary>
                  </m:oMath>
                </a14:m>
                <a:r>
                  <a:rPr lang="en-US" dirty="0">
                    <a:solidFill>
                      <a:schemeClr val="bg1"/>
                    </a:solidFill>
                  </a:rPr>
                  <a:t> is maximized and </a:t>
                </a:r>
                <a14:m>
                  <m:oMath xmlns:m="http://schemas.openxmlformats.org/officeDocument/2006/math">
                    <m:nary>
                      <m:naryPr>
                        <m:chr m:val="∑"/>
                        <m:supHide m:val="on"/>
                        <m:ctrlPr>
                          <a:rPr lang="en-US" b="0" i="1" smtClean="0">
                            <a:solidFill>
                              <a:schemeClr val="bg1"/>
                            </a:solidFill>
                            <a:latin typeface="Cambria Math" panose="02040503050406030204" pitchFamily="18" charset="0"/>
                          </a:rPr>
                        </m:ctrlPr>
                      </m:naryPr>
                      <m:sub>
                        <m:r>
                          <a:rPr lang="en-US" b="0" i="1" smtClean="0">
                            <a:solidFill>
                              <a:schemeClr val="bg1"/>
                            </a:solidFill>
                            <a:latin typeface="Cambria Math" panose="02040503050406030204" pitchFamily="18" charset="0"/>
                          </a:rPr>
                          <m:t>𝑖</m:t>
                        </m:r>
                      </m:sub>
                      <m:sup/>
                      <m:e>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𝑤</m:t>
                            </m:r>
                          </m:e>
                          <m:sub>
                            <m:r>
                              <a:rPr lang="en-US" b="0" i="1" smtClean="0">
                                <a:solidFill>
                                  <a:schemeClr val="accent4"/>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r>
                          <a:rPr lang="en-US" b="0" i="1" smtClean="0">
                            <a:solidFill>
                              <a:schemeClr val="accent2"/>
                            </a:solidFill>
                            <a:latin typeface="Cambria Math" panose="02040503050406030204" pitchFamily="18" charset="0"/>
                          </a:rPr>
                          <m:t>𝐶</m:t>
                        </m:r>
                      </m:e>
                    </m:nary>
                  </m:oMath>
                </a14:m>
                <a:endParaRPr lang="en-US" dirty="0">
                  <a:solidFill>
                    <a:schemeClr val="bg1"/>
                  </a:solidFill>
                </a:endParaRPr>
              </a:p>
            </p:txBody>
          </p:sp>
        </mc:Choice>
        <mc:Fallback>
          <p:sp>
            <p:nvSpPr>
              <p:cNvPr id="2" name="Rectangle 3">
                <a:extLst>
                  <a:ext uri="{FF2B5EF4-FFF2-40B4-BE49-F238E27FC236}">
                    <a16:creationId xmlns:a16="http://schemas.microsoft.com/office/drawing/2014/main" id="{25AF4BE6-1EEE-8944-22B9-B6C0A601E47D}"/>
                  </a:ext>
                </a:extLst>
              </p:cNvPr>
              <p:cNvSpPr txBox="1">
                <a:spLocks noRot="1" noChangeAspect="1" noMove="1" noResize="1" noEditPoints="1" noAdjustHandles="1" noChangeArrowheads="1" noChangeShapeType="1" noTextEdit="1"/>
              </p:cNvSpPr>
              <p:nvPr>
                <p:custDataLst>
                  <p:tags r:id="rId3"/>
                </p:custDataLst>
              </p:nvPr>
            </p:nvSpPr>
            <p:spPr>
              <a:xfrm>
                <a:off x="1035728" y="1563785"/>
                <a:ext cx="10120543" cy="2707813"/>
              </a:xfrm>
              <a:prstGeom prst="rect">
                <a:avLst/>
              </a:prstGeom>
              <a:blipFill>
                <a:blip r:embed="rId9"/>
                <a:stretch>
                  <a:fillRect l="-4637" b="-26047"/>
                </a:stretch>
              </a:blipFill>
              <a:ln>
                <a:solidFill>
                  <a:schemeClr val="bg1"/>
                </a:solidFill>
              </a:ln>
            </p:spPr>
            <p:txBody>
              <a:bodyPr/>
              <a:lstStyle/>
              <a:p>
                <a:r>
                  <a:rPr lang="en-US">
                    <a:noFill/>
                  </a:rPr>
                  <a:t> </a:t>
                </a:r>
              </a:p>
            </p:txBody>
          </p:sp>
        </mc:Fallback>
      </mc:AlternateContent>
      <p:sp>
        <p:nvSpPr>
          <p:cNvPr id="3" name="Rectangle 3">
            <a:extLst>
              <a:ext uri="{FF2B5EF4-FFF2-40B4-BE49-F238E27FC236}">
                <a16:creationId xmlns:a16="http://schemas.microsoft.com/office/drawing/2014/main" id="{0D9EB0F9-CE8F-487B-438C-2EE9D736B056}"/>
              </a:ext>
            </a:extLst>
          </p:cNvPr>
          <p:cNvSpPr txBox="1">
            <a:spLocks noChangeArrowheads="1"/>
          </p:cNvSpPr>
          <p:nvPr>
            <p:custDataLst>
              <p:tags r:id="rId4"/>
            </p:custDataLst>
          </p:nvPr>
        </p:nvSpPr>
        <p:spPr>
          <a:xfrm>
            <a:off x="1035726" y="4468366"/>
            <a:ext cx="10120543" cy="67762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800" dirty="0"/>
              <a:t>Example:</a:t>
            </a:r>
          </a:p>
        </p:txBody>
      </p:sp>
      <p:grpSp>
        <p:nvGrpSpPr>
          <p:cNvPr id="18" name="Group 17">
            <a:extLst>
              <a:ext uri="{FF2B5EF4-FFF2-40B4-BE49-F238E27FC236}">
                <a16:creationId xmlns:a16="http://schemas.microsoft.com/office/drawing/2014/main" id="{198D9CEB-074F-A38F-FA59-FEBF8935A8E3}"/>
              </a:ext>
            </a:extLst>
          </p:cNvPr>
          <p:cNvGrpSpPr/>
          <p:nvPr/>
        </p:nvGrpSpPr>
        <p:grpSpPr>
          <a:xfrm>
            <a:off x="1035726" y="5087544"/>
            <a:ext cx="10257958" cy="1297741"/>
            <a:chOff x="1025561" y="5342756"/>
            <a:chExt cx="10257958" cy="1297741"/>
          </a:xfrm>
        </p:grpSpPr>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434B813E-75C6-857C-BE08-47D8F94F619E}"/>
                    </a:ext>
                  </a:extLst>
                </p:cNvPr>
                <p:cNvSpPr/>
                <p:nvPr/>
              </p:nvSpPr>
              <p:spPr>
                <a:xfrm>
                  <a:off x="2254927" y="6214368"/>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p:sp>
              <p:nvSpPr>
                <p:cNvPr id="4" name="Rectangle 3">
                  <a:extLst>
                    <a:ext uri="{FF2B5EF4-FFF2-40B4-BE49-F238E27FC236}">
                      <a16:creationId xmlns:a16="http://schemas.microsoft.com/office/drawing/2014/main" id="{434B813E-75C6-857C-BE08-47D8F94F619E}"/>
                    </a:ext>
                  </a:extLst>
                </p:cNvPr>
                <p:cNvSpPr>
                  <a:spLocks noRot="1" noChangeAspect="1" noMove="1" noResize="1" noEditPoints="1" noAdjustHandles="1" noChangeArrowheads="1" noChangeShapeType="1" noTextEdit="1"/>
                </p:cNvSpPr>
                <p:nvPr/>
              </p:nvSpPr>
              <p:spPr>
                <a:xfrm>
                  <a:off x="2254927" y="6214368"/>
                  <a:ext cx="1251752" cy="351531"/>
                </a:xfrm>
                <a:prstGeom prst="rect">
                  <a:avLst/>
                </a:prstGeom>
                <a:blipFill>
                  <a:blip r:embed="rId10"/>
                  <a:stretch>
                    <a:fillRect b="-10000"/>
                  </a:stretch>
                </a:blipFill>
                <a:ln>
                  <a:solidFill>
                    <a:schemeClr val="bg1"/>
                  </a:solidFill>
                </a:ln>
              </p:spPr>
              <p:txBody>
                <a:bodyPr/>
                <a:lstStyle/>
                <a:p>
                  <a:r>
                    <a:rPr lang="en-US">
                      <a:noFill/>
                    </a:rPr>
                    <a:t> </a:t>
                  </a:r>
                </a:p>
              </p:txBody>
            </p:sp>
          </mc:Fallback>
        </mc:AlternateContent>
        <p:sp>
          <p:nvSpPr>
            <p:cNvPr id="6" name="Rectangle 5">
              <a:extLst>
                <a:ext uri="{FF2B5EF4-FFF2-40B4-BE49-F238E27FC236}">
                  <a16:creationId xmlns:a16="http://schemas.microsoft.com/office/drawing/2014/main" id="{CA5DEF98-772B-13F5-04B6-2722AC2E7C50}"/>
                </a:ext>
              </a:extLst>
            </p:cNvPr>
            <p:cNvSpPr/>
            <p:nvPr/>
          </p:nvSpPr>
          <p:spPr>
            <a:xfrm>
              <a:off x="3792245"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A9637B6E-BBBB-974D-D612-152029A31B37}"/>
                    </a:ext>
                  </a:extLst>
                </p:cNvPr>
                <p:cNvSpPr/>
                <p:nvPr/>
              </p:nvSpPr>
              <p:spPr>
                <a:xfrm>
                  <a:off x="3792245"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p:sp>
              <p:nvSpPr>
                <p:cNvPr id="8" name="Rectangle 7">
                  <a:extLst>
                    <a:ext uri="{FF2B5EF4-FFF2-40B4-BE49-F238E27FC236}">
                      <a16:creationId xmlns:a16="http://schemas.microsoft.com/office/drawing/2014/main" id="{A9637B6E-BBBB-974D-D612-152029A31B37}"/>
                    </a:ext>
                  </a:extLst>
                </p:cNvPr>
                <p:cNvSpPr>
                  <a:spLocks noRot="1" noChangeAspect="1" noMove="1" noResize="1" noEditPoints="1" noAdjustHandles="1" noChangeArrowheads="1" noChangeShapeType="1" noTextEdit="1"/>
                </p:cNvSpPr>
                <p:nvPr/>
              </p:nvSpPr>
              <p:spPr>
                <a:xfrm>
                  <a:off x="3792245" y="5829794"/>
                  <a:ext cx="1251752" cy="351531"/>
                </a:xfrm>
                <a:prstGeom prst="rect">
                  <a:avLst/>
                </a:prstGeom>
                <a:blipFill>
                  <a:blip r:embed="rId11"/>
                  <a:stretch>
                    <a:fillRect b="-6667"/>
                  </a:stretch>
                </a:blipFill>
                <a:ln>
                  <a:solidFill>
                    <a:schemeClr val="bg1"/>
                  </a:solidFill>
                </a:ln>
              </p:spPr>
              <p:txBody>
                <a:bodyPr/>
                <a:lstStyle/>
                <a:p>
                  <a:r>
                    <a:rPr lang="en-US">
                      <a:noFill/>
                    </a:rPr>
                    <a:t> </a:t>
                  </a:r>
                </a:p>
              </p:txBody>
            </p:sp>
          </mc:Fallback>
        </mc:AlternateContent>
        <p:sp>
          <p:nvSpPr>
            <p:cNvPr id="9" name="Rectangle 8">
              <a:extLst>
                <a:ext uri="{FF2B5EF4-FFF2-40B4-BE49-F238E27FC236}">
                  <a16:creationId xmlns:a16="http://schemas.microsoft.com/office/drawing/2014/main" id="{5238E50F-1381-70B9-E939-9F8A0DF00682}"/>
                </a:ext>
              </a:extLst>
            </p:cNvPr>
            <p:cNvSpPr/>
            <p:nvPr/>
          </p:nvSpPr>
          <p:spPr>
            <a:xfrm>
              <a:off x="3792245" y="5445221"/>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a:extLst>
                <a:ext uri="{FF2B5EF4-FFF2-40B4-BE49-F238E27FC236}">
                  <a16:creationId xmlns:a16="http://schemas.microsoft.com/office/drawing/2014/main" id="{F134FF9A-19F5-C23D-81D9-134B5E1B4D35}"/>
                </a:ext>
              </a:extLst>
            </p:cNvPr>
            <p:cNvSpPr/>
            <p:nvPr/>
          </p:nvSpPr>
          <p:spPr>
            <a:xfrm>
              <a:off x="5329563"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11" name="Rectangle 10">
                  <a:extLst>
                    <a:ext uri="{FF2B5EF4-FFF2-40B4-BE49-F238E27FC236}">
                      <a16:creationId xmlns:a16="http://schemas.microsoft.com/office/drawing/2014/main" id="{78122359-6E2C-16CF-1A28-7EF6F7E0117F}"/>
                    </a:ext>
                  </a:extLst>
                </p:cNvPr>
                <p:cNvSpPr/>
                <p:nvPr/>
              </p:nvSpPr>
              <p:spPr>
                <a:xfrm>
                  <a:off x="5329563"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p:sp>
              <p:nvSpPr>
                <p:cNvPr id="11" name="Rectangle 10">
                  <a:extLst>
                    <a:ext uri="{FF2B5EF4-FFF2-40B4-BE49-F238E27FC236}">
                      <a16:creationId xmlns:a16="http://schemas.microsoft.com/office/drawing/2014/main" id="{78122359-6E2C-16CF-1A28-7EF6F7E0117F}"/>
                    </a:ext>
                  </a:extLst>
                </p:cNvPr>
                <p:cNvSpPr>
                  <a:spLocks noRot="1" noChangeAspect="1" noMove="1" noResize="1" noEditPoints="1" noAdjustHandles="1" noChangeArrowheads="1" noChangeShapeType="1" noTextEdit="1"/>
                </p:cNvSpPr>
                <p:nvPr/>
              </p:nvSpPr>
              <p:spPr>
                <a:xfrm>
                  <a:off x="5329563" y="5829794"/>
                  <a:ext cx="1251752" cy="351531"/>
                </a:xfrm>
                <a:prstGeom prst="rect">
                  <a:avLst/>
                </a:prstGeom>
                <a:blipFill>
                  <a:blip r:embed="rId12"/>
                  <a:stretch>
                    <a:fillRect b="-6667"/>
                  </a:stretch>
                </a:blipFill>
                <a:ln>
                  <a:solidFill>
                    <a:schemeClr val="bg1"/>
                  </a:solidFill>
                </a:ln>
              </p:spPr>
              <p:txBody>
                <a:bodyPr/>
                <a:lstStyle/>
                <a:p>
                  <a:r>
                    <a:rPr lang="en-US">
                      <a:noFill/>
                    </a:rPr>
                    <a:t> </a:t>
                  </a:r>
                </a:p>
              </p:txBody>
            </p:sp>
          </mc:Fallback>
        </mc:AlternateContent>
        <p:sp>
          <p:nvSpPr>
            <p:cNvPr id="13" name="Left Brace 12">
              <a:extLst>
                <a:ext uri="{FF2B5EF4-FFF2-40B4-BE49-F238E27FC236}">
                  <a16:creationId xmlns:a16="http://schemas.microsoft.com/office/drawing/2014/main" id="{A8564B69-2732-E108-867E-5FE0F544E32D}"/>
                </a:ext>
              </a:extLst>
            </p:cNvPr>
            <p:cNvSpPr/>
            <p:nvPr/>
          </p:nvSpPr>
          <p:spPr>
            <a:xfrm>
              <a:off x="1802167" y="5445221"/>
              <a:ext cx="372862" cy="1120677"/>
            </a:xfrm>
            <a:prstGeom prst="leftBrace">
              <a:avLst/>
            </a:prstGeom>
            <a:ln>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Rectangle 3">
              <a:extLst>
                <a:ext uri="{FF2B5EF4-FFF2-40B4-BE49-F238E27FC236}">
                  <a16:creationId xmlns:a16="http://schemas.microsoft.com/office/drawing/2014/main" id="{79DFFE8F-08C3-F58E-04B8-3C6150667339}"/>
                </a:ext>
              </a:extLst>
            </p:cNvPr>
            <p:cNvSpPr txBox="1">
              <a:spLocks noChangeArrowheads="1"/>
            </p:cNvSpPr>
            <p:nvPr>
              <p:custDataLst>
                <p:tags r:id="rId5"/>
              </p:custDataLst>
            </p:nvPr>
          </p:nvSpPr>
          <p:spPr>
            <a:xfrm>
              <a:off x="1025561" y="5814508"/>
              <a:ext cx="838749"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4"/>
                  </a:solidFill>
                </a:rPr>
                <a:t>Weight</a:t>
              </a:r>
            </a:p>
          </p:txBody>
        </p:sp>
        <p:sp>
          <p:nvSpPr>
            <p:cNvPr id="15" name="Rectangle 14">
              <a:extLst>
                <a:ext uri="{FF2B5EF4-FFF2-40B4-BE49-F238E27FC236}">
                  <a16:creationId xmlns:a16="http://schemas.microsoft.com/office/drawing/2014/main" id="{EB65D6B6-1D92-BD83-A5AA-9A94760ED7AD}"/>
                </a:ext>
              </a:extLst>
            </p:cNvPr>
            <p:cNvSpPr/>
            <p:nvPr/>
          </p:nvSpPr>
          <p:spPr>
            <a:xfrm>
              <a:off x="7284130" y="5342756"/>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ight Brace 15">
              <a:extLst>
                <a:ext uri="{FF2B5EF4-FFF2-40B4-BE49-F238E27FC236}">
                  <a16:creationId xmlns:a16="http://schemas.microsoft.com/office/drawing/2014/main" id="{F1B4A95F-9603-EC40-62B5-98731E3BFF94}"/>
                </a:ext>
              </a:extLst>
            </p:cNvPr>
            <p:cNvSpPr/>
            <p:nvPr/>
          </p:nvSpPr>
          <p:spPr>
            <a:xfrm>
              <a:off x="8984202" y="5342756"/>
              <a:ext cx="489751" cy="1297741"/>
            </a:xfrm>
            <a:prstGeom prst="rightBrace">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Rectangle 3">
              <a:extLst>
                <a:ext uri="{FF2B5EF4-FFF2-40B4-BE49-F238E27FC236}">
                  <a16:creationId xmlns:a16="http://schemas.microsoft.com/office/drawing/2014/main" id="{A3834FB9-BC42-A7DA-DC03-3CA717F67801}"/>
                </a:ext>
              </a:extLst>
            </p:cNvPr>
            <p:cNvSpPr txBox="1">
              <a:spLocks noChangeArrowheads="1"/>
            </p:cNvSpPr>
            <p:nvPr>
              <p:custDataLst>
                <p:tags r:id="rId6"/>
              </p:custDataLst>
            </p:nvPr>
          </p:nvSpPr>
          <p:spPr>
            <a:xfrm>
              <a:off x="9331911" y="5796752"/>
              <a:ext cx="1951608"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2"/>
                  </a:solidFill>
                </a:rPr>
                <a:t>Knapsack capacity</a:t>
              </a:r>
            </a:p>
          </p:txBody>
        </p:sp>
      </p:grpSp>
    </p:spTree>
    <p:extLst>
      <p:ext uri="{BB962C8B-B14F-4D97-AF65-F5344CB8AC3E}">
        <p14:creationId xmlns:p14="http://schemas.microsoft.com/office/powerpoint/2010/main" val="2462147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4558C-55E7-511D-B0F6-7D115D463B98}"/>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8C572438-C058-8E90-A151-C0C1A15B51A5}"/>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Knapsack Problems</a:t>
            </a:r>
          </a:p>
        </p:txBody>
      </p:sp>
      <p:sp>
        <p:nvSpPr>
          <p:cNvPr id="3" name="Rectangle 3">
            <a:extLst>
              <a:ext uri="{FF2B5EF4-FFF2-40B4-BE49-F238E27FC236}">
                <a16:creationId xmlns:a16="http://schemas.microsoft.com/office/drawing/2014/main" id="{D9E4C86B-FB91-3DE3-560C-5CEA2C504B28}"/>
              </a:ext>
            </a:extLst>
          </p:cNvPr>
          <p:cNvSpPr txBox="1">
            <a:spLocks noChangeArrowheads="1"/>
          </p:cNvSpPr>
          <p:nvPr>
            <p:custDataLst>
              <p:tags r:id="rId2"/>
            </p:custDataLst>
          </p:nvPr>
        </p:nvSpPr>
        <p:spPr>
          <a:xfrm>
            <a:off x="1124502" y="1148119"/>
            <a:ext cx="10120543" cy="67762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800" dirty="0"/>
              <a:t>Example:</a:t>
            </a:r>
          </a:p>
        </p:txBody>
      </p:sp>
      <p:grpSp>
        <p:nvGrpSpPr>
          <p:cNvPr id="18" name="Group 17">
            <a:extLst>
              <a:ext uri="{FF2B5EF4-FFF2-40B4-BE49-F238E27FC236}">
                <a16:creationId xmlns:a16="http://schemas.microsoft.com/office/drawing/2014/main" id="{81DF4642-4C20-499B-8682-4006798DF8AA}"/>
              </a:ext>
            </a:extLst>
          </p:cNvPr>
          <p:cNvGrpSpPr/>
          <p:nvPr/>
        </p:nvGrpSpPr>
        <p:grpSpPr>
          <a:xfrm>
            <a:off x="1124502" y="1767297"/>
            <a:ext cx="10257958" cy="1297741"/>
            <a:chOff x="1025561" y="5342756"/>
            <a:chExt cx="10257958" cy="1297741"/>
          </a:xfrm>
        </p:grpSpPr>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0FE30C84-ACB3-CFA7-68E3-0300351AB669}"/>
                    </a:ext>
                  </a:extLst>
                </p:cNvPr>
                <p:cNvSpPr/>
                <p:nvPr/>
              </p:nvSpPr>
              <p:spPr>
                <a:xfrm>
                  <a:off x="2254927" y="6214368"/>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p:sp>
              <p:nvSpPr>
                <p:cNvPr id="4" name="Rectangle 3">
                  <a:extLst>
                    <a:ext uri="{FF2B5EF4-FFF2-40B4-BE49-F238E27FC236}">
                      <a16:creationId xmlns:a16="http://schemas.microsoft.com/office/drawing/2014/main" id="{0FE30C84-ACB3-CFA7-68E3-0300351AB669}"/>
                    </a:ext>
                  </a:extLst>
                </p:cNvPr>
                <p:cNvSpPr>
                  <a:spLocks noRot="1" noChangeAspect="1" noMove="1" noResize="1" noEditPoints="1" noAdjustHandles="1" noChangeArrowheads="1" noChangeShapeType="1" noTextEdit="1"/>
                </p:cNvSpPr>
                <p:nvPr/>
              </p:nvSpPr>
              <p:spPr>
                <a:xfrm>
                  <a:off x="2254927" y="6214368"/>
                  <a:ext cx="1251752" cy="351531"/>
                </a:xfrm>
                <a:prstGeom prst="rect">
                  <a:avLst/>
                </a:prstGeom>
                <a:blipFill>
                  <a:blip r:embed="rId9"/>
                  <a:stretch>
                    <a:fillRect b="-6667"/>
                  </a:stretch>
                </a:blipFill>
                <a:ln>
                  <a:solidFill>
                    <a:schemeClr val="bg1"/>
                  </a:solidFill>
                </a:ln>
              </p:spPr>
              <p:txBody>
                <a:bodyPr/>
                <a:lstStyle/>
                <a:p>
                  <a:r>
                    <a:rPr lang="en-US">
                      <a:noFill/>
                    </a:rPr>
                    <a:t> </a:t>
                  </a:r>
                </a:p>
              </p:txBody>
            </p:sp>
          </mc:Fallback>
        </mc:AlternateContent>
        <p:sp>
          <p:nvSpPr>
            <p:cNvPr id="6" name="Rectangle 5">
              <a:extLst>
                <a:ext uri="{FF2B5EF4-FFF2-40B4-BE49-F238E27FC236}">
                  <a16:creationId xmlns:a16="http://schemas.microsoft.com/office/drawing/2014/main" id="{848A7CDC-C908-3BD9-8FAF-33271C335CF4}"/>
                </a:ext>
              </a:extLst>
            </p:cNvPr>
            <p:cNvSpPr/>
            <p:nvPr/>
          </p:nvSpPr>
          <p:spPr>
            <a:xfrm>
              <a:off x="3792245"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18FF606C-E1D2-E723-A011-678EFE3C243E}"/>
                    </a:ext>
                  </a:extLst>
                </p:cNvPr>
                <p:cNvSpPr/>
                <p:nvPr/>
              </p:nvSpPr>
              <p:spPr>
                <a:xfrm>
                  <a:off x="3792245"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p:sp>
              <p:nvSpPr>
                <p:cNvPr id="8" name="Rectangle 7">
                  <a:extLst>
                    <a:ext uri="{FF2B5EF4-FFF2-40B4-BE49-F238E27FC236}">
                      <a16:creationId xmlns:a16="http://schemas.microsoft.com/office/drawing/2014/main" id="{18FF606C-E1D2-E723-A011-678EFE3C243E}"/>
                    </a:ext>
                  </a:extLst>
                </p:cNvPr>
                <p:cNvSpPr>
                  <a:spLocks noRot="1" noChangeAspect="1" noMove="1" noResize="1" noEditPoints="1" noAdjustHandles="1" noChangeArrowheads="1" noChangeShapeType="1" noTextEdit="1"/>
                </p:cNvSpPr>
                <p:nvPr/>
              </p:nvSpPr>
              <p:spPr>
                <a:xfrm>
                  <a:off x="3792245" y="5829794"/>
                  <a:ext cx="1251752" cy="351531"/>
                </a:xfrm>
                <a:prstGeom prst="rect">
                  <a:avLst/>
                </a:prstGeom>
                <a:blipFill>
                  <a:blip r:embed="rId10"/>
                  <a:stretch>
                    <a:fillRect b="-10345"/>
                  </a:stretch>
                </a:blipFill>
                <a:ln>
                  <a:solidFill>
                    <a:schemeClr val="bg1"/>
                  </a:solidFill>
                </a:ln>
              </p:spPr>
              <p:txBody>
                <a:bodyPr/>
                <a:lstStyle/>
                <a:p>
                  <a:r>
                    <a:rPr lang="en-US">
                      <a:noFill/>
                    </a:rPr>
                    <a:t> </a:t>
                  </a:r>
                </a:p>
              </p:txBody>
            </p:sp>
          </mc:Fallback>
        </mc:AlternateContent>
        <p:sp>
          <p:nvSpPr>
            <p:cNvPr id="9" name="Rectangle 8">
              <a:extLst>
                <a:ext uri="{FF2B5EF4-FFF2-40B4-BE49-F238E27FC236}">
                  <a16:creationId xmlns:a16="http://schemas.microsoft.com/office/drawing/2014/main" id="{995C8E49-6622-D641-CB23-D15384AF392E}"/>
                </a:ext>
              </a:extLst>
            </p:cNvPr>
            <p:cNvSpPr/>
            <p:nvPr/>
          </p:nvSpPr>
          <p:spPr>
            <a:xfrm>
              <a:off x="3792245" y="5445221"/>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a:extLst>
                <a:ext uri="{FF2B5EF4-FFF2-40B4-BE49-F238E27FC236}">
                  <a16:creationId xmlns:a16="http://schemas.microsoft.com/office/drawing/2014/main" id="{C8C02238-A8B2-5251-75BB-709D8AA696F0}"/>
                </a:ext>
              </a:extLst>
            </p:cNvPr>
            <p:cNvSpPr/>
            <p:nvPr/>
          </p:nvSpPr>
          <p:spPr>
            <a:xfrm>
              <a:off x="5329563"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11" name="Rectangle 10">
                  <a:extLst>
                    <a:ext uri="{FF2B5EF4-FFF2-40B4-BE49-F238E27FC236}">
                      <a16:creationId xmlns:a16="http://schemas.microsoft.com/office/drawing/2014/main" id="{01819875-5DB3-3626-697F-DC0E40E2BD25}"/>
                    </a:ext>
                  </a:extLst>
                </p:cNvPr>
                <p:cNvSpPr/>
                <p:nvPr/>
              </p:nvSpPr>
              <p:spPr>
                <a:xfrm>
                  <a:off x="5329563"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p:sp>
              <p:nvSpPr>
                <p:cNvPr id="11" name="Rectangle 10">
                  <a:extLst>
                    <a:ext uri="{FF2B5EF4-FFF2-40B4-BE49-F238E27FC236}">
                      <a16:creationId xmlns:a16="http://schemas.microsoft.com/office/drawing/2014/main" id="{01819875-5DB3-3626-697F-DC0E40E2BD25}"/>
                    </a:ext>
                  </a:extLst>
                </p:cNvPr>
                <p:cNvSpPr>
                  <a:spLocks noRot="1" noChangeAspect="1" noMove="1" noResize="1" noEditPoints="1" noAdjustHandles="1" noChangeArrowheads="1" noChangeShapeType="1" noTextEdit="1"/>
                </p:cNvSpPr>
                <p:nvPr/>
              </p:nvSpPr>
              <p:spPr>
                <a:xfrm>
                  <a:off x="5329563" y="5829794"/>
                  <a:ext cx="1251752" cy="351531"/>
                </a:xfrm>
                <a:prstGeom prst="rect">
                  <a:avLst/>
                </a:prstGeom>
                <a:blipFill>
                  <a:blip r:embed="rId11"/>
                  <a:stretch>
                    <a:fillRect b="-10345"/>
                  </a:stretch>
                </a:blipFill>
                <a:ln>
                  <a:solidFill>
                    <a:schemeClr val="bg1"/>
                  </a:solidFill>
                </a:ln>
              </p:spPr>
              <p:txBody>
                <a:bodyPr/>
                <a:lstStyle/>
                <a:p>
                  <a:r>
                    <a:rPr lang="en-US">
                      <a:noFill/>
                    </a:rPr>
                    <a:t> </a:t>
                  </a:r>
                </a:p>
              </p:txBody>
            </p:sp>
          </mc:Fallback>
        </mc:AlternateContent>
        <p:sp>
          <p:nvSpPr>
            <p:cNvPr id="13" name="Left Brace 12">
              <a:extLst>
                <a:ext uri="{FF2B5EF4-FFF2-40B4-BE49-F238E27FC236}">
                  <a16:creationId xmlns:a16="http://schemas.microsoft.com/office/drawing/2014/main" id="{F9D2B5C9-DB83-C347-830A-D7DD10C493BB}"/>
                </a:ext>
              </a:extLst>
            </p:cNvPr>
            <p:cNvSpPr/>
            <p:nvPr/>
          </p:nvSpPr>
          <p:spPr>
            <a:xfrm>
              <a:off x="1802167" y="5445221"/>
              <a:ext cx="372862" cy="1120677"/>
            </a:xfrm>
            <a:prstGeom prst="leftBrace">
              <a:avLst/>
            </a:prstGeom>
            <a:ln>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Rectangle 3">
              <a:extLst>
                <a:ext uri="{FF2B5EF4-FFF2-40B4-BE49-F238E27FC236}">
                  <a16:creationId xmlns:a16="http://schemas.microsoft.com/office/drawing/2014/main" id="{3924F6FB-FF17-B212-FCC6-9D94A8F745F3}"/>
                </a:ext>
              </a:extLst>
            </p:cNvPr>
            <p:cNvSpPr txBox="1">
              <a:spLocks noChangeArrowheads="1"/>
            </p:cNvSpPr>
            <p:nvPr>
              <p:custDataLst>
                <p:tags r:id="rId5"/>
              </p:custDataLst>
            </p:nvPr>
          </p:nvSpPr>
          <p:spPr>
            <a:xfrm>
              <a:off x="1025561" y="5814508"/>
              <a:ext cx="838749"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4"/>
                  </a:solidFill>
                </a:rPr>
                <a:t>Weight</a:t>
              </a:r>
            </a:p>
          </p:txBody>
        </p:sp>
        <p:sp>
          <p:nvSpPr>
            <p:cNvPr id="15" name="Rectangle 14">
              <a:extLst>
                <a:ext uri="{FF2B5EF4-FFF2-40B4-BE49-F238E27FC236}">
                  <a16:creationId xmlns:a16="http://schemas.microsoft.com/office/drawing/2014/main" id="{F2C6E91E-7FE6-22C3-F683-6993E3BFAA96}"/>
                </a:ext>
              </a:extLst>
            </p:cNvPr>
            <p:cNvSpPr/>
            <p:nvPr/>
          </p:nvSpPr>
          <p:spPr>
            <a:xfrm>
              <a:off x="7284130" y="5342756"/>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ight Brace 15">
              <a:extLst>
                <a:ext uri="{FF2B5EF4-FFF2-40B4-BE49-F238E27FC236}">
                  <a16:creationId xmlns:a16="http://schemas.microsoft.com/office/drawing/2014/main" id="{C971A8BB-506B-2309-B7FE-6C6928CA571F}"/>
                </a:ext>
              </a:extLst>
            </p:cNvPr>
            <p:cNvSpPr/>
            <p:nvPr/>
          </p:nvSpPr>
          <p:spPr>
            <a:xfrm>
              <a:off x="8984202" y="5342756"/>
              <a:ext cx="489751" cy="1297741"/>
            </a:xfrm>
            <a:prstGeom prst="rightBrace">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Rectangle 3">
              <a:extLst>
                <a:ext uri="{FF2B5EF4-FFF2-40B4-BE49-F238E27FC236}">
                  <a16:creationId xmlns:a16="http://schemas.microsoft.com/office/drawing/2014/main" id="{AE11F420-D368-6A20-2C8D-1F4E73620EC1}"/>
                </a:ext>
              </a:extLst>
            </p:cNvPr>
            <p:cNvSpPr txBox="1">
              <a:spLocks noChangeArrowheads="1"/>
            </p:cNvSpPr>
            <p:nvPr>
              <p:custDataLst>
                <p:tags r:id="rId6"/>
              </p:custDataLst>
            </p:nvPr>
          </p:nvSpPr>
          <p:spPr>
            <a:xfrm>
              <a:off x="9331911" y="5796752"/>
              <a:ext cx="1951608"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2"/>
                  </a:solidFill>
                </a:rPr>
                <a:t>Knapsack capacity</a:t>
              </a:r>
            </a:p>
          </p:txBody>
        </p:sp>
      </p:grpSp>
      <p:grpSp>
        <p:nvGrpSpPr>
          <p:cNvPr id="46" name="Group 45">
            <a:extLst>
              <a:ext uri="{FF2B5EF4-FFF2-40B4-BE49-F238E27FC236}">
                <a16:creationId xmlns:a16="http://schemas.microsoft.com/office/drawing/2014/main" id="{1E445A8C-286D-EC6F-3CDE-3091C6C8D35B}"/>
              </a:ext>
            </a:extLst>
          </p:cNvPr>
          <p:cNvGrpSpPr/>
          <p:nvPr/>
        </p:nvGrpSpPr>
        <p:grpSpPr>
          <a:xfrm>
            <a:off x="6643459" y="4119493"/>
            <a:ext cx="3204995" cy="1966613"/>
            <a:chOff x="7025197" y="3581931"/>
            <a:chExt cx="3204995" cy="1966613"/>
          </a:xfrm>
        </p:grpSpPr>
        <p:sp>
          <p:nvSpPr>
            <p:cNvPr id="32" name="Rectangle 31">
              <a:extLst>
                <a:ext uri="{FF2B5EF4-FFF2-40B4-BE49-F238E27FC236}">
                  <a16:creationId xmlns:a16="http://schemas.microsoft.com/office/drawing/2014/main" id="{AA2718F4-D7AA-EF0F-2B14-D4AFAA5E1B94}"/>
                </a:ext>
              </a:extLst>
            </p:cNvPr>
            <p:cNvSpPr/>
            <p:nvPr/>
          </p:nvSpPr>
          <p:spPr>
            <a:xfrm>
              <a:off x="7025197" y="3581931"/>
              <a:ext cx="3204995" cy="196661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Rectangle 26">
              <a:extLst>
                <a:ext uri="{FF2B5EF4-FFF2-40B4-BE49-F238E27FC236}">
                  <a16:creationId xmlns:a16="http://schemas.microsoft.com/office/drawing/2014/main" id="{4EC5B3C0-01D1-BBC1-87C5-1221BB6F3C6B}"/>
                </a:ext>
              </a:extLst>
            </p:cNvPr>
            <p:cNvSpPr/>
            <p:nvPr/>
          </p:nvSpPr>
          <p:spPr>
            <a:xfrm>
              <a:off x="7171485" y="4150902"/>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19" name="Rectangle 18">
                  <a:extLst>
                    <a:ext uri="{FF2B5EF4-FFF2-40B4-BE49-F238E27FC236}">
                      <a16:creationId xmlns:a16="http://schemas.microsoft.com/office/drawing/2014/main" id="{6810F5C0-8D33-8818-1614-7150A9D41837}"/>
                    </a:ext>
                  </a:extLst>
                </p:cNvPr>
                <p:cNvSpPr/>
                <p:nvPr/>
              </p:nvSpPr>
              <p:spPr>
                <a:xfrm>
                  <a:off x="7285959" y="4247873"/>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p:sp>
              <p:nvSpPr>
                <p:cNvPr id="19" name="Rectangle 18">
                  <a:extLst>
                    <a:ext uri="{FF2B5EF4-FFF2-40B4-BE49-F238E27FC236}">
                      <a16:creationId xmlns:a16="http://schemas.microsoft.com/office/drawing/2014/main" id="{6810F5C0-8D33-8818-1614-7150A9D41837}"/>
                    </a:ext>
                  </a:extLst>
                </p:cNvPr>
                <p:cNvSpPr>
                  <a:spLocks noRot="1" noChangeAspect="1" noMove="1" noResize="1" noEditPoints="1" noAdjustHandles="1" noChangeArrowheads="1" noChangeShapeType="1" noTextEdit="1"/>
                </p:cNvSpPr>
                <p:nvPr/>
              </p:nvSpPr>
              <p:spPr>
                <a:xfrm>
                  <a:off x="7285959" y="4247873"/>
                  <a:ext cx="1251752" cy="351531"/>
                </a:xfrm>
                <a:prstGeom prst="rect">
                  <a:avLst/>
                </a:prstGeom>
                <a:blipFill>
                  <a:blip r:embed="rId12"/>
                  <a:stretch>
                    <a:fillRect b="-6667"/>
                  </a:stretch>
                </a:blipFill>
                <a:ln>
                  <a:solidFill>
                    <a:schemeClr val="bg1"/>
                  </a:solidFill>
                </a:ln>
              </p:spPr>
              <p:txBody>
                <a:bodyPr/>
                <a:lstStyle/>
                <a:p>
                  <a:r>
                    <a:rPr lang="en-US">
                      <a:noFill/>
                    </a:rPr>
                    <a:t> </a:t>
                  </a:r>
                </a:p>
              </p:txBody>
            </p:sp>
          </mc:Fallback>
        </mc:AlternateContent>
        <p:grpSp>
          <p:nvGrpSpPr>
            <p:cNvPr id="30" name="Group 29">
              <a:extLst>
                <a:ext uri="{FF2B5EF4-FFF2-40B4-BE49-F238E27FC236}">
                  <a16:creationId xmlns:a16="http://schemas.microsoft.com/office/drawing/2014/main" id="{900D832A-C3C0-D824-D7EE-0567CF615345}"/>
                </a:ext>
              </a:extLst>
            </p:cNvPr>
            <p:cNvGrpSpPr/>
            <p:nvPr/>
          </p:nvGrpSpPr>
          <p:grpSpPr>
            <a:xfrm>
              <a:off x="7289113" y="4654095"/>
              <a:ext cx="1251752" cy="736104"/>
              <a:chOff x="5543913" y="4528142"/>
              <a:chExt cx="1251752" cy="736104"/>
            </a:xfrm>
          </p:grpSpPr>
          <p:sp>
            <p:nvSpPr>
              <p:cNvPr id="23" name="Rectangle 22">
                <a:extLst>
                  <a:ext uri="{FF2B5EF4-FFF2-40B4-BE49-F238E27FC236}">
                    <a16:creationId xmlns:a16="http://schemas.microsoft.com/office/drawing/2014/main" id="{897A9669-CE86-400E-59B9-0D34EC0BF764}"/>
                  </a:ext>
                </a:extLst>
              </p:cNvPr>
              <p:cNvSpPr/>
              <p:nvPr/>
            </p:nvSpPr>
            <p:spPr>
              <a:xfrm>
                <a:off x="5543913" y="4912715"/>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24" name="Rectangle 23">
                    <a:extLst>
                      <a:ext uri="{FF2B5EF4-FFF2-40B4-BE49-F238E27FC236}">
                        <a16:creationId xmlns:a16="http://schemas.microsoft.com/office/drawing/2014/main" id="{34456769-5F39-ED47-3A98-779E3E855C20}"/>
                      </a:ext>
                    </a:extLst>
                  </p:cNvPr>
                  <p:cNvSpPr/>
                  <p:nvPr/>
                </p:nvSpPr>
                <p:spPr>
                  <a:xfrm>
                    <a:off x="5543913" y="452814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p:sp>
                <p:nvSpPr>
                  <p:cNvPr id="24" name="Rectangle 23">
                    <a:extLst>
                      <a:ext uri="{FF2B5EF4-FFF2-40B4-BE49-F238E27FC236}">
                        <a16:creationId xmlns:a16="http://schemas.microsoft.com/office/drawing/2014/main" id="{34456769-5F39-ED47-3A98-779E3E855C20}"/>
                      </a:ext>
                    </a:extLst>
                  </p:cNvPr>
                  <p:cNvSpPr>
                    <a:spLocks noRot="1" noChangeAspect="1" noMove="1" noResize="1" noEditPoints="1" noAdjustHandles="1" noChangeArrowheads="1" noChangeShapeType="1" noTextEdit="1"/>
                  </p:cNvSpPr>
                  <p:nvPr/>
                </p:nvSpPr>
                <p:spPr>
                  <a:xfrm>
                    <a:off x="5543913" y="4528142"/>
                    <a:ext cx="1251752" cy="351531"/>
                  </a:xfrm>
                  <a:prstGeom prst="rect">
                    <a:avLst/>
                  </a:prstGeom>
                  <a:blipFill>
                    <a:blip r:embed="rId13"/>
                    <a:stretch>
                      <a:fillRect b="-6667"/>
                    </a:stretch>
                  </a:blipFill>
                  <a:ln>
                    <a:solidFill>
                      <a:schemeClr val="bg1"/>
                    </a:solidFill>
                  </a:ln>
                </p:spPr>
                <p:txBody>
                  <a:bodyPr/>
                  <a:lstStyle/>
                  <a:p>
                    <a:r>
                      <a:rPr lang="en-US">
                        <a:noFill/>
                      </a:rPr>
                      <a:t> </a:t>
                    </a:r>
                  </a:p>
                </p:txBody>
              </p:sp>
            </mc:Fallback>
          </mc:AlternateContent>
        </p:grpSp>
        <p:sp>
          <p:nvSpPr>
            <p:cNvPr id="33" name="TextBox 32">
              <a:extLst>
                <a:ext uri="{FF2B5EF4-FFF2-40B4-BE49-F238E27FC236}">
                  <a16:creationId xmlns:a16="http://schemas.microsoft.com/office/drawing/2014/main" id="{43C1B142-A785-450B-6A7E-921B8B1E07CC}"/>
                </a:ext>
              </a:extLst>
            </p:cNvPr>
            <p:cNvSpPr txBox="1"/>
            <p:nvPr/>
          </p:nvSpPr>
          <p:spPr>
            <a:xfrm>
              <a:off x="7025197" y="3594164"/>
              <a:ext cx="1712328" cy="369332"/>
            </a:xfrm>
            <a:prstGeom prst="rect">
              <a:avLst/>
            </a:prstGeom>
            <a:noFill/>
          </p:spPr>
          <p:txBody>
            <a:bodyPr wrap="none" rtlCol="0">
              <a:spAutoFit/>
            </a:bodyPr>
            <a:lstStyle/>
            <a:p>
              <a:r>
                <a:rPr lang="en-US" dirty="0">
                  <a:solidFill>
                    <a:schemeClr val="bg1"/>
                  </a:solidFill>
                </a:rPr>
                <a:t>Optimal Solution</a:t>
              </a:r>
            </a:p>
          </p:txBody>
        </p:sp>
        <p:sp>
          <p:nvSpPr>
            <p:cNvPr id="34" name="Right Brace 33">
              <a:extLst>
                <a:ext uri="{FF2B5EF4-FFF2-40B4-BE49-F238E27FC236}">
                  <a16:creationId xmlns:a16="http://schemas.microsoft.com/office/drawing/2014/main" id="{DA7A6DD8-91E1-CAD1-38FB-F0274F3B1A4F}"/>
                </a:ext>
              </a:extLst>
            </p:cNvPr>
            <p:cNvSpPr/>
            <p:nvPr/>
          </p:nvSpPr>
          <p:spPr>
            <a:xfrm>
              <a:off x="8737525" y="4143569"/>
              <a:ext cx="489751" cy="1297741"/>
            </a:xfrm>
            <a:prstGeom prst="rightBrac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Rectangle 3">
              <a:extLst>
                <a:ext uri="{FF2B5EF4-FFF2-40B4-BE49-F238E27FC236}">
                  <a16:creationId xmlns:a16="http://schemas.microsoft.com/office/drawing/2014/main" id="{2B91C981-88E7-D189-886B-10B27BBBB00A}"/>
                </a:ext>
              </a:extLst>
            </p:cNvPr>
            <p:cNvSpPr txBox="1">
              <a:spLocks noChangeArrowheads="1"/>
            </p:cNvSpPr>
            <p:nvPr>
              <p:custDataLst>
                <p:tags r:id="rId4"/>
              </p:custDataLst>
            </p:nvPr>
          </p:nvSpPr>
          <p:spPr>
            <a:xfrm>
              <a:off x="9065387" y="4396122"/>
              <a:ext cx="1164805" cy="7926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1"/>
                  </a:solidFill>
                </a:rPr>
                <a:t>Total profit:</a:t>
              </a:r>
            </a:p>
            <a:p>
              <a:pPr marL="0" indent="0">
                <a:buFont typeface="Arial" panose="020B0604020202020204" pitchFamily="34" charset="0"/>
                <a:buNone/>
              </a:pPr>
              <a:r>
                <a:rPr lang="en-US" sz="1600" dirty="0">
                  <a:solidFill>
                    <a:schemeClr val="accent1"/>
                  </a:solidFill>
                </a:rPr>
                <a:t>10+3=13</a:t>
              </a:r>
            </a:p>
          </p:txBody>
        </p:sp>
      </p:grpSp>
      <p:grpSp>
        <p:nvGrpSpPr>
          <p:cNvPr id="45" name="Group 44">
            <a:extLst>
              <a:ext uri="{FF2B5EF4-FFF2-40B4-BE49-F238E27FC236}">
                <a16:creationId xmlns:a16="http://schemas.microsoft.com/office/drawing/2014/main" id="{F4A4F61C-75E5-4F74-39DE-09527DA48C40}"/>
              </a:ext>
            </a:extLst>
          </p:cNvPr>
          <p:cNvGrpSpPr/>
          <p:nvPr/>
        </p:nvGrpSpPr>
        <p:grpSpPr>
          <a:xfrm>
            <a:off x="2279763" y="4107260"/>
            <a:ext cx="3204995" cy="1966613"/>
            <a:chOff x="1720468" y="3920828"/>
            <a:chExt cx="3204995" cy="1966613"/>
          </a:xfrm>
        </p:grpSpPr>
        <p:sp>
          <p:nvSpPr>
            <p:cNvPr id="36" name="Rectangle 35">
              <a:extLst>
                <a:ext uri="{FF2B5EF4-FFF2-40B4-BE49-F238E27FC236}">
                  <a16:creationId xmlns:a16="http://schemas.microsoft.com/office/drawing/2014/main" id="{7B9DB2D1-BCF4-608E-AC11-35885F34D747}"/>
                </a:ext>
              </a:extLst>
            </p:cNvPr>
            <p:cNvSpPr/>
            <p:nvPr/>
          </p:nvSpPr>
          <p:spPr>
            <a:xfrm>
              <a:off x="1720468" y="3920828"/>
              <a:ext cx="3204995" cy="196661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7" name="Rectangle 36">
              <a:extLst>
                <a:ext uri="{FF2B5EF4-FFF2-40B4-BE49-F238E27FC236}">
                  <a16:creationId xmlns:a16="http://schemas.microsoft.com/office/drawing/2014/main" id="{F8E1E185-F618-9AE1-5A68-08BC683F3BDF}"/>
                </a:ext>
              </a:extLst>
            </p:cNvPr>
            <p:cNvSpPr/>
            <p:nvPr/>
          </p:nvSpPr>
          <p:spPr>
            <a:xfrm>
              <a:off x="1866756" y="4489799"/>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2" name="TextBox 41">
              <a:extLst>
                <a:ext uri="{FF2B5EF4-FFF2-40B4-BE49-F238E27FC236}">
                  <a16:creationId xmlns:a16="http://schemas.microsoft.com/office/drawing/2014/main" id="{3F0D9F03-44FE-0529-11B3-E2A43A3C2146}"/>
                </a:ext>
              </a:extLst>
            </p:cNvPr>
            <p:cNvSpPr txBox="1"/>
            <p:nvPr/>
          </p:nvSpPr>
          <p:spPr>
            <a:xfrm>
              <a:off x="1720468" y="3933061"/>
              <a:ext cx="2132315" cy="369332"/>
            </a:xfrm>
            <a:prstGeom prst="rect">
              <a:avLst/>
            </a:prstGeom>
            <a:noFill/>
          </p:spPr>
          <p:txBody>
            <a:bodyPr wrap="none" rtlCol="0">
              <a:spAutoFit/>
            </a:bodyPr>
            <a:lstStyle/>
            <a:p>
              <a:r>
                <a:rPr lang="en-US" dirty="0">
                  <a:solidFill>
                    <a:schemeClr val="bg1"/>
                  </a:solidFill>
                </a:rPr>
                <a:t>Sub-Optimal Solution</a:t>
              </a:r>
            </a:p>
          </p:txBody>
        </p:sp>
        <p:sp>
          <p:nvSpPr>
            <p:cNvPr id="43" name="Right Brace 42">
              <a:extLst>
                <a:ext uri="{FF2B5EF4-FFF2-40B4-BE49-F238E27FC236}">
                  <a16:creationId xmlns:a16="http://schemas.microsoft.com/office/drawing/2014/main" id="{3E7CB299-5086-EE6C-B272-89B2975FE7AE}"/>
                </a:ext>
              </a:extLst>
            </p:cNvPr>
            <p:cNvSpPr/>
            <p:nvPr/>
          </p:nvSpPr>
          <p:spPr>
            <a:xfrm>
              <a:off x="3432796" y="4482466"/>
              <a:ext cx="489751" cy="1297741"/>
            </a:xfrm>
            <a:prstGeom prst="rightBrac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4" name="Rectangle 3">
              <a:extLst>
                <a:ext uri="{FF2B5EF4-FFF2-40B4-BE49-F238E27FC236}">
                  <a16:creationId xmlns:a16="http://schemas.microsoft.com/office/drawing/2014/main" id="{1500AD84-881D-7765-7113-2E04FB014CC0}"/>
                </a:ext>
              </a:extLst>
            </p:cNvPr>
            <p:cNvSpPr txBox="1">
              <a:spLocks noChangeArrowheads="1"/>
            </p:cNvSpPr>
            <p:nvPr>
              <p:custDataLst>
                <p:tags r:id="rId3"/>
              </p:custDataLst>
            </p:nvPr>
          </p:nvSpPr>
          <p:spPr>
            <a:xfrm>
              <a:off x="3760658" y="4735019"/>
              <a:ext cx="1164805" cy="7926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1"/>
                  </a:solidFill>
                </a:rPr>
                <a:t>Total profit:</a:t>
              </a:r>
            </a:p>
            <a:p>
              <a:pPr marL="0" indent="0">
                <a:buFont typeface="Arial" panose="020B0604020202020204" pitchFamily="34" charset="0"/>
                <a:buNone/>
              </a:pPr>
              <a:r>
                <a:rPr lang="en-US" sz="1600" dirty="0">
                  <a:solidFill>
                    <a:schemeClr val="accent1"/>
                  </a:solidFill>
                </a:rPr>
                <a:t>12</a:t>
              </a:r>
            </a:p>
          </p:txBody>
        </p:sp>
        <p:grpSp>
          <p:nvGrpSpPr>
            <p:cNvPr id="31" name="Group 30">
              <a:extLst>
                <a:ext uri="{FF2B5EF4-FFF2-40B4-BE49-F238E27FC236}">
                  <a16:creationId xmlns:a16="http://schemas.microsoft.com/office/drawing/2014/main" id="{F4DAB5E5-6147-CACD-7DBA-8A75A879CD35}"/>
                </a:ext>
              </a:extLst>
            </p:cNvPr>
            <p:cNvGrpSpPr/>
            <p:nvPr/>
          </p:nvGrpSpPr>
          <p:grpSpPr>
            <a:xfrm>
              <a:off x="1989884" y="4582770"/>
              <a:ext cx="1251752" cy="1120677"/>
              <a:chOff x="3873430" y="4143569"/>
              <a:chExt cx="1251752" cy="1120677"/>
            </a:xfrm>
          </p:grpSpPr>
          <p:sp>
            <p:nvSpPr>
              <p:cNvPr id="20" name="Rectangle 19">
                <a:extLst>
                  <a:ext uri="{FF2B5EF4-FFF2-40B4-BE49-F238E27FC236}">
                    <a16:creationId xmlns:a16="http://schemas.microsoft.com/office/drawing/2014/main" id="{3FFA168C-2D0A-E8C4-37AD-30E96D6EE037}"/>
                  </a:ext>
                </a:extLst>
              </p:cNvPr>
              <p:cNvSpPr/>
              <p:nvPr/>
            </p:nvSpPr>
            <p:spPr>
              <a:xfrm>
                <a:off x="3873430" y="4912715"/>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21" name="Rectangle 20">
                    <a:extLst>
                      <a:ext uri="{FF2B5EF4-FFF2-40B4-BE49-F238E27FC236}">
                        <a16:creationId xmlns:a16="http://schemas.microsoft.com/office/drawing/2014/main" id="{FABE4DBF-2145-7B08-2EF1-A04D8F1857E2}"/>
                      </a:ext>
                    </a:extLst>
                  </p:cNvPr>
                  <p:cNvSpPr/>
                  <p:nvPr/>
                </p:nvSpPr>
                <p:spPr>
                  <a:xfrm>
                    <a:off x="3873430" y="452814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p:sp>
                <p:nvSpPr>
                  <p:cNvPr id="21" name="Rectangle 20">
                    <a:extLst>
                      <a:ext uri="{FF2B5EF4-FFF2-40B4-BE49-F238E27FC236}">
                        <a16:creationId xmlns:a16="http://schemas.microsoft.com/office/drawing/2014/main" id="{FABE4DBF-2145-7B08-2EF1-A04D8F1857E2}"/>
                      </a:ext>
                    </a:extLst>
                  </p:cNvPr>
                  <p:cNvSpPr>
                    <a:spLocks noRot="1" noChangeAspect="1" noMove="1" noResize="1" noEditPoints="1" noAdjustHandles="1" noChangeArrowheads="1" noChangeShapeType="1" noTextEdit="1"/>
                  </p:cNvSpPr>
                  <p:nvPr/>
                </p:nvSpPr>
                <p:spPr>
                  <a:xfrm>
                    <a:off x="3873430" y="4528142"/>
                    <a:ext cx="1251752" cy="351531"/>
                  </a:xfrm>
                  <a:prstGeom prst="rect">
                    <a:avLst/>
                  </a:prstGeom>
                  <a:blipFill>
                    <a:blip r:embed="rId14"/>
                    <a:stretch>
                      <a:fillRect b="-6667"/>
                    </a:stretch>
                  </a:blipFill>
                  <a:ln>
                    <a:solidFill>
                      <a:schemeClr val="bg1"/>
                    </a:solidFill>
                  </a:ln>
                </p:spPr>
                <p:txBody>
                  <a:bodyPr/>
                  <a:lstStyle/>
                  <a:p>
                    <a:r>
                      <a:rPr lang="en-US">
                        <a:noFill/>
                      </a:rPr>
                      <a:t> </a:t>
                    </a:r>
                  </a:p>
                </p:txBody>
              </p:sp>
            </mc:Fallback>
          </mc:AlternateContent>
          <p:sp>
            <p:nvSpPr>
              <p:cNvPr id="22" name="Rectangle 21">
                <a:extLst>
                  <a:ext uri="{FF2B5EF4-FFF2-40B4-BE49-F238E27FC236}">
                    <a16:creationId xmlns:a16="http://schemas.microsoft.com/office/drawing/2014/main" id="{D4CF6AC4-5EFC-5DD7-534B-22828601B881}"/>
                  </a:ext>
                </a:extLst>
              </p:cNvPr>
              <p:cNvSpPr/>
              <p:nvPr/>
            </p:nvSpPr>
            <p:spPr>
              <a:xfrm>
                <a:off x="3873430" y="4143569"/>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grpSp>
      <p:cxnSp>
        <p:nvCxnSpPr>
          <p:cNvPr id="48" name="Straight Connector 47">
            <a:extLst>
              <a:ext uri="{FF2B5EF4-FFF2-40B4-BE49-F238E27FC236}">
                <a16:creationId xmlns:a16="http://schemas.microsoft.com/office/drawing/2014/main" id="{82B39E24-0CCB-BAFA-2418-7FC582223BE5}"/>
              </a:ext>
            </a:extLst>
          </p:cNvPr>
          <p:cNvCxnSpPr/>
          <p:nvPr/>
        </p:nvCxnSpPr>
        <p:spPr>
          <a:xfrm>
            <a:off x="435006" y="3506680"/>
            <a:ext cx="11434439"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0539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1DDD4-D1D9-C1C7-7079-C82E43B1A3D9}"/>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1039CBB7-6543-0310-69DC-060CF108B016}"/>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Types of Knapsack Problems</a:t>
            </a:r>
          </a:p>
        </p:txBody>
      </p:sp>
      <p:sp>
        <p:nvSpPr>
          <p:cNvPr id="3" name="Rectangle 3">
            <a:extLst>
              <a:ext uri="{FF2B5EF4-FFF2-40B4-BE49-F238E27FC236}">
                <a16:creationId xmlns:a16="http://schemas.microsoft.com/office/drawing/2014/main" id="{6BE87F3A-8F85-498B-DF54-B3F76B1FF135}"/>
              </a:ext>
            </a:extLst>
          </p:cNvPr>
          <p:cNvSpPr txBox="1">
            <a:spLocks noChangeArrowheads="1"/>
          </p:cNvSpPr>
          <p:nvPr>
            <p:custDataLst>
              <p:tags r:id="rId2"/>
            </p:custDataLst>
          </p:nvPr>
        </p:nvSpPr>
        <p:spPr>
          <a:xfrm>
            <a:off x="1124502" y="970836"/>
            <a:ext cx="10120543" cy="67762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800" dirty="0"/>
              <a:t>Example:</a:t>
            </a:r>
          </a:p>
        </p:txBody>
      </p:sp>
      <p:grpSp>
        <p:nvGrpSpPr>
          <p:cNvPr id="18" name="Group 17">
            <a:extLst>
              <a:ext uri="{FF2B5EF4-FFF2-40B4-BE49-F238E27FC236}">
                <a16:creationId xmlns:a16="http://schemas.microsoft.com/office/drawing/2014/main" id="{525E450C-5EB1-679D-606C-FD63FBBB783A}"/>
              </a:ext>
            </a:extLst>
          </p:cNvPr>
          <p:cNvGrpSpPr/>
          <p:nvPr/>
        </p:nvGrpSpPr>
        <p:grpSpPr>
          <a:xfrm>
            <a:off x="1124502" y="1590014"/>
            <a:ext cx="10257958" cy="1297741"/>
            <a:chOff x="1025561" y="5342756"/>
            <a:chExt cx="10257958" cy="1297741"/>
          </a:xfrm>
        </p:grpSpPr>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107E2066-5E53-22D5-A808-94E2C6F001D4}"/>
                    </a:ext>
                  </a:extLst>
                </p:cNvPr>
                <p:cNvSpPr/>
                <p:nvPr/>
              </p:nvSpPr>
              <p:spPr>
                <a:xfrm>
                  <a:off x="2254927" y="6214368"/>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p:sp>
              <p:nvSpPr>
                <p:cNvPr id="4" name="Rectangle 3">
                  <a:extLst>
                    <a:ext uri="{FF2B5EF4-FFF2-40B4-BE49-F238E27FC236}">
                      <a16:creationId xmlns:a16="http://schemas.microsoft.com/office/drawing/2014/main" id="{107E2066-5E53-22D5-A808-94E2C6F001D4}"/>
                    </a:ext>
                  </a:extLst>
                </p:cNvPr>
                <p:cNvSpPr>
                  <a:spLocks noRot="1" noChangeAspect="1" noMove="1" noResize="1" noEditPoints="1" noAdjustHandles="1" noChangeArrowheads="1" noChangeShapeType="1" noTextEdit="1"/>
                </p:cNvSpPr>
                <p:nvPr/>
              </p:nvSpPr>
              <p:spPr>
                <a:xfrm>
                  <a:off x="2254927" y="6214368"/>
                  <a:ext cx="1251752" cy="351531"/>
                </a:xfrm>
                <a:prstGeom prst="rect">
                  <a:avLst/>
                </a:prstGeom>
                <a:blipFill>
                  <a:blip r:embed="rId8"/>
                  <a:stretch>
                    <a:fillRect b="-6667"/>
                  </a:stretch>
                </a:blipFill>
                <a:ln>
                  <a:solidFill>
                    <a:schemeClr val="bg1"/>
                  </a:solidFill>
                </a:ln>
              </p:spPr>
              <p:txBody>
                <a:bodyPr/>
                <a:lstStyle/>
                <a:p>
                  <a:r>
                    <a:rPr lang="en-US">
                      <a:noFill/>
                    </a:rPr>
                    <a:t> </a:t>
                  </a:r>
                </a:p>
              </p:txBody>
            </p:sp>
          </mc:Fallback>
        </mc:AlternateContent>
        <p:sp>
          <p:nvSpPr>
            <p:cNvPr id="6" name="Rectangle 5">
              <a:extLst>
                <a:ext uri="{FF2B5EF4-FFF2-40B4-BE49-F238E27FC236}">
                  <a16:creationId xmlns:a16="http://schemas.microsoft.com/office/drawing/2014/main" id="{15C9EF73-F821-D650-DC52-54F471392A37}"/>
                </a:ext>
              </a:extLst>
            </p:cNvPr>
            <p:cNvSpPr/>
            <p:nvPr/>
          </p:nvSpPr>
          <p:spPr>
            <a:xfrm>
              <a:off x="3792245"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D2E96731-AD01-0F7A-CCFC-233AE7B04C4A}"/>
                    </a:ext>
                  </a:extLst>
                </p:cNvPr>
                <p:cNvSpPr/>
                <p:nvPr/>
              </p:nvSpPr>
              <p:spPr>
                <a:xfrm>
                  <a:off x="3792245"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p:sp>
              <p:nvSpPr>
                <p:cNvPr id="8" name="Rectangle 7">
                  <a:extLst>
                    <a:ext uri="{FF2B5EF4-FFF2-40B4-BE49-F238E27FC236}">
                      <a16:creationId xmlns:a16="http://schemas.microsoft.com/office/drawing/2014/main" id="{D2E96731-AD01-0F7A-CCFC-233AE7B04C4A}"/>
                    </a:ext>
                  </a:extLst>
                </p:cNvPr>
                <p:cNvSpPr>
                  <a:spLocks noRot="1" noChangeAspect="1" noMove="1" noResize="1" noEditPoints="1" noAdjustHandles="1" noChangeArrowheads="1" noChangeShapeType="1" noTextEdit="1"/>
                </p:cNvSpPr>
                <p:nvPr/>
              </p:nvSpPr>
              <p:spPr>
                <a:xfrm>
                  <a:off x="3792245" y="5829794"/>
                  <a:ext cx="1251752" cy="351531"/>
                </a:xfrm>
                <a:prstGeom prst="rect">
                  <a:avLst/>
                </a:prstGeom>
                <a:blipFill>
                  <a:blip r:embed="rId9"/>
                  <a:stretch>
                    <a:fillRect b="-10345"/>
                  </a:stretch>
                </a:blipFill>
                <a:ln>
                  <a:solidFill>
                    <a:schemeClr val="bg1"/>
                  </a:solidFill>
                </a:ln>
              </p:spPr>
              <p:txBody>
                <a:bodyPr/>
                <a:lstStyle/>
                <a:p>
                  <a:r>
                    <a:rPr lang="en-US">
                      <a:noFill/>
                    </a:rPr>
                    <a:t> </a:t>
                  </a:r>
                </a:p>
              </p:txBody>
            </p:sp>
          </mc:Fallback>
        </mc:AlternateContent>
        <p:sp>
          <p:nvSpPr>
            <p:cNvPr id="9" name="Rectangle 8">
              <a:extLst>
                <a:ext uri="{FF2B5EF4-FFF2-40B4-BE49-F238E27FC236}">
                  <a16:creationId xmlns:a16="http://schemas.microsoft.com/office/drawing/2014/main" id="{84BA741A-28D8-94D9-6931-40168C44E8D2}"/>
                </a:ext>
              </a:extLst>
            </p:cNvPr>
            <p:cNvSpPr/>
            <p:nvPr/>
          </p:nvSpPr>
          <p:spPr>
            <a:xfrm>
              <a:off x="3792245" y="5445221"/>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a:extLst>
                <a:ext uri="{FF2B5EF4-FFF2-40B4-BE49-F238E27FC236}">
                  <a16:creationId xmlns:a16="http://schemas.microsoft.com/office/drawing/2014/main" id="{DC3B2BBE-ED3C-7E1E-EF33-143EEB891384}"/>
                </a:ext>
              </a:extLst>
            </p:cNvPr>
            <p:cNvSpPr/>
            <p:nvPr/>
          </p:nvSpPr>
          <p:spPr>
            <a:xfrm>
              <a:off x="5329563"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11" name="Rectangle 10">
                  <a:extLst>
                    <a:ext uri="{FF2B5EF4-FFF2-40B4-BE49-F238E27FC236}">
                      <a16:creationId xmlns:a16="http://schemas.microsoft.com/office/drawing/2014/main" id="{9D457FEF-4877-C6EB-8F29-6231516C73DA}"/>
                    </a:ext>
                  </a:extLst>
                </p:cNvPr>
                <p:cNvSpPr/>
                <p:nvPr/>
              </p:nvSpPr>
              <p:spPr>
                <a:xfrm>
                  <a:off x="5329563"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p:sp>
              <p:nvSpPr>
                <p:cNvPr id="11" name="Rectangle 10">
                  <a:extLst>
                    <a:ext uri="{FF2B5EF4-FFF2-40B4-BE49-F238E27FC236}">
                      <a16:creationId xmlns:a16="http://schemas.microsoft.com/office/drawing/2014/main" id="{9D457FEF-4877-C6EB-8F29-6231516C73DA}"/>
                    </a:ext>
                  </a:extLst>
                </p:cNvPr>
                <p:cNvSpPr>
                  <a:spLocks noRot="1" noChangeAspect="1" noMove="1" noResize="1" noEditPoints="1" noAdjustHandles="1" noChangeArrowheads="1" noChangeShapeType="1" noTextEdit="1"/>
                </p:cNvSpPr>
                <p:nvPr/>
              </p:nvSpPr>
              <p:spPr>
                <a:xfrm>
                  <a:off x="5329563" y="5829794"/>
                  <a:ext cx="1251752" cy="351531"/>
                </a:xfrm>
                <a:prstGeom prst="rect">
                  <a:avLst/>
                </a:prstGeom>
                <a:blipFill>
                  <a:blip r:embed="rId10"/>
                  <a:stretch>
                    <a:fillRect b="-10345"/>
                  </a:stretch>
                </a:blipFill>
                <a:ln>
                  <a:solidFill>
                    <a:schemeClr val="bg1"/>
                  </a:solidFill>
                </a:ln>
              </p:spPr>
              <p:txBody>
                <a:bodyPr/>
                <a:lstStyle/>
                <a:p>
                  <a:r>
                    <a:rPr lang="en-US">
                      <a:noFill/>
                    </a:rPr>
                    <a:t> </a:t>
                  </a:r>
                </a:p>
              </p:txBody>
            </p:sp>
          </mc:Fallback>
        </mc:AlternateContent>
        <p:sp>
          <p:nvSpPr>
            <p:cNvPr id="13" name="Left Brace 12">
              <a:extLst>
                <a:ext uri="{FF2B5EF4-FFF2-40B4-BE49-F238E27FC236}">
                  <a16:creationId xmlns:a16="http://schemas.microsoft.com/office/drawing/2014/main" id="{10C0CAD5-1991-FC05-6BA0-A20EF19FBF5C}"/>
                </a:ext>
              </a:extLst>
            </p:cNvPr>
            <p:cNvSpPr/>
            <p:nvPr/>
          </p:nvSpPr>
          <p:spPr>
            <a:xfrm>
              <a:off x="1802167" y="5445221"/>
              <a:ext cx="372862" cy="1120677"/>
            </a:xfrm>
            <a:prstGeom prst="leftBrace">
              <a:avLst/>
            </a:prstGeom>
            <a:ln>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Rectangle 3">
              <a:extLst>
                <a:ext uri="{FF2B5EF4-FFF2-40B4-BE49-F238E27FC236}">
                  <a16:creationId xmlns:a16="http://schemas.microsoft.com/office/drawing/2014/main" id="{F75ADA4E-C5BE-5416-784A-B520312A209F}"/>
                </a:ext>
              </a:extLst>
            </p:cNvPr>
            <p:cNvSpPr txBox="1">
              <a:spLocks noChangeArrowheads="1"/>
            </p:cNvSpPr>
            <p:nvPr>
              <p:custDataLst>
                <p:tags r:id="rId4"/>
              </p:custDataLst>
            </p:nvPr>
          </p:nvSpPr>
          <p:spPr>
            <a:xfrm>
              <a:off x="1025561" y="5814508"/>
              <a:ext cx="838749"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4"/>
                  </a:solidFill>
                </a:rPr>
                <a:t>Weight</a:t>
              </a:r>
            </a:p>
          </p:txBody>
        </p:sp>
        <p:sp>
          <p:nvSpPr>
            <p:cNvPr id="15" name="Rectangle 14">
              <a:extLst>
                <a:ext uri="{FF2B5EF4-FFF2-40B4-BE49-F238E27FC236}">
                  <a16:creationId xmlns:a16="http://schemas.microsoft.com/office/drawing/2014/main" id="{C7302DED-3460-A8A0-CB4B-FF55C085AD61}"/>
                </a:ext>
              </a:extLst>
            </p:cNvPr>
            <p:cNvSpPr/>
            <p:nvPr/>
          </p:nvSpPr>
          <p:spPr>
            <a:xfrm>
              <a:off x="7284130" y="5342756"/>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ight Brace 15">
              <a:extLst>
                <a:ext uri="{FF2B5EF4-FFF2-40B4-BE49-F238E27FC236}">
                  <a16:creationId xmlns:a16="http://schemas.microsoft.com/office/drawing/2014/main" id="{CC21F96C-53BA-0F5B-8524-A57F9374E68A}"/>
                </a:ext>
              </a:extLst>
            </p:cNvPr>
            <p:cNvSpPr/>
            <p:nvPr/>
          </p:nvSpPr>
          <p:spPr>
            <a:xfrm>
              <a:off x="8984202" y="5342756"/>
              <a:ext cx="489751" cy="1297741"/>
            </a:xfrm>
            <a:prstGeom prst="rightBrace">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Rectangle 3">
              <a:extLst>
                <a:ext uri="{FF2B5EF4-FFF2-40B4-BE49-F238E27FC236}">
                  <a16:creationId xmlns:a16="http://schemas.microsoft.com/office/drawing/2014/main" id="{7586A74B-B35A-2D46-9A8A-1333BAE6B93C}"/>
                </a:ext>
              </a:extLst>
            </p:cNvPr>
            <p:cNvSpPr txBox="1">
              <a:spLocks noChangeArrowheads="1"/>
            </p:cNvSpPr>
            <p:nvPr>
              <p:custDataLst>
                <p:tags r:id="rId5"/>
              </p:custDataLst>
            </p:nvPr>
          </p:nvSpPr>
          <p:spPr>
            <a:xfrm>
              <a:off x="9331911" y="5796752"/>
              <a:ext cx="1951608"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2"/>
                  </a:solidFill>
                </a:rPr>
                <a:t>Knapsack capacity</a:t>
              </a:r>
            </a:p>
          </p:txBody>
        </p:sp>
      </p:grpSp>
      <p:grpSp>
        <p:nvGrpSpPr>
          <p:cNvPr id="46" name="Group 45">
            <a:extLst>
              <a:ext uri="{FF2B5EF4-FFF2-40B4-BE49-F238E27FC236}">
                <a16:creationId xmlns:a16="http://schemas.microsoft.com/office/drawing/2014/main" id="{1516D1CD-4DD1-2446-5D23-CFEF8205D87A}"/>
              </a:ext>
            </a:extLst>
          </p:cNvPr>
          <p:cNvGrpSpPr/>
          <p:nvPr/>
        </p:nvGrpSpPr>
        <p:grpSpPr>
          <a:xfrm>
            <a:off x="1271594" y="3920551"/>
            <a:ext cx="3204995" cy="1966613"/>
            <a:chOff x="7025197" y="3581931"/>
            <a:chExt cx="3204995" cy="1966613"/>
          </a:xfrm>
        </p:grpSpPr>
        <p:sp>
          <p:nvSpPr>
            <p:cNvPr id="32" name="Rectangle 31">
              <a:extLst>
                <a:ext uri="{FF2B5EF4-FFF2-40B4-BE49-F238E27FC236}">
                  <a16:creationId xmlns:a16="http://schemas.microsoft.com/office/drawing/2014/main" id="{6773CEF8-F4EE-A240-2AA2-AC322B31E716}"/>
                </a:ext>
              </a:extLst>
            </p:cNvPr>
            <p:cNvSpPr/>
            <p:nvPr/>
          </p:nvSpPr>
          <p:spPr>
            <a:xfrm>
              <a:off x="7025197" y="3581931"/>
              <a:ext cx="3204995" cy="196661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Rectangle 26">
              <a:extLst>
                <a:ext uri="{FF2B5EF4-FFF2-40B4-BE49-F238E27FC236}">
                  <a16:creationId xmlns:a16="http://schemas.microsoft.com/office/drawing/2014/main" id="{97A27C06-4F1E-823D-1ABB-F3E5E219527F}"/>
                </a:ext>
              </a:extLst>
            </p:cNvPr>
            <p:cNvSpPr/>
            <p:nvPr/>
          </p:nvSpPr>
          <p:spPr>
            <a:xfrm>
              <a:off x="7171485" y="4150902"/>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19" name="Rectangle 18">
                  <a:extLst>
                    <a:ext uri="{FF2B5EF4-FFF2-40B4-BE49-F238E27FC236}">
                      <a16:creationId xmlns:a16="http://schemas.microsoft.com/office/drawing/2014/main" id="{31D94FF2-4FD6-6E7E-37CE-AC8F27F46CBE}"/>
                    </a:ext>
                  </a:extLst>
                </p:cNvPr>
                <p:cNvSpPr/>
                <p:nvPr/>
              </p:nvSpPr>
              <p:spPr>
                <a:xfrm>
                  <a:off x="7285959" y="4247873"/>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p:sp>
              <p:nvSpPr>
                <p:cNvPr id="19" name="Rectangle 18">
                  <a:extLst>
                    <a:ext uri="{FF2B5EF4-FFF2-40B4-BE49-F238E27FC236}">
                      <a16:creationId xmlns:a16="http://schemas.microsoft.com/office/drawing/2014/main" id="{31D94FF2-4FD6-6E7E-37CE-AC8F27F46CBE}"/>
                    </a:ext>
                  </a:extLst>
                </p:cNvPr>
                <p:cNvSpPr>
                  <a:spLocks noRot="1" noChangeAspect="1" noMove="1" noResize="1" noEditPoints="1" noAdjustHandles="1" noChangeArrowheads="1" noChangeShapeType="1" noTextEdit="1"/>
                </p:cNvSpPr>
                <p:nvPr/>
              </p:nvSpPr>
              <p:spPr>
                <a:xfrm>
                  <a:off x="7285959" y="4247873"/>
                  <a:ext cx="1251752" cy="351531"/>
                </a:xfrm>
                <a:prstGeom prst="rect">
                  <a:avLst/>
                </a:prstGeom>
                <a:blipFill>
                  <a:blip r:embed="rId11"/>
                  <a:stretch>
                    <a:fillRect b="-10000"/>
                  </a:stretch>
                </a:blipFill>
                <a:ln>
                  <a:solidFill>
                    <a:schemeClr val="bg1"/>
                  </a:solidFill>
                </a:ln>
              </p:spPr>
              <p:txBody>
                <a:bodyPr/>
                <a:lstStyle/>
                <a:p>
                  <a:r>
                    <a:rPr lang="en-US">
                      <a:noFill/>
                    </a:rPr>
                    <a:t> </a:t>
                  </a:r>
                </a:p>
              </p:txBody>
            </p:sp>
          </mc:Fallback>
        </mc:AlternateContent>
        <p:grpSp>
          <p:nvGrpSpPr>
            <p:cNvPr id="30" name="Group 29">
              <a:extLst>
                <a:ext uri="{FF2B5EF4-FFF2-40B4-BE49-F238E27FC236}">
                  <a16:creationId xmlns:a16="http://schemas.microsoft.com/office/drawing/2014/main" id="{F77ECABA-78F6-EEDC-AFD8-F0D4D03FCFB8}"/>
                </a:ext>
              </a:extLst>
            </p:cNvPr>
            <p:cNvGrpSpPr/>
            <p:nvPr/>
          </p:nvGrpSpPr>
          <p:grpSpPr>
            <a:xfrm>
              <a:off x="7289113" y="4654095"/>
              <a:ext cx="1251752" cy="736104"/>
              <a:chOff x="5543913" y="4528142"/>
              <a:chExt cx="1251752" cy="736104"/>
            </a:xfrm>
          </p:grpSpPr>
          <p:sp>
            <p:nvSpPr>
              <p:cNvPr id="23" name="Rectangle 22">
                <a:extLst>
                  <a:ext uri="{FF2B5EF4-FFF2-40B4-BE49-F238E27FC236}">
                    <a16:creationId xmlns:a16="http://schemas.microsoft.com/office/drawing/2014/main" id="{74F0184E-3486-4009-7664-93B37E021EA8}"/>
                  </a:ext>
                </a:extLst>
              </p:cNvPr>
              <p:cNvSpPr/>
              <p:nvPr/>
            </p:nvSpPr>
            <p:spPr>
              <a:xfrm>
                <a:off x="5543913" y="4912715"/>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24" name="Rectangle 23">
                    <a:extLst>
                      <a:ext uri="{FF2B5EF4-FFF2-40B4-BE49-F238E27FC236}">
                        <a16:creationId xmlns:a16="http://schemas.microsoft.com/office/drawing/2014/main" id="{1BF02D77-9421-EDEA-EFE5-7A54C5EEC05D}"/>
                      </a:ext>
                    </a:extLst>
                  </p:cNvPr>
                  <p:cNvSpPr/>
                  <p:nvPr/>
                </p:nvSpPr>
                <p:spPr>
                  <a:xfrm>
                    <a:off x="5543913" y="452814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p:sp>
                <p:nvSpPr>
                  <p:cNvPr id="24" name="Rectangle 23">
                    <a:extLst>
                      <a:ext uri="{FF2B5EF4-FFF2-40B4-BE49-F238E27FC236}">
                        <a16:creationId xmlns:a16="http://schemas.microsoft.com/office/drawing/2014/main" id="{1BF02D77-9421-EDEA-EFE5-7A54C5EEC05D}"/>
                      </a:ext>
                    </a:extLst>
                  </p:cNvPr>
                  <p:cNvSpPr>
                    <a:spLocks noRot="1" noChangeAspect="1" noMove="1" noResize="1" noEditPoints="1" noAdjustHandles="1" noChangeArrowheads="1" noChangeShapeType="1" noTextEdit="1"/>
                  </p:cNvSpPr>
                  <p:nvPr/>
                </p:nvSpPr>
                <p:spPr>
                  <a:xfrm>
                    <a:off x="5543913" y="4528142"/>
                    <a:ext cx="1251752" cy="351531"/>
                  </a:xfrm>
                  <a:prstGeom prst="rect">
                    <a:avLst/>
                  </a:prstGeom>
                  <a:blipFill>
                    <a:blip r:embed="rId12"/>
                    <a:stretch>
                      <a:fillRect b="-6667"/>
                    </a:stretch>
                  </a:blipFill>
                  <a:ln>
                    <a:solidFill>
                      <a:schemeClr val="bg1"/>
                    </a:solidFill>
                  </a:ln>
                </p:spPr>
                <p:txBody>
                  <a:bodyPr/>
                  <a:lstStyle/>
                  <a:p>
                    <a:r>
                      <a:rPr lang="en-US">
                        <a:noFill/>
                      </a:rPr>
                      <a:t> </a:t>
                    </a:r>
                  </a:p>
                </p:txBody>
              </p:sp>
            </mc:Fallback>
          </mc:AlternateContent>
        </p:grpSp>
        <p:sp>
          <p:nvSpPr>
            <p:cNvPr id="33" name="TextBox 32">
              <a:extLst>
                <a:ext uri="{FF2B5EF4-FFF2-40B4-BE49-F238E27FC236}">
                  <a16:creationId xmlns:a16="http://schemas.microsoft.com/office/drawing/2014/main" id="{AD7D3F60-AF1E-E9F8-D775-0A1E28AD0F8A}"/>
                </a:ext>
              </a:extLst>
            </p:cNvPr>
            <p:cNvSpPr txBox="1"/>
            <p:nvPr/>
          </p:nvSpPr>
          <p:spPr>
            <a:xfrm>
              <a:off x="7025197" y="3594164"/>
              <a:ext cx="1712328" cy="369332"/>
            </a:xfrm>
            <a:prstGeom prst="rect">
              <a:avLst/>
            </a:prstGeom>
            <a:noFill/>
          </p:spPr>
          <p:txBody>
            <a:bodyPr wrap="none" rtlCol="0">
              <a:spAutoFit/>
            </a:bodyPr>
            <a:lstStyle/>
            <a:p>
              <a:r>
                <a:rPr lang="en-US" dirty="0">
                  <a:solidFill>
                    <a:schemeClr val="bg1"/>
                  </a:solidFill>
                </a:rPr>
                <a:t>Optimal Solution</a:t>
              </a:r>
            </a:p>
          </p:txBody>
        </p:sp>
        <p:sp>
          <p:nvSpPr>
            <p:cNvPr id="34" name="Right Brace 33">
              <a:extLst>
                <a:ext uri="{FF2B5EF4-FFF2-40B4-BE49-F238E27FC236}">
                  <a16:creationId xmlns:a16="http://schemas.microsoft.com/office/drawing/2014/main" id="{FE6D51A9-7420-E95A-79FA-26DF208ADA9D}"/>
                </a:ext>
              </a:extLst>
            </p:cNvPr>
            <p:cNvSpPr/>
            <p:nvPr/>
          </p:nvSpPr>
          <p:spPr>
            <a:xfrm>
              <a:off x="8737525" y="4143569"/>
              <a:ext cx="489751" cy="1297741"/>
            </a:xfrm>
            <a:prstGeom prst="rightBrac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Rectangle 3">
              <a:extLst>
                <a:ext uri="{FF2B5EF4-FFF2-40B4-BE49-F238E27FC236}">
                  <a16:creationId xmlns:a16="http://schemas.microsoft.com/office/drawing/2014/main" id="{14ED89DD-999C-0DC8-C42D-2B1A8A1180F3}"/>
                </a:ext>
              </a:extLst>
            </p:cNvPr>
            <p:cNvSpPr txBox="1">
              <a:spLocks noChangeArrowheads="1"/>
            </p:cNvSpPr>
            <p:nvPr>
              <p:custDataLst>
                <p:tags r:id="rId3"/>
              </p:custDataLst>
            </p:nvPr>
          </p:nvSpPr>
          <p:spPr>
            <a:xfrm>
              <a:off x="9065387" y="4396122"/>
              <a:ext cx="1164805" cy="7926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1"/>
                  </a:solidFill>
                </a:rPr>
                <a:t>Total profit:</a:t>
              </a:r>
            </a:p>
            <a:p>
              <a:pPr marL="0" indent="0">
                <a:buFont typeface="Arial" panose="020B0604020202020204" pitchFamily="34" charset="0"/>
                <a:buNone/>
              </a:pPr>
              <a:r>
                <a:rPr lang="en-US" sz="1600" dirty="0">
                  <a:solidFill>
                    <a:schemeClr val="accent1"/>
                  </a:solidFill>
                </a:rPr>
                <a:t>10+3=13</a:t>
              </a:r>
            </a:p>
          </p:txBody>
        </p:sp>
      </p:grpSp>
      <p:sp>
        <p:nvSpPr>
          <p:cNvPr id="2" name="TextBox 1">
            <a:extLst>
              <a:ext uri="{FF2B5EF4-FFF2-40B4-BE49-F238E27FC236}">
                <a16:creationId xmlns:a16="http://schemas.microsoft.com/office/drawing/2014/main" id="{53CDE30B-45DC-308D-06C4-9C3B3846ECD1}"/>
              </a:ext>
            </a:extLst>
          </p:cNvPr>
          <p:cNvSpPr txBox="1"/>
          <p:nvPr/>
        </p:nvSpPr>
        <p:spPr>
          <a:xfrm>
            <a:off x="6054380" y="3917245"/>
            <a:ext cx="5060272" cy="1477328"/>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Definition</a:t>
            </a:r>
            <a:r>
              <a:rPr lang="en-US" dirty="0">
                <a:solidFill>
                  <a:schemeClr val="bg1"/>
                </a:solidFill>
              </a:rPr>
              <a:t>:</a:t>
            </a:r>
            <a:br>
              <a:rPr lang="en-US" dirty="0">
                <a:solidFill>
                  <a:schemeClr val="bg1"/>
                </a:solidFill>
              </a:rPr>
            </a:br>
            <a:br>
              <a:rPr lang="en-US" dirty="0">
                <a:solidFill>
                  <a:schemeClr val="bg1"/>
                </a:solidFill>
              </a:rPr>
            </a:br>
            <a:r>
              <a:rPr lang="en-US" dirty="0">
                <a:solidFill>
                  <a:schemeClr val="bg1"/>
                </a:solidFill>
              </a:rPr>
              <a:t>This is called a </a:t>
            </a:r>
            <a:r>
              <a:rPr lang="en-US" b="1" i="1" dirty="0">
                <a:solidFill>
                  <a:schemeClr val="bg1"/>
                </a:solidFill>
              </a:rPr>
              <a:t>0/1 Knapsack Problem</a:t>
            </a:r>
            <a:r>
              <a:rPr lang="en-US" dirty="0">
                <a:solidFill>
                  <a:schemeClr val="bg1"/>
                </a:solidFill>
              </a:rPr>
              <a:t> because the algorithm must take the ENTIRE item or not take the item at all. In other words, the item is all or nothing.</a:t>
            </a:r>
          </a:p>
        </p:txBody>
      </p:sp>
      <p:sp>
        <p:nvSpPr>
          <p:cNvPr id="39" name="TextBox 38">
            <a:extLst>
              <a:ext uri="{FF2B5EF4-FFF2-40B4-BE49-F238E27FC236}">
                <a16:creationId xmlns:a16="http://schemas.microsoft.com/office/drawing/2014/main" id="{E2BA03BF-D6E8-186D-240C-DBF5D04A58C0}"/>
              </a:ext>
            </a:extLst>
          </p:cNvPr>
          <p:cNvSpPr txBox="1"/>
          <p:nvPr/>
        </p:nvSpPr>
        <p:spPr>
          <a:xfrm>
            <a:off x="7481781" y="5999609"/>
            <a:ext cx="3692473" cy="584775"/>
          </a:xfrm>
          <a:prstGeom prst="rect">
            <a:avLst/>
          </a:prstGeom>
          <a:noFill/>
        </p:spPr>
        <p:txBody>
          <a:bodyPr wrap="square" rtlCol="0">
            <a:spAutoFit/>
          </a:bodyPr>
          <a:lstStyle/>
          <a:p>
            <a:r>
              <a:rPr lang="en-US" sz="1600" i="1" dirty="0"/>
              <a:t>0/1 Knapsack is harder, and we will show an algorithm in the next module</a:t>
            </a:r>
          </a:p>
        </p:txBody>
      </p:sp>
      <p:cxnSp>
        <p:nvCxnSpPr>
          <p:cNvPr id="40" name="Straight Connector 39">
            <a:extLst>
              <a:ext uri="{FF2B5EF4-FFF2-40B4-BE49-F238E27FC236}">
                <a16:creationId xmlns:a16="http://schemas.microsoft.com/office/drawing/2014/main" id="{DE8AB0CE-7949-570B-FD2E-73EADC2939B3}"/>
              </a:ext>
            </a:extLst>
          </p:cNvPr>
          <p:cNvCxnSpPr>
            <a:cxnSpLocks/>
          </p:cNvCxnSpPr>
          <p:nvPr/>
        </p:nvCxnSpPr>
        <p:spPr>
          <a:xfrm flipH="1" flipV="1">
            <a:off x="8584516" y="5527376"/>
            <a:ext cx="247968" cy="45830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6F34F45-E79A-874B-75FA-B903B3418746}"/>
              </a:ext>
            </a:extLst>
          </p:cNvPr>
          <p:cNvCxnSpPr/>
          <p:nvPr/>
        </p:nvCxnSpPr>
        <p:spPr>
          <a:xfrm flipV="1">
            <a:off x="4637314" y="4302116"/>
            <a:ext cx="1287625" cy="353793"/>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6349DB03-FF55-53DE-38D7-CEECB2142CAD}"/>
              </a:ext>
            </a:extLst>
          </p:cNvPr>
          <p:cNvCxnSpPr>
            <a:cxnSpLocks/>
          </p:cNvCxnSpPr>
          <p:nvPr/>
        </p:nvCxnSpPr>
        <p:spPr>
          <a:xfrm>
            <a:off x="6184773" y="3137120"/>
            <a:ext cx="345779" cy="647322"/>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7981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7B7F7-FBB1-BD39-41B0-19B0A6FD7870}"/>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F1A64C11-6E84-A591-D9F9-D06C7A5FEFEB}"/>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Types of Knapsack Problems</a:t>
            </a:r>
          </a:p>
        </p:txBody>
      </p:sp>
      <p:sp>
        <p:nvSpPr>
          <p:cNvPr id="3" name="Rectangle 3">
            <a:extLst>
              <a:ext uri="{FF2B5EF4-FFF2-40B4-BE49-F238E27FC236}">
                <a16:creationId xmlns:a16="http://schemas.microsoft.com/office/drawing/2014/main" id="{540F8E65-80EA-C3C9-1FBC-90BEDDB97160}"/>
              </a:ext>
            </a:extLst>
          </p:cNvPr>
          <p:cNvSpPr txBox="1">
            <a:spLocks noChangeArrowheads="1"/>
          </p:cNvSpPr>
          <p:nvPr>
            <p:custDataLst>
              <p:tags r:id="rId2"/>
            </p:custDataLst>
          </p:nvPr>
        </p:nvSpPr>
        <p:spPr>
          <a:xfrm>
            <a:off x="1124502" y="970836"/>
            <a:ext cx="10120543" cy="67762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800" dirty="0"/>
              <a:t>Example:</a:t>
            </a:r>
          </a:p>
        </p:txBody>
      </p:sp>
      <p:grpSp>
        <p:nvGrpSpPr>
          <p:cNvPr id="18" name="Group 17">
            <a:extLst>
              <a:ext uri="{FF2B5EF4-FFF2-40B4-BE49-F238E27FC236}">
                <a16:creationId xmlns:a16="http://schemas.microsoft.com/office/drawing/2014/main" id="{0ABA70C4-588B-671F-3CD7-A8DF2110CEC5}"/>
              </a:ext>
            </a:extLst>
          </p:cNvPr>
          <p:cNvGrpSpPr/>
          <p:nvPr/>
        </p:nvGrpSpPr>
        <p:grpSpPr>
          <a:xfrm>
            <a:off x="1124502" y="1590014"/>
            <a:ext cx="10257958" cy="1297741"/>
            <a:chOff x="1025561" y="5342756"/>
            <a:chExt cx="10257958" cy="1297741"/>
          </a:xfrm>
        </p:grpSpPr>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3177D389-7012-C633-6229-37FE9C1C4C85}"/>
                    </a:ext>
                  </a:extLst>
                </p:cNvPr>
                <p:cNvSpPr/>
                <p:nvPr/>
              </p:nvSpPr>
              <p:spPr>
                <a:xfrm>
                  <a:off x="2254927" y="6214368"/>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p:sp>
              <p:nvSpPr>
                <p:cNvPr id="4" name="Rectangle 3">
                  <a:extLst>
                    <a:ext uri="{FF2B5EF4-FFF2-40B4-BE49-F238E27FC236}">
                      <a16:creationId xmlns:a16="http://schemas.microsoft.com/office/drawing/2014/main" id="{3177D389-7012-C633-6229-37FE9C1C4C85}"/>
                    </a:ext>
                  </a:extLst>
                </p:cNvPr>
                <p:cNvSpPr>
                  <a:spLocks noRot="1" noChangeAspect="1" noMove="1" noResize="1" noEditPoints="1" noAdjustHandles="1" noChangeArrowheads="1" noChangeShapeType="1" noTextEdit="1"/>
                </p:cNvSpPr>
                <p:nvPr/>
              </p:nvSpPr>
              <p:spPr>
                <a:xfrm>
                  <a:off x="2254927" y="6214368"/>
                  <a:ext cx="1251752" cy="351531"/>
                </a:xfrm>
                <a:prstGeom prst="rect">
                  <a:avLst/>
                </a:prstGeom>
                <a:blipFill>
                  <a:blip r:embed="rId8"/>
                  <a:stretch>
                    <a:fillRect b="-6667"/>
                  </a:stretch>
                </a:blipFill>
                <a:ln>
                  <a:solidFill>
                    <a:schemeClr val="bg1"/>
                  </a:solidFill>
                </a:ln>
              </p:spPr>
              <p:txBody>
                <a:bodyPr/>
                <a:lstStyle/>
                <a:p>
                  <a:r>
                    <a:rPr lang="en-US">
                      <a:noFill/>
                    </a:rPr>
                    <a:t> </a:t>
                  </a:r>
                </a:p>
              </p:txBody>
            </p:sp>
          </mc:Fallback>
        </mc:AlternateContent>
        <p:sp>
          <p:nvSpPr>
            <p:cNvPr id="6" name="Rectangle 5">
              <a:extLst>
                <a:ext uri="{FF2B5EF4-FFF2-40B4-BE49-F238E27FC236}">
                  <a16:creationId xmlns:a16="http://schemas.microsoft.com/office/drawing/2014/main" id="{37E468EE-50F8-AD15-3157-0742335DF489}"/>
                </a:ext>
              </a:extLst>
            </p:cNvPr>
            <p:cNvSpPr/>
            <p:nvPr/>
          </p:nvSpPr>
          <p:spPr>
            <a:xfrm>
              <a:off x="3792245"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5E834F4C-C1D8-4232-9F24-35DF0B222E89}"/>
                    </a:ext>
                  </a:extLst>
                </p:cNvPr>
                <p:cNvSpPr/>
                <p:nvPr/>
              </p:nvSpPr>
              <p:spPr>
                <a:xfrm>
                  <a:off x="3792245"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p:sp>
              <p:nvSpPr>
                <p:cNvPr id="8" name="Rectangle 7">
                  <a:extLst>
                    <a:ext uri="{FF2B5EF4-FFF2-40B4-BE49-F238E27FC236}">
                      <a16:creationId xmlns:a16="http://schemas.microsoft.com/office/drawing/2014/main" id="{5E834F4C-C1D8-4232-9F24-35DF0B222E89}"/>
                    </a:ext>
                  </a:extLst>
                </p:cNvPr>
                <p:cNvSpPr>
                  <a:spLocks noRot="1" noChangeAspect="1" noMove="1" noResize="1" noEditPoints="1" noAdjustHandles="1" noChangeArrowheads="1" noChangeShapeType="1" noTextEdit="1"/>
                </p:cNvSpPr>
                <p:nvPr/>
              </p:nvSpPr>
              <p:spPr>
                <a:xfrm>
                  <a:off x="3792245" y="5829794"/>
                  <a:ext cx="1251752" cy="351531"/>
                </a:xfrm>
                <a:prstGeom prst="rect">
                  <a:avLst/>
                </a:prstGeom>
                <a:blipFill>
                  <a:blip r:embed="rId9"/>
                  <a:stretch>
                    <a:fillRect b="-10345"/>
                  </a:stretch>
                </a:blipFill>
                <a:ln>
                  <a:solidFill>
                    <a:schemeClr val="bg1"/>
                  </a:solidFill>
                </a:ln>
              </p:spPr>
              <p:txBody>
                <a:bodyPr/>
                <a:lstStyle/>
                <a:p>
                  <a:r>
                    <a:rPr lang="en-US">
                      <a:noFill/>
                    </a:rPr>
                    <a:t> </a:t>
                  </a:r>
                </a:p>
              </p:txBody>
            </p:sp>
          </mc:Fallback>
        </mc:AlternateContent>
        <p:sp>
          <p:nvSpPr>
            <p:cNvPr id="9" name="Rectangle 8">
              <a:extLst>
                <a:ext uri="{FF2B5EF4-FFF2-40B4-BE49-F238E27FC236}">
                  <a16:creationId xmlns:a16="http://schemas.microsoft.com/office/drawing/2014/main" id="{6BF3EECE-999A-70FD-890A-2159A5479486}"/>
                </a:ext>
              </a:extLst>
            </p:cNvPr>
            <p:cNvSpPr/>
            <p:nvPr/>
          </p:nvSpPr>
          <p:spPr>
            <a:xfrm>
              <a:off x="3792245" y="5445221"/>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a:extLst>
                <a:ext uri="{FF2B5EF4-FFF2-40B4-BE49-F238E27FC236}">
                  <a16:creationId xmlns:a16="http://schemas.microsoft.com/office/drawing/2014/main" id="{BBBD4C7E-6182-567E-43AC-360C7D6B283A}"/>
                </a:ext>
              </a:extLst>
            </p:cNvPr>
            <p:cNvSpPr/>
            <p:nvPr/>
          </p:nvSpPr>
          <p:spPr>
            <a:xfrm>
              <a:off x="5329563"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11" name="Rectangle 10">
                  <a:extLst>
                    <a:ext uri="{FF2B5EF4-FFF2-40B4-BE49-F238E27FC236}">
                      <a16:creationId xmlns:a16="http://schemas.microsoft.com/office/drawing/2014/main" id="{9714FF13-4D84-9237-64F4-FF59BC1CA089}"/>
                    </a:ext>
                  </a:extLst>
                </p:cNvPr>
                <p:cNvSpPr/>
                <p:nvPr/>
              </p:nvSpPr>
              <p:spPr>
                <a:xfrm>
                  <a:off x="5329563"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p:sp>
              <p:nvSpPr>
                <p:cNvPr id="11" name="Rectangle 10">
                  <a:extLst>
                    <a:ext uri="{FF2B5EF4-FFF2-40B4-BE49-F238E27FC236}">
                      <a16:creationId xmlns:a16="http://schemas.microsoft.com/office/drawing/2014/main" id="{9714FF13-4D84-9237-64F4-FF59BC1CA089}"/>
                    </a:ext>
                  </a:extLst>
                </p:cNvPr>
                <p:cNvSpPr>
                  <a:spLocks noRot="1" noChangeAspect="1" noMove="1" noResize="1" noEditPoints="1" noAdjustHandles="1" noChangeArrowheads="1" noChangeShapeType="1" noTextEdit="1"/>
                </p:cNvSpPr>
                <p:nvPr/>
              </p:nvSpPr>
              <p:spPr>
                <a:xfrm>
                  <a:off x="5329563" y="5829794"/>
                  <a:ext cx="1251752" cy="351531"/>
                </a:xfrm>
                <a:prstGeom prst="rect">
                  <a:avLst/>
                </a:prstGeom>
                <a:blipFill>
                  <a:blip r:embed="rId10"/>
                  <a:stretch>
                    <a:fillRect b="-10345"/>
                  </a:stretch>
                </a:blipFill>
                <a:ln>
                  <a:solidFill>
                    <a:schemeClr val="bg1"/>
                  </a:solidFill>
                </a:ln>
              </p:spPr>
              <p:txBody>
                <a:bodyPr/>
                <a:lstStyle/>
                <a:p>
                  <a:r>
                    <a:rPr lang="en-US">
                      <a:noFill/>
                    </a:rPr>
                    <a:t> </a:t>
                  </a:r>
                </a:p>
              </p:txBody>
            </p:sp>
          </mc:Fallback>
        </mc:AlternateContent>
        <p:sp>
          <p:nvSpPr>
            <p:cNvPr id="13" name="Left Brace 12">
              <a:extLst>
                <a:ext uri="{FF2B5EF4-FFF2-40B4-BE49-F238E27FC236}">
                  <a16:creationId xmlns:a16="http://schemas.microsoft.com/office/drawing/2014/main" id="{446A9F08-A9BA-6E1B-E960-152D93F36055}"/>
                </a:ext>
              </a:extLst>
            </p:cNvPr>
            <p:cNvSpPr/>
            <p:nvPr/>
          </p:nvSpPr>
          <p:spPr>
            <a:xfrm>
              <a:off x="1802167" y="5445221"/>
              <a:ext cx="372862" cy="1120677"/>
            </a:xfrm>
            <a:prstGeom prst="leftBrace">
              <a:avLst/>
            </a:prstGeom>
            <a:ln>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Rectangle 3">
              <a:extLst>
                <a:ext uri="{FF2B5EF4-FFF2-40B4-BE49-F238E27FC236}">
                  <a16:creationId xmlns:a16="http://schemas.microsoft.com/office/drawing/2014/main" id="{8ACAF9F9-3F89-1796-9A12-021E0910F50B}"/>
                </a:ext>
              </a:extLst>
            </p:cNvPr>
            <p:cNvSpPr txBox="1">
              <a:spLocks noChangeArrowheads="1"/>
            </p:cNvSpPr>
            <p:nvPr>
              <p:custDataLst>
                <p:tags r:id="rId4"/>
              </p:custDataLst>
            </p:nvPr>
          </p:nvSpPr>
          <p:spPr>
            <a:xfrm>
              <a:off x="1025561" y="5814508"/>
              <a:ext cx="838749"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4"/>
                  </a:solidFill>
                </a:rPr>
                <a:t>Weight</a:t>
              </a:r>
            </a:p>
          </p:txBody>
        </p:sp>
        <p:sp>
          <p:nvSpPr>
            <p:cNvPr id="15" name="Rectangle 14">
              <a:extLst>
                <a:ext uri="{FF2B5EF4-FFF2-40B4-BE49-F238E27FC236}">
                  <a16:creationId xmlns:a16="http://schemas.microsoft.com/office/drawing/2014/main" id="{884B8972-1D75-CB31-E570-BCAC98C67CCB}"/>
                </a:ext>
              </a:extLst>
            </p:cNvPr>
            <p:cNvSpPr/>
            <p:nvPr/>
          </p:nvSpPr>
          <p:spPr>
            <a:xfrm>
              <a:off x="7284130" y="5342756"/>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ight Brace 15">
              <a:extLst>
                <a:ext uri="{FF2B5EF4-FFF2-40B4-BE49-F238E27FC236}">
                  <a16:creationId xmlns:a16="http://schemas.microsoft.com/office/drawing/2014/main" id="{A3B2FB2E-C32E-5571-86C0-B75F80DF71D3}"/>
                </a:ext>
              </a:extLst>
            </p:cNvPr>
            <p:cNvSpPr/>
            <p:nvPr/>
          </p:nvSpPr>
          <p:spPr>
            <a:xfrm>
              <a:off x="8984202" y="5342756"/>
              <a:ext cx="489751" cy="1297741"/>
            </a:xfrm>
            <a:prstGeom prst="rightBrace">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Rectangle 3">
              <a:extLst>
                <a:ext uri="{FF2B5EF4-FFF2-40B4-BE49-F238E27FC236}">
                  <a16:creationId xmlns:a16="http://schemas.microsoft.com/office/drawing/2014/main" id="{261BD414-B9CE-B42A-177E-2E36C83D133A}"/>
                </a:ext>
              </a:extLst>
            </p:cNvPr>
            <p:cNvSpPr txBox="1">
              <a:spLocks noChangeArrowheads="1"/>
            </p:cNvSpPr>
            <p:nvPr>
              <p:custDataLst>
                <p:tags r:id="rId5"/>
              </p:custDataLst>
            </p:nvPr>
          </p:nvSpPr>
          <p:spPr>
            <a:xfrm>
              <a:off x="9331911" y="5796752"/>
              <a:ext cx="1951608"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2"/>
                  </a:solidFill>
                </a:rPr>
                <a:t>Knapsack capacity</a:t>
              </a:r>
            </a:p>
          </p:txBody>
        </p:sp>
      </p:grpSp>
      <p:sp>
        <p:nvSpPr>
          <p:cNvPr id="2" name="TextBox 1">
            <a:extLst>
              <a:ext uri="{FF2B5EF4-FFF2-40B4-BE49-F238E27FC236}">
                <a16:creationId xmlns:a16="http://schemas.microsoft.com/office/drawing/2014/main" id="{0CCD985F-68CF-5914-5EBA-4B2935284052}"/>
              </a:ext>
            </a:extLst>
          </p:cNvPr>
          <p:cNvSpPr txBox="1"/>
          <p:nvPr/>
        </p:nvSpPr>
        <p:spPr>
          <a:xfrm>
            <a:off x="6343629" y="3831575"/>
            <a:ext cx="5060272" cy="1200329"/>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Definition</a:t>
            </a:r>
            <a:r>
              <a:rPr lang="en-US" dirty="0">
                <a:solidFill>
                  <a:schemeClr val="bg1"/>
                </a:solidFill>
              </a:rPr>
              <a:t>:</a:t>
            </a:r>
            <a:br>
              <a:rPr lang="en-US" dirty="0">
                <a:solidFill>
                  <a:schemeClr val="bg1"/>
                </a:solidFill>
              </a:rPr>
            </a:br>
            <a:br>
              <a:rPr lang="en-US" dirty="0">
                <a:solidFill>
                  <a:schemeClr val="bg1"/>
                </a:solidFill>
              </a:rPr>
            </a:br>
            <a:r>
              <a:rPr lang="en-US" dirty="0">
                <a:solidFill>
                  <a:schemeClr val="bg1"/>
                </a:solidFill>
              </a:rPr>
              <a:t>With a </a:t>
            </a:r>
            <a:r>
              <a:rPr lang="en-US" b="1" i="1" dirty="0">
                <a:solidFill>
                  <a:schemeClr val="bg1"/>
                </a:solidFill>
              </a:rPr>
              <a:t>Fractional Knapsack Problem</a:t>
            </a:r>
            <a:r>
              <a:rPr lang="en-US" dirty="0">
                <a:solidFill>
                  <a:schemeClr val="bg1"/>
                </a:solidFill>
              </a:rPr>
              <a:t>, the algorithm can take any fractional percentage of each item.</a:t>
            </a:r>
          </a:p>
        </p:txBody>
      </p:sp>
      <p:grpSp>
        <p:nvGrpSpPr>
          <p:cNvPr id="21" name="Group 20">
            <a:extLst>
              <a:ext uri="{FF2B5EF4-FFF2-40B4-BE49-F238E27FC236}">
                <a16:creationId xmlns:a16="http://schemas.microsoft.com/office/drawing/2014/main" id="{E526EBB5-CDE4-7933-4B77-D5382845457D}"/>
              </a:ext>
            </a:extLst>
          </p:cNvPr>
          <p:cNvGrpSpPr/>
          <p:nvPr/>
        </p:nvGrpSpPr>
        <p:grpSpPr>
          <a:xfrm>
            <a:off x="2801871" y="3700970"/>
            <a:ext cx="3204995" cy="1966613"/>
            <a:chOff x="1271594" y="3743268"/>
            <a:chExt cx="3204995" cy="1966613"/>
          </a:xfrm>
        </p:grpSpPr>
        <p:grpSp>
          <p:nvGrpSpPr>
            <p:cNvPr id="46" name="Group 45">
              <a:extLst>
                <a:ext uri="{FF2B5EF4-FFF2-40B4-BE49-F238E27FC236}">
                  <a16:creationId xmlns:a16="http://schemas.microsoft.com/office/drawing/2014/main" id="{29BABD1A-FDDC-2231-E86C-8C657DDE246B}"/>
                </a:ext>
              </a:extLst>
            </p:cNvPr>
            <p:cNvGrpSpPr/>
            <p:nvPr/>
          </p:nvGrpSpPr>
          <p:grpSpPr>
            <a:xfrm>
              <a:off x="1271594" y="3743268"/>
              <a:ext cx="3204995" cy="1966613"/>
              <a:chOff x="7025197" y="3581931"/>
              <a:chExt cx="3204995" cy="1966613"/>
            </a:xfrm>
          </p:grpSpPr>
          <p:sp>
            <p:nvSpPr>
              <p:cNvPr id="32" name="Rectangle 31">
                <a:extLst>
                  <a:ext uri="{FF2B5EF4-FFF2-40B4-BE49-F238E27FC236}">
                    <a16:creationId xmlns:a16="http://schemas.microsoft.com/office/drawing/2014/main" id="{AB0C8421-73E3-36C6-A7DD-8EE99A2A1347}"/>
                  </a:ext>
                </a:extLst>
              </p:cNvPr>
              <p:cNvSpPr/>
              <p:nvPr/>
            </p:nvSpPr>
            <p:spPr>
              <a:xfrm>
                <a:off x="7025197" y="3581931"/>
                <a:ext cx="3204995" cy="196661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Rectangle 26">
                <a:extLst>
                  <a:ext uri="{FF2B5EF4-FFF2-40B4-BE49-F238E27FC236}">
                    <a16:creationId xmlns:a16="http://schemas.microsoft.com/office/drawing/2014/main" id="{38A3DCD0-9715-B5B8-1EFF-9535F10E175B}"/>
                  </a:ext>
                </a:extLst>
              </p:cNvPr>
              <p:cNvSpPr/>
              <p:nvPr/>
            </p:nvSpPr>
            <p:spPr>
              <a:xfrm>
                <a:off x="7171485" y="4150902"/>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3" name="TextBox 32">
                <a:extLst>
                  <a:ext uri="{FF2B5EF4-FFF2-40B4-BE49-F238E27FC236}">
                    <a16:creationId xmlns:a16="http://schemas.microsoft.com/office/drawing/2014/main" id="{32DCE0AD-D7CB-AFAD-953E-EBD3F57D1247}"/>
                  </a:ext>
                </a:extLst>
              </p:cNvPr>
              <p:cNvSpPr txBox="1"/>
              <p:nvPr/>
            </p:nvSpPr>
            <p:spPr>
              <a:xfrm>
                <a:off x="7025197" y="3594164"/>
                <a:ext cx="2247731" cy="369332"/>
              </a:xfrm>
              <a:prstGeom prst="rect">
                <a:avLst/>
              </a:prstGeom>
              <a:noFill/>
            </p:spPr>
            <p:txBody>
              <a:bodyPr wrap="none" rtlCol="0">
                <a:spAutoFit/>
              </a:bodyPr>
              <a:lstStyle/>
              <a:p>
                <a:r>
                  <a:rPr lang="en-US" dirty="0">
                    <a:solidFill>
                      <a:schemeClr val="bg1"/>
                    </a:solidFill>
                  </a:rPr>
                  <a:t>Is this solution optimal?</a:t>
                </a:r>
              </a:p>
            </p:txBody>
          </p:sp>
          <p:sp>
            <p:nvSpPr>
              <p:cNvPr id="34" name="Right Brace 33">
                <a:extLst>
                  <a:ext uri="{FF2B5EF4-FFF2-40B4-BE49-F238E27FC236}">
                    <a16:creationId xmlns:a16="http://schemas.microsoft.com/office/drawing/2014/main" id="{B21EE4EB-688A-5888-88D6-2F8FE18D2B29}"/>
                  </a:ext>
                </a:extLst>
              </p:cNvPr>
              <p:cNvSpPr/>
              <p:nvPr/>
            </p:nvSpPr>
            <p:spPr>
              <a:xfrm>
                <a:off x="8737525" y="4143569"/>
                <a:ext cx="489751" cy="1297741"/>
              </a:xfrm>
              <a:prstGeom prst="rightBrac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Rectangle 3">
                <a:extLst>
                  <a:ext uri="{FF2B5EF4-FFF2-40B4-BE49-F238E27FC236}">
                    <a16:creationId xmlns:a16="http://schemas.microsoft.com/office/drawing/2014/main" id="{5ACF28C3-0FFD-7D9A-03C7-69BC4B3F7B43}"/>
                  </a:ext>
                </a:extLst>
              </p:cNvPr>
              <p:cNvSpPr txBox="1">
                <a:spLocks noChangeArrowheads="1"/>
              </p:cNvSpPr>
              <p:nvPr>
                <p:custDataLst>
                  <p:tags r:id="rId3"/>
                </p:custDataLst>
              </p:nvPr>
            </p:nvSpPr>
            <p:spPr>
              <a:xfrm>
                <a:off x="9065387" y="4396122"/>
                <a:ext cx="1164805" cy="7926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1"/>
                    </a:solidFill>
                  </a:rPr>
                  <a:t>Total profit:</a:t>
                </a:r>
              </a:p>
              <a:p>
                <a:pPr marL="0" indent="0">
                  <a:buFont typeface="Arial" panose="020B0604020202020204" pitchFamily="34" charset="0"/>
                  <a:buNone/>
                </a:pPr>
                <a:r>
                  <a:rPr lang="en-US" sz="1600" dirty="0">
                    <a:solidFill>
                      <a:schemeClr val="accent1"/>
                    </a:solidFill>
                  </a:rPr>
                  <a:t>10+8=18</a:t>
                </a:r>
              </a:p>
            </p:txBody>
          </p:sp>
        </p:grpSp>
        <mc:AlternateContent xmlns:mc="http://schemas.openxmlformats.org/markup-compatibility/2006">
          <mc:Choice xmlns:a14="http://schemas.microsoft.com/office/drawing/2010/main" Requires="a14">
            <p:sp>
              <p:nvSpPr>
                <p:cNvPr id="5" name="Rectangle 4">
                  <a:extLst>
                    <a:ext uri="{FF2B5EF4-FFF2-40B4-BE49-F238E27FC236}">
                      <a16:creationId xmlns:a16="http://schemas.microsoft.com/office/drawing/2014/main" id="{52FAF3B2-227E-57B3-B022-957E1F61AA8A}"/>
                    </a:ext>
                  </a:extLst>
                </p:cNvPr>
                <p:cNvSpPr/>
                <p:nvPr/>
              </p:nvSpPr>
              <p:spPr>
                <a:xfrm>
                  <a:off x="1528720" y="517432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p:sp>
              <p:nvSpPr>
                <p:cNvPr id="5" name="Rectangle 4">
                  <a:extLst>
                    <a:ext uri="{FF2B5EF4-FFF2-40B4-BE49-F238E27FC236}">
                      <a16:creationId xmlns:a16="http://schemas.microsoft.com/office/drawing/2014/main" id="{52FAF3B2-227E-57B3-B022-957E1F61AA8A}"/>
                    </a:ext>
                  </a:extLst>
                </p:cNvPr>
                <p:cNvSpPr>
                  <a:spLocks noRot="1" noChangeAspect="1" noMove="1" noResize="1" noEditPoints="1" noAdjustHandles="1" noChangeArrowheads="1" noChangeShapeType="1" noTextEdit="1"/>
                </p:cNvSpPr>
                <p:nvPr/>
              </p:nvSpPr>
              <p:spPr>
                <a:xfrm>
                  <a:off x="1528720" y="5174327"/>
                  <a:ext cx="1251752" cy="351531"/>
                </a:xfrm>
                <a:prstGeom prst="rect">
                  <a:avLst/>
                </a:prstGeom>
                <a:blipFill>
                  <a:blip r:embed="rId11"/>
                  <a:stretch>
                    <a:fillRect b="-6667"/>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Rectangle 11">
                  <a:extLst>
                    <a:ext uri="{FF2B5EF4-FFF2-40B4-BE49-F238E27FC236}">
                      <a16:creationId xmlns:a16="http://schemas.microsoft.com/office/drawing/2014/main" id="{7BCBE2A1-1517-6935-F781-F6E7ED16FCDF}"/>
                    </a:ext>
                  </a:extLst>
                </p:cNvPr>
                <p:cNvSpPr/>
                <p:nvPr/>
              </p:nvSpPr>
              <p:spPr>
                <a:xfrm>
                  <a:off x="1528720" y="4750473"/>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100" b="0" i="1" smtClean="0">
                            <a:solidFill>
                              <a:schemeClr val="accent1"/>
                            </a:solidFill>
                            <a:latin typeface="Cambria Math" panose="02040503050406030204" pitchFamily="18" charset="0"/>
                          </a:rPr>
                          <m:t>12∗</m:t>
                        </m:r>
                        <m:f>
                          <m:fPr>
                            <m:ctrlPr>
                              <a:rPr lang="en-US" sz="1100" b="0" i="1" smtClean="0">
                                <a:solidFill>
                                  <a:schemeClr val="accent1"/>
                                </a:solidFill>
                                <a:latin typeface="Cambria Math" panose="02040503050406030204" pitchFamily="18" charset="0"/>
                              </a:rPr>
                            </m:ctrlPr>
                          </m:fPr>
                          <m:num>
                            <m:r>
                              <a:rPr lang="en-US" sz="1100" b="0" i="1" smtClean="0">
                                <a:solidFill>
                                  <a:schemeClr val="accent1"/>
                                </a:solidFill>
                                <a:latin typeface="Cambria Math" panose="02040503050406030204" pitchFamily="18" charset="0"/>
                              </a:rPr>
                              <m:t>2</m:t>
                            </m:r>
                          </m:num>
                          <m:den>
                            <m:r>
                              <a:rPr lang="en-US" sz="1100" b="0" i="1" smtClean="0">
                                <a:solidFill>
                                  <a:schemeClr val="accent1"/>
                                </a:solidFill>
                                <a:latin typeface="Cambria Math" panose="02040503050406030204" pitchFamily="18" charset="0"/>
                              </a:rPr>
                              <m:t>3</m:t>
                            </m:r>
                          </m:den>
                        </m:f>
                        <m:r>
                          <a:rPr lang="en-US" sz="1100" b="0" i="1" smtClean="0">
                            <a:solidFill>
                              <a:schemeClr val="accent1"/>
                            </a:solidFill>
                            <a:latin typeface="Cambria Math" panose="02040503050406030204" pitchFamily="18" charset="0"/>
                          </a:rPr>
                          <m:t>=8</m:t>
                        </m:r>
                      </m:oMath>
                    </m:oMathPara>
                  </a14:m>
                  <a:endParaRPr lang="en-US" sz="1100" dirty="0">
                    <a:solidFill>
                      <a:schemeClr val="accent1"/>
                    </a:solidFill>
                  </a:endParaRPr>
                </a:p>
              </p:txBody>
            </p:sp>
          </mc:Choice>
          <mc:Fallback>
            <p:sp>
              <p:nvSpPr>
                <p:cNvPr id="12" name="Rectangle 11">
                  <a:extLst>
                    <a:ext uri="{FF2B5EF4-FFF2-40B4-BE49-F238E27FC236}">
                      <a16:creationId xmlns:a16="http://schemas.microsoft.com/office/drawing/2014/main" id="{7BCBE2A1-1517-6935-F781-F6E7ED16FCDF}"/>
                    </a:ext>
                  </a:extLst>
                </p:cNvPr>
                <p:cNvSpPr>
                  <a:spLocks noRot="1" noChangeAspect="1" noMove="1" noResize="1" noEditPoints="1" noAdjustHandles="1" noChangeArrowheads="1" noChangeShapeType="1" noTextEdit="1"/>
                </p:cNvSpPr>
                <p:nvPr/>
              </p:nvSpPr>
              <p:spPr>
                <a:xfrm>
                  <a:off x="1528720" y="4750473"/>
                  <a:ext cx="1251752" cy="351531"/>
                </a:xfrm>
                <a:prstGeom prst="rect">
                  <a:avLst/>
                </a:prstGeom>
                <a:blipFill>
                  <a:blip r:embed="rId12"/>
                  <a:stretch>
                    <a:fillRect b="-3333"/>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Rectangle 19">
                  <a:extLst>
                    <a:ext uri="{FF2B5EF4-FFF2-40B4-BE49-F238E27FC236}">
                      <a16:creationId xmlns:a16="http://schemas.microsoft.com/office/drawing/2014/main" id="{BB076D86-3DC0-0E51-96BC-FBD1AC56693A}"/>
                    </a:ext>
                  </a:extLst>
                </p:cNvPr>
                <p:cNvSpPr/>
                <p:nvPr/>
              </p:nvSpPr>
              <p:spPr>
                <a:xfrm>
                  <a:off x="1528720" y="438456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p:sp>
              <p:nvSpPr>
                <p:cNvPr id="20" name="Rectangle 19">
                  <a:extLst>
                    <a:ext uri="{FF2B5EF4-FFF2-40B4-BE49-F238E27FC236}">
                      <a16:creationId xmlns:a16="http://schemas.microsoft.com/office/drawing/2014/main" id="{BB076D86-3DC0-0E51-96BC-FBD1AC56693A}"/>
                    </a:ext>
                  </a:extLst>
                </p:cNvPr>
                <p:cNvSpPr>
                  <a:spLocks noRot="1" noChangeAspect="1" noMove="1" noResize="1" noEditPoints="1" noAdjustHandles="1" noChangeArrowheads="1" noChangeShapeType="1" noTextEdit="1"/>
                </p:cNvSpPr>
                <p:nvPr/>
              </p:nvSpPr>
              <p:spPr>
                <a:xfrm>
                  <a:off x="1528720" y="4384562"/>
                  <a:ext cx="1251752" cy="351531"/>
                </a:xfrm>
                <a:prstGeom prst="rect">
                  <a:avLst/>
                </a:prstGeom>
                <a:blipFill>
                  <a:blip r:embed="rId13"/>
                  <a:stretch>
                    <a:fillRect b="-6667"/>
                  </a:stretch>
                </a:blipFill>
                <a:ln>
                  <a:solidFill>
                    <a:schemeClr val="bg1"/>
                  </a:solidFill>
                </a:ln>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FED2E58-B1D7-735C-F9CC-588A8DA659FE}"/>
                  </a:ext>
                </a:extLst>
              </p:cNvPr>
              <p:cNvSpPr txBox="1"/>
              <p:nvPr/>
            </p:nvSpPr>
            <p:spPr>
              <a:xfrm>
                <a:off x="351059" y="3406154"/>
                <a:ext cx="1950904" cy="1426673"/>
              </a:xfrm>
              <a:prstGeom prst="rect">
                <a:avLst/>
              </a:prstGeom>
              <a:noFill/>
              <a:ln>
                <a:solidFill>
                  <a:schemeClr val="tx1">
                    <a:lumMod val="95000"/>
                  </a:schemeClr>
                </a:solidFill>
              </a:ln>
            </p:spPr>
            <p:txBody>
              <a:bodyPr wrap="square" rtlCol="0">
                <a:spAutoFit/>
              </a:bodyPr>
              <a:lstStyle/>
              <a:p>
                <a:pPr algn="ctr"/>
                <a:r>
                  <a:rPr lang="en-US" sz="1600" i="1" dirty="0"/>
                  <a:t>Notice that we chose to take </a:t>
                </a:r>
                <a14:m>
                  <m:oMath xmlns:m="http://schemas.openxmlformats.org/officeDocument/2006/math">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2</m:t>
                        </m:r>
                      </m:num>
                      <m:den>
                        <m:r>
                          <a:rPr lang="en-US" sz="1600" b="0" i="1" smtClean="0">
                            <a:latin typeface="Cambria Math" panose="02040503050406030204" pitchFamily="18" charset="0"/>
                          </a:rPr>
                          <m:t>3</m:t>
                        </m:r>
                      </m:den>
                    </m:f>
                  </m:oMath>
                </a14:m>
                <a:r>
                  <a:rPr lang="en-US" sz="1600" i="1" dirty="0"/>
                  <a:t> of item three. Could have taken any fraction of any item in general</a:t>
                </a:r>
              </a:p>
            </p:txBody>
          </p:sp>
        </mc:Choice>
        <mc:Fallback>
          <p:sp>
            <p:nvSpPr>
              <p:cNvPr id="22" name="TextBox 21">
                <a:extLst>
                  <a:ext uri="{FF2B5EF4-FFF2-40B4-BE49-F238E27FC236}">
                    <a16:creationId xmlns:a16="http://schemas.microsoft.com/office/drawing/2014/main" id="{AFED2E58-B1D7-735C-F9CC-588A8DA659FE}"/>
                  </a:ext>
                </a:extLst>
              </p:cNvPr>
              <p:cNvSpPr txBox="1">
                <a:spLocks noRot="1" noChangeAspect="1" noMove="1" noResize="1" noEditPoints="1" noAdjustHandles="1" noChangeArrowheads="1" noChangeShapeType="1" noTextEdit="1"/>
              </p:cNvSpPr>
              <p:nvPr/>
            </p:nvSpPr>
            <p:spPr>
              <a:xfrm>
                <a:off x="351059" y="3406154"/>
                <a:ext cx="1950904" cy="1426673"/>
              </a:xfrm>
              <a:prstGeom prst="rect">
                <a:avLst/>
              </a:prstGeom>
              <a:blipFill>
                <a:blip r:embed="rId14"/>
                <a:stretch>
                  <a:fillRect t="-870" r="-1290" b="-3478"/>
                </a:stretch>
              </a:blipFill>
              <a:ln>
                <a:solidFill>
                  <a:schemeClr val="tx1">
                    <a:lumMod val="95000"/>
                  </a:schemeClr>
                </a:solidFill>
              </a:ln>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BEEFB69A-58E2-4335-63F0-5716F59B2F4C}"/>
              </a:ext>
            </a:extLst>
          </p:cNvPr>
          <p:cNvCxnSpPr>
            <a:cxnSpLocks/>
          </p:cNvCxnSpPr>
          <p:nvPr/>
        </p:nvCxnSpPr>
        <p:spPr>
          <a:xfrm flipH="1" flipV="1">
            <a:off x="2353868" y="4342264"/>
            <a:ext cx="301926" cy="14949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B25B48B7-71F4-4FCC-C180-A0ED676EAC91}"/>
              </a:ext>
            </a:extLst>
          </p:cNvPr>
          <p:cNvSpPr txBox="1"/>
          <p:nvPr/>
        </p:nvSpPr>
        <p:spPr>
          <a:xfrm>
            <a:off x="7584615" y="5667583"/>
            <a:ext cx="3692473" cy="584775"/>
          </a:xfrm>
          <a:prstGeom prst="rect">
            <a:avLst/>
          </a:prstGeom>
          <a:noFill/>
        </p:spPr>
        <p:txBody>
          <a:bodyPr wrap="square" rtlCol="0">
            <a:spAutoFit/>
          </a:bodyPr>
          <a:lstStyle/>
          <a:p>
            <a:r>
              <a:rPr lang="en-US" sz="1600" i="1" dirty="0"/>
              <a:t>Fractional Knapsack is easier, and can be solved with a Greedy Algorithm</a:t>
            </a:r>
          </a:p>
        </p:txBody>
      </p:sp>
      <p:cxnSp>
        <p:nvCxnSpPr>
          <p:cNvPr id="31" name="Straight Connector 30">
            <a:extLst>
              <a:ext uri="{FF2B5EF4-FFF2-40B4-BE49-F238E27FC236}">
                <a16:creationId xmlns:a16="http://schemas.microsoft.com/office/drawing/2014/main" id="{54259BEF-A0FC-3007-FD2E-8F4EF9DD9E0C}"/>
              </a:ext>
            </a:extLst>
          </p:cNvPr>
          <p:cNvCxnSpPr>
            <a:cxnSpLocks/>
          </p:cNvCxnSpPr>
          <p:nvPr/>
        </p:nvCxnSpPr>
        <p:spPr>
          <a:xfrm flipH="1" flipV="1">
            <a:off x="8687350" y="5195350"/>
            <a:ext cx="247968" cy="45830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50555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4CDE5-AC7C-7BDC-09EC-771F79BACA1E}"/>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919C86EA-AADE-4C7B-816A-C9834FC3A02E}"/>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Updating Our Problem Statement</a:t>
            </a:r>
          </a:p>
        </p:txBody>
      </p:sp>
      <p:sp>
        <p:nvSpPr>
          <p:cNvPr id="22532" name="Rectangle 3">
            <a:extLst>
              <a:ext uri="{FF2B5EF4-FFF2-40B4-BE49-F238E27FC236}">
                <a16:creationId xmlns:a16="http://schemas.microsoft.com/office/drawing/2014/main" id="{92E703A5-1495-3A70-1AD6-CB9D67DFFB38}"/>
              </a:ext>
            </a:extLst>
          </p:cNvPr>
          <p:cNvSpPr>
            <a:spLocks noGrp="1" noChangeArrowheads="1"/>
          </p:cNvSpPr>
          <p:nvPr>
            <p:ph type="body" idx="1"/>
            <p:custDataLst>
              <p:tags r:id="rId2"/>
            </p:custDataLst>
          </p:nvPr>
        </p:nvSpPr>
        <p:spPr>
          <a:xfrm>
            <a:off x="1035727" y="1168166"/>
            <a:ext cx="10120543" cy="677622"/>
          </a:xfrm>
        </p:spPr>
        <p:txBody>
          <a:bodyPr>
            <a:normAutofit/>
          </a:bodyPr>
          <a:lstStyle/>
          <a:p>
            <a:pPr marL="0" indent="0">
              <a:buNone/>
            </a:pPr>
            <a:r>
              <a:rPr lang="en-US" sz="2800" dirty="0"/>
              <a:t>Knapsack Problem:</a:t>
            </a:r>
          </a:p>
        </p:txBody>
      </p:sp>
      <mc:AlternateContent xmlns:mc="http://schemas.openxmlformats.org/markup-compatibility/2006">
        <mc:Choice xmlns:a14="http://schemas.microsoft.com/office/drawing/2010/main" Requires="a14">
          <p:sp>
            <p:nvSpPr>
              <p:cNvPr id="2" name="Rectangle 3">
                <a:extLst>
                  <a:ext uri="{FF2B5EF4-FFF2-40B4-BE49-F238E27FC236}">
                    <a16:creationId xmlns:a16="http://schemas.microsoft.com/office/drawing/2014/main" id="{2EBDB01D-BF32-A44A-B239-6D8FA0951C5E}"/>
                  </a:ext>
                </a:extLst>
              </p:cNvPr>
              <p:cNvSpPr txBox="1">
                <a:spLocks noChangeArrowheads="1"/>
              </p:cNvSpPr>
              <p:nvPr>
                <p:custDataLst>
                  <p:tags r:id="rId3"/>
                </p:custDataLst>
              </p:nvPr>
            </p:nvSpPr>
            <p:spPr>
              <a:xfrm>
                <a:off x="1035728" y="1703745"/>
                <a:ext cx="10120543" cy="270781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ea typeface="ＭＳ Ｐゴシック" charset="0"/>
                    <a:cs typeface="ＭＳ Ｐゴシック" charset="0"/>
                  </a:rPr>
                  <a:t>Scenario</a:t>
                </a:r>
                <a:r>
                  <a:rPr lang="en-US" dirty="0">
                    <a:solidFill>
                      <a:schemeClr val="bg1"/>
                    </a:solidFill>
                    <a:ea typeface="ＭＳ Ｐゴシック" charset="0"/>
                    <a:cs typeface="ＭＳ Ｐゴシック" charset="0"/>
                  </a:rPr>
                  <a:t>: A thief is </a:t>
                </a:r>
                <a:r>
                  <a:rPr lang="en-US" dirty="0">
                    <a:solidFill>
                      <a:schemeClr val="bg1"/>
                    </a:solidFill>
                  </a:rPr>
                  <a:t>robbing a store and finds </a:t>
                </a:r>
                <a:r>
                  <a:rPr lang="en-US" dirty="0">
                    <a:solidFill>
                      <a:schemeClr val="accent3"/>
                    </a:solidFill>
                  </a:rPr>
                  <a:t>n</a:t>
                </a:r>
                <a:r>
                  <a:rPr lang="en-US" dirty="0">
                    <a:solidFill>
                      <a:schemeClr val="bg1"/>
                    </a:solidFill>
                  </a:rPr>
                  <a:t> items, each with a </a:t>
                </a:r>
                <a:r>
                  <a:rPr lang="en-US" dirty="0">
                    <a:solidFill>
                      <a:schemeClr val="accent1"/>
                    </a:solidFill>
                  </a:rPr>
                  <a:t>profit amount </a:t>
                </a:r>
                <a14:m>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𝑖</m:t>
                        </m:r>
                      </m:sub>
                    </m:sSub>
                  </m:oMath>
                </a14:m>
                <a:r>
                  <a:rPr lang="en-US" dirty="0">
                    <a:solidFill>
                      <a:schemeClr val="accent1"/>
                    </a:solidFill>
                  </a:rPr>
                  <a:t> </a:t>
                </a:r>
                <a:r>
                  <a:rPr lang="en-US" dirty="0">
                    <a:solidFill>
                      <a:schemeClr val="bg1"/>
                    </a:solidFill>
                  </a:rPr>
                  <a:t>and a </a:t>
                </a:r>
                <a:r>
                  <a:rPr lang="en-US" dirty="0">
                    <a:solidFill>
                      <a:schemeClr val="accent4"/>
                    </a:solidFill>
                  </a:rPr>
                  <a:t>weight </a:t>
                </a:r>
                <a14:m>
                  <m:oMath xmlns:m="http://schemas.openxmlformats.org/officeDocument/2006/math">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𝑤</m:t>
                        </m:r>
                      </m:e>
                      <m:sub>
                        <m:r>
                          <a:rPr lang="en-US" b="0" i="1" smtClean="0">
                            <a:solidFill>
                              <a:schemeClr val="accent4"/>
                            </a:solidFill>
                            <a:latin typeface="Cambria Math" panose="02040503050406030204" pitchFamily="18" charset="0"/>
                          </a:rPr>
                          <m:t>𝑖</m:t>
                        </m:r>
                      </m:sub>
                    </m:sSub>
                  </m:oMath>
                </a14:m>
                <a:r>
                  <a:rPr lang="en-US" dirty="0">
                    <a:solidFill>
                      <a:schemeClr val="bg1"/>
                    </a:solidFill>
                  </a:rPr>
                  <a:t>. The thief also has a knapsack that can fit a total weight of </a:t>
                </a:r>
                <a14:m>
                  <m:oMath xmlns:m="http://schemas.openxmlformats.org/officeDocument/2006/math">
                    <m:r>
                      <a:rPr lang="en-US" b="0" i="1" smtClean="0">
                        <a:solidFill>
                          <a:schemeClr val="accent2"/>
                        </a:solidFill>
                        <a:latin typeface="Cambria Math" panose="02040503050406030204" pitchFamily="18" charset="0"/>
                      </a:rPr>
                      <m:t>𝐶</m:t>
                    </m:r>
                  </m:oMath>
                </a14:m>
                <a:r>
                  <a:rPr lang="en-US" dirty="0">
                    <a:solidFill>
                      <a:schemeClr val="bg1"/>
                    </a:solidFill>
                  </a:rPr>
                  <a:t>.</a:t>
                </a:r>
              </a:p>
              <a:p>
                <a:pPr marL="0" indent="0">
                  <a:buNone/>
                </a:pPr>
                <a:endParaRPr lang="en-US" dirty="0">
                  <a:solidFill>
                    <a:schemeClr val="bg1"/>
                  </a:solidFill>
                </a:endParaRPr>
              </a:p>
              <a:p>
                <a:pPr marL="0" indent="0">
                  <a:buNone/>
                </a:pPr>
                <a:r>
                  <a:rPr lang="en-US" b="1" i="1" u="sng" dirty="0">
                    <a:solidFill>
                      <a:schemeClr val="bg1"/>
                    </a:solidFill>
                  </a:rPr>
                  <a:t>Problem</a:t>
                </a:r>
                <a:r>
                  <a:rPr lang="en-US" dirty="0">
                    <a:solidFill>
                      <a:schemeClr val="bg1"/>
                    </a:solidFill>
                  </a:rPr>
                  <a:t>: What </a:t>
                </a:r>
                <a:r>
                  <a:rPr lang="en-US" dirty="0">
                    <a:solidFill>
                      <a:schemeClr val="accent3"/>
                    </a:solidFill>
                  </a:rPr>
                  <a:t>proportion </a:t>
                </a:r>
                <a14:m>
                  <m:oMath xmlns:m="http://schemas.openxmlformats.org/officeDocument/2006/math">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0</m:t>
                        </m:r>
                        <m:r>
                          <a:rPr lang="en-US" b="0" i="1" smtClean="0">
                            <a:solidFill>
                              <a:schemeClr val="accent3"/>
                            </a:solidFill>
                            <a:latin typeface="Cambria Math" panose="02040503050406030204" pitchFamily="18" charset="0"/>
                          </a:rPr>
                          <m:t>≤</m:t>
                        </m:r>
                        <m:r>
                          <a:rPr lang="en-US" b="0" i="1" smtClean="0">
                            <a:solidFill>
                              <a:schemeClr val="accent3"/>
                            </a:solidFill>
                            <a:latin typeface="Cambria Math" panose="02040503050406030204" pitchFamily="18" charset="0"/>
                          </a:rPr>
                          <m:t>𝑥</m:t>
                        </m:r>
                      </m:e>
                      <m:sub>
                        <m:r>
                          <a:rPr lang="en-US" b="0" i="1" smtClean="0">
                            <a:solidFill>
                              <a:schemeClr val="accent3"/>
                            </a:solidFill>
                            <a:latin typeface="Cambria Math" panose="02040503050406030204" pitchFamily="18" charset="0"/>
                          </a:rPr>
                          <m:t>𝑖</m:t>
                        </m:r>
                      </m:sub>
                    </m:sSub>
                    <m:r>
                      <a:rPr lang="en-US" b="0" i="1" smtClean="0">
                        <a:solidFill>
                          <a:schemeClr val="accent3"/>
                        </a:solidFill>
                        <a:latin typeface="Cambria Math" panose="02040503050406030204" pitchFamily="18" charset="0"/>
                      </a:rPr>
                      <m:t>≤1</m:t>
                    </m:r>
                  </m:oMath>
                </a14:m>
                <a:r>
                  <a:rPr lang="en-US" dirty="0">
                    <a:solidFill>
                      <a:schemeClr val="accent3"/>
                    </a:solidFill>
                  </a:rPr>
                  <a:t> of each item</a:t>
                </a:r>
                <a:r>
                  <a:rPr lang="en-US" dirty="0">
                    <a:solidFill>
                      <a:schemeClr val="bg1"/>
                    </a:solidFill>
                  </a:rPr>
                  <a:t> should the thief steal such that </a:t>
                </a:r>
                <a14:m>
                  <m:oMath xmlns:m="http://schemas.openxmlformats.org/officeDocument/2006/math">
                    <m:nary>
                      <m:naryPr>
                        <m:chr m:val="∑"/>
                        <m:supHide m:val="on"/>
                        <m:ctrlPr>
                          <a:rPr lang="en-US" b="0" i="1" smtClean="0">
                            <a:solidFill>
                              <a:schemeClr val="bg1"/>
                            </a:solidFill>
                            <a:latin typeface="Cambria Math" panose="02040503050406030204" pitchFamily="18" charset="0"/>
                          </a:rPr>
                        </m:ctrlPr>
                      </m:naryPr>
                      <m:sub>
                        <m:r>
                          <a:rPr lang="en-US" b="0" i="1" smtClean="0">
                            <a:solidFill>
                              <a:schemeClr val="bg1"/>
                            </a:solidFill>
                            <a:latin typeface="Cambria Math" panose="02040503050406030204" pitchFamily="18" charset="0"/>
                          </a:rPr>
                          <m:t>𝑖</m:t>
                        </m:r>
                      </m:sub>
                      <m:sup/>
                      <m:e>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𝑥</m:t>
                            </m:r>
                          </m:e>
                          <m:sub>
                            <m:r>
                              <a:rPr lang="en-US" b="0" i="1" smtClean="0">
                                <a:solidFill>
                                  <a:schemeClr val="accent3"/>
                                </a:solidFill>
                                <a:latin typeface="Cambria Math" panose="02040503050406030204" pitchFamily="18" charset="0"/>
                              </a:rPr>
                              <m:t>𝑖</m:t>
                            </m:r>
                          </m:sub>
                        </m:sSub>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𝑖</m:t>
                            </m:r>
                          </m:sub>
                        </m:sSub>
                      </m:e>
                    </m:nary>
                  </m:oMath>
                </a14:m>
                <a:r>
                  <a:rPr lang="en-US" dirty="0">
                    <a:solidFill>
                      <a:schemeClr val="bg1"/>
                    </a:solidFill>
                  </a:rPr>
                  <a:t> is maximized and </a:t>
                </a:r>
                <a14:m>
                  <m:oMath xmlns:m="http://schemas.openxmlformats.org/officeDocument/2006/math">
                    <m:nary>
                      <m:naryPr>
                        <m:chr m:val="∑"/>
                        <m:supHide m:val="on"/>
                        <m:ctrlPr>
                          <a:rPr lang="en-US" b="0" i="1" smtClean="0">
                            <a:solidFill>
                              <a:schemeClr val="bg1"/>
                            </a:solidFill>
                            <a:latin typeface="Cambria Math" panose="02040503050406030204" pitchFamily="18" charset="0"/>
                          </a:rPr>
                        </m:ctrlPr>
                      </m:naryPr>
                      <m:sub>
                        <m:r>
                          <m:rPr>
                            <m:brk m:alnAt="7"/>
                          </m:rPr>
                          <a:rPr lang="en-US" b="0" i="1" smtClean="0">
                            <a:solidFill>
                              <a:schemeClr val="bg1"/>
                            </a:solidFill>
                            <a:latin typeface="Cambria Math" panose="02040503050406030204" pitchFamily="18" charset="0"/>
                          </a:rPr>
                          <m:t>𝑖</m:t>
                        </m:r>
                      </m:sub>
                      <m:sup/>
                      <m:e>
                        <m:sSub>
                          <m:sSubPr>
                            <m:ctrlPr>
                              <a:rPr lang="en-US" b="0" i="1" smtClean="0">
                                <a:solidFill>
                                  <a:schemeClr val="accent4"/>
                                </a:solidFill>
                                <a:latin typeface="Cambria Math" panose="02040503050406030204" pitchFamily="18" charset="0"/>
                              </a:rPr>
                            </m:ctrlPr>
                          </m:sSubPr>
                          <m:e>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𝑥</m:t>
                                </m:r>
                              </m:e>
                              <m:sub>
                                <m:r>
                                  <a:rPr lang="en-US" b="0" i="1" smtClean="0">
                                    <a:solidFill>
                                      <a:schemeClr val="accent3"/>
                                    </a:solidFill>
                                    <a:latin typeface="Cambria Math" panose="02040503050406030204" pitchFamily="18" charset="0"/>
                                  </a:rPr>
                                  <m:t>𝑖</m:t>
                                </m:r>
                              </m:sub>
                            </m:sSub>
                            <m:r>
                              <a:rPr lang="en-US" b="0" i="1" smtClean="0">
                                <a:solidFill>
                                  <a:schemeClr val="accent4"/>
                                </a:solidFill>
                                <a:latin typeface="Cambria Math" panose="02040503050406030204" pitchFamily="18" charset="0"/>
                              </a:rPr>
                              <m:t>𝑤</m:t>
                            </m:r>
                          </m:e>
                          <m:sub>
                            <m:r>
                              <a:rPr lang="en-US" b="0" i="1" smtClean="0">
                                <a:solidFill>
                                  <a:schemeClr val="accent4"/>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r>
                          <a:rPr lang="en-US" b="0" i="1" smtClean="0">
                            <a:solidFill>
                              <a:schemeClr val="accent2"/>
                            </a:solidFill>
                            <a:latin typeface="Cambria Math" panose="02040503050406030204" pitchFamily="18" charset="0"/>
                          </a:rPr>
                          <m:t>𝐶</m:t>
                        </m:r>
                      </m:e>
                    </m:nary>
                  </m:oMath>
                </a14:m>
                <a:endParaRPr lang="en-US" dirty="0">
                  <a:solidFill>
                    <a:schemeClr val="bg1"/>
                  </a:solidFill>
                </a:endParaRPr>
              </a:p>
            </p:txBody>
          </p:sp>
        </mc:Choice>
        <mc:Fallback>
          <p:sp>
            <p:nvSpPr>
              <p:cNvPr id="2" name="Rectangle 3">
                <a:extLst>
                  <a:ext uri="{FF2B5EF4-FFF2-40B4-BE49-F238E27FC236}">
                    <a16:creationId xmlns:a16="http://schemas.microsoft.com/office/drawing/2014/main" id="{2EBDB01D-BF32-A44A-B239-6D8FA0951C5E}"/>
                  </a:ext>
                </a:extLst>
              </p:cNvPr>
              <p:cNvSpPr txBox="1">
                <a:spLocks noRot="1" noChangeAspect="1" noMove="1" noResize="1" noEditPoints="1" noAdjustHandles="1" noChangeArrowheads="1" noChangeShapeType="1" noTextEdit="1"/>
              </p:cNvSpPr>
              <p:nvPr>
                <p:custDataLst>
                  <p:tags r:id="rId3"/>
                </p:custDataLst>
              </p:nvPr>
            </p:nvSpPr>
            <p:spPr>
              <a:xfrm>
                <a:off x="1035728" y="1703745"/>
                <a:ext cx="10120543" cy="2707813"/>
              </a:xfrm>
              <a:prstGeom prst="rect">
                <a:avLst/>
              </a:prstGeom>
              <a:blipFill>
                <a:blip r:embed="rId6"/>
                <a:stretch>
                  <a:fillRect l="-1003" b="-26047"/>
                </a:stretch>
              </a:blipFill>
              <a:ln>
                <a:solidFill>
                  <a:schemeClr val="bg1"/>
                </a:solidFill>
              </a:ln>
            </p:spPr>
            <p:txBody>
              <a:bodyPr/>
              <a:lstStyle/>
              <a:p>
                <a:r>
                  <a:rPr lang="en-US">
                    <a:noFill/>
                  </a:rPr>
                  <a:t> </a:t>
                </a:r>
              </a:p>
            </p:txBody>
          </p:sp>
        </mc:Fallback>
      </mc:AlternateContent>
      <p:sp>
        <p:nvSpPr>
          <p:cNvPr id="5" name="TextBox 4">
            <a:extLst>
              <a:ext uri="{FF2B5EF4-FFF2-40B4-BE49-F238E27FC236}">
                <a16:creationId xmlns:a16="http://schemas.microsoft.com/office/drawing/2014/main" id="{F626C244-75C9-BE26-4404-EBAB8A7B21DF}"/>
              </a:ext>
            </a:extLst>
          </p:cNvPr>
          <p:cNvSpPr txBox="1"/>
          <p:nvPr/>
        </p:nvSpPr>
        <p:spPr>
          <a:xfrm>
            <a:off x="4916060" y="5162768"/>
            <a:ext cx="5161001" cy="830997"/>
          </a:xfrm>
          <a:prstGeom prst="rect">
            <a:avLst/>
          </a:prstGeom>
          <a:noFill/>
        </p:spPr>
        <p:txBody>
          <a:bodyPr wrap="square" rtlCol="0">
            <a:spAutoFit/>
          </a:bodyPr>
          <a:lstStyle/>
          <a:p>
            <a:r>
              <a:rPr lang="en-US" sz="1600" i="1" dirty="0"/>
              <a:t>Notice that we take some proportion of each item in this version. We use up that proportion of the item’s weight in our knapsack and also get that proportion of the item’s value</a:t>
            </a:r>
          </a:p>
        </p:txBody>
      </p:sp>
      <p:cxnSp>
        <p:nvCxnSpPr>
          <p:cNvPr id="7" name="Straight Connector 6">
            <a:extLst>
              <a:ext uri="{FF2B5EF4-FFF2-40B4-BE49-F238E27FC236}">
                <a16:creationId xmlns:a16="http://schemas.microsoft.com/office/drawing/2014/main" id="{BB7E3C12-199C-0905-4754-5F2796015146}"/>
              </a:ext>
            </a:extLst>
          </p:cNvPr>
          <p:cNvCxnSpPr>
            <a:cxnSpLocks/>
          </p:cNvCxnSpPr>
          <p:nvPr/>
        </p:nvCxnSpPr>
        <p:spPr>
          <a:xfrm flipH="1" flipV="1">
            <a:off x="5272346" y="4669554"/>
            <a:ext cx="247968" cy="45830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64684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8A0D5-516E-B570-7548-18E2DA08B53D}"/>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B04B50A2-A42D-B898-4151-3FD9FAF616E2}"/>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Aside: Optimal Substructure</a:t>
            </a:r>
          </a:p>
        </p:txBody>
      </p:sp>
      <p:sp>
        <p:nvSpPr>
          <p:cNvPr id="2" name="Rectangle 3">
            <a:extLst>
              <a:ext uri="{FF2B5EF4-FFF2-40B4-BE49-F238E27FC236}">
                <a16:creationId xmlns:a16="http://schemas.microsoft.com/office/drawing/2014/main" id="{8A756B80-BD29-BD93-736D-4005EDC24163}"/>
              </a:ext>
            </a:extLst>
          </p:cNvPr>
          <p:cNvSpPr txBox="1">
            <a:spLocks noChangeArrowheads="1"/>
          </p:cNvSpPr>
          <p:nvPr>
            <p:custDataLst>
              <p:tags r:id="rId2"/>
            </p:custDataLst>
          </p:nvPr>
        </p:nvSpPr>
        <p:spPr>
          <a:xfrm>
            <a:off x="2632795" y="2280197"/>
            <a:ext cx="6926409" cy="553694"/>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bg1"/>
                </a:solidFill>
                <a:ea typeface="ＭＳ Ｐゴシック" charset="0"/>
                <a:cs typeface="ＭＳ Ｐゴシック" charset="0"/>
              </a:rPr>
              <a:t>Does the Knapsack Problem have </a:t>
            </a:r>
            <a:r>
              <a:rPr lang="en-US" b="1" i="1" u="sng" dirty="0">
                <a:solidFill>
                  <a:schemeClr val="bg1"/>
                </a:solidFill>
                <a:ea typeface="ＭＳ Ｐゴシック" charset="0"/>
                <a:cs typeface="ＭＳ Ｐゴシック" charset="0"/>
              </a:rPr>
              <a:t>Optimal Substructure</a:t>
            </a:r>
            <a:r>
              <a:rPr lang="en-US" dirty="0">
                <a:solidFill>
                  <a:schemeClr val="bg1"/>
                </a:solidFill>
                <a:ea typeface="ＭＳ Ｐゴシック" charset="0"/>
                <a:cs typeface="ＭＳ Ｐゴシック" charset="0"/>
              </a:rPr>
              <a:t>?</a:t>
            </a:r>
            <a:endParaRPr lang="en-US" dirty="0">
              <a:solidFill>
                <a:schemeClr val="bg1"/>
              </a:solidFill>
            </a:endParaRPr>
          </a:p>
        </p:txBody>
      </p:sp>
      <p:sp>
        <p:nvSpPr>
          <p:cNvPr id="5" name="TextBox 4">
            <a:extLst>
              <a:ext uri="{FF2B5EF4-FFF2-40B4-BE49-F238E27FC236}">
                <a16:creationId xmlns:a16="http://schemas.microsoft.com/office/drawing/2014/main" id="{864EA226-3D69-39A1-946A-E1A62743A653}"/>
              </a:ext>
            </a:extLst>
          </p:cNvPr>
          <p:cNvSpPr txBox="1"/>
          <p:nvPr/>
        </p:nvSpPr>
        <p:spPr>
          <a:xfrm>
            <a:off x="5419913" y="3539242"/>
            <a:ext cx="5161001" cy="338554"/>
          </a:xfrm>
          <a:prstGeom prst="rect">
            <a:avLst/>
          </a:prstGeom>
          <a:noFill/>
        </p:spPr>
        <p:txBody>
          <a:bodyPr wrap="square" rtlCol="0">
            <a:spAutoFit/>
          </a:bodyPr>
          <a:lstStyle/>
          <a:p>
            <a:r>
              <a:rPr lang="en-US" sz="1600" i="1" dirty="0"/>
              <a:t>What do you think?</a:t>
            </a:r>
          </a:p>
        </p:txBody>
      </p:sp>
      <p:cxnSp>
        <p:nvCxnSpPr>
          <p:cNvPr id="7" name="Straight Connector 6">
            <a:extLst>
              <a:ext uri="{FF2B5EF4-FFF2-40B4-BE49-F238E27FC236}">
                <a16:creationId xmlns:a16="http://schemas.microsoft.com/office/drawing/2014/main" id="{BAD3AA8D-F592-A81E-5FAE-4C1CC47BC71C}"/>
              </a:ext>
            </a:extLst>
          </p:cNvPr>
          <p:cNvCxnSpPr>
            <a:cxnSpLocks/>
          </p:cNvCxnSpPr>
          <p:nvPr/>
        </p:nvCxnSpPr>
        <p:spPr>
          <a:xfrm flipH="1" flipV="1">
            <a:off x="5776199" y="3046028"/>
            <a:ext cx="247968" cy="45830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086852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7002A-85DA-A320-F829-5868552D78DC}"/>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AE04D68D-EFAD-D7E0-D3E7-8A6016ACF166}"/>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Aside: Optimal Substructure</a:t>
            </a:r>
          </a:p>
        </p:txBody>
      </p:sp>
      <mc:AlternateContent xmlns:mc="http://schemas.openxmlformats.org/markup-compatibility/2006">
        <mc:Choice xmlns:a14="http://schemas.microsoft.com/office/drawing/2010/main" Requires="a14">
          <p:sp>
            <p:nvSpPr>
              <p:cNvPr id="2" name="Rectangle 3">
                <a:extLst>
                  <a:ext uri="{FF2B5EF4-FFF2-40B4-BE49-F238E27FC236}">
                    <a16:creationId xmlns:a16="http://schemas.microsoft.com/office/drawing/2014/main" id="{F73D9A90-FBC4-AC49-0EAC-0E0C079763B3}"/>
                  </a:ext>
                </a:extLst>
              </p:cNvPr>
              <p:cNvSpPr txBox="1">
                <a:spLocks noChangeArrowheads="1"/>
              </p:cNvSpPr>
              <p:nvPr>
                <p:custDataLst>
                  <p:tags r:id="rId2"/>
                </p:custDataLst>
              </p:nvPr>
            </p:nvSpPr>
            <p:spPr>
              <a:xfrm>
                <a:off x="1360371" y="1262970"/>
                <a:ext cx="9471258" cy="161498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bg1"/>
                    </a:solidFill>
                    <a:ea typeface="ＭＳ Ｐゴシック" charset="0"/>
                  </a:rPr>
                  <a:t>Claim: If </a:t>
                </a:r>
                <a14:m>
                  <m:oMath xmlns:m="http://schemas.openxmlformats.org/officeDocument/2006/math">
                    <m:r>
                      <a:rPr lang="en-US" b="0" i="1" smtClean="0">
                        <a:solidFill>
                          <a:schemeClr val="accent1"/>
                        </a:solidFill>
                        <a:latin typeface="Cambria Math" panose="02040503050406030204" pitchFamily="18" charset="0"/>
                        <a:ea typeface="ＭＳ Ｐゴシック" charset="0"/>
                      </a:rPr>
                      <m:t>𝑋</m:t>
                    </m:r>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1</m:t>
                        </m:r>
                      </m:sub>
                    </m:sSub>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2</m:t>
                        </m:r>
                      </m:sub>
                    </m:sSub>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𝑛</m:t>
                        </m:r>
                      </m:sub>
                    </m:sSub>
                    <m:r>
                      <a:rPr lang="en-US" b="0" i="1" smtClean="0">
                        <a:solidFill>
                          <a:schemeClr val="accent1"/>
                        </a:solidFill>
                        <a:latin typeface="Cambria Math" panose="02040503050406030204" pitchFamily="18" charset="0"/>
                        <a:ea typeface="ＭＳ Ｐゴシック" charset="0"/>
                      </a:rPr>
                      <m:t>}</m:t>
                    </m:r>
                  </m:oMath>
                </a14:m>
                <a:r>
                  <a:rPr lang="en-US" dirty="0">
                    <a:solidFill>
                      <a:schemeClr val="accent1"/>
                    </a:solidFill>
                  </a:rPr>
                  <a:t> </a:t>
                </a:r>
                <a:r>
                  <a:rPr lang="en-US" dirty="0">
                    <a:solidFill>
                      <a:schemeClr val="bg1"/>
                    </a:solidFill>
                  </a:rPr>
                  <a:t>is the optimal weight of each item respectively to choose for some knapsack instance with knapsack capacity </a:t>
                </a:r>
                <a14:m>
                  <m:oMath xmlns:m="http://schemas.openxmlformats.org/officeDocument/2006/math">
                    <m:r>
                      <a:rPr lang="en-US" b="0" i="1" smtClean="0">
                        <a:solidFill>
                          <a:schemeClr val="accent2"/>
                        </a:solidFill>
                        <a:latin typeface="Cambria Math" panose="02040503050406030204" pitchFamily="18" charset="0"/>
                      </a:rPr>
                      <m:t>𝐶</m:t>
                    </m:r>
                  </m:oMath>
                </a14:m>
                <a:endParaRPr lang="en-US" dirty="0">
                  <a:solidFill>
                    <a:schemeClr val="bg1"/>
                  </a:solidFill>
                </a:endParaRPr>
              </a:p>
              <a:p>
                <a:pPr marL="0" indent="0">
                  <a:buNone/>
                </a:pPr>
                <a:r>
                  <a:rPr lang="en-US" dirty="0">
                    <a:solidFill>
                      <a:schemeClr val="bg1"/>
                    </a:solidFill>
                  </a:rPr>
                  <a:t>Then, </a:t>
                </a:r>
                <a14:m>
                  <m:oMath xmlns:m="http://schemas.openxmlformats.org/officeDocument/2006/math">
                    <m:r>
                      <a:rPr lang="en-US" b="0" i="1" smtClean="0">
                        <a:solidFill>
                          <a:schemeClr val="accent1"/>
                        </a:solidFill>
                        <a:latin typeface="Cambria Math" panose="02040503050406030204" pitchFamily="18" charset="0"/>
                      </a:rPr>
                      <m:t>𝑋</m:t>
                    </m:r>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a14:m>
                <a:r>
                  <a:rPr lang="en-US" dirty="0">
                    <a:solidFill>
                      <a:schemeClr val="accent1"/>
                    </a:solidFill>
                  </a:rPr>
                  <a:t> </a:t>
                </a:r>
                <a:r>
                  <a:rPr lang="en-US" dirty="0">
                    <a:solidFill>
                      <a:schemeClr val="bg1"/>
                    </a:solidFill>
                  </a:rPr>
                  <a:t>is the optimal way to fill a knapsack of size </a:t>
                </a:r>
                <a14:m>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bg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a14:m>
                <a:endParaRPr lang="en-US" dirty="0">
                  <a:solidFill>
                    <a:schemeClr val="bg1"/>
                  </a:solidFill>
                </a:endParaRPr>
              </a:p>
            </p:txBody>
          </p:sp>
        </mc:Choice>
        <mc:Fallback>
          <p:sp>
            <p:nvSpPr>
              <p:cNvPr id="2" name="Rectangle 3">
                <a:extLst>
                  <a:ext uri="{FF2B5EF4-FFF2-40B4-BE49-F238E27FC236}">
                    <a16:creationId xmlns:a16="http://schemas.microsoft.com/office/drawing/2014/main" id="{F73D9A90-FBC4-AC49-0EAC-0E0C079763B3}"/>
                  </a:ext>
                </a:extLst>
              </p:cNvPr>
              <p:cNvSpPr txBox="1">
                <a:spLocks noRot="1" noChangeAspect="1" noMove="1" noResize="1" noEditPoints="1" noAdjustHandles="1" noChangeArrowheads="1" noChangeShapeType="1" noTextEdit="1"/>
              </p:cNvSpPr>
              <p:nvPr>
                <p:custDataLst>
                  <p:tags r:id="rId2"/>
                </p:custDataLst>
              </p:nvPr>
            </p:nvSpPr>
            <p:spPr>
              <a:xfrm>
                <a:off x="1360371" y="1262970"/>
                <a:ext cx="9471258" cy="1614983"/>
              </a:xfrm>
              <a:prstGeom prst="rect">
                <a:avLst/>
              </a:prstGeom>
              <a:blipFill>
                <a:blip r:embed="rId5"/>
                <a:stretch>
                  <a:fillRect l="-936" r="-668" b="-769"/>
                </a:stretch>
              </a:blipFill>
              <a:ln>
                <a:solidFill>
                  <a:schemeClr val="bg1"/>
                </a:solidFill>
              </a:ln>
            </p:spPr>
            <p:txBody>
              <a:bodyPr/>
              <a:lstStyle/>
              <a:p>
                <a:r>
                  <a:rPr lang="en-US">
                    <a:noFill/>
                  </a:rPr>
                  <a:t> </a:t>
                </a:r>
              </a:p>
            </p:txBody>
          </p:sp>
        </mc:Fallback>
      </mc:AlternateContent>
      <p:grpSp>
        <p:nvGrpSpPr>
          <p:cNvPr id="32" name="Group 31">
            <a:extLst>
              <a:ext uri="{FF2B5EF4-FFF2-40B4-BE49-F238E27FC236}">
                <a16:creationId xmlns:a16="http://schemas.microsoft.com/office/drawing/2014/main" id="{16C50794-67BF-34F0-DD68-CB1457E20C6F}"/>
              </a:ext>
            </a:extLst>
          </p:cNvPr>
          <p:cNvGrpSpPr/>
          <p:nvPr/>
        </p:nvGrpSpPr>
        <p:grpSpPr>
          <a:xfrm>
            <a:off x="1312957" y="3190651"/>
            <a:ext cx="2418175" cy="3136900"/>
            <a:chOff x="1778534" y="3429000"/>
            <a:chExt cx="2418175" cy="3136900"/>
          </a:xfrm>
        </p:grpSpPr>
        <p:sp>
          <p:nvSpPr>
            <p:cNvPr id="4" name="Rectangle 3">
              <a:extLst>
                <a:ext uri="{FF2B5EF4-FFF2-40B4-BE49-F238E27FC236}">
                  <a16:creationId xmlns:a16="http://schemas.microsoft.com/office/drawing/2014/main" id="{DBC1D649-4E15-C440-9AF9-429BB7FF5476}"/>
                </a:ext>
              </a:extLst>
            </p:cNvPr>
            <p:cNvSpPr/>
            <p:nvPr/>
          </p:nvSpPr>
          <p:spPr>
            <a:xfrm>
              <a:off x="1778534" y="3429000"/>
              <a:ext cx="2418175" cy="3136900"/>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 name="Rectangle 5">
              <a:extLst>
                <a:ext uri="{FF2B5EF4-FFF2-40B4-BE49-F238E27FC236}">
                  <a16:creationId xmlns:a16="http://schemas.microsoft.com/office/drawing/2014/main" id="{281A1844-1967-7D50-EF5F-D2D4A95942C7}"/>
                </a:ext>
              </a:extLst>
            </p:cNvPr>
            <p:cNvSpPr/>
            <p:nvPr/>
          </p:nvSpPr>
          <p:spPr>
            <a:xfrm>
              <a:off x="2515164" y="3834340"/>
              <a:ext cx="1487008" cy="2595335"/>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9B716846-F25C-B2AD-FB22-B7B200B247F5}"/>
                    </a:ext>
                  </a:extLst>
                </p:cNvPr>
                <p:cNvSpPr/>
                <p:nvPr/>
              </p:nvSpPr>
              <p:spPr>
                <a:xfrm>
                  <a:off x="2629638" y="393131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m:oMathPara>
                  </a14:m>
                  <a:endParaRPr lang="en-US" dirty="0">
                    <a:solidFill>
                      <a:schemeClr val="accent1"/>
                    </a:solidFill>
                  </a:endParaRPr>
                </a:p>
              </p:txBody>
            </p:sp>
          </mc:Choice>
          <mc:Fallback>
            <p:sp>
              <p:nvSpPr>
                <p:cNvPr id="8" name="Rectangle 7">
                  <a:extLst>
                    <a:ext uri="{FF2B5EF4-FFF2-40B4-BE49-F238E27FC236}">
                      <a16:creationId xmlns:a16="http://schemas.microsoft.com/office/drawing/2014/main" id="{9B716846-F25C-B2AD-FB22-B7B200B247F5}"/>
                    </a:ext>
                  </a:extLst>
                </p:cNvPr>
                <p:cNvSpPr>
                  <a:spLocks noRot="1" noChangeAspect="1" noMove="1" noResize="1" noEditPoints="1" noAdjustHandles="1" noChangeArrowheads="1" noChangeShapeType="1" noTextEdit="1"/>
                </p:cNvSpPr>
                <p:nvPr/>
              </p:nvSpPr>
              <p:spPr>
                <a:xfrm>
                  <a:off x="2629638" y="3931312"/>
                  <a:ext cx="1251752" cy="351531"/>
                </a:xfrm>
                <a:prstGeom prst="rect">
                  <a:avLst/>
                </a:prstGeom>
                <a:blipFill>
                  <a:blip r:embed="rId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Rectangle 13">
                  <a:extLst>
                    <a:ext uri="{FF2B5EF4-FFF2-40B4-BE49-F238E27FC236}">
                      <a16:creationId xmlns:a16="http://schemas.microsoft.com/office/drawing/2014/main" id="{40708B40-8048-73E7-B7ED-4E2BE7324FAA}"/>
                    </a:ext>
                  </a:extLst>
                </p:cNvPr>
                <p:cNvSpPr/>
                <p:nvPr/>
              </p:nvSpPr>
              <p:spPr>
                <a:xfrm>
                  <a:off x="2632792" y="4337534"/>
                  <a:ext cx="1251752" cy="554116"/>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p:sp>
              <p:nvSpPr>
                <p:cNvPr id="14" name="Rectangle 13">
                  <a:extLst>
                    <a:ext uri="{FF2B5EF4-FFF2-40B4-BE49-F238E27FC236}">
                      <a16:creationId xmlns:a16="http://schemas.microsoft.com/office/drawing/2014/main" id="{40708B40-8048-73E7-B7ED-4E2BE7324FAA}"/>
                    </a:ext>
                  </a:extLst>
                </p:cNvPr>
                <p:cNvSpPr>
                  <a:spLocks noRot="1" noChangeAspect="1" noMove="1" noResize="1" noEditPoints="1" noAdjustHandles="1" noChangeArrowheads="1" noChangeShapeType="1" noTextEdit="1"/>
                </p:cNvSpPr>
                <p:nvPr/>
              </p:nvSpPr>
              <p:spPr>
                <a:xfrm>
                  <a:off x="2632792" y="4337534"/>
                  <a:ext cx="1251752" cy="554116"/>
                </a:xfrm>
                <a:prstGeom prst="rect">
                  <a:avLst/>
                </a:prstGeom>
                <a:blipFill>
                  <a:blip r:embed="rId7"/>
                  <a:stretch>
                    <a:fillRect/>
                  </a:stretch>
                </a:blipFill>
                <a:ln>
                  <a:solidFill>
                    <a:schemeClr val="bg1"/>
                  </a:solidFill>
                </a:ln>
              </p:spPr>
              <p:txBody>
                <a:bodyPr/>
                <a:lstStyle/>
                <a:p>
                  <a:r>
                    <a:rPr lang="en-US">
                      <a:noFill/>
                    </a:rPr>
                    <a:t> </a:t>
                  </a:r>
                </a:p>
              </p:txBody>
            </p:sp>
          </mc:Fallback>
        </mc:AlternateContent>
        <p:sp>
          <p:nvSpPr>
            <p:cNvPr id="10" name="TextBox 9">
              <a:extLst>
                <a:ext uri="{FF2B5EF4-FFF2-40B4-BE49-F238E27FC236}">
                  <a16:creationId xmlns:a16="http://schemas.microsoft.com/office/drawing/2014/main" id="{38C570E2-293B-3162-BF44-4658B2572B60}"/>
                </a:ext>
              </a:extLst>
            </p:cNvPr>
            <p:cNvSpPr txBox="1"/>
            <p:nvPr/>
          </p:nvSpPr>
          <p:spPr>
            <a:xfrm>
              <a:off x="2465131" y="3441233"/>
              <a:ext cx="1712328" cy="369332"/>
            </a:xfrm>
            <a:prstGeom prst="rect">
              <a:avLst/>
            </a:prstGeom>
            <a:noFill/>
          </p:spPr>
          <p:txBody>
            <a:bodyPr wrap="none" rtlCol="0">
              <a:spAutoFit/>
            </a:bodyPr>
            <a:lstStyle/>
            <a:p>
              <a:r>
                <a:rPr lang="en-US" dirty="0">
                  <a:solidFill>
                    <a:schemeClr val="bg1"/>
                  </a:solidFill>
                </a:rPr>
                <a:t>Optimal Solution</a:t>
              </a:r>
            </a:p>
          </p:txBody>
        </p:sp>
        <mc:AlternateContent xmlns:mc="http://schemas.openxmlformats.org/markup-compatibility/2006">
          <mc:Choice xmlns:a14="http://schemas.microsoft.com/office/drawing/2010/main" Requires="a14">
            <p:sp>
              <p:nvSpPr>
                <p:cNvPr id="15" name="Rectangle 14">
                  <a:extLst>
                    <a:ext uri="{FF2B5EF4-FFF2-40B4-BE49-F238E27FC236}">
                      <a16:creationId xmlns:a16="http://schemas.microsoft.com/office/drawing/2014/main" id="{6F40D4F4-3FD4-E2CD-25D6-C3A389EAD247}"/>
                    </a:ext>
                  </a:extLst>
                </p:cNvPr>
                <p:cNvSpPr/>
                <p:nvPr/>
              </p:nvSpPr>
              <p:spPr>
                <a:xfrm>
                  <a:off x="2632792" y="4961232"/>
                  <a:ext cx="1251752" cy="262819"/>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oMath>
                    </m:oMathPara>
                  </a14:m>
                  <a:endParaRPr lang="en-US" dirty="0">
                    <a:solidFill>
                      <a:schemeClr val="bg1"/>
                    </a:solidFill>
                  </a:endParaRPr>
                </a:p>
              </p:txBody>
            </p:sp>
          </mc:Choice>
          <mc:Fallback>
            <p:sp>
              <p:nvSpPr>
                <p:cNvPr id="15" name="Rectangle 14">
                  <a:extLst>
                    <a:ext uri="{FF2B5EF4-FFF2-40B4-BE49-F238E27FC236}">
                      <a16:creationId xmlns:a16="http://schemas.microsoft.com/office/drawing/2014/main" id="{6F40D4F4-3FD4-E2CD-25D6-C3A389EAD247}"/>
                    </a:ext>
                  </a:extLst>
                </p:cNvPr>
                <p:cNvSpPr>
                  <a:spLocks noRot="1" noChangeAspect="1" noMove="1" noResize="1" noEditPoints="1" noAdjustHandles="1" noChangeArrowheads="1" noChangeShapeType="1" noTextEdit="1"/>
                </p:cNvSpPr>
                <p:nvPr/>
              </p:nvSpPr>
              <p:spPr>
                <a:xfrm>
                  <a:off x="2632792" y="4961232"/>
                  <a:ext cx="1251752" cy="262819"/>
                </a:xfrm>
                <a:prstGeom prst="rect">
                  <a:avLst/>
                </a:prstGeom>
                <a:blipFill>
                  <a:blip r:embed="rId8"/>
                  <a:stretch>
                    <a:fillRect b="-13043"/>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Rectangle 15">
                  <a:extLst>
                    <a:ext uri="{FF2B5EF4-FFF2-40B4-BE49-F238E27FC236}">
                      <a16:creationId xmlns:a16="http://schemas.microsoft.com/office/drawing/2014/main" id="{F6FAD55A-A17B-E961-1364-15E95FE45B05}"/>
                    </a:ext>
                  </a:extLst>
                </p:cNvPr>
                <p:cNvSpPr/>
                <p:nvPr/>
              </p:nvSpPr>
              <p:spPr>
                <a:xfrm>
                  <a:off x="2639263" y="5293633"/>
                  <a:ext cx="1251752" cy="48146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4</m:t>
                            </m:r>
                          </m:sub>
                        </m:sSub>
                      </m:oMath>
                    </m:oMathPara>
                  </a14:m>
                  <a:endParaRPr lang="en-US" dirty="0">
                    <a:solidFill>
                      <a:schemeClr val="bg1"/>
                    </a:solidFill>
                  </a:endParaRPr>
                </a:p>
              </p:txBody>
            </p:sp>
          </mc:Choice>
          <mc:Fallback>
            <p:sp>
              <p:nvSpPr>
                <p:cNvPr id="16" name="Rectangle 15">
                  <a:extLst>
                    <a:ext uri="{FF2B5EF4-FFF2-40B4-BE49-F238E27FC236}">
                      <a16:creationId xmlns:a16="http://schemas.microsoft.com/office/drawing/2014/main" id="{F6FAD55A-A17B-E961-1364-15E95FE45B05}"/>
                    </a:ext>
                  </a:extLst>
                </p:cNvPr>
                <p:cNvSpPr>
                  <a:spLocks noRot="1" noChangeAspect="1" noMove="1" noResize="1" noEditPoints="1" noAdjustHandles="1" noChangeArrowheads="1" noChangeShapeType="1" noTextEdit="1"/>
                </p:cNvSpPr>
                <p:nvPr/>
              </p:nvSpPr>
              <p:spPr>
                <a:xfrm>
                  <a:off x="2639263" y="5293633"/>
                  <a:ext cx="1251752" cy="481465"/>
                </a:xfrm>
                <a:prstGeom prst="rect">
                  <a:avLst/>
                </a:prstGeom>
                <a:blipFill>
                  <a:blip r:embed="rId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Rectangle 16">
                  <a:extLst>
                    <a:ext uri="{FF2B5EF4-FFF2-40B4-BE49-F238E27FC236}">
                      <a16:creationId xmlns:a16="http://schemas.microsoft.com/office/drawing/2014/main" id="{BB193F01-4E72-0623-25BE-A656B9B7F7FC}"/>
                    </a:ext>
                  </a:extLst>
                </p:cNvPr>
                <p:cNvSpPr/>
                <p:nvPr/>
              </p:nvSpPr>
              <p:spPr>
                <a:xfrm>
                  <a:off x="2639263"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oMath>
                    </m:oMathPara>
                  </a14:m>
                  <a:endParaRPr lang="en-US" dirty="0">
                    <a:solidFill>
                      <a:schemeClr val="bg1"/>
                    </a:solidFill>
                  </a:endParaRPr>
                </a:p>
              </p:txBody>
            </p:sp>
          </mc:Choice>
          <mc:Fallback>
            <p:sp>
              <p:nvSpPr>
                <p:cNvPr id="17" name="Rectangle 16">
                  <a:extLst>
                    <a:ext uri="{FF2B5EF4-FFF2-40B4-BE49-F238E27FC236}">
                      <a16:creationId xmlns:a16="http://schemas.microsoft.com/office/drawing/2014/main" id="{BB193F01-4E72-0623-25BE-A656B9B7F7FC}"/>
                    </a:ext>
                  </a:extLst>
                </p:cNvPr>
                <p:cNvSpPr>
                  <a:spLocks noRot="1" noChangeAspect="1" noMove="1" noResize="1" noEditPoints="1" noAdjustHandles="1" noChangeArrowheads="1" noChangeShapeType="1" noTextEdit="1"/>
                </p:cNvSpPr>
                <p:nvPr/>
              </p:nvSpPr>
              <p:spPr>
                <a:xfrm>
                  <a:off x="2639263" y="6073368"/>
                  <a:ext cx="1251752" cy="295495"/>
                </a:xfrm>
                <a:prstGeom prst="rect">
                  <a:avLst/>
                </a:prstGeom>
                <a:blipFill>
                  <a:blip r:embed="rId10"/>
                  <a:stretch>
                    <a:fillRect b="-3846"/>
                  </a:stretch>
                </a:blipFill>
                <a:ln>
                  <a:solidFill>
                    <a:schemeClr val="bg1"/>
                  </a:solidFill>
                </a:ln>
              </p:spPr>
              <p:txBody>
                <a:bodyPr/>
                <a:lstStyle/>
                <a:p>
                  <a:r>
                    <a:rPr lang="en-US">
                      <a:noFill/>
                    </a:rPr>
                    <a:t> </a:t>
                  </a:r>
                </a:p>
              </p:txBody>
            </p:sp>
          </mc:Fallback>
        </mc:AlternateContent>
        <p:sp>
          <p:nvSpPr>
            <p:cNvPr id="18" name="TextBox 17">
              <a:extLst>
                <a:ext uri="{FF2B5EF4-FFF2-40B4-BE49-F238E27FC236}">
                  <a16:creationId xmlns:a16="http://schemas.microsoft.com/office/drawing/2014/main" id="{87CE1C29-C8C0-8540-CE47-CA7A55858A71}"/>
                </a:ext>
              </a:extLst>
            </p:cNvPr>
            <p:cNvSpPr txBox="1"/>
            <p:nvPr/>
          </p:nvSpPr>
          <p:spPr>
            <a:xfrm>
              <a:off x="3028515" y="5694411"/>
              <a:ext cx="415498" cy="369332"/>
            </a:xfrm>
            <a:prstGeom prst="rect">
              <a:avLst/>
            </a:prstGeom>
            <a:noFill/>
          </p:spPr>
          <p:txBody>
            <a:bodyPr wrap="none" rtlCol="0">
              <a:spAutoFit/>
            </a:bodyPr>
            <a:lstStyle/>
            <a:p>
              <a:r>
                <a:rPr lang="en-US" dirty="0"/>
                <a:t>…</a:t>
              </a:r>
            </a:p>
          </p:txBody>
        </p:sp>
        <p:sp>
          <p:nvSpPr>
            <p:cNvPr id="19" name="Left Brace 18">
              <a:extLst>
                <a:ext uri="{FF2B5EF4-FFF2-40B4-BE49-F238E27FC236}">
                  <a16:creationId xmlns:a16="http://schemas.microsoft.com/office/drawing/2014/main" id="{9FF9E336-DADC-C3F4-8C4A-A13C961AB47A}"/>
                </a:ext>
              </a:extLst>
            </p:cNvPr>
            <p:cNvSpPr/>
            <p:nvPr/>
          </p:nvSpPr>
          <p:spPr>
            <a:xfrm>
              <a:off x="2088680" y="3834340"/>
              <a:ext cx="356135" cy="2595335"/>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128C1F3-A609-4601-B272-EC3EF6394421}"/>
                    </a:ext>
                  </a:extLst>
                </p:cNvPr>
                <p:cNvSpPr txBox="1"/>
                <p:nvPr/>
              </p:nvSpPr>
              <p:spPr>
                <a:xfrm>
                  <a:off x="1778534" y="4958274"/>
                  <a:ext cx="396775" cy="3693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oMath>
                    </m:oMathPara>
                  </a14:m>
                  <a:endParaRPr lang="en-US" dirty="0">
                    <a:solidFill>
                      <a:schemeClr val="accent2"/>
                    </a:solidFill>
                  </a:endParaRPr>
                </a:p>
              </p:txBody>
            </p:sp>
          </mc:Choice>
          <mc:Fallback>
            <p:sp>
              <p:nvSpPr>
                <p:cNvPr id="20" name="TextBox 19">
                  <a:extLst>
                    <a:ext uri="{FF2B5EF4-FFF2-40B4-BE49-F238E27FC236}">
                      <a16:creationId xmlns:a16="http://schemas.microsoft.com/office/drawing/2014/main" id="{6128C1F3-A609-4601-B272-EC3EF6394421}"/>
                    </a:ext>
                  </a:extLst>
                </p:cNvPr>
                <p:cNvSpPr txBox="1">
                  <a:spLocks noRot="1" noChangeAspect="1" noMove="1" noResize="1" noEditPoints="1" noAdjustHandles="1" noChangeArrowheads="1" noChangeShapeType="1" noTextEdit="1"/>
                </p:cNvSpPr>
                <p:nvPr/>
              </p:nvSpPr>
              <p:spPr>
                <a:xfrm>
                  <a:off x="1778534" y="4958274"/>
                  <a:ext cx="396775" cy="369332"/>
                </a:xfrm>
                <a:prstGeom prst="rect">
                  <a:avLst/>
                </a:prstGeom>
                <a:blipFill>
                  <a:blip r:embed="rId11"/>
                  <a:stretch>
                    <a:fillRect/>
                  </a:stretch>
                </a:blipFill>
              </p:spPr>
              <p:txBody>
                <a:bodyPr/>
                <a:lstStyle/>
                <a:p>
                  <a:r>
                    <a:rPr lang="en-US">
                      <a:noFill/>
                    </a:rPr>
                    <a:t> </a:t>
                  </a:r>
                </a:p>
              </p:txBody>
            </p:sp>
          </mc:Fallback>
        </mc:AlternateContent>
      </p:grpSp>
      <p:grpSp>
        <p:nvGrpSpPr>
          <p:cNvPr id="33" name="Group 32">
            <a:extLst>
              <a:ext uri="{FF2B5EF4-FFF2-40B4-BE49-F238E27FC236}">
                <a16:creationId xmlns:a16="http://schemas.microsoft.com/office/drawing/2014/main" id="{504C8816-B003-7B57-4B75-13CAC188AA7F}"/>
              </a:ext>
            </a:extLst>
          </p:cNvPr>
          <p:cNvGrpSpPr/>
          <p:nvPr/>
        </p:nvGrpSpPr>
        <p:grpSpPr>
          <a:xfrm>
            <a:off x="7961731" y="3226869"/>
            <a:ext cx="2869898" cy="3136900"/>
            <a:chOff x="7371412" y="3429000"/>
            <a:chExt cx="2869898" cy="3136900"/>
          </a:xfrm>
        </p:grpSpPr>
        <p:sp>
          <p:nvSpPr>
            <p:cNvPr id="21" name="Rectangle 20">
              <a:extLst>
                <a:ext uri="{FF2B5EF4-FFF2-40B4-BE49-F238E27FC236}">
                  <a16:creationId xmlns:a16="http://schemas.microsoft.com/office/drawing/2014/main" id="{5F4F6E77-E7F1-910E-6E05-6C62958C8482}"/>
                </a:ext>
              </a:extLst>
            </p:cNvPr>
            <p:cNvSpPr/>
            <p:nvPr/>
          </p:nvSpPr>
          <p:spPr>
            <a:xfrm>
              <a:off x="7382577" y="3429000"/>
              <a:ext cx="2857193" cy="3136900"/>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Rectangle 21">
              <a:extLst>
                <a:ext uri="{FF2B5EF4-FFF2-40B4-BE49-F238E27FC236}">
                  <a16:creationId xmlns:a16="http://schemas.microsoft.com/office/drawing/2014/main" id="{98A0EDCB-7866-49D2-C374-F483264E8B22}"/>
                </a:ext>
              </a:extLst>
            </p:cNvPr>
            <p:cNvSpPr/>
            <p:nvPr/>
          </p:nvSpPr>
          <p:spPr>
            <a:xfrm>
              <a:off x="8558225" y="4282843"/>
              <a:ext cx="1487008" cy="214683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24" name="Rectangle 23">
                  <a:extLst>
                    <a:ext uri="{FF2B5EF4-FFF2-40B4-BE49-F238E27FC236}">
                      <a16:creationId xmlns:a16="http://schemas.microsoft.com/office/drawing/2014/main" id="{4CF76185-B130-3BB7-4E1B-FEBA1059C0C8}"/>
                    </a:ext>
                  </a:extLst>
                </p:cNvPr>
                <p:cNvSpPr/>
                <p:nvPr/>
              </p:nvSpPr>
              <p:spPr>
                <a:xfrm>
                  <a:off x="8675853" y="4337534"/>
                  <a:ext cx="1251752" cy="554116"/>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p:sp>
              <p:nvSpPr>
                <p:cNvPr id="24" name="Rectangle 23">
                  <a:extLst>
                    <a:ext uri="{FF2B5EF4-FFF2-40B4-BE49-F238E27FC236}">
                      <a16:creationId xmlns:a16="http://schemas.microsoft.com/office/drawing/2014/main" id="{4CF76185-B130-3BB7-4E1B-FEBA1059C0C8}"/>
                    </a:ext>
                  </a:extLst>
                </p:cNvPr>
                <p:cNvSpPr>
                  <a:spLocks noRot="1" noChangeAspect="1" noMove="1" noResize="1" noEditPoints="1" noAdjustHandles="1" noChangeArrowheads="1" noChangeShapeType="1" noTextEdit="1"/>
                </p:cNvSpPr>
                <p:nvPr/>
              </p:nvSpPr>
              <p:spPr>
                <a:xfrm>
                  <a:off x="8675853" y="4337534"/>
                  <a:ext cx="1251752" cy="554116"/>
                </a:xfrm>
                <a:prstGeom prst="rect">
                  <a:avLst/>
                </a:prstGeom>
                <a:blipFill>
                  <a:blip r:embed="rId12"/>
                  <a:stretch>
                    <a:fillRect/>
                  </a:stretch>
                </a:blipFill>
                <a:ln>
                  <a:solidFill>
                    <a:schemeClr val="bg1"/>
                  </a:solidFill>
                </a:ln>
              </p:spPr>
              <p:txBody>
                <a:bodyPr/>
                <a:lstStyle/>
                <a:p>
                  <a:r>
                    <a:rPr lang="en-US">
                      <a:noFill/>
                    </a:rPr>
                    <a:t> </a:t>
                  </a:r>
                </a:p>
              </p:txBody>
            </p:sp>
          </mc:Fallback>
        </mc:AlternateContent>
        <p:sp>
          <p:nvSpPr>
            <p:cNvPr id="25" name="TextBox 24">
              <a:extLst>
                <a:ext uri="{FF2B5EF4-FFF2-40B4-BE49-F238E27FC236}">
                  <a16:creationId xmlns:a16="http://schemas.microsoft.com/office/drawing/2014/main" id="{0F284BD9-655B-BE88-3FEA-E0E398E288B7}"/>
                </a:ext>
              </a:extLst>
            </p:cNvPr>
            <p:cNvSpPr txBox="1"/>
            <p:nvPr/>
          </p:nvSpPr>
          <p:spPr>
            <a:xfrm>
              <a:off x="8440817" y="3441233"/>
              <a:ext cx="1800493" cy="369332"/>
            </a:xfrm>
            <a:prstGeom prst="rect">
              <a:avLst/>
            </a:prstGeom>
            <a:noFill/>
          </p:spPr>
          <p:txBody>
            <a:bodyPr wrap="none" rtlCol="0">
              <a:spAutoFit/>
            </a:bodyPr>
            <a:lstStyle/>
            <a:p>
              <a:r>
                <a:rPr lang="en-US" dirty="0">
                  <a:solidFill>
                    <a:schemeClr val="bg1"/>
                  </a:solidFill>
                </a:rPr>
                <a:t>Optimal Solution?</a:t>
              </a:r>
            </a:p>
          </p:txBody>
        </p:sp>
        <mc:AlternateContent xmlns:mc="http://schemas.openxmlformats.org/markup-compatibility/2006">
          <mc:Choice xmlns:a14="http://schemas.microsoft.com/office/drawing/2010/main" Requires="a14">
            <p:sp>
              <p:nvSpPr>
                <p:cNvPr id="26" name="Rectangle 25">
                  <a:extLst>
                    <a:ext uri="{FF2B5EF4-FFF2-40B4-BE49-F238E27FC236}">
                      <a16:creationId xmlns:a16="http://schemas.microsoft.com/office/drawing/2014/main" id="{A7C16979-E6C3-F1DD-0778-62A006408CD6}"/>
                    </a:ext>
                  </a:extLst>
                </p:cNvPr>
                <p:cNvSpPr/>
                <p:nvPr/>
              </p:nvSpPr>
              <p:spPr>
                <a:xfrm>
                  <a:off x="8675853" y="4961232"/>
                  <a:ext cx="1251752" cy="262819"/>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oMath>
                    </m:oMathPara>
                  </a14:m>
                  <a:endParaRPr lang="en-US" dirty="0">
                    <a:solidFill>
                      <a:schemeClr val="bg1"/>
                    </a:solidFill>
                  </a:endParaRPr>
                </a:p>
              </p:txBody>
            </p:sp>
          </mc:Choice>
          <mc:Fallback>
            <p:sp>
              <p:nvSpPr>
                <p:cNvPr id="26" name="Rectangle 25">
                  <a:extLst>
                    <a:ext uri="{FF2B5EF4-FFF2-40B4-BE49-F238E27FC236}">
                      <a16:creationId xmlns:a16="http://schemas.microsoft.com/office/drawing/2014/main" id="{A7C16979-E6C3-F1DD-0778-62A006408CD6}"/>
                    </a:ext>
                  </a:extLst>
                </p:cNvPr>
                <p:cNvSpPr>
                  <a:spLocks noRot="1" noChangeAspect="1" noMove="1" noResize="1" noEditPoints="1" noAdjustHandles="1" noChangeArrowheads="1" noChangeShapeType="1" noTextEdit="1"/>
                </p:cNvSpPr>
                <p:nvPr/>
              </p:nvSpPr>
              <p:spPr>
                <a:xfrm>
                  <a:off x="8675853" y="4961232"/>
                  <a:ext cx="1251752" cy="262819"/>
                </a:xfrm>
                <a:prstGeom prst="rect">
                  <a:avLst/>
                </a:prstGeom>
                <a:blipFill>
                  <a:blip r:embed="rId13"/>
                  <a:stretch>
                    <a:fillRect b="-13043"/>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7" name="Rectangle 26">
                  <a:extLst>
                    <a:ext uri="{FF2B5EF4-FFF2-40B4-BE49-F238E27FC236}">
                      <a16:creationId xmlns:a16="http://schemas.microsoft.com/office/drawing/2014/main" id="{F0921BEA-8472-F6CA-7197-6E3B552DA394}"/>
                    </a:ext>
                  </a:extLst>
                </p:cNvPr>
                <p:cNvSpPr/>
                <p:nvPr/>
              </p:nvSpPr>
              <p:spPr>
                <a:xfrm>
                  <a:off x="8682324" y="5293633"/>
                  <a:ext cx="1251752" cy="48146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4</m:t>
                            </m:r>
                          </m:sub>
                        </m:sSub>
                      </m:oMath>
                    </m:oMathPara>
                  </a14:m>
                  <a:endParaRPr lang="en-US" dirty="0">
                    <a:solidFill>
                      <a:schemeClr val="bg1"/>
                    </a:solidFill>
                  </a:endParaRPr>
                </a:p>
              </p:txBody>
            </p:sp>
          </mc:Choice>
          <mc:Fallback>
            <p:sp>
              <p:nvSpPr>
                <p:cNvPr id="27" name="Rectangle 26">
                  <a:extLst>
                    <a:ext uri="{FF2B5EF4-FFF2-40B4-BE49-F238E27FC236}">
                      <a16:creationId xmlns:a16="http://schemas.microsoft.com/office/drawing/2014/main" id="{F0921BEA-8472-F6CA-7197-6E3B552DA394}"/>
                    </a:ext>
                  </a:extLst>
                </p:cNvPr>
                <p:cNvSpPr>
                  <a:spLocks noRot="1" noChangeAspect="1" noMove="1" noResize="1" noEditPoints="1" noAdjustHandles="1" noChangeArrowheads="1" noChangeShapeType="1" noTextEdit="1"/>
                </p:cNvSpPr>
                <p:nvPr/>
              </p:nvSpPr>
              <p:spPr>
                <a:xfrm>
                  <a:off x="8682324" y="5293633"/>
                  <a:ext cx="1251752" cy="481465"/>
                </a:xfrm>
                <a:prstGeom prst="rect">
                  <a:avLst/>
                </a:prstGeom>
                <a:blipFill>
                  <a:blip r:embed="rId1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Rectangle 27">
                  <a:extLst>
                    <a:ext uri="{FF2B5EF4-FFF2-40B4-BE49-F238E27FC236}">
                      <a16:creationId xmlns:a16="http://schemas.microsoft.com/office/drawing/2014/main" id="{A464A7B7-8AD2-712B-D9A5-D022025CAFB5}"/>
                    </a:ext>
                  </a:extLst>
                </p:cNvPr>
                <p:cNvSpPr/>
                <p:nvPr/>
              </p:nvSpPr>
              <p:spPr>
                <a:xfrm>
                  <a:off x="8682324"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oMath>
                    </m:oMathPara>
                  </a14:m>
                  <a:endParaRPr lang="en-US" dirty="0">
                    <a:solidFill>
                      <a:schemeClr val="bg1"/>
                    </a:solidFill>
                  </a:endParaRPr>
                </a:p>
              </p:txBody>
            </p:sp>
          </mc:Choice>
          <mc:Fallback>
            <p:sp>
              <p:nvSpPr>
                <p:cNvPr id="28" name="Rectangle 27">
                  <a:extLst>
                    <a:ext uri="{FF2B5EF4-FFF2-40B4-BE49-F238E27FC236}">
                      <a16:creationId xmlns:a16="http://schemas.microsoft.com/office/drawing/2014/main" id="{A464A7B7-8AD2-712B-D9A5-D022025CAFB5}"/>
                    </a:ext>
                  </a:extLst>
                </p:cNvPr>
                <p:cNvSpPr>
                  <a:spLocks noRot="1" noChangeAspect="1" noMove="1" noResize="1" noEditPoints="1" noAdjustHandles="1" noChangeArrowheads="1" noChangeShapeType="1" noTextEdit="1"/>
                </p:cNvSpPr>
                <p:nvPr/>
              </p:nvSpPr>
              <p:spPr>
                <a:xfrm>
                  <a:off x="8682324" y="6073368"/>
                  <a:ext cx="1251752" cy="295495"/>
                </a:xfrm>
                <a:prstGeom prst="rect">
                  <a:avLst/>
                </a:prstGeom>
                <a:blipFill>
                  <a:blip r:embed="rId15"/>
                  <a:stretch>
                    <a:fillRect b="-3846"/>
                  </a:stretch>
                </a:blipFill>
                <a:ln>
                  <a:solidFill>
                    <a:schemeClr val="bg1"/>
                  </a:solidFill>
                </a:ln>
              </p:spPr>
              <p:txBody>
                <a:bodyPr/>
                <a:lstStyle/>
                <a:p>
                  <a:r>
                    <a:rPr lang="en-US">
                      <a:noFill/>
                    </a:rPr>
                    <a:t> </a:t>
                  </a:r>
                </a:p>
              </p:txBody>
            </p:sp>
          </mc:Fallback>
        </mc:AlternateContent>
        <p:sp>
          <p:nvSpPr>
            <p:cNvPr id="29" name="TextBox 28">
              <a:extLst>
                <a:ext uri="{FF2B5EF4-FFF2-40B4-BE49-F238E27FC236}">
                  <a16:creationId xmlns:a16="http://schemas.microsoft.com/office/drawing/2014/main" id="{5A03681F-BDF1-473E-3882-1C4C27F4EBD3}"/>
                </a:ext>
              </a:extLst>
            </p:cNvPr>
            <p:cNvSpPr txBox="1"/>
            <p:nvPr/>
          </p:nvSpPr>
          <p:spPr>
            <a:xfrm>
              <a:off x="9071576" y="5694411"/>
              <a:ext cx="415498" cy="369332"/>
            </a:xfrm>
            <a:prstGeom prst="rect">
              <a:avLst/>
            </a:prstGeom>
            <a:noFill/>
          </p:spPr>
          <p:txBody>
            <a:bodyPr wrap="none" rtlCol="0">
              <a:spAutoFit/>
            </a:bodyPr>
            <a:lstStyle/>
            <a:p>
              <a:r>
                <a:rPr lang="en-US" dirty="0"/>
                <a:t>…</a:t>
              </a:r>
            </a:p>
          </p:txBody>
        </p:sp>
        <p:sp>
          <p:nvSpPr>
            <p:cNvPr id="30" name="Left Brace 29">
              <a:extLst>
                <a:ext uri="{FF2B5EF4-FFF2-40B4-BE49-F238E27FC236}">
                  <a16:creationId xmlns:a16="http://schemas.microsoft.com/office/drawing/2014/main" id="{1AA99D9F-157D-4D51-F3F1-340C8F6ED1AD}"/>
                </a:ext>
              </a:extLst>
            </p:cNvPr>
            <p:cNvSpPr/>
            <p:nvPr/>
          </p:nvSpPr>
          <p:spPr>
            <a:xfrm>
              <a:off x="8131741" y="4282843"/>
              <a:ext cx="315327" cy="2146832"/>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A5A86376-F436-E4F7-6946-4421604FB132}"/>
                    </a:ext>
                  </a:extLst>
                </p:cNvPr>
                <p:cNvSpPr txBox="1"/>
                <p:nvPr/>
              </p:nvSpPr>
              <p:spPr>
                <a:xfrm>
                  <a:off x="7371412" y="5154888"/>
                  <a:ext cx="83579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m:t>
                        </m:r>
                        <m:sSub>
                          <m:sSubPr>
                            <m:ctrlPr>
                              <a:rPr lang="en-US" b="0" i="1" smtClean="0">
                                <a:solidFill>
                                  <a:schemeClr val="accent2"/>
                                </a:solidFill>
                                <a:latin typeface="Cambria Math" panose="02040503050406030204" pitchFamily="18" charset="0"/>
                              </a:rPr>
                            </m:ctrlPr>
                          </m:sSubPr>
                          <m:e>
                            <m:r>
                              <a:rPr lang="en-US" b="0" i="1" smtClean="0">
                                <a:solidFill>
                                  <a:schemeClr val="accent2"/>
                                </a:solidFill>
                                <a:latin typeface="Cambria Math" panose="02040503050406030204" pitchFamily="18" charset="0"/>
                              </a:rPr>
                              <m:t>𝑥</m:t>
                            </m:r>
                          </m:e>
                          <m:sub>
                            <m:r>
                              <a:rPr lang="en-US" b="0" i="1" smtClean="0">
                                <a:solidFill>
                                  <a:schemeClr val="accent2"/>
                                </a:solidFill>
                                <a:latin typeface="Cambria Math" panose="02040503050406030204" pitchFamily="18" charset="0"/>
                              </a:rPr>
                              <m:t>1</m:t>
                            </m:r>
                          </m:sub>
                        </m:sSub>
                      </m:oMath>
                    </m:oMathPara>
                  </a14:m>
                  <a:endParaRPr lang="en-US" dirty="0">
                    <a:solidFill>
                      <a:schemeClr val="accent2"/>
                    </a:solidFill>
                  </a:endParaRPr>
                </a:p>
              </p:txBody>
            </p:sp>
          </mc:Choice>
          <mc:Fallback>
            <p:sp>
              <p:nvSpPr>
                <p:cNvPr id="31" name="TextBox 30">
                  <a:extLst>
                    <a:ext uri="{FF2B5EF4-FFF2-40B4-BE49-F238E27FC236}">
                      <a16:creationId xmlns:a16="http://schemas.microsoft.com/office/drawing/2014/main" id="{A5A86376-F436-E4F7-6946-4421604FB132}"/>
                    </a:ext>
                  </a:extLst>
                </p:cNvPr>
                <p:cNvSpPr txBox="1">
                  <a:spLocks noRot="1" noChangeAspect="1" noMove="1" noResize="1" noEditPoints="1" noAdjustHandles="1" noChangeArrowheads="1" noChangeShapeType="1" noTextEdit="1"/>
                </p:cNvSpPr>
                <p:nvPr/>
              </p:nvSpPr>
              <p:spPr>
                <a:xfrm>
                  <a:off x="7371412" y="5154888"/>
                  <a:ext cx="835794" cy="369332"/>
                </a:xfrm>
                <a:prstGeom prst="rect">
                  <a:avLst/>
                </a:prstGeom>
                <a:blipFill>
                  <a:blip r:embed="rId16"/>
                  <a:stretch>
                    <a:fillRect/>
                  </a:stretch>
                </a:blipFill>
              </p:spPr>
              <p:txBody>
                <a:bodyPr/>
                <a:lstStyle/>
                <a:p>
                  <a:r>
                    <a:rPr lang="en-US">
                      <a:noFill/>
                    </a:rPr>
                    <a:t> </a:t>
                  </a:r>
                </a:p>
              </p:txBody>
            </p:sp>
          </mc:Fallback>
        </mc:AlternateContent>
      </p:grpSp>
      <p:sp>
        <p:nvSpPr>
          <p:cNvPr id="34" name="Right Brace 33">
            <a:extLst>
              <a:ext uri="{FF2B5EF4-FFF2-40B4-BE49-F238E27FC236}">
                <a16:creationId xmlns:a16="http://schemas.microsoft.com/office/drawing/2014/main" id="{9B4AA29F-503D-CEE1-5161-63DB7242115A}"/>
              </a:ext>
            </a:extLst>
          </p:cNvPr>
          <p:cNvSpPr/>
          <p:nvPr/>
        </p:nvSpPr>
        <p:spPr>
          <a:xfrm>
            <a:off x="3898231" y="3190651"/>
            <a:ext cx="327002" cy="3136900"/>
          </a:xfrm>
          <a:prstGeom prst="righ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TextBox 34">
            <a:extLst>
              <a:ext uri="{FF2B5EF4-FFF2-40B4-BE49-F238E27FC236}">
                <a16:creationId xmlns:a16="http://schemas.microsoft.com/office/drawing/2014/main" id="{19306864-EFE1-62EA-1281-755423DF702B}"/>
              </a:ext>
            </a:extLst>
          </p:cNvPr>
          <p:cNvSpPr txBox="1"/>
          <p:nvPr/>
        </p:nvSpPr>
        <p:spPr>
          <a:xfrm>
            <a:off x="4225233" y="4408953"/>
            <a:ext cx="943532" cy="646331"/>
          </a:xfrm>
          <a:prstGeom prst="rect">
            <a:avLst/>
          </a:prstGeom>
          <a:noFill/>
        </p:spPr>
        <p:txBody>
          <a:bodyPr wrap="square" rtlCol="0">
            <a:spAutoFit/>
          </a:bodyPr>
          <a:lstStyle/>
          <a:p>
            <a:r>
              <a:rPr lang="en-US" dirty="0"/>
              <a:t>If this is optimal</a:t>
            </a:r>
          </a:p>
        </p:txBody>
      </p:sp>
      <p:sp>
        <p:nvSpPr>
          <p:cNvPr id="36" name="Right Arrow 35">
            <a:extLst>
              <a:ext uri="{FF2B5EF4-FFF2-40B4-BE49-F238E27FC236}">
                <a16:creationId xmlns:a16="http://schemas.microsoft.com/office/drawing/2014/main" id="{8240D57E-B082-7D97-2B70-85333BA05BD2}"/>
              </a:ext>
            </a:extLst>
          </p:cNvPr>
          <p:cNvSpPr/>
          <p:nvPr/>
        </p:nvSpPr>
        <p:spPr>
          <a:xfrm>
            <a:off x="5217376" y="4412858"/>
            <a:ext cx="847023" cy="642426"/>
          </a:xfrm>
          <a:prstGeom prst="right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1E7275AC-56FD-3585-2304-82E6FB72C59B}"/>
              </a:ext>
            </a:extLst>
          </p:cNvPr>
          <p:cNvSpPr txBox="1"/>
          <p:nvPr/>
        </p:nvSpPr>
        <p:spPr>
          <a:xfrm>
            <a:off x="5307267" y="4054119"/>
            <a:ext cx="579156" cy="369332"/>
          </a:xfrm>
          <a:prstGeom prst="rect">
            <a:avLst/>
          </a:prstGeom>
          <a:noFill/>
        </p:spPr>
        <p:txBody>
          <a:bodyPr wrap="square" rtlCol="0">
            <a:spAutoFit/>
          </a:bodyPr>
          <a:lstStyle/>
          <a:p>
            <a:r>
              <a:rPr lang="en-US" dirty="0"/>
              <a:t>then</a:t>
            </a:r>
          </a:p>
        </p:txBody>
      </p:sp>
      <p:sp>
        <p:nvSpPr>
          <p:cNvPr id="38" name="TextBox 37">
            <a:extLst>
              <a:ext uri="{FF2B5EF4-FFF2-40B4-BE49-F238E27FC236}">
                <a16:creationId xmlns:a16="http://schemas.microsoft.com/office/drawing/2014/main" id="{71D9DB13-F092-5640-D241-0B675F328937}"/>
              </a:ext>
            </a:extLst>
          </p:cNvPr>
          <p:cNvSpPr txBox="1"/>
          <p:nvPr/>
        </p:nvSpPr>
        <p:spPr>
          <a:xfrm>
            <a:off x="6200550" y="4399793"/>
            <a:ext cx="1423083" cy="646331"/>
          </a:xfrm>
          <a:prstGeom prst="rect">
            <a:avLst/>
          </a:prstGeom>
          <a:noFill/>
        </p:spPr>
        <p:txBody>
          <a:bodyPr wrap="square" rtlCol="0">
            <a:spAutoFit/>
          </a:bodyPr>
          <a:lstStyle/>
          <a:p>
            <a:r>
              <a:rPr lang="en-US" dirty="0"/>
              <a:t>Is this optimal too?</a:t>
            </a:r>
          </a:p>
        </p:txBody>
      </p:sp>
      <p:sp>
        <p:nvSpPr>
          <p:cNvPr id="39" name="Left Brace 38">
            <a:extLst>
              <a:ext uri="{FF2B5EF4-FFF2-40B4-BE49-F238E27FC236}">
                <a16:creationId xmlns:a16="http://schemas.microsoft.com/office/drawing/2014/main" id="{75F6E628-3637-6CC2-A26D-CAC70E009296}"/>
              </a:ext>
            </a:extLst>
          </p:cNvPr>
          <p:cNvSpPr/>
          <p:nvPr/>
        </p:nvSpPr>
        <p:spPr>
          <a:xfrm>
            <a:off x="7467630" y="3226869"/>
            <a:ext cx="357709" cy="3100682"/>
          </a:xfrm>
          <a:prstGeom prst="lef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1" name="TextBox 40">
                <a:extLst>
                  <a:ext uri="{FF2B5EF4-FFF2-40B4-BE49-F238E27FC236}">
                    <a16:creationId xmlns:a16="http://schemas.microsoft.com/office/drawing/2014/main" id="{41B6B70F-F796-5470-F57A-292BC39C94EE}"/>
                  </a:ext>
                </a:extLst>
              </p:cNvPr>
              <p:cNvSpPr txBox="1"/>
              <p:nvPr/>
            </p:nvSpPr>
            <p:spPr>
              <a:xfrm>
                <a:off x="265751" y="3222397"/>
                <a:ext cx="943200" cy="646331"/>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e>
                    </m:d>
                  </m:oMath>
                </a14:m>
                <a:endParaRPr lang="en-US" dirty="0"/>
              </a:p>
            </p:txBody>
          </p:sp>
        </mc:Choice>
        <mc:Fallback>
          <p:sp>
            <p:nvSpPr>
              <p:cNvPr id="41" name="TextBox 40">
                <a:extLst>
                  <a:ext uri="{FF2B5EF4-FFF2-40B4-BE49-F238E27FC236}">
                    <a16:creationId xmlns:a16="http://schemas.microsoft.com/office/drawing/2014/main" id="{41B6B70F-F796-5470-F57A-292BC39C94EE}"/>
                  </a:ext>
                </a:extLst>
              </p:cNvPr>
              <p:cNvSpPr txBox="1">
                <a:spLocks noRot="1" noChangeAspect="1" noMove="1" noResize="1" noEditPoints="1" noAdjustHandles="1" noChangeArrowheads="1" noChangeShapeType="1" noTextEdit="1"/>
              </p:cNvSpPr>
              <p:nvPr/>
            </p:nvSpPr>
            <p:spPr>
              <a:xfrm>
                <a:off x="265751" y="3222397"/>
                <a:ext cx="943200" cy="646331"/>
              </a:xfrm>
              <a:prstGeom prst="rect">
                <a:avLst/>
              </a:prstGeom>
              <a:blipFill>
                <a:blip r:embed="rId17"/>
                <a:stretch>
                  <a:fillRect l="-5263" t="-3774" r="-10526"/>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2" name="TextBox 41">
                <a:extLst>
                  <a:ext uri="{FF2B5EF4-FFF2-40B4-BE49-F238E27FC236}">
                    <a16:creationId xmlns:a16="http://schemas.microsoft.com/office/drawing/2014/main" id="{5B60D711-1FF8-6EE7-D383-8FDA3EAD263F}"/>
                  </a:ext>
                </a:extLst>
              </p:cNvPr>
              <p:cNvSpPr txBox="1"/>
              <p:nvPr/>
            </p:nvSpPr>
            <p:spPr>
              <a:xfrm>
                <a:off x="4865775" y="5690696"/>
                <a:ext cx="2902240" cy="954107"/>
              </a:xfrm>
              <a:prstGeom prst="rect">
                <a:avLst/>
              </a:prstGeom>
              <a:noFill/>
              <a:ln>
                <a:solidFill>
                  <a:schemeClr val="tx1">
                    <a:lumMod val="95000"/>
                  </a:schemeClr>
                </a:solidFill>
              </a:ln>
            </p:spPr>
            <p:txBody>
              <a:bodyPr wrap="square" rtlCol="0">
                <a:spAutoFit/>
              </a:bodyPr>
              <a:lstStyle/>
              <a:p>
                <a:r>
                  <a:rPr lang="en-US" sz="1400" b="0" dirty="0"/>
                  <a:t>Value is: </a:t>
                </a:r>
                <a14:m>
                  <m:oMath xmlns:m="http://schemas.openxmlformats.org/officeDocument/2006/math">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𝑋</m:t>
                            </m:r>
                          </m:e>
                          <m:sup>
                            <m:r>
                              <a:rPr lang="en-US" sz="1400" b="0" i="1" smtClean="0">
                                <a:latin typeface="Cambria Math" panose="02040503050406030204" pitchFamily="18" charset="0"/>
                              </a:rPr>
                              <m:t>′</m:t>
                            </m:r>
                          </m:sup>
                        </m:sSup>
                      </m:e>
                    </m:d>
                  </m:oMath>
                </a14:m>
                <a:r>
                  <a:rPr lang="en-US" sz="1400" dirty="0"/>
                  <a:t> where </a:t>
                </a:r>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𝑋</m:t>
                        </m:r>
                      </m:e>
                      <m:sup>
                        <m:r>
                          <a:rPr lang="en-US" sz="1400" b="0" i="1" smtClean="0">
                            <a:latin typeface="Cambria Math" panose="02040503050406030204" pitchFamily="18" charset="0"/>
                          </a:rPr>
                          <m:t>′</m:t>
                        </m:r>
                      </m:sup>
                    </m:sSup>
                    <m:r>
                      <a:rPr lang="en-US" sz="1400" b="0" i="1" smtClean="0">
                        <a:latin typeface="Cambria Math" panose="02040503050406030204" pitchFamily="18" charset="0"/>
                      </a:rPr>
                      <m:t>=</m:t>
                    </m:r>
                    <m:r>
                      <a:rPr lang="en-US" sz="1400" b="0" i="1" smtClean="0">
                        <a:latin typeface="Cambria Math" panose="02040503050406030204" pitchFamily="18" charset="0"/>
                      </a:rPr>
                      <m:t>𝑋</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oMath>
                </a14:m>
                <a:endParaRPr lang="en-US" sz="1400" dirty="0"/>
              </a:p>
              <a:p>
                <a:br>
                  <a:rPr lang="en-US" sz="1400" dirty="0"/>
                </a:br>
                <a:r>
                  <a:rPr lang="en-US" sz="1400" dirty="0"/>
                  <a:t>Note that:</a:t>
                </a:r>
                <a:br>
                  <a:rPr lang="en-US" sz="1400" dirty="0"/>
                </a:br>
                <a14:m>
                  <m:oMath xmlns:m="http://schemas.openxmlformats.org/officeDocument/2006/math">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𝑋</m:t>
                        </m:r>
                      </m:e>
                    </m:d>
                    <m:r>
                      <a:rPr lang="en-US" sz="1400" b="0" i="1" smtClean="0">
                        <a:latin typeface="Cambria Math" panose="02040503050406030204" pitchFamily="18" charset="0"/>
                      </a:rPr>
                      <m:t>=</m:t>
                    </m:r>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e>
                    </m:d>
                    <m:r>
                      <a:rPr lang="en-US" sz="1400" b="0" i="1" smtClean="0">
                        <a:latin typeface="Cambria Math" panose="02040503050406030204" pitchFamily="18" charset="0"/>
                      </a:rPr>
                      <m:t>+</m:t>
                    </m:r>
                    <m:r>
                      <a:rPr lang="en-US" sz="1400" b="0" i="1" smtClean="0">
                        <a:latin typeface="Cambria Math" panose="02040503050406030204" pitchFamily="18" charset="0"/>
                      </a:rPr>
                      <m:t>𝑉</m:t>
                    </m:r>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𝑋</m:t>
                        </m:r>
                      </m:e>
                      <m:sup>
                        <m:r>
                          <a:rPr lang="en-US" sz="1400" b="0" i="1" smtClean="0">
                            <a:latin typeface="Cambria Math" panose="02040503050406030204" pitchFamily="18" charset="0"/>
                          </a:rPr>
                          <m:t>′</m:t>
                        </m:r>
                      </m:sup>
                    </m:sSup>
                    <m:r>
                      <a:rPr lang="en-US" sz="1400" b="0" i="1" smtClean="0">
                        <a:latin typeface="Cambria Math" panose="02040503050406030204" pitchFamily="18" charset="0"/>
                      </a:rPr>
                      <m:t>)</m:t>
                    </m:r>
                  </m:oMath>
                </a14:m>
                <a:r>
                  <a:rPr lang="en-US" sz="1400" dirty="0"/>
                  <a:t> </a:t>
                </a:r>
              </a:p>
            </p:txBody>
          </p:sp>
        </mc:Choice>
        <mc:Fallback>
          <p:sp>
            <p:nvSpPr>
              <p:cNvPr id="42" name="TextBox 41">
                <a:extLst>
                  <a:ext uri="{FF2B5EF4-FFF2-40B4-BE49-F238E27FC236}">
                    <a16:creationId xmlns:a16="http://schemas.microsoft.com/office/drawing/2014/main" id="{5B60D711-1FF8-6EE7-D383-8FDA3EAD263F}"/>
                  </a:ext>
                </a:extLst>
              </p:cNvPr>
              <p:cNvSpPr txBox="1">
                <a:spLocks noRot="1" noChangeAspect="1" noMove="1" noResize="1" noEditPoints="1" noAdjustHandles="1" noChangeArrowheads="1" noChangeShapeType="1" noTextEdit="1"/>
              </p:cNvSpPr>
              <p:nvPr/>
            </p:nvSpPr>
            <p:spPr>
              <a:xfrm>
                <a:off x="4865775" y="5690696"/>
                <a:ext cx="2902240" cy="954107"/>
              </a:xfrm>
              <a:prstGeom prst="rect">
                <a:avLst/>
              </a:prstGeom>
              <a:blipFill>
                <a:blip r:embed="rId18"/>
                <a:stretch>
                  <a:fillRect l="-435" b="-2597"/>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6038341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817FB-6DD6-530E-8BBA-64A49435CE83}"/>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5A1A4897-AB9D-D659-583F-DC440EA13476}"/>
              </a:ext>
            </a:extLst>
          </p:cNvPr>
          <p:cNvSpPr>
            <a:spLocks noGrp="1" noChangeArrowheads="1"/>
          </p:cNvSpPr>
          <p:nvPr>
            <p:ph type="title"/>
            <p:custDataLst>
              <p:tags r:id="rId1"/>
            </p:custDataLst>
          </p:nvPr>
        </p:nvSpPr>
        <p:spPr>
          <a:xfrm>
            <a:off x="1143001" y="138096"/>
            <a:ext cx="9905998" cy="677622"/>
          </a:xfrm>
        </p:spPr>
        <p:txBody>
          <a:bodyPr/>
          <a:lstStyle/>
          <a:p>
            <a:pPr algn="ctr"/>
            <a:r>
              <a:rPr lang="en-US" dirty="0">
                <a:latin typeface="Arial" charset="0"/>
                <a:ea typeface="ＭＳ Ｐゴシック" charset="0"/>
                <a:cs typeface="ＭＳ Ｐゴシック" charset="0"/>
              </a:rPr>
              <a:t>Aside: Optimal Substructure</a:t>
            </a:r>
          </a:p>
        </p:txBody>
      </p:sp>
      <mc:AlternateContent xmlns:mc="http://schemas.openxmlformats.org/markup-compatibility/2006">
        <mc:Choice xmlns:a14="http://schemas.microsoft.com/office/drawing/2010/main" Requires="a14">
          <p:sp>
            <p:nvSpPr>
              <p:cNvPr id="2" name="Rectangle 3">
                <a:extLst>
                  <a:ext uri="{FF2B5EF4-FFF2-40B4-BE49-F238E27FC236}">
                    <a16:creationId xmlns:a16="http://schemas.microsoft.com/office/drawing/2014/main" id="{4BB1388E-20AF-781E-D8ED-D1837D01763D}"/>
                  </a:ext>
                </a:extLst>
              </p:cNvPr>
              <p:cNvSpPr txBox="1">
                <a:spLocks noChangeArrowheads="1"/>
              </p:cNvSpPr>
              <p:nvPr>
                <p:custDataLst>
                  <p:tags r:id="rId2"/>
                </p:custDataLst>
              </p:nvPr>
            </p:nvSpPr>
            <p:spPr>
              <a:xfrm>
                <a:off x="1835217" y="925081"/>
                <a:ext cx="8521566" cy="161498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ea typeface="ＭＳ Ｐゴシック" charset="0"/>
                  </a:rPr>
                  <a:t>Step 2</a:t>
                </a:r>
                <a:r>
                  <a:rPr lang="en-US" dirty="0">
                    <a:solidFill>
                      <a:schemeClr val="bg1"/>
                    </a:solidFill>
                    <a:ea typeface="ＭＳ Ｐゴシック" charset="0"/>
                  </a:rPr>
                  <a:t>: Assume for the sake of contradiction that </a:t>
                </a:r>
                <a14:m>
                  <m:oMath xmlns:m="http://schemas.openxmlformats.org/officeDocument/2006/math">
                    <m:r>
                      <a:rPr lang="en-US" b="0" i="1" smtClean="0">
                        <a:solidFill>
                          <a:schemeClr val="accent1"/>
                        </a:solidFill>
                        <a:latin typeface="Cambria Math" panose="02040503050406030204" pitchFamily="18" charset="0"/>
                        <a:ea typeface="ＭＳ Ｐゴシック" charset="0"/>
                      </a:rPr>
                      <m:t>𝑋</m:t>
                    </m:r>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1</m:t>
                        </m:r>
                      </m:sub>
                    </m:sSub>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2</m:t>
                        </m:r>
                      </m:sub>
                    </m:sSub>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𝑛</m:t>
                        </m:r>
                      </m:sub>
                    </m:sSub>
                    <m:r>
                      <a:rPr lang="en-US" b="0" i="1" smtClean="0">
                        <a:solidFill>
                          <a:schemeClr val="accent1"/>
                        </a:solidFill>
                        <a:latin typeface="Cambria Math" panose="02040503050406030204" pitchFamily="18" charset="0"/>
                        <a:ea typeface="ＭＳ Ｐゴシック" charset="0"/>
                      </a:rPr>
                      <m:t>}</m:t>
                    </m:r>
                  </m:oMath>
                </a14:m>
                <a:r>
                  <a:rPr lang="en-US" dirty="0">
                    <a:solidFill>
                      <a:schemeClr val="accent1"/>
                    </a:solidFill>
                  </a:rPr>
                  <a:t> </a:t>
                </a:r>
                <a:r>
                  <a:rPr lang="en-US" dirty="0">
                    <a:solidFill>
                      <a:schemeClr val="bg1"/>
                    </a:solidFill>
                  </a:rPr>
                  <a:t>is optimal </a:t>
                </a:r>
                <a14:m>
                  <m:oMath xmlns:m="http://schemas.openxmlformats.org/officeDocument/2006/math">
                    <m:r>
                      <a:rPr lang="en-US" b="0" i="1" smtClean="0">
                        <a:solidFill>
                          <a:schemeClr val="accent2"/>
                        </a:solidFill>
                        <a:latin typeface="Cambria Math" panose="02040503050406030204" pitchFamily="18" charset="0"/>
                      </a:rPr>
                      <m:t>𝐶</m:t>
                    </m:r>
                    <m:r>
                      <a:rPr lang="en-US" b="0" i="0" smtClean="0">
                        <a:solidFill>
                          <a:schemeClr val="accent2"/>
                        </a:solidFill>
                        <a:latin typeface="Cambria Math" panose="02040503050406030204" pitchFamily="18" charset="0"/>
                      </a:rPr>
                      <m:t> </m:t>
                    </m:r>
                  </m:oMath>
                </a14:m>
                <a:r>
                  <a:rPr lang="en-US" dirty="0">
                    <a:solidFill>
                      <a:schemeClr val="bg1"/>
                    </a:solidFill>
                  </a:rPr>
                  <a:t>but </a:t>
                </a:r>
                <a14:m>
                  <m:oMath xmlns:m="http://schemas.openxmlformats.org/officeDocument/2006/math">
                    <m:r>
                      <a:rPr lang="en-US" b="0" i="1" smtClean="0">
                        <a:solidFill>
                          <a:schemeClr val="accent1"/>
                        </a:solidFill>
                        <a:latin typeface="Cambria Math" panose="02040503050406030204" pitchFamily="18" charset="0"/>
                      </a:rPr>
                      <m:t>𝑋</m:t>
                    </m:r>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a14:m>
                <a:r>
                  <a:rPr lang="en-US" dirty="0">
                    <a:solidFill>
                      <a:schemeClr val="accent1"/>
                    </a:solidFill>
                  </a:rPr>
                  <a:t> </a:t>
                </a:r>
                <a:r>
                  <a:rPr lang="en-US" dirty="0">
                    <a:solidFill>
                      <a:schemeClr val="bg1"/>
                    </a:solidFill>
                  </a:rPr>
                  <a:t>is the </a:t>
                </a:r>
                <a:r>
                  <a:rPr lang="en-US" b="1" i="1" u="sng" dirty="0">
                    <a:solidFill>
                      <a:schemeClr val="bg1"/>
                    </a:solidFill>
                  </a:rPr>
                  <a:t>NOT</a:t>
                </a:r>
                <a:r>
                  <a:rPr lang="en-US" dirty="0">
                    <a:solidFill>
                      <a:schemeClr val="bg1"/>
                    </a:solidFill>
                  </a:rPr>
                  <a:t> optimal way to fill a knapsack of size </a:t>
                </a:r>
                <a14:m>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bg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a14:m>
                <a:endParaRPr lang="en-US" dirty="0">
                  <a:solidFill>
                    <a:schemeClr val="bg1"/>
                  </a:solidFill>
                </a:endParaRPr>
              </a:p>
            </p:txBody>
          </p:sp>
        </mc:Choice>
        <mc:Fallback>
          <p:sp>
            <p:nvSpPr>
              <p:cNvPr id="2" name="Rectangle 3">
                <a:extLst>
                  <a:ext uri="{FF2B5EF4-FFF2-40B4-BE49-F238E27FC236}">
                    <a16:creationId xmlns:a16="http://schemas.microsoft.com/office/drawing/2014/main" id="{4BB1388E-20AF-781E-D8ED-D1837D01763D}"/>
                  </a:ext>
                </a:extLst>
              </p:cNvPr>
              <p:cNvSpPr txBox="1">
                <a:spLocks noRot="1" noChangeAspect="1" noMove="1" noResize="1" noEditPoints="1" noAdjustHandles="1" noChangeArrowheads="1" noChangeShapeType="1" noTextEdit="1"/>
              </p:cNvSpPr>
              <p:nvPr>
                <p:custDataLst>
                  <p:tags r:id="rId2"/>
                </p:custDataLst>
              </p:nvPr>
            </p:nvSpPr>
            <p:spPr>
              <a:xfrm>
                <a:off x="1835217" y="925081"/>
                <a:ext cx="8521566" cy="1614983"/>
              </a:xfrm>
              <a:prstGeom prst="rect">
                <a:avLst/>
              </a:prstGeom>
              <a:blipFill>
                <a:blip r:embed="rId5"/>
                <a:stretch>
                  <a:fillRect l="-1189"/>
                </a:stretch>
              </a:blipFill>
              <a:ln>
                <a:solidFill>
                  <a:schemeClr val="bg1"/>
                </a:solidFill>
              </a:ln>
            </p:spPr>
            <p:txBody>
              <a:bodyPr/>
              <a:lstStyle/>
              <a:p>
                <a:r>
                  <a:rPr lang="en-US">
                    <a:noFill/>
                  </a:rPr>
                  <a:t> </a:t>
                </a:r>
              </a:p>
            </p:txBody>
          </p:sp>
        </mc:Fallback>
      </mc:AlternateContent>
      <p:grpSp>
        <p:nvGrpSpPr>
          <p:cNvPr id="32" name="Group 31">
            <a:extLst>
              <a:ext uri="{FF2B5EF4-FFF2-40B4-BE49-F238E27FC236}">
                <a16:creationId xmlns:a16="http://schemas.microsoft.com/office/drawing/2014/main" id="{AA20AD3D-8B6D-B4FA-2BED-7D41EB1071C4}"/>
              </a:ext>
            </a:extLst>
          </p:cNvPr>
          <p:cNvGrpSpPr/>
          <p:nvPr/>
        </p:nvGrpSpPr>
        <p:grpSpPr>
          <a:xfrm>
            <a:off x="2691865" y="3429000"/>
            <a:ext cx="2418175" cy="3136900"/>
            <a:chOff x="1778534" y="3429000"/>
            <a:chExt cx="2418175" cy="3136900"/>
          </a:xfrm>
        </p:grpSpPr>
        <p:sp>
          <p:nvSpPr>
            <p:cNvPr id="4" name="Rectangle 3">
              <a:extLst>
                <a:ext uri="{FF2B5EF4-FFF2-40B4-BE49-F238E27FC236}">
                  <a16:creationId xmlns:a16="http://schemas.microsoft.com/office/drawing/2014/main" id="{D2131B42-4683-6631-3EA4-19696A06DC6C}"/>
                </a:ext>
              </a:extLst>
            </p:cNvPr>
            <p:cNvSpPr/>
            <p:nvPr/>
          </p:nvSpPr>
          <p:spPr>
            <a:xfrm>
              <a:off x="1778534" y="3429000"/>
              <a:ext cx="2418175" cy="3136900"/>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lumMod val="20000"/>
                    <a:lumOff val="80000"/>
                  </a:schemeClr>
                </a:solidFill>
              </a:endParaRPr>
            </a:p>
          </p:txBody>
        </p:sp>
        <p:sp>
          <p:nvSpPr>
            <p:cNvPr id="6" name="Rectangle 5">
              <a:extLst>
                <a:ext uri="{FF2B5EF4-FFF2-40B4-BE49-F238E27FC236}">
                  <a16:creationId xmlns:a16="http://schemas.microsoft.com/office/drawing/2014/main" id="{AF6F80F9-89C6-B801-23BA-C93109A0DCD8}"/>
                </a:ext>
              </a:extLst>
            </p:cNvPr>
            <p:cNvSpPr/>
            <p:nvPr/>
          </p:nvSpPr>
          <p:spPr>
            <a:xfrm>
              <a:off x="2515164" y="3834340"/>
              <a:ext cx="1487008" cy="2595335"/>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818E9479-DA8B-72F1-6578-C51B85DF88E0}"/>
                    </a:ext>
                  </a:extLst>
                </p:cNvPr>
                <p:cNvSpPr/>
                <p:nvPr/>
              </p:nvSpPr>
              <p:spPr>
                <a:xfrm>
                  <a:off x="2629638" y="393131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m:oMathPara>
                  </a14:m>
                  <a:endParaRPr lang="en-US" dirty="0">
                    <a:solidFill>
                      <a:schemeClr val="accent1"/>
                    </a:solidFill>
                  </a:endParaRPr>
                </a:p>
              </p:txBody>
            </p:sp>
          </mc:Choice>
          <mc:Fallback>
            <p:sp>
              <p:nvSpPr>
                <p:cNvPr id="8" name="Rectangle 7">
                  <a:extLst>
                    <a:ext uri="{FF2B5EF4-FFF2-40B4-BE49-F238E27FC236}">
                      <a16:creationId xmlns:a16="http://schemas.microsoft.com/office/drawing/2014/main" id="{818E9479-DA8B-72F1-6578-C51B85DF88E0}"/>
                    </a:ext>
                  </a:extLst>
                </p:cNvPr>
                <p:cNvSpPr>
                  <a:spLocks noRot="1" noChangeAspect="1" noMove="1" noResize="1" noEditPoints="1" noAdjustHandles="1" noChangeArrowheads="1" noChangeShapeType="1" noTextEdit="1"/>
                </p:cNvSpPr>
                <p:nvPr/>
              </p:nvSpPr>
              <p:spPr>
                <a:xfrm>
                  <a:off x="2629638" y="3931312"/>
                  <a:ext cx="1251752" cy="351531"/>
                </a:xfrm>
                <a:prstGeom prst="rect">
                  <a:avLst/>
                </a:prstGeom>
                <a:blipFill>
                  <a:blip r:embed="rId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Rectangle 13">
                  <a:extLst>
                    <a:ext uri="{FF2B5EF4-FFF2-40B4-BE49-F238E27FC236}">
                      <a16:creationId xmlns:a16="http://schemas.microsoft.com/office/drawing/2014/main" id="{614F243C-9D62-7433-8A2B-DFB41DE98CD4}"/>
                    </a:ext>
                  </a:extLst>
                </p:cNvPr>
                <p:cNvSpPr/>
                <p:nvPr/>
              </p:nvSpPr>
              <p:spPr>
                <a:xfrm>
                  <a:off x="2632792" y="4337534"/>
                  <a:ext cx="1251752" cy="554116"/>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p:sp>
              <p:nvSpPr>
                <p:cNvPr id="14" name="Rectangle 13">
                  <a:extLst>
                    <a:ext uri="{FF2B5EF4-FFF2-40B4-BE49-F238E27FC236}">
                      <a16:creationId xmlns:a16="http://schemas.microsoft.com/office/drawing/2014/main" id="{614F243C-9D62-7433-8A2B-DFB41DE98CD4}"/>
                    </a:ext>
                  </a:extLst>
                </p:cNvPr>
                <p:cNvSpPr>
                  <a:spLocks noRot="1" noChangeAspect="1" noMove="1" noResize="1" noEditPoints="1" noAdjustHandles="1" noChangeArrowheads="1" noChangeShapeType="1" noTextEdit="1"/>
                </p:cNvSpPr>
                <p:nvPr/>
              </p:nvSpPr>
              <p:spPr>
                <a:xfrm>
                  <a:off x="2632792" y="4337534"/>
                  <a:ext cx="1251752" cy="554116"/>
                </a:xfrm>
                <a:prstGeom prst="rect">
                  <a:avLst/>
                </a:prstGeom>
                <a:blipFill>
                  <a:blip r:embed="rId7"/>
                  <a:stretch>
                    <a:fillRect/>
                  </a:stretch>
                </a:blipFill>
                <a:ln>
                  <a:solidFill>
                    <a:schemeClr val="bg1"/>
                  </a:solidFill>
                </a:ln>
              </p:spPr>
              <p:txBody>
                <a:bodyPr/>
                <a:lstStyle/>
                <a:p>
                  <a:r>
                    <a:rPr lang="en-US">
                      <a:noFill/>
                    </a:rPr>
                    <a:t> </a:t>
                  </a:r>
                </a:p>
              </p:txBody>
            </p:sp>
          </mc:Fallback>
        </mc:AlternateContent>
        <p:sp>
          <p:nvSpPr>
            <p:cNvPr id="10" name="TextBox 9">
              <a:extLst>
                <a:ext uri="{FF2B5EF4-FFF2-40B4-BE49-F238E27FC236}">
                  <a16:creationId xmlns:a16="http://schemas.microsoft.com/office/drawing/2014/main" id="{E1D4892A-109C-854F-F357-D27DABDBD020}"/>
                </a:ext>
              </a:extLst>
            </p:cNvPr>
            <p:cNvSpPr txBox="1"/>
            <p:nvPr/>
          </p:nvSpPr>
          <p:spPr>
            <a:xfrm>
              <a:off x="2465131" y="3441233"/>
              <a:ext cx="1641796" cy="369332"/>
            </a:xfrm>
            <a:prstGeom prst="rect">
              <a:avLst/>
            </a:prstGeom>
            <a:noFill/>
          </p:spPr>
          <p:txBody>
            <a:bodyPr wrap="none" rtlCol="0">
              <a:spAutoFit/>
            </a:bodyPr>
            <a:lstStyle/>
            <a:p>
              <a:r>
                <a:rPr lang="en-US" b="1" dirty="0">
                  <a:solidFill>
                    <a:schemeClr val="bg1"/>
                  </a:solidFill>
                </a:rPr>
                <a:t>This IS Optimal</a:t>
              </a:r>
            </a:p>
          </p:txBody>
        </p:sp>
        <mc:AlternateContent xmlns:mc="http://schemas.openxmlformats.org/markup-compatibility/2006">
          <mc:Choice xmlns:a14="http://schemas.microsoft.com/office/drawing/2010/main" Requires="a14">
            <p:sp>
              <p:nvSpPr>
                <p:cNvPr id="15" name="Rectangle 14">
                  <a:extLst>
                    <a:ext uri="{FF2B5EF4-FFF2-40B4-BE49-F238E27FC236}">
                      <a16:creationId xmlns:a16="http://schemas.microsoft.com/office/drawing/2014/main" id="{B943D90D-C935-C699-9D2E-CB92165BB9E1}"/>
                    </a:ext>
                  </a:extLst>
                </p:cNvPr>
                <p:cNvSpPr/>
                <p:nvPr/>
              </p:nvSpPr>
              <p:spPr>
                <a:xfrm>
                  <a:off x="2632792" y="4961232"/>
                  <a:ext cx="1251752" cy="262819"/>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oMath>
                    </m:oMathPara>
                  </a14:m>
                  <a:endParaRPr lang="en-US" dirty="0">
                    <a:solidFill>
                      <a:schemeClr val="bg1"/>
                    </a:solidFill>
                  </a:endParaRPr>
                </a:p>
              </p:txBody>
            </p:sp>
          </mc:Choice>
          <mc:Fallback>
            <p:sp>
              <p:nvSpPr>
                <p:cNvPr id="15" name="Rectangle 14">
                  <a:extLst>
                    <a:ext uri="{FF2B5EF4-FFF2-40B4-BE49-F238E27FC236}">
                      <a16:creationId xmlns:a16="http://schemas.microsoft.com/office/drawing/2014/main" id="{B943D90D-C935-C699-9D2E-CB92165BB9E1}"/>
                    </a:ext>
                  </a:extLst>
                </p:cNvPr>
                <p:cNvSpPr>
                  <a:spLocks noRot="1" noChangeAspect="1" noMove="1" noResize="1" noEditPoints="1" noAdjustHandles="1" noChangeArrowheads="1" noChangeShapeType="1" noTextEdit="1"/>
                </p:cNvSpPr>
                <p:nvPr/>
              </p:nvSpPr>
              <p:spPr>
                <a:xfrm>
                  <a:off x="2632792" y="4961232"/>
                  <a:ext cx="1251752" cy="262819"/>
                </a:xfrm>
                <a:prstGeom prst="rect">
                  <a:avLst/>
                </a:prstGeom>
                <a:blipFill>
                  <a:blip r:embed="rId8"/>
                  <a:stretch>
                    <a:fillRect b="-13043"/>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Rectangle 15">
                  <a:extLst>
                    <a:ext uri="{FF2B5EF4-FFF2-40B4-BE49-F238E27FC236}">
                      <a16:creationId xmlns:a16="http://schemas.microsoft.com/office/drawing/2014/main" id="{6B2415F6-8B36-1AD4-10AD-0F7CEAF1067F}"/>
                    </a:ext>
                  </a:extLst>
                </p:cNvPr>
                <p:cNvSpPr/>
                <p:nvPr/>
              </p:nvSpPr>
              <p:spPr>
                <a:xfrm>
                  <a:off x="2639263" y="5293633"/>
                  <a:ext cx="1251752" cy="48146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4</m:t>
                            </m:r>
                          </m:sub>
                        </m:sSub>
                      </m:oMath>
                    </m:oMathPara>
                  </a14:m>
                  <a:endParaRPr lang="en-US" dirty="0">
                    <a:solidFill>
                      <a:schemeClr val="bg1"/>
                    </a:solidFill>
                  </a:endParaRPr>
                </a:p>
              </p:txBody>
            </p:sp>
          </mc:Choice>
          <mc:Fallback>
            <p:sp>
              <p:nvSpPr>
                <p:cNvPr id="16" name="Rectangle 15">
                  <a:extLst>
                    <a:ext uri="{FF2B5EF4-FFF2-40B4-BE49-F238E27FC236}">
                      <a16:creationId xmlns:a16="http://schemas.microsoft.com/office/drawing/2014/main" id="{6B2415F6-8B36-1AD4-10AD-0F7CEAF1067F}"/>
                    </a:ext>
                  </a:extLst>
                </p:cNvPr>
                <p:cNvSpPr>
                  <a:spLocks noRot="1" noChangeAspect="1" noMove="1" noResize="1" noEditPoints="1" noAdjustHandles="1" noChangeArrowheads="1" noChangeShapeType="1" noTextEdit="1"/>
                </p:cNvSpPr>
                <p:nvPr/>
              </p:nvSpPr>
              <p:spPr>
                <a:xfrm>
                  <a:off x="2639263" y="5293633"/>
                  <a:ext cx="1251752" cy="481465"/>
                </a:xfrm>
                <a:prstGeom prst="rect">
                  <a:avLst/>
                </a:prstGeom>
                <a:blipFill>
                  <a:blip r:embed="rId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Rectangle 16">
                  <a:extLst>
                    <a:ext uri="{FF2B5EF4-FFF2-40B4-BE49-F238E27FC236}">
                      <a16:creationId xmlns:a16="http://schemas.microsoft.com/office/drawing/2014/main" id="{B84C8980-0C61-A440-684B-53285E74BFF3}"/>
                    </a:ext>
                  </a:extLst>
                </p:cNvPr>
                <p:cNvSpPr/>
                <p:nvPr/>
              </p:nvSpPr>
              <p:spPr>
                <a:xfrm>
                  <a:off x="2639263"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oMath>
                    </m:oMathPara>
                  </a14:m>
                  <a:endParaRPr lang="en-US" dirty="0">
                    <a:solidFill>
                      <a:schemeClr val="bg1"/>
                    </a:solidFill>
                  </a:endParaRPr>
                </a:p>
              </p:txBody>
            </p:sp>
          </mc:Choice>
          <mc:Fallback>
            <p:sp>
              <p:nvSpPr>
                <p:cNvPr id="17" name="Rectangle 16">
                  <a:extLst>
                    <a:ext uri="{FF2B5EF4-FFF2-40B4-BE49-F238E27FC236}">
                      <a16:creationId xmlns:a16="http://schemas.microsoft.com/office/drawing/2014/main" id="{B84C8980-0C61-A440-684B-53285E74BFF3}"/>
                    </a:ext>
                  </a:extLst>
                </p:cNvPr>
                <p:cNvSpPr>
                  <a:spLocks noRot="1" noChangeAspect="1" noMove="1" noResize="1" noEditPoints="1" noAdjustHandles="1" noChangeArrowheads="1" noChangeShapeType="1" noTextEdit="1"/>
                </p:cNvSpPr>
                <p:nvPr/>
              </p:nvSpPr>
              <p:spPr>
                <a:xfrm>
                  <a:off x="2639263" y="6073368"/>
                  <a:ext cx="1251752" cy="295495"/>
                </a:xfrm>
                <a:prstGeom prst="rect">
                  <a:avLst/>
                </a:prstGeom>
                <a:blipFill>
                  <a:blip r:embed="rId10"/>
                  <a:stretch>
                    <a:fillRect b="-3846"/>
                  </a:stretch>
                </a:blipFill>
                <a:ln>
                  <a:solidFill>
                    <a:schemeClr val="bg1"/>
                  </a:solidFill>
                </a:ln>
              </p:spPr>
              <p:txBody>
                <a:bodyPr/>
                <a:lstStyle/>
                <a:p>
                  <a:r>
                    <a:rPr lang="en-US">
                      <a:noFill/>
                    </a:rPr>
                    <a:t> </a:t>
                  </a:r>
                </a:p>
              </p:txBody>
            </p:sp>
          </mc:Fallback>
        </mc:AlternateContent>
        <p:sp>
          <p:nvSpPr>
            <p:cNvPr id="18" name="TextBox 17">
              <a:extLst>
                <a:ext uri="{FF2B5EF4-FFF2-40B4-BE49-F238E27FC236}">
                  <a16:creationId xmlns:a16="http://schemas.microsoft.com/office/drawing/2014/main" id="{AB48A374-433F-4557-F92B-B97644800528}"/>
                </a:ext>
              </a:extLst>
            </p:cNvPr>
            <p:cNvSpPr txBox="1"/>
            <p:nvPr/>
          </p:nvSpPr>
          <p:spPr>
            <a:xfrm>
              <a:off x="3028515" y="5694411"/>
              <a:ext cx="415498" cy="369332"/>
            </a:xfrm>
            <a:prstGeom prst="rect">
              <a:avLst/>
            </a:prstGeom>
            <a:noFill/>
          </p:spPr>
          <p:txBody>
            <a:bodyPr wrap="none" rtlCol="0">
              <a:spAutoFit/>
            </a:bodyPr>
            <a:lstStyle/>
            <a:p>
              <a:r>
                <a:rPr lang="en-US" dirty="0"/>
                <a:t>…</a:t>
              </a:r>
            </a:p>
          </p:txBody>
        </p:sp>
        <p:sp>
          <p:nvSpPr>
            <p:cNvPr id="19" name="Left Brace 18">
              <a:extLst>
                <a:ext uri="{FF2B5EF4-FFF2-40B4-BE49-F238E27FC236}">
                  <a16:creationId xmlns:a16="http://schemas.microsoft.com/office/drawing/2014/main" id="{8B91CEBF-DEFD-8B16-DFB5-618D0278E246}"/>
                </a:ext>
              </a:extLst>
            </p:cNvPr>
            <p:cNvSpPr/>
            <p:nvPr/>
          </p:nvSpPr>
          <p:spPr>
            <a:xfrm>
              <a:off x="2088680" y="3834340"/>
              <a:ext cx="356135" cy="2595335"/>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92062819-C84B-1C77-A9C8-47A927BB6FB4}"/>
                    </a:ext>
                  </a:extLst>
                </p:cNvPr>
                <p:cNvSpPr txBox="1"/>
                <p:nvPr/>
              </p:nvSpPr>
              <p:spPr>
                <a:xfrm>
                  <a:off x="1778534" y="4958274"/>
                  <a:ext cx="396775" cy="36933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oMath>
                    </m:oMathPara>
                  </a14:m>
                  <a:endParaRPr lang="en-US" dirty="0">
                    <a:solidFill>
                      <a:schemeClr val="accent2"/>
                    </a:solidFill>
                  </a:endParaRPr>
                </a:p>
              </p:txBody>
            </p:sp>
          </mc:Choice>
          <mc:Fallback>
            <p:sp>
              <p:nvSpPr>
                <p:cNvPr id="20" name="TextBox 19">
                  <a:extLst>
                    <a:ext uri="{FF2B5EF4-FFF2-40B4-BE49-F238E27FC236}">
                      <a16:creationId xmlns:a16="http://schemas.microsoft.com/office/drawing/2014/main" id="{92062819-C84B-1C77-A9C8-47A927BB6FB4}"/>
                    </a:ext>
                  </a:extLst>
                </p:cNvPr>
                <p:cNvSpPr txBox="1">
                  <a:spLocks noRot="1" noChangeAspect="1" noMove="1" noResize="1" noEditPoints="1" noAdjustHandles="1" noChangeArrowheads="1" noChangeShapeType="1" noTextEdit="1"/>
                </p:cNvSpPr>
                <p:nvPr/>
              </p:nvSpPr>
              <p:spPr>
                <a:xfrm>
                  <a:off x="1778534" y="4958274"/>
                  <a:ext cx="396775" cy="369332"/>
                </a:xfrm>
                <a:prstGeom prst="rect">
                  <a:avLst/>
                </a:prstGeom>
                <a:blipFill>
                  <a:blip r:embed="rId11"/>
                  <a:stretch>
                    <a:fillRect/>
                  </a:stretch>
                </a:blipFill>
              </p:spPr>
              <p:txBody>
                <a:bodyPr/>
                <a:lstStyle/>
                <a:p>
                  <a:r>
                    <a:rPr lang="en-US">
                      <a:noFill/>
                    </a:rPr>
                    <a:t> </a:t>
                  </a:r>
                </a:p>
              </p:txBody>
            </p:sp>
          </mc:Fallback>
        </mc:AlternateContent>
      </p:grpSp>
      <p:grpSp>
        <p:nvGrpSpPr>
          <p:cNvPr id="33" name="Group 32">
            <a:extLst>
              <a:ext uri="{FF2B5EF4-FFF2-40B4-BE49-F238E27FC236}">
                <a16:creationId xmlns:a16="http://schemas.microsoft.com/office/drawing/2014/main" id="{8869999B-9AF8-5F2D-09AC-A4C10BBA3188}"/>
              </a:ext>
            </a:extLst>
          </p:cNvPr>
          <p:cNvGrpSpPr/>
          <p:nvPr/>
        </p:nvGrpSpPr>
        <p:grpSpPr>
          <a:xfrm>
            <a:off x="6517941" y="3429000"/>
            <a:ext cx="2868358" cy="3136900"/>
            <a:chOff x="7371412" y="3429000"/>
            <a:chExt cx="2868358" cy="3136900"/>
          </a:xfrm>
        </p:grpSpPr>
        <p:sp>
          <p:nvSpPr>
            <p:cNvPr id="21" name="Rectangle 20">
              <a:extLst>
                <a:ext uri="{FF2B5EF4-FFF2-40B4-BE49-F238E27FC236}">
                  <a16:creationId xmlns:a16="http://schemas.microsoft.com/office/drawing/2014/main" id="{2E1A3C9F-622A-18D9-615D-29314572F6EC}"/>
                </a:ext>
              </a:extLst>
            </p:cNvPr>
            <p:cNvSpPr/>
            <p:nvPr/>
          </p:nvSpPr>
          <p:spPr>
            <a:xfrm>
              <a:off x="7382577" y="3429000"/>
              <a:ext cx="2857193" cy="3136900"/>
            </a:xfrm>
            <a:prstGeom prst="rect">
              <a:avLst/>
            </a:prstGeom>
            <a:solidFill>
              <a:schemeClr val="accent4">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Rectangle 21">
              <a:extLst>
                <a:ext uri="{FF2B5EF4-FFF2-40B4-BE49-F238E27FC236}">
                  <a16:creationId xmlns:a16="http://schemas.microsoft.com/office/drawing/2014/main" id="{388BD0A5-5F48-36D3-5093-4E41C88DF990}"/>
                </a:ext>
              </a:extLst>
            </p:cNvPr>
            <p:cNvSpPr/>
            <p:nvPr/>
          </p:nvSpPr>
          <p:spPr>
            <a:xfrm>
              <a:off x="8558225" y="4282843"/>
              <a:ext cx="1487008" cy="214683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24" name="Rectangle 23">
                  <a:extLst>
                    <a:ext uri="{FF2B5EF4-FFF2-40B4-BE49-F238E27FC236}">
                      <a16:creationId xmlns:a16="http://schemas.microsoft.com/office/drawing/2014/main" id="{330732CF-FB07-58BC-7137-37B7217C2597}"/>
                    </a:ext>
                  </a:extLst>
                </p:cNvPr>
                <p:cNvSpPr/>
                <p:nvPr/>
              </p:nvSpPr>
              <p:spPr>
                <a:xfrm>
                  <a:off x="8675853" y="4337534"/>
                  <a:ext cx="1251752" cy="554116"/>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p:sp>
              <p:nvSpPr>
                <p:cNvPr id="24" name="Rectangle 23">
                  <a:extLst>
                    <a:ext uri="{FF2B5EF4-FFF2-40B4-BE49-F238E27FC236}">
                      <a16:creationId xmlns:a16="http://schemas.microsoft.com/office/drawing/2014/main" id="{330732CF-FB07-58BC-7137-37B7217C2597}"/>
                    </a:ext>
                  </a:extLst>
                </p:cNvPr>
                <p:cNvSpPr>
                  <a:spLocks noRot="1" noChangeAspect="1" noMove="1" noResize="1" noEditPoints="1" noAdjustHandles="1" noChangeArrowheads="1" noChangeShapeType="1" noTextEdit="1"/>
                </p:cNvSpPr>
                <p:nvPr/>
              </p:nvSpPr>
              <p:spPr>
                <a:xfrm>
                  <a:off x="8675853" y="4337534"/>
                  <a:ext cx="1251752" cy="554116"/>
                </a:xfrm>
                <a:prstGeom prst="rect">
                  <a:avLst/>
                </a:prstGeom>
                <a:blipFill>
                  <a:blip r:embed="rId12"/>
                  <a:stretch>
                    <a:fillRect/>
                  </a:stretch>
                </a:blipFill>
                <a:ln>
                  <a:solidFill>
                    <a:schemeClr val="bg1"/>
                  </a:solidFill>
                </a:ln>
              </p:spPr>
              <p:txBody>
                <a:bodyPr/>
                <a:lstStyle/>
                <a:p>
                  <a:r>
                    <a:rPr lang="en-US">
                      <a:noFill/>
                    </a:rPr>
                    <a:t> </a:t>
                  </a:r>
                </a:p>
              </p:txBody>
            </p:sp>
          </mc:Fallback>
        </mc:AlternateContent>
        <p:sp>
          <p:nvSpPr>
            <p:cNvPr id="25" name="TextBox 24">
              <a:extLst>
                <a:ext uri="{FF2B5EF4-FFF2-40B4-BE49-F238E27FC236}">
                  <a16:creationId xmlns:a16="http://schemas.microsoft.com/office/drawing/2014/main" id="{87AAFBA9-3E65-7C29-24BC-97160B0D4E60}"/>
                </a:ext>
              </a:extLst>
            </p:cNvPr>
            <p:cNvSpPr txBox="1"/>
            <p:nvPr/>
          </p:nvSpPr>
          <p:spPr>
            <a:xfrm>
              <a:off x="8227993" y="3459340"/>
              <a:ext cx="2005643" cy="646331"/>
            </a:xfrm>
            <a:prstGeom prst="rect">
              <a:avLst/>
            </a:prstGeom>
            <a:noFill/>
          </p:spPr>
          <p:txBody>
            <a:bodyPr wrap="square" rtlCol="0">
              <a:spAutoFit/>
            </a:bodyPr>
            <a:lstStyle/>
            <a:p>
              <a:r>
                <a:rPr lang="en-US" b="1" i="1" dirty="0">
                  <a:solidFill>
                    <a:schemeClr val="bg1"/>
                  </a:solidFill>
                </a:rPr>
                <a:t>But somehow this is NOT optimal</a:t>
              </a:r>
            </a:p>
          </p:txBody>
        </p:sp>
        <mc:AlternateContent xmlns:mc="http://schemas.openxmlformats.org/markup-compatibility/2006">
          <mc:Choice xmlns:a14="http://schemas.microsoft.com/office/drawing/2010/main" Requires="a14">
            <p:sp>
              <p:nvSpPr>
                <p:cNvPr id="26" name="Rectangle 25">
                  <a:extLst>
                    <a:ext uri="{FF2B5EF4-FFF2-40B4-BE49-F238E27FC236}">
                      <a16:creationId xmlns:a16="http://schemas.microsoft.com/office/drawing/2014/main" id="{170FF3D6-64C7-F7FD-9ECB-024621858F0C}"/>
                    </a:ext>
                  </a:extLst>
                </p:cNvPr>
                <p:cNvSpPr/>
                <p:nvPr/>
              </p:nvSpPr>
              <p:spPr>
                <a:xfrm>
                  <a:off x="8675853" y="4961232"/>
                  <a:ext cx="1251752" cy="262819"/>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oMath>
                    </m:oMathPara>
                  </a14:m>
                  <a:endParaRPr lang="en-US" dirty="0">
                    <a:solidFill>
                      <a:schemeClr val="bg1"/>
                    </a:solidFill>
                  </a:endParaRPr>
                </a:p>
              </p:txBody>
            </p:sp>
          </mc:Choice>
          <mc:Fallback>
            <p:sp>
              <p:nvSpPr>
                <p:cNvPr id="26" name="Rectangle 25">
                  <a:extLst>
                    <a:ext uri="{FF2B5EF4-FFF2-40B4-BE49-F238E27FC236}">
                      <a16:creationId xmlns:a16="http://schemas.microsoft.com/office/drawing/2014/main" id="{170FF3D6-64C7-F7FD-9ECB-024621858F0C}"/>
                    </a:ext>
                  </a:extLst>
                </p:cNvPr>
                <p:cNvSpPr>
                  <a:spLocks noRot="1" noChangeAspect="1" noMove="1" noResize="1" noEditPoints="1" noAdjustHandles="1" noChangeArrowheads="1" noChangeShapeType="1" noTextEdit="1"/>
                </p:cNvSpPr>
                <p:nvPr/>
              </p:nvSpPr>
              <p:spPr>
                <a:xfrm>
                  <a:off x="8675853" y="4961232"/>
                  <a:ext cx="1251752" cy="262819"/>
                </a:xfrm>
                <a:prstGeom prst="rect">
                  <a:avLst/>
                </a:prstGeom>
                <a:blipFill>
                  <a:blip r:embed="rId13"/>
                  <a:stretch>
                    <a:fillRect b="-13043"/>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7" name="Rectangle 26">
                  <a:extLst>
                    <a:ext uri="{FF2B5EF4-FFF2-40B4-BE49-F238E27FC236}">
                      <a16:creationId xmlns:a16="http://schemas.microsoft.com/office/drawing/2014/main" id="{C3601800-151D-4C46-C21E-2EF8BEE6788C}"/>
                    </a:ext>
                  </a:extLst>
                </p:cNvPr>
                <p:cNvSpPr/>
                <p:nvPr/>
              </p:nvSpPr>
              <p:spPr>
                <a:xfrm>
                  <a:off x="8682324" y="5293633"/>
                  <a:ext cx="1251752" cy="48146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4</m:t>
                            </m:r>
                          </m:sub>
                        </m:sSub>
                      </m:oMath>
                    </m:oMathPara>
                  </a14:m>
                  <a:endParaRPr lang="en-US" dirty="0">
                    <a:solidFill>
                      <a:schemeClr val="bg1"/>
                    </a:solidFill>
                  </a:endParaRPr>
                </a:p>
              </p:txBody>
            </p:sp>
          </mc:Choice>
          <mc:Fallback>
            <p:sp>
              <p:nvSpPr>
                <p:cNvPr id="27" name="Rectangle 26">
                  <a:extLst>
                    <a:ext uri="{FF2B5EF4-FFF2-40B4-BE49-F238E27FC236}">
                      <a16:creationId xmlns:a16="http://schemas.microsoft.com/office/drawing/2014/main" id="{C3601800-151D-4C46-C21E-2EF8BEE6788C}"/>
                    </a:ext>
                  </a:extLst>
                </p:cNvPr>
                <p:cNvSpPr>
                  <a:spLocks noRot="1" noChangeAspect="1" noMove="1" noResize="1" noEditPoints="1" noAdjustHandles="1" noChangeArrowheads="1" noChangeShapeType="1" noTextEdit="1"/>
                </p:cNvSpPr>
                <p:nvPr/>
              </p:nvSpPr>
              <p:spPr>
                <a:xfrm>
                  <a:off x="8682324" y="5293633"/>
                  <a:ext cx="1251752" cy="481465"/>
                </a:xfrm>
                <a:prstGeom prst="rect">
                  <a:avLst/>
                </a:prstGeom>
                <a:blipFill>
                  <a:blip r:embed="rId1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Rectangle 27">
                  <a:extLst>
                    <a:ext uri="{FF2B5EF4-FFF2-40B4-BE49-F238E27FC236}">
                      <a16:creationId xmlns:a16="http://schemas.microsoft.com/office/drawing/2014/main" id="{62A648F4-A981-8947-39C2-2252B4221D4A}"/>
                    </a:ext>
                  </a:extLst>
                </p:cNvPr>
                <p:cNvSpPr/>
                <p:nvPr/>
              </p:nvSpPr>
              <p:spPr>
                <a:xfrm>
                  <a:off x="8682324"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oMath>
                    </m:oMathPara>
                  </a14:m>
                  <a:endParaRPr lang="en-US" dirty="0">
                    <a:solidFill>
                      <a:schemeClr val="bg1"/>
                    </a:solidFill>
                  </a:endParaRPr>
                </a:p>
              </p:txBody>
            </p:sp>
          </mc:Choice>
          <mc:Fallback>
            <p:sp>
              <p:nvSpPr>
                <p:cNvPr id="28" name="Rectangle 27">
                  <a:extLst>
                    <a:ext uri="{FF2B5EF4-FFF2-40B4-BE49-F238E27FC236}">
                      <a16:creationId xmlns:a16="http://schemas.microsoft.com/office/drawing/2014/main" id="{62A648F4-A981-8947-39C2-2252B4221D4A}"/>
                    </a:ext>
                  </a:extLst>
                </p:cNvPr>
                <p:cNvSpPr>
                  <a:spLocks noRot="1" noChangeAspect="1" noMove="1" noResize="1" noEditPoints="1" noAdjustHandles="1" noChangeArrowheads="1" noChangeShapeType="1" noTextEdit="1"/>
                </p:cNvSpPr>
                <p:nvPr/>
              </p:nvSpPr>
              <p:spPr>
                <a:xfrm>
                  <a:off x="8682324" y="6073368"/>
                  <a:ext cx="1251752" cy="295495"/>
                </a:xfrm>
                <a:prstGeom prst="rect">
                  <a:avLst/>
                </a:prstGeom>
                <a:blipFill>
                  <a:blip r:embed="rId15"/>
                  <a:stretch>
                    <a:fillRect b="-3846"/>
                  </a:stretch>
                </a:blipFill>
                <a:ln>
                  <a:solidFill>
                    <a:schemeClr val="bg1"/>
                  </a:solidFill>
                </a:ln>
              </p:spPr>
              <p:txBody>
                <a:bodyPr/>
                <a:lstStyle/>
                <a:p>
                  <a:r>
                    <a:rPr lang="en-US">
                      <a:noFill/>
                    </a:rPr>
                    <a:t> </a:t>
                  </a:r>
                </a:p>
              </p:txBody>
            </p:sp>
          </mc:Fallback>
        </mc:AlternateContent>
        <p:sp>
          <p:nvSpPr>
            <p:cNvPr id="29" name="TextBox 28">
              <a:extLst>
                <a:ext uri="{FF2B5EF4-FFF2-40B4-BE49-F238E27FC236}">
                  <a16:creationId xmlns:a16="http://schemas.microsoft.com/office/drawing/2014/main" id="{A1AE2772-6076-97CF-6763-B7E393577CA5}"/>
                </a:ext>
              </a:extLst>
            </p:cNvPr>
            <p:cNvSpPr txBox="1"/>
            <p:nvPr/>
          </p:nvSpPr>
          <p:spPr>
            <a:xfrm>
              <a:off x="9071576" y="5694411"/>
              <a:ext cx="415498" cy="369332"/>
            </a:xfrm>
            <a:prstGeom prst="rect">
              <a:avLst/>
            </a:prstGeom>
            <a:noFill/>
          </p:spPr>
          <p:txBody>
            <a:bodyPr wrap="none" rtlCol="0">
              <a:spAutoFit/>
            </a:bodyPr>
            <a:lstStyle/>
            <a:p>
              <a:r>
                <a:rPr lang="en-US" dirty="0"/>
                <a:t>…</a:t>
              </a:r>
            </a:p>
          </p:txBody>
        </p:sp>
        <p:sp>
          <p:nvSpPr>
            <p:cNvPr id="30" name="Left Brace 29">
              <a:extLst>
                <a:ext uri="{FF2B5EF4-FFF2-40B4-BE49-F238E27FC236}">
                  <a16:creationId xmlns:a16="http://schemas.microsoft.com/office/drawing/2014/main" id="{79AA6752-9AC6-A029-A451-917D15DA9F17}"/>
                </a:ext>
              </a:extLst>
            </p:cNvPr>
            <p:cNvSpPr/>
            <p:nvPr/>
          </p:nvSpPr>
          <p:spPr>
            <a:xfrm>
              <a:off x="8131741" y="4282843"/>
              <a:ext cx="315327" cy="2146832"/>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1BB4F0A9-0082-FFF6-E5C8-D1B451F24E6F}"/>
                    </a:ext>
                  </a:extLst>
                </p:cNvPr>
                <p:cNvSpPr txBox="1"/>
                <p:nvPr/>
              </p:nvSpPr>
              <p:spPr>
                <a:xfrm>
                  <a:off x="7371412" y="5154888"/>
                  <a:ext cx="83579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m:t>
                        </m:r>
                        <m:sSub>
                          <m:sSubPr>
                            <m:ctrlPr>
                              <a:rPr lang="en-US" b="0" i="1" smtClean="0">
                                <a:solidFill>
                                  <a:schemeClr val="accent2"/>
                                </a:solidFill>
                                <a:latin typeface="Cambria Math" panose="02040503050406030204" pitchFamily="18" charset="0"/>
                              </a:rPr>
                            </m:ctrlPr>
                          </m:sSubPr>
                          <m:e>
                            <m:r>
                              <a:rPr lang="en-US" b="0" i="1" smtClean="0">
                                <a:solidFill>
                                  <a:schemeClr val="accent2"/>
                                </a:solidFill>
                                <a:latin typeface="Cambria Math" panose="02040503050406030204" pitchFamily="18" charset="0"/>
                              </a:rPr>
                              <m:t>𝑥</m:t>
                            </m:r>
                          </m:e>
                          <m:sub>
                            <m:r>
                              <a:rPr lang="en-US" b="0" i="1" smtClean="0">
                                <a:solidFill>
                                  <a:schemeClr val="accent2"/>
                                </a:solidFill>
                                <a:latin typeface="Cambria Math" panose="02040503050406030204" pitchFamily="18" charset="0"/>
                              </a:rPr>
                              <m:t>1</m:t>
                            </m:r>
                          </m:sub>
                        </m:sSub>
                      </m:oMath>
                    </m:oMathPara>
                  </a14:m>
                  <a:endParaRPr lang="en-US" dirty="0">
                    <a:solidFill>
                      <a:schemeClr val="accent2"/>
                    </a:solidFill>
                  </a:endParaRPr>
                </a:p>
              </p:txBody>
            </p:sp>
          </mc:Choice>
          <mc:Fallback>
            <p:sp>
              <p:nvSpPr>
                <p:cNvPr id="31" name="TextBox 30">
                  <a:extLst>
                    <a:ext uri="{FF2B5EF4-FFF2-40B4-BE49-F238E27FC236}">
                      <a16:creationId xmlns:a16="http://schemas.microsoft.com/office/drawing/2014/main" id="{1BB4F0A9-0082-FFF6-E5C8-D1B451F24E6F}"/>
                    </a:ext>
                  </a:extLst>
                </p:cNvPr>
                <p:cNvSpPr txBox="1">
                  <a:spLocks noRot="1" noChangeAspect="1" noMove="1" noResize="1" noEditPoints="1" noAdjustHandles="1" noChangeArrowheads="1" noChangeShapeType="1" noTextEdit="1"/>
                </p:cNvSpPr>
                <p:nvPr/>
              </p:nvSpPr>
              <p:spPr>
                <a:xfrm>
                  <a:off x="7371412" y="5154888"/>
                  <a:ext cx="835794" cy="369332"/>
                </a:xfrm>
                <a:prstGeom prst="rect">
                  <a:avLst/>
                </a:prstGeom>
                <a:blipFill>
                  <a:blip r:embed="rId16"/>
                  <a:stretch>
                    <a:fillRect/>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41" name="TextBox 40">
                <a:extLst>
                  <a:ext uri="{FF2B5EF4-FFF2-40B4-BE49-F238E27FC236}">
                    <a16:creationId xmlns:a16="http://schemas.microsoft.com/office/drawing/2014/main" id="{1638C646-5999-670E-CFD7-B326212B1477}"/>
                  </a:ext>
                </a:extLst>
              </p:cNvPr>
              <p:cNvSpPr txBox="1"/>
              <p:nvPr/>
            </p:nvSpPr>
            <p:spPr>
              <a:xfrm>
                <a:off x="2691865" y="2990086"/>
                <a:ext cx="2418175" cy="369332"/>
              </a:xfrm>
              <a:prstGeom prst="rect">
                <a:avLst/>
              </a:prstGeom>
              <a:noFill/>
              <a:ln>
                <a:solidFill>
                  <a:schemeClr val="tx1">
                    <a:lumMod val="95000"/>
                  </a:schemeClr>
                </a:solidFill>
              </a:ln>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e>
                      </m:d>
                      <m:r>
                        <a:rPr lang="en-US" b="0" i="1" smtClean="0">
                          <a:latin typeface="Cambria Math" panose="02040503050406030204" pitchFamily="18" charset="0"/>
                        </a:rPr>
                        <m:t>=</m:t>
                      </m:r>
                      <m:r>
                        <a:rPr lang="en-US" b="0" i="1" smtClean="0">
                          <a:latin typeface="Cambria Math" panose="02040503050406030204" pitchFamily="18" charset="0"/>
                        </a:rPr>
                        <m:t>𝑉</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oMath>
                  </m:oMathPara>
                </a14:m>
                <a:endParaRPr lang="en-US" dirty="0"/>
              </a:p>
            </p:txBody>
          </p:sp>
        </mc:Choice>
        <mc:Fallback>
          <p:sp>
            <p:nvSpPr>
              <p:cNvPr id="41" name="TextBox 40">
                <a:extLst>
                  <a:ext uri="{FF2B5EF4-FFF2-40B4-BE49-F238E27FC236}">
                    <a16:creationId xmlns:a16="http://schemas.microsoft.com/office/drawing/2014/main" id="{1638C646-5999-670E-CFD7-B326212B1477}"/>
                  </a:ext>
                </a:extLst>
              </p:cNvPr>
              <p:cNvSpPr txBox="1">
                <a:spLocks noRot="1" noChangeAspect="1" noMove="1" noResize="1" noEditPoints="1" noAdjustHandles="1" noChangeArrowheads="1" noChangeShapeType="1" noTextEdit="1"/>
              </p:cNvSpPr>
              <p:nvPr/>
            </p:nvSpPr>
            <p:spPr>
              <a:xfrm>
                <a:off x="2691865" y="2990086"/>
                <a:ext cx="2418175" cy="369332"/>
              </a:xfrm>
              <a:prstGeom prst="rect">
                <a:avLst/>
              </a:prstGeom>
              <a:blipFill>
                <a:blip r:embed="rId17"/>
                <a:stretch>
                  <a:fillRect b="-12903"/>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2" name="TextBox 41">
                <a:extLst>
                  <a:ext uri="{FF2B5EF4-FFF2-40B4-BE49-F238E27FC236}">
                    <a16:creationId xmlns:a16="http://schemas.microsoft.com/office/drawing/2014/main" id="{73BBCF10-0C83-22AB-3BF3-D851B49C9DCC}"/>
                  </a:ext>
                </a:extLst>
              </p:cNvPr>
              <p:cNvSpPr txBox="1"/>
              <p:nvPr/>
            </p:nvSpPr>
            <p:spPr>
              <a:xfrm>
                <a:off x="6529106" y="2986466"/>
                <a:ext cx="2857193" cy="369332"/>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dirty="0"/>
                  <a:t> </a:t>
                </a:r>
              </a:p>
            </p:txBody>
          </p:sp>
        </mc:Choice>
        <mc:Fallback>
          <p:sp>
            <p:nvSpPr>
              <p:cNvPr id="42" name="TextBox 41">
                <a:extLst>
                  <a:ext uri="{FF2B5EF4-FFF2-40B4-BE49-F238E27FC236}">
                    <a16:creationId xmlns:a16="http://schemas.microsoft.com/office/drawing/2014/main" id="{73BBCF10-0C83-22AB-3BF3-D851B49C9DCC}"/>
                  </a:ext>
                </a:extLst>
              </p:cNvPr>
              <p:cNvSpPr txBox="1">
                <a:spLocks noRot="1" noChangeAspect="1" noMove="1" noResize="1" noEditPoints="1" noAdjustHandles="1" noChangeArrowheads="1" noChangeShapeType="1" noTextEdit="1"/>
              </p:cNvSpPr>
              <p:nvPr/>
            </p:nvSpPr>
            <p:spPr>
              <a:xfrm>
                <a:off x="6529106" y="2986466"/>
                <a:ext cx="2857193" cy="369332"/>
              </a:xfrm>
              <a:prstGeom prst="rect">
                <a:avLst/>
              </a:prstGeom>
              <a:blipFill>
                <a:blip r:embed="rId18"/>
                <a:stretch>
                  <a:fillRect l="-1322" t="-6452" b="-25806"/>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24232077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868FD-C574-F33D-B7C2-0D1271336E7D}"/>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32B0A5F5-8397-EDC0-052B-ABE703E74F41}"/>
              </a:ext>
            </a:extLst>
          </p:cNvPr>
          <p:cNvSpPr>
            <a:spLocks noGrp="1" noChangeArrowheads="1"/>
          </p:cNvSpPr>
          <p:nvPr>
            <p:ph type="title"/>
            <p:custDataLst>
              <p:tags r:id="rId1"/>
            </p:custDataLst>
          </p:nvPr>
        </p:nvSpPr>
        <p:spPr>
          <a:xfrm>
            <a:off x="1143001" y="157346"/>
            <a:ext cx="9905998" cy="677622"/>
          </a:xfrm>
        </p:spPr>
        <p:txBody>
          <a:bodyPr/>
          <a:lstStyle/>
          <a:p>
            <a:pPr algn="ctr"/>
            <a:r>
              <a:rPr lang="en-US" dirty="0">
                <a:latin typeface="Arial" charset="0"/>
                <a:ea typeface="ＭＳ Ｐゴシック" charset="0"/>
                <a:cs typeface="ＭＳ Ｐゴシック" charset="0"/>
              </a:rPr>
              <a:t>Aside: Optimal Substructure</a:t>
            </a:r>
          </a:p>
        </p:txBody>
      </p:sp>
      <mc:AlternateContent xmlns:mc="http://schemas.openxmlformats.org/markup-compatibility/2006">
        <mc:Choice xmlns:a14="http://schemas.microsoft.com/office/drawing/2010/main" Requires="a14">
          <p:sp>
            <p:nvSpPr>
              <p:cNvPr id="2" name="Rectangle 3">
                <a:extLst>
                  <a:ext uri="{FF2B5EF4-FFF2-40B4-BE49-F238E27FC236}">
                    <a16:creationId xmlns:a16="http://schemas.microsoft.com/office/drawing/2014/main" id="{5D1A70A1-E6CB-6815-E725-179745770DDC}"/>
                  </a:ext>
                </a:extLst>
              </p:cNvPr>
              <p:cNvSpPr txBox="1">
                <a:spLocks noChangeArrowheads="1"/>
              </p:cNvSpPr>
              <p:nvPr>
                <p:custDataLst>
                  <p:tags r:id="rId2"/>
                </p:custDataLst>
              </p:nvPr>
            </p:nvSpPr>
            <p:spPr>
              <a:xfrm>
                <a:off x="2860307" y="1011677"/>
                <a:ext cx="6471385" cy="1136711"/>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ea typeface="ＭＳ Ｐゴシック" charset="0"/>
                  </a:rPr>
                  <a:t>Step 3</a:t>
                </a:r>
                <a:r>
                  <a:rPr lang="en-US" dirty="0">
                    <a:solidFill>
                      <a:schemeClr val="bg1"/>
                    </a:solidFill>
                    <a:ea typeface="ＭＳ Ｐゴシック" charset="0"/>
                  </a:rPr>
                  <a:t>: There must be some BETTER way to use </a:t>
                </a:r>
                <a14:m>
                  <m:oMath xmlns:m="http://schemas.openxmlformats.org/officeDocument/2006/math">
                    <m:r>
                      <a:rPr lang="en-US" b="0" i="1" smtClean="0">
                        <a:solidFill>
                          <a:schemeClr val="accent1"/>
                        </a:solidFill>
                        <a:latin typeface="Cambria Math" panose="02040503050406030204" pitchFamily="18" charset="0"/>
                      </a:rPr>
                      <m:t>𝑋</m:t>
                    </m:r>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a14:m>
                <a:r>
                  <a:rPr lang="en-US" dirty="0">
                    <a:solidFill>
                      <a:schemeClr val="accent1"/>
                    </a:solidFill>
                  </a:rPr>
                  <a:t> </a:t>
                </a:r>
                <a:r>
                  <a:rPr lang="en-US" dirty="0">
                    <a:solidFill>
                      <a:schemeClr val="bg1"/>
                    </a:solidFill>
                  </a:rPr>
                  <a:t>to fill a knapsack of size </a:t>
                </a:r>
                <a14:m>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bg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a14:m>
                <a:endParaRPr lang="en-US" dirty="0">
                  <a:solidFill>
                    <a:schemeClr val="bg1"/>
                  </a:solidFill>
                </a:endParaRPr>
              </a:p>
            </p:txBody>
          </p:sp>
        </mc:Choice>
        <mc:Fallback>
          <p:sp>
            <p:nvSpPr>
              <p:cNvPr id="2" name="Rectangle 3">
                <a:extLst>
                  <a:ext uri="{FF2B5EF4-FFF2-40B4-BE49-F238E27FC236}">
                    <a16:creationId xmlns:a16="http://schemas.microsoft.com/office/drawing/2014/main" id="{5D1A70A1-E6CB-6815-E725-179745770DDC}"/>
                  </a:ext>
                </a:extLst>
              </p:cNvPr>
              <p:cNvSpPr txBox="1">
                <a:spLocks noRot="1" noChangeAspect="1" noMove="1" noResize="1" noEditPoints="1" noAdjustHandles="1" noChangeArrowheads="1" noChangeShapeType="1" noTextEdit="1"/>
              </p:cNvSpPr>
              <p:nvPr>
                <p:custDataLst>
                  <p:tags r:id="rId2"/>
                </p:custDataLst>
              </p:nvPr>
            </p:nvSpPr>
            <p:spPr>
              <a:xfrm>
                <a:off x="2860307" y="1011677"/>
                <a:ext cx="6471385" cy="1136711"/>
              </a:xfrm>
              <a:prstGeom prst="rect">
                <a:avLst/>
              </a:prstGeom>
              <a:blipFill>
                <a:blip r:embed="rId5"/>
                <a:stretch>
                  <a:fillRect l="-1367" t="-1099"/>
                </a:stretch>
              </a:blipFill>
              <a:ln>
                <a:solidFill>
                  <a:schemeClr val="bg1"/>
                </a:solidFill>
              </a:ln>
            </p:spPr>
            <p:txBody>
              <a:bodyPr/>
              <a:lstStyle/>
              <a:p>
                <a:r>
                  <a:rPr lang="en-US">
                    <a:noFill/>
                  </a:rPr>
                  <a:t> </a:t>
                </a:r>
              </a:p>
            </p:txBody>
          </p:sp>
        </mc:Fallback>
      </mc:AlternateContent>
      <p:grpSp>
        <p:nvGrpSpPr>
          <p:cNvPr id="33" name="Group 32">
            <a:extLst>
              <a:ext uri="{FF2B5EF4-FFF2-40B4-BE49-F238E27FC236}">
                <a16:creationId xmlns:a16="http://schemas.microsoft.com/office/drawing/2014/main" id="{A26590CC-2996-92C4-AEB2-0F0FDCB3DCA2}"/>
              </a:ext>
            </a:extLst>
          </p:cNvPr>
          <p:cNvGrpSpPr/>
          <p:nvPr/>
        </p:nvGrpSpPr>
        <p:grpSpPr>
          <a:xfrm>
            <a:off x="2022943" y="3141163"/>
            <a:ext cx="2868358" cy="3136900"/>
            <a:chOff x="7371412" y="3429000"/>
            <a:chExt cx="2868358" cy="3136900"/>
          </a:xfrm>
        </p:grpSpPr>
        <p:sp>
          <p:nvSpPr>
            <p:cNvPr id="21" name="Rectangle 20">
              <a:extLst>
                <a:ext uri="{FF2B5EF4-FFF2-40B4-BE49-F238E27FC236}">
                  <a16:creationId xmlns:a16="http://schemas.microsoft.com/office/drawing/2014/main" id="{C8347689-70A9-DF9F-76FB-317584E62DED}"/>
                </a:ext>
              </a:extLst>
            </p:cNvPr>
            <p:cNvSpPr/>
            <p:nvPr/>
          </p:nvSpPr>
          <p:spPr>
            <a:xfrm>
              <a:off x="7382577" y="3429000"/>
              <a:ext cx="2857193" cy="3136900"/>
            </a:xfrm>
            <a:prstGeom prst="rect">
              <a:avLst/>
            </a:prstGeom>
            <a:solidFill>
              <a:schemeClr val="accent4">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Rectangle 21">
              <a:extLst>
                <a:ext uri="{FF2B5EF4-FFF2-40B4-BE49-F238E27FC236}">
                  <a16:creationId xmlns:a16="http://schemas.microsoft.com/office/drawing/2014/main" id="{9E3CF7EF-677E-BC29-FDF9-F480AA2ABF6A}"/>
                </a:ext>
              </a:extLst>
            </p:cNvPr>
            <p:cNvSpPr/>
            <p:nvPr/>
          </p:nvSpPr>
          <p:spPr>
            <a:xfrm>
              <a:off x="8558225" y="4282843"/>
              <a:ext cx="1487008" cy="214683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24" name="Rectangle 23">
                  <a:extLst>
                    <a:ext uri="{FF2B5EF4-FFF2-40B4-BE49-F238E27FC236}">
                      <a16:creationId xmlns:a16="http://schemas.microsoft.com/office/drawing/2014/main" id="{B63C2CF8-D9B6-0CD3-3452-C42321A49BB5}"/>
                    </a:ext>
                  </a:extLst>
                </p:cNvPr>
                <p:cNvSpPr/>
                <p:nvPr/>
              </p:nvSpPr>
              <p:spPr>
                <a:xfrm>
                  <a:off x="8675853" y="4337534"/>
                  <a:ext cx="1251752" cy="554116"/>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p:sp>
              <p:nvSpPr>
                <p:cNvPr id="24" name="Rectangle 23">
                  <a:extLst>
                    <a:ext uri="{FF2B5EF4-FFF2-40B4-BE49-F238E27FC236}">
                      <a16:creationId xmlns:a16="http://schemas.microsoft.com/office/drawing/2014/main" id="{B63C2CF8-D9B6-0CD3-3452-C42321A49BB5}"/>
                    </a:ext>
                  </a:extLst>
                </p:cNvPr>
                <p:cNvSpPr>
                  <a:spLocks noRot="1" noChangeAspect="1" noMove="1" noResize="1" noEditPoints="1" noAdjustHandles="1" noChangeArrowheads="1" noChangeShapeType="1" noTextEdit="1"/>
                </p:cNvSpPr>
                <p:nvPr/>
              </p:nvSpPr>
              <p:spPr>
                <a:xfrm>
                  <a:off x="8675853" y="4337534"/>
                  <a:ext cx="1251752" cy="554116"/>
                </a:xfrm>
                <a:prstGeom prst="rect">
                  <a:avLst/>
                </a:prstGeom>
                <a:blipFill>
                  <a:blip r:embed="rId6"/>
                  <a:stretch>
                    <a:fillRect/>
                  </a:stretch>
                </a:blipFill>
                <a:ln>
                  <a:solidFill>
                    <a:schemeClr val="bg1"/>
                  </a:solidFill>
                </a:ln>
              </p:spPr>
              <p:txBody>
                <a:bodyPr/>
                <a:lstStyle/>
                <a:p>
                  <a:r>
                    <a:rPr lang="en-US">
                      <a:noFill/>
                    </a:rPr>
                    <a:t> </a:t>
                  </a:r>
                </a:p>
              </p:txBody>
            </p:sp>
          </mc:Fallback>
        </mc:AlternateContent>
        <p:sp>
          <p:nvSpPr>
            <p:cNvPr id="25" name="TextBox 24">
              <a:extLst>
                <a:ext uri="{FF2B5EF4-FFF2-40B4-BE49-F238E27FC236}">
                  <a16:creationId xmlns:a16="http://schemas.microsoft.com/office/drawing/2014/main" id="{4B7F4C82-1882-C383-07C4-B7194560A361}"/>
                </a:ext>
              </a:extLst>
            </p:cNvPr>
            <p:cNvSpPr txBox="1"/>
            <p:nvPr/>
          </p:nvSpPr>
          <p:spPr>
            <a:xfrm>
              <a:off x="8170241" y="3526717"/>
              <a:ext cx="2005643" cy="646331"/>
            </a:xfrm>
            <a:prstGeom prst="rect">
              <a:avLst/>
            </a:prstGeom>
            <a:noFill/>
          </p:spPr>
          <p:txBody>
            <a:bodyPr wrap="square" rtlCol="0">
              <a:spAutoFit/>
            </a:bodyPr>
            <a:lstStyle/>
            <a:p>
              <a:r>
                <a:rPr lang="en-US" b="1" i="1" dirty="0">
                  <a:solidFill>
                    <a:schemeClr val="bg1"/>
                  </a:solidFill>
                </a:rPr>
                <a:t>But somehow this is NOT optimal</a:t>
              </a:r>
            </a:p>
          </p:txBody>
        </p:sp>
        <mc:AlternateContent xmlns:mc="http://schemas.openxmlformats.org/markup-compatibility/2006">
          <mc:Choice xmlns:a14="http://schemas.microsoft.com/office/drawing/2010/main" Requires="a14">
            <p:sp>
              <p:nvSpPr>
                <p:cNvPr id="26" name="Rectangle 25">
                  <a:extLst>
                    <a:ext uri="{FF2B5EF4-FFF2-40B4-BE49-F238E27FC236}">
                      <a16:creationId xmlns:a16="http://schemas.microsoft.com/office/drawing/2014/main" id="{C3B4E928-9622-9E66-9066-29B1FA6E0E47}"/>
                    </a:ext>
                  </a:extLst>
                </p:cNvPr>
                <p:cNvSpPr/>
                <p:nvPr/>
              </p:nvSpPr>
              <p:spPr>
                <a:xfrm>
                  <a:off x="8675853" y="4961232"/>
                  <a:ext cx="1251752" cy="262819"/>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oMath>
                    </m:oMathPara>
                  </a14:m>
                  <a:endParaRPr lang="en-US" dirty="0">
                    <a:solidFill>
                      <a:schemeClr val="bg1"/>
                    </a:solidFill>
                  </a:endParaRPr>
                </a:p>
              </p:txBody>
            </p:sp>
          </mc:Choice>
          <mc:Fallback>
            <p:sp>
              <p:nvSpPr>
                <p:cNvPr id="26" name="Rectangle 25">
                  <a:extLst>
                    <a:ext uri="{FF2B5EF4-FFF2-40B4-BE49-F238E27FC236}">
                      <a16:creationId xmlns:a16="http://schemas.microsoft.com/office/drawing/2014/main" id="{C3B4E928-9622-9E66-9066-29B1FA6E0E47}"/>
                    </a:ext>
                  </a:extLst>
                </p:cNvPr>
                <p:cNvSpPr>
                  <a:spLocks noRot="1" noChangeAspect="1" noMove="1" noResize="1" noEditPoints="1" noAdjustHandles="1" noChangeArrowheads="1" noChangeShapeType="1" noTextEdit="1"/>
                </p:cNvSpPr>
                <p:nvPr/>
              </p:nvSpPr>
              <p:spPr>
                <a:xfrm>
                  <a:off x="8675853" y="4961232"/>
                  <a:ext cx="1251752" cy="262819"/>
                </a:xfrm>
                <a:prstGeom prst="rect">
                  <a:avLst/>
                </a:prstGeom>
                <a:blipFill>
                  <a:blip r:embed="rId7"/>
                  <a:stretch>
                    <a:fillRect b="-13043"/>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7" name="Rectangle 26">
                  <a:extLst>
                    <a:ext uri="{FF2B5EF4-FFF2-40B4-BE49-F238E27FC236}">
                      <a16:creationId xmlns:a16="http://schemas.microsoft.com/office/drawing/2014/main" id="{71DD66E4-1A28-BE9F-BD2B-ED8DF1916B7E}"/>
                    </a:ext>
                  </a:extLst>
                </p:cNvPr>
                <p:cNvSpPr/>
                <p:nvPr/>
              </p:nvSpPr>
              <p:spPr>
                <a:xfrm>
                  <a:off x="8682324" y="5293633"/>
                  <a:ext cx="1251752" cy="48146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4</m:t>
                            </m:r>
                          </m:sub>
                        </m:sSub>
                      </m:oMath>
                    </m:oMathPara>
                  </a14:m>
                  <a:endParaRPr lang="en-US" dirty="0">
                    <a:solidFill>
                      <a:schemeClr val="bg1"/>
                    </a:solidFill>
                  </a:endParaRPr>
                </a:p>
              </p:txBody>
            </p:sp>
          </mc:Choice>
          <mc:Fallback>
            <p:sp>
              <p:nvSpPr>
                <p:cNvPr id="27" name="Rectangle 26">
                  <a:extLst>
                    <a:ext uri="{FF2B5EF4-FFF2-40B4-BE49-F238E27FC236}">
                      <a16:creationId xmlns:a16="http://schemas.microsoft.com/office/drawing/2014/main" id="{71DD66E4-1A28-BE9F-BD2B-ED8DF1916B7E}"/>
                    </a:ext>
                  </a:extLst>
                </p:cNvPr>
                <p:cNvSpPr>
                  <a:spLocks noRot="1" noChangeAspect="1" noMove="1" noResize="1" noEditPoints="1" noAdjustHandles="1" noChangeArrowheads="1" noChangeShapeType="1" noTextEdit="1"/>
                </p:cNvSpPr>
                <p:nvPr/>
              </p:nvSpPr>
              <p:spPr>
                <a:xfrm>
                  <a:off x="8682324" y="5293633"/>
                  <a:ext cx="1251752" cy="481465"/>
                </a:xfrm>
                <a:prstGeom prst="rect">
                  <a:avLst/>
                </a:prstGeom>
                <a:blipFill>
                  <a:blip r:embed="rId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Rectangle 27">
                  <a:extLst>
                    <a:ext uri="{FF2B5EF4-FFF2-40B4-BE49-F238E27FC236}">
                      <a16:creationId xmlns:a16="http://schemas.microsoft.com/office/drawing/2014/main" id="{3D94BF6A-365C-63A9-3F9A-322760D8DBAE}"/>
                    </a:ext>
                  </a:extLst>
                </p:cNvPr>
                <p:cNvSpPr/>
                <p:nvPr/>
              </p:nvSpPr>
              <p:spPr>
                <a:xfrm>
                  <a:off x="8682324"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oMath>
                    </m:oMathPara>
                  </a14:m>
                  <a:endParaRPr lang="en-US" dirty="0">
                    <a:solidFill>
                      <a:schemeClr val="bg1"/>
                    </a:solidFill>
                  </a:endParaRPr>
                </a:p>
              </p:txBody>
            </p:sp>
          </mc:Choice>
          <mc:Fallback>
            <p:sp>
              <p:nvSpPr>
                <p:cNvPr id="28" name="Rectangle 27">
                  <a:extLst>
                    <a:ext uri="{FF2B5EF4-FFF2-40B4-BE49-F238E27FC236}">
                      <a16:creationId xmlns:a16="http://schemas.microsoft.com/office/drawing/2014/main" id="{3D94BF6A-365C-63A9-3F9A-322760D8DBAE}"/>
                    </a:ext>
                  </a:extLst>
                </p:cNvPr>
                <p:cNvSpPr>
                  <a:spLocks noRot="1" noChangeAspect="1" noMove="1" noResize="1" noEditPoints="1" noAdjustHandles="1" noChangeArrowheads="1" noChangeShapeType="1" noTextEdit="1"/>
                </p:cNvSpPr>
                <p:nvPr/>
              </p:nvSpPr>
              <p:spPr>
                <a:xfrm>
                  <a:off x="8682324" y="6073368"/>
                  <a:ext cx="1251752" cy="295495"/>
                </a:xfrm>
                <a:prstGeom prst="rect">
                  <a:avLst/>
                </a:prstGeom>
                <a:blipFill>
                  <a:blip r:embed="rId9"/>
                  <a:stretch>
                    <a:fillRect/>
                  </a:stretch>
                </a:blipFill>
                <a:ln>
                  <a:solidFill>
                    <a:schemeClr val="bg1"/>
                  </a:solidFill>
                </a:ln>
              </p:spPr>
              <p:txBody>
                <a:bodyPr/>
                <a:lstStyle/>
                <a:p>
                  <a:r>
                    <a:rPr lang="en-US">
                      <a:noFill/>
                    </a:rPr>
                    <a:t> </a:t>
                  </a:r>
                </a:p>
              </p:txBody>
            </p:sp>
          </mc:Fallback>
        </mc:AlternateContent>
        <p:sp>
          <p:nvSpPr>
            <p:cNvPr id="29" name="TextBox 28">
              <a:extLst>
                <a:ext uri="{FF2B5EF4-FFF2-40B4-BE49-F238E27FC236}">
                  <a16:creationId xmlns:a16="http://schemas.microsoft.com/office/drawing/2014/main" id="{8AB31CDA-75BE-5114-F8C3-857B55030EA9}"/>
                </a:ext>
              </a:extLst>
            </p:cNvPr>
            <p:cNvSpPr txBox="1"/>
            <p:nvPr/>
          </p:nvSpPr>
          <p:spPr>
            <a:xfrm>
              <a:off x="9071576" y="5694411"/>
              <a:ext cx="415498" cy="369332"/>
            </a:xfrm>
            <a:prstGeom prst="rect">
              <a:avLst/>
            </a:prstGeom>
            <a:noFill/>
          </p:spPr>
          <p:txBody>
            <a:bodyPr wrap="none" rtlCol="0">
              <a:spAutoFit/>
            </a:bodyPr>
            <a:lstStyle/>
            <a:p>
              <a:r>
                <a:rPr lang="en-US" dirty="0"/>
                <a:t>…</a:t>
              </a:r>
            </a:p>
          </p:txBody>
        </p:sp>
        <p:sp>
          <p:nvSpPr>
            <p:cNvPr id="30" name="Left Brace 29">
              <a:extLst>
                <a:ext uri="{FF2B5EF4-FFF2-40B4-BE49-F238E27FC236}">
                  <a16:creationId xmlns:a16="http://schemas.microsoft.com/office/drawing/2014/main" id="{1EFB3711-95A1-8BC8-5B03-C4EAF2002815}"/>
                </a:ext>
              </a:extLst>
            </p:cNvPr>
            <p:cNvSpPr/>
            <p:nvPr/>
          </p:nvSpPr>
          <p:spPr>
            <a:xfrm>
              <a:off x="8131741" y="4282843"/>
              <a:ext cx="315327" cy="2146832"/>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F7EA1A30-3E7B-B17F-DA94-084EC81DF4F3}"/>
                    </a:ext>
                  </a:extLst>
                </p:cNvPr>
                <p:cNvSpPr txBox="1"/>
                <p:nvPr/>
              </p:nvSpPr>
              <p:spPr>
                <a:xfrm>
                  <a:off x="7371412" y="5154888"/>
                  <a:ext cx="83579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m:t>
                        </m:r>
                        <m:sSub>
                          <m:sSubPr>
                            <m:ctrlPr>
                              <a:rPr lang="en-US" b="0" i="1" smtClean="0">
                                <a:solidFill>
                                  <a:schemeClr val="accent2"/>
                                </a:solidFill>
                                <a:latin typeface="Cambria Math" panose="02040503050406030204" pitchFamily="18" charset="0"/>
                              </a:rPr>
                            </m:ctrlPr>
                          </m:sSubPr>
                          <m:e>
                            <m:r>
                              <a:rPr lang="en-US" b="0" i="1" smtClean="0">
                                <a:solidFill>
                                  <a:schemeClr val="accent2"/>
                                </a:solidFill>
                                <a:latin typeface="Cambria Math" panose="02040503050406030204" pitchFamily="18" charset="0"/>
                              </a:rPr>
                              <m:t>𝑥</m:t>
                            </m:r>
                          </m:e>
                          <m:sub>
                            <m:r>
                              <a:rPr lang="en-US" b="0" i="1" smtClean="0">
                                <a:solidFill>
                                  <a:schemeClr val="accent2"/>
                                </a:solidFill>
                                <a:latin typeface="Cambria Math" panose="02040503050406030204" pitchFamily="18" charset="0"/>
                              </a:rPr>
                              <m:t>1</m:t>
                            </m:r>
                          </m:sub>
                        </m:sSub>
                      </m:oMath>
                    </m:oMathPara>
                  </a14:m>
                  <a:endParaRPr lang="en-US" dirty="0">
                    <a:solidFill>
                      <a:schemeClr val="accent2"/>
                    </a:solidFill>
                  </a:endParaRPr>
                </a:p>
              </p:txBody>
            </p:sp>
          </mc:Choice>
          <mc:Fallback>
            <p:sp>
              <p:nvSpPr>
                <p:cNvPr id="31" name="TextBox 30">
                  <a:extLst>
                    <a:ext uri="{FF2B5EF4-FFF2-40B4-BE49-F238E27FC236}">
                      <a16:creationId xmlns:a16="http://schemas.microsoft.com/office/drawing/2014/main" id="{F7EA1A30-3E7B-B17F-DA94-084EC81DF4F3}"/>
                    </a:ext>
                  </a:extLst>
                </p:cNvPr>
                <p:cNvSpPr txBox="1">
                  <a:spLocks noRot="1" noChangeAspect="1" noMove="1" noResize="1" noEditPoints="1" noAdjustHandles="1" noChangeArrowheads="1" noChangeShapeType="1" noTextEdit="1"/>
                </p:cNvSpPr>
                <p:nvPr/>
              </p:nvSpPr>
              <p:spPr>
                <a:xfrm>
                  <a:off x="7371412" y="5154888"/>
                  <a:ext cx="83579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42" name="TextBox 41">
                <a:extLst>
                  <a:ext uri="{FF2B5EF4-FFF2-40B4-BE49-F238E27FC236}">
                    <a16:creationId xmlns:a16="http://schemas.microsoft.com/office/drawing/2014/main" id="{398B239E-1D9D-712D-0F2F-ADFC21A38ED9}"/>
                  </a:ext>
                </a:extLst>
              </p:cNvPr>
              <p:cNvSpPr txBox="1"/>
              <p:nvPr/>
            </p:nvSpPr>
            <p:spPr>
              <a:xfrm>
                <a:off x="2034108" y="2698629"/>
                <a:ext cx="2857193" cy="369332"/>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dirty="0"/>
                  <a:t> </a:t>
                </a:r>
              </a:p>
            </p:txBody>
          </p:sp>
        </mc:Choice>
        <mc:Fallback>
          <p:sp>
            <p:nvSpPr>
              <p:cNvPr id="42" name="TextBox 41">
                <a:extLst>
                  <a:ext uri="{FF2B5EF4-FFF2-40B4-BE49-F238E27FC236}">
                    <a16:creationId xmlns:a16="http://schemas.microsoft.com/office/drawing/2014/main" id="{398B239E-1D9D-712D-0F2F-ADFC21A38ED9}"/>
                  </a:ext>
                </a:extLst>
              </p:cNvPr>
              <p:cNvSpPr txBox="1">
                <a:spLocks noRot="1" noChangeAspect="1" noMove="1" noResize="1" noEditPoints="1" noAdjustHandles="1" noChangeArrowheads="1" noChangeShapeType="1" noTextEdit="1"/>
              </p:cNvSpPr>
              <p:nvPr/>
            </p:nvSpPr>
            <p:spPr>
              <a:xfrm>
                <a:off x="2034108" y="2698629"/>
                <a:ext cx="2857193" cy="369332"/>
              </a:xfrm>
              <a:prstGeom prst="rect">
                <a:avLst/>
              </a:prstGeom>
              <a:blipFill>
                <a:blip r:embed="rId11"/>
                <a:stretch>
                  <a:fillRect l="-1322" t="-6667" b="-26667"/>
                </a:stretch>
              </a:blipFill>
              <a:ln>
                <a:solidFill>
                  <a:schemeClr val="tx1">
                    <a:lumMod val="95000"/>
                  </a:schemeClr>
                </a:solidFill>
              </a:ln>
            </p:spPr>
            <p:txBody>
              <a:bodyPr/>
              <a:lstStyle/>
              <a:p>
                <a:r>
                  <a:rPr lang="en-US">
                    <a:noFill/>
                  </a:rPr>
                  <a:t> </a:t>
                </a:r>
              </a:p>
            </p:txBody>
          </p:sp>
        </mc:Fallback>
      </mc:AlternateContent>
      <p:sp>
        <p:nvSpPr>
          <p:cNvPr id="3" name="Right Arrow 2">
            <a:extLst>
              <a:ext uri="{FF2B5EF4-FFF2-40B4-BE49-F238E27FC236}">
                <a16:creationId xmlns:a16="http://schemas.microsoft.com/office/drawing/2014/main" id="{928C7310-A603-93ED-B9D2-DF6290FC73DB}"/>
              </a:ext>
            </a:extLst>
          </p:cNvPr>
          <p:cNvSpPr/>
          <p:nvPr/>
        </p:nvSpPr>
        <p:spPr>
          <a:xfrm>
            <a:off x="5159142" y="4976263"/>
            <a:ext cx="1607419" cy="505656"/>
          </a:xfrm>
          <a:prstGeom prst="right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F65CC276-C74C-A3D2-47C3-11CC76802927}"/>
              </a:ext>
            </a:extLst>
          </p:cNvPr>
          <p:cNvGrpSpPr/>
          <p:nvPr/>
        </p:nvGrpSpPr>
        <p:grpSpPr>
          <a:xfrm>
            <a:off x="7005526" y="3141163"/>
            <a:ext cx="2868358" cy="3136900"/>
            <a:chOff x="7371412" y="3429000"/>
            <a:chExt cx="2868358" cy="3136900"/>
          </a:xfrm>
        </p:grpSpPr>
        <p:sp>
          <p:nvSpPr>
            <p:cNvPr id="7" name="Rectangle 6">
              <a:extLst>
                <a:ext uri="{FF2B5EF4-FFF2-40B4-BE49-F238E27FC236}">
                  <a16:creationId xmlns:a16="http://schemas.microsoft.com/office/drawing/2014/main" id="{5756850F-1E1B-3E4F-32BD-DB8B0410C305}"/>
                </a:ext>
              </a:extLst>
            </p:cNvPr>
            <p:cNvSpPr/>
            <p:nvPr/>
          </p:nvSpPr>
          <p:spPr>
            <a:xfrm>
              <a:off x="7382577" y="3429000"/>
              <a:ext cx="2857193" cy="3136900"/>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 name="Rectangle 8">
              <a:extLst>
                <a:ext uri="{FF2B5EF4-FFF2-40B4-BE49-F238E27FC236}">
                  <a16:creationId xmlns:a16="http://schemas.microsoft.com/office/drawing/2014/main" id="{9EC57E42-FF57-EF8C-37D9-B1F01EE0D36F}"/>
                </a:ext>
              </a:extLst>
            </p:cNvPr>
            <p:cNvSpPr/>
            <p:nvPr/>
          </p:nvSpPr>
          <p:spPr>
            <a:xfrm>
              <a:off x="8558225" y="4282843"/>
              <a:ext cx="1487008" cy="214683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11" name="Rectangle 10">
                  <a:extLst>
                    <a:ext uri="{FF2B5EF4-FFF2-40B4-BE49-F238E27FC236}">
                      <a16:creationId xmlns:a16="http://schemas.microsoft.com/office/drawing/2014/main" id="{D88C9169-7613-82D5-8F92-18E125AC837D}"/>
                    </a:ext>
                  </a:extLst>
                </p:cNvPr>
                <p:cNvSpPr/>
                <p:nvPr/>
              </p:nvSpPr>
              <p:spPr>
                <a:xfrm>
                  <a:off x="8675853" y="4337534"/>
                  <a:ext cx="1251752" cy="3350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p:sp>
              <p:nvSpPr>
                <p:cNvPr id="11" name="Rectangle 10">
                  <a:extLst>
                    <a:ext uri="{FF2B5EF4-FFF2-40B4-BE49-F238E27FC236}">
                      <a16:creationId xmlns:a16="http://schemas.microsoft.com/office/drawing/2014/main" id="{D88C9169-7613-82D5-8F92-18E125AC837D}"/>
                    </a:ext>
                  </a:extLst>
                </p:cNvPr>
                <p:cNvSpPr>
                  <a:spLocks noRot="1" noChangeAspect="1" noMove="1" noResize="1" noEditPoints="1" noAdjustHandles="1" noChangeArrowheads="1" noChangeShapeType="1" noTextEdit="1"/>
                </p:cNvSpPr>
                <p:nvPr/>
              </p:nvSpPr>
              <p:spPr>
                <a:xfrm>
                  <a:off x="8675853" y="4337534"/>
                  <a:ext cx="1251752" cy="335053"/>
                </a:xfrm>
                <a:prstGeom prst="rect">
                  <a:avLst/>
                </a:prstGeom>
                <a:blipFill>
                  <a:blip r:embed="rId12"/>
                  <a:stretch>
                    <a:fillRect/>
                  </a:stretch>
                </a:blipFill>
                <a:ln>
                  <a:solidFill>
                    <a:schemeClr val="bg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DC7243C-0A0C-4A76-9324-54E8440C6195}"/>
                </a:ext>
              </a:extLst>
            </p:cNvPr>
            <p:cNvSpPr txBox="1"/>
            <p:nvPr/>
          </p:nvSpPr>
          <p:spPr>
            <a:xfrm>
              <a:off x="8558225" y="3526717"/>
              <a:ext cx="1617659" cy="369332"/>
            </a:xfrm>
            <a:prstGeom prst="rect">
              <a:avLst/>
            </a:prstGeom>
            <a:noFill/>
          </p:spPr>
          <p:txBody>
            <a:bodyPr wrap="square" rtlCol="0">
              <a:spAutoFit/>
            </a:bodyPr>
            <a:lstStyle/>
            <a:p>
              <a:r>
                <a:rPr lang="en-US" b="1" i="1" dirty="0">
                  <a:solidFill>
                    <a:schemeClr val="bg1"/>
                  </a:solidFill>
                </a:rPr>
                <a:t>This IS Optimal</a:t>
              </a:r>
            </a:p>
          </p:txBody>
        </p:sp>
        <mc:AlternateContent xmlns:mc="http://schemas.openxmlformats.org/markup-compatibility/2006">
          <mc:Choice xmlns:a14="http://schemas.microsoft.com/office/drawing/2010/main" Requires="a14">
            <p:sp>
              <p:nvSpPr>
                <p:cNvPr id="13" name="Rectangle 12">
                  <a:extLst>
                    <a:ext uri="{FF2B5EF4-FFF2-40B4-BE49-F238E27FC236}">
                      <a16:creationId xmlns:a16="http://schemas.microsoft.com/office/drawing/2014/main" id="{A720BC4F-5E05-C5F3-8B63-AD0D4CC3A248}"/>
                    </a:ext>
                  </a:extLst>
                </p:cNvPr>
                <p:cNvSpPr/>
                <p:nvPr/>
              </p:nvSpPr>
              <p:spPr>
                <a:xfrm>
                  <a:off x="8675853" y="4742586"/>
                  <a:ext cx="1251752" cy="1099028"/>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p:sp>
              <p:nvSpPr>
                <p:cNvPr id="13" name="Rectangle 12">
                  <a:extLst>
                    <a:ext uri="{FF2B5EF4-FFF2-40B4-BE49-F238E27FC236}">
                      <a16:creationId xmlns:a16="http://schemas.microsoft.com/office/drawing/2014/main" id="{A720BC4F-5E05-C5F3-8B63-AD0D4CC3A248}"/>
                    </a:ext>
                  </a:extLst>
                </p:cNvPr>
                <p:cNvSpPr>
                  <a:spLocks noRot="1" noChangeAspect="1" noMove="1" noResize="1" noEditPoints="1" noAdjustHandles="1" noChangeArrowheads="1" noChangeShapeType="1" noTextEdit="1"/>
                </p:cNvSpPr>
                <p:nvPr/>
              </p:nvSpPr>
              <p:spPr>
                <a:xfrm>
                  <a:off x="8675853" y="4742586"/>
                  <a:ext cx="1251752" cy="1099028"/>
                </a:xfrm>
                <a:prstGeom prst="rect">
                  <a:avLst/>
                </a:prstGeom>
                <a:blipFill>
                  <a:blip r:embed="rId1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 name="Rectangle 33">
                  <a:extLst>
                    <a:ext uri="{FF2B5EF4-FFF2-40B4-BE49-F238E27FC236}">
                      <a16:creationId xmlns:a16="http://schemas.microsoft.com/office/drawing/2014/main" id="{14C73D4D-152C-2E55-958F-EB681566E840}"/>
                    </a:ext>
                  </a:extLst>
                </p:cNvPr>
                <p:cNvSpPr/>
                <p:nvPr/>
              </p:nvSpPr>
              <p:spPr>
                <a:xfrm>
                  <a:off x="8682324"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p:sp>
              <p:nvSpPr>
                <p:cNvPr id="34" name="Rectangle 33">
                  <a:extLst>
                    <a:ext uri="{FF2B5EF4-FFF2-40B4-BE49-F238E27FC236}">
                      <a16:creationId xmlns:a16="http://schemas.microsoft.com/office/drawing/2014/main" id="{14C73D4D-152C-2E55-958F-EB681566E840}"/>
                    </a:ext>
                  </a:extLst>
                </p:cNvPr>
                <p:cNvSpPr>
                  <a:spLocks noRot="1" noChangeAspect="1" noMove="1" noResize="1" noEditPoints="1" noAdjustHandles="1" noChangeArrowheads="1" noChangeShapeType="1" noTextEdit="1"/>
                </p:cNvSpPr>
                <p:nvPr/>
              </p:nvSpPr>
              <p:spPr>
                <a:xfrm>
                  <a:off x="8682324" y="6073368"/>
                  <a:ext cx="1251752" cy="295495"/>
                </a:xfrm>
                <a:prstGeom prst="rect">
                  <a:avLst/>
                </a:prstGeom>
                <a:blipFill>
                  <a:blip r:embed="rId14"/>
                  <a:stretch>
                    <a:fillRect/>
                  </a:stretch>
                </a:blipFill>
                <a:ln>
                  <a:solidFill>
                    <a:schemeClr val="bg1"/>
                  </a:solidFill>
                </a:ln>
              </p:spPr>
              <p:txBody>
                <a:bodyPr/>
                <a:lstStyle/>
                <a:p>
                  <a:r>
                    <a:rPr lang="en-US">
                      <a:noFill/>
                    </a:rPr>
                    <a:t> </a:t>
                  </a:r>
                </a:p>
              </p:txBody>
            </p:sp>
          </mc:Fallback>
        </mc:AlternateContent>
        <p:sp>
          <p:nvSpPr>
            <p:cNvPr id="35" name="TextBox 34">
              <a:extLst>
                <a:ext uri="{FF2B5EF4-FFF2-40B4-BE49-F238E27FC236}">
                  <a16:creationId xmlns:a16="http://schemas.microsoft.com/office/drawing/2014/main" id="{A4F8A3CB-133F-F549-0FA1-44A740BA7594}"/>
                </a:ext>
              </a:extLst>
            </p:cNvPr>
            <p:cNvSpPr txBox="1"/>
            <p:nvPr/>
          </p:nvSpPr>
          <p:spPr>
            <a:xfrm>
              <a:off x="9071576" y="5694411"/>
              <a:ext cx="415498" cy="369332"/>
            </a:xfrm>
            <a:prstGeom prst="rect">
              <a:avLst/>
            </a:prstGeom>
            <a:noFill/>
          </p:spPr>
          <p:txBody>
            <a:bodyPr wrap="none" rtlCol="0">
              <a:spAutoFit/>
            </a:bodyPr>
            <a:lstStyle/>
            <a:p>
              <a:r>
                <a:rPr lang="en-US" dirty="0"/>
                <a:t>…</a:t>
              </a:r>
            </a:p>
          </p:txBody>
        </p:sp>
        <p:sp>
          <p:nvSpPr>
            <p:cNvPr id="36" name="Left Brace 35">
              <a:extLst>
                <a:ext uri="{FF2B5EF4-FFF2-40B4-BE49-F238E27FC236}">
                  <a16:creationId xmlns:a16="http://schemas.microsoft.com/office/drawing/2014/main" id="{0A1C1FFA-7766-8EA2-92EB-FD4C0ABBA115}"/>
                </a:ext>
              </a:extLst>
            </p:cNvPr>
            <p:cNvSpPr/>
            <p:nvPr/>
          </p:nvSpPr>
          <p:spPr>
            <a:xfrm>
              <a:off x="8131741" y="4282843"/>
              <a:ext cx="315327" cy="2146832"/>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FAC2EFF1-1017-088A-A34A-83B921F4589F}"/>
                    </a:ext>
                  </a:extLst>
                </p:cNvPr>
                <p:cNvSpPr txBox="1"/>
                <p:nvPr/>
              </p:nvSpPr>
              <p:spPr>
                <a:xfrm>
                  <a:off x="7371412" y="5154888"/>
                  <a:ext cx="83579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m:t>
                        </m:r>
                        <m:sSub>
                          <m:sSubPr>
                            <m:ctrlPr>
                              <a:rPr lang="en-US" b="0" i="1" smtClean="0">
                                <a:solidFill>
                                  <a:schemeClr val="accent2"/>
                                </a:solidFill>
                                <a:latin typeface="Cambria Math" panose="02040503050406030204" pitchFamily="18" charset="0"/>
                              </a:rPr>
                            </m:ctrlPr>
                          </m:sSubPr>
                          <m:e>
                            <m:r>
                              <a:rPr lang="en-US" b="0" i="1" smtClean="0">
                                <a:solidFill>
                                  <a:schemeClr val="accent2"/>
                                </a:solidFill>
                                <a:latin typeface="Cambria Math" panose="02040503050406030204" pitchFamily="18" charset="0"/>
                              </a:rPr>
                              <m:t>𝑥</m:t>
                            </m:r>
                          </m:e>
                          <m:sub>
                            <m:r>
                              <a:rPr lang="en-US" b="0" i="1" smtClean="0">
                                <a:solidFill>
                                  <a:schemeClr val="accent2"/>
                                </a:solidFill>
                                <a:latin typeface="Cambria Math" panose="02040503050406030204" pitchFamily="18" charset="0"/>
                              </a:rPr>
                              <m:t>1</m:t>
                            </m:r>
                          </m:sub>
                        </m:sSub>
                      </m:oMath>
                    </m:oMathPara>
                  </a14:m>
                  <a:endParaRPr lang="en-US" dirty="0">
                    <a:solidFill>
                      <a:schemeClr val="accent2"/>
                    </a:solidFill>
                  </a:endParaRPr>
                </a:p>
              </p:txBody>
            </p:sp>
          </mc:Choice>
          <mc:Fallback>
            <p:sp>
              <p:nvSpPr>
                <p:cNvPr id="37" name="TextBox 36">
                  <a:extLst>
                    <a:ext uri="{FF2B5EF4-FFF2-40B4-BE49-F238E27FC236}">
                      <a16:creationId xmlns:a16="http://schemas.microsoft.com/office/drawing/2014/main" id="{FAC2EFF1-1017-088A-A34A-83B921F4589F}"/>
                    </a:ext>
                  </a:extLst>
                </p:cNvPr>
                <p:cNvSpPr txBox="1">
                  <a:spLocks noRot="1" noChangeAspect="1" noMove="1" noResize="1" noEditPoints="1" noAdjustHandles="1" noChangeArrowheads="1" noChangeShapeType="1" noTextEdit="1"/>
                </p:cNvSpPr>
                <p:nvPr/>
              </p:nvSpPr>
              <p:spPr>
                <a:xfrm>
                  <a:off x="7371412" y="5154888"/>
                  <a:ext cx="835794" cy="369332"/>
                </a:xfrm>
                <a:prstGeom prst="rect">
                  <a:avLst/>
                </a:prstGeom>
                <a:blipFill>
                  <a:blip r:embed="rId15"/>
                  <a:stretch>
                    <a:fillRect/>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AB6DEFCC-6A5C-4139-EC3D-6E6F5C74D3AD}"/>
                  </a:ext>
                </a:extLst>
              </p:cNvPr>
              <p:cNvSpPr txBox="1"/>
              <p:nvPr/>
            </p:nvSpPr>
            <p:spPr>
              <a:xfrm>
                <a:off x="7016691" y="2698629"/>
                <a:ext cx="2857193" cy="369332"/>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m:t>
                        </m:r>
                      </m:e>
                    </m:d>
                    <m:r>
                      <a:rPr lang="en-US" b="0" i="1" smtClean="0">
                        <a:latin typeface="Cambria Math" panose="02040503050406030204" pitchFamily="18" charset="0"/>
                      </a:rPr>
                      <m:t>&gt;</m:t>
                    </m:r>
                    <m:r>
                      <a:rPr lang="en-US" b="0" i="1" smtClean="0">
                        <a:latin typeface="Cambria Math" panose="02040503050406030204" pitchFamily="18" charset="0"/>
                      </a:rPr>
                      <m:t>𝑉</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dirty="0"/>
                  <a:t> </a:t>
                </a:r>
              </a:p>
            </p:txBody>
          </p:sp>
        </mc:Choice>
        <mc:Fallback>
          <p:sp>
            <p:nvSpPr>
              <p:cNvPr id="38" name="TextBox 37">
                <a:extLst>
                  <a:ext uri="{FF2B5EF4-FFF2-40B4-BE49-F238E27FC236}">
                    <a16:creationId xmlns:a16="http://schemas.microsoft.com/office/drawing/2014/main" id="{AB6DEFCC-6A5C-4139-EC3D-6E6F5C74D3AD}"/>
                  </a:ext>
                </a:extLst>
              </p:cNvPr>
              <p:cNvSpPr txBox="1">
                <a:spLocks noRot="1" noChangeAspect="1" noMove="1" noResize="1" noEditPoints="1" noAdjustHandles="1" noChangeArrowheads="1" noChangeShapeType="1" noTextEdit="1"/>
              </p:cNvSpPr>
              <p:nvPr/>
            </p:nvSpPr>
            <p:spPr>
              <a:xfrm>
                <a:off x="7016691" y="2698629"/>
                <a:ext cx="2857193" cy="369332"/>
              </a:xfrm>
              <a:prstGeom prst="rect">
                <a:avLst/>
              </a:prstGeom>
              <a:blipFill>
                <a:blip r:embed="rId16"/>
                <a:stretch>
                  <a:fillRect l="-1762" t="-6667" b="-26667"/>
                </a:stretch>
              </a:blipFill>
              <a:ln>
                <a:solidFill>
                  <a:schemeClr val="tx1">
                    <a:lumMod val="95000"/>
                  </a:schemeClr>
                </a:solidFill>
              </a:ln>
            </p:spPr>
            <p:txBody>
              <a:bodyPr/>
              <a:lstStyle/>
              <a:p>
                <a:r>
                  <a:rPr lang="en-US">
                    <a:noFill/>
                  </a:rPr>
                  <a:t> </a:t>
                </a:r>
              </a:p>
            </p:txBody>
          </p:sp>
        </mc:Fallback>
      </mc:AlternateContent>
      <p:sp>
        <p:nvSpPr>
          <p:cNvPr id="39" name="TextBox 38">
            <a:extLst>
              <a:ext uri="{FF2B5EF4-FFF2-40B4-BE49-F238E27FC236}">
                <a16:creationId xmlns:a16="http://schemas.microsoft.com/office/drawing/2014/main" id="{8DA42D55-B140-9AE0-8253-733B47C1BC7E}"/>
              </a:ext>
            </a:extLst>
          </p:cNvPr>
          <p:cNvSpPr txBox="1"/>
          <p:nvPr/>
        </p:nvSpPr>
        <p:spPr>
          <a:xfrm>
            <a:off x="5254056" y="4208649"/>
            <a:ext cx="1311715" cy="861774"/>
          </a:xfrm>
          <a:prstGeom prst="rect">
            <a:avLst/>
          </a:prstGeom>
          <a:noFill/>
        </p:spPr>
        <p:txBody>
          <a:bodyPr wrap="square" lIns="0" tIns="0" rIns="0" bIns="0" rtlCol="0">
            <a:spAutoFit/>
          </a:bodyPr>
          <a:lstStyle/>
          <a:p>
            <a:pPr algn="ctr"/>
            <a:r>
              <a:rPr lang="en-US" sz="1400" dirty="0"/>
              <a:t>There must be a better way to fill this part of the knapsack</a:t>
            </a:r>
          </a:p>
        </p:txBody>
      </p:sp>
    </p:spTree>
    <p:extLst>
      <p:ext uri="{BB962C8B-B14F-4D97-AF65-F5344CB8AC3E}">
        <p14:creationId xmlns:p14="http://schemas.microsoft.com/office/powerpoint/2010/main" val="4929997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500B8-C0E0-BEA9-3B5C-D22D31C3DB7D}"/>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4B70A762-CB4C-4474-5066-ED284ED256C2}"/>
              </a:ext>
            </a:extLst>
          </p:cNvPr>
          <p:cNvSpPr>
            <a:spLocks noGrp="1" noChangeArrowheads="1"/>
          </p:cNvSpPr>
          <p:nvPr>
            <p:ph type="title"/>
            <p:custDataLst>
              <p:tags r:id="rId1"/>
            </p:custDataLst>
          </p:nvPr>
        </p:nvSpPr>
        <p:spPr>
          <a:xfrm>
            <a:off x="1143001" y="157346"/>
            <a:ext cx="9905998" cy="677622"/>
          </a:xfrm>
        </p:spPr>
        <p:txBody>
          <a:bodyPr/>
          <a:lstStyle/>
          <a:p>
            <a:pPr algn="ctr"/>
            <a:r>
              <a:rPr lang="en-US" dirty="0">
                <a:latin typeface="Arial" charset="0"/>
                <a:ea typeface="ＭＳ Ｐゴシック" charset="0"/>
                <a:cs typeface="ＭＳ Ｐゴシック" charset="0"/>
              </a:rPr>
              <a:t>Aside: Optimal Substructure</a:t>
            </a:r>
          </a:p>
        </p:txBody>
      </p:sp>
      <mc:AlternateContent xmlns:mc="http://schemas.openxmlformats.org/markup-compatibility/2006">
        <mc:Choice xmlns:a14="http://schemas.microsoft.com/office/drawing/2010/main" Requires="a14">
          <p:sp>
            <p:nvSpPr>
              <p:cNvPr id="2" name="Rectangle 3">
                <a:extLst>
                  <a:ext uri="{FF2B5EF4-FFF2-40B4-BE49-F238E27FC236}">
                    <a16:creationId xmlns:a16="http://schemas.microsoft.com/office/drawing/2014/main" id="{27687870-6A9B-ED96-191C-96F0C0420C67}"/>
                  </a:ext>
                </a:extLst>
              </p:cNvPr>
              <p:cNvSpPr txBox="1">
                <a:spLocks noChangeArrowheads="1"/>
              </p:cNvSpPr>
              <p:nvPr>
                <p:custDataLst>
                  <p:tags r:id="rId2"/>
                </p:custDataLst>
              </p:nvPr>
            </p:nvSpPr>
            <p:spPr>
              <a:xfrm>
                <a:off x="2860307" y="1011677"/>
                <a:ext cx="6471385" cy="1136711"/>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ea typeface="ＭＳ Ｐゴシック" charset="0"/>
                  </a:rPr>
                  <a:t>Step 3</a:t>
                </a:r>
                <a:r>
                  <a:rPr lang="en-US" dirty="0">
                    <a:solidFill>
                      <a:schemeClr val="bg1"/>
                    </a:solidFill>
                    <a:ea typeface="ＭＳ Ｐゴシック" charset="0"/>
                  </a:rPr>
                  <a:t>: There must be some BETTER way to use </a:t>
                </a:r>
                <a14:m>
                  <m:oMath xmlns:m="http://schemas.openxmlformats.org/officeDocument/2006/math">
                    <m:r>
                      <a:rPr lang="en-US" b="0" i="1" smtClean="0">
                        <a:solidFill>
                          <a:schemeClr val="accent1"/>
                        </a:solidFill>
                        <a:latin typeface="Cambria Math" panose="02040503050406030204" pitchFamily="18" charset="0"/>
                      </a:rPr>
                      <m:t>𝑋</m:t>
                    </m:r>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a14:m>
                <a:r>
                  <a:rPr lang="en-US" dirty="0">
                    <a:solidFill>
                      <a:schemeClr val="accent1"/>
                    </a:solidFill>
                  </a:rPr>
                  <a:t> </a:t>
                </a:r>
                <a:r>
                  <a:rPr lang="en-US" dirty="0">
                    <a:solidFill>
                      <a:schemeClr val="bg1"/>
                    </a:solidFill>
                  </a:rPr>
                  <a:t>to fill a knapsack of size </a:t>
                </a:r>
                <a14:m>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bg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a14:m>
                <a:endParaRPr lang="en-US" dirty="0">
                  <a:solidFill>
                    <a:schemeClr val="bg1"/>
                  </a:solidFill>
                </a:endParaRPr>
              </a:p>
            </p:txBody>
          </p:sp>
        </mc:Choice>
        <mc:Fallback>
          <p:sp>
            <p:nvSpPr>
              <p:cNvPr id="2" name="Rectangle 3">
                <a:extLst>
                  <a:ext uri="{FF2B5EF4-FFF2-40B4-BE49-F238E27FC236}">
                    <a16:creationId xmlns:a16="http://schemas.microsoft.com/office/drawing/2014/main" id="{27687870-6A9B-ED96-191C-96F0C0420C67}"/>
                  </a:ext>
                </a:extLst>
              </p:cNvPr>
              <p:cNvSpPr txBox="1">
                <a:spLocks noRot="1" noChangeAspect="1" noMove="1" noResize="1" noEditPoints="1" noAdjustHandles="1" noChangeArrowheads="1" noChangeShapeType="1" noTextEdit="1"/>
              </p:cNvSpPr>
              <p:nvPr>
                <p:custDataLst>
                  <p:tags r:id="rId2"/>
                </p:custDataLst>
              </p:nvPr>
            </p:nvSpPr>
            <p:spPr>
              <a:xfrm>
                <a:off x="2860307" y="1011677"/>
                <a:ext cx="6471385" cy="1136711"/>
              </a:xfrm>
              <a:prstGeom prst="rect">
                <a:avLst/>
              </a:prstGeom>
              <a:blipFill>
                <a:blip r:embed="rId5"/>
                <a:stretch>
                  <a:fillRect l="-1367" t="-1099"/>
                </a:stretch>
              </a:blipFill>
              <a:ln>
                <a:solidFill>
                  <a:schemeClr val="bg1"/>
                </a:solidFill>
              </a:ln>
            </p:spPr>
            <p:txBody>
              <a:bodyPr/>
              <a:lstStyle/>
              <a:p>
                <a:r>
                  <a:rPr lang="en-US">
                    <a:noFill/>
                  </a:rPr>
                  <a:t> </a:t>
                </a:r>
              </a:p>
            </p:txBody>
          </p:sp>
        </mc:Fallback>
      </mc:AlternateContent>
      <p:sp>
        <p:nvSpPr>
          <p:cNvPr id="3" name="Right Arrow 2">
            <a:extLst>
              <a:ext uri="{FF2B5EF4-FFF2-40B4-BE49-F238E27FC236}">
                <a16:creationId xmlns:a16="http://schemas.microsoft.com/office/drawing/2014/main" id="{14795741-DFFB-0A91-48EA-CE4F41EDD5FF}"/>
              </a:ext>
            </a:extLst>
          </p:cNvPr>
          <p:cNvSpPr/>
          <p:nvPr/>
        </p:nvSpPr>
        <p:spPr>
          <a:xfrm>
            <a:off x="3330724" y="4983555"/>
            <a:ext cx="1357659" cy="505656"/>
          </a:xfrm>
          <a:prstGeom prst="right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F8299D60-7E88-4F0D-3C27-3C58AABCCEEB}"/>
                  </a:ext>
                </a:extLst>
              </p:cNvPr>
              <p:cNvSpPr txBox="1"/>
              <p:nvPr/>
            </p:nvSpPr>
            <p:spPr>
              <a:xfrm>
                <a:off x="413758" y="2698629"/>
                <a:ext cx="2857193" cy="369332"/>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m:t>
                        </m:r>
                      </m:e>
                    </m:d>
                    <m:r>
                      <a:rPr lang="en-US" b="0" i="1" smtClean="0">
                        <a:latin typeface="Cambria Math" panose="02040503050406030204" pitchFamily="18" charset="0"/>
                      </a:rPr>
                      <m:t>&gt;</m:t>
                    </m:r>
                    <m:r>
                      <a:rPr lang="en-US" b="0" i="1" smtClean="0">
                        <a:latin typeface="Cambria Math" panose="02040503050406030204" pitchFamily="18" charset="0"/>
                      </a:rPr>
                      <m:t>𝑉</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dirty="0"/>
                  <a:t> </a:t>
                </a:r>
              </a:p>
            </p:txBody>
          </p:sp>
        </mc:Choice>
        <mc:Fallback>
          <p:sp>
            <p:nvSpPr>
              <p:cNvPr id="38" name="TextBox 37">
                <a:extLst>
                  <a:ext uri="{FF2B5EF4-FFF2-40B4-BE49-F238E27FC236}">
                    <a16:creationId xmlns:a16="http://schemas.microsoft.com/office/drawing/2014/main" id="{F8299D60-7E88-4F0D-3C27-3C58AABCCEEB}"/>
                  </a:ext>
                </a:extLst>
              </p:cNvPr>
              <p:cNvSpPr txBox="1">
                <a:spLocks noRot="1" noChangeAspect="1" noMove="1" noResize="1" noEditPoints="1" noAdjustHandles="1" noChangeArrowheads="1" noChangeShapeType="1" noTextEdit="1"/>
              </p:cNvSpPr>
              <p:nvPr/>
            </p:nvSpPr>
            <p:spPr>
              <a:xfrm>
                <a:off x="413758" y="2698629"/>
                <a:ext cx="2857193" cy="369332"/>
              </a:xfrm>
              <a:prstGeom prst="rect">
                <a:avLst/>
              </a:prstGeom>
              <a:blipFill>
                <a:blip r:embed="rId6"/>
                <a:stretch>
                  <a:fillRect l="-1762" t="-6667" b="-26667"/>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9" name="TextBox 38">
                <a:extLst>
                  <a:ext uri="{FF2B5EF4-FFF2-40B4-BE49-F238E27FC236}">
                    <a16:creationId xmlns:a16="http://schemas.microsoft.com/office/drawing/2014/main" id="{5685723F-552E-91C8-01C1-2802337D5989}"/>
                  </a:ext>
                </a:extLst>
              </p:cNvPr>
              <p:cNvSpPr txBox="1"/>
              <p:nvPr/>
            </p:nvSpPr>
            <p:spPr>
              <a:xfrm>
                <a:off x="3387833" y="4220720"/>
                <a:ext cx="1311715" cy="646331"/>
              </a:xfrm>
              <a:prstGeom prst="rect">
                <a:avLst/>
              </a:prstGeom>
              <a:noFill/>
            </p:spPr>
            <p:txBody>
              <a:bodyPr wrap="square" lIns="0" tIns="0" rIns="0" bIns="0" rtlCol="0">
                <a:spAutoFit/>
              </a:bodyPr>
              <a:lstStyle/>
              <a:p>
                <a:pPr algn="ctr"/>
                <a:r>
                  <a:rPr lang="en-US" sz="1400" dirty="0"/>
                  <a:t>Take this better way and add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oMath>
                </a14:m>
                <a:r>
                  <a:rPr lang="en-US" sz="1400" dirty="0"/>
                  <a:t> back into it</a:t>
                </a:r>
              </a:p>
            </p:txBody>
          </p:sp>
        </mc:Choice>
        <mc:Fallback>
          <p:sp>
            <p:nvSpPr>
              <p:cNvPr id="39" name="TextBox 38">
                <a:extLst>
                  <a:ext uri="{FF2B5EF4-FFF2-40B4-BE49-F238E27FC236}">
                    <a16:creationId xmlns:a16="http://schemas.microsoft.com/office/drawing/2014/main" id="{5685723F-552E-91C8-01C1-2802337D5989}"/>
                  </a:ext>
                </a:extLst>
              </p:cNvPr>
              <p:cNvSpPr txBox="1">
                <a:spLocks noRot="1" noChangeAspect="1" noMove="1" noResize="1" noEditPoints="1" noAdjustHandles="1" noChangeArrowheads="1" noChangeShapeType="1" noTextEdit="1"/>
              </p:cNvSpPr>
              <p:nvPr/>
            </p:nvSpPr>
            <p:spPr>
              <a:xfrm>
                <a:off x="3387833" y="4220720"/>
                <a:ext cx="1311715" cy="646331"/>
              </a:xfrm>
              <a:prstGeom prst="rect">
                <a:avLst/>
              </a:prstGeom>
              <a:blipFill>
                <a:blip r:embed="rId7"/>
                <a:stretch>
                  <a:fillRect l="-2857" t="-9615" r="-2857" b="-17308"/>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0584F95-2F99-17EB-4A21-34DE148FF755}"/>
              </a:ext>
            </a:extLst>
          </p:cNvPr>
          <p:cNvGrpSpPr/>
          <p:nvPr/>
        </p:nvGrpSpPr>
        <p:grpSpPr>
          <a:xfrm>
            <a:off x="402593" y="3141163"/>
            <a:ext cx="2868358" cy="3136900"/>
            <a:chOff x="7371412" y="3429000"/>
            <a:chExt cx="2868358" cy="3136900"/>
          </a:xfrm>
        </p:grpSpPr>
        <p:sp>
          <p:nvSpPr>
            <p:cNvPr id="6" name="Rectangle 5">
              <a:extLst>
                <a:ext uri="{FF2B5EF4-FFF2-40B4-BE49-F238E27FC236}">
                  <a16:creationId xmlns:a16="http://schemas.microsoft.com/office/drawing/2014/main" id="{4B8929B3-9501-D0BA-84C6-903E89B954D0}"/>
                </a:ext>
              </a:extLst>
            </p:cNvPr>
            <p:cNvSpPr/>
            <p:nvPr/>
          </p:nvSpPr>
          <p:spPr>
            <a:xfrm>
              <a:off x="7382577" y="3429000"/>
              <a:ext cx="2857193" cy="3136900"/>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 name="Rectangle 7">
              <a:extLst>
                <a:ext uri="{FF2B5EF4-FFF2-40B4-BE49-F238E27FC236}">
                  <a16:creationId xmlns:a16="http://schemas.microsoft.com/office/drawing/2014/main" id="{1C53975E-443F-D818-5C8E-4AF49F2A1865}"/>
                </a:ext>
              </a:extLst>
            </p:cNvPr>
            <p:cNvSpPr/>
            <p:nvPr/>
          </p:nvSpPr>
          <p:spPr>
            <a:xfrm>
              <a:off x="8558225" y="4282843"/>
              <a:ext cx="1487008" cy="214683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10" name="Rectangle 9">
                  <a:extLst>
                    <a:ext uri="{FF2B5EF4-FFF2-40B4-BE49-F238E27FC236}">
                      <a16:creationId xmlns:a16="http://schemas.microsoft.com/office/drawing/2014/main" id="{8B0DE424-4D3F-F00E-1CDE-9BEB584E09AF}"/>
                    </a:ext>
                  </a:extLst>
                </p:cNvPr>
                <p:cNvSpPr/>
                <p:nvPr/>
              </p:nvSpPr>
              <p:spPr>
                <a:xfrm>
                  <a:off x="8675853" y="4337534"/>
                  <a:ext cx="1251752" cy="3350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p:sp>
              <p:nvSpPr>
                <p:cNvPr id="10" name="Rectangle 9">
                  <a:extLst>
                    <a:ext uri="{FF2B5EF4-FFF2-40B4-BE49-F238E27FC236}">
                      <a16:creationId xmlns:a16="http://schemas.microsoft.com/office/drawing/2014/main" id="{8B0DE424-4D3F-F00E-1CDE-9BEB584E09AF}"/>
                    </a:ext>
                  </a:extLst>
                </p:cNvPr>
                <p:cNvSpPr>
                  <a:spLocks noRot="1" noChangeAspect="1" noMove="1" noResize="1" noEditPoints="1" noAdjustHandles="1" noChangeArrowheads="1" noChangeShapeType="1" noTextEdit="1"/>
                </p:cNvSpPr>
                <p:nvPr/>
              </p:nvSpPr>
              <p:spPr>
                <a:xfrm>
                  <a:off x="8675853" y="4337534"/>
                  <a:ext cx="1251752" cy="335053"/>
                </a:xfrm>
                <a:prstGeom prst="rect">
                  <a:avLst/>
                </a:prstGeom>
                <a:blipFill>
                  <a:blip r:embed="rId8"/>
                  <a:stretch>
                    <a:fillRect/>
                  </a:stretch>
                </a:blipFill>
                <a:ln>
                  <a:solidFill>
                    <a:schemeClr val="bg1"/>
                  </a:solidFill>
                </a:ln>
              </p:spPr>
              <p:txBody>
                <a:bodyPr/>
                <a:lstStyle/>
                <a:p>
                  <a:r>
                    <a:rPr lang="en-US">
                      <a:noFill/>
                    </a:rPr>
                    <a:t> </a:t>
                  </a:r>
                </a:p>
              </p:txBody>
            </p:sp>
          </mc:Fallback>
        </mc:AlternateContent>
        <p:sp>
          <p:nvSpPr>
            <p:cNvPr id="14" name="TextBox 13">
              <a:extLst>
                <a:ext uri="{FF2B5EF4-FFF2-40B4-BE49-F238E27FC236}">
                  <a16:creationId xmlns:a16="http://schemas.microsoft.com/office/drawing/2014/main" id="{31C198AA-7AE4-682F-3F1D-9D1417F9378A}"/>
                </a:ext>
              </a:extLst>
            </p:cNvPr>
            <p:cNvSpPr txBox="1"/>
            <p:nvPr/>
          </p:nvSpPr>
          <p:spPr>
            <a:xfrm>
              <a:off x="8558225" y="3526717"/>
              <a:ext cx="1617659" cy="369332"/>
            </a:xfrm>
            <a:prstGeom prst="rect">
              <a:avLst/>
            </a:prstGeom>
            <a:noFill/>
          </p:spPr>
          <p:txBody>
            <a:bodyPr wrap="square" rtlCol="0">
              <a:spAutoFit/>
            </a:bodyPr>
            <a:lstStyle/>
            <a:p>
              <a:r>
                <a:rPr lang="en-US" b="1" i="1" dirty="0">
                  <a:solidFill>
                    <a:schemeClr val="bg1"/>
                  </a:solidFill>
                </a:rPr>
                <a:t>This IS Optimal</a:t>
              </a:r>
            </a:p>
          </p:txBody>
        </p:sp>
        <mc:AlternateContent xmlns:mc="http://schemas.openxmlformats.org/markup-compatibility/2006">
          <mc:Choice xmlns:a14="http://schemas.microsoft.com/office/drawing/2010/main" Requires="a14">
            <p:sp>
              <p:nvSpPr>
                <p:cNvPr id="15" name="Rectangle 14">
                  <a:extLst>
                    <a:ext uri="{FF2B5EF4-FFF2-40B4-BE49-F238E27FC236}">
                      <a16:creationId xmlns:a16="http://schemas.microsoft.com/office/drawing/2014/main" id="{4AEAE466-5AC3-BC2F-A20E-6B8827F23B23}"/>
                    </a:ext>
                  </a:extLst>
                </p:cNvPr>
                <p:cNvSpPr/>
                <p:nvPr/>
              </p:nvSpPr>
              <p:spPr>
                <a:xfrm>
                  <a:off x="8675853" y="4742586"/>
                  <a:ext cx="1251752" cy="1099028"/>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p:sp>
              <p:nvSpPr>
                <p:cNvPr id="15" name="Rectangle 14">
                  <a:extLst>
                    <a:ext uri="{FF2B5EF4-FFF2-40B4-BE49-F238E27FC236}">
                      <a16:creationId xmlns:a16="http://schemas.microsoft.com/office/drawing/2014/main" id="{4AEAE466-5AC3-BC2F-A20E-6B8827F23B23}"/>
                    </a:ext>
                  </a:extLst>
                </p:cNvPr>
                <p:cNvSpPr>
                  <a:spLocks noRot="1" noChangeAspect="1" noMove="1" noResize="1" noEditPoints="1" noAdjustHandles="1" noChangeArrowheads="1" noChangeShapeType="1" noTextEdit="1"/>
                </p:cNvSpPr>
                <p:nvPr/>
              </p:nvSpPr>
              <p:spPr>
                <a:xfrm>
                  <a:off x="8675853" y="4742586"/>
                  <a:ext cx="1251752" cy="1099028"/>
                </a:xfrm>
                <a:prstGeom prst="rect">
                  <a:avLst/>
                </a:prstGeom>
                <a:blipFill>
                  <a:blip r:embed="rId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Rectangle 15">
                  <a:extLst>
                    <a:ext uri="{FF2B5EF4-FFF2-40B4-BE49-F238E27FC236}">
                      <a16:creationId xmlns:a16="http://schemas.microsoft.com/office/drawing/2014/main" id="{1B9ECFC9-A80B-0E31-9C17-D4FA21970736}"/>
                    </a:ext>
                  </a:extLst>
                </p:cNvPr>
                <p:cNvSpPr/>
                <p:nvPr/>
              </p:nvSpPr>
              <p:spPr>
                <a:xfrm>
                  <a:off x="8682324"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p:sp>
              <p:nvSpPr>
                <p:cNvPr id="16" name="Rectangle 15">
                  <a:extLst>
                    <a:ext uri="{FF2B5EF4-FFF2-40B4-BE49-F238E27FC236}">
                      <a16:creationId xmlns:a16="http://schemas.microsoft.com/office/drawing/2014/main" id="{1B9ECFC9-A80B-0E31-9C17-D4FA21970736}"/>
                    </a:ext>
                  </a:extLst>
                </p:cNvPr>
                <p:cNvSpPr>
                  <a:spLocks noRot="1" noChangeAspect="1" noMove="1" noResize="1" noEditPoints="1" noAdjustHandles="1" noChangeArrowheads="1" noChangeShapeType="1" noTextEdit="1"/>
                </p:cNvSpPr>
                <p:nvPr/>
              </p:nvSpPr>
              <p:spPr>
                <a:xfrm>
                  <a:off x="8682324" y="6073368"/>
                  <a:ext cx="1251752" cy="295495"/>
                </a:xfrm>
                <a:prstGeom prst="rect">
                  <a:avLst/>
                </a:prstGeom>
                <a:blipFill>
                  <a:blip r:embed="rId10"/>
                  <a:stretch>
                    <a:fillRect/>
                  </a:stretch>
                </a:blipFill>
                <a:ln>
                  <a:solidFill>
                    <a:schemeClr val="bg1"/>
                  </a:solidFill>
                </a:ln>
              </p:spPr>
              <p:txBody>
                <a:bodyPr/>
                <a:lstStyle/>
                <a:p>
                  <a:r>
                    <a:rPr lang="en-US">
                      <a:noFill/>
                    </a:rPr>
                    <a:t> </a:t>
                  </a:r>
                </a:p>
              </p:txBody>
            </p:sp>
          </mc:Fallback>
        </mc:AlternateContent>
        <p:sp>
          <p:nvSpPr>
            <p:cNvPr id="17" name="TextBox 16">
              <a:extLst>
                <a:ext uri="{FF2B5EF4-FFF2-40B4-BE49-F238E27FC236}">
                  <a16:creationId xmlns:a16="http://schemas.microsoft.com/office/drawing/2014/main" id="{67243260-1CF5-E86E-2918-8F14BB17673F}"/>
                </a:ext>
              </a:extLst>
            </p:cNvPr>
            <p:cNvSpPr txBox="1"/>
            <p:nvPr/>
          </p:nvSpPr>
          <p:spPr>
            <a:xfrm>
              <a:off x="9071576" y="5694411"/>
              <a:ext cx="415498" cy="369332"/>
            </a:xfrm>
            <a:prstGeom prst="rect">
              <a:avLst/>
            </a:prstGeom>
            <a:noFill/>
          </p:spPr>
          <p:txBody>
            <a:bodyPr wrap="none" rtlCol="0">
              <a:spAutoFit/>
            </a:bodyPr>
            <a:lstStyle/>
            <a:p>
              <a:r>
                <a:rPr lang="en-US" dirty="0"/>
                <a:t>…</a:t>
              </a:r>
            </a:p>
          </p:txBody>
        </p:sp>
        <p:sp>
          <p:nvSpPr>
            <p:cNvPr id="18" name="Left Brace 17">
              <a:extLst>
                <a:ext uri="{FF2B5EF4-FFF2-40B4-BE49-F238E27FC236}">
                  <a16:creationId xmlns:a16="http://schemas.microsoft.com/office/drawing/2014/main" id="{5AF32DFD-C0D5-CA71-E2D8-A84718DBB199}"/>
                </a:ext>
              </a:extLst>
            </p:cNvPr>
            <p:cNvSpPr/>
            <p:nvPr/>
          </p:nvSpPr>
          <p:spPr>
            <a:xfrm>
              <a:off x="8131741" y="4282843"/>
              <a:ext cx="315327" cy="2146832"/>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E4606498-775F-4C23-8BAD-ABA0DE8D450C}"/>
                    </a:ext>
                  </a:extLst>
                </p:cNvPr>
                <p:cNvSpPr txBox="1"/>
                <p:nvPr/>
              </p:nvSpPr>
              <p:spPr>
                <a:xfrm>
                  <a:off x="7371412" y="5154888"/>
                  <a:ext cx="83579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m:t>
                        </m:r>
                        <m:sSub>
                          <m:sSubPr>
                            <m:ctrlPr>
                              <a:rPr lang="en-US" b="0" i="1" smtClean="0">
                                <a:solidFill>
                                  <a:schemeClr val="accent2"/>
                                </a:solidFill>
                                <a:latin typeface="Cambria Math" panose="02040503050406030204" pitchFamily="18" charset="0"/>
                              </a:rPr>
                            </m:ctrlPr>
                          </m:sSubPr>
                          <m:e>
                            <m:r>
                              <a:rPr lang="en-US" b="0" i="1" smtClean="0">
                                <a:solidFill>
                                  <a:schemeClr val="accent2"/>
                                </a:solidFill>
                                <a:latin typeface="Cambria Math" panose="02040503050406030204" pitchFamily="18" charset="0"/>
                              </a:rPr>
                              <m:t>𝑥</m:t>
                            </m:r>
                          </m:e>
                          <m:sub>
                            <m:r>
                              <a:rPr lang="en-US" b="0" i="1" smtClean="0">
                                <a:solidFill>
                                  <a:schemeClr val="accent2"/>
                                </a:solidFill>
                                <a:latin typeface="Cambria Math" panose="02040503050406030204" pitchFamily="18" charset="0"/>
                              </a:rPr>
                              <m:t>1</m:t>
                            </m:r>
                          </m:sub>
                        </m:sSub>
                      </m:oMath>
                    </m:oMathPara>
                  </a14:m>
                  <a:endParaRPr lang="en-US" dirty="0">
                    <a:solidFill>
                      <a:schemeClr val="accent2"/>
                    </a:solidFill>
                  </a:endParaRPr>
                </a:p>
              </p:txBody>
            </p:sp>
          </mc:Choice>
          <mc:Fallback>
            <p:sp>
              <p:nvSpPr>
                <p:cNvPr id="19" name="TextBox 18">
                  <a:extLst>
                    <a:ext uri="{FF2B5EF4-FFF2-40B4-BE49-F238E27FC236}">
                      <a16:creationId xmlns:a16="http://schemas.microsoft.com/office/drawing/2014/main" id="{E4606498-775F-4C23-8BAD-ABA0DE8D450C}"/>
                    </a:ext>
                  </a:extLst>
                </p:cNvPr>
                <p:cNvSpPr txBox="1">
                  <a:spLocks noRot="1" noChangeAspect="1" noMove="1" noResize="1" noEditPoints="1" noAdjustHandles="1" noChangeArrowheads="1" noChangeShapeType="1" noTextEdit="1"/>
                </p:cNvSpPr>
                <p:nvPr/>
              </p:nvSpPr>
              <p:spPr>
                <a:xfrm>
                  <a:off x="7371412" y="5154888"/>
                  <a:ext cx="835794" cy="369332"/>
                </a:xfrm>
                <a:prstGeom prst="rect">
                  <a:avLst/>
                </a:prstGeom>
                <a:blipFill>
                  <a:blip r:embed="rId11"/>
                  <a:stretch>
                    <a:fillRect/>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3DAA8E5B-FF3F-C84E-1793-514967D3510D}"/>
                  </a:ext>
                </a:extLst>
              </p:cNvPr>
              <p:cNvSpPr txBox="1"/>
              <p:nvPr/>
            </p:nvSpPr>
            <p:spPr>
              <a:xfrm>
                <a:off x="4741948" y="2698629"/>
                <a:ext cx="2857193" cy="369332"/>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m:t>
                        </m:r>
                      </m:e>
                    </m:d>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a:t>
                </a:r>
              </a:p>
            </p:txBody>
          </p:sp>
        </mc:Choice>
        <mc:Fallback>
          <p:sp>
            <p:nvSpPr>
              <p:cNvPr id="20" name="TextBox 19">
                <a:extLst>
                  <a:ext uri="{FF2B5EF4-FFF2-40B4-BE49-F238E27FC236}">
                    <a16:creationId xmlns:a16="http://schemas.microsoft.com/office/drawing/2014/main" id="{3DAA8E5B-FF3F-C84E-1793-514967D3510D}"/>
                  </a:ext>
                </a:extLst>
              </p:cNvPr>
              <p:cNvSpPr txBox="1">
                <a:spLocks noRot="1" noChangeAspect="1" noMove="1" noResize="1" noEditPoints="1" noAdjustHandles="1" noChangeArrowheads="1" noChangeShapeType="1" noTextEdit="1"/>
              </p:cNvSpPr>
              <p:nvPr/>
            </p:nvSpPr>
            <p:spPr>
              <a:xfrm>
                <a:off x="4741948" y="2698629"/>
                <a:ext cx="2857193" cy="369332"/>
              </a:xfrm>
              <a:prstGeom prst="rect">
                <a:avLst/>
              </a:prstGeom>
              <a:blipFill>
                <a:blip r:embed="rId12"/>
                <a:stretch>
                  <a:fillRect l="-1316" t="-6667" b="-26667"/>
                </a:stretch>
              </a:blipFill>
              <a:ln>
                <a:solidFill>
                  <a:schemeClr val="tx1">
                    <a:lumMod val="95000"/>
                  </a:schemeClr>
                </a:solidFill>
              </a:ln>
            </p:spPr>
            <p:txBody>
              <a:bodyPr/>
              <a:lstStyle/>
              <a:p>
                <a:r>
                  <a:rPr lang="en-US">
                    <a:noFill/>
                  </a:rPr>
                  <a:t> </a:t>
                </a:r>
              </a:p>
            </p:txBody>
          </p:sp>
        </mc:Fallback>
      </mc:AlternateContent>
      <p:grpSp>
        <p:nvGrpSpPr>
          <p:cNvPr id="32" name="Group 31">
            <a:extLst>
              <a:ext uri="{FF2B5EF4-FFF2-40B4-BE49-F238E27FC236}">
                <a16:creationId xmlns:a16="http://schemas.microsoft.com/office/drawing/2014/main" id="{06C14CA5-71E6-46AC-E3C9-F97539E41BD1}"/>
              </a:ext>
            </a:extLst>
          </p:cNvPr>
          <p:cNvGrpSpPr/>
          <p:nvPr/>
        </p:nvGrpSpPr>
        <p:grpSpPr>
          <a:xfrm>
            <a:off x="4730783" y="3141163"/>
            <a:ext cx="2868358" cy="3136900"/>
            <a:chOff x="7371412" y="3429000"/>
            <a:chExt cx="2868358" cy="3136900"/>
          </a:xfrm>
        </p:grpSpPr>
        <p:sp>
          <p:nvSpPr>
            <p:cNvPr id="40" name="Rectangle 39">
              <a:extLst>
                <a:ext uri="{FF2B5EF4-FFF2-40B4-BE49-F238E27FC236}">
                  <a16:creationId xmlns:a16="http://schemas.microsoft.com/office/drawing/2014/main" id="{8689B4F5-F959-F35E-808C-2E06767F4ABA}"/>
                </a:ext>
              </a:extLst>
            </p:cNvPr>
            <p:cNvSpPr/>
            <p:nvPr/>
          </p:nvSpPr>
          <p:spPr>
            <a:xfrm>
              <a:off x="7382577" y="3429000"/>
              <a:ext cx="2857193" cy="3136900"/>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1" name="Rectangle 40">
              <a:extLst>
                <a:ext uri="{FF2B5EF4-FFF2-40B4-BE49-F238E27FC236}">
                  <a16:creationId xmlns:a16="http://schemas.microsoft.com/office/drawing/2014/main" id="{DA186C6D-0652-AE10-8F54-A3ED3AA1AE40}"/>
                </a:ext>
              </a:extLst>
            </p:cNvPr>
            <p:cNvSpPr/>
            <p:nvPr/>
          </p:nvSpPr>
          <p:spPr>
            <a:xfrm>
              <a:off x="8558225" y="3847924"/>
              <a:ext cx="1487008" cy="258175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43" name="Rectangle 42">
                  <a:extLst>
                    <a:ext uri="{FF2B5EF4-FFF2-40B4-BE49-F238E27FC236}">
                      <a16:creationId xmlns:a16="http://schemas.microsoft.com/office/drawing/2014/main" id="{0A06BB2B-6AAE-4E82-398B-990513821324}"/>
                    </a:ext>
                  </a:extLst>
                </p:cNvPr>
                <p:cNvSpPr/>
                <p:nvPr/>
              </p:nvSpPr>
              <p:spPr>
                <a:xfrm>
                  <a:off x="8675853" y="4337534"/>
                  <a:ext cx="1251752" cy="3350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p:sp>
              <p:nvSpPr>
                <p:cNvPr id="43" name="Rectangle 42">
                  <a:extLst>
                    <a:ext uri="{FF2B5EF4-FFF2-40B4-BE49-F238E27FC236}">
                      <a16:creationId xmlns:a16="http://schemas.microsoft.com/office/drawing/2014/main" id="{0A06BB2B-6AAE-4E82-398B-990513821324}"/>
                    </a:ext>
                  </a:extLst>
                </p:cNvPr>
                <p:cNvSpPr>
                  <a:spLocks noRot="1" noChangeAspect="1" noMove="1" noResize="1" noEditPoints="1" noAdjustHandles="1" noChangeArrowheads="1" noChangeShapeType="1" noTextEdit="1"/>
                </p:cNvSpPr>
                <p:nvPr/>
              </p:nvSpPr>
              <p:spPr>
                <a:xfrm>
                  <a:off x="8675853" y="4337534"/>
                  <a:ext cx="1251752" cy="335053"/>
                </a:xfrm>
                <a:prstGeom prst="rect">
                  <a:avLst/>
                </a:prstGeom>
                <a:blipFill>
                  <a:blip r:embed="rId13"/>
                  <a:stretch>
                    <a:fillRect/>
                  </a:stretch>
                </a:blipFill>
                <a:ln>
                  <a:solidFill>
                    <a:schemeClr val="bg1"/>
                  </a:solidFill>
                </a:ln>
              </p:spPr>
              <p:txBody>
                <a:bodyPr/>
                <a:lstStyle/>
                <a:p>
                  <a:r>
                    <a:rPr lang="en-US">
                      <a:noFill/>
                    </a:rPr>
                    <a:t> </a:t>
                  </a:r>
                </a:p>
              </p:txBody>
            </p:sp>
          </mc:Fallback>
        </mc:AlternateContent>
        <p:sp>
          <p:nvSpPr>
            <p:cNvPr id="44" name="TextBox 43">
              <a:extLst>
                <a:ext uri="{FF2B5EF4-FFF2-40B4-BE49-F238E27FC236}">
                  <a16:creationId xmlns:a16="http://schemas.microsoft.com/office/drawing/2014/main" id="{58F25B0D-8D43-C7E1-BBDD-FD6C5052A822}"/>
                </a:ext>
              </a:extLst>
            </p:cNvPr>
            <p:cNvSpPr txBox="1"/>
            <p:nvPr/>
          </p:nvSpPr>
          <p:spPr>
            <a:xfrm>
              <a:off x="8558225" y="3478592"/>
              <a:ext cx="1617659" cy="369332"/>
            </a:xfrm>
            <a:prstGeom prst="rect">
              <a:avLst/>
            </a:prstGeom>
            <a:noFill/>
          </p:spPr>
          <p:txBody>
            <a:bodyPr wrap="square" rtlCol="0">
              <a:spAutoFit/>
            </a:bodyPr>
            <a:lstStyle/>
            <a:p>
              <a:pPr algn="ctr"/>
              <a:r>
                <a:rPr lang="en-US" b="1" i="1" dirty="0">
                  <a:solidFill>
                    <a:schemeClr val="bg1"/>
                  </a:solidFill>
                </a:rPr>
                <a:t>??????</a:t>
              </a:r>
            </a:p>
          </p:txBody>
        </p:sp>
        <mc:AlternateContent xmlns:mc="http://schemas.openxmlformats.org/markup-compatibility/2006">
          <mc:Choice xmlns:a14="http://schemas.microsoft.com/office/drawing/2010/main" Requires="a14">
            <p:sp>
              <p:nvSpPr>
                <p:cNvPr id="45" name="Rectangle 44">
                  <a:extLst>
                    <a:ext uri="{FF2B5EF4-FFF2-40B4-BE49-F238E27FC236}">
                      <a16:creationId xmlns:a16="http://schemas.microsoft.com/office/drawing/2014/main" id="{730985E3-A18A-BF8B-E5A4-8C315F851B00}"/>
                    </a:ext>
                  </a:extLst>
                </p:cNvPr>
                <p:cNvSpPr/>
                <p:nvPr/>
              </p:nvSpPr>
              <p:spPr>
                <a:xfrm>
                  <a:off x="8675853" y="4742586"/>
                  <a:ext cx="1251752" cy="1099028"/>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p:sp>
              <p:nvSpPr>
                <p:cNvPr id="45" name="Rectangle 44">
                  <a:extLst>
                    <a:ext uri="{FF2B5EF4-FFF2-40B4-BE49-F238E27FC236}">
                      <a16:creationId xmlns:a16="http://schemas.microsoft.com/office/drawing/2014/main" id="{730985E3-A18A-BF8B-E5A4-8C315F851B00}"/>
                    </a:ext>
                  </a:extLst>
                </p:cNvPr>
                <p:cNvSpPr>
                  <a:spLocks noRot="1" noChangeAspect="1" noMove="1" noResize="1" noEditPoints="1" noAdjustHandles="1" noChangeArrowheads="1" noChangeShapeType="1" noTextEdit="1"/>
                </p:cNvSpPr>
                <p:nvPr/>
              </p:nvSpPr>
              <p:spPr>
                <a:xfrm>
                  <a:off x="8675853" y="4742586"/>
                  <a:ext cx="1251752" cy="1099028"/>
                </a:xfrm>
                <a:prstGeom prst="rect">
                  <a:avLst/>
                </a:prstGeom>
                <a:blipFill>
                  <a:blip r:embed="rId1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Rectangle 45">
                  <a:extLst>
                    <a:ext uri="{FF2B5EF4-FFF2-40B4-BE49-F238E27FC236}">
                      <a16:creationId xmlns:a16="http://schemas.microsoft.com/office/drawing/2014/main" id="{CE215EE4-1F7A-43CC-9718-976C579D2F14}"/>
                    </a:ext>
                  </a:extLst>
                </p:cNvPr>
                <p:cNvSpPr/>
                <p:nvPr/>
              </p:nvSpPr>
              <p:spPr>
                <a:xfrm>
                  <a:off x="8682324"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p:sp>
              <p:nvSpPr>
                <p:cNvPr id="46" name="Rectangle 45">
                  <a:extLst>
                    <a:ext uri="{FF2B5EF4-FFF2-40B4-BE49-F238E27FC236}">
                      <a16:creationId xmlns:a16="http://schemas.microsoft.com/office/drawing/2014/main" id="{CE215EE4-1F7A-43CC-9718-976C579D2F14}"/>
                    </a:ext>
                  </a:extLst>
                </p:cNvPr>
                <p:cNvSpPr>
                  <a:spLocks noRot="1" noChangeAspect="1" noMove="1" noResize="1" noEditPoints="1" noAdjustHandles="1" noChangeArrowheads="1" noChangeShapeType="1" noTextEdit="1"/>
                </p:cNvSpPr>
                <p:nvPr/>
              </p:nvSpPr>
              <p:spPr>
                <a:xfrm>
                  <a:off x="8682324" y="6073368"/>
                  <a:ext cx="1251752" cy="295495"/>
                </a:xfrm>
                <a:prstGeom prst="rect">
                  <a:avLst/>
                </a:prstGeom>
                <a:blipFill>
                  <a:blip r:embed="rId15"/>
                  <a:stretch>
                    <a:fillRect/>
                  </a:stretch>
                </a:blipFill>
                <a:ln>
                  <a:solidFill>
                    <a:schemeClr val="bg1"/>
                  </a:solidFill>
                </a:ln>
              </p:spPr>
              <p:txBody>
                <a:bodyPr/>
                <a:lstStyle/>
                <a:p>
                  <a:r>
                    <a:rPr lang="en-US">
                      <a:noFill/>
                    </a:rPr>
                    <a:t> </a:t>
                  </a:r>
                </a:p>
              </p:txBody>
            </p:sp>
          </mc:Fallback>
        </mc:AlternateContent>
        <p:sp>
          <p:nvSpPr>
            <p:cNvPr id="47" name="TextBox 46">
              <a:extLst>
                <a:ext uri="{FF2B5EF4-FFF2-40B4-BE49-F238E27FC236}">
                  <a16:creationId xmlns:a16="http://schemas.microsoft.com/office/drawing/2014/main" id="{B728BEC0-13F1-C086-6251-E27FDEDF790F}"/>
                </a:ext>
              </a:extLst>
            </p:cNvPr>
            <p:cNvSpPr txBox="1"/>
            <p:nvPr/>
          </p:nvSpPr>
          <p:spPr>
            <a:xfrm>
              <a:off x="9071576" y="5694411"/>
              <a:ext cx="415498" cy="369332"/>
            </a:xfrm>
            <a:prstGeom prst="rect">
              <a:avLst/>
            </a:prstGeom>
            <a:noFill/>
          </p:spPr>
          <p:txBody>
            <a:bodyPr wrap="none" rtlCol="0">
              <a:spAutoFit/>
            </a:bodyPr>
            <a:lstStyle/>
            <a:p>
              <a:r>
                <a:rPr lang="en-US" dirty="0"/>
                <a:t>…</a:t>
              </a:r>
            </a:p>
          </p:txBody>
        </p:sp>
        <p:sp>
          <p:nvSpPr>
            <p:cNvPr id="48" name="Left Brace 47">
              <a:extLst>
                <a:ext uri="{FF2B5EF4-FFF2-40B4-BE49-F238E27FC236}">
                  <a16:creationId xmlns:a16="http://schemas.microsoft.com/office/drawing/2014/main" id="{3D67EC93-6940-A054-0A63-C959E6C196AD}"/>
                </a:ext>
              </a:extLst>
            </p:cNvPr>
            <p:cNvSpPr/>
            <p:nvPr/>
          </p:nvSpPr>
          <p:spPr>
            <a:xfrm>
              <a:off x="8131741" y="4282843"/>
              <a:ext cx="315327" cy="2146832"/>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E80F6B39-F857-42DC-E9D1-EBC3C14A9210}"/>
                    </a:ext>
                  </a:extLst>
                </p:cNvPr>
                <p:cNvSpPr txBox="1"/>
                <p:nvPr/>
              </p:nvSpPr>
              <p:spPr>
                <a:xfrm>
                  <a:off x="7371412" y="5154888"/>
                  <a:ext cx="83579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m:t>
                        </m:r>
                        <m:sSub>
                          <m:sSubPr>
                            <m:ctrlPr>
                              <a:rPr lang="en-US" b="0" i="1" smtClean="0">
                                <a:solidFill>
                                  <a:schemeClr val="accent2"/>
                                </a:solidFill>
                                <a:latin typeface="Cambria Math" panose="02040503050406030204" pitchFamily="18" charset="0"/>
                              </a:rPr>
                            </m:ctrlPr>
                          </m:sSubPr>
                          <m:e>
                            <m:r>
                              <a:rPr lang="en-US" b="0" i="1" smtClean="0">
                                <a:solidFill>
                                  <a:schemeClr val="accent2"/>
                                </a:solidFill>
                                <a:latin typeface="Cambria Math" panose="02040503050406030204" pitchFamily="18" charset="0"/>
                              </a:rPr>
                              <m:t>𝑥</m:t>
                            </m:r>
                          </m:e>
                          <m:sub>
                            <m:r>
                              <a:rPr lang="en-US" b="0" i="1" smtClean="0">
                                <a:solidFill>
                                  <a:schemeClr val="accent2"/>
                                </a:solidFill>
                                <a:latin typeface="Cambria Math" panose="02040503050406030204" pitchFamily="18" charset="0"/>
                              </a:rPr>
                              <m:t>1</m:t>
                            </m:r>
                          </m:sub>
                        </m:sSub>
                      </m:oMath>
                    </m:oMathPara>
                  </a14:m>
                  <a:endParaRPr lang="en-US" dirty="0">
                    <a:solidFill>
                      <a:schemeClr val="accent2"/>
                    </a:solidFill>
                  </a:endParaRPr>
                </a:p>
              </p:txBody>
            </p:sp>
          </mc:Choice>
          <mc:Fallback>
            <p:sp>
              <p:nvSpPr>
                <p:cNvPr id="49" name="TextBox 48">
                  <a:extLst>
                    <a:ext uri="{FF2B5EF4-FFF2-40B4-BE49-F238E27FC236}">
                      <a16:creationId xmlns:a16="http://schemas.microsoft.com/office/drawing/2014/main" id="{E80F6B39-F857-42DC-E9D1-EBC3C14A9210}"/>
                    </a:ext>
                  </a:extLst>
                </p:cNvPr>
                <p:cNvSpPr txBox="1">
                  <a:spLocks noRot="1" noChangeAspect="1" noMove="1" noResize="1" noEditPoints="1" noAdjustHandles="1" noChangeArrowheads="1" noChangeShapeType="1" noTextEdit="1"/>
                </p:cNvSpPr>
                <p:nvPr/>
              </p:nvSpPr>
              <p:spPr>
                <a:xfrm>
                  <a:off x="7371412" y="5154888"/>
                  <a:ext cx="835794" cy="369332"/>
                </a:xfrm>
                <a:prstGeom prst="rect">
                  <a:avLst/>
                </a:prstGeom>
                <a:blipFill>
                  <a:blip r:embed="rId16"/>
                  <a:stretch>
                    <a:fillRect/>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50" name="Rectangle 49">
                <a:extLst>
                  <a:ext uri="{FF2B5EF4-FFF2-40B4-BE49-F238E27FC236}">
                    <a16:creationId xmlns:a16="http://schemas.microsoft.com/office/drawing/2014/main" id="{5928D464-B83F-E9BD-F8B4-10C086173091}"/>
                  </a:ext>
                </a:extLst>
              </p:cNvPr>
              <p:cNvSpPr/>
              <p:nvPr/>
            </p:nvSpPr>
            <p:spPr>
              <a:xfrm>
                <a:off x="6035224" y="3620460"/>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m:oMathPara>
                </a14:m>
                <a:endParaRPr lang="en-US" dirty="0">
                  <a:solidFill>
                    <a:schemeClr val="accent1"/>
                  </a:solidFill>
                </a:endParaRPr>
              </a:p>
            </p:txBody>
          </p:sp>
        </mc:Choice>
        <mc:Fallback>
          <p:sp>
            <p:nvSpPr>
              <p:cNvPr id="50" name="Rectangle 49">
                <a:extLst>
                  <a:ext uri="{FF2B5EF4-FFF2-40B4-BE49-F238E27FC236}">
                    <a16:creationId xmlns:a16="http://schemas.microsoft.com/office/drawing/2014/main" id="{5928D464-B83F-E9BD-F8B4-10C086173091}"/>
                  </a:ext>
                </a:extLst>
              </p:cNvPr>
              <p:cNvSpPr>
                <a:spLocks noRot="1" noChangeAspect="1" noMove="1" noResize="1" noEditPoints="1" noAdjustHandles="1" noChangeArrowheads="1" noChangeShapeType="1" noTextEdit="1"/>
              </p:cNvSpPr>
              <p:nvPr/>
            </p:nvSpPr>
            <p:spPr>
              <a:xfrm>
                <a:off x="6035224" y="3620460"/>
                <a:ext cx="1251752" cy="351531"/>
              </a:xfrm>
              <a:prstGeom prst="rect">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2" name="TextBox 51">
                <a:extLst>
                  <a:ext uri="{FF2B5EF4-FFF2-40B4-BE49-F238E27FC236}">
                    <a16:creationId xmlns:a16="http://schemas.microsoft.com/office/drawing/2014/main" id="{884D2F2E-705B-10A7-645F-14027316589A}"/>
                  </a:ext>
                </a:extLst>
              </p:cNvPr>
              <p:cNvSpPr txBox="1"/>
              <p:nvPr/>
            </p:nvSpPr>
            <p:spPr>
              <a:xfrm>
                <a:off x="7766638" y="3564880"/>
                <a:ext cx="4184213" cy="1200393"/>
              </a:xfrm>
              <a:prstGeom prst="rect">
                <a:avLst/>
              </a:prstGeom>
              <a:solidFill>
                <a:schemeClr val="tx1">
                  <a:lumMod val="95000"/>
                </a:schemeClr>
              </a:solidFill>
              <a:ln>
                <a:solidFill>
                  <a:schemeClr val="bg1"/>
                </a:solidFill>
              </a:ln>
            </p:spPr>
            <p:txBody>
              <a:bodyPr wrap="square" rtlCol="0">
                <a:spAutoFit/>
              </a:bodyPr>
              <a:lstStyle/>
              <a:p>
                <a:r>
                  <a:rPr lang="en-US" b="0" dirty="0">
                    <a:solidFill>
                      <a:schemeClr val="bg1"/>
                    </a:solidFill>
                  </a:rPr>
                  <a:t>Rest of Proof: </a:t>
                </a:r>
                <a:endParaRPr lang="en-US" b="0" i="1" dirty="0">
                  <a:solidFill>
                    <a:schemeClr val="bg1"/>
                  </a:solidFill>
                  <a:latin typeface="Cambria Math" panose="02040503050406030204" pitchFamily="18" charset="0"/>
                </a:endParaRPr>
              </a:p>
              <a:p>
                <a:pPr/>
                <a:br>
                  <a:rPr lang="en-US" b="0" i="1" dirty="0">
                    <a:solidFill>
                      <a:schemeClr val="bg1"/>
                    </a:solidFill>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𝑉</m:t>
                      </m:r>
                      <m:d>
                        <m:dPr>
                          <m:ctrlPr>
                            <a:rPr lang="en-US" b="0" i="1" smtClean="0">
                              <a:solidFill>
                                <a:schemeClr val="bg1"/>
                              </a:solidFill>
                              <a:latin typeface="Cambria Math" panose="02040503050406030204" pitchFamily="18" charset="0"/>
                            </a:rPr>
                          </m:ctrlPr>
                        </m:dPr>
                        <m:e>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𝑋</m:t>
                              </m:r>
                            </m:e>
                            <m:sup>
                              <m:r>
                                <a:rPr lang="en-US" b="0" i="1" smtClean="0">
                                  <a:solidFill>
                                    <a:schemeClr val="bg1"/>
                                  </a:solidFill>
                                  <a:latin typeface="Cambria Math" panose="02040503050406030204" pitchFamily="18" charset="0"/>
                                </a:rPr>
                                <m:t>′′</m:t>
                              </m:r>
                            </m:sup>
                          </m:sSup>
                        </m:e>
                      </m:d>
                      <m:r>
                        <a:rPr lang="en-US" b="0" i="1" smtClean="0">
                          <a:solidFill>
                            <a:schemeClr val="bg1"/>
                          </a:solidFill>
                          <a:latin typeface="Cambria Math" panose="02040503050406030204" pitchFamily="18" charset="0"/>
                        </a:rPr>
                        <m:t>&gt;</m:t>
                      </m:r>
                      <m:r>
                        <a:rPr lang="en-US" b="0" i="1" smtClean="0">
                          <a:solidFill>
                            <a:schemeClr val="bg1"/>
                          </a:solidFill>
                          <a:latin typeface="Cambria Math" panose="02040503050406030204" pitchFamily="18" charset="0"/>
                        </a:rPr>
                        <m:t>𝑉</m:t>
                      </m:r>
                      <m:d>
                        <m:dPr>
                          <m:ctrlPr>
                            <a:rPr lang="en-US" b="0" i="1" smtClean="0">
                              <a:solidFill>
                                <a:schemeClr val="bg1"/>
                              </a:solidFill>
                              <a:latin typeface="Cambria Math" panose="02040503050406030204" pitchFamily="18" charset="0"/>
                            </a:rPr>
                          </m:ctrlPr>
                        </m:dPr>
                        <m:e>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𝑋</m:t>
                              </m:r>
                            </m:e>
                            <m:sup>
                              <m:r>
                                <a:rPr lang="en-US" b="0" i="1" smtClean="0">
                                  <a:solidFill>
                                    <a:schemeClr val="bg1"/>
                                  </a:solidFill>
                                  <a:latin typeface="Cambria Math" panose="02040503050406030204" pitchFamily="18" charset="0"/>
                                </a:rPr>
                                <m:t>′</m:t>
                              </m:r>
                            </m:sup>
                          </m:sSup>
                        </m:e>
                      </m:d>
                    </m:oMath>
                    <m:oMath xmlns:m="http://schemas.openxmlformats.org/officeDocument/2006/math">
                      <m:r>
                        <a:rPr lang="en-US" b="0" i="1" smtClean="0">
                          <a:solidFill>
                            <a:schemeClr val="bg1"/>
                          </a:solidFill>
                          <a:latin typeface="Cambria Math" panose="02040503050406030204" pitchFamily="18" charset="0"/>
                        </a:rPr>
                        <m:t>𝑉</m:t>
                      </m:r>
                      <m:d>
                        <m:dPr>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𝑋</m:t>
                          </m:r>
                        </m:e>
                      </m:d>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𝑉</m:t>
                      </m:r>
                      <m:d>
                        <m:dPr>
                          <m:ctrlPr>
                            <a:rPr lang="en-US" b="0" i="1" smtClean="0">
                              <a:solidFill>
                                <a:schemeClr val="bg1"/>
                              </a:solidFill>
                              <a:latin typeface="Cambria Math" panose="02040503050406030204" pitchFamily="18" charset="0"/>
                            </a:rPr>
                          </m:ctrlPr>
                        </m:dPr>
                        <m:e>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𝑋</m:t>
                              </m:r>
                            </m:e>
                            <m:sup>
                              <m:r>
                                <a:rPr lang="en-US" b="0" i="1" smtClean="0">
                                  <a:solidFill>
                                    <a:schemeClr val="bg1"/>
                                  </a:solidFill>
                                  <a:latin typeface="Cambria Math" panose="02040503050406030204" pitchFamily="18" charset="0"/>
                                </a:rPr>
                                <m:t>′</m:t>
                              </m:r>
                            </m:sup>
                          </m:sSup>
                        </m:e>
                      </m:d>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𝑉</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d>
                      <m:r>
                        <a:rPr lang="en-US" b="0" i="1" smtClean="0">
                          <a:solidFill>
                            <a:schemeClr val="bg1"/>
                          </a:solidFill>
                          <a:latin typeface="Cambria Math" panose="02040503050406030204" pitchFamily="18" charset="0"/>
                        </a:rPr>
                        <m:t>&lt;</m:t>
                      </m:r>
                      <m:r>
                        <a:rPr lang="en-US" b="0" i="1" smtClean="0">
                          <a:solidFill>
                            <a:schemeClr val="bg1"/>
                          </a:solidFill>
                          <a:latin typeface="Cambria Math" panose="02040503050406030204" pitchFamily="18" charset="0"/>
                        </a:rPr>
                        <m:t>𝑉</m:t>
                      </m:r>
                      <m:d>
                        <m:dPr>
                          <m:ctrlPr>
                            <a:rPr lang="en-US" b="0" i="1" smtClean="0">
                              <a:solidFill>
                                <a:schemeClr val="bg1"/>
                              </a:solidFill>
                              <a:latin typeface="Cambria Math" panose="02040503050406030204" pitchFamily="18" charset="0"/>
                            </a:rPr>
                          </m:ctrlPr>
                        </m:dPr>
                        <m:e>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𝑋</m:t>
                              </m:r>
                            </m:e>
                            <m:sup>
                              <m:r>
                                <a:rPr lang="en-US" b="0" i="1" smtClean="0">
                                  <a:solidFill>
                                    <a:schemeClr val="bg1"/>
                                  </a:solidFill>
                                  <a:latin typeface="Cambria Math" panose="02040503050406030204" pitchFamily="18" charset="0"/>
                                </a:rPr>
                                <m:t>′′</m:t>
                              </m:r>
                            </m:sup>
                          </m:sSup>
                        </m:e>
                      </m:d>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𝑉</m:t>
                      </m:r>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oMath>
                  </m:oMathPara>
                </a14:m>
                <a:br>
                  <a:rPr lang="en-US" b="0" dirty="0">
                    <a:solidFill>
                      <a:schemeClr val="bg1"/>
                    </a:solidFill>
                  </a:rPr>
                </a:br>
                <a:endParaRPr lang="en-US" dirty="0">
                  <a:solidFill>
                    <a:schemeClr val="bg1"/>
                  </a:solidFill>
                </a:endParaRPr>
              </a:p>
            </p:txBody>
          </p:sp>
        </mc:Choice>
        <mc:Fallback>
          <p:sp>
            <p:nvSpPr>
              <p:cNvPr id="52" name="TextBox 51">
                <a:extLst>
                  <a:ext uri="{FF2B5EF4-FFF2-40B4-BE49-F238E27FC236}">
                    <a16:creationId xmlns:a16="http://schemas.microsoft.com/office/drawing/2014/main" id="{884D2F2E-705B-10A7-645F-14027316589A}"/>
                  </a:ext>
                </a:extLst>
              </p:cNvPr>
              <p:cNvSpPr txBox="1">
                <a:spLocks noRot="1" noChangeAspect="1" noMove="1" noResize="1" noEditPoints="1" noAdjustHandles="1" noChangeArrowheads="1" noChangeShapeType="1" noTextEdit="1"/>
              </p:cNvSpPr>
              <p:nvPr/>
            </p:nvSpPr>
            <p:spPr>
              <a:xfrm>
                <a:off x="7766638" y="3564880"/>
                <a:ext cx="4184213" cy="1200393"/>
              </a:xfrm>
              <a:prstGeom prst="rect">
                <a:avLst/>
              </a:prstGeom>
              <a:blipFill>
                <a:blip r:embed="rId18"/>
                <a:stretch>
                  <a:fillRect l="-1208" t="-2083" b="-4167"/>
                </a:stretch>
              </a:blipFill>
              <a:ln>
                <a:solidFill>
                  <a:schemeClr val="bg1"/>
                </a:solidFill>
              </a:ln>
            </p:spPr>
            <p:txBody>
              <a:bodyPr/>
              <a:lstStyle/>
              <a:p>
                <a:r>
                  <a:rPr lang="en-US">
                    <a:noFill/>
                  </a:rPr>
                  <a:t> </a:t>
                </a:r>
              </a:p>
            </p:txBody>
          </p:sp>
        </mc:Fallback>
      </mc:AlternateContent>
      <p:sp>
        <p:nvSpPr>
          <p:cNvPr id="53" name="TextBox 52">
            <a:extLst>
              <a:ext uri="{FF2B5EF4-FFF2-40B4-BE49-F238E27FC236}">
                <a16:creationId xmlns:a16="http://schemas.microsoft.com/office/drawing/2014/main" id="{D963171D-80E1-4689-32FD-64913F8C3F31}"/>
              </a:ext>
            </a:extLst>
          </p:cNvPr>
          <p:cNvSpPr txBox="1"/>
          <p:nvPr/>
        </p:nvSpPr>
        <p:spPr>
          <a:xfrm>
            <a:off x="8241639" y="5575839"/>
            <a:ext cx="1039529" cy="830997"/>
          </a:xfrm>
          <a:prstGeom prst="rect">
            <a:avLst/>
          </a:prstGeom>
          <a:noFill/>
        </p:spPr>
        <p:txBody>
          <a:bodyPr wrap="square" rtlCol="0">
            <a:spAutoFit/>
          </a:bodyPr>
          <a:lstStyle/>
          <a:p>
            <a:r>
              <a:rPr lang="en-US" sz="1600" i="1" dirty="0"/>
              <a:t>This is optimal solution</a:t>
            </a:r>
          </a:p>
        </p:txBody>
      </p:sp>
      <p:sp>
        <p:nvSpPr>
          <p:cNvPr id="54" name="TextBox 53">
            <a:extLst>
              <a:ext uri="{FF2B5EF4-FFF2-40B4-BE49-F238E27FC236}">
                <a16:creationId xmlns:a16="http://schemas.microsoft.com/office/drawing/2014/main" id="{5BDE6146-35F0-02C0-22C3-B94A1C0C6767}"/>
              </a:ext>
            </a:extLst>
          </p:cNvPr>
          <p:cNvSpPr txBox="1"/>
          <p:nvPr/>
        </p:nvSpPr>
        <p:spPr>
          <a:xfrm>
            <a:off x="9923666" y="5726339"/>
            <a:ext cx="1357855" cy="830997"/>
          </a:xfrm>
          <a:prstGeom prst="rect">
            <a:avLst/>
          </a:prstGeom>
          <a:noFill/>
        </p:spPr>
        <p:txBody>
          <a:bodyPr wrap="square" rtlCol="0">
            <a:spAutoFit/>
          </a:bodyPr>
          <a:lstStyle/>
          <a:p>
            <a:r>
              <a:rPr lang="en-US" sz="1600" i="1" dirty="0"/>
              <a:t>But this is better solution. Contradiction!</a:t>
            </a:r>
          </a:p>
        </p:txBody>
      </p:sp>
      <p:cxnSp>
        <p:nvCxnSpPr>
          <p:cNvPr id="56" name="Straight Connector 55">
            <a:extLst>
              <a:ext uri="{FF2B5EF4-FFF2-40B4-BE49-F238E27FC236}">
                <a16:creationId xmlns:a16="http://schemas.microsoft.com/office/drawing/2014/main" id="{AC8A6E27-CD9A-BDB2-0A11-1FAF3FEB0065}"/>
              </a:ext>
            </a:extLst>
          </p:cNvPr>
          <p:cNvCxnSpPr>
            <a:cxnSpLocks/>
            <a:stCxn id="53" idx="0"/>
          </p:cNvCxnSpPr>
          <p:nvPr/>
        </p:nvCxnSpPr>
        <p:spPr>
          <a:xfrm flipV="1">
            <a:off x="8761404" y="4850962"/>
            <a:ext cx="570288" cy="72487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AA1735D2-5982-0097-7101-A8FB16BF3B03}"/>
              </a:ext>
            </a:extLst>
          </p:cNvPr>
          <p:cNvCxnSpPr>
            <a:cxnSpLocks/>
          </p:cNvCxnSpPr>
          <p:nvPr/>
        </p:nvCxnSpPr>
        <p:spPr>
          <a:xfrm flipV="1">
            <a:off x="10443431" y="4883367"/>
            <a:ext cx="333696" cy="82506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71976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5E69-377A-7996-B91D-118F6C21395A}"/>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0A18020E-1108-E436-4452-227CF00C501A}"/>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Optimal Substructure</a:t>
            </a:r>
          </a:p>
        </p:txBody>
      </p:sp>
      <p:sp>
        <p:nvSpPr>
          <p:cNvPr id="2" name="Rectangle 3">
            <a:extLst>
              <a:ext uri="{FF2B5EF4-FFF2-40B4-BE49-F238E27FC236}">
                <a16:creationId xmlns:a16="http://schemas.microsoft.com/office/drawing/2014/main" id="{EF653E3B-A53D-1E2A-1838-A95AA90039E4}"/>
              </a:ext>
            </a:extLst>
          </p:cNvPr>
          <p:cNvSpPr txBox="1">
            <a:spLocks noChangeArrowheads="1"/>
          </p:cNvSpPr>
          <p:nvPr>
            <p:custDataLst>
              <p:tags r:id="rId2"/>
            </p:custDataLst>
          </p:nvPr>
        </p:nvSpPr>
        <p:spPr>
          <a:xfrm>
            <a:off x="2632795" y="2280197"/>
            <a:ext cx="6926409" cy="553694"/>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ea typeface="ＭＳ Ｐゴシック" charset="0"/>
                <a:cs typeface="ＭＳ Ｐゴシック" charset="0"/>
              </a:rPr>
              <a:t>The Knapsack Problem has </a:t>
            </a:r>
            <a:r>
              <a:rPr lang="en-US" b="1" i="1" u="sng" dirty="0">
                <a:solidFill>
                  <a:schemeClr val="bg1"/>
                </a:solidFill>
                <a:ea typeface="ＭＳ Ｐゴシック" charset="0"/>
                <a:cs typeface="ＭＳ Ｐゴシック" charset="0"/>
              </a:rPr>
              <a:t>Optimal Substructure</a:t>
            </a:r>
            <a:r>
              <a:rPr lang="en-US" dirty="0">
                <a:solidFill>
                  <a:schemeClr val="bg1"/>
                </a:solidFill>
                <a:ea typeface="ＭＳ Ｐゴシック" charset="0"/>
                <a:cs typeface="ＭＳ Ｐゴシック" charset="0"/>
              </a:rPr>
              <a:t>?</a:t>
            </a:r>
            <a:endParaRPr lang="en-US" dirty="0">
              <a:solidFill>
                <a:schemeClr val="bg1"/>
              </a:solidFill>
            </a:endParaRPr>
          </a:p>
        </p:txBody>
      </p:sp>
    </p:spTree>
    <p:extLst>
      <p:ext uri="{BB962C8B-B14F-4D97-AF65-F5344CB8AC3E}">
        <p14:creationId xmlns:p14="http://schemas.microsoft.com/office/powerpoint/2010/main" val="28197188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Arial" panose="020B0604020202020204" pitchFamily="34" charset="0"/>
                <a:cs typeface="Arial" panose="020B0604020202020204" pitchFamily="34" charset="0"/>
              </a:rPr>
              <a:t>Optimal Substructure Proof</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304800" y="1295400"/>
                <a:ext cx="11658600" cy="4830763"/>
              </a:xfrm>
            </p:spPr>
            <p:txBody>
              <a:bodyPr anchor="t">
                <a:normAutofit/>
              </a:bodyPr>
              <a:lstStyle/>
              <a:p>
                <a:r>
                  <a:rPr lang="en-US" dirty="0"/>
                  <a:t>First, let’s show that </a:t>
                </a:r>
                <a:r>
                  <a:rPr lang="en-US" i="1" u="sng" dirty="0"/>
                  <a:t>fractional knapsack</a:t>
                </a:r>
                <a:r>
                  <a:rPr lang="en-US" dirty="0"/>
                  <a:t> has the </a:t>
                </a:r>
                <a:r>
                  <a:rPr lang="en-US" b="1" i="1" u="sng" dirty="0"/>
                  <a:t>optimal substructure property</a:t>
                </a:r>
              </a:p>
              <a:p>
                <a:endParaRPr lang="en-US" b="1" i="1" u="sng" dirty="0"/>
              </a:p>
              <a:p>
                <a:r>
                  <a:rPr lang="en-US" b="1" dirty="0"/>
                  <a:t>Formally</a:t>
                </a:r>
                <a:r>
                  <a:rPr lang="en-US" dirty="0"/>
                  <a:t>: Suppose we have a solution to knapsack </a:t>
                </a:r>
                <a14:m>
                  <m:oMath xmlns:m="http://schemas.openxmlformats.org/officeDocument/2006/math">
                    <m:r>
                      <a:rPr lang="en-US" b="0" i="1" smtClean="0">
                        <a:latin typeface="Cambria Math" panose="02040503050406030204" pitchFamily="18" charset="0"/>
                      </a:rPr>
                      <m:t>𝑆</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3</m:t>
                        </m:r>
                      </m:sub>
                    </m:sSub>
                    <m:r>
                      <a:rPr lang="en-US" b="0" i="1" smtClean="0">
                        <a:latin typeface="Cambria Math" panose="02040503050406030204" pitchFamily="18" charset="0"/>
                      </a:rPr>
                      <m:t>…}</m:t>
                    </m:r>
                  </m:oMath>
                </a14:m>
                <a:r>
                  <a:rPr lang="en-US" dirty="0"/>
                  <a:t> where each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𝑗</m:t>
                        </m:r>
                      </m:sub>
                    </m:sSub>
                  </m:oMath>
                </a14:m>
                <a:r>
                  <a:rPr lang="en-US" dirty="0"/>
                  <a:t> is the amount taken of each of the </a:t>
                </a:r>
                <a:r>
                  <a:rPr lang="en-US" i="1" dirty="0" err="1"/>
                  <a:t>i</a:t>
                </a:r>
                <a:r>
                  <a:rPr lang="en-US" i="1" dirty="0"/>
                  <a:t> </a:t>
                </a:r>
                <a:r>
                  <a:rPr lang="en-US" dirty="0"/>
                  <a:t>items for a knapsack with capacity </a:t>
                </a:r>
                <a14:m>
                  <m:oMath xmlns:m="http://schemas.openxmlformats.org/officeDocument/2006/math">
                    <m:r>
                      <a:rPr lang="en-US" b="0" i="1" smtClean="0">
                        <a:latin typeface="Cambria Math" panose="02040503050406030204" pitchFamily="18" charset="0"/>
                      </a:rPr>
                      <m:t>𝑊</m:t>
                    </m:r>
                  </m:oMath>
                </a14:m>
                <a:r>
                  <a:rPr lang="en-US" dirty="0"/>
                  <a:t>. </a:t>
                </a:r>
              </a:p>
              <a:p>
                <a:r>
                  <a:rPr lang="en-US" b="1" i="1" dirty="0"/>
                  <a:t>Then</a:t>
                </a:r>
                <a:r>
                  <a:rPr lang="en-US" dirty="0"/>
                  <a:t>: It must be the case that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3</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4</m:t>
                        </m:r>
                      </m:sub>
                    </m:sSub>
                    <m:r>
                      <a:rPr lang="en-US" b="0" i="1" smtClean="0">
                        <a:latin typeface="Cambria Math" panose="02040503050406030204" pitchFamily="18" charset="0"/>
                      </a:rPr>
                      <m:t>,…}</m:t>
                    </m:r>
                  </m:oMath>
                </a14:m>
                <a:r>
                  <a:rPr lang="en-US" dirty="0"/>
                  <a:t> is optimal for a knapsack of size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1</m:t>
                        </m:r>
                      </m:sub>
                    </m:sSub>
                  </m:oMath>
                </a14:m>
                <a:r>
                  <a:rPr lang="en-US" dirty="0"/>
                  <a:t> </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304800" y="1295400"/>
                <a:ext cx="11658600" cy="4830763"/>
              </a:xfrm>
              <a:blipFill>
                <a:blip r:embed="rId2"/>
                <a:stretch>
                  <a:fillRect l="-1307" t="-1312"/>
                </a:stretch>
              </a:blipFill>
            </p:spPr>
            <p:txBody>
              <a:bodyPr/>
              <a:lstStyle/>
              <a:p>
                <a:r>
                  <a:rPr lang="en-US">
                    <a:noFill/>
                  </a:rPr>
                  <a:t> </a:t>
                </a:r>
              </a:p>
            </p:txBody>
          </p:sp>
        </mc:Fallback>
      </mc:AlternateContent>
    </p:spTree>
    <p:extLst>
      <p:ext uri="{BB962C8B-B14F-4D97-AF65-F5344CB8AC3E}">
        <p14:creationId xmlns:p14="http://schemas.microsoft.com/office/powerpoint/2010/main" val="35439932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Arial" panose="020B0604020202020204" pitchFamily="34" charset="0"/>
                <a:cs typeface="Arial" panose="020B0604020202020204" pitchFamily="34" charset="0"/>
              </a:rPr>
              <a:t>Optimal Substructure Proof</a:t>
            </a:r>
          </a:p>
        </p:txBody>
      </p:sp>
      <mc:AlternateContent xmlns:mc="http://schemas.openxmlformats.org/markup-compatibility/2006">
        <mc:Choice xmlns:a14="http://schemas.microsoft.com/office/drawing/2010/main" Requires="a14">
          <p:sp>
            <p:nvSpPr>
              <p:cNvPr id="3" name="Content Placeholder 2"/>
              <p:cNvSpPr>
                <a:spLocks noGrp="1"/>
              </p:cNvSpPr>
              <p:nvPr>
                <p:ph sz="quarter" idx="1"/>
              </p:nvPr>
            </p:nvSpPr>
            <p:spPr>
              <a:xfrm>
                <a:off x="304800" y="1295400"/>
                <a:ext cx="11658600" cy="5257800"/>
              </a:xfrm>
            </p:spPr>
            <p:txBody>
              <a:bodyPr anchor="t">
                <a:normAutofit fontScale="92500" lnSpcReduction="20000"/>
              </a:bodyPr>
              <a:lstStyle/>
              <a:p>
                <a:r>
                  <a:rPr lang="en-US" sz="2400" b="1" dirty="0"/>
                  <a:t>Formally</a:t>
                </a:r>
                <a:r>
                  <a:rPr lang="en-US" sz="2400" dirty="0"/>
                  <a:t>: Suppose we have a solution to knapsack </a:t>
                </a:r>
                <a14:m>
                  <m:oMath xmlns:m="http://schemas.openxmlformats.org/officeDocument/2006/math">
                    <m:r>
                      <a:rPr lang="en-US" sz="2400" b="0" i="1" smtClean="0">
                        <a:latin typeface="Cambria Math" panose="02040503050406030204" pitchFamily="18" charset="0"/>
                      </a:rPr>
                      <m:t>𝑆</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1</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2</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3</m:t>
                        </m:r>
                      </m:sub>
                    </m:sSub>
                    <m:r>
                      <a:rPr lang="en-US" sz="2400" b="0" i="1" smtClean="0">
                        <a:latin typeface="Cambria Math" panose="02040503050406030204" pitchFamily="18" charset="0"/>
                      </a:rPr>
                      <m:t>…}</m:t>
                    </m:r>
                  </m:oMath>
                </a14:m>
                <a:r>
                  <a:rPr lang="en-US" sz="2400" dirty="0"/>
                  <a:t> where each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𝑗</m:t>
                        </m:r>
                      </m:sub>
                    </m:sSub>
                  </m:oMath>
                </a14:m>
                <a:r>
                  <a:rPr lang="en-US" sz="2400" dirty="0"/>
                  <a:t> is the amount taken of each of the respective items for a knapsack with capacity </a:t>
                </a:r>
                <a14:m>
                  <m:oMath xmlns:m="http://schemas.openxmlformats.org/officeDocument/2006/math">
                    <m:r>
                      <a:rPr lang="en-US" sz="2400" b="0" i="1" smtClean="0">
                        <a:latin typeface="Cambria Math" panose="02040503050406030204" pitchFamily="18" charset="0"/>
                      </a:rPr>
                      <m:t>𝑊</m:t>
                    </m:r>
                  </m:oMath>
                </a14:m>
                <a:r>
                  <a:rPr lang="en-US" sz="2400" dirty="0"/>
                  <a:t>. </a:t>
                </a:r>
              </a:p>
              <a:p>
                <a:r>
                  <a:rPr lang="en-US" sz="2400" b="1" i="1" dirty="0"/>
                  <a:t>Then</a:t>
                </a:r>
                <a:r>
                  <a:rPr lang="en-US" sz="2400" dirty="0"/>
                  <a:t>: It must be the case that </a:t>
                </a:r>
                <a14:m>
                  <m:oMath xmlns:m="http://schemas.openxmlformats.org/officeDocument/2006/math">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2</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3</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4</m:t>
                        </m:r>
                      </m:sub>
                    </m:sSub>
                    <m:r>
                      <a:rPr lang="en-US" sz="2400" b="0" i="1" smtClean="0">
                        <a:latin typeface="Cambria Math" panose="02040503050406030204" pitchFamily="18" charset="0"/>
                      </a:rPr>
                      <m:t>,…}</m:t>
                    </m:r>
                  </m:oMath>
                </a14:m>
                <a:r>
                  <a:rPr lang="en-US" sz="2400" dirty="0"/>
                  <a:t> is optimal for a knapsack of size </a:t>
                </a:r>
                <a14:m>
                  <m:oMath xmlns:m="http://schemas.openxmlformats.org/officeDocument/2006/math">
                    <m:r>
                      <a:rPr lang="en-US" sz="2400" b="0" i="1" smtClean="0">
                        <a:latin typeface="Cambria Math" panose="02040503050406030204" pitchFamily="18" charset="0"/>
                      </a:rPr>
                      <m:t>𝑊</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1</m:t>
                        </m:r>
                      </m:sub>
                    </m:sSub>
                  </m:oMath>
                </a14:m>
                <a:r>
                  <a:rPr lang="en-US" sz="2400" dirty="0"/>
                  <a:t> </a:t>
                </a:r>
              </a:p>
              <a:p>
                <a:endParaRPr lang="en-US" sz="2400" dirty="0"/>
              </a:p>
              <a:p>
                <a:endParaRPr lang="en-US" sz="2400" dirty="0"/>
              </a:p>
              <a:p>
                <a:r>
                  <a:rPr lang="en-US" sz="2400" b="1" i="1" u="sng" dirty="0"/>
                  <a:t>Proof Outline</a:t>
                </a:r>
                <a:r>
                  <a:rPr lang="en-US" sz="2400" dirty="0"/>
                  <a:t>:</a:t>
                </a:r>
              </a:p>
              <a:p>
                <a:r>
                  <a:rPr lang="en-US" sz="2400" dirty="0"/>
                  <a:t>Let V() be a function that computes the value of an item or of an entire solution</a:t>
                </a:r>
              </a:p>
              <a:p>
                <a:r>
                  <a:rPr lang="en-US" sz="2400" dirty="0"/>
                  <a:t>Note that </a:t>
                </a:r>
                <a14:m>
                  <m:oMath xmlns:m="http://schemas.openxmlformats.org/officeDocument/2006/math">
                    <m:r>
                      <a:rPr lang="en-US" sz="2400" b="0" i="1" smtClean="0">
                        <a:latin typeface="Cambria Math" panose="02040503050406030204" pitchFamily="18" charset="0"/>
                      </a:rPr>
                      <m:t>𝑉</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𝑆</m:t>
                        </m:r>
                      </m:e>
                    </m:d>
                    <m:r>
                      <a:rPr lang="en-US" sz="2400" b="0" i="1" smtClean="0">
                        <a:latin typeface="Cambria Math" panose="02040503050406030204" pitchFamily="18" charset="0"/>
                      </a:rPr>
                      <m:t>=</m:t>
                    </m:r>
                    <m:r>
                      <a:rPr lang="en-US" sz="2400" b="0" i="1" smtClean="0">
                        <a:latin typeface="Cambria Math" panose="02040503050406030204" pitchFamily="18" charset="0"/>
                      </a:rPr>
                      <m:t>𝑉</m:t>
                    </m:r>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1</m:t>
                            </m:r>
                          </m:sub>
                        </m:sSub>
                      </m:e>
                    </m:d>
                    <m:r>
                      <a:rPr lang="en-US" sz="2400" b="0" i="1" smtClean="0">
                        <a:latin typeface="Cambria Math" panose="02040503050406030204" pitchFamily="18" charset="0"/>
                      </a:rPr>
                      <m:t>+</m:t>
                    </m:r>
                    <m:r>
                      <a:rPr lang="en-US" sz="2400" b="0" i="1" smtClean="0">
                        <a:latin typeface="Cambria Math" panose="02040503050406030204" pitchFamily="18" charset="0"/>
                      </a:rPr>
                      <m:t>𝑉</m:t>
                    </m:r>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m:t>
                            </m:r>
                          </m:sup>
                        </m:sSup>
                      </m:e>
                    </m:d>
                  </m:oMath>
                </a14:m>
                <a:r>
                  <a:rPr lang="en-US" sz="2400" dirty="0"/>
                  <a:t> and recall that S is optimal</a:t>
                </a:r>
              </a:p>
              <a:p>
                <a:r>
                  <a:rPr lang="en-US" sz="2400" dirty="0"/>
                  <a:t>Suppose S’ is NOT optimal, then some better solution S’’ exists such that </a:t>
                </a:r>
                <a14:m>
                  <m:oMath xmlns:m="http://schemas.openxmlformats.org/officeDocument/2006/math">
                    <m:r>
                      <a:rPr lang="en-US" sz="2400" b="0" i="1" smtClean="0">
                        <a:latin typeface="Cambria Math" panose="02040503050406030204" pitchFamily="18" charset="0"/>
                      </a:rPr>
                      <m:t>𝑉</m:t>
                    </m:r>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m:t>
                            </m:r>
                          </m:sup>
                        </m:sSup>
                      </m:e>
                    </m:d>
                    <m:r>
                      <a:rPr lang="en-US" sz="2400" b="0" i="1" smtClean="0">
                        <a:latin typeface="Cambria Math" panose="02040503050406030204" pitchFamily="18" charset="0"/>
                      </a:rPr>
                      <m:t>&gt;</m:t>
                    </m:r>
                    <m:r>
                      <a:rPr lang="en-US" sz="2400" b="0" i="1" smtClean="0">
                        <a:latin typeface="Cambria Math" panose="02040503050406030204" pitchFamily="18" charset="0"/>
                      </a:rPr>
                      <m:t>𝑉</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oMath>
                </a14:m>
                <a:r>
                  <a:rPr lang="en-US" sz="2400" dirty="0"/>
                  <a:t> for capacity </a:t>
                </a:r>
                <a14:m>
                  <m:oMath xmlns:m="http://schemas.openxmlformats.org/officeDocument/2006/math">
                    <m:r>
                      <a:rPr lang="en-US" sz="2400" b="0" i="1" smtClean="0">
                        <a:latin typeface="Cambria Math" panose="02040503050406030204" pitchFamily="18" charset="0"/>
                      </a:rPr>
                      <m:t>𝑊</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1</m:t>
                        </m:r>
                      </m:sub>
                    </m:sSub>
                  </m:oMath>
                </a14:m>
                <a:endParaRPr lang="en-US" sz="2400" dirty="0"/>
              </a:p>
              <a:p>
                <a:r>
                  <a:rPr lang="en-US" sz="2400" dirty="0"/>
                  <a:t>But now there is a better overall solution: </a:t>
                </a:r>
                <a14:m>
                  <m:oMath xmlns:m="http://schemas.openxmlformats.org/officeDocument/2006/math">
                    <m:r>
                      <a:rPr lang="en-US" sz="2400" b="0" i="1" smtClean="0">
                        <a:latin typeface="Cambria Math" panose="02040503050406030204" pitchFamily="18" charset="0"/>
                      </a:rPr>
                      <m:t>𝑉</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𝑆</m:t>
                        </m:r>
                      </m:e>
                    </m:d>
                    <m:r>
                      <a:rPr lang="en-US" sz="2400" b="0" i="1" smtClean="0">
                        <a:latin typeface="Cambria Math" panose="02040503050406030204" pitchFamily="18" charset="0"/>
                      </a:rPr>
                      <m:t>=</m:t>
                    </m:r>
                    <m:r>
                      <a:rPr lang="en-US" sz="2400" b="0" i="1" smtClean="0">
                        <a:latin typeface="Cambria Math" panose="02040503050406030204" pitchFamily="18" charset="0"/>
                      </a:rPr>
                      <m:t>𝑉</m:t>
                    </m:r>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1</m:t>
                            </m:r>
                          </m:sub>
                        </m:sSub>
                      </m:e>
                    </m:d>
                    <m:r>
                      <a:rPr lang="en-US" sz="2400" b="0" i="1" smtClean="0">
                        <a:latin typeface="Cambria Math" panose="02040503050406030204" pitchFamily="18" charset="0"/>
                      </a:rPr>
                      <m:t>+</m:t>
                    </m:r>
                    <m:r>
                      <a:rPr lang="en-US" sz="2400" b="0" i="1" smtClean="0">
                        <a:latin typeface="Cambria Math" panose="02040503050406030204" pitchFamily="18" charset="0"/>
                      </a:rPr>
                      <m:t>𝑉</m:t>
                    </m:r>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m:t>
                            </m:r>
                          </m:sup>
                        </m:sSup>
                      </m:e>
                    </m:d>
                    <m:r>
                      <a:rPr lang="en-US" sz="2400" b="0" i="1" smtClean="0">
                        <a:latin typeface="Cambria Math" panose="02040503050406030204" pitchFamily="18" charset="0"/>
                      </a:rPr>
                      <m:t>&lt;</m:t>
                    </m:r>
                    <m:r>
                      <a:rPr lang="en-US" sz="2400" b="0" i="1" smtClean="0">
                        <a:latin typeface="Cambria Math" panose="02040503050406030204" pitchFamily="18" charset="0"/>
                      </a:rPr>
                      <m:t>𝑉</m:t>
                    </m:r>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1</m:t>
                            </m:r>
                          </m:sub>
                        </m:sSub>
                      </m:e>
                    </m:d>
                    <m:r>
                      <a:rPr lang="en-US" sz="2400" b="0" i="1" smtClean="0">
                        <a:latin typeface="Cambria Math" panose="02040503050406030204" pitchFamily="18" charset="0"/>
                      </a:rPr>
                      <m:t>+</m:t>
                    </m:r>
                    <m:r>
                      <a:rPr lang="en-US" sz="2400" b="0" i="1" smtClean="0">
                        <a:latin typeface="Cambria Math" panose="02040503050406030204" pitchFamily="18" charset="0"/>
                      </a:rPr>
                      <m:t>𝑉</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oMath>
                </a14:m>
                <a:r>
                  <a:rPr lang="en-US" sz="2400" dirty="0"/>
                  <a:t> so the original S is not actually optimal as assumed. Contradiction!!</a:t>
                </a:r>
              </a:p>
            </p:txBody>
          </p:sp>
        </mc:Choice>
        <mc:Fallback>
          <p:sp>
            <p:nvSpPr>
              <p:cNvPr id="3" name="Content Placeholder 2"/>
              <p:cNvSpPr>
                <a:spLocks noGrp="1" noRot="1" noChangeAspect="1" noMove="1" noResize="1" noEditPoints="1" noAdjustHandles="1" noChangeArrowheads="1" noChangeShapeType="1" noTextEdit="1"/>
              </p:cNvSpPr>
              <p:nvPr>
                <p:ph sz="quarter" idx="1"/>
              </p:nvPr>
            </p:nvSpPr>
            <p:spPr>
              <a:xfrm>
                <a:off x="304800" y="1295400"/>
                <a:ext cx="11658600" cy="5257800"/>
              </a:xfrm>
              <a:blipFill>
                <a:blip r:embed="rId2"/>
                <a:stretch>
                  <a:fillRect l="-979" t="-2174" r="-653" b="-483"/>
                </a:stretch>
              </a:blipFill>
            </p:spPr>
            <p:txBody>
              <a:bodyPr/>
              <a:lstStyle/>
              <a:p>
                <a:r>
                  <a:rPr lang="en-US">
                    <a:noFill/>
                  </a:rPr>
                  <a:t> </a:t>
                </a:r>
              </a:p>
            </p:txBody>
          </p:sp>
        </mc:Fallback>
      </mc:AlternateContent>
    </p:spTree>
    <p:extLst>
      <p:ext uri="{BB962C8B-B14F-4D97-AF65-F5344CB8AC3E}">
        <p14:creationId xmlns:p14="http://schemas.microsoft.com/office/powerpoint/2010/main" val="4271314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custDataLst>
              <p:tags r:id="rId1"/>
            </p:custDataLst>
          </p:nvPr>
        </p:nvSpPr>
        <p:spPr/>
        <p:txBody>
          <a:bodyPr/>
          <a:lstStyle/>
          <a:p>
            <a:r>
              <a:rPr lang="en-US" dirty="0">
                <a:latin typeface="Arial" charset="0"/>
                <a:ea typeface="ＭＳ Ｐゴシック" charset="0"/>
                <a:cs typeface="ＭＳ Ｐゴシック" charset="0"/>
              </a:rPr>
              <a:t>Greedy Approach for Fractional Knapsack?</a:t>
            </a:r>
          </a:p>
        </p:txBody>
      </p:sp>
      <p:sp>
        <p:nvSpPr>
          <p:cNvPr id="1559555" name="Rectangle 3"/>
          <p:cNvSpPr>
            <a:spLocks noGrp="1" noChangeArrowheads="1"/>
          </p:cNvSpPr>
          <p:nvPr>
            <p:ph type="body" idx="1"/>
            <p:custDataLst>
              <p:tags r:id="rId2"/>
            </p:custDataLst>
          </p:nvPr>
        </p:nvSpPr>
        <p:spPr>
          <a:xfrm>
            <a:off x="609600" y="1447800"/>
            <a:ext cx="10972800" cy="4678363"/>
          </a:xfrm>
        </p:spPr>
        <p:txBody>
          <a:bodyPr anchor="t" anchorCtr="0">
            <a:normAutofit/>
          </a:bodyPr>
          <a:lstStyle/>
          <a:p>
            <a:pPr>
              <a:lnSpc>
                <a:spcPct val="80000"/>
              </a:lnSpc>
            </a:pPr>
            <a:r>
              <a:rPr lang="en-US" sz="2800" dirty="0">
                <a:ea typeface="ＭＳ Ｐゴシック" charset="0"/>
                <a:cs typeface="ＭＳ Ｐゴシック" charset="0"/>
              </a:rPr>
              <a:t>Build up a partial solutions:</a:t>
            </a:r>
          </a:p>
          <a:p>
            <a:pPr lvl="1">
              <a:lnSpc>
                <a:spcPct val="80000"/>
              </a:lnSpc>
            </a:pPr>
            <a:r>
              <a:rPr lang="en-US" sz="2400" dirty="0">
                <a:ea typeface="ＭＳ Ｐゴシック" charset="0"/>
                <a:cs typeface="ＭＳ Ｐゴシック" charset="0"/>
              </a:rPr>
              <a:t>Determine which of the remaining items to add</a:t>
            </a:r>
          </a:p>
          <a:p>
            <a:pPr lvl="1">
              <a:lnSpc>
                <a:spcPct val="80000"/>
              </a:lnSpc>
            </a:pPr>
            <a:r>
              <a:rPr lang="en-US" sz="2400" dirty="0">
                <a:ea typeface="ＭＳ Ｐゴシック" charset="0"/>
                <a:cs typeface="ＭＳ Ｐゴシック" charset="0"/>
              </a:rPr>
              <a:t>How much can you add (its x</a:t>
            </a:r>
            <a:r>
              <a:rPr lang="en-US" sz="2400" baseline="-25000" dirty="0">
                <a:ea typeface="ＭＳ Ｐゴシック" charset="0"/>
                <a:cs typeface="ＭＳ Ｐゴシック" charset="0"/>
              </a:rPr>
              <a:t>i</a:t>
            </a:r>
            <a:r>
              <a:rPr lang="en-US" sz="2400" dirty="0">
                <a:ea typeface="ＭＳ Ｐゴシック" charset="0"/>
                <a:cs typeface="ＭＳ Ｐゴシック" charset="0"/>
              </a:rPr>
              <a:t>)</a:t>
            </a:r>
          </a:p>
          <a:p>
            <a:pPr lvl="1">
              <a:lnSpc>
                <a:spcPct val="80000"/>
              </a:lnSpc>
            </a:pPr>
            <a:r>
              <a:rPr lang="en-US" sz="2400" dirty="0">
                <a:ea typeface="ＭＳ Ｐゴシック" charset="0"/>
                <a:cs typeface="ＭＳ Ｐゴシック" charset="0"/>
              </a:rPr>
              <a:t>Repeat until knapsack is full (or no more items)</a:t>
            </a:r>
          </a:p>
          <a:p>
            <a:pPr marL="457200" lvl="1" indent="0">
              <a:lnSpc>
                <a:spcPct val="80000"/>
              </a:lnSpc>
              <a:buNone/>
            </a:pPr>
            <a:endParaRPr lang="en-US" sz="2800" dirty="0">
              <a:ea typeface="ＭＳ Ｐゴシック" charset="0"/>
              <a:cs typeface="ＭＳ Ｐゴシック" charset="0"/>
            </a:endParaRPr>
          </a:p>
          <a:p>
            <a:pPr>
              <a:lnSpc>
                <a:spcPct val="80000"/>
              </a:lnSpc>
            </a:pPr>
            <a:r>
              <a:rPr lang="en-US" sz="2800" dirty="0">
                <a:ea typeface="ＭＳ Ｐゴシック" charset="0"/>
                <a:cs typeface="ＭＳ Ｐゴシック" charset="0"/>
              </a:rPr>
              <a:t>Which item to choose next?</a:t>
            </a:r>
            <a:br>
              <a:rPr lang="en-US" sz="2800" dirty="0">
                <a:ea typeface="ＭＳ Ｐゴシック" charset="0"/>
                <a:cs typeface="ＭＳ Ｐゴシック" charset="0"/>
              </a:rPr>
            </a:br>
            <a:r>
              <a:rPr lang="en-US" sz="2800" dirty="0">
                <a:ea typeface="ＭＳ Ｐゴシック" charset="0"/>
                <a:cs typeface="ＭＳ Ｐゴシック" charset="0"/>
              </a:rPr>
              <a:t>What’s a good </a:t>
            </a:r>
            <a:r>
              <a:rPr lang="en-US" sz="2800" b="1" dirty="0">
                <a:solidFill>
                  <a:srgbClr val="0070C0"/>
                </a:solidFill>
                <a:ea typeface="ＭＳ Ｐゴシック" charset="0"/>
                <a:cs typeface="ＭＳ Ｐゴシック" charset="0"/>
              </a:rPr>
              <a:t>greedy choice</a:t>
            </a:r>
            <a:r>
              <a:rPr lang="en-US" sz="2800" dirty="0">
                <a:ea typeface="ＭＳ Ｐゴシック" charset="0"/>
                <a:cs typeface="ＭＳ Ｐゴシック" charset="0"/>
              </a:rPr>
              <a:t> (AKA </a:t>
            </a:r>
            <a:r>
              <a:rPr lang="en-US" sz="2800" b="1" dirty="0">
                <a:solidFill>
                  <a:srgbClr val="0070C0"/>
                </a:solidFill>
                <a:ea typeface="ＭＳ Ｐゴシック" charset="0"/>
                <a:cs typeface="ＭＳ Ｐゴシック" charset="0"/>
              </a:rPr>
              <a:t>greedy selection)</a:t>
            </a:r>
            <a:r>
              <a:rPr lang="en-US" sz="2800" dirty="0">
                <a:ea typeface="ＭＳ Ｐゴシック" charset="0"/>
                <a:cs typeface="ＭＳ Ｐゴシック" charset="0"/>
              </a:rPr>
              <a:t>?</a:t>
            </a:r>
          </a:p>
          <a:p>
            <a:pPr>
              <a:lnSpc>
                <a:spcPct val="80000"/>
              </a:lnSpc>
            </a:pPr>
            <a:r>
              <a:rPr lang="en-US" sz="2800" dirty="0">
                <a:ea typeface="ＭＳ Ｐゴシック" charset="0"/>
                <a:cs typeface="ＭＳ Ｐゴシック" charset="0"/>
              </a:rPr>
              <a:t>Let’s try several obvious options on this example:</a:t>
            </a:r>
          </a:p>
          <a:p>
            <a:pPr marL="457200" lvl="1" indent="0">
              <a:lnSpc>
                <a:spcPct val="80000"/>
              </a:lnSpc>
              <a:buNone/>
            </a:pPr>
            <a:endParaRPr lang="en-US" sz="2400" dirty="0">
              <a:ea typeface="ＭＳ Ｐゴシック" charset="0"/>
            </a:endParaRPr>
          </a:p>
          <a:p>
            <a:pPr marL="0" indent="0">
              <a:lnSpc>
                <a:spcPct val="80000"/>
              </a:lnSpc>
              <a:buNone/>
            </a:pPr>
            <a:endParaRPr lang="en-US" sz="2800" dirty="0">
              <a:ea typeface="ＭＳ Ｐゴシック" charset="0"/>
              <a:cs typeface="ＭＳ Ｐゴシック" charset="0"/>
            </a:endParaRPr>
          </a:p>
        </p:txBody>
      </p:sp>
      <p:graphicFrame>
        <p:nvGraphicFramePr>
          <p:cNvPr id="5" name="Table 4">
            <a:extLst>
              <a:ext uri="{FF2B5EF4-FFF2-40B4-BE49-F238E27FC236}">
                <a16:creationId xmlns:a16="http://schemas.microsoft.com/office/drawing/2014/main" id="{0FB6A57A-89AF-EC48-B758-6139E68F472C}"/>
              </a:ext>
            </a:extLst>
          </p:cNvPr>
          <p:cNvGraphicFramePr>
            <a:graphicFrameLocks noGrp="1"/>
          </p:cNvGraphicFramePr>
          <p:nvPr/>
        </p:nvGraphicFramePr>
        <p:xfrm>
          <a:off x="3540078" y="4986397"/>
          <a:ext cx="2665459" cy="1478280"/>
        </p:xfrm>
        <a:graphic>
          <a:graphicData uri="http://schemas.openxmlformats.org/drawingml/2006/table">
            <a:tbl>
              <a:tblPr firstRow="1" bandRow="1">
                <a:tableStyleId>{5C22544A-7EE6-4342-B048-85BDC9FD1C3A}</a:tableStyleId>
              </a:tblPr>
              <a:tblGrid>
                <a:gridCol w="838200">
                  <a:extLst>
                    <a:ext uri="{9D8B030D-6E8A-4147-A177-3AD203B41FA5}">
                      <a16:colId xmlns:a16="http://schemas.microsoft.com/office/drawing/2014/main" val="20000"/>
                    </a:ext>
                  </a:extLst>
                </a:gridCol>
                <a:gridCol w="841369">
                  <a:extLst>
                    <a:ext uri="{9D8B030D-6E8A-4147-A177-3AD203B41FA5}">
                      <a16:colId xmlns:a16="http://schemas.microsoft.com/office/drawing/2014/main" val="20001"/>
                    </a:ext>
                  </a:extLst>
                </a:gridCol>
                <a:gridCol w="985890">
                  <a:extLst>
                    <a:ext uri="{9D8B030D-6E8A-4147-A177-3AD203B41FA5}">
                      <a16:colId xmlns:a16="http://schemas.microsoft.com/office/drawing/2014/main" val="20002"/>
                    </a:ext>
                  </a:extLst>
                </a:gridCol>
              </a:tblGrid>
              <a:tr h="238760">
                <a:tc>
                  <a:txBody>
                    <a:bodyPr/>
                    <a:lstStyle/>
                    <a:p>
                      <a:pPr algn="ctr"/>
                      <a:r>
                        <a:rPr lang="en-US" dirty="0"/>
                        <a:t>Item</a:t>
                      </a:r>
                    </a:p>
                  </a:txBody>
                  <a:tcPr/>
                </a:tc>
                <a:tc>
                  <a:txBody>
                    <a:bodyPr/>
                    <a:lstStyle/>
                    <a:p>
                      <a:pPr algn="ctr"/>
                      <a:r>
                        <a:rPr lang="en-US" dirty="0"/>
                        <a:t>Value</a:t>
                      </a:r>
                    </a:p>
                  </a:txBody>
                  <a:tcPr/>
                </a:tc>
                <a:tc>
                  <a:txBody>
                    <a:bodyPr/>
                    <a:lstStyle/>
                    <a:p>
                      <a:pPr algn="ctr"/>
                      <a:r>
                        <a:rPr lang="en-US" dirty="0"/>
                        <a:t>Weight</a:t>
                      </a:r>
                    </a:p>
                  </a:txBody>
                  <a:tcPr/>
                </a:tc>
                <a:extLst>
                  <a:ext uri="{0D108BD9-81ED-4DB2-BD59-A6C34878D82A}">
                    <a16:rowId xmlns:a16="http://schemas.microsoft.com/office/drawing/2014/main" val="10000"/>
                  </a:ext>
                </a:extLst>
              </a:tr>
              <a:tr h="370840">
                <a:tc>
                  <a:txBody>
                    <a:bodyPr/>
                    <a:lstStyle/>
                    <a:p>
                      <a:pPr algn="ctr"/>
                      <a:r>
                        <a:rPr lang="en-US" dirty="0"/>
                        <a:t>1</a:t>
                      </a:r>
                    </a:p>
                  </a:txBody>
                  <a:tcPr/>
                </a:tc>
                <a:tc>
                  <a:txBody>
                    <a:bodyPr/>
                    <a:lstStyle/>
                    <a:p>
                      <a:pPr algn="ctr"/>
                      <a:r>
                        <a:rPr lang="en-US" dirty="0"/>
                        <a:t>25</a:t>
                      </a:r>
                    </a:p>
                  </a:txBody>
                  <a:tcPr/>
                </a:tc>
                <a:tc>
                  <a:txBody>
                    <a:bodyPr/>
                    <a:lstStyle/>
                    <a:p>
                      <a:pPr algn="ctr"/>
                      <a:r>
                        <a:rPr lang="en-US" dirty="0"/>
                        <a:t>18</a:t>
                      </a:r>
                    </a:p>
                  </a:txBody>
                  <a:tcPr/>
                </a:tc>
                <a:extLst>
                  <a:ext uri="{0D108BD9-81ED-4DB2-BD59-A6C34878D82A}">
                    <a16:rowId xmlns:a16="http://schemas.microsoft.com/office/drawing/2014/main" val="10001"/>
                  </a:ext>
                </a:extLst>
              </a:tr>
              <a:tr h="370840">
                <a:tc>
                  <a:txBody>
                    <a:bodyPr/>
                    <a:lstStyle/>
                    <a:p>
                      <a:pPr algn="ctr"/>
                      <a:r>
                        <a:rPr lang="en-US" dirty="0"/>
                        <a:t>2</a:t>
                      </a:r>
                    </a:p>
                  </a:txBody>
                  <a:tcPr/>
                </a:tc>
                <a:tc>
                  <a:txBody>
                    <a:bodyPr/>
                    <a:lstStyle/>
                    <a:p>
                      <a:pPr algn="ctr"/>
                      <a:r>
                        <a:rPr lang="en-US" dirty="0"/>
                        <a:t>24</a:t>
                      </a:r>
                    </a:p>
                  </a:txBody>
                  <a:tcPr/>
                </a:tc>
                <a:tc>
                  <a:txBody>
                    <a:bodyPr/>
                    <a:lstStyle/>
                    <a:p>
                      <a:pPr algn="ctr"/>
                      <a:r>
                        <a:rPr lang="en-US" dirty="0"/>
                        <a:t>15</a:t>
                      </a:r>
                    </a:p>
                  </a:txBody>
                  <a:tcPr/>
                </a:tc>
                <a:extLst>
                  <a:ext uri="{0D108BD9-81ED-4DB2-BD59-A6C34878D82A}">
                    <a16:rowId xmlns:a16="http://schemas.microsoft.com/office/drawing/2014/main" val="10002"/>
                  </a:ext>
                </a:extLst>
              </a:tr>
              <a:tr h="370840">
                <a:tc>
                  <a:txBody>
                    <a:bodyPr/>
                    <a:lstStyle/>
                    <a:p>
                      <a:pPr algn="ctr"/>
                      <a:r>
                        <a:rPr lang="en-US" dirty="0"/>
                        <a:t>3</a:t>
                      </a:r>
                    </a:p>
                  </a:txBody>
                  <a:tcPr/>
                </a:tc>
                <a:tc>
                  <a:txBody>
                    <a:bodyPr/>
                    <a:lstStyle/>
                    <a:p>
                      <a:pPr algn="ctr"/>
                      <a:r>
                        <a:rPr lang="en-US" dirty="0"/>
                        <a:t>15</a:t>
                      </a:r>
                    </a:p>
                  </a:txBody>
                  <a:tcPr/>
                </a:tc>
                <a:tc>
                  <a:txBody>
                    <a:bodyPr/>
                    <a:lstStyle/>
                    <a:p>
                      <a:pPr algn="ctr"/>
                      <a:r>
                        <a:rPr lang="en-US" dirty="0"/>
                        <a:t>10</a:t>
                      </a:r>
                    </a:p>
                  </a:txBody>
                  <a:tcPr/>
                </a:tc>
                <a:extLst>
                  <a:ext uri="{0D108BD9-81ED-4DB2-BD59-A6C34878D82A}">
                    <a16:rowId xmlns:a16="http://schemas.microsoft.com/office/drawing/2014/main" val="10003"/>
                  </a:ext>
                </a:extLst>
              </a:tr>
            </a:tbl>
          </a:graphicData>
        </a:graphic>
      </p:graphicFrame>
      <p:sp>
        <p:nvSpPr>
          <p:cNvPr id="6" name="TextBox 5">
            <a:extLst>
              <a:ext uri="{FF2B5EF4-FFF2-40B4-BE49-F238E27FC236}">
                <a16:creationId xmlns:a16="http://schemas.microsoft.com/office/drawing/2014/main" id="{1365E9EE-5196-374E-8F60-89B7B9D21DB6}"/>
              </a:ext>
            </a:extLst>
          </p:cNvPr>
          <p:cNvSpPr txBox="1"/>
          <p:nvPr/>
        </p:nvSpPr>
        <p:spPr>
          <a:xfrm>
            <a:off x="3505200" y="4572000"/>
            <a:ext cx="1454244" cy="400110"/>
          </a:xfrm>
          <a:prstGeom prst="rect">
            <a:avLst/>
          </a:prstGeom>
          <a:noFill/>
        </p:spPr>
        <p:txBody>
          <a:bodyPr wrap="none" rtlCol="0">
            <a:spAutoFit/>
          </a:bodyPr>
          <a:lstStyle/>
          <a:p>
            <a:r>
              <a:rPr lang="en-US" sz="2000" dirty="0">
                <a:ea typeface="ＭＳ Ｐゴシック" charset="0"/>
              </a:rPr>
              <a:t>n = 3, C = 20</a:t>
            </a:r>
            <a:endParaRPr lang="en-US" sz="2000" dirty="0"/>
          </a:p>
        </p:txBody>
      </p:sp>
    </p:spTree>
    <p:extLst>
      <p:ext uri="{BB962C8B-B14F-4D97-AF65-F5344CB8AC3E}">
        <p14:creationId xmlns:p14="http://schemas.microsoft.com/office/powerpoint/2010/main" val="32921559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Rectangle 3"/>
          <p:cNvSpPr>
            <a:spLocks noGrp="1" noChangeArrowheads="1"/>
          </p:cNvSpPr>
          <p:nvPr>
            <p:ph type="body" idx="1"/>
            <p:custDataLst>
              <p:tags r:id="rId1"/>
            </p:custDataLst>
          </p:nvPr>
        </p:nvSpPr>
        <p:spPr>
          <a:xfrm>
            <a:off x="304800" y="1524000"/>
            <a:ext cx="9906000" cy="4724400"/>
          </a:xfrm>
        </p:spPr>
        <p:txBody>
          <a:bodyPr anchor="t" anchorCtr="0">
            <a:normAutofit/>
          </a:bodyPr>
          <a:lstStyle/>
          <a:p>
            <a:pPr marL="0" indent="0">
              <a:lnSpc>
                <a:spcPct val="90000"/>
              </a:lnSpc>
              <a:buNone/>
            </a:pPr>
            <a:r>
              <a:rPr lang="en-US" b="1" dirty="0">
                <a:ea typeface="ＭＳ Ｐゴシック" charset="0"/>
                <a:cs typeface="ＭＳ Ｐゴシック" charset="0"/>
              </a:rPr>
              <a:t>Greedy choice #1:  by highest profit value</a:t>
            </a:r>
          </a:p>
          <a:p>
            <a:pPr marL="0" indent="0">
              <a:lnSpc>
                <a:spcPct val="90000"/>
              </a:lnSpc>
              <a:buNone/>
            </a:pPr>
            <a:endParaRPr lang="en-US" dirty="0">
              <a:ea typeface="ＭＳ Ｐゴシック" charset="0"/>
              <a:cs typeface="ＭＳ Ｐゴシック" charset="0"/>
            </a:endParaRPr>
          </a:p>
        </p:txBody>
      </p:sp>
      <p:sp>
        <p:nvSpPr>
          <p:cNvPr id="25603" name="Rectangle 2"/>
          <p:cNvSpPr>
            <a:spLocks noGrp="1" noChangeArrowheads="1"/>
          </p:cNvSpPr>
          <p:nvPr>
            <p:ph type="title"/>
            <p:custDataLst>
              <p:tags r:id="rId2"/>
            </p:custDataLst>
          </p:nvPr>
        </p:nvSpPr>
        <p:spPr/>
        <p:txBody>
          <a:bodyPr/>
          <a:lstStyle/>
          <a:p>
            <a:r>
              <a:rPr lang="en-US" sz="3600" dirty="0">
                <a:latin typeface="Arial" charset="0"/>
                <a:ea typeface="ＭＳ Ｐゴシック" charset="0"/>
                <a:cs typeface="ＭＳ Ｐゴシック" charset="0"/>
              </a:rPr>
              <a:t>Possible Greedy Choices for Knapsack</a:t>
            </a:r>
          </a:p>
        </p:txBody>
      </p:sp>
      <p:graphicFrame>
        <p:nvGraphicFramePr>
          <p:cNvPr id="5" name="Table 4">
            <a:extLst>
              <a:ext uri="{FF2B5EF4-FFF2-40B4-BE49-F238E27FC236}">
                <a16:creationId xmlns:a16="http://schemas.microsoft.com/office/drawing/2014/main" id="{A98B213A-C414-9745-ABBF-BA171187FA29}"/>
              </a:ext>
            </a:extLst>
          </p:cNvPr>
          <p:cNvGraphicFramePr>
            <a:graphicFrameLocks noGrp="1"/>
          </p:cNvGraphicFramePr>
          <p:nvPr/>
        </p:nvGraphicFramePr>
        <p:xfrm>
          <a:off x="838200" y="2438400"/>
          <a:ext cx="2665459" cy="1478280"/>
        </p:xfrm>
        <a:graphic>
          <a:graphicData uri="http://schemas.openxmlformats.org/drawingml/2006/table">
            <a:tbl>
              <a:tblPr firstRow="1" bandRow="1">
                <a:tableStyleId>{5C22544A-7EE6-4342-B048-85BDC9FD1C3A}</a:tableStyleId>
              </a:tblPr>
              <a:tblGrid>
                <a:gridCol w="838200">
                  <a:extLst>
                    <a:ext uri="{9D8B030D-6E8A-4147-A177-3AD203B41FA5}">
                      <a16:colId xmlns:a16="http://schemas.microsoft.com/office/drawing/2014/main" val="20000"/>
                    </a:ext>
                  </a:extLst>
                </a:gridCol>
                <a:gridCol w="841369">
                  <a:extLst>
                    <a:ext uri="{9D8B030D-6E8A-4147-A177-3AD203B41FA5}">
                      <a16:colId xmlns:a16="http://schemas.microsoft.com/office/drawing/2014/main" val="20001"/>
                    </a:ext>
                  </a:extLst>
                </a:gridCol>
                <a:gridCol w="985890">
                  <a:extLst>
                    <a:ext uri="{9D8B030D-6E8A-4147-A177-3AD203B41FA5}">
                      <a16:colId xmlns:a16="http://schemas.microsoft.com/office/drawing/2014/main" val="20002"/>
                    </a:ext>
                  </a:extLst>
                </a:gridCol>
              </a:tblGrid>
              <a:tr h="238760">
                <a:tc>
                  <a:txBody>
                    <a:bodyPr/>
                    <a:lstStyle/>
                    <a:p>
                      <a:pPr algn="ctr"/>
                      <a:r>
                        <a:rPr lang="en-US" dirty="0"/>
                        <a:t>Item</a:t>
                      </a:r>
                    </a:p>
                  </a:txBody>
                  <a:tcPr/>
                </a:tc>
                <a:tc>
                  <a:txBody>
                    <a:bodyPr/>
                    <a:lstStyle/>
                    <a:p>
                      <a:pPr algn="ctr"/>
                      <a:r>
                        <a:rPr lang="en-US" dirty="0"/>
                        <a:t>Value</a:t>
                      </a:r>
                    </a:p>
                  </a:txBody>
                  <a:tcPr/>
                </a:tc>
                <a:tc>
                  <a:txBody>
                    <a:bodyPr/>
                    <a:lstStyle/>
                    <a:p>
                      <a:pPr algn="ctr"/>
                      <a:r>
                        <a:rPr lang="en-US" dirty="0"/>
                        <a:t>Weight</a:t>
                      </a:r>
                    </a:p>
                  </a:txBody>
                  <a:tcPr/>
                </a:tc>
                <a:extLst>
                  <a:ext uri="{0D108BD9-81ED-4DB2-BD59-A6C34878D82A}">
                    <a16:rowId xmlns:a16="http://schemas.microsoft.com/office/drawing/2014/main" val="10000"/>
                  </a:ext>
                </a:extLst>
              </a:tr>
              <a:tr h="370840">
                <a:tc>
                  <a:txBody>
                    <a:bodyPr/>
                    <a:lstStyle/>
                    <a:p>
                      <a:pPr algn="ctr"/>
                      <a:r>
                        <a:rPr lang="en-US" dirty="0"/>
                        <a:t>1</a:t>
                      </a:r>
                    </a:p>
                  </a:txBody>
                  <a:tcPr/>
                </a:tc>
                <a:tc>
                  <a:txBody>
                    <a:bodyPr/>
                    <a:lstStyle/>
                    <a:p>
                      <a:pPr algn="ctr"/>
                      <a:r>
                        <a:rPr lang="en-US" dirty="0"/>
                        <a:t>25</a:t>
                      </a:r>
                    </a:p>
                  </a:txBody>
                  <a:tcPr/>
                </a:tc>
                <a:tc>
                  <a:txBody>
                    <a:bodyPr/>
                    <a:lstStyle/>
                    <a:p>
                      <a:pPr algn="ctr"/>
                      <a:r>
                        <a:rPr lang="en-US" dirty="0"/>
                        <a:t>18</a:t>
                      </a:r>
                    </a:p>
                  </a:txBody>
                  <a:tcPr/>
                </a:tc>
                <a:extLst>
                  <a:ext uri="{0D108BD9-81ED-4DB2-BD59-A6C34878D82A}">
                    <a16:rowId xmlns:a16="http://schemas.microsoft.com/office/drawing/2014/main" val="10001"/>
                  </a:ext>
                </a:extLst>
              </a:tr>
              <a:tr h="370840">
                <a:tc>
                  <a:txBody>
                    <a:bodyPr/>
                    <a:lstStyle/>
                    <a:p>
                      <a:pPr algn="ctr"/>
                      <a:r>
                        <a:rPr lang="en-US" dirty="0"/>
                        <a:t>2</a:t>
                      </a:r>
                    </a:p>
                  </a:txBody>
                  <a:tcPr/>
                </a:tc>
                <a:tc>
                  <a:txBody>
                    <a:bodyPr/>
                    <a:lstStyle/>
                    <a:p>
                      <a:pPr algn="ctr"/>
                      <a:r>
                        <a:rPr lang="en-US" dirty="0"/>
                        <a:t>24</a:t>
                      </a:r>
                    </a:p>
                  </a:txBody>
                  <a:tcPr/>
                </a:tc>
                <a:tc>
                  <a:txBody>
                    <a:bodyPr/>
                    <a:lstStyle/>
                    <a:p>
                      <a:pPr algn="ctr"/>
                      <a:r>
                        <a:rPr lang="en-US" dirty="0"/>
                        <a:t>15</a:t>
                      </a:r>
                    </a:p>
                  </a:txBody>
                  <a:tcPr/>
                </a:tc>
                <a:extLst>
                  <a:ext uri="{0D108BD9-81ED-4DB2-BD59-A6C34878D82A}">
                    <a16:rowId xmlns:a16="http://schemas.microsoft.com/office/drawing/2014/main" val="10002"/>
                  </a:ext>
                </a:extLst>
              </a:tr>
              <a:tr h="370840">
                <a:tc>
                  <a:txBody>
                    <a:bodyPr/>
                    <a:lstStyle/>
                    <a:p>
                      <a:pPr algn="ctr"/>
                      <a:r>
                        <a:rPr lang="en-US" dirty="0"/>
                        <a:t>3</a:t>
                      </a:r>
                    </a:p>
                  </a:txBody>
                  <a:tcPr/>
                </a:tc>
                <a:tc>
                  <a:txBody>
                    <a:bodyPr/>
                    <a:lstStyle/>
                    <a:p>
                      <a:pPr algn="ctr"/>
                      <a:r>
                        <a:rPr lang="en-US" dirty="0"/>
                        <a:t>15</a:t>
                      </a:r>
                    </a:p>
                  </a:txBody>
                  <a:tcPr/>
                </a:tc>
                <a:tc>
                  <a:txBody>
                    <a:bodyPr/>
                    <a:lstStyle/>
                    <a:p>
                      <a:pPr algn="ctr"/>
                      <a:r>
                        <a:rPr lang="en-US" dirty="0"/>
                        <a:t>10</a:t>
                      </a:r>
                    </a:p>
                  </a:txBody>
                  <a:tcPr/>
                </a:tc>
                <a:extLst>
                  <a:ext uri="{0D108BD9-81ED-4DB2-BD59-A6C34878D82A}">
                    <a16:rowId xmlns:a16="http://schemas.microsoft.com/office/drawing/2014/main" val="10003"/>
                  </a:ext>
                </a:extLst>
              </a:tr>
            </a:tbl>
          </a:graphicData>
        </a:graphic>
      </p:graphicFrame>
      <p:sp>
        <p:nvSpPr>
          <p:cNvPr id="3" name="TextBox 2">
            <a:extLst>
              <a:ext uri="{FF2B5EF4-FFF2-40B4-BE49-F238E27FC236}">
                <a16:creationId xmlns:a16="http://schemas.microsoft.com/office/drawing/2014/main" id="{1C78476D-7146-5240-8CD3-0291A1FEE75E}"/>
              </a:ext>
            </a:extLst>
          </p:cNvPr>
          <p:cNvSpPr txBox="1"/>
          <p:nvPr/>
        </p:nvSpPr>
        <p:spPr>
          <a:xfrm>
            <a:off x="762000" y="2069068"/>
            <a:ext cx="1454244" cy="400110"/>
          </a:xfrm>
          <a:prstGeom prst="rect">
            <a:avLst/>
          </a:prstGeom>
          <a:noFill/>
        </p:spPr>
        <p:txBody>
          <a:bodyPr wrap="none" rtlCol="0">
            <a:spAutoFit/>
          </a:bodyPr>
          <a:lstStyle/>
          <a:p>
            <a:r>
              <a:rPr lang="en-US" sz="2000" dirty="0">
                <a:ea typeface="ＭＳ Ｐゴシック" charset="0"/>
              </a:rPr>
              <a:t>n = 3, C = 20</a:t>
            </a:r>
            <a:endParaRPr lang="en-US" sz="2000" dirty="0"/>
          </a:p>
        </p:txBody>
      </p:sp>
      <p:sp>
        <p:nvSpPr>
          <p:cNvPr id="4" name="TextBox 3">
            <a:extLst>
              <a:ext uri="{FF2B5EF4-FFF2-40B4-BE49-F238E27FC236}">
                <a16:creationId xmlns:a16="http://schemas.microsoft.com/office/drawing/2014/main" id="{A5B5F1A0-5629-1D4B-B4EB-02EDBBD1B283}"/>
              </a:ext>
            </a:extLst>
          </p:cNvPr>
          <p:cNvSpPr txBox="1"/>
          <p:nvPr/>
        </p:nvSpPr>
        <p:spPr>
          <a:xfrm>
            <a:off x="586060" y="4671180"/>
            <a:ext cx="3604940" cy="1815882"/>
          </a:xfrm>
          <a:prstGeom prst="rect">
            <a:avLst/>
          </a:prstGeom>
          <a:noFill/>
          <a:ln w="38100">
            <a:solidFill>
              <a:srgbClr val="CC0000"/>
            </a:solidFill>
          </a:ln>
        </p:spPr>
        <p:txBody>
          <a:bodyPr wrap="square" rtlCol="0">
            <a:spAutoFit/>
          </a:bodyPr>
          <a:lstStyle/>
          <a:p>
            <a:r>
              <a:rPr lang="en-US" sz="2800" dirty="0"/>
              <a:t>Select item 1 first, then item 2, then item 3.</a:t>
            </a:r>
            <a:br>
              <a:rPr lang="en-US" sz="2800" dirty="0"/>
            </a:br>
            <a:r>
              <a:rPr lang="en-US" sz="2800" dirty="0"/>
              <a:t>Take as much of each as fits!</a:t>
            </a:r>
          </a:p>
        </p:txBody>
      </p:sp>
      <p:cxnSp>
        <p:nvCxnSpPr>
          <p:cNvPr id="8" name="Straight Connector 7">
            <a:extLst>
              <a:ext uri="{FF2B5EF4-FFF2-40B4-BE49-F238E27FC236}">
                <a16:creationId xmlns:a16="http://schemas.microsoft.com/office/drawing/2014/main" id="{2949B994-7430-0A40-B828-50B6FD35A9AF}"/>
              </a:ext>
            </a:extLst>
          </p:cNvPr>
          <p:cNvCxnSpPr>
            <a:cxnSpLocks/>
          </p:cNvCxnSpPr>
          <p:nvPr/>
        </p:nvCxnSpPr>
        <p:spPr>
          <a:xfrm flipH="1">
            <a:off x="1143000" y="3429000"/>
            <a:ext cx="533400" cy="1242180"/>
          </a:xfrm>
          <a:prstGeom prst="line">
            <a:avLst/>
          </a:prstGeom>
          <a:ln w="38100">
            <a:solidFill>
              <a:srgbClr val="C00000"/>
            </a:solidFill>
            <a:headEnd type="triangle" w="lg" len="lg"/>
          </a:ln>
        </p:spPr>
        <p:style>
          <a:lnRef idx="1">
            <a:schemeClr val="accent1"/>
          </a:lnRef>
          <a:fillRef idx="0">
            <a:schemeClr val="accent1"/>
          </a:fillRef>
          <a:effectRef idx="0">
            <a:schemeClr val="accent1"/>
          </a:effectRef>
          <a:fontRef idx="minor">
            <a:schemeClr val="tx1"/>
          </a:fontRef>
        </p:style>
      </p:cxnSp>
      <p:sp>
        <p:nvSpPr>
          <p:cNvPr id="17" name="Left Brace 16">
            <a:extLst>
              <a:ext uri="{FF2B5EF4-FFF2-40B4-BE49-F238E27FC236}">
                <a16:creationId xmlns:a16="http://schemas.microsoft.com/office/drawing/2014/main" id="{4BCC6C22-1363-104E-A224-89BF70437029}"/>
              </a:ext>
            </a:extLst>
          </p:cNvPr>
          <p:cNvSpPr/>
          <p:nvPr/>
        </p:nvSpPr>
        <p:spPr>
          <a:xfrm>
            <a:off x="1752600" y="2922330"/>
            <a:ext cx="155448" cy="914400"/>
          </a:xfrm>
          <a:prstGeom prst="leftBrace">
            <a:avLst/>
          </a:prstGeom>
          <a:ln w="2857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2" name="Rectangle 3">
            <a:extLst>
              <a:ext uri="{FF2B5EF4-FFF2-40B4-BE49-F238E27FC236}">
                <a16:creationId xmlns:a16="http://schemas.microsoft.com/office/drawing/2014/main" id="{72291819-186E-2C4E-9A61-7983665CCB43}"/>
              </a:ext>
            </a:extLst>
          </p:cNvPr>
          <p:cNvSpPr txBox="1">
            <a:spLocks noChangeArrowheads="1"/>
          </p:cNvSpPr>
          <p:nvPr>
            <p:custDataLst>
              <p:tags r:id="rId3"/>
            </p:custDataLst>
          </p:nvPr>
        </p:nvSpPr>
        <p:spPr>
          <a:xfrm>
            <a:off x="4495800" y="2269123"/>
            <a:ext cx="7110140" cy="4114800"/>
          </a:xfrm>
          <a:prstGeom prst="rect">
            <a:avLst/>
          </a:prstGeom>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nSpc>
                <a:spcPct val="90000"/>
              </a:lnSpc>
              <a:buFont typeface="+mj-lt"/>
              <a:buAutoNum type="arabicPeriod"/>
            </a:pPr>
            <a:r>
              <a:rPr lang="en-US" sz="2800" dirty="0">
                <a:ea typeface="ＭＳ Ｐゴシック" charset="0"/>
                <a:cs typeface="ＭＳ Ｐゴシック" charset="0"/>
              </a:rPr>
              <a:t>Item 1 first. Can take all of it, so x</a:t>
            </a:r>
            <a:r>
              <a:rPr lang="en-US" sz="2800" baseline="-25000" dirty="0">
                <a:ea typeface="ＭＳ Ｐゴシック" charset="0"/>
                <a:cs typeface="ＭＳ Ｐゴシック" charset="0"/>
              </a:rPr>
              <a:t>1</a:t>
            </a:r>
            <a:r>
              <a:rPr lang="en-US" sz="2800" dirty="0">
                <a:ea typeface="ＭＳ Ｐゴシック" charset="0"/>
                <a:cs typeface="ＭＳ Ｐゴシック" charset="0"/>
              </a:rPr>
              <a:t> is 1.</a:t>
            </a:r>
            <a:br>
              <a:rPr lang="en-US" sz="2800" dirty="0">
                <a:ea typeface="ＭＳ Ｐゴシック" charset="0"/>
                <a:cs typeface="ＭＳ Ｐゴシック" charset="0"/>
              </a:rPr>
            </a:br>
            <a:r>
              <a:rPr lang="en-US" sz="2800" dirty="0">
                <a:ea typeface="ＭＳ Ｐゴシック" charset="0"/>
                <a:cs typeface="ＭＳ Ｐゴシック" charset="0"/>
              </a:rPr>
              <a:t>Capacity used is 18 of 20. Profit so far is 25.</a:t>
            </a:r>
          </a:p>
          <a:p>
            <a:pPr marL="514350" indent="-514350">
              <a:lnSpc>
                <a:spcPct val="90000"/>
              </a:lnSpc>
              <a:buFont typeface="+mj-lt"/>
              <a:buAutoNum type="arabicPeriod"/>
            </a:pPr>
            <a:r>
              <a:rPr lang="en-US" sz="2800" dirty="0">
                <a:ea typeface="ＭＳ Ｐゴシック" charset="0"/>
                <a:cs typeface="ＭＳ Ｐゴシック" charset="0"/>
              </a:rPr>
              <a:t>Item 2 next. Room for only 2 units, so x</a:t>
            </a:r>
            <a:r>
              <a:rPr lang="en-US" sz="2800" baseline="-25000" dirty="0">
                <a:ea typeface="ＭＳ Ｐゴシック" charset="0"/>
                <a:cs typeface="ＭＳ Ｐゴシック" charset="0"/>
              </a:rPr>
              <a:t>2</a:t>
            </a:r>
            <a:r>
              <a:rPr lang="en-US" sz="2800" dirty="0">
                <a:ea typeface="ＭＳ Ｐゴシック" charset="0"/>
                <a:cs typeface="ＭＳ Ｐゴシック" charset="0"/>
              </a:rPr>
              <a:t> is 2/15 = 0.133.   Capacity used is 20 of 20.</a:t>
            </a:r>
            <a:br>
              <a:rPr lang="en-US" sz="2800" dirty="0">
                <a:ea typeface="ＭＳ Ｐゴシック" charset="0"/>
                <a:cs typeface="ＭＳ Ｐゴシック" charset="0"/>
              </a:rPr>
            </a:br>
            <a:r>
              <a:rPr lang="en-US" sz="2800" dirty="0">
                <a:ea typeface="ＭＳ Ｐゴシック" charset="0"/>
                <a:cs typeface="ＭＳ Ｐゴシック" charset="0"/>
              </a:rPr>
              <a:t>Profit so far is 25 + (24 </a:t>
            </a:r>
            <a:r>
              <a:rPr lang="en-US" sz="2400" dirty="0">
                <a:ea typeface="ＭＳ Ｐゴシック" charset="0"/>
                <a:cs typeface="ＭＳ Ｐゴシック" charset="0"/>
              </a:rPr>
              <a:t>x</a:t>
            </a:r>
            <a:r>
              <a:rPr lang="en-US" sz="2800" dirty="0">
                <a:ea typeface="ＭＳ Ｐゴシック" charset="0"/>
                <a:cs typeface="ＭＳ Ｐゴシック" charset="0"/>
              </a:rPr>
              <a:t> 0.133) = 28.2.</a:t>
            </a:r>
          </a:p>
          <a:p>
            <a:pPr marL="514350" indent="-514350">
              <a:lnSpc>
                <a:spcPct val="90000"/>
              </a:lnSpc>
              <a:buFont typeface="+mj-lt"/>
              <a:buAutoNum type="arabicPeriod"/>
            </a:pPr>
            <a:r>
              <a:rPr lang="en-US" sz="2800" dirty="0">
                <a:ea typeface="ＭＳ Ｐゴシック" charset="0"/>
                <a:cs typeface="ＭＳ Ｐゴシック" charset="0"/>
              </a:rPr>
              <a:t>Item 3 would be next, but knapsack full!</a:t>
            </a:r>
            <a:br>
              <a:rPr lang="en-US" sz="2800" dirty="0">
                <a:ea typeface="ＭＳ Ｐゴシック" charset="0"/>
                <a:cs typeface="ＭＳ Ｐゴシック" charset="0"/>
              </a:rPr>
            </a:br>
            <a:r>
              <a:rPr lang="en-US" sz="2800" dirty="0">
                <a:ea typeface="ＭＳ Ｐゴシック" charset="0"/>
                <a:cs typeface="ＭＳ Ｐゴシック" charset="0"/>
              </a:rPr>
              <a:t>x</a:t>
            </a:r>
            <a:r>
              <a:rPr lang="en-US" sz="2800" baseline="-25000" dirty="0">
                <a:ea typeface="ＭＳ Ｐゴシック" charset="0"/>
                <a:cs typeface="ＭＳ Ｐゴシック" charset="0"/>
              </a:rPr>
              <a:t>3</a:t>
            </a:r>
            <a:r>
              <a:rPr lang="en-US" sz="2800" dirty="0">
                <a:ea typeface="ＭＳ Ｐゴシック" charset="0"/>
                <a:cs typeface="ＭＳ Ｐゴシック" charset="0"/>
              </a:rPr>
              <a:t> is 0.  </a:t>
            </a:r>
            <a:r>
              <a:rPr lang="en-US" sz="2800" b="1" dirty="0">
                <a:solidFill>
                  <a:srgbClr val="C00000"/>
                </a:solidFill>
                <a:ea typeface="ＭＳ Ｐゴシック" charset="0"/>
                <a:cs typeface="ＭＳ Ｐゴシック" charset="0"/>
              </a:rPr>
              <a:t>Total profit is 28.2.   x</a:t>
            </a:r>
            <a:r>
              <a:rPr lang="en-US" sz="2800" b="1" baseline="-25000" dirty="0">
                <a:solidFill>
                  <a:srgbClr val="C00000"/>
                </a:solidFill>
                <a:ea typeface="ＭＳ Ｐゴシック" charset="0"/>
                <a:cs typeface="ＭＳ Ｐゴシック" charset="0"/>
              </a:rPr>
              <a:t>i</a:t>
            </a:r>
            <a:r>
              <a:rPr lang="en-US" sz="2800" b="1" dirty="0">
                <a:solidFill>
                  <a:srgbClr val="C00000"/>
                </a:solidFill>
                <a:ea typeface="ＭＳ Ｐゴシック" charset="0"/>
                <a:cs typeface="ＭＳ Ｐゴシック" charset="0"/>
              </a:rPr>
              <a:t> = (1, .133, 0)</a:t>
            </a:r>
          </a:p>
          <a:p>
            <a:pPr marL="0" indent="0">
              <a:lnSpc>
                <a:spcPct val="90000"/>
              </a:lnSpc>
              <a:buNone/>
            </a:pPr>
            <a:endParaRPr lang="en-US" sz="2800" dirty="0">
              <a:ea typeface="ＭＳ Ｐゴシック" charset="0"/>
              <a:cs typeface="ＭＳ Ｐゴシック" charset="0"/>
            </a:endParaRPr>
          </a:p>
          <a:p>
            <a:pPr marL="0" indent="0">
              <a:lnSpc>
                <a:spcPct val="90000"/>
              </a:lnSpc>
              <a:buFont typeface="Arial" panose="020B0604020202020204" pitchFamily="34" charset="0"/>
              <a:buNone/>
            </a:pPr>
            <a:endParaRPr lang="en-US" sz="2800" dirty="0">
              <a:ea typeface="ＭＳ Ｐゴシック" charset="0"/>
              <a:cs typeface="ＭＳ Ｐゴシック" charset="0"/>
            </a:endParaRPr>
          </a:p>
        </p:txBody>
      </p:sp>
    </p:spTree>
    <p:extLst>
      <p:ext uri="{BB962C8B-B14F-4D97-AF65-F5344CB8AC3E}">
        <p14:creationId xmlns:p14="http://schemas.microsoft.com/office/powerpoint/2010/main" val="1555740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7" grpId="0" animBg="1"/>
      <p:bldP spid="2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custDataLst>
              <p:tags r:id="rId1"/>
            </p:custDataLst>
          </p:nvPr>
        </p:nvSpPr>
        <p:spPr/>
        <p:txBody>
          <a:bodyPr/>
          <a:lstStyle/>
          <a:p>
            <a:r>
              <a:rPr lang="en-US" sz="3600" dirty="0">
                <a:latin typeface="Arial" charset="0"/>
                <a:ea typeface="ＭＳ Ｐゴシック" charset="0"/>
                <a:cs typeface="ＭＳ Ｐゴシック" charset="0"/>
              </a:rPr>
              <a:t>Possible Greedy Choices for Knapsack</a:t>
            </a:r>
          </a:p>
        </p:txBody>
      </p:sp>
      <p:sp>
        <p:nvSpPr>
          <p:cNvPr id="25604" name="Rectangle 3"/>
          <p:cNvSpPr>
            <a:spLocks noGrp="1" noChangeArrowheads="1"/>
          </p:cNvSpPr>
          <p:nvPr>
            <p:ph type="body" idx="1"/>
            <p:custDataLst>
              <p:tags r:id="rId2"/>
            </p:custDataLst>
          </p:nvPr>
        </p:nvSpPr>
        <p:spPr>
          <a:xfrm>
            <a:off x="304800" y="1524000"/>
            <a:ext cx="9906000" cy="4724400"/>
          </a:xfrm>
        </p:spPr>
        <p:txBody>
          <a:bodyPr anchor="t" anchorCtr="0">
            <a:normAutofit/>
          </a:bodyPr>
          <a:lstStyle/>
          <a:p>
            <a:pPr marL="0" indent="0">
              <a:lnSpc>
                <a:spcPct val="90000"/>
              </a:lnSpc>
              <a:buNone/>
            </a:pPr>
            <a:r>
              <a:rPr lang="en-US" b="1" dirty="0">
                <a:ea typeface="ＭＳ Ｐゴシック" charset="0"/>
                <a:cs typeface="ＭＳ Ｐゴシック" charset="0"/>
              </a:rPr>
              <a:t>Greedy choice #2:  by lowest weight</a:t>
            </a:r>
          </a:p>
          <a:p>
            <a:pPr marL="0" indent="0">
              <a:lnSpc>
                <a:spcPct val="90000"/>
              </a:lnSpc>
              <a:buNone/>
            </a:pPr>
            <a:endParaRPr lang="en-US" dirty="0">
              <a:ea typeface="ＭＳ Ｐゴシック" charset="0"/>
              <a:cs typeface="ＭＳ Ｐゴシック" charset="0"/>
            </a:endParaRPr>
          </a:p>
        </p:txBody>
      </p:sp>
      <p:graphicFrame>
        <p:nvGraphicFramePr>
          <p:cNvPr id="5" name="Table 4">
            <a:extLst>
              <a:ext uri="{FF2B5EF4-FFF2-40B4-BE49-F238E27FC236}">
                <a16:creationId xmlns:a16="http://schemas.microsoft.com/office/drawing/2014/main" id="{A98B213A-C414-9745-ABBF-BA171187FA29}"/>
              </a:ext>
            </a:extLst>
          </p:cNvPr>
          <p:cNvGraphicFramePr>
            <a:graphicFrameLocks noGrp="1"/>
          </p:cNvGraphicFramePr>
          <p:nvPr/>
        </p:nvGraphicFramePr>
        <p:xfrm>
          <a:off x="838200" y="2438400"/>
          <a:ext cx="2665459" cy="1478280"/>
        </p:xfrm>
        <a:graphic>
          <a:graphicData uri="http://schemas.openxmlformats.org/drawingml/2006/table">
            <a:tbl>
              <a:tblPr firstRow="1" bandRow="1">
                <a:tableStyleId>{5C22544A-7EE6-4342-B048-85BDC9FD1C3A}</a:tableStyleId>
              </a:tblPr>
              <a:tblGrid>
                <a:gridCol w="838200">
                  <a:extLst>
                    <a:ext uri="{9D8B030D-6E8A-4147-A177-3AD203B41FA5}">
                      <a16:colId xmlns:a16="http://schemas.microsoft.com/office/drawing/2014/main" val="20000"/>
                    </a:ext>
                  </a:extLst>
                </a:gridCol>
                <a:gridCol w="841369">
                  <a:extLst>
                    <a:ext uri="{9D8B030D-6E8A-4147-A177-3AD203B41FA5}">
                      <a16:colId xmlns:a16="http://schemas.microsoft.com/office/drawing/2014/main" val="20001"/>
                    </a:ext>
                  </a:extLst>
                </a:gridCol>
                <a:gridCol w="985890">
                  <a:extLst>
                    <a:ext uri="{9D8B030D-6E8A-4147-A177-3AD203B41FA5}">
                      <a16:colId xmlns:a16="http://schemas.microsoft.com/office/drawing/2014/main" val="20002"/>
                    </a:ext>
                  </a:extLst>
                </a:gridCol>
              </a:tblGrid>
              <a:tr h="238760">
                <a:tc>
                  <a:txBody>
                    <a:bodyPr/>
                    <a:lstStyle/>
                    <a:p>
                      <a:pPr algn="ctr"/>
                      <a:r>
                        <a:rPr lang="en-US" dirty="0"/>
                        <a:t>Item</a:t>
                      </a:r>
                    </a:p>
                  </a:txBody>
                  <a:tcPr/>
                </a:tc>
                <a:tc>
                  <a:txBody>
                    <a:bodyPr/>
                    <a:lstStyle/>
                    <a:p>
                      <a:pPr algn="ctr"/>
                      <a:r>
                        <a:rPr lang="en-US" dirty="0"/>
                        <a:t>Value</a:t>
                      </a:r>
                    </a:p>
                  </a:txBody>
                  <a:tcPr/>
                </a:tc>
                <a:tc>
                  <a:txBody>
                    <a:bodyPr/>
                    <a:lstStyle/>
                    <a:p>
                      <a:pPr algn="ctr"/>
                      <a:r>
                        <a:rPr lang="en-US" dirty="0"/>
                        <a:t>Weight</a:t>
                      </a:r>
                    </a:p>
                  </a:txBody>
                  <a:tcPr/>
                </a:tc>
                <a:extLst>
                  <a:ext uri="{0D108BD9-81ED-4DB2-BD59-A6C34878D82A}">
                    <a16:rowId xmlns:a16="http://schemas.microsoft.com/office/drawing/2014/main" val="10000"/>
                  </a:ext>
                </a:extLst>
              </a:tr>
              <a:tr h="370840">
                <a:tc>
                  <a:txBody>
                    <a:bodyPr/>
                    <a:lstStyle/>
                    <a:p>
                      <a:pPr algn="ctr"/>
                      <a:r>
                        <a:rPr lang="en-US" dirty="0"/>
                        <a:t>1</a:t>
                      </a:r>
                    </a:p>
                  </a:txBody>
                  <a:tcPr/>
                </a:tc>
                <a:tc>
                  <a:txBody>
                    <a:bodyPr/>
                    <a:lstStyle/>
                    <a:p>
                      <a:pPr algn="ctr"/>
                      <a:r>
                        <a:rPr lang="en-US" dirty="0"/>
                        <a:t>25</a:t>
                      </a:r>
                    </a:p>
                  </a:txBody>
                  <a:tcPr/>
                </a:tc>
                <a:tc>
                  <a:txBody>
                    <a:bodyPr/>
                    <a:lstStyle/>
                    <a:p>
                      <a:pPr algn="ctr"/>
                      <a:r>
                        <a:rPr lang="en-US" dirty="0"/>
                        <a:t>18</a:t>
                      </a:r>
                    </a:p>
                  </a:txBody>
                  <a:tcPr/>
                </a:tc>
                <a:extLst>
                  <a:ext uri="{0D108BD9-81ED-4DB2-BD59-A6C34878D82A}">
                    <a16:rowId xmlns:a16="http://schemas.microsoft.com/office/drawing/2014/main" val="10001"/>
                  </a:ext>
                </a:extLst>
              </a:tr>
              <a:tr h="370840">
                <a:tc>
                  <a:txBody>
                    <a:bodyPr/>
                    <a:lstStyle/>
                    <a:p>
                      <a:pPr algn="ctr"/>
                      <a:r>
                        <a:rPr lang="en-US" dirty="0"/>
                        <a:t>2</a:t>
                      </a:r>
                    </a:p>
                  </a:txBody>
                  <a:tcPr/>
                </a:tc>
                <a:tc>
                  <a:txBody>
                    <a:bodyPr/>
                    <a:lstStyle/>
                    <a:p>
                      <a:pPr algn="ctr"/>
                      <a:r>
                        <a:rPr lang="en-US" dirty="0"/>
                        <a:t>24</a:t>
                      </a:r>
                    </a:p>
                  </a:txBody>
                  <a:tcPr/>
                </a:tc>
                <a:tc>
                  <a:txBody>
                    <a:bodyPr/>
                    <a:lstStyle/>
                    <a:p>
                      <a:pPr algn="ctr"/>
                      <a:r>
                        <a:rPr lang="en-US" dirty="0"/>
                        <a:t>15</a:t>
                      </a:r>
                    </a:p>
                  </a:txBody>
                  <a:tcPr/>
                </a:tc>
                <a:extLst>
                  <a:ext uri="{0D108BD9-81ED-4DB2-BD59-A6C34878D82A}">
                    <a16:rowId xmlns:a16="http://schemas.microsoft.com/office/drawing/2014/main" val="10002"/>
                  </a:ext>
                </a:extLst>
              </a:tr>
              <a:tr h="370840">
                <a:tc>
                  <a:txBody>
                    <a:bodyPr/>
                    <a:lstStyle/>
                    <a:p>
                      <a:pPr algn="ctr"/>
                      <a:r>
                        <a:rPr lang="en-US" dirty="0"/>
                        <a:t>3</a:t>
                      </a:r>
                    </a:p>
                  </a:txBody>
                  <a:tcPr/>
                </a:tc>
                <a:tc>
                  <a:txBody>
                    <a:bodyPr/>
                    <a:lstStyle/>
                    <a:p>
                      <a:pPr algn="ctr"/>
                      <a:r>
                        <a:rPr lang="en-US" dirty="0"/>
                        <a:t>15</a:t>
                      </a:r>
                    </a:p>
                  </a:txBody>
                  <a:tcPr/>
                </a:tc>
                <a:tc>
                  <a:txBody>
                    <a:bodyPr/>
                    <a:lstStyle/>
                    <a:p>
                      <a:pPr algn="ctr"/>
                      <a:r>
                        <a:rPr lang="en-US" dirty="0"/>
                        <a:t>10</a:t>
                      </a:r>
                    </a:p>
                  </a:txBody>
                  <a:tcPr/>
                </a:tc>
                <a:extLst>
                  <a:ext uri="{0D108BD9-81ED-4DB2-BD59-A6C34878D82A}">
                    <a16:rowId xmlns:a16="http://schemas.microsoft.com/office/drawing/2014/main" val="10003"/>
                  </a:ext>
                </a:extLst>
              </a:tr>
            </a:tbl>
          </a:graphicData>
        </a:graphic>
      </p:graphicFrame>
      <p:sp>
        <p:nvSpPr>
          <p:cNvPr id="3" name="TextBox 2">
            <a:extLst>
              <a:ext uri="{FF2B5EF4-FFF2-40B4-BE49-F238E27FC236}">
                <a16:creationId xmlns:a16="http://schemas.microsoft.com/office/drawing/2014/main" id="{1C78476D-7146-5240-8CD3-0291A1FEE75E}"/>
              </a:ext>
            </a:extLst>
          </p:cNvPr>
          <p:cNvSpPr txBox="1"/>
          <p:nvPr/>
        </p:nvSpPr>
        <p:spPr>
          <a:xfrm>
            <a:off x="762000" y="2069068"/>
            <a:ext cx="1454244" cy="400110"/>
          </a:xfrm>
          <a:prstGeom prst="rect">
            <a:avLst/>
          </a:prstGeom>
          <a:noFill/>
        </p:spPr>
        <p:txBody>
          <a:bodyPr wrap="none" rtlCol="0">
            <a:spAutoFit/>
          </a:bodyPr>
          <a:lstStyle/>
          <a:p>
            <a:r>
              <a:rPr lang="en-US" sz="2000" dirty="0">
                <a:ea typeface="ＭＳ Ｐゴシック" charset="0"/>
              </a:rPr>
              <a:t>n = 3, C = 20</a:t>
            </a:r>
            <a:endParaRPr lang="en-US" sz="2000" dirty="0"/>
          </a:p>
        </p:txBody>
      </p:sp>
      <p:sp>
        <p:nvSpPr>
          <p:cNvPr id="4" name="TextBox 3">
            <a:extLst>
              <a:ext uri="{FF2B5EF4-FFF2-40B4-BE49-F238E27FC236}">
                <a16:creationId xmlns:a16="http://schemas.microsoft.com/office/drawing/2014/main" id="{A5B5F1A0-5629-1D4B-B4EB-02EDBBD1B283}"/>
              </a:ext>
            </a:extLst>
          </p:cNvPr>
          <p:cNvSpPr txBox="1"/>
          <p:nvPr/>
        </p:nvSpPr>
        <p:spPr>
          <a:xfrm>
            <a:off x="586060" y="4671180"/>
            <a:ext cx="3604940" cy="1815882"/>
          </a:xfrm>
          <a:prstGeom prst="rect">
            <a:avLst/>
          </a:prstGeom>
          <a:noFill/>
          <a:ln w="38100">
            <a:solidFill>
              <a:srgbClr val="CC0000"/>
            </a:solidFill>
          </a:ln>
        </p:spPr>
        <p:txBody>
          <a:bodyPr wrap="square" rtlCol="0">
            <a:spAutoFit/>
          </a:bodyPr>
          <a:lstStyle/>
          <a:p>
            <a:r>
              <a:rPr lang="en-US" sz="2800" dirty="0"/>
              <a:t>Select item 3 first, then item 2, then item 1.</a:t>
            </a:r>
            <a:br>
              <a:rPr lang="en-US" sz="2800" dirty="0"/>
            </a:br>
            <a:r>
              <a:rPr lang="en-US" sz="2800" dirty="0"/>
              <a:t>Take as much of each as fits!</a:t>
            </a:r>
          </a:p>
        </p:txBody>
      </p:sp>
      <p:cxnSp>
        <p:nvCxnSpPr>
          <p:cNvPr id="8" name="Straight Connector 7">
            <a:extLst>
              <a:ext uri="{FF2B5EF4-FFF2-40B4-BE49-F238E27FC236}">
                <a16:creationId xmlns:a16="http://schemas.microsoft.com/office/drawing/2014/main" id="{2949B994-7430-0A40-B828-50B6FD35A9AF}"/>
              </a:ext>
            </a:extLst>
          </p:cNvPr>
          <p:cNvCxnSpPr>
            <a:cxnSpLocks/>
          </p:cNvCxnSpPr>
          <p:nvPr/>
        </p:nvCxnSpPr>
        <p:spPr>
          <a:xfrm flipH="1">
            <a:off x="2000250" y="3414921"/>
            <a:ext cx="533400" cy="1242180"/>
          </a:xfrm>
          <a:prstGeom prst="line">
            <a:avLst/>
          </a:prstGeom>
          <a:ln w="38100">
            <a:solidFill>
              <a:srgbClr val="C00000"/>
            </a:solidFill>
            <a:headEnd type="triangle" w="lg" len="lg"/>
          </a:ln>
        </p:spPr>
        <p:style>
          <a:lnRef idx="1">
            <a:schemeClr val="accent1"/>
          </a:lnRef>
          <a:fillRef idx="0">
            <a:schemeClr val="accent1"/>
          </a:fillRef>
          <a:effectRef idx="0">
            <a:schemeClr val="accent1"/>
          </a:effectRef>
          <a:fontRef idx="minor">
            <a:schemeClr val="tx1"/>
          </a:fontRef>
        </p:style>
      </p:cxnSp>
      <p:sp>
        <p:nvSpPr>
          <p:cNvPr id="17" name="Left Brace 16">
            <a:extLst>
              <a:ext uri="{FF2B5EF4-FFF2-40B4-BE49-F238E27FC236}">
                <a16:creationId xmlns:a16="http://schemas.microsoft.com/office/drawing/2014/main" id="{4BCC6C22-1363-104E-A224-89BF70437029}"/>
              </a:ext>
            </a:extLst>
          </p:cNvPr>
          <p:cNvSpPr/>
          <p:nvPr/>
        </p:nvSpPr>
        <p:spPr>
          <a:xfrm>
            <a:off x="2638615" y="2922330"/>
            <a:ext cx="155448" cy="914400"/>
          </a:xfrm>
          <a:prstGeom prst="leftBrace">
            <a:avLst/>
          </a:prstGeom>
          <a:ln w="2857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2" name="Rectangle 3">
            <a:extLst>
              <a:ext uri="{FF2B5EF4-FFF2-40B4-BE49-F238E27FC236}">
                <a16:creationId xmlns:a16="http://schemas.microsoft.com/office/drawing/2014/main" id="{72291819-186E-2C4E-9A61-7983665CCB43}"/>
              </a:ext>
            </a:extLst>
          </p:cNvPr>
          <p:cNvSpPr txBox="1">
            <a:spLocks noChangeArrowheads="1"/>
          </p:cNvSpPr>
          <p:nvPr>
            <p:custDataLst>
              <p:tags r:id="rId3"/>
            </p:custDataLst>
          </p:nvPr>
        </p:nvSpPr>
        <p:spPr>
          <a:xfrm>
            <a:off x="4495800" y="2269123"/>
            <a:ext cx="7110140" cy="4114800"/>
          </a:xfrm>
          <a:prstGeom prst="rect">
            <a:avLst/>
          </a:prstGeom>
        </p:spPr>
        <p:txBody>
          <a:bodyPr vert="horz" lIns="91440" tIns="45720" rIns="91440" bIns="45720" rtlCol="0" anchor="t" anchorCtr="0">
            <a:normAutofit fontScale="925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nSpc>
                <a:spcPct val="90000"/>
              </a:lnSpc>
              <a:buFont typeface="+mj-lt"/>
              <a:buAutoNum type="arabicPeriod"/>
            </a:pPr>
            <a:r>
              <a:rPr lang="en-US" sz="2800" dirty="0">
                <a:ea typeface="ＭＳ Ｐゴシック" charset="0"/>
                <a:cs typeface="ＭＳ Ｐゴシック" charset="0"/>
              </a:rPr>
              <a:t>Item 3 first. Can take all of it, so x</a:t>
            </a:r>
            <a:r>
              <a:rPr lang="en-US" sz="2800" baseline="-25000" dirty="0">
                <a:ea typeface="ＭＳ Ｐゴシック" charset="0"/>
                <a:cs typeface="ＭＳ Ｐゴシック" charset="0"/>
              </a:rPr>
              <a:t>3</a:t>
            </a:r>
            <a:r>
              <a:rPr lang="en-US" sz="2800" dirty="0">
                <a:ea typeface="ＭＳ Ｐゴシック" charset="0"/>
                <a:cs typeface="ＭＳ Ｐゴシック" charset="0"/>
              </a:rPr>
              <a:t> is 1.</a:t>
            </a:r>
            <a:br>
              <a:rPr lang="en-US" sz="2800" dirty="0">
                <a:ea typeface="ＭＳ Ｐゴシック" charset="0"/>
                <a:cs typeface="ＭＳ Ｐゴシック" charset="0"/>
              </a:rPr>
            </a:br>
            <a:r>
              <a:rPr lang="en-US" sz="2800" dirty="0">
                <a:ea typeface="ＭＳ Ｐゴシック" charset="0"/>
                <a:cs typeface="ＭＳ Ｐゴシック" charset="0"/>
              </a:rPr>
              <a:t>Capacity used is 10 of 20. Profit so far is 15.</a:t>
            </a:r>
          </a:p>
          <a:p>
            <a:pPr marL="514350" indent="-514350">
              <a:lnSpc>
                <a:spcPct val="90000"/>
              </a:lnSpc>
              <a:buFont typeface="+mj-lt"/>
              <a:buAutoNum type="arabicPeriod"/>
            </a:pPr>
            <a:r>
              <a:rPr lang="en-US" sz="2800" dirty="0">
                <a:ea typeface="ＭＳ Ｐゴシック" charset="0"/>
                <a:cs typeface="ＭＳ Ｐゴシック" charset="0"/>
              </a:rPr>
              <a:t>Item 2 next. Room for only 10 units, so x</a:t>
            </a:r>
            <a:r>
              <a:rPr lang="en-US" sz="2800" baseline="-25000" dirty="0">
                <a:ea typeface="ＭＳ Ｐゴシック" charset="0"/>
                <a:cs typeface="ＭＳ Ｐゴシック" charset="0"/>
              </a:rPr>
              <a:t>2</a:t>
            </a:r>
            <a:r>
              <a:rPr lang="en-US" sz="2800" dirty="0">
                <a:ea typeface="ＭＳ Ｐゴシック" charset="0"/>
                <a:cs typeface="ＭＳ Ｐゴシック" charset="0"/>
              </a:rPr>
              <a:t> is 10/15 = 0.667.   Capacity used is 20 of 20.</a:t>
            </a:r>
            <a:br>
              <a:rPr lang="en-US" sz="2800" dirty="0">
                <a:ea typeface="ＭＳ Ｐゴシック" charset="0"/>
                <a:cs typeface="ＭＳ Ｐゴシック" charset="0"/>
              </a:rPr>
            </a:br>
            <a:r>
              <a:rPr lang="en-US" sz="2800" dirty="0">
                <a:ea typeface="ＭＳ Ｐゴシック" charset="0"/>
                <a:cs typeface="ＭＳ Ｐゴシック" charset="0"/>
              </a:rPr>
              <a:t>Profit so far is 15 + (24 </a:t>
            </a:r>
            <a:r>
              <a:rPr lang="en-US" sz="2400" dirty="0">
                <a:ea typeface="ＭＳ Ｐゴシック" charset="0"/>
                <a:cs typeface="ＭＳ Ｐゴシック" charset="0"/>
              </a:rPr>
              <a:t>x</a:t>
            </a:r>
            <a:r>
              <a:rPr lang="en-US" sz="2800" dirty="0">
                <a:ea typeface="ＭＳ Ｐゴシック" charset="0"/>
                <a:cs typeface="ＭＳ Ｐゴシック" charset="0"/>
              </a:rPr>
              <a:t> 0.667) = 31.</a:t>
            </a:r>
          </a:p>
          <a:p>
            <a:pPr marL="514350" indent="-514350">
              <a:lnSpc>
                <a:spcPct val="90000"/>
              </a:lnSpc>
              <a:buFont typeface="+mj-lt"/>
              <a:buAutoNum type="arabicPeriod"/>
            </a:pPr>
            <a:r>
              <a:rPr lang="en-US" sz="2800" dirty="0">
                <a:ea typeface="ＭＳ Ｐゴシック" charset="0"/>
                <a:cs typeface="ＭＳ Ｐゴシック" charset="0"/>
              </a:rPr>
              <a:t>Item 1 would be next, but knapsack full!</a:t>
            </a:r>
            <a:br>
              <a:rPr lang="en-US" sz="2800" dirty="0">
                <a:ea typeface="ＭＳ Ｐゴシック" charset="0"/>
                <a:cs typeface="ＭＳ Ｐゴシック" charset="0"/>
              </a:rPr>
            </a:br>
            <a:r>
              <a:rPr lang="en-US" sz="2800" dirty="0">
                <a:ea typeface="ＭＳ Ｐゴシック" charset="0"/>
                <a:cs typeface="ＭＳ Ｐゴシック" charset="0"/>
              </a:rPr>
              <a:t>x</a:t>
            </a:r>
            <a:r>
              <a:rPr lang="en-US" sz="2800" baseline="-25000" dirty="0">
                <a:ea typeface="ＭＳ Ｐゴシック" charset="0"/>
                <a:cs typeface="ＭＳ Ｐゴシック" charset="0"/>
              </a:rPr>
              <a:t>1</a:t>
            </a:r>
            <a:r>
              <a:rPr lang="en-US" sz="2800" dirty="0">
                <a:ea typeface="ＭＳ Ｐゴシック" charset="0"/>
                <a:cs typeface="ＭＳ Ｐゴシック" charset="0"/>
              </a:rPr>
              <a:t> is 0.  </a:t>
            </a:r>
            <a:r>
              <a:rPr lang="en-US" sz="2800" b="1" dirty="0">
                <a:solidFill>
                  <a:srgbClr val="C00000"/>
                </a:solidFill>
                <a:ea typeface="ＭＳ Ｐゴシック" charset="0"/>
                <a:cs typeface="ＭＳ Ｐゴシック" charset="0"/>
              </a:rPr>
              <a:t>Total profit is 31.0.   x</a:t>
            </a:r>
            <a:r>
              <a:rPr lang="en-US" sz="2800" b="1" baseline="-25000" dirty="0">
                <a:solidFill>
                  <a:srgbClr val="C00000"/>
                </a:solidFill>
                <a:ea typeface="ＭＳ Ｐゴシック" charset="0"/>
                <a:cs typeface="ＭＳ Ｐゴシック" charset="0"/>
              </a:rPr>
              <a:t>i</a:t>
            </a:r>
            <a:r>
              <a:rPr lang="en-US" sz="2800" b="1" dirty="0">
                <a:solidFill>
                  <a:srgbClr val="C00000"/>
                </a:solidFill>
                <a:ea typeface="ＭＳ Ｐゴシック" charset="0"/>
                <a:cs typeface="ＭＳ Ｐゴシック" charset="0"/>
              </a:rPr>
              <a:t> = (0, .667, 1)</a:t>
            </a:r>
          </a:p>
          <a:p>
            <a:pPr marL="514350" indent="-514350">
              <a:lnSpc>
                <a:spcPct val="90000"/>
              </a:lnSpc>
              <a:buFont typeface="+mj-lt"/>
              <a:buAutoNum type="arabicPeriod"/>
            </a:pPr>
            <a:endParaRPr lang="en-US" sz="2800" b="1" dirty="0">
              <a:solidFill>
                <a:srgbClr val="C00000"/>
              </a:solidFill>
              <a:ea typeface="ＭＳ Ｐゴシック" charset="0"/>
              <a:cs typeface="ＭＳ Ｐゴシック" charset="0"/>
            </a:endParaRPr>
          </a:p>
          <a:p>
            <a:pPr marL="0" indent="0">
              <a:lnSpc>
                <a:spcPct val="90000"/>
              </a:lnSpc>
              <a:buNone/>
            </a:pPr>
            <a:r>
              <a:rPr lang="en-US" sz="2800" b="1" dirty="0">
                <a:ea typeface="ＭＳ Ｐゴシック" charset="0"/>
                <a:cs typeface="ＭＳ Ｐゴシック" charset="0"/>
              </a:rPr>
              <a:t>Note it’s better than previous greedy choice.</a:t>
            </a:r>
          </a:p>
          <a:p>
            <a:pPr marL="0" indent="0">
              <a:lnSpc>
                <a:spcPct val="90000"/>
              </a:lnSpc>
              <a:buNone/>
            </a:pPr>
            <a:r>
              <a:rPr lang="en-US" sz="2800" b="1" dirty="0">
                <a:ea typeface="ＭＳ Ｐゴシック" charset="0"/>
                <a:cs typeface="ＭＳ Ｐゴシック" charset="0"/>
              </a:rPr>
              <a:t>Best possible?</a:t>
            </a:r>
          </a:p>
          <a:p>
            <a:pPr marL="0" indent="0">
              <a:lnSpc>
                <a:spcPct val="90000"/>
              </a:lnSpc>
              <a:buNone/>
            </a:pPr>
            <a:endParaRPr lang="en-US" sz="2800" dirty="0">
              <a:ea typeface="ＭＳ Ｐゴシック" charset="0"/>
              <a:cs typeface="ＭＳ Ｐゴシック" charset="0"/>
            </a:endParaRPr>
          </a:p>
          <a:p>
            <a:pPr marL="0" indent="0">
              <a:lnSpc>
                <a:spcPct val="90000"/>
              </a:lnSpc>
              <a:buFont typeface="Arial" panose="020B0604020202020204" pitchFamily="34" charset="0"/>
              <a:buNone/>
            </a:pPr>
            <a:endParaRPr lang="en-US" sz="2800" dirty="0">
              <a:ea typeface="ＭＳ Ｐゴシック" charset="0"/>
              <a:cs typeface="ＭＳ Ｐゴシック" charset="0"/>
            </a:endParaRPr>
          </a:p>
        </p:txBody>
      </p:sp>
    </p:spTree>
    <p:extLst>
      <p:ext uri="{BB962C8B-B14F-4D97-AF65-F5344CB8AC3E}">
        <p14:creationId xmlns:p14="http://schemas.microsoft.com/office/powerpoint/2010/main" val="2509252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7" grpId="0" animBg="1"/>
      <p:bldP spid="2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7225FBC3-0B1F-BB4E-9832-5D2F2C1306DD}"/>
              </a:ext>
            </a:extLst>
          </p:cNvPr>
          <p:cNvGraphicFramePr>
            <a:graphicFrameLocks noGrp="1"/>
          </p:cNvGraphicFramePr>
          <p:nvPr/>
        </p:nvGraphicFramePr>
        <p:xfrm>
          <a:off x="838201" y="2502515"/>
          <a:ext cx="3657599" cy="1478280"/>
        </p:xfrm>
        <a:graphic>
          <a:graphicData uri="http://schemas.openxmlformats.org/drawingml/2006/table">
            <a:tbl>
              <a:tblPr firstRow="1" bandRow="1">
                <a:tableStyleId>{5C22544A-7EE6-4342-B048-85BDC9FD1C3A}</a:tableStyleId>
              </a:tblPr>
              <a:tblGrid>
                <a:gridCol w="838032">
                  <a:extLst>
                    <a:ext uri="{9D8B030D-6E8A-4147-A177-3AD203B41FA5}">
                      <a16:colId xmlns:a16="http://schemas.microsoft.com/office/drawing/2014/main" val="20000"/>
                    </a:ext>
                  </a:extLst>
                </a:gridCol>
                <a:gridCol w="841537">
                  <a:extLst>
                    <a:ext uri="{9D8B030D-6E8A-4147-A177-3AD203B41FA5}">
                      <a16:colId xmlns:a16="http://schemas.microsoft.com/office/drawing/2014/main" val="20001"/>
                    </a:ext>
                  </a:extLst>
                </a:gridCol>
                <a:gridCol w="985890">
                  <a:extLst>
                    <a:ext uri="{9D8B030D-6E8A-4147-A177-3AD203B41FA5}">
                      <a16:colId xmlns:a16="http://schemas.microsoft.com/office/drawing/2014/main" val="20002"/>
                    </a:ext>
                  </a:extLst>
                </a:gridCol>
                <a:gridCol w="992140">
                  <a:extLst>
                    <a:ext uri="{9D8B030D-6E8A-4147-A177-3AD203B41FA5}">
                      <a16:colId xmlns:a16="http://schemas.microsoft.com/office/drawing/2014/main" val="20003"/>
                    </a:ext>
                  </a:extLst>
                </a:gridCol>
              </a:tblGrid>
              <a:tr h="142240">
                <a:tc>
                  <a:txBody>
                    <a:bodyPr/>
                    <a:lstStyle/>
                    <a:p>
                      <a:pPr algn="ctr"/>
                      <a:r>
                        <a:rPr lang="en-US" dirty="0"/>
                        <a:t>Item</a:t>
                      </a:r>
                    </a:p>
                  </a:txBody>
                  <a:tcPr/>
                </a:tc>
                <a:tc>
                  <a:txBody>
                    <a:bodyPr/>
                    <a:lstStyle/>
                    <a:p>
                      <a:pPr algn="ctr"/>
                      <a:r>
                        <a:rPr lang="en-US" dirty="0"/>
                        <a:t>Value</a:t>
                      </a:r>
                    </a:p>
                  </a:txBody>
                  <a:tcPr/>
                </a:tc>
                <a:tc>
                  <a:txBody>
                    <a:bodyPr/>
                    <a:lstStyle/>
                    <a:p>
                      <a:pPr algn="ctr"/>
                      <a:r>
                        <a:rPr lang="en-US" dirty="0"/>
                        <a:t>Weight</a:t>
                      </a:r>
                    </a:p>
                  </a:txBody>
                  <a:tcPr/>
                </a:tc>
                <a:tc>
                  <a:txBody>
                    <a:bodyPr/>
                    <a:lstStyle/>
                    <a:p>
                      <a:pPr algn="ctr"/>
                      <a:r>
                        <a:rPr lang="en-US" dirty="0">
                          <a:solidFill>
                            <a:srgbClr val="FFFF00"/>
                          </a:solidFill>
                        </a:rPr>
                        <a:t>Ratio</a:t>
                      </a:r>
                    </a:p>
                  </a:txBody>
                  <a:tcPr/>
                </a:tc>
                <a:extLst>
                  <a:ext uri="{0D108BD9-81ED-4DB2-BD59-A6C34878D82A}">
                    <a16:rowId xmlns:a16="http://schemas.microsoft.com/office/drawing/2014/main" val="10000"/>
                  </a:ext>
                </a:extLst>
              </a:tr>
              <a:tr h="370840">
                <a:tc>
                  <a:txBody>
                    <a:bodyPr/>
                    <a:lstStyle/>
                    <a:p>
                      <a:pPr algn="ctr"/>
                      <a:r>
                        <a:rPr lang="en-US" dirty="0"/>
                        <a:t>1</a:t>
                      </a:r>
                    </a:p>
                  </a:txBody>
                  <a:tcPr/>
                </a:tc>
                <a:tc>
                  <a:txBody>
                    <a:bodyPr/>
                    <a:lstStyle/>
                    <a:p>
                      <a:pPr algn="ctr"/>
                      <a:r>
                        <a:rPr lang="en-US" dirty="0"/>
                        <a:t>25</a:t>
                      </a:r>
                    </a:p>
                  </a:txBody>
                  <a:tcPr/>
                </a:tc>
                <a:tc>
                  <a:txBody>
                    <a:bodyPr/>
                    <a:lstStyle/>
                    <a:p>
                      <a:pPr algn="ctr"/>
                      <a:r>
                        <a:rPr lang="en-US" dirty="0"/>
                        <a:t>18</a:t>
                      </a:r>
                    </a:p>
                  </a:txBody>
                  <a:tcPr/>
                </a:tc>
                <a:tc>
                  <a:txBody>
                    <a:bodyPr/>
                    <a:lstStyle/>
                    <a:p>
                      <a:pPr algn="ctr"/>
                      <a:r>
                        <a:rPr lang="en-US" dirty="0">
                          <a:solidFill>
                            <a:srgbClr val="CC0000"/>
                          </a:solidFill>
                        </a:rPr>
                        <a:t>1.4</a:t>
                      </a:r>
                    </a:p>
                  </a:txBody>
                  <a:tcPr/>
                </a:tc>
                <a:extLst>
                  <a:ext uri="{0D108BD9-81ED-4DB2-BD59-A6C34878D82A}">
                    <a16:rowId xmlns:a16="http://schemas.microsoft.com/office/drawing/2014/main" val="10001"/>
                  </a:ext>
                </a:extLst>
              </a:tr>
              <a:tr h="370840">
                <a:tc>
                  <a:txBody>
                    <a:bodyPr/>
                    <a:lstStyle/>
                    <a:p>
                      <a:pPr algn="ctr"/>
                      <a:r>
                        <a:rPr lang="en-US" dirty="0"/>
                        <a:t>2</a:t>
                      </a:r>
                    </a:p>
                  </a:txBody>
                  <a:tcPr/>
                </a:tc>
                <a:tc>
                  <a:txBody>
                    <a:bodyPr/>
                    <a:lstStyle/>
                    <a:p>
                      <a:pPr algn="ctr"/>
                      <a:r>
                        <a:rPr lang="en-US" dirty="0"/>
                        <a:t>24</a:t>
                      </a:r>
                    </a:p>
                  </a:txBody>
                  <a:tcPr/>
                </a:tc>
                <a:tc>
                  <a:txBody>
                    <a:bodyPr/>
                    <a:lstStyle/>
                    <a:p>
                      <a:pPr algn="ctr"/>
                      <a:r>
                        <a:rPr lang="en-US" dirty="0"/>
                        <a:t>15</a:t>
                      </a:r>
                    </a:p>
                  </a:txBody>
                  <a:tcPr/>
                </a:tc>
                <a:tc>
                  <a:txBody>
                    <a:bodyPr/>
                    <a:lstStyle/>
                    <a:p>
                      <a:pPr algn="ctr"/>
                      <a:r>
                        <a:rPr lang="en-US" dirty="0">
                          <a:solidFill>
                            <a:srgbClr val="CC0000"/>
                          </a:solidFill>
                        </a:rPr>
                        <a:t>1.6</a:t>
                      </a:r>
                    </a:p>
                  </a:txBody>
                  <a:tcPr/>
                </a:tc>
                <a:extLst>
                  <a:ext uri="{0D108BD9-81ED-4DB2-BD59-A6C34878D82A}">
                    <a16:rowId xmlns:a16="http://schemas.microsoft.com/office/drawing/2014/main" val="10002"/>
                  </a:ext>
                </a:extLst>
              </a:tr>
              <a:tr h="370840">
                <a:tc>
                  <a:txBody>
                    <a:bodyPr/>
                    <a:lstStyle/>
                    <a:p>
                      <a:pPr algn="ctr"/>
                      <a:r>
                        <a:rPr lang="en-US" dirty="0"/>
                        <a:t>3</a:t>
                      </a:r>
                    </a:p>
                  </a:txBody>
                  <a:tcPr/>
                </a:tc>
                <a:tc>
                  <a:txBody>
                    <a:bodyPr/>
                    <a:lstStyle/>
                    <a:p>
                      <a:pPr algn="ctr"/>
                      <a:r>
                        <a:rPr lang="en-US" dirty="0"/>
                        <a:t>15</a:t>
                      </a:r>
                    </a:p>
                  </a:txBody>
                  <a:tcPr/>
                </a:tc>
                <a:tc>
                  <a:txBody>
                    <a:bodyPr/>
                    <a:lstStyle/>
                    <a:p>
                      <a:pPr algn="ctr"/>
                      <a:r>
                        <a:rPr lang="en-US" dirty="0"/>
                        <a:t>10</a:t>
                      </a:r>
                    </a:p>
                  </a:txBody>
                  <a:tcPr/>
                </a:tc>
                <a:tc>
                  <a:txBody>
                    <a:bodyPr/>
                    <a:lstStyle/>
                    <a:p>
                      <a:pPr algn="ctr"/>
                      <a:r>
                        <a:rPr lang="en-US" dirty="0">
                          <a:solidFill>
                            <a:srgbClr val="CC0000"/>
                          </a:solidFill>
                        </a:rPr>
                        <a:t>1.5</a:t>
                      </a:r>
                    </a:p>
                  </a:txBody>
                  <a:tcPr/>
                </a:tc>
                <a:extLst>
                  <a:ext uri="{0D108BD9-81ED-4DB2-BD59-A6C34878D82A}">
                    <a16:rowId xmlns:a16="http://schemas.microsoft.com/office/drawing/2014/main" val="10003"/>
                  </a:ext>
                </a:extLst>
              </a:tr>
            </a:tbl>
          </a:graphicData>
        </a:graphic>
      </p:graphicFrame>
      <p:sp>
        <p:nvSpPr>
          <p:cNvPr id="25603" name="Rectangle 2"/>
          <p:cNvSpPr>
            <a:spLocks noGrp="1" noChangeArrowheads="1"/>
          </p:cNvSpPr>
          <p:nvPr>
            <p:ph type="title"/>
            <p:custDataLst>
              <p:tags r:id="rId1"/>
            </p:custDataLst>
          </p:nvPr>
        </p:nvSpPr>
        <p:spPr/>
        <p:txBody>
          <a:bodyPr/>
          <a:lstStyle/>
          <a:p>
            <a:r>
              <a:rPr lang="en-US" sz="3600" dirty="0">
                <a:latin typeface="Arial" charset="0"/>
                <a:ea typeface="ＭＳ Ｐゴシック" charset="0"/>
                <a:cs typeface="ＭＳ Ｐゴシック" charset="0"/>
              </a:rPr>
              <a:t>Possible Greedy Choices for Knapsack</a:t>
            </a:r>
          </a:p>
        </p:txBody>
      </p:sp>
      <p:sp>
        <p:nvSpPr>
          <p:cNvPr id="25604" name="Rectangle 3"/>
          <p:cNvSpPr>
            <a:spLocks noGrp="1" noChangeArrowheads="1"/>
          </p:cNvSpPr>
          <p:nvPr>
            <p:ph type="body" idx="1"/>
            <p:custDataLst>
              <p:tags r:id="rId2"/>
            </p:custDataLst>
          </p:nvPr>
        </p:nvSpPr>
        <p:spPr>
          <a:xfrm>
            <a:off x="304800" y="1524000"/>
            <a:ext cx="9906000" cy="4724400"/>
          </a:xfrm>
        </p:spPr>
        <p:txBody>
          <a:bodyPr anchor="t" anchorCtr="0">
            <a:normAutofit/>
          </a:bodyPr>
          <a:lstStyle/>
          <a:p>
            <a:pPr marL="0" indent="0">
              <a:lnSpc>
                <a:spcPct val="90000"/>
              </a:lnSpc>
              <a:buNone/>
            </a:pPr>
            <a:r>
              <a:rPr lang="en-US" b="1" dirty="0">
                <a:ea typeface="ＭＳ Ｐゴシック" charset="0"/>
                <a:cs typeface="ＭＳ Ｐゴシック" charset="0"/>
              </a:rPr>
              <a:t>Greedy choice #3:  highest value-to-weight ratio</a:t>
            </a:r>
          </a:p>
          <a:p>
            <a:pPr marL="0" indent="0">
              <a:lnSpc>
                <a:spcPct val="90000"/>
              </a:lnSpc>
              <a:buNone/>
            </a:pPr>
            <a:endParaRPr lang="en-US" dirty="0">
              <a:ea typeface="ＭＳ Ｐゴシック" charset="0"/>
              <a:cs typeface="ＭＳ Ｐゴシック" charset="0"/>
            </a:endParaRPr>
          </a:p>
        </p:txBody>
      </p:sp>
      <p:sp>
        <p:nvSpPr>
          <p:cNvPr id="3" name="TextBox 2">
            <a:extLst>
              <a:ext uri="{FF2B5EF4-FFF2-40B4-BE49-F238E27FC236}">
                <a16:creationId xmlns:a16="http://schemas.microsoft.com/office/drawing/2014/main" id="{1C78476D-7146-5240-8CD3-0291A1FEE75E}"/>
              </a:ext>
            </a:extLst>
          </p:cNvPr>
          <p:cNvSpPr txBox="1"/>
          <p:nvPr/>
        </p:nvSpPr>
        <p:spPr>
          <a:xfrm>
            <a:off x="762000" y="2069068"/>
            <a:ext cx="1454244" cy="400110"/>
          </a:xfrm>
          <a:prstGeom prst="rect">
            <a:avLst/>
          </a:prstGeom>
          <a:noFill/>
        </p:spPr>
        <p:txBody>
          <a:bodyPr wrap="none" rtlCol="0">
            <a:spAutoFit/>
          </a:bodyPr>
          <a:lstStyle/>
          <a:p>
            <a:r>
              <a:rPr lang="en-US" sz="2000" dirty="0">
                <a:ea typeface="ＭＳ Ｐゴシック" charset="0"/>
              </a:rPr>
              <a:t>n = 3, C = 20</a:t>
            </a:r>
            <a:endParaRPr lang="en-US" sz="2000" dirty="0"/>
          </a:p>
        </p:txBody>
      </p:sp>
      <p:sp>
        <p:nvSpPr>
          <p:cNvPr id="4" name="TextBox 3">
            <a:extLst>
              <a:ext uri="{FF2B5EF4-FFF2-40B4-BE49-F238E27FC236}">
                <a16:creationId xmlns:a16="http://schemas.microsoft.com/office/drawing/2014/main" id="{A5B5F1A0-5629-1D4B-B4EB-02EDBBD1B283}"/>
              </a:ext>
            </a:extLst>
          </p:cNvPr>
          <p:cNvSpPr txBox="1"/>
          <p:nvPr/>
        </p:nvSpPr>
        <p:spPr>
          <a:xfrm>
            <a:off x="586060" y="4671180"/>
            <a:ext cx="3604940" cy="1815882"/>
          </a:xfrm>
          <a:prstGeom prst="rect">
            <a:avLst/>
          </a:prstGeom>
          <a:noFill/>
          <a:ln w="38100">
            <a:solidFill>
              <a:srgbClr val="CC0000"/>
            </a:solidFill>
          </a:ln>
        </p:spPr>
        <p:txBody>
          <a:bodyPr wrap="square" rtlCol="0">
            <a:spAutoFit/>
          </a:bodyPr>
          <a:lstStyle/>
          <a:p>
            <a:r>
              <a:rPr lang="en-US" sz="2800" dirty="0"/>
              <a:t>Select item 2 first, then item 3, then item 1.</a:t>
            </a:r>
            <a:br>
              <a:rPr lang="en-US" sz="2800" dirty="0"/>
            </a:br>
            <a:r>
              <a:rPr lang="en-US" sz="2800" dirty="0"/>
              <a:t>Take as much of each as fits!</a:t>
            </a:r>
          </a:p>
        </p:txBody>
      </p:sp>
      <p:cxnSp>
        <p:nvCxnSpPr>
          <p:cNvPr id="8" name="Straight Connector 7">
            <a:extLst>
              <a:ext uri="{FF2B5EF4-FFF2-40B4-BE49-F238E27FC236}">
                <a16:creationId xmlns:a16="http://schemas.microsoft.com/office/drawing/2014/main" id="{2949B994-7430-0A40-B828-50B6FD35A9AF}"/>
              </a:ext>
            </a:extLst>
          </p:cNvPr>
          <p:cNvCxnSpPr>
            <a:cxnSpLocks/>
          </p:cNvCxnSpPr>
          <p:nvPr/>
        </p:nvCxnSpPr>
        <p:spPr>
          <a:xfrm flipH="1">
            <a:off x="3014214" y="3411588"/>
            <a:ext cx="533400" cy="1242180"/>
          </a:xfrm>
          <a:prstGeom prst="line">
            <a:avLst/>
          </a:prstGeom>
          <a:ln w="38100">
            <a:solidFill>
              <a:srgbClr val="C00000"/>
            </a:solidFill>
            <a:headEnd type="triangle" w="lg" len="lg"/>
          </a:ln>
        </p:spPr>
        <p:style>
          <a:lnRef idx="1">
            <a:schemeClr val="accent1"/>
          </a:lnRef>
          <a:fillRef idx="0">
            <a:schemeClr val="accent1"/>
          </a:fillRef>
          <a:effectRef idx="0">
            <a:schemeClr val="accent1"/>
          </a:effectRef>
          <a:fontRef idx="minor">
            <a:schemeClr val="tx1"/>
          </a:fontRef>
        </p:style>
      </p:cxnSp>
      <p:sp>
        <p:nvSpPr>
          <p:cNvPr id="17" name="Left Brace 16">
            <a:extLst>
              <a:ext uri="{FF2B5EF4-FFF2-40B4-BE49-F238E27FC236}">
                <a16:creationId xmlns:a16="http://schemas.microsoft.com/office/drawing/2014/main" id="{4BCC6C22-1363-104E-A224-89BF70437029}"/>
              </a:ext>
            </a:extLst>
          </p:cNvPr>
          <p:cNvSpPr/>
          <p:nvPr/>
        </p:nvSpPr>
        <p:spPr>
          <a:xfrm>
            <a:off x="3634060" y="2954388"/>
            <a:ext cx="155448" cy="914400"/>
          </a:xfrm>
          <a:prstGeom prst="leftBrace">
            <a:avLst/>
          </a:prstGeom>
          <a:ln w="2857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2" name="Rectangle 3">
            <a:extLst>
              <a:ext uri="{FF2B5EF4-FFF2-40B4-BE49-F238E27FC236}">
                <a16:creationId xmlns:a16="http://schemas.microsoft.com/office/drawing/2014/main" id="{72291819-186E-2C4E-9A61-7983665CCB43}"/>
              </a:ext>
            </a:extLst>
          </p:cNvPr>
          <p:cNvSpPr txBox="1">
            <a:spLocks noChangeArrowheads="1"/>
          </p:cNvSpPr>
          <p:nvPr>
            <p:custDataLst>
              <p:tags r:id="rId3"/>
            </p:custDataLst>
          </p:nvPr>
        </p:nvSpPr>
        <p:spPr>
          <a:xfrm>
            <a:off x="4777060" y="2309396"/>
            <a:ext cx="7110140" cy="4114800"/>
          </a:xfrm>
          <a:prstGeom prst="rect">
            <a:avLst/>
          </a:prstGeom>
        </p:spPr>
        <p:txBody>
          <a:bodyPr vert="horz" lIns="91440" tIns="45720" rIns="91440" bIns="45720" rtlCol="0" anchor="t" anchorCtr="0">
            <a:normAutofit fontScale="925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nSpc>
                <a:spcPct val="90000"/>
              </a:lnSpc>
              <a:buFont typeface="+mj-lt"/>
              <a:buAutoNum type="arabicPeriod"/>
            </a:pPr>
            <a:r>
              <a:rPr lang="en-US" sz="2800" dirty="0">
                <a:ea typeface="ＭＳ Ｐゴシック" charset="0"/>
                <a:cs typeface="ＭＳ Ｐゴシック" charset="0"/>
              </a:rPr>
              <a:t>Item 2 first. Can take all of it, so x</a:t>
            </a:r>
            <a:r>
              <a:rPr lang="en-US" sz="2800" baseline="-25000" dirty="0">
                <a:ea typeface="ＭＳ Ｐゴシック" charset="0"/>
                <a:cs typeface="ＭＳ Ｐゴシック" charset="0"/>
              </a:rPr>
              <a:t>2</a:t>
            </a:r>
            <a:r>
              <a:rPr lang="en-US" sz="2800" dirty="0">
                <a:ea typeface="ＭＳ Ｐゴシック" charset="0"/>
                <a:cs typeface="ＭＳ Ｐゴシック" charset="0"/>
              </a:rPr>
              <a:t> is 1.</a:t>
            </a:r>
            <a:br>
              <a:rPr lang="en-US" sz="2800" dirty="0">
                <a:ea typeface="ＭＳ Ｐゴシック" charset="0"/>
                <a:cs typeface="ＭＳ Ｐゴシック" charset="0"/>
              </a:rPr>
            </a:br>
            <a:r>
              <a:rPr lang="en-US" sz="2800" dirty="0">
                <a:ea typeface="ＭＳ Ｐゴシック" charset="0"/>
                <a:cs typeface="ＭＳ Ｐゴシック" charset="0"/>
              </a:rPr>
              <a:t>Capacity used is 15 of 20. Profit so far is 24.</a:t>
            </a:r>
          </a:p>
          <a:p>
            <a:pPr marL="514350" indent="-514350">
              <a:lnSpc>
                <a:spcPct val="90000"/>
              </a:lnSpc>
              <a:buFont typeface="+mj-lt"/>
              <a:buAutoNum type="arabicPeriod"/>
            </a:pPr>
            <a:r>
              <a:rPr lang="en-US" sz="2800" dirty="0">
                <a:ea typeface="ＭＳ Ｐゴシック" charset="0"/>
                <a:cs typeface="ＭＳ Ｐゴシック" charset="0"/>
              </a:rPr>
              <a:t>Item 3 next. Room for only 5 units, so x</a:t>
            </a:r>
            <a:r>
              <a:rPr lang="en-US" sz="2800" baseline="-25000" dirty="0">
                <a:ea typeface="ＭＳ Ｐゴシック" charset="0"/>
                <a:cs typeface="ＭＳ Ｐゴシック" charset="0"/>
              </a:rPr>
              <a:t>1</a:t>
            </a:r>
            <a:r>
              <a:rPr lang="en-US" sz="2800" dirty="0">
                <a:ea typeface="ＭＳ Ｐゴシック" charset="0"/>
                <a:cs typeface="ＭＳ Ｐゴシック" charset="0"/>
              </a:rPr>
              <a:t> is 5/10 = 0.5.   Capacity used is 20 of 20.</a:t>
            </a:r>
            <a:br>
              <a:rPr lang="en-US" sz="2800" dirty="0">
                <a:ea typeface="ＭＳ Ｐゴシック" charset="0"/>
                <a:cs typeface="ＭＳ Ｐゴシック" charset="0"/>
              </a:rPr>
            </a:br>
            <a:r>
              <a:rPr lang="en-US" sz="2800" dirty="0">
                <a:ea typeface="ＭＳ Ｐゴシック" charset="0"/>
                <a:cs typeface="ＭＳ Ｐゴシック" charset="0"/>
              </a:rPr>
              <a:t>Profit so far is 24 + (15 </a:t>
            </a:r>
            <a:r>
              <a:rPr lang="en-US" sz="2400" dirty="0">
                <a:ea typeface="ＭＳ Ｐゴシック" charset="0"/>
                <a:cs typeface="ＭＳ Ｐゴシック" charset="0"/>
              </a:rPr>
              <a:t>x</a:t>
            </a:r>
            <a:r>
              <a:rPr lang="en-US" sz="2800" dirty="0">
                <a:ea typeface="ＭＳ Ｐゴシック" charset="0"/>
                <a:cs typeface="ＭＳ Ｐゴシック" charset="0"/>
              </a:rPr>
              <a:t> 0.5) = 31.5.</a:t>
            </a:r>
          </a:p>
          <a:p>
            <a:pPr marL="514350" indent="-514350">
              <a:lnSpc>
                <a:spcPct val="90000"/>
              </a:lnSpc>
              <a:buFont typeface="+mj-lt"/>
              <a:buAutoNum type="arabicPeriod"/>
            </a:pPr>
            <a:r>
              <a:rPr lang="en-US" sz="2800" dirty="0">
                <a:ea typeface="ＭＳ Ｐゴシック" charset="0"/>
                <a:cs typeface="ＭＳ Ｐゴシック" charset="0"/>
              </a:rPr>
              <a:t>Item 1 would be next, but knapsack full!</a:t>
            </a:r>
            <a:br>
              <a:rPr lang="en-US" sz="2800" dirty="0">
                <a:ea typeface="ＭＳ Ｐゴシック" charset="0"/>
                <a:cs typeface="ＭＳ Ｐゴシック" charset="0"/>
              </a:rPr>
            </a:br>
            <a:r>
              <a:rPr lang="en-US" sz="2800" dirty="0">
                <a:ea typeface="ＭＳ Ｐゴシック" charset="0"/>
                <a:cs typeface="ＭＳ Ｐゴシック" charset="0"/>
              </a:rPr>
              <a:t>x</a:t>
            </a:r>
            <a:r>
              <a:rPr lang="en-US" sz="2800" baseline="-25000" dirty="0">
                <a:ea typeface="ＭＳ Ｐゴシック" charset="0"/>
                <a:cs typeface="ＭＳ Ｐゴシック" charset="0"/>
              </a:rPr>
              <a:t>1</a:t>
            </a:r>
            <a:r>
              <a:rPr lang="en-US" sz="2800" dirty="0">
                <a:ea typeface="ＭＳ Ｐゴシック" charset="0"/>
                <a:cs typeface="ＭＳ Ｐゴシック" charset="0"/>
              </a:rPr>
              <a:t> is 0.  </a:t>
            </a:r>
            <a:r>
              <a:rPr lang="en-US" sz="2800" b="1" dirty="0">
                <a:solidFill>
                  <a:srgbClr val="C00000"/>
                </a:solidFill>
                <a:ea typeface="ＭＳ Ｐゴシック" charset="0"/>
                <a:cs typeface="ＭＳ Ｐゴシック" charset="0"/>
              </a:rPr>
              <a:t>Total profit is 31.5.   x</a:t>
            </a:r>
            <a:r>
              <a:rPr lang="en-US" sz="2800" b="1" baseline="-25000" dirty="0">
                <a:solidFill>
                  <a:srgbClr val="C00000"/>
                </a:solidFill>
                <a:ea typeface="ＭＳ Ｐゴシック" charset="0"/>
                <a:cs typeface="ＭＳ Ｐゴシック" charset="0"/>
              </a:rPr>
              <a:t>i</a:t>
            </a:r>
            <a:r>
              <a:rPr lang="en-US" sz="2800" b="1" dirty="0">
                <a:solidFill>
                  <a:srgbClr val="C00000"/>
                </a:solidFill>
                <a:ea typeface="ＭＳ Ｐゴシック" charset="0"/>
                <a:cs typeface="ＭＳ Ｐゴシック" charset="0"/>
              </a:rPr>
              <a:t> = (0, 1, 0.5)</a:t>
            </a:r>
          </a:p>
          <a:p>
            <a:pPr marL="0" indent="0">
              <a:lnSpc>
                <a:spcPct val="90000"/>
              </a:lnSpc>
              <a:buNone/>
            </a:pPr>
            <a:endParaRPr lang="en-US" sz="2800" dirty="0">
              <a:ea typeface="ＭＳ Ｐゴシック" charset="0"/>
              <a:cs typeface="ＭＳ Ｐゴシック" charset="0"/>
            </a:endParaRPr>
          </a:p>
          <a:p>
            <a:pPr marL="0" indent="0">
              <a:lnSpc>
                <a:spcPct val="90000"/>
              </a:lnSpc>
              <a:buNone/>
            </a:pPr>
            <a:r>
              <a:rPr lang="en-US" sz="2800" b="1" dirty="0">
                <a:ea typeface="ＭＳ Ｐゴシック" charset="0"/>
                <a:cs typeface="ＭＳ Ｐゴシック" charset="0"/>
              </a:rPr>
              <a:t>This greedy choice produces optimal solution!</a:t>
            </a:r>
          </a:p>
          <a:p>
            <a:pPr marL="0" indent="0">
              <a:lnSpc>
                <a:spcPct val="90000"/>
              </a:lnSpc>
              <a:buNone/>
            </a:pPr>
            <a:r>
              <a:rPr lang="en-US" sz="2800" b="1" dirty="0">
                <a:ea typeface="ＭＳ Ｐゴシック" charset="0"/>
                <a:cs typeface="ＭＳ Ｐゴシック" charset="0"/>
              </a:rPr>
              <a:t>Must prove this.</a:t>
            </a:r>
          </a:p>
          <a:p>
            <a:pPr marL="0" indent="0">
              <a:lnSpc>
                <a:spcPct val="90000"/>
              </a:lnSpc>
              <a:buFont typeface="Arial" panose="020B0604020202020204" pitchFamily="34" charset="0"/>
              <a:buNone/>
            </a:pPr>
            <a:endParaRPr lang="en-US" sz="2800" dirty="0">
              <a:ea typeface="ＭＳ Ｐゴシック" charset="0"/>
              <a:cs typeface="ＭＳ Ｐゴシック" charset="0"/>
            </a:endParaRPr>
          </a:p>
        </p:txBody>
      </p:sp>
    </p:spTree>
    <p:extLst>
      <p:ext uri="{BB962C8B-B14F-4D97-AF65-F5344CB8AC3E}">
        <p14:creationId xmlns:p14="http://schemas.microsoft.com/office/powerpoint/2010/main" val="2212828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7" grpId="0" animBg="1"/>
      <p:bldP spid="2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a:xfrm>
            <a:off x="1981200" y="22225"/>
            <a:ext cx="8229600" cy="1143000"/>
          </a:xfrm>
        </p:spPr>
        <p:txBody>
          <a:bodyPr/>
          <a:lstStyle/>
          <a:p>
            <a:pPr eaLnBrk="1" hangingPunct="1"/>
            <a:r>
              <a:rPr lang="en-US" dirty="0">
                <a:latin typeface="Calibri" charset="0"/>
              </a:rPr>
              <a:t>Fractional Knapsack Algorithm</a:t>
            </a:r>
          </a:p>
        </p:txBody>
      </p:sp>
      <p:sp>
        <p:nvSpPr>
          <p:cNvPr id="14339" name="Content Placeholder 2"/>
          <p:cNvSpPr>
            <a:spLocks noGrp="1"/>
          </p:cNvSpPr>
          <p:nvPr>
            <p:ph idx="1"/>
          </p:nvPr>
        </p:nvSpPr>
        <p:spPr>
          <a:xfrm>
            <a:off x="1981200" y="1600200"/>
            <a:ext cx="8229600" cy="4953000"/>
          </a:xfrm>
        </p:spPr>
        <p:txBody>
          <a:bodyPr/>
          <a:lstStyle/>
          <a:p>
            <a:pPr eaLnBrk="1" hangingPunct="1"/>
            <a:endParaRPr lang="en-US" dirty="0">
              <a:latin typeface="Calibri" charset="0"/>
            </a:endParaRPr>
          </a:p>
          <a:p>
            <a:pPr eaLnBrk="1" hangingPunct="1"/>
            <a:endParaRPr lang="en-US" dirty="0">
              <a:latin typeface="Calibri" charset="0"/>
            </a:endParaRPr>
          </a:p>
          <a:p>
            <a:pPr eaLnBrk="1" hangingPunct="1"/>
            <a:endParaRPr lang="en-US" dirty="0">
              <a:latin typeface="Calibri" charset="0"/>
            </a:endParaRPr>
          </a:p>
          <a:p>
            <a:pPr eaLnBrk="1" hangingPunct="1"/>
            <a:endParaRPr lang="en-US" dirty="0">
              <a:latin typeface="Calibri" charset="0"/>
            </a:endParaRPr>
          </a:p>
          <a:p>
            <a:pPr eaLnBrk="1" hangingPunct="1"/>
            <a:endParaRPr lang="en-US" dirty="0">
              <a:latin typeface="Calibri" charset="0"/>
            </a:endParaRPr>
          </a:p>
          <a:p>
            <a:pPr eaLnBrk="1" hangingPunct="1"/>
            <a:endParaRPr lang="en-US" dirty="0">
              <a:latin typeface="Calibri" charset="0"/>
            </a:endParaRPr>
          </a:p>
          <a:p>
            <a:pPr marL="0" indent="0">
              <a:buNone/>
            </a:pPr>
            <a:endParaRPr lang="en-US" dirty="0">
              <a:latin typeface="Calibri" charset="0"/>
            </a:endParaRPr>
          </a:p>
        </p:txBody>
      </p:sp>
      <p:sp>
        <p:nvSpPr>
          <p:cNvPr id="14340" name="TextBox 3"/>
          <p:cNvSpPr txBox="1">
            <a:spLocks noChangeArrowheads="1"/>
          </p:cNvSpPr>
          <p:nvPr/>
        </p:nvSpPr>
        <p:spPr bwMode="auto">
          <a:xfrm>
            <a:off x="1143001" y="1600200"/>
            <a:ext cx="7543802" cy="532453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a:solidFill>
                  <a:schemeClr val="tx1"/>
                </a:solidFill>
                <a:latin typeface="Calibri" charset="0"/>
                <a:ea typeface="ＭＳ Ｐゴシック"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l" eaLnBrk="1" hangingPunct="1"/>
            <a:r>
              <a:rPr lang="en-US" sz="2000" dirty="0">
                <a:latin typeface="Tahoma"/>
                <a:cs typeface="Tahoma"/>
              </a:rPr>
              <a:t>FRACTIONAL_KNAPSACK(a, C)</a:t>
            </a:r>
          </a:p>
          <a:p>
            <a:pPr algn="l" eaLnBrk="1" hangingPunct="1"/>
            <a:r>
              <a:rPr lang="en-US" sz="2000" dirty="0">
                <a:latin typeface="Tahoma"/>
                <a:cs typeface="Tahoma"/>
              </a:rPr>
              <a:t>1   n = </a:t>
            </a:r>
            <a:r>
              <a:rPr lang="en-US" sz="2000" dirty="0" err="1">
                <a:latin typeface="Tahoma"/>
                <a:cs typeface="Tahoma"/>
              </a:rPr>
              <a:t>a.last</a:t>
            </a:r>
            <a:endParaRPr lang="en-US" sz="2000" dirty="0">
              <a:latin typeface="Tahoma"/>
              <a:cs typeface="Tahoma"/>
            </a:endParaRPr>
          </a:p>
          <a:p>
            <a:pPr algn="l" eaLnBrk="1" hangingPunct="1"/>
            <a:r>
              <a:rPr lang="en-US" sz="2000" dirty="0">
                <a:latin typeface="Tahoma"/>
                <a:cs typeface="Tahoma"/>
              </a:rPr>
              <a:t>2   for </a:t>
            </a:r>
            <a:r>
              <a:rPr lang="en-US" sz="2000" dirty="0" err="1">
                <a:latin typeface="Tahoma"/>
                <a:cs typeface="Tahoma"/>
              </a:rPr>
              <a:t>i</a:t>
            </a:r>
            <a:r>
              <a:rPr lang="en-US" sz="2000" dirty="0">
                <a:latin typeface="Tahoma"/>
                <a:cs typeface="Tahoma"/>
              </a:rPr>
              <a:t> = 1 to n</a:t>
            </a:r>
          </a:p>
          <a:p>
            <a:pPr algn="l" eaLnBrk="1" hangingPunct="1"/>
            <a:r>
              <a:rPr lang="en-US" sz="2000" dirty="0">
                <a:latin typeface="Tahoma"/>
                <a:cs typeface="Tahoma"/>
              </a:rPr>
              <a:t>3       ratio[</a:t>
            </a:r>
            <a:r>
              <a:rPr lang="en-US" sz="2000" dirty="0" err="1">
                <a:latin typeface="Tahoma"/>
                <a:cs typeface="Tahoma"/>
              </a:rPr>
              <a:t>i</a:t>
            </a:r>
            <a:r>
              <a:rPr lang="en-US" sz="2000" dirty="0">
                <a:latin typeface="Tahoma"/>
                <a:cs typeface="Tahoma"/>
              </a:rPr>
              <a:t>] = a[</a:t>
            </a:r>
            <a:r>
              <a:rPr lang="en-US" sz="2000" dirty="0" err="1">
                <a:latin typeface="Tahoma"/>
                <a:cs typeface="Tahoma"/>
              </a:rPr>
              <a:t>i</a:t>
            </a:r>
            <a:r>
              <a:rPr lang="en-US" sz="2000" dirty="0">
                <a:latin typeface="Tahoma"/>
                <a:cs typeface="Tahoma"/>
              </a:rPr>
              <a:t>].p / a[</a:t>
            </a:r>
            <a:r>
              <a:rPr lang="en-US" sz="2000" dirty="0" err="1">
                <a:latin typeface="Tahoma"/>
                <a:cs typeface="Tahoma"/>
              </a:rPr>
              <a:t>i</a:t>
            </a:r>
            <a:r>
              <a:rPr lang="en-US" sz="2000" dirty="0">
                <a:latin typeface="Tahoma"/>
                <a:cs typeface="Tahoma"/>
              </a:rPr>
              <a:t>].w</a:t>
            </a:r>
          </a:p>
          <a:p>
            <a:pPr algn="l" eaLnBrk="1" hangingPunct="1"/>
            <a:r>
              <a:rPr lang="en-US" sz="2000" dirty="0">
                <a:latin typeface="Tahoma"/>
                <a:cs typeface="Tahoma"/>
              </a:rPr>
              <a:t>4   sort(a, ratio)</a:t>
            </a:r>
          </a:p>
          <a:p>
            <a:pPr algn="l" eaLnBrk="1" hangingPunct="1"/>
            <a:r>
              <a:rPr lang="en-US" sz="2000" dirty="0">
                <a:latin typeface="Tahoma"/>
                <a:cs typeface="Tahoma"/>
              </a:rPr>
              <a:t>5   weight = 0</a:t>
            </a:r>
          </a:p>
          <a:p>
            <a:pPr algn="l" eaLnBrk="1" hangingPunct="1"/>
            <a:r>
              <a:rPr lang="en-US" sz="2000" dirty="0">
                <a:latin typeface="Tahoma"/>
                <a:cs typeface="Tahoma"/>
              </a:rPr>
              <a:t>6   </a:t>
            </a:r>
            <a:r>
              <a:rPr lang="en-US" sz="2000" dirty="0" err="1">
                <a:latin typeface="Tahoma"/>
                <a:cs typeface="Tahoma"/>
              </a:rPr>
              <a:t>i</a:t>
            </a:r>
            <a:r>
              <a:rPr lang="en-US" sz="2000" dirty="0">
                <a:latin typeface="Tahoma"/>
                <a:cs typeface="Tahoma"/>
              </a:rPr>
              <a:t> = 1</a:t>
            </a:r>
          </a:p>
          <a:p>
            <a:pPr algn="l" eaLnBrk="1" hangingPunct="1"/>
            <a:r>
              <a:rPr lang="en-US" sz="2000" dirty="0">
                <a:latin typeface="Tahoma"/>
                <a:cs typeface="Tahoma"/>
              </a:rPr>
              <a:t>7   while (</a:t>
            </a:r>
            <a:r>
              <a:rPr lang="en-US" sz="2000" dirty="0" err="1">
                <a:latin typeface="Tahoma"/>
                <a:cs typeface="Tahoma"/>
              </a:rPr>
              <a:t>i</a:t>
            </a:r>
            <a:r>
              <a:rPr lang="en-US" sz="2000" dirty="0">
                <a:latin typeface="Tahoma"/>
                <a:cs typeface="Tahoma"/>
              </a:rPr>
              <a:t> ≤ n and weight &lt; C)</a:t>
            </a:r>
          </a:p>
          <a:p>
            <a:pPr algn="l" eaLnBrk="1" hangingPunct="1"/>
            <a:r>
              <a:rPr lang="en-US" sz="2000" dirty="0">
                <a:latin typeface="Tahoma"/>
                <a:cs typeface="Tahoma"/>
              </a:rPr>
              <a:t>8       if (weight + a[</a:t>
            </a:r>
            <a:r>
              <a:rPr lang="en-US" sz="2000" dirty="0" err="1">
                <a:latin typeface="Tahoma"/>
                <a:cs typeface="Tahoma"/>
              </a:rPr>
              <a:t>i</a:t>
            </a:r>
            <a:r>
              <a:rPr lang="en-US" sz="2000" dirty="0">
                <a:latin typeface="Tahoma"/>
                <a:cs typeface="Tahoma"/>
              </a:rPr>
              <a:t>].w ≤ C)</a:t>
            </a:r>
          </a:p>
          <a:p>
            <a:pPr algn="l" eaLnBrk="1" hangingPunct="1"/>
            <a:r>
              <a:rPr lang="en-US" sz="2000" dirty="0">
                <a:latin typeface="Tahoma"/>
                <a:cs typeface="Tahoma"/>
              </a:rPr>
              <a:t>9           </a:t>
            </a:r>
            <a:r>
              <a:rPr lang="en-US" sz="2000" dirty="0" err="1">
                <a:latin typeface="Tahoma"/>
                <a:cs typeface="Tahoma"/>
              </a:rPr>
              <a:t>println</a:t>
            </a:r>
            <a:r>
              <a:rPr lang="en-US" sz="2000" dirty="0">
                <a:latin typeface="Tahoma"/>
                <a:cs typeface="Tahoma"/>
              </a:rPr>
              <a:t> </a:t>
            </a:r>
            <a:r>
              <a:rPr lang="ja-JP" altLang="en-US" sz="2000">
                <a:latin typeface="Tahoma"/>
                <a:cs typeface="Tahoma"/>
              </a:rPr>
              <a:t>“</a:t>
            </a:r>
            <a:r>
              <a:rPr lang="en-US" sz="2000" dirty="0">
                <a:latin typeface="Tahoma"/>
                <a:cs typeface="Tahoma"/>
              </a:rPr>
              <a:t>select all of object </a:t>
            </a:r>
            <a:r>
              <a:rPr lang="ja-JP" altLang="en-US" sz="2000" dirty="0">
                <a:latin typeface="Tahoma"/>
                <a:cs typeface="Tahoma"/>
              </a:rPr>
              <a:t>“</a:t>
            </a:r>
            <a:r>
              <a:rPr lang="en-US" sz="2000" dirty="0">
                <a:latin typeface="Tahoma"/>
                <a:cs typeface="Tahoma"/>
              </a:rPr>
              <a:t> + a[</a:t>
            </a:r>
            <a:r>
              <a:rPr lang="en-US" sz="2000" dirty="0" err="1">
                <a:latin typeface="Tahoma"/>
                <a:cs typeface="Tahoma"/>
              </a:rPr>
              <a:t>i</a:t>
            </a:r>
            <a:r>
              <a:rPr lang="en-US" sz="2000" dirty="0">
                <a:latin typeface="Tahoma"/>
                <a:cs typeface="Tahoma"/>
              </a:rPr>
              <a:t>].id</a:t>
            </a:r>
          </a:p>
          <a:p>
            <a:pPr algn="l" eaLnBrk="1" hangingPunct="1"/>
            <a:r>
              <a:rPr lang="en-US" sz="2000" dirty="0">
                <a:latin typeface="Tahoma"/>
                <a:cs typeface="Tahoma"/>
              </a:rPr>
              <a:t>10         weight = weight + a[</a:t>
            </a:r>
            <a:r>
              <a:rPr lang="en-US" sz="2000" dirty="0" err="1">
                <a:latin typeface="Tahoma"/>
                <a:cs typeface="Tahoma"/>
              </a:rPr>
              <a:t>i</a:t>
            </a:r>
            <a:r>
              <a:rPr lang="en-US" sz="2000" dirty="0">
                <a:latin typeface="Tahoma"/>
                <a:cs typeface="Tahoma"/>
              </a:rPr>
              <a:t>].w</a:t>
            </a:r>
          </a:p>
          <a:p>
            <a:pPr algn="l" eaLnBrk="1" hangingPunct="1"/>
            <a:r>
              <a:rPr lang="en-US" sz="2000" dirty="0">
                <a:latin typeface="Tahoma"/>
                <a:cs typeface="Tahoma"/>
              </a:rPr>
              <a:t>11     else</a:t>
            </a:r>
          </a:p>
          <a:p>
            <a:pPr algn="l" eaLnBrk="1" hangingPunct="1"/>
            <a:r>
              <a:rPr lang="en-US" sz="2000" dirty="0">
                <a:latin typeface="Tahoma"/>
                <a:cs typeface="Tahoma"/>
              </a:rPr>
              <a:t>12         r = (C – weight) / a[</a:t>
            </a:r>
            <a:r>
              <a:rPr lang="en-US" sz="2000" dirty="0" err="1">
                <a:latin typeface="Tahoma"/>
                <a:cs typeface="Tahoma"/>
              </a:rPr>
              <a:t>i</a:t>
            </a:r>
            <a:r>
              <a:rPr lang="en-US" sz="2000" dirty="0">
                <a:latin typeface="Tahoma"/>
                <a:cs typeface="Tahoma"/>
              </a:rPr>
              <a:t>].w</a:t>
            </a:r>
          </a:p>
          <a:p>
            <a:pPr algn="l" eaLnBrk="1" hangingPunct="1"/>
            <a:r>
              <a:rPr lang="en-US" sz="2000" dirty="0">
                <a:latin typeface="Tahoma"/>
                <a:cs typeface="Tahoma"/>
              </a:rPr>
              <a:t>13         </a:t>
            </a:r>
            <a:r>
              <a:rPr lang="en-US" sz="2000" dirty="0" err="1">
                <a:latin typeface="Tahoma"/>
                <a:cs typeface="Tahoma"/>
              </a:rPr>
              <a:t>println</a:t>
            </a:r>
            <a:r>
              <a:rPr lang="en-US" sz="2000" dirty="0">
                <a:latin typeface="Tahoma"/>
                <a:cs typeface="Tahoma"/>
              </a:rPr>
              <a:t> </a:t>
            </a:r>
            <a:r>
              <a:rPr lang="ja-JP" altLang="en-US" sz="2000" dirty="0">
                <a:latin typeface="Tahoma"/>
                <a:cs typeface="Tahoma"/>
              </a:rPr>
              <a:t>“</a:t>
            </a:r>
            <a:r>
              <a:rPr lang="en-US" sz="2000" dirty="0">
                <a:latin typeface="Tahoma"/>
                <a:cs typeface="Tahoma"/>
              </a:rPr>
              <a:t>select </a:t>
            </a:r>
            <a:r>
              <a:rPr lang="ja-JP" altLang="en-US" sz="2000" dirty="0">
                <a:latin typeface="Tahoma"/>
                <a:cs typeface="Tahoma"/>
              </a:rPr>
              <a:t>“</a:t>
            </a:r>
            <a:r>
              <a:rPr lang="en-US" sz="2000" dirty="0">
                <a:latin typeface="Tahoma"/>
                <a:cs typeface="Tahoma"/>
              </a:rPr>
              <a:t> + r + </a:t>
            </a:r>
            <a:r>
              <a:rPr lang="ja-JP" altLang="en-US" sz="2000" dirty="0">
                <a:latin typeface="Tahoma"/>
                <a:cs typeface="Tahoma"/>
              </a:rPr>
              <a:t>“</a:t>
            </a:r>
            <a:r>
              <a:rPr lang="en-US" sz="2000" dirty="0">
                <a:latin typeface="Tahoma"/>
                <a:cs typeface="Tahoma"/>
              </a:rPr>
              <a:t> of object </a:t>
            </a:r>
            <a:r>
              <a:rPr lang="ja-JP" altLang="en-US" sz="2000" dirty="0">
                <a:latin typeface="Tahoma"/>
                <a:cs typeface="Tahoma"/>
              </a:rPr>
              <a:t>“</a:t>
            </a:r>
            <a:r>
              <a:rPr lang="en-US" sz="2000" dirty="0">
                <a:latin typeface="Tahoma"/>
                <a:cs typeface="Tahoma"/>
              </a:rPr>
              <a:t> + a[</a:t>
            </a:r>
            <a:r>
              <a:rPr lang="en-US" sz="2000" dirty="0" err="1">
                <a:latin typeface="Tahoma"/>
                <a:cs typeface="Tahoma"/>
              </a:rPr>
              <a:t>i</a:t>
            </a:r>
            <a:r>
              <a:rPr lang="en-US" sz="2000" dirty="0">
                <a:latin typeface="Tahoma"/>
                <a:cs typeface="Tahoma"/>
              </a:rPr>
              <a:t>].id</a:t>
            </a:r>
          </a:p>
          <a:p>
            <a:pPr algn="l" eaLnBrk="1" hangingPunct="1"/>
            <a:r>
              <a:rPr lang="en-US" sz="2000" dirty="0">
                <a:latin typeface="Tahoma"/>
                <a:cs typeface="Tahoma"/>
              </a:rPr>
              <a:t>14         weight = C</a:t>
            </a:r>
          </a:p>
          <a:p>
            <a:pPr algn="l" eaLnBrk="1" hangingPunct="1"/>
            <a:r>
              <a:rPr lang="en-US" sz="2000" dirty="0">
                <a:latin typeface="Tahoma"/>
                <a:cs typeface="Tahoma"/>
              </a:rPr>
              <a:t>15     </a:t>
            </a:r>
            <a:r>
              <a:rPr lang="en-US" sz="2000" dirty="0" err="1">
                <a:latin typeface="Tahoma"/>
                <a:cs typeface="Tahoma"/>
              </a:rPr>
              <a:t>i</a:t>
            </a:r>
            <a:r>
              <a:rPr lang="en-US" sz="2000" dirty="0">
                <a:latin typeface="Tahoma"/>
                <a:cs typeface="Tahoma"/>
              </a:rPr>
              <a:t> = i+1</a:t>
            </a:r>
          </a:p>
          <a:p>
            <a:pPr eaLnBrk="1" hangingPunct="1"/>
            <a:endParaRPr lang="en-US" sz="2000" dirty="0"/>
          </a:p>
        </p:txBody>
      </p:sp>
      <p:sp>
        <p:nvSpPr>
          <p:cNvPr id="2" name="TextBox 1"/>
          <p:cNvSpPr txBox="1"/>
          <p:nvPr/>
        </p:nvSpPr>
        <p:spPr>
          <a:xfrm>
            <a:off x="7086599" y="1524000"/>
            <a:ext cx="3962400" cy="2985433"/>
          </a:xfrm>
          <a:prstGeom prst="rect">
            <a:avLst/>
          </a:prstGeom>
          <a:noFill/>
          <a:ln>
            <a:solidFill>
              <a:schemeClr val="tx1"/>
            </a:solidFill>
          </a:ln>
        </p:spPr>
        <p:txBody>
          <a:bodyPr wrap="square" rtlCol="0">
            <a:spAutoFit/>
          </a:bodyPr>
          <a:lstStyle/>
          <a:p>
            <a:pPr algn="l"/>
            <a:r>
              <a:rPr lang="en-US" sz="2800" dirty="0">
                <a:latin typeface="Calibri" charset="0"/>
              </a:rPr>
              <a:t>Worst-case runtime:</a:t>
            </a:r>
            <a:br>
              <a:rPr lang="en-US" sz="2800" dirty="0">
                <a:latin typeface="Calibri" charset="0"/>
              </a:rPr>
            </a:br>
            <a:r>
              <a:rPr lang="en-US" sz="2800" dirty="0">
                <a:latin typeface="Calibri" charset="0"/>
              </a:rPr>
              <a:t>for loop and while loop take </a:t>
            </a:r>
            <a:r>
              <a:rPr lang="el-GR" sz="2800" dirty="0">
                <a:latin typeface="Calibri" charset="0"/>
              </a:rPr>
              <a:t>θ</a:t>
            </a:r>
            <a:r>
              <a:rPr lang="en-US" sz="2800" dirty="0">
                <a:latin typeface="Calibri" charset="0"/>
              </a:rPr>
              <a:t>(n) time,</a:t>
            </a:r>
          </a:p>
          <a:p>
            <a:pPr algn="l"/>
            <a:r>
              <a:rPr lang="en-US" sz="2800" dirty="0">
                <a:latin typeface="Calibri" charset="0"/>
              </a:rPr>
              <a:t>sorting takes </a:t>
            </a:r>
            <a:r>
              <a:rPr lang="el-GR" sz="2800" dirty="0">
                <a:latin typeface="Calibri" charset="0"/>
              </a:rPr>
              <a:t>θ</a:t>
            </a:r>
            <a:r>
              <a:rPr lang="en-US" sz="2800" dirty="0">
                <a:latin typeface="Calibri" charset="0"/>
              </a:rPr>
              <a:t>(</a:t>
            </a:r>
            <a:r>
              <a:rPr lang="en-US" sz="2800" dirty="0" err="1">
                <a:latin typeface="Calibri" charset="0"/>
              </a:rPr>
              <a:t>nlgn</a:t>
            </a:r>
            <a:r>
              <a:rPr lang="en-US" sz="2800" dirty="0">
                <a:latin typeface="Calibri" charset="0"/>
              </a:rPr>
              <a:t>) time, so algorithm takes </a:t>
            </a:r>
            <a:r>
              <a:rPr lang="el-GR" sz="2800" dirty="0">
                <a:latin typeface="Calibri" charset="0"/>
              </a:rPr>
              <a:t>θ</a:t>
            </a:r>
            <a:r>
              <a:rPr lang="en-US" sz="2800" dirty="0">
                <a:latin typeface="Calibri" charset="0"/>
              </a:rPr>
              <a:t>(</a:t>
            </a:r>
            <a:r>
              <a:rPr lang="en-US" sz="2800" dirty="0" err="1">
                <a:latin typeface="Calibri" charset="0"/>
              </a:rPr>
              <a:t>nlgn</a:t>
            </a:r>
            <a:r>
              <a:rPr lang="en-US" sz="2800" dirty="0">
                <a:latin typeface="Calibri" charset="0"/>
              </a:rPr>
              <a:t>) time</a:t>
            </a:r>
          </a:p>
          <a:p>
            <a:endParaRPr lang="en-US" sz="2000" dirty="0"/>
          </a:p>
        </p:txBody>
      </p:sp>
    </p:spTree>
    <p:extLst>
      <p:ext uri="{BB962C8B-B14F-4D97-AF65-F5344CB8AC3E}">
        <p14:creationId xmlns:p14="http://schemas.microsoft.com/office/powerpoint/2010/main" val="31346294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1"/>
          <p:cNvSpPr>
            <a:spLocks noGrp="1"/>
          </p:cNvSpPr>
          <p:nvPr>
            <p:ph type="title"/>
          </p:nvPr>
        </p:nvSpPr>
        <p:spPr/>
        <p:txBody>
          <a:bodyPr/>
          <a:lstStyle/>
          <a:p>
            <a:pPr eaLnBrk="1" hangingPunct="1"/>
            <a:r>
              <a:rPr lang="en-US" dirty="0">
                <a:latin typeface="Calibri" charset="0"/>
              </a:rPr>
              <a:t>Another Knapsack Example to Try</a:t>
            </a:r>
          </a:p>
        </p:txBody>
      </p:sp>
      <p:sp>
        <p:nvSpPr>
          <p:cNvPr id="3" name="Content Placeholder 2"/>
          <p:cNvSpPr>
            <a:spLocks noGrp="1"/>
          </p:cNvSpPr>
          <p:nvPr>
            <p:ph idx="1"/>
          </p:nvPr>
        </p:nvSpPr>
        <p:spPr>
          <a:xfrm>
            <a:off x="1981200" y="1524000"/>
            <a:ext cx="8229600" cy="4648200"/>
          </a:xfrm>
        </p:spPr>
        <p:txBody>
          <a:bodyPr rtlCol="0">
            <a:normAutofit fontScale="92500" lnSpcReduction="20000"/>
          </a:bodyPr>
          <a:lstStyle/>
          <a:p>
            <a:pPr>
              <a:defRPr/>
            </a:pPr>
            <a:r>
              <a:rPr lang="en-US" dirty="0">
                <a:ea typeface="+mn-ea"/>
              </a:rPr>
              <a:t>Assume for this problem that:  </a:t>
            </a:r>
          </a:p>
          <a:p>
            <a:pPr>
              <a:defRPr/>
            </a:pPr>
            <a:r>
              <a:rPr lang="en-US" dirty="0">
                <a:ea typeface="+mn-ea"/>
              </a:rPr>
              <a:t>Ratios of profit to weight:</a:t>
            </a:r>
          </a:p>
          <a:p>
            <a:pPr>
              <a:defRPr/>
            </a:pPr>
            <a:endParaRPr lang="en-US" dirty="0">
              <a:ea typeface="+mn-ea"/>
            </a:endParaRPr>
          </a:p>
          <a:p>
            <a:pPr>
              <a:defRPr/>
            </a:pPr>
            <a:endParaRPr lang="en-US" dirty="0">
              <a:ea typeface="+mn-ea"/>
            </a:endParaRPr>
          </a:p>
          <a:p>
            <a:pPr>
              <a:defRPr/>
            </a:pPr>
            <a:endParaRPr lang="en-US" dirty="0">
              <a:ea typeface="+mn-ea"/>
            </a:endParaRPr>
          </a:p>
          <a:p>
            <a:pPr marL="0" indent="0">
              <a:buNone/>
              <a:defRPr/>
            </a:pPr>
            <a:endParaRPr lang="en-US" dirty="0">
              <a:ea typeface="+mn-ea"/>
            </a:endParaRPr>
          </a:p>
          <a:p>
            <a:pPr marL="0" indent="0">
              <a:buNone/>
              <a:defRPr/>
            </a:pPr>
            <a:endParaRPr lang="en-US" dirty="0">
              <a:ea typeface="+mn-ea"/>
            </a:endParaRPr>
          </a:p>
          <a:p>
            <a:pPr>
              <a:defRPr/>
            </a:pPr>
            <a:r>
              <a:rPr lang="en-US" dirty="0">
                <a:ea typeface="+mn-ea"/>
              </a:rPr>
              <a:t>What order do we examine items?</a:t>
            </a:r>
          </a:p>
          <a:p>
            <a:pPr>
              <a:defRPr/>
            </a:pPr>
            <a:r>
              <a:rPr lang="en-US" dirty="0">
                <a:ea typeface="+mn-ea"/>
              </a:rPr>
              <a:t>What are the x</a:t>
            </a:r>
            <a:r>
              <a:rPr lang="en-US" baseline="-25000" dirty="0">
                <a:ea typeface="+mn-ea"/>
              </a:rPr>
              <a:t>i</a:t>
            </a:r>
            <a:r>
              <a:rPr lang="en-US" dirty="0">
                <a:ea typeface="+mn-ea"/>
              </a:rPr>
              <a:t> values that result?</a:t>
            </a:r>
          </a:p>
          <a:p>
            <a:pPr>
              <a:defRPr/>
            </a:pPr>
            <a:r>
              <a:rPr lang="en-US" dirty="0">
                <a:ea typeface="+mn-ea"/>
              </a:rPr>
              <a:t>What’s the total profit?</a:t>
            </a:r>
          </a:p>
        </p:txBody>
      </p:sp>
      <p:sp>
        <p:nvSpPr>
          <p:cNvPr id="16388" name="TextBox 3"/>
          <p:cNvSpPr txBox="1">
            <a:spLocks noChangeArrowheads="1"/>
          </p:cNvSpPr>
          <p:nvPr/>
        </p:nvSpPr>
        <p:spPr bwMode="auto">
          <a:xfrm>
            <a:off x="2590801" y="2362200"/>
            <a:ext cx="3019425" cy="19383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a:solidFill>
                  <a:schemeClr val="tx1"/>
                </a:solidFill>
                <a:latin typeface="Calibri" charset="0"/>
                <a:ea typeface="ＭＳ Ｐゴシック"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r>
              <a:rPr lang="en-US" sz="2400" dirty="0"/>
              <a:t>p</a:t>
            </a:r>
            <a:r>
              <a:rPr lang="en-US" sz="2400" baseline="-25000" dirty="0"/>
              <a:t>1</a:t>
            </a:r>
            <a:r>
              <a:rPr lang="en-US" sz="2400" dirty="0"/>
              <a:t>/w</a:t>
            </a:r>
            <a:r>
              <a:rPr lang="en-US" sz="2400" baseline="-25000" dirty="0"/>
              <a:t>1</a:t>
            </a:r>
            <a:r>
              <a:rPr lang="en-US" sz="2400" dirty="0"/>
              <a:t> = 5/120 = .0417</a:t>
            </a:r>
          </a:p>
          <a:p>
            <a:pPr eaLnBrk="1" hangingPunct="1"/>
            <a:r>
              <a:rPr lang="en-US" sz="2400" dirty="0"/>
              <a:t>p</a:t>
            </a:r>
            <a:r>
              <a:rPr lang="en-US" sz="2400" baseline="-25000" dirty="0"/>
              <a:t>2</a:t>
            </a:r>
            <a:r>
              <a:rPr lang="en-US" sz="2400" dirty="0"/>
              <a:t>/w</a:t>
            </a:r>
            <a:r>
              <a:rPr lang="en-US" sz="2400" baseline="-25000" dirty="0"/>
              <a:t>2</a:t>
            </a:r>
            <a:r>
              <a:rPr lang="en-US" sz="2400" dirty="0"/>
              <a:t> = 5/150 = .0333</a:t>
            </a:r>
          </a:p>
          <a:p>
            <a:pPr eaLnBrk="1" hangingPunct="1"/>
            <a:r>
              <a:rPr lang="en-US" sz="2400" dirty="0"/>
              <a:t>p</a:t>
            </a:r>
            <a:r>
              <a:rPr lang="en-US" sz="2400" baseline="-25000" dirty="0"/>
              <a:t>3</a:t>
            </a:r>
            <a:r>
              <a:rPr lang="en-US" sz="2400" dirty="0"/>
              <a:t>/w</a:t>
            </a:r>
            <a:r>
              <a:rPr lang="en-US" sz="2400" baseline="-25000" dirty="0"/>
              <a:t>3</a:t>
            </a:r>
            <a:r>
              <a:rPr lang="en-US" sz="2400" dirty="0"/>
              <a:t> = 4/200 = .0200</a:t>
            </a:r>
          </a:p>
          <a:p>
            <a:pPr eaLnBrk="1" hangingPunct="1"/>
            <a:r>
              <a:rPr lang="en-US" sz="2400" dirty="0"/>
              <a:t>p</a:t>
            </a:r>
            <a:r>
              <a:rPr lang="en-US" sz="2400" baseline="-25000" dirty="0"/>
              <a:t>4</a:t>
            </a:r>
            <a:r>
              <a:rPr lang="en-US" sz="2400" dirty="0"/>
              <a:t>/w</a:t>
            </a:r>
            <a:r>
              <a:rPr lang="en-US" sz="2400" baseline="-25000" dirty="0"/>
              <a:t>4</a:t>
            </a:r>
            <a:r>
              <a:rPr lang="en-US" sz="2400" dirty="0"/>
              <a:t> = 8/150 = .0533</a:t>
            </a:r>
          </a:p>
          <a:p>
            <a:pPr eaLnBrk="1" hangingPunct="1"/>
            <a:r>
              <a:rPr lang="en-US" sz="2400" dirty="0"/>
              <a:t>p</a:t>
            </a:r>
            <a:r>
              <a:rPr lang="en-US" sz="2400" baseline="-25000" dirty="0"/>
              <a:t>5</a:t>
            </a:r>
            <a:r>
              <a:rPr lang="en-US" sz="2400" dirty="0"/>
              <a:t>/w</a:t>
            </a:r>
            <a:r>
              <a:rPr lang="en-US" sz="2400" baseline="-25000" dirty="0"/>
              <a:t>5</a:t>
            </a:r>
            <a:r>
              <a:rPr lang="en-US" sz="2400" dirty="0"/>
              <a:t> = 3/140 = .0214</a:t>
            </a:r>
          </a:p>
        </p:txBody>
      </p:sp>
      <p:graphicFrame>
        <p:nvGraphicFramePr>
          <p:cNvPr id="5" name="Object 6"/>
          <p:cNvGraphicFramePr>
            <a:graphicFrameLocks noChangeAspect="1"/>
          </p:cNvGraphicFramePr>
          <p:nvPr/>
        </p:nvGraphicFramePr>
        <p:xfrm>
          <a:off x="7086600" y="1371600"/>
          <a:ext cx="1292774" cy="990600"/>
        </p:xfrm>
        <a:graphic>
          <a:graphicData uri="http://schemas.openxmlformats.org/presentationml/2006/ole">
            <mc:AlternateContent xmlns:mc="http://schemas.openxmlformats.org/markup-compatibility/2006">
              <mc:Choice xmlns:v="urn:schemas-microsoft-com:vml" Requires="v">
                <p:oleObj name="Equation" r:id="rId2" imgW="596900" imgH="457200" progId="Equation.3">
                  <p:embed/>
                </p:oleObj>
              </mc:Choice>
              <mc:Fallback>
                <p:oleObj name="Equation" r:id="rId2" imgW="596900" imgH="457200" progId="Equation.3">
                  <p:embed/>
                  <p:pic>
                    <p:nvPicPr>
                      <p:cNvPr id="5" name="Object 6"/>
                      <p:cNvPicPr>
                        <a:picLocks noChangeAspect="1" noChangeArrowheads="1"/>
                      </p:cNvPicPr>
                      <p:nvPr/>
                    </p:nvPicPr>
                    <p:blipFill>
                      <a:blip r:embed="rId3"/>
                      <a:srcRect/>
                      <a:stretch>
                        <a:fillRect/>
                      </a:stretch>
                    </p:blipFill>
                    <p:spPr bwMode="auto">
                      <a:xfrm>
                        <a:off x="7086600" y="1371600"/>
                        <a:ext cx="1292774" cy="990600"/>
                      </a:xfrm>
                      <a:prstGeom prst="rect">
                        <a:avLst/>
                      </a:prstGeom>
                      <a:noFill/>
                      <a:ln>
                        <a:noFill/>
                      </a:ln>
                    </p:spPr>
                  </p:pic>
                </p:oleObj>
              </mc:Fallback>
            </mc:AlternateContent>
          </a:graphicData>
        </a:graphic>
      </p:graphicFrame>
    </p:spTree>
    <p:extLst>
      <p:ext uri="{BB962C8B-B14F-4D97-AF65-F5344CB8AC3E}">
        <p14:creationId xmlns:p14="http://schemas.microsoft.com/office/powerpoint/2010/main" val="18559926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Arial" panose="020B0604020202020204" pitchFamily="34" charset="0"/>
                <a:cs typeface="Arial" panose="020B0604020202020204" pitchFamily="34" charset="0"/>
              </a:rPr>
              <a:t>Greedy Choice Property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
              </p:nvPr>
            </p:nvSpPr>
            <p:spPr>
              <a:xfrm>
                <a:off x="228600" y="1295400"/>
                <a:ext cx="11734800" cy="5257800"/>
              </a:xfrm>
            </p:spPr>
            <p:txBody>
              <a:bodyPr anchor="t">
                <a:normAutofit/>
              </a:bodyPr>
              <a:lstStyle/>
              <a:p>
                <a:r>
                  <a:rPr lang="en-US" sz="2400" b="1" i="1" u="sng" dirty="0"/>
                  <a:t>Greedy Choice Property</a:t>
                </a:r>
                <a:r>
                  <a:rPr lang="en-US" sz="2400" dirty="0"/>
                  <a:t>: The item with the largest value-to-weight ratio, filled to its max possible amount, must be in some optimal solution.</a:t>
                </a:r>
              </a:p>
              <a:p>
                <a:endParaRPr lang="en-US" sz="2400" dirty="0"/>
              </a:p>
              <a:p>
                <a:r>
                  <a:rPr lang="en-US" sz="2400" b="1" i="1" u="sng" dirty="0"/>
                  <a:t>Terms</a:t>
                </a:r>
                <a:r>
                  <a:rPr lang="en-US" sz="2400" dirty="0"/>
                  <a:t>:</a:t>
                </a:r>
              </a:p>
              <a:p>
                <a:r>
                  <a:rPr lang="en-US" sz="2400" dirty="0"/>
                  <a:t>Items are </a:t>
                </a:r>
                <a14:m>
                  <m:oMath xmlns:m="http://schemas.openxmlformats.org/officeDocument/2006/math">
                    <m:r>
                      <a:rPr lang="en-US" sz="2400" b="0" i="1" smtClean="0">
                        <a:latin typeface="Cambria Math" panose="02040503050406030204" pitchFamily="18" charset="0"/>
                      </a:rPr>
                      <m:t>𝐼</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1</m:t>
                        </m:r>
                      </m:sub>
                    </m:sSub>
                    <m:r>
                      <a:rPr lang="en-US" sz="2400" b="0" i="1" smtClean="0">
                        <a:latin typeface="Cambria Math" panose="02040503050406030204" pitchFamily="18" charset="0"/>
                      </a:rPr>
                      <m:t>, </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2</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3</m:t>
                        </m:r>
                      </m:sub>
                    </m:sSub>
                    <m:r>
                      <a:rPr lang="en-US" sz="2400" b="0" i="1" smtClean="0">
                        <a:latin typeface="Cambria Math" panose="02040503050406030204" pitchFamily="18" charset="0"/>
                      </a:rPr>
                      <m:t>,…}</m:t>
                    </m:r>
                  </m:oMath>
                </a14:m>
                <a:r>
                  <a:rPr lang="en-US" sz="2400" dirty="0"/>
                  <a:t> and each item has a value and weight field (like an object)</a:t>
                </a:r>
              </a:p>
              <a:p>
                <a:r>
                  <a:rPr lang="en-US" sz="2400" dirty="0"/>
                  <a:t>Assume ratios of items sorted. </a:t>
                </a:r>
                <a14:m>
                  <m:oMath xmlns:m="http://schemas.openxmlformats.org/officeDocument/2006/math">
                    <m:r>
                      <a:rPr lang="en-US" sz="2400" b="0" i="1" smtClean="0">
                        <a:latin typeface="Cambria Math" panose="02040503050406030204" pitchFamily="18" charset="0"/>
                      </a:rPr>
                      <m:t>𝑅</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𝑟</m:t>
                        </m:r>
                      </m:e>
                      <m:sub>
                        <m:r>
                          <a:rPr lang="en-US" sz="2400" b="0" i="1" smtClean="0">
                            <a:latin typeface="Cambria Math" panose="02040503050406030204" pitchFamily="18" charset="0"/>
                          </a:rPr>
                          <m:t>1</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𝑟</m:t>
                        </m:r>
                      </m:e>
                      <m:sub>
                        <m:r>
                          <a:rPr lang="en-US" sz="2400" b="0" i="1" smtClean="0">
                            <a:latin typeface="Cambria Math" panose="02040503050406030204" pitchFamily="18" charset="0"/>
                          </a:rPr>
                          <m:t>2</m:t>
                        </m:r>
                      </m:sub>
                    </m:sSub>
                    <m:r>
                      <a:rPr lang="en-US" sz="2400" b="0" i="1" smtClean="0">
                        <a:latin typeface="Cambria Math" panose="02040503050406030204" pitchFamily="18" charset="0"/>
                      </a:rPr>
                      <m:t>,…}</m:t>
                    </m:r>
                  </m:oMath>
                </a14:m>
                <a:r>
                  <a:rPr lang="en-US" sz="2400" dirty="0"/>
                  <a:t> and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𝑟</m:t>
                        </m:r>
                      </m:e>
                      <m:sub>
                        <m:r>
                          <a:rPr lang="en-US" sz="2400" b="0" i="1" smtClean="0">
                            <a:latin typeface="Cambria Math" panose="02040503050406030204" pitchFamily="18" charset="0"/>
                          </a:rPr>
                          <m:t>𝑗</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𝐼</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𝑗</m:t>
                            </m:r>
                          </m:e>
                        </m:d>
                        <m:r>
                          <a:rPr lang="en-US" sz="2400" b="0" i="1" smtClean="0">
                            <a:latin typeface="Cambria Math" panose="02040503050406030204" pitchFamily="18" charset="0"/>
                          </a:rPr>
                          <m:t>.</m:t>
                        </m:r>
                        <m:r>
                          <a:rPr lang="en-US" sz="2400" b="0" i="1" smtClean="0">
                            <a:latin typeface="Cambria Math" panose="02040503050406030204" pitchFamily="18" charset="0"/>
                          </a:rPr>
                          <m:t>𝑣</m:t>
                        </m:r>
                      </m:num>
                      <m:den>
                        <m:r>
                          <a:rPr lang="en-US" sz="2400" b="0" i="1" smtClean="0">
                            <a:latin typeface="Cambria Math" panose="02040503050406030204" pitchFamily="18" charset="0"/>
                          </a:rPr>
                          <m:t>𝐼</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𝑗</m:t>
                            </m:r>
                          </m:e>
                        </m:d>
                        <m:r>
                          <a:rPr lang="en-US" sz="2400" b="0" i="1" smtClean="0">
                            <a:latin typeface="Cambria Math" panose="02040503050406030204" pitchFamily="18" charset="0"/>
                          </a:rPr>
                          <m:t>.</m:t>
                        </m:r>
                        <m:r>
                          <a:rPr lang="en-US" sz="2400" b="0" i="1" smtClean="0">
                            <a:latin typeface="Cambria Math" panose="02040503050406030204" pitchFamily="18" charset="0"/>
                          </a:rPr>
                          <m:t>𝑤</m:t>
                        </m:r>
                      </m:den>
                    </m:f>
                  </m:oMath>
                </a14:m>
                <a:r>
                  <a:rPr lang="en-US" sz="2400" dirty="0"/>
                  <a:t>  and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𝑟</m:t>
                        </m:r>
                      </m:e>
                      <m:sub>
                        <m:r>
                          <a:rPr lang="en-US" sz="2400" b="0" i="1" smtClean="0">
                            <a:latin typeface="Cambria Math" panose="02040503050406030204" pitchFamily="18" charset="0"/>
                          </a:rPr>
                          <m:t>1</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𝑟</m:t>
                        </m:r>
                      </m:e>
                      <m:sub>
                        <m:r>
                          <a:rPr lang="en-US" sz="2400" b="0" i="1" smtClean="0">
                            <a:latin typeface="Cambria Math" panose="02040503050406030204" pitchFamily="18" charset="0"/>
                          </a:rPr>
                          <m:t>2</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𝑟</m:t>
                        </m:r>
                      </m:e>
                      <m:sub>
                        <m:r>
                          <a:rPr lang="en-US" sz="2400" b="0" i="1" smtClean="0">
                            <a:latin typeface="Cambria Math" panose="02040503050406030204" pitchFamily="18" charset="0"/>
                          </a:rPr>
                          <m:t>𝑛</m:t>
                        </m:r>
                      </m:sub>
                    </m:sSub>
                  </m:oMath>
                </a14:m>
                <a:endParaRPr lang="en-US" sz="2400" dirty="0"/>
              </a:p>
              <a:p>
                <a14:m>
                  <m:oMath xmlns:m="http://schemas.openxmlformats.org/officeDocument/2006/math">
                    <m:r>
                      <a:rPr lang="en-US" sz="2400" b="0" i="1" smtClean="0">
                        <a:latin typeface="Cambria Math" panose="02040503050406030204" pitchFamily="18" charset="0"/>
                      </a:rPr>
                      <m:t>𝑊</m:t>
                    </m:r>
                    <m:r>
                      <a:rPr lang="en-US" sz="2400" b="0" i="1" smtClean="0">
                        <a:latin typeface="Cambria Math" panose="02040503050406030204" pitchFamily="18" charset="0"/>
                      </a:rPr>
                      <m:t>&gt;0 </m:t>
                    </m:r>
                  </m:oMath>
                </a14:m>
                <a:r>
                  <a:rPr lang="en-US" sz="2400" dirty="0"/>
                  <a:t> is capacity of knapsack</a:t>
                </a:r>
              </a:p>
            </p:txBody>
          </p:sp>
        </mc:Choice>
        <mc:Fallback xmlns="">
          <p:sp>
            <p:nvSpPr>
              <p:cNvPr id="3" name="Content Placeholder 2"/>
              <p:cNvSpPr>
                <a:spLocks noGrp="1" noRot="1" noChangeAspect="1" noMove="1" noResize="1" noEditPoints="1" noAdjustHandles="1" noChangeArrowheads="1" noChangeShapeType="1" noTextEdit="1"/>
              </p:cNvSpPr>
              <p:nvPr>
                <p:ph sz="quarter" idx="1"/>
              </p:nvPr>
            </p:nvSpPr>
            <p:spPr>
              <a:xfrm>
                <a:off x="228600" y="1295400"/>
                <a:ext cx="11734800" cy="5257800"/>
              </a:xfrm>
              <a:blipFill>
                <a:blip r:embed="rId2"/>
                <a:stretch>
                  <a:fillRect l="-649" t="-964"/>
                </a:stretch>
              </a:blipFill>
            </p:spPr>
            <p:txBody>
              <a:bodyPr/>
              <a:lstStyle/>
              <a:p>
                <a:r>
                  <a:rPr lang="en-US">
                    <a:noFill/>
                  </a:rPr>
                  <a:t> </a:t>
                </a:r>
              </a:p>
            </p:txBody>
          </p:sp>
        </mc:Fallback>
      </mc:AlternateContent>
    </p:spTree>
    <p:extLst>
      <p:ext uri="{BB962C8B-B14F-4D97-AF65-F5344CB8AC3E}">
        <p14:creationId xmlns:p14="http://schemas.microsoft.com/office/powerpoint/2010/main" val="4200728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Arial" panose="020B0604020202020204" pitchFamily="34" charset="0"/>
                <a:cs typeface="Arial" panose="020B0604020202020204" pitchFamily="34" charset="0"/>
              </a:rPr>
              <a:t>Greedy Choice Property</a:t>
            </a:r>
          </a:p>
        </p:txBody>
      </p:sp>
      <mc:AlternateContent xmlns:mc="http://schemas.openxmlformats.org/markup-compatibility/2006">
        <mc:Choice xmlns:a14="http://schemas.microsoft.com/office/drawing/2010/main" Requires="a14">
          <p:sp>
            <p:nvSpPr>
              <p:cNvPr id="3" name="Content Placeholder 2"/>
              <p:cNvSpPr>
                <a:spLocks noGrp="1"/>
              </p:cNvSpPr>
              <p:nvPr>
                <p:ph sz="quarter" idx="1"/>
              </p:nvPr>
            </p:nvSpPr>
            <p:spPr>
              <a:xfrm>
                <a:off x="228600" y="1295400"/>
                <a:ext cx="11734800" cy="5257800"/>
              </a:xfrm>
            </p:spPr>
            <p:txBody>
              <a:bodyPr anchor="t">
                <a:normAutofit fontScale="92500" lnSpcReduction="20000"/>
              </a:bodyPr>
              <a:lstStyle/>
              <a:p>
                <a:r>
                  <a:rPr lang="en-US" sz="2400" b="1" i="1" u="sng" dirty="0"/>
                  <a:t>Greedy Choice Property</a:t>
                </a:r>
                <a:r>
                  <a:rPr lang="en-US" sz="2400" dirty="0"/>
                  <a:t>: The item with the largest value-to-weight ratio, filled to its max possible amount, must be in some optimal solution.</a:t>
                </a:r>
              </a:p>
              <a:p>
                <a:endParaRPr lang="en-US" sz="2400" dirty="0"/>
              </a:p>
              <a:p>
                <a:r>
                  <a:rPr lang="en-US" sz="2400" b="1" i="1" u="sng" dirty="0"/>
                  <a:t>Proof:</a:t>
                </a:r>
              </a:p>
              <a:p>
                <a:r>
                  <a:rPr lang="en-US" sz="2400" dirty="0"/>
                  <a:t>Assume claim is false and the largest value-to-weight ratio item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𝑛</m:t>
                        </m:r>
                      </m:sub>
                    </m:sSub>
                  </m:oMath>
                </a14:m>
                <a:r>
                  <a:rPr lang="en-US" sz="2400" dirty="0"/>
                  <a:t> is NOT in optimal sol.</a:t>
                </a:r>
              </a:p>
              <a:p>
                <a:pPr lvl="1"/>
                <a:r>
                  <a:rPr lang="en-US" sz="2000" dirty="0"/>
                  <a:t>Optimal solution be values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𝑜</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𝑜</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oMath>
                </a14:m>
                <a:r>
                  <a:rPr lang="en-US" sz="2000" dirty="0"/>
                  <a:t> where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𝑜</m:t>
                        </m:r>
                      </m:e>
                      <m:sub>
                        <m:r>
                          <a:rPr lang="en-US" sz="2000" b="0" i="1" smtClean="0">
                            <a:latin typeface="Cambria Math" panose="02040503050406030204" pitchFamily="18" charset="0"/>
                          </a:rPr>
                          <m:t>𝑛</m:t>
                        </m:r>
                      </m:sub>
                    </m:sSub>
                  </m:oMath>
                </a14:m>
                <a:r>
                  <a:rPr lang="en-US" sz="2000" dirty="0"/>
                  <a:t> was NOT taken to its maximum amount.</a:t>
                </a:r>
              </a:p>
              <a:p>
                <a:r>
                  <a:rPr lang="en-US" sz="2400" dirty="0"/>
                  <a:t>We COULD have taken some amount </a:t>
                </a:r>
                <a14:m>
                  <m:oMath xmlns:m="http://schemas.openxmlformats.org/officeDocument/2006/math">
                    <m:r>
                      <a:rPr lang="en-US" sz="2400" b="0" i="1" smtClean="0">
                        <a:latin typeface="Cambria Math" panose="02040503050406030204" pitchFamily="18" charset="0"/>
                      </a:rPr>
                      <m:t>𝑀𝑖𝑛</m:t>
                    </m:r>
                    <m:r>
                      <a:rPr lang="en-US" sz="2400" b="0" i="1" smtClean="0">
                        <a:latin typeface="Cambria Math" panose="02040503050406030204" pitchFamily="18" charset="0"/>
                      </a:rPr>
                      <m:t>(</m:t>
                    </m:r>
                    <m:r>
                      <a:rPr lang="en-US" sz="2400" b="0" i="1" smtClean="0">
                        <a:latin typeface="Cambria Math" panose="02040503050406030204" pitchFamily="18" charset="0"/>
                      </a:rPr>
                      <m:t>𝑊</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𝑛</m:t>
                        </m:r>
                      </m:sub>
                    </m:sSub>
                    <m:r>
                      <a:rPr lang="en-US" sz="2400" b="0" i="1" smtClean="0">
                        <a:latin typeface="Cambria Math" panose="02040503050406030204" pitchFamily="18" charset="0"/>
                      </a:rPr>
                      <m:t>.</m:t>
                    </m:r>
                    <m:r>
                      <a:rPr lang="en-US" sz="2400" b="0" i="1" smtClean="0">
                        <a:latin typeface="Cambria Math" panose="02040503050406030204" pitchFamily="18" charset="0"/>
                      </a:rPr>
                      <m:t>𝑤</m:t>
                    </m:r>
                    <m:r>
                      <a:rPr lang="en-US" sz="2400" b="0" i="1" smtClean="0">
                        <a:latin typeface="Cambria Math" panose="02040503050406030204" pitchFamily="18" charset="0"/>
                      </a:rPr>
                      <m:t>)</m:t>
                    </m:r>
                  </m:oMath>
                </a14:m>
                <a:r>
                  <a:rPr lang="en-US" sz="2400" dirty="0"/>
                  <a:t>, but optimal solution has strictly less than this amount (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𝑜</m:t>
                        </m:r>
                      </m:e>
                      <m:sub>
                        <m:r>
                          <a:rPr lang="en-US" sz="2400" b="0" i="1" smtClean="0">
                            <a:latin typeface="Cambria Math" panose="02040503050406030204" pitchFamily="18" charset="0"/>
                          </a:rPr>
                          <m:t>𝑛</m:t>
                        </m:r>
                      </m:sub>
                    </m:sSub>
                    <m:r>
                      <a:rPr lang="en-US" sz="2400" b="0" i="1" smtClean="0">
                        <a:latin typeface="Cambria Math" panose="02040503050406030204" pitchFamily="18" charset="0"/>
                      </a:rPr>
                      <m:t>&lt;</m:t>
                    </m:r>
                    <m:r>
                      <a:rPr lang="en-US" sz="2400" b="0" i="1" smtClean="0">
                        <a:latin typeface="Cambria Math" panose="02040503050406030204" pitchFamily="18" charset="0"/>
                      </a:rPr>
                      <m:t>𝑀𝑖𝑛</m:t>
                    </m:r>
                    <m:r>
                      <a:rPr lang="en-US" sz="2400" b="0" i="1" smtClean="0">
                        <a:latin typeface="Cambria Math" panose="02040503050406030204" pitchFamily="18" charset="0"/>
                      </a:rPr>
                      <m:t>(</m:t>
                    </m:r>
                    <m:r>
                      <a:rPr lang="en-US" sz="2400" b="0" i="1" smtClean="0">
                        <a:latin typeface="Cambria Math" panose="02040503050406030204" pitchFamily="18" charset="0"/>
                      </a:rPr>
                      <m:t>𝑊</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𝑛</m:t>
                        </m:r>
                      </m:sub>
                    </m:sSub>
                    <m:r>
                      <a:rPr lang="en-US" sz="2400" b="0" i="1" smtClean="0">
                        <a:latin typeface="Cambria Math" panose="02040503050406030204" pitchFamily="18" charset="0"/>
                      </a:rPr>
                      <m:t>.</m:t>
                    </m:r>
                    <m:r>
                      <a:rPr lang="en-US" sz="2400" b="0" i="1" smtClean="0">
                        <a:latin typeface="Cambria Math" panose="02040503050406030204" pitchFamily="18" charset="0"/>
                      </a:rPr>
                      <m:t>𝑤</m:t>
                    </m:r>
                    <m:r>
                      <a:rPr lang="en-US" sz="2400" b="0" i="1" smtClean="0">
                        <a:latin typeface="Cambria Math" panose="02040503050406030204" pitchFamily="18" charset="0"/>
                      </a:rPr>
                      <m:t>)</m:t>
                    </m:r>
                  </m:oMath>
                </a14:m>
                <a:r>
                  <a:rPr lang="en-US" sz="2400" dirty="0"/>
                  <a:t> )</a:t>
                </a:r>
              </a:p>
              <a:p>
                <a:r>
                  <a:rPr lang="en-US" sz="2400" dirty="0"/>
                  <a:t>Let </a:t>
                </a:r>
                <a14:m>
                  <m:oMath xmlns:m="http://schemas.openxmlformats.org/officeDocument/2006/math">
                    <m:r>
                      <a:rPr lang="en-US" sz="2400" b="0" i="1" smtClean="0">
                        <a:latin typeface="Cambria Math" panose="02040503050406030204" pitchFamily="18" charset="0"/>
                      </a:rPr>
                      <m:t>𝛿</m:t>
                    </m:r>
                    <m:r>
                      <a:rPr lang="en-US" sz="2400" b="0" i="1" smtClean="0">
                        <a:latin typeface="Cambria Math" panose="02040503050406030204" pitchFamily="18" charset="0"/>
                      </a:rPr>
                      <m:t>=</m:t>
                    </m:r>
                    <m:r>
                      <a:rPr lang="en-US" sz="2400" b="0" i="1" smtClean="0">
                        <a:latin typeface="Cambria Math" panose="02040503050406030204" pitchFamily="18" charset="0"/>
                      </a:rPr>
                      <m:t>𝑀𝑖𝑛</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𝑊</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𝑛</m:t>
                            </m:r>
                          </m:sub>
                        </m:sSub>
                        <m:r>
                          <a:rPr lang="en-US" sz="2400" b="0" i="1" smtClean="0">
                            <a:latin typeface="Cambria Math" panose="02040503050406030204" pitchFamily="18" charset="0"/>
                          </a:rPr>
                          <m:t>.</m:t>
                        </m:r>
                        <m:r>
                          <a:rPr lang="en-US" sz="2400" b="0" i="1" smtClean="0">
                            <a:latin typeface="Cambria Math" panose="02040503050406030204" pitchFamily="18" charset="0"/>
                          </a:rPr>
                          <m:t>𝑤</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𝑜</m:t>
                        </m:r>
                      </m:e>
                      <m:sub>
                        <m:r>
                          <a:rPr lang="en-US" sz="2400" b="0" i="1" smtClean="0">
                            <a:latin typeface="Cambria Math" panose="02040503050406030204" pitchFamily="18" charset="0"/>
                          </a:rPr>
                          <m:t>𝑛</m:t>
                        </m:r>
                      </m:sub>
                    </m:sSub>
                    <m:r>
                      <a:rPr lang="en-US" sz="2400" b="0" i="1" smtClean="0">
                        <a:latin typeface="Cambria Math" panose="02040503050406030204" pitchFamily="18" charset="0"/>
                      </a:rPr>
                      <m:t>&gt;0</m:t>
                    </m:r>
                  </m:oMath>
                </a14:m>
                <a:r>
                  <a:rPr lang="en-US" sz="2400" dirty="0"/>
                  <a:t> be the extra amount of weight of item n that was NOT taken by this optimal solution</a:t>
                </a:r>
              </a:p>
              <a:p>
                <a:r>
                  <a:rPr lang="en-US" sz="2400" dirty="0"/>
                  <a:t>Note that </a:t>
                </a:r>
                <a14:m>
                  <m:oMath xmlns:m="http://schemas.openxmlformats.org/officeDocument/2006/math">
                    <m:r>
                      <a:rPr lang="en-US" sz="2400" b="0" i="1" smtClean="0">
                        <a:latin typeface="Cambria Math" panose="02040503050406030204" pitchFamily="18" charset="0"/>
                      </a:rPr>
                      <m:t>0&lt;</m:t>
                    </m:r>
                    <m:r>
                      <a:rPr lang="en-US" sz="2400" b="0" i="1" smtClean="0">
                        <a:latin typeface="Cambria Math" panose="02040503050406030204" pitchFamily="18" charset="0"/>
                      </a:rPr>
                      <m:t>𝛿</m:t>
                    </m:r>
                    <m:r>
                      <a:rPr lang="en-US" sz="2400" b="0" i="1" smtClean="0">
                        <a:latin typeface="Cambria Math" panose="02040503050406030204" pitchFamily="18" charset="0"/>
                      </a:rPr>
                      <m:t>&lt;</m:t>
                    </m:r>
                    <m:r>
                      <a:rPr lang="en-US" sz="2400" b="0" i="1" smtClean="0">
                        <a:latin typeface="Cambria Math" panose="02040503050406030204" pitchFamily="18" charset="0"/>
                      </a:rPr>
                      <m:t>𝑊</m:t>
                    </m:r>
                  </m:oMath>
                </a14:m>
                <a:r>
                  <a:rPr lang="en-US" sz="2400" dirty="0"/>
                  <a:t>  (There must be at least some extra weight AND knapsack is not full)</a:t>
                </a:r>
              </a:p>
              <a:p>
                <a:r>
                  <a:rPr lang="en-US" sz="2400" dirty="0" err="1"/>
                  <a:t>Cont.d</a:t>
                </a:r>
                <a:r>
                  <a:rPr lang="en-US" sz="2400" dirty="0"/>
                  <a:t> on next slide…</a:t>
                </a:r>
              </a:p>
            </p:txBody>
          </p:sp>
        </mc:Choice>
        <mc:Fallback>
          <p:sp>
            <p:nvSpPr>
              <p:cNvPr id="3" name="Content Placeholder 2"/>
              <p:cNvSpPr>
                <a:spLocks noGrp="1" noRot="1" noChangeAspect="1" noMove="1" noResize="1" noEditPoints="1" noAdjustHandles="1" noChangeArrowheads="1" noChangeShapeType="1" noTextEdit="1"/>
              </p:cNvSpPr>
              <p:nvPr>
                <p:ph sz="quarter" idx="1"/>
              </p:nvPr>
            </p:nvSpPr>
            <p:spPr>
              <a:xfrm>
                <a:off x="228600" y="1295400"/>
                <a:ext cx="11734800" cy="5257800"/>
              </a:xfrm>
              <a:blipFill>
                <a:blip r:embed="rId2"/>
                <a:stretch>
                  <a:fillRect l="-973" t="-2174"/>
                </a:stretch>
              </a:blipFill>
            </p:spPr>
            <p:txBody>
              <a:bodyPr/>
              <a:lstStyle/>
              <a:p>
                <a:r>
                  <a:rPr lang="en-US">
                    <a:noFill/>
                  </a:rPr>
                  <a:t> </a:t>
                </a:r>
              </a:p>
            </p:txBody>
          </p:sp>
        </mc:Fallback>
      </mc:AlternateContent>
    </p:spTree>
    <p:extLst>
      <p:ext uri="{BB962C8B-B14F-4D97-AF65-F5344CB8AC3E}">
        <p14:creationId xmlns:p14="http://schemas.microsoft.com/office/powerpoint/2010/main" val="793216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Arial" panose="020B0604020202020204" pitchFamily="34" charset="0"/>
                <a:cs typeface="Arial" panose="020B0604020202020204" pitchFamily="34" charset="0"/>
              </a:rPr>
              <a:t>Greedy Choice Property</a:t>
            </a:r>
          </a:p>
        </p:txBody>
      </p:sp>
      <mc:AlternateContent xmlns:mc="http://schemas.openxmlformats.org/markup-compatibility/2006">
        <mc:Choice xmlns:a14="http://schemas.microsoft.com/office/drawing/2010/main" Requires="a14">
          <p:sp>
            <p:nvSpPr>
              <p:cNvPr id="3" name="Content Placeholder 2"/>
              <p:cNvSpPr>
                <a:spLocks noGrp="1"/>
              </p:cNvSpPr>
              <p:nvPr>
                <p:ph sz="quarter" idx="1"/>
              </p:nvPr>
            </p:nvSpPr>
            <p:spPr>
              <a:xfrm>
                <a:off x="228600" y="1295400"/>
                <a:ext cx="11734800" cy="5257800"/>
              </a:xfrm>
            </p:spPr>
            <p:txBody>
              <a:bodyPr anchor="t">
                <a:normAutofit fontScale="85000" lnSpcReduction="10000"/>
              </a:bodyPr>
              <a:lstStyle/>
              <a:p>
                <a:r>
                  <a:rPr lang="en-US" sz="2400" b="1" i="1" u="sng" dirty="0"/>
                  <a:t>Proof:</a:t>
                </a:r>
                <a:endParaRPr lang="en-US" sz="2400" dirty="0"/>
              </a:p>
              <a:p>
                <a:r>
                  <a:rPr lang="en-US" sz="2400" dirty="0"/>
                  <a:t>Note that </a:t>
                </a:r>
                <a14:m>
                  <m:oMath xmlns:m="http://schemas.openxmlformats.org/officeDocument/2006/math">
                    <m:r>
                      <a:rPr lang="en-US" sz="2400" b="0" i="1" smtClean="0">
                        <a:latin typeface="Cambria Math" panose="02040503050406030204" pitchFamily="18" charset="0"/>
                      </a:rPr>
                      <m:t>0&lt;</m:t>
                    </m:r>
                    <m:r>
                      <a:rPr lang="en-US" sz="2400" b="0" i="1" smtClean="0">
                        <a:latin typeface="Cambria Math" panose="02040503050406030204" pitchFamily="18" charset="0"/>
                      </a:rPr>
                      <m:t>𝛿</m:t>
                    </m:r>
                    <m:r>
                      <a:rPr lang="en-US" sz="2400" b="0" i="1" smtClean="0">
                        <a:latin typeface="Cambria Math" panose="02040503050406030204" pitchFamily="18" charset="0"/>
                      </a:rPr>
                      <m:t>&lt;</m:t>
                    </m:r>
                    <m:r>
                      <a:rPr lang="en-US" sz="2400" b="0" i="1" smtClean="0">
                        <a:latin typeface="Cambria Math" panose="02040503050406030204" pitchFamily="18" charset="0"/>
                      </a:rPr>
                      <m:t>𝑊</m:t>
                    </m:r>
                  </m:oMath>
                </a14:m>
                <a:r>
                  <a:rPr lang="en-US" sz="2400" dirty="0"/>
                  <a:t>  (There must be at least some extra weight AND knapsack is not full)</a:t>
                </a:r>
              </a:p>
              <a:p>
                <a:endParaRPr lang="en-US" sz="2400" dirty="0"/>
              </a:p>
              <a:p>
                <a:r>
                  <a:rPr lang="en-US" sz="2400" dirty="0"/>
                  <a:t>This extra weight </a:t>
                </a:r>
                <a14:m>
                  <m:oMath xmlns:m="http://schemas.openxmlformats.org/officeDocument/2006/math">
                    <m:r>
                      <a:rPr lang="en-US" sz="2400" b="0" i="1" smtClean="0">
                        <a:latin typeface="Cambria Math" panose="02040503050406030204" pitchFamily="18" charset="0"/>
                      </a:rPr>
                      <m:t>𝛿</m:t>
                    </m:r>
                  </m:oMath>
                </a14:m>
                <a:r>
                  <a:rPr lang="en-US" sz="2400" i="1" dirty="0"/>
                  <a:t> </a:t>
                </a:r>
                <a:r>
                  <a:rPr lang="en-US" sz="2400" dirty="0"/>
                  <a:t>must be taken by some other arbitrary item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𝑜</m:t>
                        </m:r>
                      </m:e>
                      <m:sub>
                        <m:r>
                          <a:rPr lang="en-US" sz="2400" b="0" i="1" smtClean="0">
                            <a:latin typeface="Cambria Math" panose="02040503050406030204" pitchFamily="18" charset="0"/>
                          </a:rPr>
                          <m:t>𝑗</m:t>
                        </m:r>
                      </m:sub>
                    </m:sSub>
                  </m:oMath>
                </a14:m>
                <a:r>
                  <a:rPr lang="en-US" sz="2400" dirty="0"/>
                  <a:t> in optimal solution</a:t>
                </a:r>
              </a:p>
              <a:p>
                <a:pPr lvl="1"/>
                <a:r>
                  <a:rPr lang="en-US" sz="2000" dirty="0"/>
                  <a:t>Note that the ratio of item </a:t>
                </a:r>
                <a:r>
                  <a:rPr lang="en-US" sz="2000" i="1" dirty="0"/>
                  <a:t>j</a:t>
                </a:r>
                <a:r>
                  <a:rPr lang="en-US" sz="2000" dirty="0"/>
                  <a:t> is the same or worse than item n: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𝑟</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𝑟</m:t>
                        </m:r>
                      </m:e>
                      <m:sub>
                        <m:r>
                          <a:rPr lang="en-US" sz="2000" b="0" i="1" smtClean="0">
                            <a:latin typeface="Cambria Math" panose="02040503050406030204" pitchFamily="18" charset="0"/>
                          </a:rPr>
                          <m:t>𝑛</m:t>
                        </m:r>
                      </m:sub>
                    </m:sSub>
                  </m:oMath>
                </a14:m>
                <a:r>
                  <a:rPr lang="en-US" sz="2000" dirty="0"/>
                  <a:t> *by definition</a:t>
                </a:r>
              </a:p>
              <a:p>
                <a:endParaRPr lang="en-US" sz="2400" dirty="0"/>
              </a:p>
              <a:p>
                <a:r>
                  <a:rPr lang="en-US" sz="2400" dirty="0"/>
                  <a:t>So, let’s swap the amount we placed in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𝑖</m:t>
                        </m:r>
                      </m:e>
                      <m:sub>
                        <m:r>
                          <a:rPr lang="en-US" sz="2400" b="0" i="1" smtClean="0">
                            <a:latin typeface="Cambria Math" panose="02040503050406030204" pitchFamily="18" charset="0"/>
                          </a:rPr>
                          <m:t>𝑗</m:t>
                        </m:r>
                      </m:sub>
                    </m:sSub>
                  </m:oMath>
                </a14:m>
                <a:r>
                  <a:rPr lang="en-US" sz="2400" dirty="0"/>
                  <a:t> back into item n. (V is the value function again) to make a new solution O’</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𝑉</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𝑂</m:t>
                          </m:r>
                          <m:r>
                            <a:rPr lang="en-US" sz="2400" b="0" i="1" smtClean="0">
                              <a:latin typeface="Cambria Math" panose="02040503050406030204" pitchFamily="18" charset="0"/>
                            </a:rPr>
                            <m:t>′</m:t>
                          </m:r>
                        </m:e>
                      </m:d>
                      <m:r>
                        <a:rPr lang="en-US" sz="2400" b="0" i="1" smtClean="0">
                          <a:latin typeface="Cambria Math" panose="02040503050406030204" pitchFamily="18" charset="0"/>
                        </a:rPr>
                        <m:t>=</m:t>
                      </m:r>
                      <m:r>
                        <a:rPr lang="en-US" sz="2400" b="0" i="1" smtClean="0">
                          <a:latin typeface="Cambria Math" panose="02040503050406030204" pitchFamily="18" charset="0"/>
                        </a:rPr>
                        <m:t>𝑉</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𝑂</m:t>
                          </m:r>
                        </m:e>
                      </m:d>
                      <m:r>
                        <a:rPr lang="en-US" sz="2400" b="0" i="1" smtClean="0">
                          <a:latin typeface="Cambria Math" panose="02040503050406030204" pitchFamily="18" charset="0"/>
                        </a:rPr>
                        <m:t>−</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𝛿</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𝑟</m:t>
                              </m:r>
                            </m:e>
                            <m:sub>
                              <m:r>
                                <a:rPr lang="en-US" sz="2400" b="0" i="1" smtClean="0">
                                  <a:latin typeface="Cambria Math" panose="02040503050406030204" pitchFamily="18" charset="0"/>
                                </a:rPr>
                                <m:t>𝑗</m:t>
                              </m:r>
                            </m:sub>
                          </m:sSub>
                        </m:e>
                      </m:d>
                      <m:r>
                        <a:rPr lang="en-US" sz="2400" b="0" i="1" smtClean="0">
                          <a:latin typeface="Cambria Math" panose="02040503050406030204" pitchFamily="18" charset="0"/>
                        </a:rPr>
                        <m:t>+</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𝛿</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𝑟</m:t>
                              </m:r>
                            </m:e>
                            <m:sub>
                              <m:r>
                                <a:rPr lang="en-US" sz="2400" b="0" i="1" smtClean="0">
                                  <a:latin typeface="Cambria Math" panose="02040503050406030204" pitchFamily="18" charset="0"/>
                                </a:rPr>
                                <m:t>𝑛</m:t>
                              </m:r>
                            </m:sub>
                          </m:sSub>
                        </m:e>
                      </m:d>
                    </m:oMath>
                  </m:oMathPara>
                </a14:m>
                <a:endParaRPr lang="en-US" sz="2400" b="0" dirty="0"/>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𝑉</m:t>
                      </m:r>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𝑂</m:t>
                              </m:r>
                            </m:e>
                            <m:sup>
                              <m:r>
                                <a:rPr lang="en-US" sz="2400" b="0" i="1" smtClean="0">
                                  <a:latin typeface="Cambria Math" panose="02040503050406030204" pitchFamily="18" charset="0"/>
                                </a:rPr>
                                <m:t>′</m:t>
                              </m:r>
                            </m:sup>
                          </m:sSup>
                        </m:e>
                      </m:d>
                      <m:r>
                        <a:rPr lang="en-US" sz="2400" b="0" i="1" smtClean="0">
                          <a:latin typeface="Cambria Math" panose="02040503050406030204" pitchFamily="18" charset="0"/>
                        </a:rPr>
                        <m:t>=</m:t>
                      </m:r>
                      <m:r>
                        <a:rPr lang="en-US" sz="2400" b="0" i="1" smtClean="0">
                          <a:latin typeface="Cambria Math" panose="02040503050406030204" pitchFamily="18" charset="0"/>
                        </a:rPr>
                        <m:t>𝑉</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𝑂</m:t>
                          </m:r>
                        </m:e>
                      </m:d>
                      <m:r>
                        <a:rPr lang="en-US" sz="2400" b="0" i="1" smtClean="0">
                          <a:latin typeface="Cambria Math" panose="02040503050406030204" pitchFamily="18" charset="0"/>
                        </a:rPr>
                        <m:t>+</m:t>
                      </m:r>
                      <m:r>
                        <a:rPr lang="en-US" sz="2400" b="0" i="1" smtClean="0">
                          <a:latin typeface="Cambria Math" panose="02040503050406030204" pitchFamily="18" charset="0"/>
                        </a:rPr>
                        <m:t>𝛿</m:t>
                      </m:r>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𝑟</m:t>
                              </m:r>
                            </m:e>
                            <m:sub>
                              <m:r>
                                <a:rPr lang="en-US" sz="2400" b="0" i="1" smtClean="0">
                                  <a:latin typeface="Cambria Math" panose="02040503050406030204" pitchFamily="18" charset="0"/>
                                </a:rPr>
                                <m:t>𝑛</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𝑟</m:t>
                              </m:r>
                            </m:e>
                            <m:sub>
                              <m:r>
                                <a:rPr lang="en-US" sz="2400" b="0" i="1" smtClean="0">
                                  <a:latin typeface="Cambria Math" panose="02040503050406030204" pitchFamily="18" charset="0"/>
                                </a:rPr>
                                <m:t>𝑗</m:t>
                              </m:r>
                            </m:sub>
                          </m:sSub>
                        </m:e>
                      </m:d>
                    </m:oMath>
                  </m:oMathPara>
                </a14:m>
                <a:endParaRPr lang="en-US" sz="2400" b="0" dirty="0"/>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𝑉</m:t>
                      </m:r>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𝑂</m:t>
                              </m:r>
                            </m:e>
                            <m:sup>
                              <m:r>
                                <a:rPr lang="en-US" sz="2400" b="0" i="1" smtClean="0">
                                  <a:latin typeface="Cambria Math" panose="02040503050406030204" pitchFamily="18" charset="0"/>
                                </a:rPr>
                                <m:t>′</m:t>
                              </m:r>
                            </m:sup>
                          </m:sSup>
                        </m:e>
                      </m:d>
                      <m:r>
                        <a:rPr lang="en-US" sz="2400" b="0" i="1" smtClean="0">
                          <a:latin typeface="Cambria Math" panose="02040503050406030204" pitchFamily="18" charset="0"/>
                        </a:rPr>
                        <m:t>≥</m:t>
                      </m:r>
                      <m:r>
                        <a:rPr lang="en-US" sz="2400" b="0" i="1" smtClean="0">
                          <a:latin typeface="Cambria Math" panose="02040503050406030204" pitchFamily="18" charset="0"/>
                        </a:rPr>
                        <m:t>𝑉</m:t>
                      </m:r>
                      <m:r>
                        <a:rPr lang="en-US" sz="2400" b="0" i="1" smtClean="0">
                          <a:latin typeface="Cambria Math" panose="02040503050406030204" pitchFamily="18" charset="0"/>
                        </a:rPr>
                        <m:t>(</m:t>
                      </m:r>
                      <m:r>
                        <a:rPr lang="en-US" sz="2400" b="0" i="1" smtClean="0">
                          <a:latin typeface="Cambria Math" panose="02040503050406030204" pitchFamily="18" charset="0"/>
                        </a:rPr>
                        <m:t>𝑂</m:t>
                      </m:r>
                      <m:r>
                        <a:rPr lang="en-US" sz="2400" b="0" i="1" smtClean="0">
                          <a:latin typeface="Cambria Math" panose="02040503050406030204" pitchFamily="18" charset="0"/>
                        </a:rPr>
                        <m:t>)</m:t>
                      </m:r>
                    </m:oMath>
                  </m:oMathPara>
                </a14:m>
                <a:endParaRPr lang="en-US" sz="2400" b="0" dirty="0"/>
              </a:p>
              <a:p>
                <a:r>
                  <a:rPr lang="en-US" sz="2400" dirty="0"/>
                  <a:t>Contradiction!!!!</a:t>
                </a:r>
              </a:p>
              <a:p>
                <a:endParaRPr lang="en-US" sz="2400" dirty="0"/>
              </a:p>
            </p:txBody>
          </p:sp>
        </mc:Choice>
        <mc:Fallback>
          <p:sp>
            <p:nvSpPr>
              <p:cNvPr id="3" name="Content Placeholder 2"/>
              <p:cNvSpPr>
                <a:spLocks noGrp="1" noRot="1" noChangeAspect="1" noMove="1" noResize="1" noEditPoints="1" noAdjustHandles="1" noChangeArrowheads="1" noChangeShapeType="1" noTextEdit="1"/>
              </p:cNvSpPr>
              <p:nvPr>
                <p:ph sz="quarter" idx="1"/>
              </p:nvPr>
            </p:nvSpPr>
            <p:spPr>
              <a:xfrm>
                <a:off x="228600" y="1295400"/>
                <a:ext cx="11734800" cy="5257800"/>
              </a:xfrm>
              <a:blipFill>
                <a:blip r:embed="rId2"/>
                <a:stretch>
                  <a:fillRect l="-757" t="-1691" r="-541" b="-483"/>
                </a:stretch>
              </a:blipFill>
            </p:spPr>
            <p:txBody>
              <a:bodyPr/>
              <a:lstStyle/>
              <a:p>
                <a:r>
                  <a:rPr lang="en-US">
                    <a:noFill/>
                  </a:rPr>
                  <a:t> </a:t>
                </a:r>
              </a:p>
            </p:txBody>
          </p:sp>
        </mc:Fallback>
      </mc:AlternateContent>
    </p:spTree>
    <p:extLst>
      <p:ext uri="{BB962C8B-B14F-4D97-AF65-F5344CB8AC3E}">
        <p14:creationId xmlns:p14="http://schemas.microsoft.com/office/powerpoint/2010/main" val="4231803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Arial" panose="020B0604020202020204" pitchFamily="34" charset="0"/>
                <a:cs typeface="Arial" panose="020B0604020202020204" pitchFamily="34" charset="0"/>
              </a:rPr>
              <a:t>0/1 knapsack</a:t>
            </a:r>
          </a:p>
        </p:txBody>
      </p:sp>
      <p:sp>
        <p:nvSpPr>
          <p:cNvPr id="3" name="Content Placeholder 2"/>
          <p:cNvSpPr>
            <a:spLocks noGrp="1"/>
          </p:cNvSpPr>
          <p:nvPr>
            <p:ph sz="quarter" idx="1"/>
          </p:nvPr>
        </p:nvSpPr>
        <p:spPr/>
        <p:txBody>
          <a:bodyPr anchor="t" anchorCtr="0">
            <a:normAutofit fontScale="47500" lnSpcReduction="20000"/>
          </a:bodyPr>
          <a:lstStyle/>
          <a:p>
            <a:pPr marL="0" indent="0">
              <a:buNone/>
            </a:pPr>
            <a:r>
              <a:rPr lang="en-US" dirty="0"/>
              <a:t>Let’s try this same greedy solution with the 0/1 version</a:t>
            </a:r>
          </a:p>
          <a:p>
            <a:pPr lvl="1"/>
            <a:r>
              <a:rPr lang="en-US" dirty="0"/>
              <a:t>New example inputs </a:t>
            </a:r>
            <a:r>
              <a:rPr lang="en-US" dirty="0">
                <a:sym typeface="Wingdings" pitchFamily="2" charset="2"/>
              </a:rPr>
              <a:t></a:t>
            </a:r>
            <a:endParaRPr lang="en-US" dirty="0"/>
          </a:p>
          <a:p>
            <a:pPr marL="0" indent="0">
              <a:buNone/>
            </a:pPr>
            <a:endParaRPr lang="en-US" dirty="0"/>
          </a:p>
          <a:p>
            <a:pPr marL="514350" indent="-514350">
              <a:buFont typeface="+mj-lt"/>
              <a:buAutoNum type="arabicPeriod"/>
            </a:pPr>
            <a:r>
              <a:rPr lang="en-US" dirty="0">
                <a:ea typeface="ＭＳ Ｐゴシック" charset="0"/>
                <a:cs typeface="ＭＳ Ｐゴシック" charset="0"/>
              </a:rPr>
              <a:t>Item 1 first. So x</a:t>
            </a:r>
            <a:r>
              <a:rPr lang="en-US" baseline="-25000" dirty="0">
                <a:ea typeface="ＭＳ Ｐゴシック" charset="0"/>
                <a:cs typeface="ＭＳ Ｐゴシック" charset="0"/>
              </a:rPr>
              <a:t>1</a:t>
            </a:r>
            <a:r>
              <a:rPr lang="en-US" dirty="0">
                <a:ea typeface="ＭＳ Ｐゴシック" charset="0"/>
                <a:cs typeface="ＭＳ Ｐゴシック" charset="0"/>
              </a:rPr>
              <a:t> is 1.</a:t>
            </a:r>
            <a:br>
              <a:rPr lang="en-US" dirty="0">
                <a:ea typeface="ＭＳ Ｐゴシック" charset="0"/>
                <a:cs typeface="ＭＳ Ｐゴシック" charset="0"/>
              </a:rPr>
            </a:br>
            <a:r>
              <a:rPr lang="en-US" dirty="0">
                <a:ea typeface="ＭＳ Ｐゴシック" charset="0"/>
                <a:cs typeface="ＭＳ Ｐゴシック" charset="0"/>
              </a:rPr>
              <a:t>Capacity used is 1 of 4. Profit so far is 3.</a:t>
            </a:r>
          </a:p>
          <a:p>
            <a:pPr marL="514350" indent="-514350">
              <a:buFont typeface="+mj-lt"/>
              <a:buAutoNum type="arabicPeriod"/>
            </a:pPr>
            <a:r>
              <a:rPr lang="en-US" dirty="0">
                <a:ea typeface="ＭＳ Ｐゴシック" charset="0"/>
                <a:cs typeface="ＭＳ Ｐゴシック" charset="0"/>
              </a:rPr>
              <a:t>Item 2 next. There’s room for it!  So x</a:t>
            </a:r>
            <a:r>
              <a:rPr lang="en-US" baseline="-25000" dirty="0">
                <a:ea typeface="ＭＳ Ｐゴシック" charset="0"/>
                <a:cs typeface="ＭＳ Ｐゴシック" charset="0"/>
              </a:rPr>
              <a:t>2</a:t>
            </a:r>
            <a:r>
              <a:rPr lang="en-US" dirty="0">
                <a:ea typeface="ＭＳ Ｐゴシック" charset="0"/>
                <a:cs typeface="ＭＳ Ｐゴシック" charset="0"/>
              </a:rPr>
              <a:t> is 1.   Capacity used is 3 of 4.</a:t>
            </a:r>
            <a:br>
              <a:rPr lang="en-US" dirty="0">
                <a:ea typeface="ＭＳ Ｐゴシック" charset="0"/>
                <a:cs typeface="ＭＳ Ｐゴシック" charset="0"/>
              </a:rPr>
            </a:br>
            <a:r>
              <a:rPr lang="en-US" dirty="0">
                <a:ea typeface="ＭＳ Ｐゴシック" charset="0"/>
                <a:cs typeface="ＭＳ Ｐゴシック" charset="0"/>
              </a:rPr>
              <a:t>Profit so far is 3 + 5 = 8.</a:t>
            </a:r>
          </a:p>
          <a:p>
            <a:pPr marL="514350" indent="-514350">
              <a:buFont typeface="+mj-lt"/>
              <a:buAutoNum type="arabicPeriod"/>
            </a:pPr>
            <a:r>
              <a:rPr lang="en-US" dirty="0">
                <a:ea typeface="ＭＳ Ｐゴシック" charset="0"/>
                <a:cs typeface="ＭＳ Ｐゴシック" charset="0"/>
              </a:rPr>
              <a:t>Item 3 would be next, but its weight is 3 and knapsack only has 1 unit left!</a:t>
            </a:r>
            <a:br>
              <a:rPr lang="en-US" dirty="0">
                <a:ea typeface="ＭＳ Ｐゴシック" charset="0"/>
                <a:cs typeface="ＭＳ Ｐゴシック" charset="0"/>
              </a:rPr>
            </a:br>
            <a:r>
              <a:rPr lang="en-US" dirty="0">
                <a:ea typeface="ＭＳ Ｐゴシック" charset="0"/>
                <a:cs typeface="ＭＳ Ｐゴシック" charset="0"/>
              </a:rPr>
              <a:t>So x</a:t>
            </a:r>
            <a:r>
              <a:rPr lang="en-US" baseline="-25000" dirty="0">
                <a:ea typeface="ＭＳ Ｐゴシック" charset="0"/>
                <a:cs typeface="ＭＳ Ｐゴシック" charset="0"/>
              </a:rPr>
              <a:t>3</a:t>
            </a:r>
            <a:r>
              <a:rPr lang="en-US" dirty="0">
                <a:ea typeface="ＭＳ Ｐゴシック" charset="0"/>
                <a:cs typeface="ＭＳ Ｐゴシック" charset="0"/>
              </a:rPr>
              <a:t> is 0.  </a:t>
            </a:r>
            <a:r>
              <a:rPr lang="en-US" b="1" dirty="0">
                <a:solidFill>
                  <a:srgbClr val="C00000"/>
                </a:solidFill>
                <a:ea typeface="ＭＳ Ｐゴシック" charset="0"/>
                <a:cs typeface="ＭＳ Ｐゴシック" charset="0"/>
              </a:rPr>
              <a:t>Total profit is 8.   x</a:t>
            </a:r>
            <a:r>
              <a:rPr lang="en-US" b="1" baseline="-25000" dirty="0">
                <a:solidFill>
                  <a:srgbClr val="C00000"/>
                </a:solidFill>
                <a:ea typeface="ＭＳ Ｐゴシック" charset="0"/>
                <a:cs typeface="ＭＳ Ｐゴシック" charset="0"/>
              </a:rPr>
              <a:t>i</a:t>
            </a:r>
            <a:r>
              <a:rPr lang="en-US" b="1" dirty="0">
                <a:solidFill>
                  <a:srgbClr val="C00000"/>
                </a:solidFill>
                <a:ea typeface="ＭＳ Ｐゴシック" charset="0"/>
                <a:cs typeface="ＭＳ Ｐゴシック" charset="0"/>
              </a:rPr>
              <a:t> = (1, 1, 0)</a:t>
            </a:r>
          </a:p>
          <a:p>
            <a:endParaRPr lang="en-US" dirty="0"/>
          </a:p>
          <a:p>
            <a:pPr marL="0" indent="0">
              <a:buNone/>
            </a:pPr>
            <a:r>
              <a:rPr lang="en-US" b="1" dirty="0">
                <a:solidFill>
                  <a:srgbClr val="C00000"/>
                </a:solidFill>
              </a:rPr>
              <a:t>But picking items 1 and 3 will fit in knapsack, with total value of 9</a:t>
            </a:r>
          </a:p>
          <a:p>
            <a:pPr lvl="1"/>
            <a:r>
              <a:rPr lang="en-US" dirty="0"/>
              <a:t>Thus, the greedy solution does not produce an optimal solution to the 0/1 knapsack algorithm</a:t>
            </a:r>
          </a:p>
          <a:p>
            <a:pPr lvl="1"/>
            <a:r>
              <a:rPr lang="en-US" dirty="0"/>
              <a:t>Greedy choice left unused room, but we can’t take a fraction of an item</a:t>
            </a:r>
          </a:p>
          <a:p>
            <a:pPr lvl="1"/>
            <a:r>
              <a:rPr lang="en-US" dirty="0"/>
              <a:t>The 0/1 knapsack problem doesn’t have the </a:t>
            </a:r>
            <a:r>
              <a:rPr lang="en-US" i="1" dirty="0"/>
              <a:t>greedy choice property</a:t>
            </a:r>
          </a:p>
        </p:txBody>
      </p:sp>
      <p:graphicFrame>
        <p:nvGraphicFramePr>
          <p:cNvPr id="5" name="Table 4"/>
          <p:cNvGraphicFramePr>
            <a:graphicFrameLocks noGrp="1"/>
          </p:cNvGraphicFramePr>
          <p:nvPr/>
        </p:nvGraphicFramePr>
        <p:xfrm>
          <a:off x="7651898" y="1648490"/>
          <a:ext cx="3564507" cy="1483360"/>
        </p:xfrm>
        <a:graphic>
          <a:graphicData uri="http://schemas.openxmlformats.org/drawingml/2006/table">
            <a:tbl>
              <a:tblPr firstRow="1" bandRow="1">
                <a:tableStyleId>{5C22544A-7EE6-4342-B048-85BDC9FD1C3A}</a:tableStyleId>
              </a:tblPr>
              <a:tblGrid>
                <a:gridCol w="771537">
                  <a:extLst>
                    <a:ext uri="{9D8B030D-6E8A-4147-A177-3AD203B41FA5}">
                      <a16:colId xmlns:a16="http://schemas.microsoft.com/office/drawing/2014/main" val="20000"/>
                    </a:ext>
                  </a:extLst>
                </a:gridCol>
                <a:gridCol w="833599">
                  <a:extLst>
                    <a:ext uri="{9D8B030D-6E8A-4147-A177-3AD203B41FA5}">
                      <a16:colId xmlns:a16="http://schemas.microsoft.com/office/drawing/2014/main" val="20001"/>
                    </a:ext>
                  </a:extLst>
                </a:gridCol>
                <a:gridCol w="976590">
                  <a:extLst>
                    <a:ext uri="{9D8B030D-6E8A-4147-A177-3AD203B41FA5}">
                      <a16:colId xmlns:a16="http://schemas.microsoft.com/office/drawing/2014/main" val="20002"/>
                    </a:ext>
                  </a:extLst>
                </a:gridCol>
                <a:gridCol w="982781">
                  <a:extLst>
                    <a:ext uri="{9D8B030D-6E8A-4147-A177-3AD203B41FA5}">
                      <a16:colId xmlns:a16="http://schemas.microsoft.com/office/drawing/2014/main" val="20003"/>
                    </a:ext>
                  </a:extLst>
                </a:gridCol>
              </a:tblGrid>
              <a:tr h="370840">
                <a:tc>
                  <a:txBody>
                    <a:bodyPr/>
                    <a:lstStyle/>
                    <a:p>
                      <a:pPr algn="ctr"/>
                      <a:r>
                        <a:rPr lang="en-US" dirty="0"/>
                        <a:t>Item</a:t>
                      </a:r>
                    </a:p>
                  </a:txBody>
                  <a:tcPr/>
                </a:tc>
                <a:tc>
                  <a:txBody>
                    <a:bodyPr/>
                    <a:lstStyle/>
                    <a:p>
                      <a:pPr algn="ctr"/>
                      <a:r>
                        <a:rPr lang="en-US" dirty="0"/>
                        <a:t>Value</a:t>
                      </a:r>
                    </a:p>
                  </a:txBody>
                  <a:tcPr/>
                </a:tc>
                <a:tc>
                  <a:txBody>
                    <a:bodyPr/>
                    <a:lstStyle/>
                    <a:p>
                      <a:pPr algn="ctr"/>
                      <a:r>
                        <a:rPr lang="en-US" dirty="0"/>
                        <a:t>Weight</a:t>
                      </a:r>
                    </a:p>
                  </a:txBody>
                  <a:tcPr/>
                </a:tc>
                <a:tc>
                  <a:txBody>
                    <a:bodyPr/>
                    <a:lstStyle/>
                    <a:p>
                      <a:pPr algn="ctr"/>
                      <a:r>
                        <a:rPr lang="en-US" dirty="0"/>
                        <a:t>Ratio</a:t>
                      </a:r>
                    </a:p>
                  </a:txBody>
                  <a:tcPr/>
                </a:tc>
                <a:extLst>
                  <a:ext uri="{0D108BD9-81ED-4DB2-BD59-A6C34878D82A}">
                    <a16:rowId xmlns:a16="http://schemas.microsoft.com/office/drawing/2014/main" val="10000"/>
                  </a:ext>
                </a:extLst>
              </a:tr>
              <a:tr h="370840">
                <a:tc>
                  <a:txBody>
                    <a:bodyPr/>
                    <a:lstStyle/>
                    <a:p>
                      <a:pPr algn="ctr"/>
                      <a:r>
                        <a:rPr lang="en-US" dirty="0"/>
                        <a:t>1</a:t>
                      </a:r>
                    </a:p>
                  </a:txBody>
                  <a:tcPr/>
                </a:tc>
                <a:tc>
                  <a:txBody>
                    <a:bodyPr/>
                    <a:lstStyle/>
                    <a:p>
                      <a:pPr algn="ctr"/>
                      <a:r>
                        <a:rPr lang="en-US" dirty="0"/>
                        <a:t>3</a:t>
                      </a:r>
                    </a:p>
                  </a:txBody>
                  <a:tcPr/>
                </a:tc>
                <a:tc>
                  <a:txBody>
                    <a:bodyPr/>
                    <a:lstStyle/>
                    <a:p>
                      <a:pPr algn="ctr"/>
                      <a:r>
                        <a:rPr lang="en-US" dirty="0"/>
                        <a:t>1</a:t>
                      </a:r>
                    </a:p>
                  </a:txBody>
                  <a:tcPr/>
                </a:tc>
                <a:tc>
                  <a:txBody>
                    <a:bodyPr/>
                    <a:lstStyle/>
                    <a:p>
                      <a:pPr algn="ctr"/>
                      <a:r>
                        <a:rPr lang="en-US" dirty="0"/>
                        <a:t>3</a:t>
                      </a:r>
                    </a:p>
                  </a:txBody>
                  <a:tcPr/>
                </a:tc>
                <a:extLst>
                  <a:ext uri="{0D108BD9-81ED-4DB2-BD59-A6C34878D82A}">
                    <a16:rowId xmlns:a16="http://schemas.microsoft.com/office/drawing/2014/main" val="10001"/>
                  </a:ext>
                </a:extLst>
              </a:tr>
              <a:tr h="370840">
                <a:tc>
                  <a:txBody>
                    <a:bodyPr/>
                    <a:lstStyle/>
                    <a:p>
                      <a:pPr algn="ctr"/>
                      <a:r>
                        <a:rPr lang="en-US" dirty="0"/>
                        <a:t>2</a:t>
                      </a:r>
                    </a:p>
                  </a:txBody>
                  <a:tcPr/>
                </a:tc>
                <a:tc>
                  <a:txBody>
                    <a:bodyPr/>
                    <a:lstStyle/>
                    <a:p>
                      <a:pPr algn="ctr"/>
                      <a:r>
                        <a:rPr lang="en-US" dirty="0"/>
                        <a:t>5</a:t>
                      </a:r>
                    </a:p>
                  </a:txBody>
                  <a:tcPr/>
                </a:tc>
                <a:tc>
                  <a:txBody>
                    <a:bodyPr/>
                    <a:lstStyle/>
                    <a:p>
                      <a:pPr algn="ctr"/>
                      <a:r>
                        <a:rPr lang="en-US" dirty="0"/>
                        <a:t>2</a:t>
                      </a:r>
                    </a:p>
                  </a:txBody>
                  <a:tcPr/>
                </a:tc>
                <a:tc>
                  <a:txBody>
                    <a:bodyPr/>
                    <a:lstStyle/>
                    <a:p>
                      <a:pPr algn="ctr"/>
                      <a:r>
                        <a:rPr lang="en-US" dirty="0"/>
                        <a:t>2.5</a:t>
                      </a:r>
                    </a:p>
                  </a:txBody>
                  <a:tcPr/>
                </a:tc>
                <a:extLst>
                  <a:ext uri="{0D108BD9-81ED-4DB2-BD59-A6C34878D82A}">
                    <a16:rowId xmlns:a16="http://schemas.microsoft.com/office/drawing/2014/main" val="10002"/>
                  </a:ext>
                </a:extLst>
              </a:tr>
              <a:tr h="370840">
                <a:tc>
                  <a:txBody>
                    <a:bodyPr/>
                    <a:lstStyle/>
                    <a:p>
                      <a:pPr algn="ctr"/>
                      <a:r>
                        <a:rPr lang="en-US" dirty="0"/>
                        <a:t>3</a:t>
                      </a:r>
                    </a:p>
                  </a:txBody>
                  <a:tcPr/>
                </a:tc>
                <a:tc>
                  <a:txBody>
                    <a:bodyPr/>
                    <a:lstStyle/>
                    <a:p>
                      <a:pPr algn="ctr"/>
                      <a:r>
                        <a:rPr lang="en-US" dirty="0"/>
                        <a:t>6</a:t>
                      </a:r>
                    </a:p>
                  </a:txBody>
                  <a:tcPr/>
                </a:tc>
                <a:tc>
                  <a:txBody>
                    <a:bodyPr/>
                    <a:lstStyle/>
                    <a:p>
                      <a:pPr algn="ctr"/>
                      <a:r>
                        <a:rPr lang="en-US" dirty="0"/>
                        <a:t>3</a:t>
                      </a:r>
                    </a:p>
                  </a:txBody>
                  <a:tcPr/>
                </a:tc>
                <a:tc>
                  <a:txBody>
                    <a:bodyPr/>
                    <a:lstStyle/>
                    <a:p>
                      <a:pPr algn="ctr"/>
                      <a:r>
                        <a:rPr lang="en-US" dirty="0"/>
                        <a:t>2</a:t>
                      </a:r>
                    </a:p>
                  </a:txBody>
                  <a:tcPr/>
                </a:tc>
                <a:extLst>
                  <a:ext uri="{0D108BD9-81ED-4DB2-BD59-A6C34878D82A}">
                    <a16:rowId xmlns:a16="http://schemas.microsoft.com/office/drawing/2014/main" val="10003"/>
                  </a:ext>
                </a:extLst>
              </a:tr>
            </a:tbl>
          </a:graphicData>
        </a:graphic>
      </p:graphicFrame>
      <p:sp>
        <p:nvSpPr>
          <p:cNvPr id="6" name="TextBox 5">
            <a:extLst>
              <a:ext uri="{FF2B5EF4-FFF2-40B4-BE49-F238E27FC236}">
                <a16:creationId xmlns:a16="http://schemas.microsoft.com/office/drawing/2014/main" id="{A6260861-0B0E-7440-AF5A-7DADB6BA82A6}"/>
              </a:ext>
            </a:extLst>
          </p:cNvPr>
          <p:cNvSpPr txBox="1"/>
          <p:nvPr/>
        </p:nvSpPr>
        <p:spPr>
          <a:xfrm>
            <a:off x="7620000" y="1220788"/>
            <a:ext cx="1324402" cy="400110"/>
          </a:xfrm>
          <a:prstGeom prst="rect">
            <a:avLst/>
          </a:prstGeom>
          <a:noFill/>
        </p:spPr>
        <p:txBody>
          <a:bodyPr wrap="none" rtlCol="0">
            <a:spAutoFit/>
          </a:bodyPr>
          <a:lstStyle/>
          <a:p>
            <a:r>
              <a:rPr lang="en-US" sz="2000" dirty="0">
                <a:ea typeface="ＭＳ Ｐゴシック" charset="0"/>
              </a:rPr>
              <a:t>n = 3, C = 4</a:t>
            </a:r>
            <a:endParaRPr lang="en-US" sz="2000" dirty="0"/>
          </a:p>
        </p:txBody>
      </p:sp>
    </p:spTree>
    <p:extLst>
      <p:ext uri="{BB962C8B-B14F-4D97-AF65-F5344CB8AC3E}">
        <p14:creationId xmlns:p14="http://schemas.microsoft.com/office/powerpoint/2010/main" val="149266908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40928</TotalTime>
  <Words>2504</Words>
  <Application>Microsoft Macintosh PowerPoint</Application>
  <PresentationFormat>Widescreen</PresentationFormat>
  <Paragraphs>373</Paragraphs>
  <Slides>26</Slides>
  <Notes>14</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26</vt:i4>
      </vt:variant>
    </vt:vector>
  </HeadingPairs>
  <TitlesOfParts>
    <vt:vector size="35" baseType="lpstr">
      <vt:lpstr>ＭＳ Ｐゴシック</vt:lpstr>
      <vt:lpstr>Arial</vt:lpstr>
      <vt:lpstr>Calibri</vt:lpstr>
      <vt:lpstr>Cambria Math</vt:lpstr>
      <vt:lpstr>Tahoma</vt:lpstr>
      <vt:lpstr>Tw Cen MT</vt:lpstr>
      <vt:lpstr>Wingdings</vt:lpstr>
      <vt:lpstr>Circuit</vt:lpstr>
      <vt:lpstr>Equation</vt:lpstr>
      <vt:lpstr>Greedy Algorithms Knapsack Problems</vt:lpstr>
      <vt:lpstr>CLRS Readings</vt:lpstr>
      <vt:lpstr>Knapsack Problems</vt:lpstr>
      <vt:lpstr>Knapsack Problems</vt:lpstr>
      <vt:lpstr>Knapsack Problems</vt:lpstr>
      <vt:lpstr>Types of Knapsack Problems</vt:lpstr>
      <vt:lpstr>Types of Knapsack Problems</vt:lpstr>
      <vt:lpstr>Updating Our Problem Statement</vt:lpstr>
      <vt:lpstr>Aside: Optimal Substructure</vt:lpstr>
      <vt:lpstr>Aside: Optimal Substructure</vt:lpstr>
      <vt:lpstr>Aside: Optimal Substructure</vt:lpstr>
      <vt:lpstr>Aside: Optimal Substructure</vt:lpstr>
      <vt:lpstr>Aside: Optimal Substructure</vt:lpstr>
      <vt:lpstr>Optimal Substructure</vt:lpstr>
      <vt:lpstr>Optimal Substructure Proof</vt:lpstr>
      <vt:lpstr>Optimal Substructure Proof</vt:lpstr>
      <vt:lpstr>Greedy Approach for Fractional Knapsack?</vt:lpstr>
      <vt:lpstr>Possible Greedy Choices for Knapsack</vt:lpstr>
      <vt:lpstr>Possible Greedy Choices for Knapsack</vt:lpstr>
      <vt:lpstr>Possible Greedy Choices for Knapsack</vt:lpstr>
      <vt:lpstr>Fractional Knapsack Algorithm</vt:lpstr>
      <vt:lpstr>Another Knapsack Example to Try</vt:lpstr>
      <vt:lpstr>Greedy Choice Property</vt:lpstr>
      <vt:lpstr>Greedy Choice Property</vt:lpstr>
      <vt:lpstr>Greedy Choice Property</vt:lpstr>
      <vt:lpstr>0/1 knapsack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242</cp:revision>
  <dcterms:created xsi:type="dcterms:W3CDTF">2023-02-24T14:15:53Z</dcterms:created>
  <dcterms:modified xsi:type="dcterms:W3CDTF">2025-08-29T17:51:02Z</dcterms:modified>
</cp:coreProperties>
</file>