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2.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notesSlides/notesSlide3.xml" ContentType="application/vnd.openxmlformats-officedocument.presentationml.notesSlide+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39"/>
  </p:notesMasterIdLst>
  <p:sldIdLst>
    <p:sldId id="256" r:id="rId2"/>
    <p:sldId id="272" r:id="rId3"/>
    <p:sldId id="457" r:id="rId4"/>
    <p:sldId id="428" r:id="rId5"/>
    <p:sldId id="538" r:id="rId6"/>
    <p:sldId id="539" r:id="rId7"/>
    <p:sldId id="429" r:id="rId8"/>
    <p:sldId id="430" r:id="rId9"/>
    <p:sldId id="432" r:id="rId10"/>
    <p:sldId id="328" r:id="rId11"/>
    <p:sldId id="530" r:id="rId12"/>
    <p:sldId id="531" r:id="rId13"/>
    <p:sldId id="532" r:id="rId14"/>
    <p:sldId id="534" r:id="rId15"/>
    <p:sldId id="535" r:id="rId16"/>
    <p:sldId id="533" r:id="rId17"/>
    <p:sldId id="537" r:id="rId18"/>
    <p:sldId id="510" r:id="rId19"/>
    <p:sldId id="511" r:id="rId20"/>
    <p:sldId id="512" r:id="rId21"/>
    <p:sldId id="513" r:id="rId22"/>
    <p:sldId id="514" r:id="rId23"/>
    <p:sldId id="540" r:id="rId24"/>
    <p:sldId id="415" r:id="rId25"/>
    <p:sldId id="416" r:id="rId26"/>
    <p:sldId id="417" r:id="rId27"/>
    <p:sldId id="452" r:id="rId28"/>
    <p:sldId id="541" r:id="rId29"/>
    <p:sldId id="519" r:id="rId30"/>
    <p:sldId id="443" r:id="rId31"/>
    <p:sldId id="520" r:id="rId32"/>
    <p:sldId id="524" r:id="rId33"/>
    <p:sldId id="458" r:id="rId34"/>
    <p:sldId id="410" r:id="rId35"/>
    <p:sldId id="529" r:id="rId36"/>
    <p:sldId id="525" r:id="rId37"/>
    <p:sldId id="526"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784"/>
    <p:restoredTop sz="94673"/>
  </p:normalViewPr>
  <p:slideViewPr>
    <p:cSldViewPr snapToGrid="0" snapToObjects="1">
      <p:cViewPr varScale="1">
        <p:scale>
          <a:sx n="137" d="100"/>
          <a:sy n="137" d="100"/>
        </p:scale>
        <p:origin x="6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9/11/25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p:spPr>
        <p:txBody>
          <a:bodyPr/>
          <a:lstStyle/>
          <a:p>
            <a:fld id="{4E1D0E06-6B38-402A-80F4-A70DBD984D0C}" type="slidenum">
              <a:rPr lang="en-US" smtClean="0"/>
              <a:pPr/>
              <a:t>9</a:t>
            </a:fld>
            <a:endParaRPr lang="en-US"/>
          </a:p>
        </p:txBody>
      </p:sp>
      <p:sp>
        <p:nvSpPr>
          <p:cNvPr id="88067" name="Rectangle 2"/>
          <p:cNvSpPr>
            <a:spLocks noGrp="1" noRot="1" noChangeAspect="1" noChangeArrowheads="1" noTextEdit="1"/>
          </p:cNvSpPr>
          <p:nvPr>
            <p:ph type="sldImg"/>
          </p:nvPr>
        </p:nvSpPr>
        <p:spPr>
          <a:xfrm>
            <a:off x="458788" y="719138"/>
            <a:ext cx="6400800" cy="3600450"/>
          </a:xfrm>
          <a:ln/>
        </p:spPr>
      </p:sp>
      <p:sp>
        <p:nvSpPr>
          <p:cNvPr id="88068" name="Rectangle 3"/>
          <p:cNvSpPr>
            <a:spLocks noGrp="1" noChangeArrowheads="1"/>
          </p:cNvSpPr>
          <p:nvPr>
            <p:ph type="body" idx="1"/>
          </p:nvPr>
        </p:nvSpPr>
        <p:spPr>
          <a:xfrm>
            <a:off x="974144" y="4560899"/>
            <a:ext cx="5366914" cy="4321196"/>
          </a:xfrm>
          <a:noFill/>
          <a:ln/>
        </p:spPr>
        <p:txBody>
          <a:bodyPr/>
          <a:lstStyle/>
          <a:p>
            <a:pPr eaLnBrk="1" hangingPunct="1"/>
            <a:endParaRPr lang="en-US" b="1">
              <a:solidFill>
                <a:srgbClr val="FF0000"/>
              </a:solidFill>
            </a:endParaRPr>
          </a:p>
        </p:txBody>
      </p:sp>
    </p:spTree>
    <p:extLst>
      <p:ext uri="{BB962C8B-B14F-4D97-AF65-F5344CB8AC3E}">
        <p14:creationId xmlns:p14="http://schemas.microsoft.com/office/powerpoint/2010/main" val="16737176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p:spPr>
        <p:txBody>
          <a:bodyPr/>
          <a:lstStyle/>
          <a:p>
            <a:fld id="{01579B5F-A22B-4049-B456-587BD3D5757E}" type="slidenum">
              <a:rPr lang="en-US" smtClean="0"/>
              <a:pPr/>
              <a:t>24</a:t>
            </a:fld>
            <a:endParaRPr lang="en-US"/>
          </a:p>
        </p:txBody>
      </p:sp>
      <p:sp>
        <p:nvSpPr>
          <p:cNvPr id="89091" name="Rectangle 2"/>
          <p:cNvSpPr>
            <a:spLocks noGrp="1" noRot="1" noChangeAspect="1" noChangeArrowheads="1" noTextEdit="1"/>
          </p:cNvSpPr>
          <p:nvPr>
            <p:ph type="sldImg"/>
          </p:nvPr>
        </p:nvSpPr>
        <p:spPr>
          <a:xfrm>
            <a:off x="457200" y="720725"/>
            <a:ext cx="6400800" cy="3600450"/>
          </a:xfrm>
          <a:ln/>
        </p:spPr>
      </p:sp>
      <p:sp>
        <p:nvSpPr>
          <p:cNvPr id="89092" name="Rectangle 3"/>
          <p:cNvSpPr>
            <a:spLocks noGrp="1" noChangeArrowheads="1"/>
          </p:cNvSpPr>
          <p:nvPr>
            <p:ph type="body" idx="1"/>
          </p:nvPr>
        </p:nvSpPr>
        <p:spPr>
          <a:noFill/>
          <a:ln/>
        </p:spPr>
        <p:txBody>
          <a:bodyPr/>
          <a:lstStyle/>
          <a:p>
            <a:pPr eaLnBrk="1" hangingPunct="1"/>
            <a:r>
              <a:rPr lang="en-US"/>
              <a:t>Pick one node as the root,</a:t>
            </a:r>
          </a:p>
          <a:p>
            <a:pPr eaLnBrk="1" hangingPunct="1"/>
            <a:r>
              <a:rPr lang="en-US"/>
              <a:t>Incrementally add edges that connect a “new” vertex to the tree.</a:t>
            </a:r>
          </a:p>
          <a:p>
            <a:pPr eaLnBrk="1" hangingPunct="1"/>
            <a:r>
              <a:rPr lang="en-US"/>
              <a:t>Pick the edge (u,v) where u is in the tree, v is not AND </a:t>
            </a:r>
          </a:p>
          <a:p>
            <a:pPr eaLnBrk="1" hangingPunct="1"/>
            <a:r>
              <a:rPr lang="en-US"/>
              <a:t>	where the edge weight is the smallest of all edges (where u is in the tree and v is not).</a:t>
            </a:r>
          </a:p>
        </p:txBody>
      </p:sp>
    </p:spTree>
    <p:extLst>
      <p:ext uri="{BB962C8B-B14F-4D97-AF65-F5344CB8AC3E}">
        <p14:creationId xmlns:p14="http://schemas.microsoft.com/office/powerpoint/2010/main" val="332155887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0D43E4E-9DCA-464D-9606-5931EF0F1F2A}" type="datetime1">
              <a:rPr lang="en-US" smtClean="0"/>
              <a:t>9/11/25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6DCB54-4F93-3C40-9589-59AE00DA8CFB}" type="datetime1">
              <a:rPr lang="en-US" smtClean="0"/>
              <a:t>9/11/25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5F1051E-8876-1549-A86E-F88CCBB2F5D7}" type="datetime1">
              <a:rPr lang="en-US" smtClean="0"/>
              <a:t>9/11/25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A6DB06C-41E2-DD4C-84B0-6646A8AEDB39}"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6F63D8-C80B-5043-9D49-B40CB00CE9CF}" type="datetime1">
              <a:rPr lang="en-US" smtClean="0"/>
              <a:t>9/11/25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EAB3A5-D670-D546-8080-5723E6784B77}" type="datetime1">
              <a:rPr lang="en-US" smtClean="0"/>
              <a:t>9/11/25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9FD6FC2-0142-1B4F-BEE4-ACF41109B835}" type="datetime1">
              <a:rPr lang="en-US" smtClean="0"/>
              <a:t>9/11/25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F168ABB-24DA-464F-91EA-B770337C2767}"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E6951F8-91C3-0C4C-AB15-6D421860A270}" type="datetime1">
              <a:rPr lang="en-US" smtClean="0"/>
              <a:t>9/11/25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FC8B702-FBC5-AE41-90CD-BC93BA09C9D9}"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C7BBF89-ED22-3141-BDF0-857A50681DCF}"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D8D06C5-6141-394F-AD88-CB45E2C3EF6B}"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0935B32-CD10-D344-BEA3-F2DCE1B46392}"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8BDFAC12-4865-7B47-9D86-73BC62015676}" type="datetime1">
              <a:rPr lang="en-US" smtClean="0"/>
              <a:t>9/11/25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B14F7D7E-6A59-C94E-99D5-CCA91DA40277}" type="datetime1">
              <a:rPr lang="en-US" smtClean="0"/>
              <a:t>9/11/25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D2AF2A-3141-274B-B612-A3014A027B93}" type="datetime1">
              <a:rPr lang="en-US" smtClean="0"/>
              <a:t>9/11/25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A1DF78-CC39-4441-9255-781D561D0B59}" type="datetime1">
              <a:rPr lang="en-US" smtClean="0"/>
              <a:t>9/11/25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p>
            <a:r>
              <a:rPr lang="en-US"/>
              <a:t>Click to edit Master title style</a:t>
            </a:r>
          </a:p>
        </p:txBody>
      </p:sp>
      <p:sp>
        <p:nvSpPr>
          <p:cNvPr id="3" name="Table Placeholder 2"/>
          <p:cNvSpPr>
            <a:spLocks noGrp="1"/>
          </p:cNvSpPr>
          <p:nvPr>
            <p:ph type="tbl" idx="1"/>
          </p:nvPr>
        </p:nvSpPr>
        <p:spPr>
          <a:xfrm>
            <a:off x="609600" y="1600201"/>
            <a:ext cx="10972800" cy="4525963"/>
          </a:xfrm>
        </p:spPr>
        <p:txBody>
          <a:bodyPr/>
          <a:lstStyle/>
          <a:p>
            <a:pPr lvl="0"/>
            <a:r>
              <a:rPr lang="en-US" noProof="0"/>
              <a:t>Click icon to add table</a:t>
            </a:r>
          </a:p>
        </p:txBody>
      </p:sp>
    </p:spTree>
    <p:extLst>
      <p:ext uri="{BB962C8B-B14F-4D97-AF65-F5344CB8AC3E}">
        <p14:creationId xmlns:p14="http://schemas.microsoft.com/office/powerpoint/2010/main" val="2643219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0">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1CF67D6D-F259-F443-9BC4-D5F83653ECB1}" type="datetime1">
              <a:rPr lang="en-US" smtClean="0"/>
              <a:t>9/11/25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 id="2147484024" r:id="rId18"/>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tags" Target="../tags/tag13.xml"/><Relationship Id="rId18" Type="http://schemas.openxmlformats.org/officeDocument/2006/relationships/image" Target="../media/image5.png"/><Relationship Id="rId3" Type="http://schemas.openxmlformats.org/officeDocument/2006/relationships/tags" Target="../tags/tag3.xml"/><Relationship Id="rId21" Type="http://schemas.openxmlformats.org/officeDocument/2006/relationships/image" Target="../media/image8.png"/><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image" Target="../media/image4.png"/><Relationship Id="rId2" Type="http://schemas.openxmlformats.org/officeDocument/2006/relationships/tags" Target="../tags/tag2.xml"/><Relationship Id="rId16" Type="http://schemas.openxmlformats.org/officeDocument/2006/relationships/image" Target="../media/image3.png"/><Relationship Id="rId20" Type="http://schemas.openxmlformats.org/officeDocument/2006/relationships/image" Target="../media/image7.png"/><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5" Type="http://schemas.openxmlformats.org/officeDocument/2006/relationships/slideLayout" Target="../slideLayouts/slideLayout2.xml"/><Relationship Id="rId10" Type="http://schemas.openxmlformats.org/officeDocument/2006/relationships/tags" Target="../tags/tag10.xml"/><Relationship Id="rId19" Type="http://schemas.openxmlformats.org/officeDocument/2006/relationships/image" Target="../media/image6.png"/><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22"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6.xml"/><Relationship Id="rId1" Type="http://schemas.openxmlformats.org/officeDocument/2006/relationships/tags" Target="../tags/tag15.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tags" Target="../tags/tag25.xml"/><Relationship Id="rId13" Type="http://schemas.openxmlformats.org/officeDocument/2006/relationships/tags" Target="../tags/tag30.xml"/><Relationship Id="rId18" Type="http://schemas.openxmlformats.org/officeDocument/2006/relationships/image" Target="../media/image13.png"/><Relationship Id="rId3" Type="http://schemas.openxmlformats.org/officeDocument/2006/relationships/tags" Target="../tags/tag20.xml"/><Relationship Id="rId21" Type="http://schemas.openxmlformats.org/officeDocument/2006/relationships/image" Target="../media/image16.png"/><Relationship Id="rId7" Type="http://schemas.openxmlformats.org/officeDocument/2006/relationships/tags" Target="../tags/tag24.xml"/><Relationship Id="rId12" Type="http://schemas.openxmlformats.org/officeDocument/2006/relationships/tags" Target="../tags/tag29.xml"/><Relationship Id="rId17" Type="http://schemas.openxmlformats.org/officeDocument/2006/relationships/image" Target="../media/image12.png"/><Relationship Id="rId2" Type="http://schemas.openxmlformats.org/officeDocument/2006/relationships/tags" Target="../tags/tag19.xml"/><Relationship Id="rId16" Type="http://schemas.openxmlformats.org/officeDocument/2006/relationships/image" Target="../media/image11.png"/><Relationship Id="rId20" Type="http://schemas.openxmlformats.org/officeDocument/2006/relationships/image" Target="../media/image15.png"/><Relationship Id="rId1" Type="http://schemas.openxmlformats.org/officeDocument/2006/relationships/tags" Target="../tags/tag18.xml"/><Relationship Id="rId6" Type="http://schemas.openxmlformats.org/officeDocument/2006/relationships/tags" Target="../tags/tag23.xml"/><Relationship Id="rId11" Type="http://schemas.openxmlformats.org/officeDocument/2006/relationships/tags" Target="../tags/tag28.xml"/><Relationship Id="rId5" Type="http://schemas.openxmlformats.org/officeDocument/2006/relationships/tags" Target="../tags/tag22.xml"/><Relationship Id="rId15" Type="http://schemas.openxmlformats.org/officeDocument/2006/relationships/image" Target="../media/image10.png"/><Relationship Id="rId10" Type="http://schemas.openxmlformats.org/officeDocument/2006/relationships/tags" Target="../tags/tag27.xml"/><Relationship Id="rId19" Type="http://schemas.openxmlformats.org/officeDocument/2006/relationships/image" Target="../media/image14.png"/><Relationship Id="rId4" Type="http://schemas.openxmlformats.org/officeDocument/2006/relationships/tags" Target="../tags/tag21.xml"/><Relationship Id="rId9" Type="http://schemas.openxmlformats.org/officeDocument/2006/relationships/tags" Target="../tags/tag26.xml"/><Relationship Id="rId14"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31.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3.xml"/><Relationship Id="rId1" Type="http://schemas.openxmlformats.org/officeDocument/2006/relationships/tags" Target="../tags/tag32.xml"/><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tags" Target="../tags/tag36.xml"/><Relationship Id="rId7" Type="http://schemas.openxmlformats.org/officeDocument/2006/relationships/tags" Target="../tags/tag37.xml"/><Relationship Id="rId2" Type="http://schemas.openxmlformats.org/officeDocument/2006/relationships/tags" Target="../tags/tag35.xml"/><Relationship Id="rId1" Type="http://schemas.openxmlformats.org/officeDocument/2006/relationships/tags" Target="../tags/tag34.xml"/><Relationship Id="rId6" Type="http://schemas.openxmlformats.org/officeDocument/2006/relationships/slideLayout" Target="../slideLayouts/slideLayout2.xml"/><Relationship Id="rId5" Type="http://schemas.openxmlformats.org/officeDocument/2006/relationships/tags" Target="../tags/tag38.xml"/><Relationship Id="rId10" Type="http://schemas.openxmlformats.org/officeDocument/2006/relationships/image" Target="../media/image20.png"/><Relationship Id="rId4" Type="http://schemas.openxmlformats.org/officeDocument/2006/relationships/tags" Target="../tags/tag37.xml"/><Relationship Id="rId9" Type="http://schemas.openxmlformats.org/officeDocument/2006/relationships/tags" Target="../tags/tag38.xml"/></Relationships>
</file>

<file path=ppt/slides/_rels/slide13.xml.rels><?xml version="1.0" encoding="UTF-8" standalone="yes"?>
<Relationships xmlns="http://schemas.openxmlformats.org/package/2006/relationships"><Relationship Id="rId8" Type="http://schemas.openxmlformats.org/officeDocument/2006/relationships/tags" Target="../tags/tag42.xml"/><Relationship Id="rId3" Type="http://schemas.openxmlformats.org/officeDocument/2006/relationships/tags" Target="../tags/tag41.xml"/><Relationship Id="rId7" Type="http://schemas.openxmlformats.org/officeDocument/2006/relationships/slideLayout" Target="../slideLayouts/slideLayout2.xml"/><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5" Type="http://schemas.openxmlformats.org/officeDocument/2006/relationships/tags" Target="../tags/tag43.xml"/><Relationship Id="rId4" Type="http://schemas.openxmlformats.org/officeDocument/2006/relationships/tags" Target="../tags/tag42.xml"/><Relationship Id="rId9"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slideLayout" Target="../slideLayouts/slideLayout2.xml"/><Relationship Id="rId1" Type="http://schemas.openxmlformats.org/officeDocument/2006/relationships/tags" Target="../tags/tag45.xml"/><Relationship Id="rId5" Type="http://schemas.openxmlformats.org/officeDocument/2006/relationships/image" Target="../media/image2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slideLayout" Target="../slideLayouts/slideLayout2.xml"/><Relationship Id="rId1" Type="http://schemas.openxmlformats.org/officeDocument/2006/relationships/tags" Target="../tags/tag46.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tags" Target="../tags/tag49.xml"/><Relationship Id="rId7" Type="http://schemas.openxmlformats.org/officeDocument/2006/relationships/tags" Target="../tags/tag48.xml"/><Relationship Id="rId12" Type="http://schemas.openxmlformats.org/officeDocument/2006/relationships/image" Target="../media/image33.png"/><Relationship Id="rId2" Type="http://schemas.openxmlformats.org/officeDocument/2006/relationships/tags" Target="../tags/tag48.xml"/><Relationship Id="rId1" Type="http://schemas.openxmlformats.org/officeDocument/2006/relationships/tags" Target="../tags/tag47.xml"/><Relationship Id="rId6" Type="http://schemas.openxmlformats.org/officeDocument/2006/relationships/slideLayout" Target="../slideLayouts/slideLayout2.xml"/><Relationship Id="rId11" Type="http://schemas.openxmlformats.org/officeDocument/2006/relationships/tags" Target="../tags/tag51.xml"/><Relationship Id="rId5" Type="http://schemas.openxmlformats.org/officeDocument/2006/relationships/tags" Target="../tags/tag51.xml"/><Relationship Id="rId10" Type="http://schemas.openxmlformats.org/officeDocument/2006/relationships/image" Target="../media/image32.png"/><Relationship Id="rId4" Type="http://schemas.openxmlformats.org/officeDocument/2006/relationships/tags" Target="../tags/tag50.xml"/><Relationship Id="rId9" Type="http://schemas.openxmlformats.org/officeDocument/2006/relationships/tags" Target="../tags/tag50.xml"/></Relationships>
</file>

<file path=ppt/slides/_rels/slide17.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tags" Target="../tags/tag54.xml"/><Relationship Id="rId7" Type="http://schemas.openxmlformats.org/officeDocument/2006/relationships/tags" Target="../tags/tag54.xml"/><Relationship Id="rId12" Type="http://schemas.openxmlformats.org/officeDocument/2006/relationships/image" Target="../media/image36.png"/><Relationship Id="rId2" Type="http://schemas.openxmlformats.org/officeDocument/2006/relationships/tags" Target="../tags/tag53.xml"/><Relationship Id="rId1" Type="http://schemas.openxmlformats.org/officeDocument/2006/relationships/tags" Target="../tags/tag52.xml"/><Relationship Id="rId6" Type="http://schemas.openxmlformats.org/officeDocument/2006/relationships/slideLayout" Target="../slideLayouts/slideLayout2.xml"/><Relationship Id="rId11" Type="http://schemas.openxmlformats.org/officeDocument/2006/relationships/tags" Target="../tags/tag56.xml"/><Relationship Id="rId5" Type="http://schemas.openxmlformats.org/officeDocument/2006/relationships/tags" Target="../tags/tag56.xml"/><Relationship Id="rId10" Type="http://schemas.openxmlformats.org/officeDocument/2006/relationships/image" Target="../media/image35.png"/><Relationship Id="rId4" Type="http://schemas.openxmlformats.org/officeDocument/2006/relationships/tags" Target="../tags/tag55.xml"/><Relationship Id="rId9" Type="http://schemas.openxmlformats.org/officeDocument/2006/relationships/tags" Target="../tags/tag5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58.xml"/><Relationship Id="rId1" Type="http://schemas.openxmlformats.org/officeDocument/2006/relationships/tags" Target="../tags/tag57.xml"/></Relationships>
</file>

<file path=ppt/slides/_rels/slide20.xml.rels><?xml version="1.0" encoding="UTF-8" standalone="yes"?>
<Relationships xmlns="http://schemas.openxmlformats.org/package/2006/relationships"><Relationship Id="rId3" Type="http://schemas.openxmlformats.org/officeDocument/2006/relationships/tags" Target="../tags/tag61.xml"/><Relationship Id="rId2" Type="http://schemas.openxmlformats.org/officeDocument/2006/relationships/tags" Target="../tags/tag60.xml"/><Relationship Id="rId1" Type="http://schemas.openxmlformats.org/officeDocument/2006/relationships/tags" Target="../tags/tag59.xml"/><Relationship Id="rId4"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tiff"/><Relationship Id="rId2" Type="http://schemas.openxmlformats.org/officeDocument/2006/relationships/slideLayout" Target="../slideLayouts/slideLayout2.xml"/><Relationship Id="rId1" Type="http://schemas.openxmlformats.org/officeDocument/2006/relationships/tags" Target="../tags/tag62.xml"/></Relationships>
</file>

<file path=ppt/slides/_rels/slide22.xml.rels><?xml version="1.0" encoding="UTF-8" standalone="yes"?>
<Relationships xmlns="http://schemas.openxmlformats.org/package/2006/relationships"><Relationship Id="rId3" Type="http://schemas.openxmlformats.org/officeDocument/2006/relationships/tags" Target="../tags/tag65.xml"/><Relationship Id="rId2" Type="http://schemas.openxmlformats.org/officeDocument/2006/relationships/tags" Target="../tags/tag64.xml"/><Relationship Id="rId1" Type="http://schemas.openxmlformats.org/officeDocument/2006/relationships/tags" Target="../tags/tag63.xml"/><Relationship Id="rId5" Type="http://schemas.openxmlformats.org/officeDocument/2006/relationships/slideLayout" Target="../slideLayouts/slideLayout2.xml"/><Relationship Id="rId4" Type="http://schemas.openxmlformats.org/officeDocument/2006/relationships/tags" Target="../tags/tag66.xml"/></Relationships>
</file>

<file path=ppt/slides/_rels/slide23.xml.rels><?xml version="1.0" encoding="UTF-8" standalone="yes"?>
<Relationships xmlns="http://schemas.openxmlformats.org/package/2006/relationships"><Relationship Id="rId8" Type="http://schemas.openxmlformats.org/officeDocument/2006/relationships/tags" Target="../tags/tag74.xml"/><Relationship Id="rId13" Type="http://schemas.openxmlformats.org/officeDocument/2006/relationships/tags" Target="../tags/tag79.xml"/><Relationship Id="rId18" Type="http://schemas.openxmlformats.org/officeDocument/2006/relationships/image" Target="../media/image40.png"/><Relationship Id="rId3" Type="http://schemas.openxmlformats.org/officeDocument/2006/relationships/tags" Target="../tags/tag69.xml"/><Relationship Id="rId21" Type="http://schemas.openxmlformats.org/officeDocument/2006/relationships/image" Target="../media/image43.png"/><Relationship Id="rId7" Type="http://schemas.openxmlformats.org/officeDocument/2006/relationships/tags" Target="../tags/tag73.xml"/><Relationship Id="rId12" Type="http://schemas.openxmlformats.org/officeDocument/2006/relationships/tags" Target="../tags/tag78.xml"/><Relationship Id="rId17" Type="http://schemas.openxmlformats.org/officeDocument/2006/relationships/image" Target="../media/image39.png"/><Relationship Id="rId2" Type="http://schemas.openxmlformats.org/officeDocument/2006/relationships/tags" Target="../tags/tag68.xml"/><Relationship Id="rId16" Type="http://schemas.openxmlformats.org/officeDocument/2006/relationships/image" Target="../media/image38.png"/><Relationship Id="rId20" Type="http://schemas.openxmlformats.org/officeDocument/2006/relationships/image" Target="../media/image42.png"/><Relationship Id="rId1" Type="http://schemas.openxmlformats.org/officeDocument/2006/relationships/tags" Target="../tags/tag67.xml"/><Relationship Id="rId6" Type="http://schemas.openxmlformats.org/officeDocument/2006/relationships/tags" Target="../tags/tag72.xml"/><Relationship Id="rId11" Type="http://schemas.openxmlformats.org/officeDocument/2006/relationships/tags" Target="../tags/tag77.xml"/><Relationship Id="rId5" Type="http://schemas.openxmlformats.org/officeDocument/2006/relationships/tags" Target="../tags/tag71.xml"/><Relationship Id="rId15" Type="http://schemas.openxmlformats.org/officeDocument/2006/relationships/image" Target="../media/image37.png"/><Relationship Id="rId10" Type="http://schemas.openxmlformats.org/officeDocument/2006/relationships/tags" Target="../tags/tag76.xml"/><Relationship Id="rId19" Type="http://schemas.openxmlformats.org/officeDocument/2006/relationships/image" Target="../media/image41.png"/><Relationship Id="rId4" Type="http://schemas.openxmlformats.org/officeDocument/2006/relationships/tags" Target="../tags/tag70.xml"/><Relationship Id="rId9" Type="http://schemas.openxmlformats.org/officeDocument/2006/relationships/tags" Target="../tags/tag75.xml"/><Relationship Id="rId14"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81.xml"/><Relationship Id="rId1" Type="http://schemas.openxmlformats.org/officeDocument/2006/relationships/tags" Target="../tags/tag80.xml"/><Relationship Id="rId4"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83.xml"/><Relationship Id="rId1" Type="http://schemas.openxmlformats.org/officeDocument/2006/relationships/tags" Target="../tags/tag82.xml"/></Relationships>
</file>

<file path=ppt/slides/_rels/slide26.xml.rels><?xml version="1.0" encoding="UTF-8" standalone="yes"?>
<Relationships xmlns="http://schemas.openxmlformats.org/package/2006/relationships"><Relationship Id="rId8" Type="http://schemas.openxmlformats.org/officeDocument/2006/relationships/tags" Target="../tags/tag91.xml"/><Relationship Id="rId13" Type="http://schemas.openxmlformats.org/officeDocument/2006/relationships/tags" Target="../tags/tag96.xml"/><Relationship Id="rId18" Type="http://schemas.openxmlformats.org/officeDocument/2006/relationships/image" Target="../media/image47.png"/><Relationship Id="rId3" Type="http://schemas.openxmlformats.org/officeDocument/2006/relationships/tags" Target="../tags/tag86.xml"/><Relationship Id="rId21" Type="http://schemas.openxmlformats.org/officeDocument/2006/relationships/image" Target="../media/image50.png"/><Relationship Id="rId7" Type="http://schemas.openxmlformats.org/officeDocument/2006/relationships/tags" Target="../tags/tag90.xml"/><Relationship Id="rId12" Type="http://schemas.openxmlformats.org/officeDocument/2006/relationships/tags" Target="../tags/tag95.xml"/><Relationship Id="rId17" Type="http://schemas.openxmlformats.org/officeDocument/2006/relationships/image" Target="../media/image46.png"/><Relationship Id="rId2" Type="http://schemas.openxmlformats.org/officeDocument/2006/relationships/tags" Target="../tags/tag85.xml"/><Relationship Id="rId16" Type="http://schemas.openxmlformats.org/officeDocument/2006/relationships/image" Target="../media/image45.png"/><Relationship Id="rId20" Type="http://schemas.openxmlformats.org/officeDocument/2006/relationships/image" Target="../media/image49.png"/><Relationship Id="rId1" Type="http://schemas.openxmlformats.org/officeDocument/2006/relationships/tags" Target="../tags/tag84.xml"/><Relationship Id="rId6" Type="http://schemas.openxmlformats.org/officeDocument/2006/relationships/tags" Target="../tags/tag89.xml"/><Relationship Id="rId11" Type="http://schemas.openxmlformats.org/officeDocument/2006/relationships/tags" Target="../tags/tag94.xml"/><Relationship Id="rId5" Type="http://schemas.openxmlformats.org/officeDocument/2006/relationships/tags" Target="../tags/tag88.xml"/><Relationship Id="rId15" Type="http://schemas.openxmlformats.org/officeDocument/2006/relationships/image" Target="../media/image44.png"/><Relationship Id="rId10" Type="http://schemas.openxmlformats.org/officeDocument/2006/relationships/tags" Target="../tags/tag93.xml"/><Relationship Id="rId19" Type="http://schemas.openxmlformats.org/officeDocument/2006/relationships/image" Target="../media/image48.png"/><Relationship Id="rId4" Type="http://schemas.openxmlformats.org/officeDocument/2006/relationships/tags" Target="../tags/tag87.xml"/><Relationship Id="rId9" Type="http://schemas.openxmlformats.org/officeDocument/2006/relationships/tags" Target="../tags/tag92.xml"/><Relationship Id="rId14"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98.xml"/><Relationship Id="rId1" Type="http://schemas.openxmlformats.org/officeDocument/2006/relationships/tags" Target="../tags/tag97.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00.xml"/><Relationship Id="rId1" Type="http://schemas.openxmlformats.org/officeDocument/2006/relationships/tags" Target="../tags/tag99.xml"/><Relationship Id="rId4" Type="http://schemas.openxmlformats.org/officeDocument/2006/relationships/image" Target="../media/image5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tags" Target="../tags/tag103.xml"/><Relationship Id="rId2" Type="http://schemas.openxmlformats.org/officeDocument/2006/relationships/tags" Target="../tags/tag102.xml"/><Relationship Id="rId1" Type="http://schemas.openxmlformats.org/officeDocument/2006/relationships/tags" Target="../tags/tag101.xml"/><Relationship Id="rId5" Type="http://schemas.openxmlformats.org/officeDocument/2006/relationships/slideLayout" Target="../slideLayouts/slideLayout2.xml"/><Relationship Id="rId4" Type="http://schemas.openxmlformats.org/officeDocument/2006/relationships/tags" Target="../tags/tag104.xm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06.xml"/><Relationship Id="rId1" Type="http://schemas.openxmlformats.org/officeDocument/2006/relationships/tags" Target="../tags/tag105.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08.xml"/><Relationship Id="rId1" Type="http://schemas.openxmlformats.org/officeDocument/2006/relationships/tags" Target="../tags/tag10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Graphs: Dijkstra’s Algorithm And Prim’s Algorithm</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Data Structures and Algorithms 2</a:t>
            </a:r>
            <a:br>
              <a:rPr lang="en-US" dirty="0"/>
            </a:br>
            <a:r>
              <a:rPr lang="en-US" dirty="0"/>
              <a:t>Mark Floryan</a:t>
            </a:r>
            <a:br>
              <a:rPr lang="en-US" dirty="0"/>
            </a:br>
            <a:br>
              <a:rPr lang="en-US" dirty="0"/>
            </a:b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Topics!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nchor="ctr"/>
          <a:lstStyle/>
          <a:p>
            <a:pPr marL="0" indent="0" algn="ctr">
              <a:buNone/>
            </a:pPr>
            <a:r>
              <a:rPr lang="en-US" b="1" i="1" u="sng" dirty="0">
                <a:solidFill>
                  <a:schemeClr val="bg1"/>
                </a:solidFill>
              </a:rPr>
              <a:t>Dijkstra’s Algorithm</a:t>
            </a:r>
            <a:r>
              <a:rPr lang="en-US" dirty="0">
                <a:solidFill>
                  <a:schemeClr val="bg1"/>
                </a:solidFill>
              </a:rPr>
              <a:t>: Finding the shortest path in a graph</a:t>
            </a:r>
          </a:p>
        </p:txBody>
      </p:sp>
      <p:sp>
        <p:nvSpPr>
          <p:cNvPr id="4" name="Content Placeholder 2">
            <a:extLst>
              <a:ext uri="{FF2B5EF4-FFF2-40B4-BE49-F238E27FC236}">
                <a16:creationId xmlns:a16="http://schemas.microsoft.com/office/drawing/2014/main" id="{C3CBD30C-EB51-C249-A8FC-E343315276A6}"/>
              </a:ext>
            </a:extLst>
          </p:cNvPr>
          <p:cNvSpPr txBox="1">
            <a:spLocks/>
          </p:cNvSpPr>
          <p:nvPr/>
        </p:nvSpPr>
        <p:spPr>
          <a:xfrm>
            <a:off x="1141412" y="2848808"/>
            <a:ext cx="9905999" cy="1089328"/>
          </a:xfrm>
          <a:prstGeom prst="rect">
            <a:avLst/>
          </a:prstGeom>
          <a:solidFill>
            <a:schemeClr val="tx1">
              <a:lumMod val="95000"/>
            </a:schemeClr>
          </a:solidFill>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Prim’s Algorithm</a:t>
            </a:r>
            <a:r>
              <a:rPr lang="en-US" dirty="0">
                <a:solidFill>
                  <a:schemeClr val="bg1"/>
                </a:solidFill>
              </a:rPr>
              <a:t>: Finding a minimum spanning tree</a:t>
            </a:r>
          </a:p>
        </p:txBody>
      </p:sp>
      <p:sp>
        <p:nvSpPr>
          <p:cNvPr id="5" name="Content Placeholder 2">
            <a:extLst>
              <a:ext uri="{FF2B5EF4-FFF2-40B4-BE49-F238E27FC236}">
                <a16:creationId xmlns:a16="http://schemas.microsoft.com/office/drawing/2014/main" id="{B98087DF-8BCB-3D46-8C8D-7FA120BFB404}"/>
              </a:ext>
            </a:extLst>
          </p:cNvPr>
          <p:cNvSpPr txBox="1">
            <a:spLocks/>
          </p:cNvSpPr>
          <p:nvPr/>
        </p:nvSpPr>
        <p:spPr>
          <a:xfrm>
            <a:off x="1141412" y="4138245"/>
            <a:ext cx="9905999" cy="1089328"/>
          </a:xfrm>
          <a:prstGeom prst="rect">
            <a:avLst/>
          </a:prstGeom>
          <a:solidFill>
            <a:schemeClr val="tx1">
              <a:lumMod val="95000"/>
            </a:schemeClr>
          </a:solidFill>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Comparison</a:t>
            </a:r>
            <a:r>
              <a:rPr lang="en-US" dirty="0">
                <a:solidFill>
                  <a:schemeClr val="bg1"/>
                </a:solidFill>
              </a:rPr>
              <a:t>: These algorithms solve very different problems but are somehow VERY similar to one another. Interesting comparison.</a:t>
            </a:r>
          </a:p>
        </p:txBody>
      </p:sp>
    </p:spTree>
    <p:extLst>
      <p:ext uri="{BB962C8B-B14F-4D97-AF65-F5344CB8AC3E}">
        <p14:creationId xmlns:p14="http://schemas.microsoft.com/office/powerpoint/2010/main" val="29872491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Dijkstra’s Algorithm</a:t>
            </a:r>
          </a:p>
        </p:txBody>
      </p:sp>
    </p:spTree>
    <p:extLst>
      <p:ext uri="{BB962C8B-B14F-4D97-AF65-F5344CB8AC3E}">
        <p14:creationId xmlns:p14="http://schemas.microsoft.com/office/powerpoint/2010/main" val="8710317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Weighted Shortest Path</a:t>
            </a:r>
          </a:p>
        </p:txBody>
      </p:sp>
      <p:sp>
        <p:nvSpPr>
          <p:cNvPr id="34819" name="Rectangle 3"/>
          <p:cNvSpPr>
            <a:spLocks noGrp="1" noChangeArrowheads="1"/>
          </p:cNvSpPr>
          <p:nvPr>
            <p:ph sz="quarter" idx="1"/>
            <p:custDataLst>
              <p:tags r:id="rId2"/>
            </p:custDataLst>
          </p:nvPr>
        </p:nvSpPr>
        <p:spPr>
          <a:xfrm>
            <a:off x="1082673" y="1141323"/>
            <a:ext cx="9905999" cy="1041401"/>
          </a:xfrm>
          <a:solidFill>
            <a:schemeClr val="tx1">
              <a:lumMod val="95000"/>
            </a:schemeClr>
          </a:solidFill>
          <a:ln>
            <a:solidFill>
              <a:schemeClr val="bg1"/>
            </a:solidFill>
          </a:ln>
        </p:spPr>
        <p:txBody>
          <a:bodyPr anchor="ctr">
            <a:normAutofit fontScale="92500"/>
          </a:bodyPr>
          <a:lstStyle/>
          <a:p>
            <a:pPr marL="0" indent="0" algn="ctr" eaLnBrk="1" hangingPunct="1">
              <a:buNone/>
            </a:pPr>
            <a:r>
              <a:rPr lang="en-US" b="1" i="1" u="sng" dirty="0">
                <a:solidFill>
                  <a:schemeClr val="bg1"/>
                </a:solidFill>
              </a:rPr>
              <a:t>Problem Statement</a:t>
            </a:r>
            <a:r>
              <a:rPr lang="en-US" b="1" dirty="0">
                <a:solidFill>
                  <a:schemeClr val="bg1"/>
                </a:solidFill>
              </a:rPr>
              <a:t>: </a:t>
            </a:r>
            <a:r>
              <a:rPr lang="en-US" dirty="0">
                <a:solidFill>
                  <a:schemeClr val="bg1"/>
                </a:solidFill>
              </a:rPr>
              <a:t>Given a weighted graph with </a:t>
            </a:r>
            <a:r>
              <a:rPr lang="en-US" b="1" i="1" dirty="0">
                <a:solidFill>
                  <a:schemeClr val="bg1"/>
                </a:solidFill>
              </a:rPr>
              <a:t>no negative edge weights</a:t>
            </a:r>
            <a:r>
              <a:rPr lang="en-US" dirty="0">
                <a:solidFill>
                  <a:schemeClr val="bg1"/>
                </a:solidFill>
              </a:rPr>
              <a:t> and a start node s, find the shortest weighted path from s to every other node in the graph.</a:t>
            </a:r>
          </a:p>
        </p:txBody>
      </p:sp>
      <p:grpSp>
        <p:nvGrpSpPr>
          <p:cNvPr id="34861" name="Group 34860">
            <a:extLst>
              <a:ext uri="{FF2B5EF4-FFF2-40B4-BE49-F238E27FC236}">
                <a16:creationId xmlns:a16="http://schemas.microsoft.com/office/drawing/2014/main" id="{AB3C17CC-5346-CC05-D510-D638D2E01582}"/>
              </a:ext>
            </a:extLst>
          </p:cNvPr>
          <p:cNvGrpSpPr/>
          <p:nvPr/>
        </p:nvGrpSpPr>
        <p:grpSpPr>
          <a:xfrm>
            <a:off x="2879898" y="2632562"/>
            <a:ext cx="3665154" cy="3084115"/>
            <a:chOff x="694046" y="2790509"/>
            <a:chExt cx="3665154" cy="3084115"/>
          </a:xfrm>
        </p:grpSpPr>
        <mc:AlternateContent xmlns:mc="http://schemas.openxmlformats.org/markup-compatibility/2006">
          <mc:Choice xmlns:a14="http://schemas.microsoft.com/office/drawing/2010/main" Requires="a14">
            <p:sp>
              <p:nvSpPr>
                <p:cNvPr id="35" name="Oval 34">
                  <a:extLst>
                    <a:ext uri="{FF2B5EF4-FFF2-40B4-BE49-F238E27FC236}">
                      <a16:creationId xmlns:a16="http://schemas.microsoft.com/office/drawing/2014/main" id="{233BF43B-C31B-43BD-2489-B9DD8CCB1D25}"/>
                    </a:ext>
                  </a:extLst>
                </p:cNvPr>
                <p:cNvSpPr/>
                <p:nvPr/>
              </p:nvSpPr>
              <p:spPr>
                <a:xfrm>
                  <a:off x="1273881" y="2911555"/>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0</m:t>
                            </m:r>
                          </m:sub>
                        </m:sSub>
                      </m:oMath>
                    </m:oMathPara>
                  </a14:m>
                  <a:endParaRPr lang="en-US" dirty="0">
                    <a:solidFill>
                      <a:schemeClr val="bg1"/>
                    </a:solidFill>
                  </a:endParaRPr>
                </a:p>
              </p:txBody>
            </p:sp>
          </mc:Choice>
          <mc:Fallback>
            <p:sp>
              <p:nvSpPr>
                <p:cNvPr id="35" name="Oval 34">
                  <a:extLst>
                    <a:ext uri="{FF2B5EF4-FFF2-40B4-BE49-F238E27FC236}">
                      <a16:creationId xmlns:a16="http://schemas.microsoft.com/office/drawing/2014/main" id="{233BF43B-C31B-43BD-2489-B9DD8CCB1D25}"/>
                    </a:ext>
                  </a:extLst>
                </p:cNvPr>
                <p:cNvSpPr>
                  <a:spLocks noRot="1" noChangeAspect="1" noMove="1" noResize="1" noEditPoints="1" noAdjustHandles="1" noChangeArrowheads="1" noChangeShapeType="1" noTextEdit="1"/>
                </p:cNvSpPr>
                <p:nvPr/>
              </p:nvSpPr>
              <p:spPr>
                <a:xfrm>
                  <a:off x="1273881" y="2911555"/>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Oval 35">
                  <a:extLst>
                    <a:ext uri="{FF2B5EF4-FFF2-40B4-BE49-F238E27FC236}">
                      <a16:creationId xmlns:a16="http://schemas.microsoft.com/office/drawing/2014/main" id="{93972355-873A-89FB-EB40-AD35A0252711}"/>
                    </a:ext>
                  </a:extLst>
                </p:cNvPr>
                <p:cNvSpPr/>
                <p:nvPr/>
              </p:nvSpPr>
              <p:spPr>
                <a:xfrm>
                  <a:off x="694046" y="4034294"/>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36" name="Oval 35">
                  <a:extLst>
                    <a:ext uri="{FF2B5EF4-FFF2-40B4-BE49-F238E27FC236}">
                      <a16:creationId xmlns:a16="http://schemas.microsoft.com/office/drawing/2014/main" id="{93972355-873A-89FB-EB40-AD35A0252711}"/>
                    </a:ext>
                  </a:extLst>
                </p:cNvPr>
                <p:cNvSpPr>
                  <a:spLocks noRot="1" noChangeAspect="1" noMove="1" noResize="1" noEditPoints="1" noAdjustHandles="1" noChangeArrowheads="1" noChangeShapeType="1" noTextEdit="1"/>
                </p:cNvSpPr>
                <p:nvPr/>
              </p:nvSpPr>
              <p:spPr>
                <a:xfrm>
                  <a:off x="694046" y="4034294"/>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Oval 36">
                  <a:extLst>
                    <a:ext uri="{FF2B5EF4-FFF2-40B4-BE49-F238E27FC236}">
                      <a16:creationId xmlns:a16="http://schemas.microsoft.com/office/drawing/2014/main" id="{0EA6A8B2-7E00-4DFA-DEC0-A644FBE54CAB}"/>
                    </a:ext>
                  </a:extLst>
                </p:cNvPr>
                <p:cNvSpPr/>
                <p:nvPr/>
              </p:nvSpPr>
              <p:spPr>
                <a:xfrm>
                  <a:off x="2315109" y="4034293"/>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37" name="Oval 36">
                  <a:extLst>
                    <a:ext uri="{FF2B5EF4-FFF2-40B4-BE49-F238E27FC236}">
                      <a16:creationId xmlns:a16="http://schemas.microsoft.com/office/drawing/2014/main" id="{0EA6A8B2-7E00-4DFA-DEC0-A644FBE54CAB}"/>
                    </a:ext>
                  </a:extLst>
                </p:cNvPr>
                <p:cNvSpPr>
                  <a:spLocks noRot="1" noChangeAspect="1" noMove="1" noResize="1" noEditPoints="1" noAdjustHandles="1" noChangeArrowheads="1" noChangeShapeType="1" noTextEdit="1"/>
                </p:cNvSpPr>
                <p:nvPr/>
              </p:nvSpPr>
              <p:spPr>
                <a:xfrm>
                  <a:off x="2315109" y="4034293"/>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Oval 37">
                  <a:extLst>
                    <a:ext uri="{FF2B5EF4-FFF2-40B4-BE49-F238E27FC236}">
                      <a16:creationId xmlns:a16="http://schemas.microsoft.com/office/drawing/2014/main" id="{1C6A1A69-E45B-8209-04DC-BE2F726BB2D1}"/>
                    </a:ext>
                  </a:extLst>
                </p:cNvPr>
                <p:cNvSpPr/>
                <p:nvPr/>
              </p:nvSpPr>
              <p:spPr>
                <a:xfrm>
                  <a:off x="3335462" y="2875543"/>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38" name="Oval 37">
                  <a:extLst>
                    <a:ext uri="{FF2B5EF4-FFF2-40B4-BE49-F238E27FC236}">
                      <a16:creationId xmlns:a16="http://schemas.microsoft.com/office/drawing/2014/main" id="{1C6A1A69-E45B-8209-04DC-BE2F726BB2D1}"/>
                    </a:ext>
                  </a:extLst>
                </p:cNvPr>
                <p:cNvSpPr>
                  <a:spLocks noRot="1" noChangeAspect="1" noMove="1" noResize="1" noEditPoints="1" noAdjustHandles="1" noChangeArrowheads="1" noChangeShapeType="1" noTextEdit="1"/>
                </p:cNvSpPr>
                <p:nvPr/>
              </p:nvSpPr>
              <p:spPr>
                <a:xfrm>
                  <a:off x="3335462" y="2875543"/>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9" name="Oval 38">
                  <a:extLst>
                    <a:ext uri="{FF2B5EF4-FFF2-40B4-BE49-F238E27FC236}">
                      <a16:creationId xmlns:a16="http://schemas.microsoft.com/office/drawing/2014/main" id="{359F3023-F346-A753-83CB-0BFA202F3AA6}"/>
                    </a:ext>
                  </a:extLst>
                </p:cNvPr>
                <p:cNvSpPr/>
                <p:nvPr/>
              </p:nvSpPr>
              <p:spPr>
                <a:xfrm>
                  <a:off x="3893269" y="4023407"/>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39" name="Oval 38">
                  <a:extLst>
                    <a:ext uri="{FF2B5EF4-FFF2-40B4-BE49-F238E27FC236}">
                      <a16:creationId xmlns:a16="http://schemas.microsoft.com/office/drawing/2014/main" id="{359F3023-F346-A753-83CB-0BFA202F3AA6}"/>
                    </a:ext>
                  </a:extLst>
                </p:cNvPr>
                <p:cNvSpPr>
                  <a:spLocks noRot="1" noChangeAspect="1" noMove="1" noResize="1" noEditPoints="1" noAdjustHandles="1" noChangeArrowheads="1" noChangeShapeType="1" noTextEdit="1"/>
                </p:cNvSpPr>
                <p:nvPr/>
              </p:nvSpPr>
              <p:spPr>
                <a:xfrm>
                  <a:off x="3893269" y="4023407"/>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0" name="Oval 39">
                  <a:extLst>
                    <a:ext uri="{FF2B5EF4-FFF2-40B4-BE49-F238E27FC236}">
                      <a16:creationId xmlns:a16="http://schemas.microsoft.com/office/drawing/2014/main" id="{8BBBE503-8726-FB03-0775-6A141CDCDCCB}"/>
                    </a:ext>
                  </a:extLst>
                </p:cNvPr>
                <p:cNvSpPr/>
                <p:nvPr/>
              </p:nvSpPr>
              <p:spPr>
                <a:xfrm>
                  <a:off x="1739812" y="5378928"/>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p:sp>
              <p:nvSpPr>
                <p:cNvPr id="40" name="Oval 39">
                  <a:extLst>
                    <a:ext uri="{FF2B5EF4-FFF2-40B4-BE49-F238E27FC236}">
                      <a16:creationId xmlns:a16="http://schemas.microsoft.com/office/drawing/2014/main" id="{8BBBE503-8726-FB03-0775-6A141CDCDCCB}"/>
                    </a:ext>
                  </a:extLst>
                </p:cNvPr>
                <p:cNvSpPr>
                  <a:spLocks noRot="1" noChangeAspect="1" noMove="1" noResize="1" noEditPoints="1" noAdjustHandles="1" noChangeArrowheads="1" noChangeShapeType="1" noTextEdit="1"/>
                </p:cNvSpPr>
                <p:nvPr/>
              </p:nvSpPr>
              <p:spPr>
                <a:xfrm>
                  <a:off x="1739812" y="5378928"/>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1" name="Oval 40">
                  <a:extLst>
                    <a:ext uri="{FF2B5EF4-FFF2-40B4-BE49-F238E27FC236}">
                      <a16:creationId xmlns:a16="http://schemas.microsoft.com/office/drawing/2014/main" id="{F8EA2353-20D9-ADAE-7588-BB7366C90250}"/>
                    </a:ext>
                  </a:extLst>
                </p:cNvPr>
                <p:cNvSpPr/>
                <p:nvPr/>
              </p:nvSpPr>
              <p:spPr>
                <a:xfrm>
                  <a:off x="3429719" y="5408693"/>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p:sp>
              <p:nvSpPr>
                <p:cNvPr id="41" name="Oval 40">
                  <a:extLst>
                    <a:ext uri="{FF2B5EF4-FFF2-40B4-BE49-F238E27FC236}">
                      <a16:creationId xmlns:a16="http://schemas.microsoft.com/office/drawing/2014/main" id="{F8EA2353-20D9-ADAE-7588-BB7366C90250}"/>
                    </a:ext>
                  </a:extLst>
                </p:cNvPr>
                <p:cNvSpPr>
                  <a:spLocks noRot="1" noChangeAspect="1" noMove="1" noResize="1" noEditPoints="1" noAdjustHandles="1" noChangeArrowheads="1" noChangeShapeType="1" noTextEdit="1"/>
                </p:cNvSpPr>
                <p:nvPr/>
              </p:nvSpPr>
              <p:spPr>
                <a:xfrm>
                  <a:off x="3429719" y="5408693"/>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p:cxnSp>
          <p:nvCxnSpPr>
            <p:cNvPr id="43" name="Straight Arrow Connector 42">
              <a:extLst>
                <a:ext uri="{FF2B5EF4-FFF2-40B4-BE49-F238E27FC236}">
                  <a16:creationId xmlns:a16="http://schemas.microsoft.com/office/drawing/2014/main" id="{FA390D2B-4110-A6F7-1448-28527997C7D9}"/>
                </a:ext>
              </a:extLst>
            </p:cNvPr>
            <p:cNvCxnSpPr>
              <a:stCxn id="35" idx="3"/>
              <a:endCxn id="36" idx="0"/>
            </p:cNvCxnSpPr>
            <p:nvPr/>
          </p:nvCxnSpPr>
          <p:spPr>
            <a:xfrm flipH="1">
              <a:off x="927012" y="3309252"/>
              <a:ext cx="415103" cy="7250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01AD6860-760E-06AA-9157-9C5FDF456E00}"/>
                </a:ext>
              </a:extLst>
            </p:cNvPr>
            <p:cNvCxnSpPr>
              <a:cxnSpLocks/>
              <a:stCxn id="36" idx="6"/>
              <a:endCxn id="37" idx="2"/>
            </p:cNvCxnSpPr>
            <p:nvPr/>
          </p:nvCxnSpPr>
          <p:spPr>
            <a:xfrm flipV="1">
              <a:off x="1159977" y="4267259"/>
              <a:ext cx="1155132"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9A283135-5FD3-19E2-07A6-B0FAB7C3C27F}"/>
                </a:ext>
              </a:extLst>
            </p:cNvPr>
            <p:cNvCxnSpPr>
              <a:cxnSpLocks/>
              <a:stCxn id="35" idx="5"/>
              <a:endCxn id="37" idx="1"/>
            </p:cNvCxnSpPr>
            <p:nvPr/>
          </p:nvCxnSpPr>
          <p:spPr>
            <a:xfrm>
              <a:off x="1671578" y="3309252"/>
              <a:ext cx="711765" cy="793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C047CF0-E5E0-069D-30BA-D858B0B5DD45}"/>
                </a:ext>
              </a:extLst>
            </p:cNvPr>
            <p:cNvCxnSpPr>
              <a:cxnSpLocks/>
              <a:stCxn id="38" idx="2"/>
              <a:endCxn id="35" idx="6"/>
            </p:cNvCxnSpPr>
            <p:nvPr/>
          </p:nvCxnSpPr>
          <p:spPr>
            <a:xfrm flipH="1">
              <a:off x="1739812" y="3108509"/>
              <a:ext cx="1595650" cy="360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65DC540B-8B7F-85C9-1688-2E631FC61CE2}"/>
                </a:ext>
              </a:extLst>
            </p:cNvPr>
            <p:cNvCxnSpPr>
              <a:cxnSpLocks/>
              <a:stCxn id="37" idx="7"/>
              <a:endCxn id="38" idx="3"/>
            </p:cNvCxnSpPr>
            <p:nvPr/>
          </p:nvCxnSpPr>
          <p:spPr>
            <a:xfrm flipV="1">
              <a:off x="2712806" y="3273240"/>
              <a:ext cx="690890" cy="8292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8CF1CDA-6F78-62E9-91E9-2A2E36AD1645}"/>
                </a:ext>
              </a:extLst>
            </p:cNvPr>
            <p:cNvCxnSpPr>
              <a:cxnSpLocks/>
              <a:stCxn id="37" idx="6"/>
              <a:endCxn id="39" idx="2"/>
            </p:cNvCxnSpPr>
            <p:nvPr/>
          </p:nvCxnSpPr>
          <p:spPr>
            <a:xfrm flipV="1">
              <a:off x="2781040" y="4256373"/>
              <a:ext cx="1112229" cy="10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875DBB10-1AB8-F63E-EC15-2B2DD04CA4BD}"/>
                </a:ext>
              </a:extLst>
            </p:cNvPr>
            <p:cNvCxnSpPr>
              <a:cxnSpLocks/>
              <a:stCxn id="39" idx="0"/>
              <a:endCxn id="38" idx="5"/>
            </p:cNvCxnSpPr>
            <p:nvPr/>
          </p:nvCxnSpPr>
          <p:spPr>
            <a:xfrm flipH="1" flipV="1">
              <a:off x="3733159" y="3273240"/>
              <a:ext cx="393076" cy="750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9B5ABF42-CF99-2A67-A9FA-C82E19F28681}"/>
                </a:ext>
              </a:extLst>
            </p:cNvPr>
            <p:cNvCxnSpPr>
              <a:cxnSpLocks/>
              <a:stCxn id="41" idx="7"/>
              <a:endCxn id="39" idx="4"/>
            </p:cNvCxnSpPr>
            <p:nvPr/>
          </p:nvCxnSpPr>
          <p:spPr>
            <a:xfrm flipV="1">
              <a:off x="3827416" y="4489338"/>
              <a:ext cx="298819" cy="9875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836" name="Straight Arrow Connector 34835">
              <a:extLst>
                <a:ext uri="{FF2B5EF4-FFF2-40B4-BE49-F238E27FC236}">
                  <a16:creationId xmlns:a16="http://schemas.microsoft.com/office/drawing/2014/main" id="{F3A472B0-91BB-716C-FB26-DA79054D8C07}"/>
                </a:ext>
              </a:extLst>
            </p:cNvPr>
            <p:cNvCxnSpPr>
              <a:cxnSpLocks/>
              <a:stCxn id="36" idx="5"/>
              <a:endCxn id="40" idx="1"/>
            </p:cNvCxnSpPr>
            <p:nvPr/>
          </p:nvCxnSpPr>
          <p:spPr>
            <a:xfrm>
              <a:off x="1091743" y="4431991"/>
              <a:ext cx="716303" cy="10151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839" name="Straight Arrow Connector 34838">
              <a:extLst>
                <a:ext uri="{FF2B5EF4-FFF2-40B4-BE49-F238E27FC236}">
                  <a16:creationId xmlns:a16="http://schemas.microsoft.com/office/drawing/2014/main" id="{BCEA4537-4F0B-55D2-223D-87A6D3BC1416}"/>
                </a:ext>
              </a:extLst>
            </p:cNvPr>
            <p:cNvCxnSpPr>
              <a:cxnSpLocks/>
              <a:stCxn id="37" idx="3"/>
              <a:endCxn id="40" idx="0"/>
            </p:cNvCxnSpPr>
            <p:nvPr/>
          </p:nvCxnSpPr>
          <p:spPr>
            <a:xfrm flipH="1">
              <a:off x="1972778" y="4431990"/>
              <a:ext cx="410565" cy="9469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842" name="Straight Arrow Connector 34841">
              <a:extLst>
                <a:ext uri="{FF2B5EF4-FFF2-40B4-BE49-F238E27FC236}">
                  <a16:creationId xmlns:a16="http://schemas.microsoft.com/office/drawing/2014/main" id="{0711DD89-10E6-A022-A8CC-E36615A3E329}"/>
                </a:ext>
              </a:extLst>
            </p:cNvPr>
            <p:cNvCxnSpPr>
              <a:cxnSpLocks/>
              <a:stCxn id="37" idx="5"/>
              <a:endCxn id="41" idx="1"/>
            </p:cNvCxnSpPr>
            <p:nvPr/>
          </p:nvCxnSpPr>
          <p:spPr>
            <a:xfrm>
              <a:off x="2712806" y="4431990"/>
              <a:ext cx="785147" cy="10449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845" name="Straight Arrow Connector 34844">
              <a:extLst>
                <a:ext uri="{FF2B5EF4-FFF2-40B4-BE49-F238E27FC236}">
                  <a16:creationId xmlns:a16="http://schemas.microsoft.com/office/drawing/2014/main" id="{1A656D24-6667-E815-6C9E-735F630474A0}"/>
                </a:ext>
              </a:extLst>
            </p:cNvPr>
            <p:cNvCxnSpPr>
              <a:cxnSpLocks/>
              <a:stCxn id="40" idx="6"/>
              <a:endCxn id="41" idx="2"/>
            </p:cNvCxnSpPr>
            <p:nvPr/>
          </p:nvCxnSpPr>
          <p:spPr>
            <a:xfrm>
              <a:off x="2205743" y="5611894"/>
              <a:ext cx="1223976" cy="297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848" name="Text Box 27">
              <a:extLst>
                <a:ext uri="{FF2B5EF4-FFF2-40B4-BE49-F238E27FC236}">
                  <a16:creationId xmlns:a16="http://schemas.microsoft.com/office/drawing/2014/main" id="{F8FD2491-CF1F-3BD3-5AD0-E3751C17FFF6}"/>
                </a:ext>
              </a:extLst>
            </p:cNvPr>
            <p:cNvSpPr txBox="1">
              <a:spLocks noChangeArrowheads="1"/>
            </p:cNvSpPr>
            <p:nvPr>
              <p:custDataLst>
                <p:tags r:id="rId3"/>
              </p:custDataLst>
            </p:nvPr>
          </p:nvSpPr>
          <p:spPr bwMode="auto">
            <a:xfrm>
              <a:off x="805260" y="3358040"/>
              <a:ext cx="336550" cy="457200"/>
            </a:xfrm>
            <a:prstGeom prst="rect">
              <a:avLst/>
            </a:prstGeom>
            <a:noFill/>
            <a:ln w="9525">
              <a:noFill/>
              <a:miter lim="800000"/>
              <a:headEnd/>
              <a:tailEnd/>
            </a:ln>
          </p:spPr>
          <p:txBody>
            <a:bodyPr wrap="none">
              <a:spAutoFit/>
            </a:bodyPr>
            <a:lstStyle/>
            <a:p>
              <a:r>
                <a:rPr lang="en-US" b="1" dirty="0"/>
                <a:t>2</a:t>
              </a:r>
            </a:p>
          </p:txBody>
        </p:sp>
        <p:sp>
          <p:nvSpPr>
            <p:cNvPr id="34849" name="Text Box 27">
              <a:extLst>
                <a:ext uri="{FF2B5EF4-FFF2-40B4-BE49-F238E27FC236}">
                  <a16:creationId xmlns:a16="http://schemas.microsoft.com/office/drawing/2014/main" id="{91DE7477-7FF9-11A6-B571-1B043EFA3CC2}"/>
                </a:ext>
              </a:extLst>
            </p:cNvPr>
            <p:cNvSpPr txBox="1">
              <a:spLocks noChangeArrowheads="1"/>
            </p:cNvSpPr>
            <p:nvPr>
              <p:custDataLst>
                <p:tags r:id="rId4"/>
              </p:custDataLst>
            </p:nvPr>
          </p:nvSpPr>
          <p:spPr bwMode="auto">
            <a:xfrm>
              <a:off x="1995001" y="3407085"/>
              <a:ext cx="306494" cy="369332"/>
            </a:xfrm>
            <a:prstGeom prst="rect">
              <a:avLst/>
            </a:prstGeom>
            <a:noFill/>
            <a:ln w="9525">
              <a:noFill/>
              <a:miter lim="800000"/>
              <a:headEnd/>
              <a:tailEnd/>
            </a:ln>
          </p:spPr>
          <p:txBody>
            <a:bodyPr wrap="none">
              <a:spAutoFit/>
            </a:bodyPr>
            <a:lstStyle/>
            <a:p>
              <a:r>
                <a:rPr lang="en-US" b="1" dirty="0"/>
                <a:t>1</a:t>
              </a:r>
            </a:p>
          </p:txBody>
        </p:sp>
        <p:sp>
          <p:nvSpPr>
            <p:cNvPr id="34850" name="Text Box 27">
              <a:extLst>
                <a:ext uri="{FF2B5EF4-FFF2-40B4-BE49-F238E27FC236}">
                  <a16:creationId xmlns:a16="http://schemas.microsoft.com/office/drawing/2014/main" id="{555A2DCF-5762-7446-16E3-C0A8D949EBC9}"/>
                </a:ext>
              </a:extLst>
            </p:cNvPr>
            <p:cNvSpPr txBox="1">
              <a:spLocks noChangeArrowheads="1"/>
            </p:cNvSpPr>
            <p:nvPr>
              <p:custDataLst>
                <p:tags r:id="rId5"/>
              </p:custDataLst>
            </p:nvPr>
          </p:nvSpPr>
          <p:spPr bwMode="auto">
            <a:xfrm>
              <a:off x="2347480" y="2790509"/>
              <a:ext cx="336550" cy="457200"/>
            </a:xfrm>
            <a:prstGeom prst="rect">
              <a:avLst/>
            </a:prstGeom>
            <a:noFill/>
            <a:ln w="9525">
              <a:noFill/>
              <a:miter lim="800000"/>
              <a:headEnd/>
              <a:tailEnd/>
            </a:ln>
          </p:spPr>
          <p:txBody>
            <a:bodyPr wrap="none">
              <a:spAutoFit/>
            </a:bodyPr>
            <a:lstStyle/>
            <a:p>
              <a:r>
                <a:rPr lang="en-US" b="1" dirty="0"/>
                <a:t>2</a:t>
              </a:r>
            </a:p>
          </p:txBody>
        </p:sp>
        <p:sp>
          <p:nvSpPr>
            <p:cNvPr id="34851" name="Text Box 27">
              <a:extLst>
                <a:ext uri="{FF2B5EF4-FFF2-40B4-BE49-F238E27FC236}">
                  <a16:creationId xmlns:a16="http://schemas.microsoft.com/office/drawing/2014/main" id="{A64102C1-9617-49C1-E6C0-DB962C8FFDF1}"/>
                </a:ext>
              </a:extLst>
            </p:cNvPr>
            <p:cNvSpPr txBox="1">
              <a:spLocks noChangeArrowheads="1"/>
            </p:cNvSpPr>
            <p:nvPr>
              <p:custDataLst>
                <p:tags r:id="rId6"/>
              </p:custDataLst>
            </p:nvPr>
          </p:nvSpPr>
          <p:spPr bwMode="auto">
            <a:xfrm>
              <a:off x="1506846" y="3918859"/>
              <a:ext cx="306494" cy="369332"/>
            </a:xfrm>
            <a:prstGeom prst="rect">
              <a:avLst/>
            </a:prstGeom>
            <a:noFill/>
            <a:ln w="9525">
              <a:noFill/>
              <a:miter lim="800000"/>
              <a:headEnd/>
              <a:tailEnd/>
            </a:ln>
          </p:spPr>
          <p:txBody>
            <a:bodyPr wrap="none">
              <a:spAutoFit/>
            </a:bodyPr>
            <a:lstStyle/>
            <a:p>
              <a:r>
                <a:rPr lang="en-US" b="1" dirty="0"/>
                <a:t>1</a:t>
              </a:r>
            </a:p>
          </p:txBody>
        </p:sp>
        <p:sp>
          <p:nvSpPr>
            <p:cNvPr id="34852" name="Text Box 27">
              <a:extLst>
                <a:ext uri="{FF2B5EF4-FFF2-40B4-BE49-F238E27FC236}">
                  <a16:creationId xmlns:a16="http://schemas.microsoft.com/office/drawing/2014/main" id="{8606BD8A-0578-A48B-4D1A-5D452D370D6B}"/>
                </a:ext>
              </a:extLst>
            </p:cNvPr>
            <p:cNvSpPr txBox="1">
              <a:spLocks noChangeArrowheads="1"/>
            </p:cNvSpPr>
            <p:nvPr>
              <p:custDataLst>
                <p:tags r:id="rId7"/>
              </p:custDataLst>
            </p:nvPr>
          </p:nvSpPr>
          <p:spPr bwMode="auto">
            <a:xfrm>
              <a:off x="3965197" y="3390405"/>
              <a:ext cx="306494" cy="369332"/>
            </a:xfrm>
            <a:prstGeom prst="rect">
              <a:avLst/>
            </a:prstGeom>
            <a:noFill/>
            <a:ln w="9525">
              <a:noFill/>
              <a:miter lim="800000"/>
              <a:headEnd/>
              <a:tailEnd/>
            </a:ln>
          </p:spPr>
          <p:txBody>
            <a:bodyPr wrap="none">
              <a:spAutoFit/>
            </a:bodyPr>
            <a:lstStyle/>
            <a:p>
              <a:r>
                <a:rPr lang="en-US" b="1" dirty="0"/>
                <a:t>1</a:t>
              </a:r>
            </a:p>
          </p:txBody>
        </p:sp>
        <p:sp>
          <p:nvSpPr>
            <p:cNvPr id="34853" name="Text Box 27">
              <a:extLst>
                <a:ext uri="{FF2B5EF4-FFF2-40B4-BE49-F238E27FC236}">
                  <a16:creationId xmlns:a16="http://schemas.microsoft.com/office/drawing/2014/main" id="{649113F6-2FFD-64B0-8880-C1CBE4EDF3B7}"/>
                </a:ext>
              </a:extLst>
            </p:cNvPr>
            <p:cNvSpPr txBox="1">
              <a:spLocks noChangeArrowheads="1"/>
            </p:cNvSpPr>
            <p:nvPr>
              <p:custDataLst>
                <p:tags r:id="rId8"/>
              </p:custDataLst>
            </p:nvPr>
          </p:nvSpPr>
          <p:spPr bwMode="auto">
            <a:xfrm>
              <a:off x="3265700" y="3893270"/>
              <a:ext cx="306494" cy="369332"/>
            </a:xfrm>
            <a:prstGeom prst="rect">
              <a:avLst/>
            </a:prstGeom>
            <a:noFill/>
            <a:ln w="9525">
              <a:noFill/>
              <a:miter lim="800000"/>
              <a:headEnd/>
              <a:tailEnd/>
            </a:ln>
          </p:spPr>
          <p:txBody>
            <a:bodyPr wrap="none">
              <a:spAutoFit/>
            </a:bodyPr>
            <a:lstStyle/>
            <a:p>
              <a:r>
                <a:rPr lang="en-US" b="1" dirty="0"/>
                <a:t>1</a:t>
              </a:r>
            </a:p>
          </p:txBody>
        </p:sp>
        <p:sp>
          <p:nvSpPr>
            <p:cNvPr id="34854" name="Text Box 27">
              <a:extLst>
                <a:ext uri="{FF2B5EF4-FFF2-40B4-BE49-F238E27FC236}">
                  <a16:creationId xmlns:a16="http://schemas.microsoft.com/office/drawing/2014/main" id="{00D0EEEE-BE24-80D3-1985-2C9AB6C9E133}"/>
                </a:ext>
              </a:extLst>
            </p:cNvPr>
            <p:cNvSpPr txBox="1">
              <a:spLocks noChangeArrowheads="1"/>
            </p:cNvSpPr>
            <p:nvPr>
              <p:custDataLst>
                <p:tags r:id="rId9"/>
              </p:custDataLst>
            </p:nvPr>
          </p:nvSpPr>
          <p:spPr bwMode="auto">
            <a:xfrm>
              <a:off x="1061553" y="4762184"/>
              <a:ext cx="336550" cy="457200"/>
            </a:xfrm>
            <a:prstGeom prst="rect">
              <a:avLst/>
            </a:prstGeom>
            <a:noFill/>
            <a:ln w="9525">
              <a:noFill/>
              <a:miter lim="800000"/>
              <a:headEnd/>
              <a:tailEnd/>
            </a:ln>
          </p:spPr>
          <p:txBody>
            <a:bodyPr wrap="none">
              <a:spAutoFit/>
            </a:bodyPr>
            <a:lstStyle/>
            <a:p>
              <a:r>
                <a:rPr lang="en-US" b="1" dirty="0"/>
                <a:t>2</a:t>
              </a:r>
            </a:p>
          </p:txBody>
        </p:sp>
        <p:sp>
          <p:nvSpPr>
            <p:cNvPr id="34855" name="Text Box 27">
              <a:extLst>
                <a:ext uri="{FF2B5EF4-FFF2-40B4-BE49-F238E27FC236}">
                  <a16:creationId xmlns:a16="http://schemas.microsoft.com/office/drawing/2014/main" id="{769E1536-A596-0487-86B5-BE074566BAB4}"/>
                </a:ext>
              </a:extLst>
            </p:cNvPr>
            <p:cNvSpPr txBox="1">
              <a:spLocks noChangeArrowheads="1"/>
            </p:cNvSpPr>
            <p:nvPr>
              <p:custDataLst>
                <p:tags r:id="rId10"/>
              </p:custDataLst>
            </p:nvPr>
          </p:nvSpPr>
          <p:spPr bwMode="auto">
            <a:xfrm>
              <a:off x="1862021" y="4552634"/>
              <a:ext cx="306494" cy="369332"/>
            </a:xfrm>
            <a:prstGeom prst="rect">
              <a:avLst/>
            </a:prstGeom>
            <a:noFill/>
            <a:ln w="9525">
              <a:noFill/>
              <a:miter lim="800000"/>
              <a:headEnd/>
              <a:tailEnd/>
            </a:ln>
          </p:spPr>
          <p:txBody>
            <a:bodyPr wrap="none">
              <a:spAutoFit/>
            </a:bodyPr>
            <a:lstStyle/>
            <a:p>
              <a:r>
                <a:rPr lang="en-US" b="1" dirty="0"/>
                <a:t>6</a:t>
              </a:r>
            </a:p>
          </p:txBody>
        </p:sp>
        <p:sp>
          <p:nvSpPr>
            <p:cNvPr id="34856" name="Text Box 27">
              <a:extLst>
                <a:ext uri="{FF2B5EF4-FFF2-40B4-BE49-F238E27FC236}">
                  <a16:creationId xmlns:a16="http://schemas.microsoft.com/office/drawing/2014/main" id="{D54F3050-60AD-CCEE-8112-9F6C1E5D25CB}"/>
                </a:ext>
              </a:extLst>
            </p:cNvPr>
            <p:cNvSpPr txBox="1">
              <a:spLocks noChangeArrowheads="1"/>
            </p:cNvSpPr>
            <p:nvPr>
              <p:custDataLst>
                <p:tags r:id="rId11"/>
              </p:custDataLst>
            </p:nvPr>
          </p:nvSpPr>
          <p:spPr bwMode="auto">
            <a:xfrm>
              <a:off x="3040016" y="4565174"/>
              <a:ext cx="306494" cy="369332"/>
            </a:xfrm>
            <a:prstGeom prst="rect">
              <a:avLst/>
            </a:prstGeom>
            <a:noFill/>
            <a:ln w="9525">
              <a:noFill/>
              <a:miter lim="800000"/>
              <a:headEnd/>
              <a:tailEnd/>
            </a:ln>
          </p:spPr>
          <p:txBody>
            <a:bodyPr wrap="none">
              <a:spAutoFit/>
            </a:bodyPr>
            <a:lstStyle/>
            <a:p>
              <a:r>
                <a:rPr lang="en-US" b="1" dirty="0"/>
                <a:t>5</a:t>
              </a:r>
            </a:p>
          </p:txBody>
        </p:sp>
        <p:sp>
          <p:nvSpPr>
            <p:cNvPr id="34857" name="Text Box 27">
              <a:extLst>
                <a:ext uri="{FF2B5EF4-FFF2-40B4-BE49-F238E27FC236}">
                  <a16:creationId xmlns:a16="http://schemas.microsoft.com/office/drawing/2014/main" id="{7A50F844-A6D7-D5AD-0FCD-EA870418658F}"/>
                </a:ext>
              </a:extLst>
            </p:cNvPr>
            <p:cNvSpPr txBox="1">
              <a:spLocks noChangeArrowheads="1"/>
            </p:cNvSpPr>
            <p:nvPr>
              <p:custDataLst>
                <p:tags r:id="rId12"/>
              </p:custDataLst>
            </p:nvPr>
          </p:nvSpPr>
          <p:spPr bwMode="auto">
            <a:xfrm>
              <a:off x="4015110" y="4879659"/>
              <a:ext cx="306494" cy="369332"/>
            </a:xfrm>
            <a:prstGeom prst="rect">
              <a:avLst/>
            </a:prstGeom>
            <a:noFill/>
            <a:ln w="9525">
              <a:noFill/>
              <a:miter lim="800000"/>
              <a:headEnd/>
              <a:tailEnd/>
            </a:ln>
          </p:spPr>
          <p:txBody>
            <a:bodyPr wrap="none">
              <a:spAutoFit/>
            </a:bodyPr>
            <a:lstStyle/>
            <a:p>
              <a:r>
                <a:rPr lang="en-US" b="1" dirty="0"/>
                <a:t>3</a:t>
              </a:r>
            </a:p>
          </p:txBody>
        </p:sp>
        <p:sp>
          <p:nvSpPr>
            <p:cNvPr id="34858" name="Text Box 27">
              <a:extLst>
                <a:ext uri="{FF2B5EF4-FFF2-40B4-BE49-F238E27FC236}">
                  <a16:creationId xmlns:a16="http://schemas.microsoft.com/office/drawing/2014/main" id="{3B7D973A-6F6B-6C1F-5CAF-1DFB9C63630C}"/>
                </a:ext>
              </a:extLst>
            </p:cNvPr>
            <p:cNvSpPr txBox="1">
              <a:spLocks noChangeArrowheads="1"/>
            </p:cNvSpPr>
            <p:nvPr>
              <p:custDataLst>
                <p:tags r:id="rId13"/>
              </p:custDataLst>
            </p:nvPr>
          </p:nvSpPr>
          <p:spPr bwMode="auto">
            <a:xfrm>
              <a:off x="2567493" y="5248327"/>
              <a:ext cx="428322" cy="369332"/>
            </a:xfrm>
            <a:prstGeom prst="rect">
              <a:avLst/>
            </a:prstGeom>
            <a:noFill/>
            <a:ln w="9525">
              <a:noFill/>
              <a:miter lim="800000"/>
              <a:headEnd/>
              <a:tailEnd/>
            </a:ln>
          </p:spPr>
          <p:txBody>
            <a:bodyPr wrap="none">
              <a:spAutoFit/>
            </a:bodyPr>
            <a:lstStyle/>
            <a:p>
              <a:r>
                <a:rPr lang="en-US" b="1" dirty="0"/>
                <a:t>10</a:t>
              </a:r>
            </a:p>
          </p:txBody>
        </p:sp>
        <p:sp>
          <p:nvSpPr>
            <p:cNvPr id="34859" name="Text Box 27">
              <a:extLst>
                <a:ext uri="{FF2B5EF4-FFF2-40B4-BE49-F238E27FC236}">
                  <a16:creationId xmlns:a16="http://schemas.microsoft.com/office/drawing/2014/main" id="{CA529678-4BEC-AB64-337F-659625479C0E}"/>
                </a:ext>
              </a:extLst>
            </p:cNvPr>
            <p:cNvSpPr txBox="1">
              <a:spLocks noChangeArrowheads="1"/>
            </p:cNvSpPr>
            <p:nvPr>
              <p:custDataLst>
                <p:tags r:id="rId14"/>
              </p:custDataLst>
            </p:nvPr>
          </p:nvSpPr>
          <p:spPr bwMode="auto">
            <a:xfrm>
              <a:off x="2731071" y="3390405"/>
              <a:ext cx="306494" cy="369332"/>
            </a:xfrm>
            <a:prstGeom prst="rect">
              <a:avLst/>
            </a:prstGeom>
            <a:noFill/>
            <a:ln w="9525">
              <a:noFill/>
              <a:miter lim="800000"/>
              <a:headEnd/>
              <a:tailEnd/>
            </a:ln>
          </p:spPr>
          <p:txBody>
            <a:bodyPr wrap="square">
              <a:spAutoFit/>
            </a:bodyPr>
            <a:lstStyle/>
            <a:p>
              <a:r>
                <a:rPr lang="en-US" b="1" dirty="0"/>
                <a:t>5</a:t>
              </a:r>
            </a:p>
          </p:txBody>
        </p:sp>
      </p:grpSp>
      <p:cxnSp>
        <p:nvCxnSpPr>
          <p:cNvPr id="34863" name="Straight Connector 34862">
            <a:extLst>
              <a:ext uri="{FF2B5EF4-FFF2-40B4-BE49-F238E27FC236}">
                <a16:creationId xmlns:a16="http://schemas.microsoft.com/office/drawing/2014/main" id="{9B321360-852A-67A2-A66A-1902A1A6C76E}"/>
              </a:ext>
            </a:extLst>
          </p:cNvPr>
          <p:cNvCxnSpPr/>
          <p:nvPr/>
        </p:nvCxnSpPr>
        <p:spPr>
          <a:xfrm>
            <a:off x="7351743" y="4361768"/>
            <a:ext cx="1384663" cy="62701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4864" name="TextBox 34863">
            <a:extLst>
              <a:ext uri="{FF2B5EF4-FFF2-40B4-BE49-F238E27FC236}">
                <a16:creationId xmlns:a16="http://schemas.microsoft.com/office/drawing/2014/main" id="{67BC3BEA-401A-5CBE-6B5A-7BD7380974F8}"/>
              </a:ext>
            </a:extLst>
          </p:cNvPr>
          <p:cNvSpPr txBox="1"/>
          <p:nvPr/>
        </p:nvSpPr>
        <p:spPr>
          <a:xfrm>
            <a:off x="8813075" y="4807615"/>
            <a:ext cx="2534194" cy="923330"/>
          </a:xfrm>
          <a:prstGeom prst="rect">
            <a:avLst/>
          </a:prstGeom>
          <a:noFill/>
        </p:spPr>
        <p:txBody>
          <a:bodyPr wrap="square" rtlCol="0">
            <a:spAutoFit/>
          </a:bodyPr>
          <a:lstStyle/>
          <a:p>
            <a:r>
              <a:rPr lang="en-US" dirty="0"/>
              <a:t>What is the shortest path from node 0 to node 6 in this graph?</a:t>
            </a:r>
          </a:p>
        </p:txBody>
      </p:sp>
    </p:spTree>
    <p:extLst>
      <p:ext uri="{BB962C8B-B14F-4D97-AF65-F5344CB8AC3E}">
        <p14:creationId xmlns:p14="http://schemas.microsoft.com/office/powerpoint/2010/main" val="13668669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AA570-BFAA-57F1-3D51-4952CD82C98C}"/>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1E50F822-D0FB-6E3B-294E-0D48D6620F42}"/>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Dijkstra’s Algorithm</a:t>
            </a:r>
          </a:p>
        </p:txBody>
      </p:sp>
      <p:sp>
        <p:nvSpPr>
          <p:cNvPr id="2" name="Rectangle 3">
            <a:extLst>
              <a:ext uri="{FF2B5EF4-FFF2-40B4-BE49-F238E27FC236}">
                <a16:creationId xmlns:a16="http://schemas.microsoft.com/office/drawing/2014/main" id="{8C109E4C-803D-8ECA-42BF-37CE57147EF0}"/>
              </a:ext>
            </a:extLst>
          </p:cNvPr>
          <p:cNvSpPr txBox="1">
            <a:spLocks noChangeArrowheads="1"/>
          </p:cNvSpPr>
          <p:nvPr>
            <p:custDataLst>
              <p:tags r:id="rId2"/>
            </p:custDataLst>
          </p:nvPr>
        </p:nvSpPr>
        <p:spPr>
          <a:xfrm>
            <a:off x="1082673" y="1141323"/>
            <a:ext cx="9905999" cy="1041401"/>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Key Idea</a:t>
            </a:r>
            <a:r>
              <a:rPr lang="en-US" b="1" dirty="0">
                <a:solidFill>
                  <a:schemeClr val="bg1"/>
                </a:solidFill>
              </a:rPr>
              <a:t>: </a:t>
            </a:r>
            <a:r>
              <a:rPr lang="en-US" dirty="0">
                <a:solidFill>
                  <a:schemeClr val="bg1"/>
                </a:solidFill>
              </a:rPr>
              <a:t>Maintain three groups of nodes. </a:t>
            </a:r>
            <a:r>
              <a:rPr lang="en-US" b="1" i="1" dirty="0">
                <a:solidFill>
                  <a:schemeClr val="bg1"/>
                </a:solidFill>
              </a:rPr>
              <a:t>Known </a:t>
            </a:r>
            <a:r>
              <a:rPr lang="en-US" dirty="0">
                <a:solidFill>
                  <a:schemeClr val="bg1"/>
                </a:solidFill>
              </a:rPr>
              <a:t>nodes, </a:t>
            </a:r>
            <a:r>
              <a:rPr lang="en-US" b="1" i="1" dirty="0">
                <a:solidFill>
                  <a:schemeClr val="bg1"/>
                </a:solidFill>
              </a:rPr>
              <a:t>fringe</a:t>
            </a:r>
            <a:r>
              <a:rPr lang="en-US" dirty="0">
                <a:solidFill>
                  <a:schemeClr val="bg1"/>
                </a:solidFill>
              </a:rPr>
              <a:t> nodes, and </a:t>
            </a:r>
            <a:r>
              <a:rPr lang="en-US" b="1" i="1" dirty="0">
                <a:solidFill>
                  <a:schemeClr val="bg1"/>
                </a:solidFill>
              </a:rPr>
              <a:t>unknown</a:t>
            </a:r>
            <a:r>
              <a:rPr lang="en-US" dirty="0">
                <a:solidFill>
                  <a:schemeClr val="bg1"/>
                </a:solidFill>
              </a:rPr>
              <a:t> nodes.</a:t>
            </a:r>
          </a:p>
        </p:txBody>
      </p:sp>
      <p:grpSp>
        <p:nvGrpSpPr>
          <p:cNvPr id="28" name="Group 27">
            <a:extLst>
              <a:ext uri="{FF2B5EF4-FFF2-40B4-BE49-F238E27FC236}">
                <a16:creationId xmlns:a16="http://schemas.microsoft.com/office/drawing/2014/main" id="{D7F106DF-362E-6909-7954-8608C812DACD}"/>
              </a:ext>
            </a:extLst>
          </p:cNvPr>
          <p:cNvGrpSpPr/>
          <p:nvPr/>
        </p:nvGrpSpPr>
        <p:grpSpPr>
          <a:xfrm>
            <a:off x="1792437" y="2478133"/>
            <a:ext cx="7317828" cy="2872614"/>
            <a:chOff x="1105989" y="3139984"/>
            <a:chExt cx="7317828" cy="2872614"/>
          </a:xfrm>
        </p:grpSpPr>
        <p:sp>
          <p:nvSpPr>
            <p:cNvPr id="6" name="Freeform 5">
              <a:extLst>
                <a:ext uri="{FF2B5EF4-FFF2-40B4-BE49-F238E27FC236}">
                  <a16:creationId xmlns:a16="http://schemas.microsoft.com/office/drawing/2014/main" id="{4C32F0ED-A28E-7FC6-C74E-849BAC7F2FD9}"/>
                </a:ext>
              </a:extLst>
            </p:cNvPr>
            <p:cNvSpPr/>
            <p:nvPr/>
          </p:nvSpPr>
          <p:spPr>
            <a:xfrm>
              <a:off x="1105989" y="3139984"/>
              <a:ext cx="4667794"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00C7C9A5-CFDA-167E-82C3-3D54DF4EF5F1}"/>
                </a:ext>
              </a:extLst>
            </p:cNvPr>
            <p:cNvSpPr/>
            <p:nvPr/>
          </p:nvSpPr>
          <p:spPr>
            <a:xfrm>
              <a:off x="1341120" y="3927566"/>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7" name="Oval 6">
              <a:extLst>
                <a:ext uri="{FF2B5EF4-FFF2-40B4-BE49-F238E27FC236}">
                  <a16:creationId xmlns:a16="http://schemas.microsoft.com/office/drawing/2014/main" id="{BC41DA0C-27CF-E791-0E6E-23DF72DC533E}"/>
                </a:ext>
              </a:extLst>
            </p:cNvPr>
            <p:cNvSpPr/>
            <p:nvPr/>
          </p:nvSpPr>
          <p:spPr>
            <a:xfrm>
              <a:off x="4802777" y="3848517"/>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Oval 7">
              <a:extLst>
                <a:ext uri="{FF2B5EF4-FFF2-40B4-BE49-F238E27FC236}">
                  <a16:creationId xmlns:a16="http://schemas.microsoft.com/office/drawing/2014/main" id="{44F7B8EF-211A-A108-B313-539C027BEBA2}"/>
                </a:ext>
              </a:extLst>
            </p:cNvPr>
            <p:cNvSpPr/>
            <p:nvPr/>
          </p:nvSpPr>
          <p:spPr>
            <a:xfrm>
              <a:off x="4998561" y="4526280"/>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Oval 8">
              <a:extLst>
                <a:ext uri="{FF2B5EF4-FFF2-40B4-BE49-F238E27FC236}">
                  <a16:creationId xmlns:a16="http://schemas.microsoft.com/office/drawing/2014/main" id="{956A70D0-FCC8-4C66-A45F-9A0EA948126E}"/>
                </a:ext>
              </a:extLst>
            </p:cNvPr>
            <p:cNvSpPr/>
            <p:nvPr/>
          </p:nvSpPr>
          <p:spPr>
            <a:xfrm>
              <a:off x="4411801" y="5100013"/>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81584E3E-1655-93A4-B0B2-C09A2A827792}"/>
                </a:ext>
              </a:extLst>
            </p:cNvPr>
            <p:cNvSpPr/>
            <p:nvPr/>
          </p:nvSpPr>
          <p:spPr>
            <a:xfrm>
              <a:off x="3013166" y="4005943"/>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Oval 10">
              <a:extLst>
                <a:ext uri="{FF2B5EF4-FFF2-40B4-BE49-F238E27FC236}">
                  <a16:creationId xmlns:a16="http://schemas.microsoft.com/office/drawing/2014/main" id="{070F13FE-FBF3-C9C2-CACF-FF7C953BE910}"/>
                </a:ext>
              </a:extLst>
            </p:cNvPr>
            <p:cNvSpPr/>
            <p:nvPr/>
          </p:nvSpPr>
          <p:spPr>
            <a:xfrm>
              <a:off x="2665733" y="4926330"/>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3" name="Oval 12">
              <a:extLst>
                <a:ext uri="{FF2B5EF4-FFF2-40B4-BE49-F238E27FC236}">
                  <a16:creationId xmlns:a16="http://schemas.microsoft.com/office/drawing/2014/main" id="{D875E064-33ED-7159-5CF0-FF495208908B}"/>
                </a:ext>
              </a:extLst>
            </p:cNvPr>
            <p:cNvSpPr/>
            <p:nvPr/>
          </p:nvSpPr>
          <p:spPr>
            <a:xfrm>
              <a:off x="5969726" y="3692435"/>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Oval 13">
              <a:extLst>
                <a:ext uri="{FF2B5EF4-FFF2-40B4-BE49-F238E27FC236}">
                  <a16:creationId xmlns:a16="http://schemas.microsoft.com/office/drawing/2014/main" id="{865C1A55-C87B-EC41-2108-ECF68B33C2AC}"/>
                </a:ext>
              </a:extLst>
            </p:cNvPr>
            <p:cNvSpPr/>
            <p:nvPr/>
          </p:nvSpPr>
          <p:spPr>
            <a:xfrm>
              <a:off x="5988523" y="4463143"/>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Oval 14">
              <a:extLst>
                <a:ext uri="{FF2B5EF4-FFF2-40B4-BE49-F238E27FC236}">
                  <a16:creationId xmlns:a16="http://schemas.microsoft.com/office/drawing/2014/main" id="{30AA9BB2-6B85-5E14-E31F-41045F2BFE0E}"/>
                </a:ext>
              </a:extLst>
            </p:cNvPr>
            <p:cNvSpPr/>
            <p:nvPr/>
          </p:nvSpPr>
          <p:spPr>
            <a:xfrm>
              <a:off x="5814694" y="5260044"/>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7" name="Straight Connector 16">
              <a:extLst>
                <a:ext uri="{FF2B5EF4-FFF2-40B4-BE49-F238E27FC236}">
                  <a16:creationId xmlns:a16="http://schemas.microsoft.com/office/drawing/2014/main" id="{B4F4BBC1-47F1-161F-69C8-F95D97A6F1E2}"/>
                </a:ext>
              </a:extLst>
            </p:cNvPr>
            <p:cNvCxnSpPr>
              <a:stCxn id="7" idx="6"/>
              <a:endCxn id="13" idx="2"/>
            </p:cNvCxnSpPr>
            <p:nvPr/>
          </p:nvCxnSpPr>
          <p:spPr>
            <a:xfrm flipV="1">
              <a:off x="5229497" y="3905795"/>
              <a:ext cx="740229" cy="156082"/>
            </a:xfrm>
            <a:prstGeom prst="line">
              <a:avLst/>
            </a:prstGeom>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04FB5D79-EACC-0CD4-2C50-97574AFAA71A}"/>
                </a:ext>
              </a:extLst>
            </p:cNvPr>
            <p:cNvCxnSpPr>
              <a:cxnSpLocks/>
              <a:stCxn id="8" idx="6"/>
              <a:endCxn id="14" idx="2"/>
            </p:cNvCxnSpPr>
            <p:nvPr/>
          </p:nvCxnSpPr>
          <p:spPr>
            <a:xfrm flipV="1">
              <a:off x="5425281" y="4676503"/>
              <a:ext cx="563242" cy="63137"/>
            </a:xfrm>
            <a:prstGeom prst="line">
              <a:avLst/>
            </a:prstGeom>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7A3F40E0-EBD2-0A60-7A23-28017BF9F41A}"/>
                </a:ext>
              </a:extLst>
            </p:cNvPr>
            <p:cNvCxnSpPr>
              <a:cxnSpLocks/>
              <a:stCxn id="9" idx="6"/>
              <a:endCxn id="15" idx="2"/>
            </p:cNvCxnSpPr>
            <p:nvPr/>
          </p:nvCxnSpPr>
          <p:spPr>
            <a:xfrm>
              <a:off x="4838521" y="5313373"/>
              <a:ext cx="976173" cy="160031"/>
            </a:xfrm>
            <a:prstGeom prst="line">
              <a:avLst/>
            </a:prstGeom>
          </p:spPr>
          <p:style>
            <a:lnRef idx="1">
              <a:schemeClr val="accent2"/>
            </a:lnRef>
            <a:fillRef idx="0">
              <a:schemeClr val="accent2"/>
            </a:fillRef>
            <a:effectRef idx="0">
              <a:schemeClr val="accent2"/>
            </a:effectRef>
            <a:fontRef idx="minor">
              <a:schemeClr val="tx1"/>
            </a:fontRef>
          </p:style>
        </p:cxnSp>
        <p:sp>
          <p:nvSpPr>
            <p:cNvPr id="24" name="Oval 23">
              <a:extLst>
                <a:ext uri="{FF2B5EF4-FFF2-40B4-BE49-F238E27FC236}">
                  <a16:creationId xmlns:a16="http://schemas.microsoft.com/office/drawing/2014/main" id="{19C1EA21-69B3-E0B2-23F6-4F8162A0D977}"/>
                </a:ext>
              </a:extLst>
            </p:cNvPr>
            <p:cNvSpPr/>
            <p:nvPr/>
          </p:nvSpPr>
          <p:spPr>
            <a:xfrm>
              <a:off x="7037830" y="3407835"/>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5" name="Oval 24">
              <a:extLst>
                <a:ext uri="{FF2B5EF4-FFF2-40B4-BE49-F238E27FC236}">
                  <a16:creationId xmlns:a16="http://schemas.microsoft.com/office/drawing/2014/main" id="{F8532FD4-0BA1-F50F-59A8-A4BC5AFB6CD9}"/>
                </a:ext>
              </a:extLst>
            </p:cNvPr>
            <p:cNvSpPr/>
            <p:nvPr/>
          </p:nvSpPr>
          <p:spPr>
            <a:xfrm>
              <a:off x="6912428" y="4560507"/>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6" name="Oval 25">
              <a:extLst>
                <a:ext uri="{FF2B5EF4-FFF2-40B4-BE49-F238E27FC236}">
                  <a16:creationId xmlns:a16="http://schemas.microsoft.com/office/drawing/2014/main" id="{8C0D8737-3D09-9C6A-F778-5AEBABD50323}"/>
                </a:ext>
              </a:extLst>
            </p:cNvPr>
            <p:cNvSpPr/>
            <p:nvPr/>
          </p:nvSpPr>
          <p:spPr>
            <a:xfrm>
              <a:off x="7805351" y="4576291"/>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Oval 26">
              <a:extLst>
                <a:ext uri="{FF2B5EF4-FFF2-40B4-BE49-F238E27FC236}">
                  <a16:creationId xmlns:a16="http://schemas.microsoft.com/office/drawing/2014/main" id="{CCFB6BF6-848C-018F-7EA6-3C958049F1F6}"/>
                </a:ext>
              </a:extLst>
            </p:cNvPr>
            <p:cNvSpPr/>
            <p:nvPr/>
          </p:nvSpPr>
          <p:spPr>
            <a:xfrm>
              <a:off x="7997097" y="3770476"/>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sp>
        <p:nvSpPr>
          <p:cNvPr id="29" name="TextBox 28">
            <a:extLst>
              <a:ext uri="{FF2B5EF4-FFF2-40B4-BE49-F238E27FC236}">
                <a16:creationId xmlns:a16="http://schemas.microsoft.com/office/drawing/2014/main" id="{174FA6D3-A702-3313-C547-FCA3E8667ED5}"/>
              </a:ext>
            </a:extLst>
          </p:cNvPr>
          <p:cNvSpPr txBox="1"/>
          <p:nvPr/>
        </p:nvSpPr>
        <p:spPr>
          <a:xfrm>
            <a:off x="1330149" y="5441353"/>
            <a:ext cx="4470783" cy="923330"/>
          </a:xfrm>
          <a:prstGeom prst="rect">
            <a:avLst/>
          </a:prstGeom>
          <a:noFill/>
          <a:ln>
            <a:solidFill>
              <a:schemeClr val="accent2"/>
            </a:solidFill>
          </a:ln>
        </p:spPr>
        <p:txBody>
          <a:bodyPr wrap="square" rtlCol="0">
            <a:spAutoFit/>
          </a:bodyPr>
          <a:lstStyle/>
          <a:p>
            <a:r>
              <a:rPr lang="en-US" b="1" i="1" u="sng" dirty="0"/>
              <a:t>Known nodes</a:t>
            </a:r>
            <a:r>
              <a:rPr lang="en-US" i="1" dirty="0"/>
              <a:t> already have their shortest path fully calculated and will never change! This will start as just node s and grow one node at a time</a:t>
            </a:r>
          </a:p>
        </p:txBody>
      </p:sp>
      <p:sp>
        <p:nvSpPr>
          <p:cNvPr id="30" name="TextBox 29">
            <a:extLst>
              <a:ext uri="{FF2B5EF4-FFF2-40B4-BE49-F238E27FC236}">
                <a16:creationId xmlns:a16="http://schemas.microsoft.com/office/drawing/2014/main" id="{D10CB207-5311-862C-AA6A-44C50310009E}"/>
              </a:ext>
            </a:extLst>
          </p:cNvPr>
          <p:cNvSpPr txBox="1"/>
          <p:nvPr/>
        </p:nvSpPr>
        <p:spPr>
          <a:xfrm>
            <a:off x="6785114" y="5131135"/>
            <a:ext cx="3154191" cy="1477328"/>
          </a:xfrm>
          <a:prstGeom prst="rect">
            <a:avLst/>
          </a:prstGeom>
          <a:noFill/>
          <a:ln>
            <a:solidFill>
              <a:schemeClr val="accent3"/>
            </a:solidFill>
          </a:ln>
        </p:spPr>
        <p:txBody>
          <a:bodyPr wrap="square" rtlCol="0">
            <a:spAutoFit/>
          </a:bodyPr>
          <a:lstStyle/>
          <a:p>
            <a:r>
              <a:rPr lang="en-US" i="1" dirty="0"/>
              <a:t>Fringe nodes are reachable via one edge from a known node. They have a possible path cost calculated but it isn’t necessarily the best one (yet)</a:t>
            </a:r>
          </a:p>
        </p:txBody>
      </p:sp>
      <p:sp>
        <p:nvSpPr>
          <p:cNvPr id="31" name="TextBox 30">
            <a:extLst>
              <a:ext uri="{FF2B5EF4-FFF2-40B4-BE49-F238E27FC236}">
                <a16:creationId xmlns:a16="http://schemas.microsoft.com/office/drawing/2014/main" id="{5C976031-5ED8-69B0-0854-E96507FE935F}"/>
              </a:ext>
            </a:extLst>
          </p:cNvPr>
          <p:cNvSpPr txBox="1"/>
          <p:nvPr/>
        </p:nvSpPr>
        <p:spPr>
          <a:xfrm>
            <a:off x="9536985" y="2861174"/>
            <a:ext cx="2239409" cy="1477328"/>
          </a:xfrm>
          <a:prstGeom prst="rect">
            <a:avLst/>
          </a:prstGeom>
          <a:noFill/>
          <a:ln>
            <a:solidFill>
              <a:schemeClr val="accent4"/>
            </a:solidFill>
          </a:ln>
        </p:spPr>
        <p:txBody>
          <a:bodyPr wrap="square" rtlCol="0">
            <a:spAutoFit/>
          </a:bodyPr>
          <a:lstStyle/>
          <a:p>
            <a:r>
              <a:rPr lang="en-US" i="1" dirty="0"/>
              <a:t>Unknown nodes have not been seen by the algorithm yet. They will become fringe, and then known eventually</a:t>
            </a:r>
          </a:p>
        </p:txBody>
      </p:sp>
    </p:spTree>
    <p:extLst>
      <p:ext uri="{BB962C8B-B14F-4D97-AF65-F5344CB8AC3E}">
        <p14:creationId xmlns:p14="http://schemas.microsoft.com/office/powerpoint/2010/main" val="4104917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2FC2B9-1EAC-8EAA-0ACA-40FA08F0532D}"/>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755EDB0D-841A-7C98-26FA-BFF8BF8096A8}"/>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Dijkstra’s Algorithm</a:t>
            </a:r>
          </a:p>
        </p:txBody>
      </p:sp>
      <p:grpSp>
        <p:nvGrpSpPr>
          <p:cNvPr id="28" name="Group 27">
            <a:extLst>
              <a:ext uri="{FF2B5EF4-FFF2-40B4-BE49-F238E27FC236}">
                <a16:creationId xmlns:a16="http://schemas.microsoft.com/office/drawing/2014/main" id="{2939431C-8872-0DC8-CC2D-C4B1FFC337AB}"/>
              </a:ext>
            </a:extLst>
          </p:cNvPr>
          <p:cNvGrpSpPr/>
          <p:nvPr/>
        </p:nvGrpSpPr>
        <p:grpSpPr>
          <a:xfrm>
            <a:off x="2062403" y="1232806"/>
            <a:ext cx="7317828" cy="2872614"/>
            <a:chOff x="1105989" y="3139984"/>
            <a:chExt cx="7317828" cy="2872614"/>
          </a:xfrm>
        </p:grpSpPr>
        <p:sp>
          <p:nvSpPr>
            <p:cNvPr id="6" name="Freeform 5">
              <a:extLst>
                <a:ext uri="{FF2B5EF4-FFF2-40B4-BE49-F238E27FC236}">
                  <a16:creationId xmlns:a16="http://schemas.microsoft.com/office/drawing/2014/main" id="{08D39E9D-2227-D1BE-CB7E-D51286AC477D}"/>
                </a:ext>
              </a:extLst>
            </p:cNvPr>
            <p:cNvSpPr/>
            <p:nvPr/>
          </p:nvSpPr>
          <p:spPr>
            <a:xfrm>
              <a:off x="1105989" y="3139984"/>
              <a:ext cx="4667794"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9890D3C9-2992-0777-9E29-C32B0C18C218}"/>
                </a:ext>
              </a:extLst>
            </p:cNvPr>
            <p:cNvSpPr/>
            <p:nvPr/>
          </p:nvSpPr>
          <p:spPr>
            <a:xfrm>
              <a:off x="1341120" y="3927566"/>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7" name="Oval 6">
              <a:extLst>
                <a:ext uri="{FF2B5EF4-FFF2-40B4-BE49-F238E27FC236}">
                  <a16:creationId xmlns:a16="http://schemas.microsoft.com/office/drawing/2014/main" id="{BB6597BD-AB88-790D-96C6-2C307C9CE76E}"/>
                </a:ext>
              </a:extLst>
            </p:cNvPr>
            <p:cNvSpPr/>
            <p:nvPr/>
          </p:nvSpPr>
          <p:spPr>
            <a:xfrm>
              <a:off x="4802777" y="3848517"/>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Oval 7">
              <a:extLst>
                <a:ext uri="{FF2B5EF4-FFF2-40B4-BE49-F238E27FC236}">
                  <a16:creationId xmlns:a16="http://schemas.microsoft.com/office/drawing/2014/main" id="{B112296F-63FF-C88F-EBA5-1FCE4568EE30}"/>
                </a:ext>
              </a:extLst>
            </p:cNvPr>
            <p:cNvSpPr/>
            <p:nvPr/>
          </p:nvSpPr>
          <p:spPr>
            <a:xfrm>
              <a:off x="4998561" y="4526280"/>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9" name="Oval 8">
              <a:extLst>
                <a:ext uri="{FF2B5EF4-FFF2-40B4-BE49-F238E27FC236}">
                  <a16:creationId xmlns:a16="http://schemas.microsoft.com/office/drawing/2014/main" id="{F9ED9844-81BD-C0C9-6E99-3DEA8FC044FE}"/>
                </a:ext>
              </a:extLst>
            </p:cNvPr>
            <p:cNvSpPr/>
            <p:nvPr/>
          </p:nvSpPr>
          <p:spPr>
            <a:xfrm>
              <a:off x="4411801" y="5100013"/>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A1CDC040-C4FA-217F-C731-659FE0D7D8AA}"/>
                </a:ext>
              </a:extLst>
            </p:cNvPr>
            <p:cNvSpPr/>
            <p:nvPr/>
          </p:nvSpPr>
          <p:spPr>
            <a:xfrm>
              <a:off x="3013166" y="4005943"/>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Oval 10">
              <a:extLst>
                <a:ext uri="{FF2B5EF4-FFF2-40B4-BE49-F238E27FC236}">
                  <a16:creationId xmlns:a16="http://schemas.microsoft.com/office/drawing/2014/main" id="{AF06BED1-3163-0C87-A481-8491397AD9EF}"/>
                </a:ext>
              </a:extLst>
            </p:cNvPr>
            <p:cNvSpPr/>
            <p:nvPr/>
          </p:nvSpPr>
          <p:spPr>
            <a:xfrm>
              <a:off x="2665733" y="4926330"/>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3" name="Oval 12">
              <a:extLst>
                <a:ext uri="{FF2B5EF4-FFF2-40B4-BE49-F238E27FC236}">
                  <a16:creationId xmlns:a16="http://schemas.microsoft.com/office/drawing/2014/main" id="{26F68E2C-92AF-5DCD-78C7-D3B2DD188C6A}"/>
                </a:ext>
              </a:extLst>
            </p:cNvPr>
            <p:cNvSpPr/>
            <p:nvPr/>
          </p:nvSpPr>
          <p:spPr>
            <a:xfrm>
              <a:off x="5969726" y="3692435"/>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Oval 13">
              <a:extLst>
                <a:ext uri="{FF2B5EF4-FFF2-40B4-BE49-F238E27FC236}">
                  <a16:creationId xmlns:a16="http://schemas.microsoft.com/office/drawing/2014/main" id="{FF3FC710-8BDF-F677-6AC7-09937372C23F}"/>
                </a:ext>
              </a:extLst>
            </p:cNvPr>
            <p:cNvSpPr/>
            <p:nvPr/>
          </p:nvSpPr>
          <p:spPr>
            <a:xfrm>
              <a:off x="5988523" y="4463143"/>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v</a:t>
              </a:r>
            </a:p>
          </p:txBody>
        </p:sp>
        <p:sp>
          <p:nvSpPr>
            <p:cNvPr id="15" name="Oval 14">
              <a:extLst>
                <a:ext uri="{FF2B5EF4-FFF2-40B4-BE49-F238E27FC236}">
                  <a16:creationId xmlns:a16="http://schemas.microsoft.com/office/drawing/2014/main" id="{C800F146-9C7A-0A1B-B440-F4E010CC76C1}"/>
                </a:ext>
              </a:extLst>
            </p:cNvPr>
            <p:cNvSpPr/>
            <p:nvPr/>
          </p:nvSpPr>
          <p:spPr>
            <a:xfrm>
              <a:off x="5814694" y="5260044"/>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7" name="Straight Connector 16">
              <a:extLst>
                <a:ext uri="{FF2B5EF4-FFF2-40B4-BE49-F238E27FC236}">
                  <a16:creationId xmlns:a16="http://schemas.microsoft.com/office/drawing/2014/main" id="{1CC9F9E1-35E3-164F-4F3A-497C31570256}"/>
                </a:ext>
              </a:extLst>
            </p:cNvPr>
            <p:cNvCxnSpPr>
              <a:stCxn id="7" idx="6"/>
              <a:endCxn id="13" idx="2"/>
            </p:cNvCxnSpPr>
            <p:nvPr/>
          </p:nvCxnSpPr>
          <p:spPr>
            <a:xfrm flipV="1">
              <a:off x="5229497" y="3905795"/>
              <a:ext cx="740229" cy="156082"/>
            </a:xfrm>
            <a:prstGeom prst="line">
              <a:avLst/>
            </a:prstGeom>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51601738-3A26-9DE1-80D7-ABE046733CFB}"/>
                </a:ext>
              </a:extLst>
            </p:cNvPr>
            <p:cNvCxnSpPr>
              <a:cxnSpLocks/>
              <a:stCxn id="8" idx="6"/>
              <a:endCxn id="14" idx="2"/>
            </p:cNvCxnSpPr>
            <p:nvPr/>
          </p:nvCxnSpPr>
          <p:spPr>
            <a:xfrm flipV="1">
              <a:off x="5425281" y="4676503"/>
              <a:ext cx="563242" cy="63137"/>
            </a:xfrm>
            <a:prstGeom prst="line">
              <a:avLst/>
            </a:prstGeom>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B10992A3-6B76-2DDD-6AC7-2D35DD2B3B1F}"/>
                </a:ext>
              </a:extLst>
            </p:cNvPr>
            <p:cNvCxnSpPr>
              <a:cxnSpLocks/>
              <a:stCxn id="9" idx="6"/>
              <a:endCxn id="15" idx="2"/>
            </p:cNvCxnSpPr>
            <p:nvPr/>
          </p:nvCxnSpPr>
          <p:spPr>
            <a:xfrm>
              <a:off x="4838521" y="5313373"/>
              <a:ext cx="976173" cy="160031"/>
            </a:xfrm>
            <a:prstGeom prst="line">
              <a:avLst/>
            </a:prstGeom>
          </p:spPr>
          <p:style>
            <a:lnRef idx="1">
              <a:schemeClr val="accent2"/>
            </a:lnRef>
            <a:fillRef idx="0">
              <a:schemeClr val="accent2"/>
            </a:fillRef>
            <a:effectRef idx="0">
              <a:schemeClr val="accent2"/>
            </a:effectRef>
            <a:fontRef idx="minor">
              <a:schemeClr val="tx1"/>
            </a:fontRef>
          </p:style>
        </p:cxnSp>
        <p:sp>
          <p:nvSpPr>
            <p:cNvPr id="24" name="Oval 23">
              <a:extLst>
                <a:ext uri="{FF2B5EF4-FFF2-40B4-BE49-F238E27FC236}">
                  <a16:creationId xmlns:a16="http://schemas.microsoft.com/office/drawing/2014/main" id="{12BDBF4E-EBB0-5CF5-1A4B-56ECC2DAD16B}"/>
                </a:ext>
              </a:extLst>
            </p:cNvPr>
            <p:cNvSpPr/>
            <p:nvPr/>
          </p:nvSpPr>
          <p:spPr>
            <a:xfrm>
              <a:off x="7037830" y="3407835"/>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5" name="Oval 24">
              <a:extLst>
                <a:ext uri="{FF2B5EF4-FFF2-40B4-BE49-F238E27FC236}">
                  <a16:creationId xmlns:a16="http://schemas.microsoft.com/office/drawing/2014/main" id="{6D8ACD16-439B-8C15-CD34-3695B618C0DD}"/>
                </a:ext>
              </a:extLst>
            </p:cNvPr>
            <p:cNvSpPr/>
            <p:nvPr/>
          </p:nvSpPr>
          <p:spPr>
            <a:xfrm>
              <a:off x="6912428" y="4560507"/>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6" name="Oval 25">
              <a:extLst>
                <a:ext uri="{FF2B5EF4-FFF2-40B4-BE49-F238E27FC236}">
                  <a16:creationId xmlns:a16="http://schemas.microsoft.com/office/drawing/2014/main" id="{730288C0-42FD-484F-263C-9DBBE0989735}"/>
                </a:ext>
              </a:extLst>
            </p:cNvPr>
            <p:cNvSpPr/>
            <p:nvPr/>
          </p:nvSpPr>
          <p:spPr>
            <a:xfrm>
              <a:off x="7805351" y="4576291"/>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Oval 26">
              <a:extLst>
                <a:ext uri="{FF2B5EF4-FFF2-40B4-BE49-F238E27FC236}">
                  <a16:creationId xmlns:a16="http://schemas.microsoft.com/office/drawing/2014/main" id="{3E86E2F6-C7ED-DB45-1A8E-0AF4D3374680}"/>
                </a:ext>
              </a:extLst>
            </p:cNvPr>
            <p:cNvSpPr/>
            <p:nvPr/>
          </p:nvSpPr>
          <p:spPr>
            <a:xfrm>
              <a:off x="7997097" y="3770476"/>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sp>
        <p:nvSpPr>
          <p:cNvPr id="30" name="TextBox 29">
            <a:extLst>
              <a:ext uri="{FF2B5EF4-FFF2-40B4-BE49-F238E27FC236}">
                <a16:creationId xmlns:a16="http://schemas.microsoft.com/office/drawing/2014/main" id="{845E8B78-B677-7843-F9CA-45BE67CC1D93}"/>
              </a:ext>
            </a:extLst>
          </p:cNvPr>
          <p:cNvSpPr txBox="1"/>
          <p:nvPr/>
        </p:nvSpPr>
        <p:spPr>
          <a:xfrm>
            <a:off x="7139500" y="3911717"/>
            <a:ext cx="3566749" cy="1200329"/>
          </a:xfrm>
          <a:prstGeom prst="rect">
            <a:avLst/>
          </a:prstGeom>
          <a:noFill/>
          <a:ln>
            <a:solidFill>
              <a:schemeClr val="accent3"/>
            </a:solidFill>
          </a:ln>
        </p:spPr>
        <p:txBody>
          <a:bodyPr wrap="square" rtlCol="0">
            <a:spAutoFit/>
          </a:bodyPr>
          <a:lstStyle/>
          <a:p>
            <a:r>
              <a:rPr lang="en-US" i="1" dirty="0"/>
              <a:t>Problem: How do we select the next fringe node that will become the next known node and how do we update the list of fringe nodes?</a:t>
            </a:r>
          </a:p>
        </p:txBody>
      </p:sp>
      <p:sp>
        <p:nvSpPr>
          <p:cNvPr id="3" name="TextBox 2">
            <a:extLst>
              <a:ext uri="{FF2B5EF4-FFF2-40B4-BE49-F238E27FC236}">
                <a16:creationId xmlns:a16="http://schemas.microsoft.com/office/drawing/2014/main" id="{0DC2C3BB-7B67-BDCF-73A0-4C3D1789776C}"/>
              </a:ext>
            </a:extLst>
          </p:cNvPr>
          <p:cNvSpPr txBox="1"/>
          <p:nvPr/>
        </p:nvSpPr>
        <p:spPr>
          <a:xfrm>
            <a:off x="1799440" y="5568600"/>
            <a:ext cx="8967162" cy="646331"/>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insight</a:t>
            </a:r>
            <a:r>
              <a:rPr lang="en-US" i="1" dirty="0">
                <a:solidFill>
                  <a:schemeClr val="bg1"/>
                </a:solidFill>
              </a:rPr>
              <a:t>: If node v has the lowest overall cost to reach it of any fringe node (cost to get to node u plus cost to get one more edge to v), then this is the shortest path to v and it can become known.</a:t>
            </a:r>
          </a:p>
        </p:txBody>
      </p:sp>
    </p:spTree>
    <p:extLst>
      <p:ext uri="{BB962C8B-B14F-4D97-AF65-F5344CB8AC3E}">
        <p14:creationId xmlns:p14="http://schemas.microsoft.com/office/powerpoint/2010/main" val="23188729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352906"/>
            <a:ext cx="9905998" cy="713893"/>
          </a:xfrm>
        </p:spPr>
        <p:txBody>
          <a:bodyPr/>
          <a:lstStyle/>
          <a:p>
            <a:pPr algn="ctr"/>
            <a:r>
              <a:rPr lang="en-US" dirty="0"/>
              <a:t>Dijkstra’s algorithm Overview</a:t>
            </a:r>
          </a:p>
        </p:txBody>
      </p:sp>
      <p:sp>
        <p:nvSpPr>
          <p:cNvPr id="35843" name="Content Placeholder 2"/>
          <p:cNvSpPr>
            <a:spLocks noGrp="1"/>
          </p:cNvSpPr>
          <p:nvPr>
            <p:ph sz="quarter" idx="1"/>
          </p:nvPr>
        </p:nvSpPr>
        <p:spPr>
          <a:xfrm>
            <a:off x="2714897" y="1404256"/>
            <a:ext cx="6762206" cy="4223658"/>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Initialize each vertex’s distance as infinity</a:t>
            </a:r>
          </a:p>
          <a:p>
            <a:pPr marL="0" indent="0">
              <a:buNone/>
            </a:pPr>
            <a:r>
              <a:rPr lang="en-US" dirty="0">
                <a:solidFill>
                  <a:schemeClr val="bg1"/>
                </a:solidFill>
              </a:rPr>
              <a:t>Start at a given vertex </a:t>
            </a:r>
            <a:r>
              <a:rPr lang="en-US" i="1" dirty="0">
                <a:solidFill>
                  <a:schemeClr val="accent2"/>
                </a:solidFill>
              </a:rPr>
              <a:t>s</a:t>
            </a:r>
          </a:p>
          <a:p>
            <a:pPr marL="457200" lvl="1" indent="0">
              <a:buNone/>
            </a:pPr>
            <a:r>
              <a:rPr lang="en-US" dirty="0">
                <a:solidFill>
                  <a:schemeClr val="accent2"/>
                </a:solidFill>
              </a:rPr>
              <a:t>Update </a:t>
            </a:r>
            <a:r>
              <a:rPr lang="en-US" i="1" dirty="0" err="1">
                <a:solidFill>
                  <a:schemeClr val="accent2"/>
                </a:solidFill>
              </a:rPr>
              <a:t>s</a:t>
            </a:r>
            <a:r>
              <a:rPr lang="en-US" dirty="0" err="1">
                <a:solidFill>
                  <a:schemeClr val="accent2"/>
                </a:solidFill>
              </a:rPr>
              <a:t>’s</a:t>
            </a:r>
            <a:r>
              <a:rPr lang="en-US" dirty="0">
                <a:solidFill>
                  <a:schemeClr val="accent2"/>
                </a:solidFill>
              </a:rPr>
              <a:t> distance to be 0</a:t>
            </a:r>
          </a:p>
          <a:p>
            <a:pPr marL="0" indent="0">
              <a:buNone/>
            </a:pPr>
            <a:r>
              <a:rPr lang="en-US" dirty="0">
                <a:solidFill>
                  <a:schemeClr val="bg1"/>
                </a:solidFill>
              </a:rPr>
              <a:t>Repeat</a:t>
            </a:r>
          </a:p>
          <a:p>
            <a:pPr marL="457200" lvl="1" indent="0">
              <a:buNone/>
            </a:pPr>
            <a:r>
              <a:rPr lang="en-US" dirty="0">
                <a:solidFill>
                  <a:schemeClr val="bg1"/>
                </a:solidFill>
              </a:rPr>
              <a:t>Pick next </a:t>
            </a:r>
            <a:r>
              <a:rPr lang="en-US" dirty="0">
                <a:solidFill>
                  <a:schemeClr val="accent3"/>
                </a:solidFill>
              </a:rPr>
              <a:t>fringe vertex with shortest distance to be next </a:t>
            </a:r>
            <a:r>
              <a:rPr lang="en-US" i="1" dirty="0">
                <a:solidFill>
                  <a:schemeClr val="accent3"/>
                </a:solidFill>
              </a:rPr>
              <a:t>v</a:t>
            </a:r>
          </a:p>
          <a:p>
            <a:pPr marL="457200" lvl="1" indent="0">
              <a:buNone/>
            </a:pPr>
            <a:r>
              <a:rPr lang="en-US" dirty="0">
                <a:solidFill>
                  <a:schemeClr val="accent2"/>
                </a:solidFill>
              </a:rPr>
              <a:t>Mark </a:t>
            </a:r>
            <a:r>
              <a:rPr lang="en-US" i="1" dirty="0">
                <a:solidFill>
                  <a:schemeClr val="accent2"/>
                </a:solidFill>
              </a:rPr>
              <a:t>v</a:t>
            </a:r>
            <a:r>
              <a:rPr lang="en-US" dirty="0">
                <a:solidFill>
                  <a:schemeClr val="accent2"/>
                </a:solidFill>
              </a:rPr>
              <a:t> as known</a:t>
            </a:r>
          </a:p>
          <a:p>
            <a:pPr marL="457200" lvl="1" indent="0">
              <a:buNone/>
            </a:pPr>
            <a:r>
              <a:rPr lang="en-US" dirty="0">
                <a:solidFill>
                  <a:schemeClr val="bg1"/>
                </a:solidFill>
              </a:rPr>
              <a:t>For each edge from </a:t>
            </a:r>
            <a:r>
              <a:rPr lang="en-US" i="1" dirty="0">
                <a:solidFill>
                  <a:schemeClr val="bg1"/>
                </a:solidFill>
              </a:rPr>
              <a:t>v</a:t>
            </a:r>
            <a:r>
              <a:rPr lang="en-US" dirty="0">
                <a:solidFill>
                  <a:schemeClr val="bg1"/>
                </a:solidFill>
              </a:rPr>
              <a:t> to adjacent unknown vertices </a:t>
            </a:r>
            <a:r>
              <a:rPr lang="en-US" i="1" dirty="0">
                <a:solidFill>
                  <a:schemeClr val="bg1"/>
                </a:solidFill>
              </a:rPr>
              <a:t>w</a:t>
            </a:r>
          </a:p>
          <a:p>
            <a:pPr marL="914400" lvl="2" indent="0">
              <a:buNone/>
            </a:pPr>
            <a:r>
              <a:rPr lang="en-US" dirty="0">
                <a:solidFill>
                  <a:schemeClr val="bg1"/>
                </a:solidFill>
              </a:rPr>
              <a:t>If the total distance to </a:t>
            </a:r>
            <a:r>
              <a:rPr lang="en-US" i="1" dirty="0">
                <a:solidFill>
                  <a:schemeClr val="bg1"/>
                </a:solidFill>
              </a:rPr>
              <a:t>w</a:t>
            </a:r>
            <a:r>
              <a:rPr lang="en-US" dirty="0">
                <a:solidFill>
                  <a:schemeClr val="bg1"/>
                </a:solidFill>
              </a:rPr>
              <a:t> is </a:t>
            </a:r>
            <a:r>
              <a:rPr lang="en-US" dirty="0">
                <a:solidFill>
                  <a:schemeClr val="accent4"/>
                </a:solidFill>
              </a:rPr>
              <a:t>less than the current distance to </a:t>
            </a:r>
            <a:r>
              <a:rPr lang="en-US" i="1" dirty="0">
                <a:solidFill>
                  <a:schemeClr val="accent4"/>
                </a:solidFill>
              </a:rPr>
              <a:t>w</a:t>
            </a:r>
          </a:p>
          <a:p>
            <a:pPr marL="1371600" lvl="3" indent="0">
              <a:buNone/>
            </a:pPr>
            <a:r>
              <a:rPr lang="en-US" dirty="0">
                <a:solidFill>
                  <a:schemeClr val="accent3"/>
                </a:solidFill>
              </a:rPr>
              <a:t>Update </a:t>
            </a:r>
            <a:r>
              <a:rPr lang="en-US" i="1" dirty="0" err="1">
                <a:solidFill>
                  <a:schemeClr val="accent3"/>
                </a:solidFill>
              </a:rPr>
              <a:t>w</a:t>
            </a:r>
            <a:r>
              <a:rPr lang="en-US" dirty="0" err="1">
                <a:solidFill>
                  <a:schemeClr val="accent3"/>
                </a:solidFill>
              </a:rPr>
              <a:t>’s</a:t>
            </a:r>
            <a:r>
              <a:rPr lang="en-US" dirty="0">
                <a:solidFill>
                  <a:schemeClr val="accent3"/>
                </a:solidFill>
              </a:rPr>
              <a:t> distance and the path to </a:t>
            </a:r>
            <a:r>
              <a:rPr lang="en-US" i="1" dirty="0">
                <a:solidFill>
                  <a:schemeClr val="accent3"/>
                </a:solidFill>
              </a:rPr>
              <a:t>w</a:t>
            </a:r>
          </a:p>
          <a:p>
            <a:pPr lvl="3"/>
            <a:endParaRPr lang="en-US" dirty="0">
              <a:solidFill>
                <a:schemeClr val="bg1"/>
              </a:solidFill>
            </a:endParaRPr>
          </a:p>
          <a:p>
            <a:endParaRPr lang="en-US" dirty="0">
              <a:solidFill>
                <a:schemeClr val="bg1"/>
              </a:solidFill>
            </a:endParaRPr>
          </a:p>
        </p:txBody>
      </p:sp>
    </p:spTree>
    <p:extLst>
      <p:ext uri="{BB962C8B-B14F-4D97-AF65-F5344CB8AC3E}">
        <p14:creationId xmlns:p14="http://schemas.microsoft.com/office/powerpoint/2010/main" val="16036194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4899" name="Group 83"/>
          <p:cNvGraphicFramePr>
            <a:graphicFrameLocks noGrp="1"/>
          </p:cNvGraphicFramePr>
          <p:nvPr>
            <p:ph type="tbl" idx="1"/>
            <p:custDataLst>
              <p:tags r:id="rId1"/>
            </p:custDataLst>
            <p:extLst>
              <p:ext uri="{D42A27DB-BD31-4B8C-83A1-F6EECF244321}">
                <p14:modId xmlns:p14="http://schemas.microsoft.com/office/powerpoint/2010/main" val="2943577082"/>
              </p:ext>
            </p:extLst>
          </p:nvPr>
        </p:nvGraphicFramePr>
        <p:xfrm>
          <a:off x="1635059" y="1907312"/>
          <a:ext cx="3886200" cy="3705226"/>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971550">
                  <a:extLst>
                    <a:ext uri="{9D8B030D-6E8A-4147-A177-3AD203B41FA5}">
                      <a16:colId xmlns:a16="http://schemas.microsoft.com/office/drawing/2014/main" val="20002"/>
                    </a:ext>
                  </a:extLst>
                </a:gridCol>
                <a:gridCol w="971550">
                  <a:extLst>
                    <a:ext uri="{9D8B030D-6E8A-4147-A177-3AD203B41FA5}">
                      <a16:colId xmlns:a16="http://schemas.microsoft.com/office/drawing/2014/main" val="20003"/>
                    </a:ext>
                  </a:extLst>
                </a:gridCol>
              </a:tblGrid>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V</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Known</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Dist</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path</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v0</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61963">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v1</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v2</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v3</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v4</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61963">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v5</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v6</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pSp>
        <p:nvGrpSpPr>
          <p:cNvPr id="3" name="Group 2">
            <a:extLst>
              <a:ext uri="{FF2B5EF4-FFF2-40B4-BE49-F238E27FC236}">
                <a16:creationId xmlns:a16="http://schemas.microsoft.com/office/drawing/2014/main" id="{28B223AE-FD13-9EC8-C9CB-BAAC7A3CE358}"/>
              </a:ext>
            </a:extLst>
          </p:cNvPr>
          <p:cNvGrpSpPr/>
          <p:nvPr/>
        </p:nvGrpSpPr>
        <p:grpSpPr>
          <a:xfrm>
            <a:off x="6670743" y="2397430"/>
            <a:ext cx="3665154" cy="3084115"/>
            <a:chOff x="694046" y="2790509"/>
            <a:chExt cx="3665154" cy="3084115"/>
          </a:xfrm>
        </p:grpSpPr>
        <mc:AlternateContent xmlns:mc="http://schemas.openxmlformats.org/markup-compatibility/2006">
          <mc:Choice xmlns:a14="http://schemas.microsoft.com/office/drawing/2010/main" Requires="a14">
            <p:sp>
              <p:nvSpPr>
                <p:cNvPr id="4" name="Oval 3">
                  <a:extLst>
                    <a:ext uri="{FF2B5EF4-FFF2-40B4-BE49-F238E27FC236}">
                      <a16:creationId xmlns:a16="http://schemas.microsoft.com/office/drawing/2014/main" id="{130F9E67-8826-58D7-B09A-9416C1815FEC}"/>
                    </a:ext>
                  </a:extLst>
                </p:cNvPr>
                <p:cNvSpPr/>
                <p:nvPr/>
              </p:nvSpPr>
              <p:spPr>
                <a:xfrm>
                  <a:off x="1273881" y="2911555"/>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0</m:t>
                            </m:r>
                          </m:sub>
                        </m:sSub>
                      </m:oMath>
                    </m:oMathPara>
                  </a14:m>
                  <a:endParaRPr lang="en-US" dirty="0">
                    <a:solidFill>
                      <a:schemeClr val="bg1"/>
                    </a:solidFill>
                  </a:endParaRPr>
                </a:p>
              </p:txBody>
            </p:sp>
          </mc:Choice>
          <mc:Fallback>
            <p:sp>
              <p:nvSpPr>
                <p:cNvPr id="4" name="Oval 3">
                  <a:extLst>
                    <a:ext uri="{FF2B5EF4-FFF2-40B4-BE49-F238E27FC236}">
                      <a16:creationId xmlns:a16="http://schemas.microsoft.com/office/drawing/2014/main" id="{130F9E67-8826-58D7-B09A-9416C1815FEC}"/>
                    </a:ext>
                  </a:extLst>
                </p:cNvPr>
                <p:cNvSpPr>
                  <a:spLocks noRot="1" noChangeAspect="1" noMove="1" noResize="1" noEditPoints="1" noAdjustHandles="1" noChangeArrowheads="1" noChangeShapeType="1" noTextEdit="1"/>
                </p:cNvSpPr>
                <p:nvPr/>
              </p:nvSpPr>
              <p:spPr>
                <a:xfrm>
                  <a:off x="1273881" y="2911555"/>
                  <a:ext cx="465931" cy="465931"/>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Oval 4">
                  <a:extLst>
                    <a:ext uri="{FF2B5EF4-FFF2-40B4-BE49-F238E27FC236}">
                      <a16:creationId xmlns:a16="http://schemas.microsoft.com/office/drawing/2014/main" id="{DBDD08B1-0087-CF53-5AE7-58282F206C4B}"/>
                    </a:ext>
                  </a:extLst>
                </p:cNvPr>
                <p:cNvSpPr/>
                <p:nvPr/>
              </p:nvSpPr>
              <p:spPr>
                <a:xfrm>
                  <a:off x="694046" y="4034294"/>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5" name="Oval 4">
                  <a:extLst>
                    <a:ext uri="{FF2B5EF4-FFF2-40B4-BE49-F238E27FC236}">
                      <a16:creationId xmlns:a16="http://schemas.microsoft.com/office/drawing/2014/main" id="{DBDD08B1-0087-CF53-5AE7-58282F206C4B}"/>
                    </a:ext>
                  </a:extLst>
                </p:cNvPr>
                <p:cNvSpPr>
                  <a:spLocks noRot="1" noChangeAspect="1" noMove="1" noResize="1" noEditPoints="1" noAdjustHandles="1" noChangeArrowheads="1" noChangeShapeType="1" noTextEdit="1"/>
                </p:cNvSpPr>
                <p:nvPr/>
              </p:nvSpPr>
              <p:spPr>
                <a:xfrm>
                  <a:off x="694046" y="4034294"/>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Oval 5">
                  <a:extLst>
                    <a:ext uri="{FF2B5EF4-FFF2-40B4-BE49-F238E27FC236}">
                      <a16:creationId xmlns:a16="http://schemas.microsoft.com/office/drawing/2014/main" id="{436DC519-A1BC-4EE3-4E54-AAAD4BDF0EFA}"/>
                    </a:ext>
                  </a:extLst>
                </p:cNvPr>
                <p:cNvSpPr/>
                <p:nvPr/>
              </p:nvSpPr>
              <p:spPr>
                <a:xfrm>
                  <a:off x="2315109" y="4034293"/>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6" name="Oval 5">
                  <a:extLst>
                    <a:ext uri="{FF2B5EF4-FFF2-40B4-BE49-F238E27FC236}">
                      <a16:creationId xmlns:a16="http://schemas.microsoft.com/office/drawing/2014/main" id="{436DC519-A1BC-4EE3-4E54-AAAD4BDF0EFA}"/>
                    </a:ext>
                  </a:extLst>
                </p:cNvPr>
                <p:cNvSpPr>
                  <a:spLocks noRot="1" noChangeAspect="1" noMove="1" noResize="1" noEditPoints="1" noAdjustHandles="1" noChangeArrowheads="1" noChangeShapeType="1" noTextEdit="1"/>
                </p:cNvSpPr>
                <p:nvPr/>
              </p:nvSpPr>
              <p:spPr>
                <a:xfrm>
                  <a:off x="2315109" y="4034293"/>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Oval 6">
                  <a:extLst>
                    <a:ext uri="{FF2B5EF4-FFF2-40B4-BE49-F238E27FC236}">
                      <a16:creationId xmlns:a16="http://schemas.microsoft.com/office/drawing/2014/main" id="{90B95E15-5FFA-BA7E-B298-B10D3AA3A7D5}"/>
                    </a:ext>
                  </a:extLst>
                </p:cNvPr>
                <p:cNvSpPr/>
                <p:nvPr/>
              </p:nvSpPr>
              <p:spPr>
                <a:xfrm>
                  <a:off x="3335462" y="2875543"/>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7" name="Oval 6">
                  <a:extLst>
                    <a:ext uri="{FF2B5EF4-FFF2-40B4-BE49-F238E27FC236}">
                      <a16:creationId xmlns:a16="http://schemas.microsoft.com/office/drawing/2014/main" id="{90B95E15-5FFA-BA7E-B298-B10D3AA3A7D5}"/>
                    </a:ext>
                  </a:extLst>
                </p:cNvPr>
                <p:cNvSpPr>
                  <a:spLocks noRot="1" noChangeAspect="1" noMove="1" noResize="1" noEditPoints="1" noAdjustHandles="1" noChangeArrowheads="1" noChangeShapeType="1" noTextEdit="1"/>
                </p:cNvSpPr>
                <p:nvPr/>
              </p:nvSpPr>
              <p:spPr>
                <a:xfrm>
                  <a:off x="3335462" y="2875543"/>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Oval 7">
                  <a:extLst>
                    <a:ext uri="{FF2B5EF4-FFF2-40B4-BE49-F238E27FC236}">
                      <a16:creationId xmlns:a16="http://schemas.microsoft.com/office/drawing/2014/main" id="{5B6EC8EC-7C44-142A-F696-4BD6A4EA233D}"/>
                    </a:ext>
                  </a:extLst>
                </p:cNvPr>
                <p:cNvSpPr/>
                <p:nvPr/>
              </p:nvSpPr>
              <p:spPr>
                <a:xfrm>
                  <a:off x="3893269" y="4023407"/>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8" name="Oval 7">
                  <a:extLst>
                    <a:ext uri="{FF2B5EF4-FFF2-40B4-BE49-F238E27FC236}">
                      <a16:creationId xmlns:a16="http://schemas.microsoft.com/office/drawing/2014/main" id="{5B6EC8EC-7C44-142A-F696-4BD6A4EA233D}"/>
                    </a:ext>
                  </a:extLst>
                </p:cNvPr>
                <p:cNvSpPr>
                  <a:spLocks noRot="1" noChangeAspect="1" noMove="1" noResize="1" noEditPoints="1" noAdjustHandles="1" noChangeArrowheads="1" noChangeShapeType="1" noTextEdit="1"/>
                </p:cNvSpPr>
                <p:nvPr/>
              </p:nvSpPr>
              <p:spPr>
                <a:xfrm>
                  <a:off x="3893269" y="4023407"/>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Oval 8">
                  <a:extLst>
                    <a:ext uri="{FF2B5EF4-FFF2-40B4-BE49-F238E27FC236}">
                      <a16:creationId xmlns:a16="http://schemas.microsoft.com/office/drawing/2014/main" id="{6B0C92DE-B00C-82F1-A756-BC5772EFA4F8}"/>
                    </a:ext>
                  </a:extLst>
                </p:cNvPr>
                <p:cNvSpPr/>
                <p:nvPr/>
              </p:nvSpPr>
              <p:spPr>
                <a:xfrm>
                  <a:off x="1739812" y="5378928"/>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p:sp>
              <p:nvSpPr>
                <p:cNvPr id="9" name="Oval 8">
                  <a:extLst>
                    <a:ext uri="{FF2B5EF4-FFF2-40B4-BE49-F238E27FC236}">
                      <a16:creationId xmlns:a16="http://schemas.microsoft.com/office/drawing/2014/main" id="{6B0C92DE-B00C-82F1-A756-BC5772EFA4F8}"/>
                    </a:ext>
                  </a:extLst>
                </p:cNvPr>
                <p:cNvSpPr>
                  <a:spLocks noRot="1" noChangeAspect="1" noMove="1" noResize="1" noEditPoints="1" noAdjustHandles="1" noChangeArrowheads="1" noChangeShapeType="1" noTextEdit="1"/>
                </p:cNvSpPr>
                <p:nvPr/>
              </p:nvSpPr>
              <p:spPr>
                <a:xfrm>
                  <a:off x="1739812" y="5378928"/>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Oval 9">
                  <a:extLst>
                    <a:ext uri="{FF2B5EF4-FFF2-40B4-BE49-F238E27FC236}">
                      <a16:creationId xmlns:a16="http://schemas.microsoft.com/office/drawing/2014/main" id="{4C664441-1428-06F1-FD99-70722635EF86}"/>
                    </a:ext>
                  </a:extLst>
                </p:cNvPr>
                <p:cNvSpPr/>
                <p:nvPr/>
              </p:nvSpPr>
              <p:spPr>
                <a:xfrm>
                  <a:off x="3429719" y="5408693"/>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p:sp>
              <p:nvSpPr>
                <p:cNvPr id="10" name="Oval 9">
                  <a:extLst>
                    <a:ext uri="{FF2B5EF4-FFF2-40B4-BE49-F238E27FC236}">
                      <a16:creationId xmlns:a16="http://schemas.microsoft.com/office/drawing/2014/main" id="{4C664441-1428-06F1-FD99-70722635EF86}"/>
                    </a:ext>
                  </a:extLst>
                </p:cNvPr>
                <p:cNvSpPr>
                  <a:spLocks noRot="1" noChangeAspect="1" noMove="1" noResize="1" noEditPoints="1" noAdjustHandles="1" noChangeArrowheads="1" noChangeShapeType="1" noTextEdit="1"/>
                </p:cNvSpPr>
                <p:nvPr/>
              </p:nvSpPr>
              <p:spPr>
                <a:xfrm>
                  <a:off x="3429719" y="5408693"/>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p:cxnSp>
          <p:nvCxnSpPr>
            <p:cNvPr id="11" name="Straight Arrow Connector 10">
              <a:extLst>
                <a:ext uri="{FF2B5EF4-FFF2-40B4-BE49-F238E27FC236}">
                  <a16:creationId xmlns:a16="http://schemas.microsoft.com/office/drawing/2014/main" id="{248E3EAD-B252-0E43-7EBE-9CA8B4683482}"/>
                </a:ext>
              </a:extLst>
            </p:cNvPr>
            <p:cNvCxnSpPr>
              <a:stCxn id="4" idx="3"/>
              <a:endCxn id="5" idx="0"/>
            </p:cNvCxnSpPr>
            <p:nvPr/>
          </p:nvCxnSpPr>
          <p:spPr>
            <a:xfrm flipH="1">
              <a:off x="927012" y="3309252"/>
              <a:ext cx="415103" cy="7250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880F1E78-94C4-9D98-C90B-A8E87AFF6CF0}"/>
                </a:ext>
              </a:extLst>
            </p:cNvPr>
            <p:cNvCxnSpPr>
              <a:cxnSpLocks/>
              <a:stCxn id="5" idx="6"/>
              <a:endCxn id="6" idx="2"/>
            </p:cNvCxnSpPr>
            <p:nvPr/>
          </p:nvCxnSpPr>
          <p:spPr>
            <a:xfrm flipV="1">
              <a:off x="1159977" y="4267259"/>
              <a:ext cx="1155132"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1FF8ED0E-928B-B936-8E9A-5A4C9BF0087C}"/>
                </a:ext>
              </a:extLst>
            </p:cNvPr>
            <p:cNvCxnSpPr>
              <a:cxnSpLocks/>
              <a:stCxn id="4" idx="5"/>
              <a:endCxn id="6" idx="1"/>
            </p:cNvCxnSpPr>
            <p:nvPr/>
          </p:nvCxnSpPr>
          <p:spPr>
            <a:xfrm>
              <a:off x="1671578" y="3309252"/>
              <a:ext cx="711765" cy="793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814FD67-4615-2528-D7B0-CA0A58AB681B}"/>
                </a:ext>
              </a:extLst>
            </p:cNvPr>
            <p:cNvCxnSpPr>
              <a:cxnSpLocks/>
              <a:stCxn id="7" idx="2"/>
              <a:endCxn id="4" idx="6"/>
            </p:cNvCxnSpPr>
            <p:nvPr/>
          </p:nvCxnSpPr>
          <p:spPr>
            <a:xfrm flipH="1">
              <a:off x="1739812" y="3108509"/>
              <a:ext cx="1595650" cy="360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3B19332-C027-AAD8-3D72-C028C4C86890}"/>
                </a:ext>
              </a:extLst>
            </p:cNvPr>
            <p:cNvCxnSpPr>
              <a:cxnSpLocks/>
              <a:stCxn id="6" idx="7"/>
              <a:endCxn id="7" idx="3"/>
            </p:cNvCxnSpPr>
            <p:nvPr/>
          </p:nvCxnSpPr>
          <p:spPr>
            <a:xfrm flipV="1">
              <a:off x="2712806" y="3273240"/>
              <a:ext cx="690890" cy="8292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567CD9A-73E8-7DD3-61A5-039B81D9A3E8}"/>
                </a:ext>
              </a:extLst>
            </p:cNvPr>
            <p:cNvCxnSpPr>
              <a:cxnSpLocks/>
              <a:stCxn id="6" idx="6"/>
              <a:endCxn id="8" idx="2"/>
            </p:cNvCxnSpPr>
            <p:nvPr/>
          </p:nvCxnSpPr>
          <p:spPr>
            <a:xfrm flipV="1">
              <a:off x="2781040" y="4256373"/>
              <a:ext cx="1112229" cy="10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12555EA-7A13-867B-1BF0-433E460C0B0A}"/>
                </a:ext>
              </a:extLst>
            </p:cNvPr>
            <p:cNvCxnSpPr>
              <a:cxnSpLocks/>
              <a:stCxn id="8" idx="0"/>
              <a:endCxn id="7" idx="5"/>
            </p:cNvCxnSpPr>
            <p:nvPr/>
          </p:nvCxnSpPr>
          <p:spPr>
            <a:xfrm flipH="1" flipV="1">
              <a:off x="3733159" y="3273240"/>
              <a:ext cx="393076" cy="750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B5ED878-BFE1-737A-1C8D-131F29E5C077}"/>
                </a:ext>
              </a:extLst>
            </p:cNvPr>
            <p:cNvCxnSpPr>
              <a:cxnSpLocks/>
              <a:stCxn id="10" idx="7"/>
              <a:endCxn id="8" idx="4"/>
            </p:cNvCxnSpPr>
            <p:nvPr/>
          </p:nvCxnSpPr>
          <p:spPr>
            <a:xfrm flipV="1">
              <a:off x="3827416" y="4489338"/>
              <a:ext cx="298819" cy="9875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CC99E086-76B4-730E-6063-2F7EADDD58F4}"/>
                </a:ext>
              </a:extLst>
            </p:cNvPr>
            <p:cNvCxnSpPr>
              <a:cxnSpLocks/>
              <a:stCxn id="5" idx="5"/>
              <a:endCxn id="9" idx="1"/>
            </p:cNvCxnSpPr>
            <p:nvPr/>
          </p:nvCxnSpPr>
          <p:spPr>
            <a:xfrm>
              <a:off x="1091743" y="4431991"/>
              <a:ext cx="716303" cy="10151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3B6E0E2-620A-9DBC-3AFD-D7E8CB22A59F}"/>
                </a:ext>
              </a:extLst>
            </p:cNvPr>
            <p:cNvCxnSpPr>
              <a:cxnSpLocks/>
              <a:stCxn id="6" idx="3"/>
              <a:endCxn id="9" idx="0"/>
            </p:cNvCxnSpPr>
            <p:nvPr/>
          </p:nvCxnSpPr>
          <p:spPr>
            <a:xfrm flipH="1">
              <a:off x="1972778" y="4431990"/>
              <a:ext cx="410565" cy="9469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7C77837-2377-F0A8-17DC-64CDB4440539}"/>
                </a:ext>
              </a:extLst>
            </p:cNvPr>
            <p:cNvCxnSpPr>
              <a:cxnSpLocks/>
              <a:stCxn id="6" idx="5"/>
              <a:endCxn id="10" idx="1"/>
            </p:cNvCxnSpPr>
            <p:nvPr/>
          </p:nvCxnSpPr>
          <p:spPr>
            <a:xfrm>
              <a:off x="2712806" y="4431990"/>
              <a:ext cx="785147" cy="10449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75896DE-C863-E3A0-C62E-F2C3DD2FD51B}"/>
                </a:ext>
              </a:extLst>
            </p:cNvPr>
            <p:cNvCxnSpPr>
              <a:cxnSpLocks/>
              <a:stCxn id="9" idx="6"/>
              <a:endCxn id="10" idx="2"/>
            </p:cNvCxnSpPr>
            <p:nvPr/>
          </p:nvCxnSpPr>
          <p:spPr>
            <a:xfrm>
              <a:off x="2205743" y="5611894"/>
              <a:ext cx="1223976" cy="297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 Box 27">
              <a:extLst>
                <a:ext uri="{FF2B5EF4-FFF2-40B4-BE49-F238E27FC236}">
                  <a16:creationId xmlns:a16="http://schemas.microsoft.com/office/drawing/2014/main" id="{31850C44-1906-B663-D455-35280CF9A243}"/>
                </a:ext>
              </a:extLst>
            </p:cNvPr>
            <p:cNvSpPr txBox="1">
              <a:spLocks noChangeArrowheads="1"/>
            </p:cNvSpPr>
            <p:nvPr>
              <p:custDataLst>
                <p:tags r:id="rId2"/>
              </p:custDataLst>
            </p:nvPr>
          </p:nvSpPr>
          <p:spPr bwMode="auto">
            <a:xfrm>
              <a:off x="805260" y="3358040"/>
              <a:ext cx="336550" cy="457200"/>
            </a:xfrm>
            <a:prstGeom prst="rect">
              <a:avLst/>
            </a:prstGeom>
            <a:noFill/>
            <a:ln w="9525">
              <a:noFill/>
              <a:miter lim="800000"/>
              <a:headEnd/>
              <a:tailEnd/>
            </a:ln>
          </p:spPr>
          <p:txBody>
            <a:bodyPr wrap="none">
              <a:spAutoFit/>
            </a:bodyPr>
            <a:lstStyle/>
            <a:p>
              <a:r>
                <a:rPr lang="en-US" b="1" dirty="0"/>
                <a:t>2</a:t>
              </a:r>
            </a:p>
          </p:txBody>
        </p:sp>
        <p:sp>
          <p:nvSpPr>
            <p:cNvPr id="24" name="Text Box 27">
              <a:extLst>
                <a:ext uri="{FF2B5EF4-FFF2-40B4-BE49-F238E27FC236}">
                  <a16:creationId xmlns:a16="http://schemas.microsoft.com/office/drawing/2014/main" id="{0BAFCB2E-7D04-FF74-C9BF-E58F3E8851C9}"/>
                </a:ext>
              </a:extLst>
            </p:cNvPr>
            <p:cNvSpPr txBox="1">
              <a:spLocks noChangeArrowheads="1"/>
            </p:cNvSpPr>
            <p:nvPr>
              <p:custDataLst>
                <p:tags r:id="rId3"/>
              </p:custDataLst>
            </p:nvPr>
          </p:nvSpPr>
          <p:spPr bwMode="auto">
            <a:xfrm>
              <a:off x="1995001" y="3407085"/>
              <a:ext cx="306494" cy="369332"/>
            </a:xfrm>
            <a:prstGeom prst="rect">
              <a:avLst/>
            </a:prstGeom>
            <a:noFill/>
            <a:ln w="9525">
              <a:noFill/>
              <a:miter lim="800000"/>
              <a:headEnd/>
              <a:tailEnd/>
            </a:ln>
          </p:spPr>
          <p:txBody>
            <a:bodyPr wrap="none">
              <a:spAutoFit/>
            </a:bodyPr>
            <a:lstStyle/>
            <a:p>
              <a:r>
                <a:rPr lang="en-US" b="1" dirty="0"/>
                <a:t>1</a:t>
              </a:r>
            </a:p>
          </p:txBody>
        </p:sp>
        <p:sp>
          <p:nvSpPr>
            <p:cNvPr id="25" name="Text Box 27">
              <a:extLst>
                <a:ext uri="{FF2B5EF4-FFF2-40B4-BE49-F238E27FC236}">
                  <a16:creationId xmlns:a16="http://schemas.microsoft.com/office/drawing/2014/main" id="{DCC689B9-FE8A-698F-9B5F-2246BEFC516F}"/>
                </a:ext>
              </a:extLst>
            </p:cNvPr>
            <p:cNvSpPr txBox="1">
              <a:spLocks noChangeArrowheads="1"/>
            </p:cNvSpPr>
            <p:nvPr>
              <p:custDataLst>
                <p:tags r:id="rId4"/>
              </p:custDataLst>
            </p:nvPr>
          </p:nvSpPr>
          <p:spPr bwMode="auto">
            <a:xfrm>
              <a:off x="2347480" y="2790509"/>
              <a:ext cx="336550" cy="457200"/>
            </a:xfrm>
            <a:prstGeom prst="rect">
              <a:avLst/>
            </a:prstGeom>
            <a:noFill/>
            <a:ln w="9525">
              <a:noFill/>
              <a:miter lim="800000"/>
              <a:headEnd/>
              <a:tailEnd/>
            </a:ln>
          </p:spPr>
          <p:txBody>
            <a:bodyPr wrap="none">
              <a:spAutoFit/>
            </a:bodyPr>
            <a:lstStyle/>
            <a:p>
              <a:r>
                <a:rPr lang="en-US" b="1" dirty="0"/>
                <a:t>2</a:t>
              </a:r>
            </a:p>
          </p:txBody>
        </p:sp>
        <p:sp>
          <p:nvSpPr>
            <p:cNvPr id="26" name="Text Box 27">
              <a:extLst>
                <a:ext uri="{FF2B5EF4-FFF2-40B4-BE49-F238E27FC236}">
                  <a16:creationId xmlns:a16="http://schemas.microsoft.com/office/drawing/2014/main" id="{629414AD-0FD9-2A07-FDAB-ACBF51A751D4}"/>
                </a:ext>
              </a:extLst>
            </p:cNvPr>
            <p:cNvSpPr txBox="1">
              <a:spLocks noChangeArrowheads="1"/>
            </p:cNvSpPr>
            <p:nvPr>
              <p:custDataLst>
                <p:tags r:id="rId5"/>
              </p:custDataLst>
            </p:nvPr>
          </p:nvSpPr>
          <p:spPr bwMode="auto">
            <a:xfrm>
              <a:off x="1506846" y="3918859"/>
              <a:ext cx="306494" cy="369332"/>
            </a:xfrm>
            <a:prstGeom prst="rect">
              <a:avLst/>
            </a:prstGeom>
            <a:noFill/>
            <a:ln w="9525">
              <a:noFill/>
              <a:miter lim="800000"/>
              <a:headEnd/>
              <a:tailEnd/>
            </a:ln>
          </p:spPr>
          <p:txBody>
            <a:bodyPr wrap="none">
              <a:spAutoFit/>
            </a:bodyPr>
            <a:lstStyle/>
            <a:p>
              <a:r>
                <a:rPr lang="en-US" b="1" dirty="0"/>
                <a:t>1</a:t>
              </a:r>
            </a:p>
          </p:txBody>
        </p:sp>
        <p:sp>
          <p:nvSpPr>
            <p:cNvPr id="27" name="Text Box 27">
              <a:extLst>
                <a:ext uri="{FF2B5EF4-FFF2-40B4-BE49-F238E27FC236}">
                  <a16:creationId xmlns:a16="http://schemas.microsoft.com/office/drawing/2014/main" id="{2C80E0D4-D2F2-2C1D-F129-3C513F04D30A}"/>
                </a:ext>
              </a:extLst>
            </p:cNvPr>
            <p:cNvSpPr txBox="1">
              <a:spLocks noChangeArrowheads="1"/>
            </p:cNvSpPr>
            <p:nvPr>
              <p:custDataLst>
                <p:tags r:id="rId6"/>
              </p:custDataLst>
            </p:nvPr>
          </p:nvSpPr>
          <p:spPr bwMode="auto">
            <a:xfrm>
              <a:off x="3965197" y="3390405"/>
              <a:ext cx="306494" cy="369332"/>
            </a:xfrm>
            <a:prstGeom prst="rect">
              <a:avLst/>
            </a:prstGeom>
            <a:noFill/>
            <a:ln w="9525">
              <a:noFill/>
              <a:miter lim="800000"/>
              <a:headEnd/>
              <a:tailEnd/>
            </a:ln>
          </p:spPr>
          <p:txBody>
            <a:bodyPr wrap="none">
              <a:spAutoFit/>
            </a:bodyPr>
            <a:lstStyle/>
            <a:p>
              <a:r>
                <a:rPr lang="en-US" b="1" dirty="0"/>
                <a:t>1</a:t>
              </a:r>
            </a:p>
          </p:txBody>
        </p:sp>
        <p:sp>
          <p:nvSpPr>
            <p:cNvPr id="28" name="Text Box 27">
              <a:extLst>
                <a:ext uri="{FF2B5EF4-FFF2-40B4-BE49-F238E27FC236}">
                  <a16:creationId xmlns:a16="http://schemas.microsoft.com/office/drawing/2014/main" id="{5F9C6090-4301-AE5F-4653-01982A1997FF}"/>
                </a:ext>
              </a:extLst>
            </p:cNvPr>
            <p:cNvSpPr txBox="1">
              <a:spLocks noChangeArrowheads="1"/>
            </p:cNvSpPr>
            <p:nvPr>
              <p:custDataLst>
                <p:tags r:id="rId7"/>
              </p:custDataLst>
            </p:nvPr>
          </p:nvSpPr>
          <p:spPr bwMode="auto">
            <a:xfrm>
              <a:off x="3265700" y="3893270"/>
              <a:ext cx="306494" cy="369332"/>
            </a:xfrm>
            <a:prstGeom prst="rect">
              <a:avLst/>
            </a:prstGeom>
            <a:noFill/>
            <a:ln w="9525">
              <a:noFill/>
              <a:miter lim="800000"/>
              <a:headEnd/>
              <a:tailEnd/>
            </a:ln>
          </p:spPr>
          <p:txBody>
            <a:bodyPr wrap="none">
              <a:spAutoFit/>
            </a:bodyPr>
            <a:lstStyle/>
            <a:p>
              <a:r>
                <a:rPr lang="en-US" b="1" dirty="0"/>
                <a:t>1</a:t>
              </a:r>
            </a:p>
          </p:txBody>
        </p:sp>
        <p:sp>
          <p:nvSpPr>
            <p:cNvPr id="29" name="Text Box 27">
              <a:extLst>
                <a:ext uri="{FF2B5EF4-FFF2-40B4-BE49-F238E27FC236}">
                  <a16:creationId xmlns:a16="http://schemas.microsoft.com/office/drawing/2014/main" id="{53741420-F439-5B90-B640-6347667B30F6}"/>
                </a:ext>
              </a:extLst>
            </p:cNvPr>
            <p:cNvSpPr txBox="1">
              <a:spLocks noChangeArrowheads="1"/>
            </p:cNvSpPr>
            <p:nvPr>
              <p:custDataLst>
                <p:tags r:id="rId8"/>
              </p:custDataLst>
            </p:nvPr>
          </p:nvSpPr>
          <p:spPr bwMode="auto">
            <a:xfrm>
              <a:off x="1061553" y="4762184"/>
              <a:ext cx="336550" cy="457200"/>
            </a:xfrm>
            <a:prstGeom prst="rect">
              <a:avLst/>
            </a:prstGeom>
            <a:noFill/>
            <a:ln w="9525">
              <a:noFill/>
              <a:miter lim="800000"/>
              <a:headEnd/>
              <a:tailEnd/>
            </a:ln>
          </p:spPr>
          <p:txBody>
            <a:bodyPr wrap="none">
              <a:spAutoFit/>
            </a:bodyPr>
            <a:lstStyle/>
            <a:p>
              <a:r>
                <a:rPr lang="en-US" b="1" dirty="0"/>
                <a:t>2</a:t>
              </a:r>
            </a:p>
          </p:txBody>
        </p:sp>
        <p:sp>
          <p:nvSpPr>
            <p:cNvPr id="30" name="Text Box 27">
              <a:extLst>
                <a:ext uri="{FF2B5EF4-FFF2-40B4-BE49-F238E27FC236}">
                  <a16:creationId xmlns:a16="http://schemas.microsoft.com/office/drawing/2014/main" id="{1E4FB66B-0EDD-5F47-A51D-3DB2A4870C04}"/>
                </a:ext>
              </a:extLst>
            </p:cNvPr>
            <p:cNvSpPr txBox="1">
              <a:spLocks noChangeArrowheads="1"/>
            </p:cNvSpPr>
            <p:nvPr>
              <p:custDataLst>
                <p:tags r:id="rId9"/>
              </p:custDataLst>
            </p:nvPr>
          </p:nvSpPr>
          <p:spPr bwMode="auto">
            <a:xfrm>
              <a:off x="1862021" y="4552634"/>
              <a:ext cx="306494" cy="369332"/>
            </a:xfrm>
            <a:prstGeom prst="rect">
              <a:avLst/>
            </a:prstGeom>
            <a:noFill/>
            <a:ln w="9525">
              <a:noFill/>
              <a:miter lim="800000"/>
              <a:headEnd/>
              <a:tailEnd/>
            </a:ln>
          </p:spPr>
          <p:txBody>
            <a:bodyPr wrap="none">
              <a:spAutoFit/>
            </a:bodyPr>
            <a:lstStyle/>
            <a:p>
              <a:r>
                <a:rPr lang="en-US" b="1" dirty="0"/>
                <a:t>6</a:t>
              </a:r>
            </a:p>
          </p:txBody>
        </p:sp>
        <p:sp>
          <p:nvSpPr>
            <p:cNvPr id="31" name="Text Box 27">
              <a:extLst>
                <a:ext uri="{FF2B5EF4-FFF2-40B4-BE49-F238E27FC236}">
                  <a16:creationId xmlns:a16="http://schemas.microsoft.com/office/drawing/2014/main" id="{86B74619-9C2C-F6D0-E835-DCB4DB38627A}"/>
                </a:ext>
              </a:extLst>
            </p:cNvPr>
            <p:cNvSpPr txBox="1">
              <a:spLocks noChangeArrowheads="1"/>
            </p:cNvSpPr>
            <p:nvPr>
              <p:custDataLst>
                <p:tags r:id="rId10"/>
              </p:custDataLst>
            </p:nvPr>
          </p:nvSpPr>
          <p:spPr bwMode="auto">
            <a:xfrm>
              <a:off x="3040016" y="4565174"/>
              <a:ext cx="306494" cy="369332"/>
            </a:xfrm>
            <a:prstGeom prst="rect">
              <a:avLst/>
            </a:prstGeom>
            <a:noFill/>
            <a:ln w="9525">
              <a:noFill/>
              <a:miter lim="800000"/>
              <a:headEnd/>
              <a:tailEnd/>
            </a:ln>
          </p:spPr>
          <p:txBody>
            <a:bodyPr wrap="none">
              <a:spAutoFit/>
            </a:bodyPr>
            <a:lstStyle/>
            <a:p>
              <a:r>
                <a:rPr lang="en-US" b="1" dirty="0"/>
                <a:t>5</a:t>
              </a:r>
            </a:p>
          </p:txBody>
        </p:sp>
        <p:sp>
          <p:nvSpPr>
            <p:cNvPr id="32" name="Text Box 27">
              <a:extLst>
                <a:ext uri="{FF2B5EF4-FFF2-40B4-BE49-F238E27FC236}">
                  <a16:creationId xmlns:a16="http://schemas.microsoft.com/office/drawing/2014/main" id="{EF12B975-53EE-3D10-A345-B4F8651CA4F7}"/>
                </a:ext>
              </a:extLst>
            </p:cNvPr>
            <p:cNvSpPr txBox="1">
              <a:spLocks noChangeArrowheads="1"/>
            </p:cNvSpPr>
            <p:nvPr>
              <p:custDataLst>
                <p:tags r:id="rId11"/>
              </p:custDataLst>
            </p:nvPr>
          </p:nvSpPr>
          <p:spPr bwMode="auto">
            <a:xfrm>
              <a:off x="4015110" y="4879659"/>
              <a:ext cx="306494" cy="369332"/>
            </a:xfrm>
            <a:prstGeom prst="rect">
              <a:avLst/>
            </a:prstGeom>
            <a:noFill/>
            <a:ln w="9525">
              <a:noFill/>
              <a:miter lim="800000"/>
              <a:headEnd/>
              <a:tailEnd/>
            </a:ln>
          </p:spPr>
          <p:txBody>
            <a:bodyPr wrap="none">
              <a:spAutoFit/>
            </a:bodyPr>
            <a:lstStyle/>
            <a:p>
              <a:r>
                <a:rPr lang="en-US" b="1" dirty="0"/>
                <a:t>3</a:t>
              </a:r>
            </a:p>
          </p:txBody>
        </p:sp>
        <p:sp>
          <p:nvSpPr>
            <p:cNvPr id="33" name="Text Box 27">
              <a:extLst>
                <a:ext uri="{FF2B5EF4-FFF2-40B4-BE49-F238E27FC236}">
                  <a16:creationId xmlns:a16="http://schemas.microsoft.com/office/drawing/2014/main" id="{A3CBCA4E-B6A3-14A8-EA70-644734960BDF}"/>
                </a:ext>
              </a:extLst>
            </p:cNvPr>
            <p:cNvSpPr txBox="1">
              <a:spLocks noChangeArrowheads="1"/>
            </p:cNvSpPr>
            <p:nvPr>
              <p:custDataLst>
                <p:tags r:id="rId12"/>
              </p:custDataLst>
            </p:nvPr>
          </p:nvSpPr>
          <p:spPr bwMode="auto">
            <a:xfrm>
              <a:off x="2567493" y="5248327"/>
              <a:ext cx="428322" cy="369332"/>
            </a:xfrm>
            <a:prstGeom prst="rect">
              <a:avLst/>
            </a:prstGeom>
            <a:noFill/>
            <a:ln w="9525">
              <a:noFill/>
              <a:miter lim="800000"/>
              <a:headEnd/>
              <a:tailEnd/>
            </a:ln>
          </p:spPr>
          <p:txBody>
            <a:bodyPr wrap="none">
              <a:spAutoFit/>
            </a:bodyPr>
            <a:lstStyle/>
            <a:p>
              <a:r>
                <a:rPr lang="en-US" b="1" dirty="0"/>
                <a:t>10</a:t>
              </a:r>
            </a:p>
          </p:txBody>
        </p:sp>
        <p:sp>
          <p:nvSpPr>
            <p:cNvPr id="34" name="Text Box 27">
              <a:extLst>
                <a:ext uri="{FF2B5EF4-FFF2-40B4-BE49-F238E27FC236}">
                  <a16:creationId xmlns:a16="http://schemas.microsoft.com/office/drawing/2014/main" id="{C7B85BE6-BE2C-447D-884A-0D4686A9B38F}"/>
                </a:ext>
              </a:extLst>
            </p:cNvPr>
            <p:cNvSpPr txBox="1">
              <a:spLocks noChangeArrowheads="1"/>
            </p:cNvSpPr>
            <p:nvPr>
              <p:custDataLst>
                <p:tags r:id="rId13"/>
              </p:custDataLst>
            </p:nvPr>
          </p:nvSpPr>
          <p:spPr bwMode="auto">
            <a:xfrm>
              <a:off x="2731071" y="3390405"/>
              <a:ext cx="306494" cy="369332"/>
            </a:xfrm>
            <a:prstGeom prst="rect">
              <a:avLst/>
            </a:prstGeom>
            <a:noFill/>
            <a:ln w="9525">
              <a:noFill/>
              <a:miter lim="800000"/>
              <a:headEnd/>
              <a:tailEnd/>
            </a:ln>
          </p:spPr>
          <p:txBody>
            <a:bodyPr wrap="square">
              <a:spAutoFit/>
            </a:bodyPr>
            <a:lstStyle/>
            <a:p>
              <a:r>
                <a:rPr lang="en-US" b="1" dirty="0"/>
                <a:t>5</a:t>
              </a:r>
            </a:p>
          </p:txBody>
        </p:sp>
      </p:grpSp>
      <p:sp>
        <p:nvSpPr>
          <p:cNvPr id="38" name="Title 1">
            <a:extLst>
              <a:ext uri="{FF2B5EF4-FFF2-40B4-BE49-F238E27FC236}">
                <a16:creationId xmlns:a16="http://schemas.microsoft.com/office/drawing/2014/main" id="{304737B4-3878-BB84-2899-20894661C48D}"/>
              </a:ext>
            </a:extLst>
          </p:cNvPr>
          <p:cNvSpPr>
            <a:spLocks noGrp="1"/>
          </p:cNvSpPr>
          <p:nvPr>
            <p:ph type="title"/>
          </p:nvPr>
        </p:nvSpPr>
        <p:spPr>
          <a:xfrm>
            <a:off x="1143001" y="352906"/>
            <a:ext cx="9905998" cy="713893"/>
          </a:xfrm>
        </p:spPr>
        <p:txBody>
          <a:bodyPr/>
          <a:lstStyle/>
          <a:p>
            <a:pPr algn="ctr"/>
            <a:r>
              <a:rPr lang="en-US" dirty="0"/>
              <a:t>Example</a:t>
            </a:r>
          </a:p>
        </p:txBody>
      </p:sp>
    </p:spTree>
    <p:extLst>
      <p:ext uri="{BB962C8B-B14F-4D97-AF65-F5344CB8AC3E}">
        <p14:creationId xmlns:p14="http://schemas.microsoft.com/office/powerpoint/2010/main" val="10279585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sz="quarter" idx="1"/>
            <p:custDataLst>
              <p:tags r:id="rId1"/>
            </p:custDataLst>
          </p:nvPr>
        </p:nvSpPr>
        <p:spPr>
          <a:xfrm>
            <a:off x="1603465" y="1271451"/>
            <a:ext cx="6895011" cy="5065123"/>
          </a:xfrm>
          <a:solidFill>
            <a:schemeClr val="tx1">
              <a:lumMod val="95000"/>
            </a:schemeClr>
          </a:solidFill>
          <a:ln>
            <a:solidFill>
              <a:schemeClr val="bg1"/>
            </a:solidFill>
          </a:ln>
        </p:spPr>
        <p:txBody>
          <a:bodyPr anchor="ctr">
            <a:normAutofit fontScale="92500" lnSpcReduction="10000"/>
          </a:bodyPr>
          <a:lstStyle/>
          <a:p>
            <a:pPr eaLnBrk="1" hangingPunct="1">
              <a:lnSpc>
                <a:spcPct val="80000"/>
              </a:lnSpc>
              <a:buFontTx/>
              <a:buNone/>
            </a:pPr>
            <a:r>
              <a:rPr lang="en-US" sz="2400" b="1" dirty="0" err="1">
                <a:solidFill>
                  <a:schemeClr val="bg1"/>
                </a:solidFill>
                <a:latin typeface="Courier New" pitchFamily="49" charset="0"/>
              </a:rPr>
              <a:t>dijkstra</a:t>
            </a:r>
            <a:r>
              <a:rPr lang="en-US" sz="2400" b="1" dirty="0">
                <a:solidFill>
                  <a:schemeClr val="bg1"/>
                </a:solidFill>
                <a:latin typeface="Courier New" pitchFamily="49" charset="0"/>
              </a:rPr>
              <a:t>(Graph G, Vertex s):</a:t>
            </a:r>
          </a:p>
          <a:p>
            <a:pPr eaLnBrk="1" hangingPunct="1">
              <a:lnSpc>
                <a:spcPct val="80000"/>
              </a:lnSpc>
              <a:buFontTx/>
              <a:buNone/>
            </a:pPr>
            <a:r>
              <a:rPr lang="en-US" sz="2400" b="1" dirty="0">
                <a:solidFill>
                  <a:schemeClr val="bg1"/>
                </a:solidFill>
                <a:latin typeface="Courier New" pitchFamily="49" charset="0"/>
              </a:rPr>
              <a:t>  Vertex </a:t>
            </a:r>
            <a:r>
              <a:rPr lang="en-US" sz="2400" b="1" dirty="0" err="1">
                <a:solidFill>
                  <a:schemeClr val="bg1"/>
                </a:solidFill>
                <a:latin typeface="Courier New" pitchFamily="49" charset="0"/>
              </a:rPr>
              <a:t>v,w</a:t>
            </a:r>
            <a:endParaRPr lang="en-US" sz="2400" b="1" dirty="0">
              <a:solidFill>
                <a:schemeClr val="bg1"/>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a:t>
            </a:r>
            <a:r>
              <a:rPr lang="en-US" sz="2400" b="1" dirty="0" err="1">
                <a:solidFill>
                  <a:schemeClr val="bg1"/>
                </a:solidFill>
                <a:latin typeface="Courier New" pitchFamily="49" charset="0"/>
              </a:rPr>
              <a:t>s.dist</a:t>
            </a:r>
            <a:r>
              <a:rPr lang="en-US" sz="2400" b="1" dirty="0">
                <a:solidFill>
                  <a:schemeClr val="bg1"/>
                </a:solidFill>
                <a:latin typeface="Courier New" pitchFamily="49" charset="0"/>
              </a:rPr>
              <a:t> = 0</a:t>
            </a:r>
          </a:p>
          <a:p>
            <a:pPr eaLnBrk="1" hangingPunct="1">
              <a:lnSpc>
                <a:spcPct val="80000"/>
              </a:lnSpc>
              <a:buFontTx/>
              <a:buNone/>
            </a:pPr>
            <a:endParaRPr lang="en-US" sz="2400" b="1" dirty="0">
              <a:solidFill>
                <a:schemeClr val="bg1"/>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while (</a:t>
            </a:r>
            <a:r>
              <a:rPr lang="en-US" sz="2400" b="1" dirty="0">
                <a:solidFill>
                  <a:schemeClr val="accent3"/>
                </a:solidFill>
                <a:latin typeface="Courier New" pitchFamily="49" charset="0"/>
              </a:rPr>
              <a:t>there exist unknown vertices</a:t>
            </a:r>
            <a:r>
              <a:rPr lang="en-US" b="1" dirty="0">
                <a:solidFill>
                  <a:schemeClr val="bg1"/>
                </a:solidFill>
                <a:latin typeface="Courier New" pitchFamily="49" charset="0"/>
              </a:rPr>
              <a:t>)</a:t>
            </a:r>
          </a:p>
          <a:p>
            <a:pPr eaLnBrk="1" hangingPunct="1">
              <a:lnSpc>
                <a:spcPct val="80000"/>
              </a:lnSpc>
              <a:buFontTx/>
              <a:buNone/>
            </a:pPr>
            <a:r>
              <a:rPr lang="en-US" sz="2400" b="1" dirty="0">
                <a:solidFill>
                  <a:schemeClr val="bg1"/>
                </a:solidFill>
                <a:latin typeface="Courier New" pitchFamily="49" charset="0"/>
              </a:rPr>
              <a:t>    </a:t>
            </a:r>
            <a:r>
              <a:rPr lang="en-US" sz="2400" b="1" dirty="0">
                <a:solidFill>
                  <a:schemeClr val="accent3"/>
                </a:solidFill>
                <a:latin typeface="Courier New" pitchFamily="49" charset="0"/>
              </a:rPr>
              <a:t>find the unknown v with lowest </a:t>
            </a:r>
            <a:r>
              <a:rPr lang="en-US" sz="2400" b="1" dirty="0" err="1">
                <a:solidFill>
                  <a:schemeClr val="accent3"/>
                </a:solidFill>
                <a:latin typeface="Courier New" pitchFamily="49" charset="0"/>
              </a:rPr>
              <a:t>dist</a:t>
            </a:r>
            <a:endParaRPr lang="en-US" sz="2400" b="1" dirty="0">
              <a:solidFill>
                <a:schemeClr val="accent3"/>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a:t>
            </a:r>
            <a:r>
              <a:rPr lang="en-US" sz="2400" b="1" dirty="0" err="1">
                <a:solidFill>
                  <a:schemeClr val="bg1"/>
                </a:solidFill>
                <a:latin typeface="Courier New" pitchFamily="49" charset="0"/>
              </a:rPr>
              <a:t>v.known</a:t>
            </a:r>
            <a:r>
              <a:rPr lang="en-US" sz="2400" b="1" dirty="0">
                <a:solidFill>
                  <a:schemeClr val="bg1"/>
                </a:solidFill>
                <a:latin typeface="Courier New" pitchFamily="49" charset="0"/>
              </a:rPr>
              <a:t> = true;</a:t>
            </a:r>
          </a:p>
          <a:p>
            <a:pPr eaLnBrk="1" hangingPunct="1">
              <a:lnSpc>
                <a:spcPct val="80000"/>
              </a:lnSpc>
              <a:buFontTx/>
              <a:buNone/>
            </a:pPr>
            <a:endParaRPr lang="en-US" sz="2400" b="1" dirty="0">
              <a:solidFill>
                <a:schemeClr val="bg1"/>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for each w adjacent to v</a:t>
            </a:r>
          </a:p>
          <a:p>
            <a:pPr eaLnBrk="1" hangingPunct="1">
              <a:lnSpc>
                <a:spcPct val="80000"/>
              </a:lnSpc>
              <a:buFontTx/>
              <a:buNone/>
            </a:pPr>
            <a:r>
              <a:rPr lang="en-US" sz="2400" b="1" dirty="0">
                <a:solidFill>
                  <a:schemeClr val="bg1"/>
                </a:solidFill>
                <a:latin typeface="Courier New" pitchFamily="49" charset="0"/>
              </a:rPr>
              <a:t>      if (!</a:t>
            </a:r>
            <a:r>
              <a:rPr lang="en-US" sz="2400" b="1" dirty="0" err="1">
                <a:solidFill>
                  <a:schemeClr val="bg1"/>
                </a:solidFill>
                <a:latin typeface="Courier New" pitchFamily="49" charset="0"/>
              </a:rPr>
              <a:t>w.known</a:t>
            </a:r>
            <a:r>
              <a:rPr lang="en-US" sz="2400" b="1" dirty="0">
                <a:solidFill>
                  <a:schemeClr val="bg1"/>
                </a:solidFill>
                <a:latin typeface="Courier New" pitchFamily="49" charset="0"/>
              </a:rPr>
              <a:t>)</a:t>
            </a:r>
          </a:p>
          <a:p>
            <a:pPr eaLnBrk="1" hangingPunct="1">
              <a:lnSpc>
                <a:spcPct val="80000"/>
              </a:lnSpc>
              <a:buFontTx/>
              <a:buNone/>
            </a:pPr>
            <a:r>
              <a:rPr lang="en-US" sz="2400" b="1" dirty="0">
                <a:solidFill>
                  <a:schemeClr val="bg1"/>
                </a:solidFill>
                <a:latin typeface="Courier New" pitchFamily="49" charset="0"/>
              </a:rPr>
              <a:t>        if (</a:t>
            </a:r>
            <a:r>
              <a:rPr lang="en-US" sz="2400" b="1" dirty="0" err="1">
                <a:solidFill>
                  <a:schemeClr val="bg1"/>
                </a:solidFill>
                <a:latin typeface="Courier New" pitchFamily="49" charset="0"/>
              </a:rPr>
              <a:t>v.dist</a:t>
            </a:r>
            <a:r>
              <a:rPr lang="en-US" sz="2400" b="1" dirty="0">
                <a:solidFill>
                  <a:schemeClr val="bg1"/>
                </a:solidFill>
                <a:latin typeface="Courier New" pitchFamily="49" charset="0"/>
              </a:rPr>
              <a:t> + </a:t>
            </a:r>
            <a:r>
              <a:rPr lang="en-US" sz="2400" b="1" dirty="0" err="1">
                <a:solidFill>
                  <a:schemeClr val="bg1"/>
                </a:solidFill>
                <a:latin typeface="Courier New" pitchFamily="49" charset="0"/>
              </a:rPr>
              <a:t>Cost_VW</a:t>
            </a:r>
            <a:r>
              <a:rPr lang="en-US" sz="2400" b="1" dirty="0">
                <a:solidFill>
                  <a:schemeClr val="bg1"/>
                </a:solidFill>
                <a:latin typeface="Courier New" pitchFamily="49" charset="0"/>
              </a:rPr>
              <a:t> &lt; </a:t>
            </a:r>
            <a:r>
              <a:rPr lang="en-US" sz="2400" b="1" dirty="0" err="1">
                <a:solidFill>
                  <a:schemeClr val="bg1"/>
                </a:solidFill>
                <a:latin typeface="Courier New" pitchFamily="49" charset="0"/>
              </a:rPr>
              <a:t>w.dist</a:t>
            </a:r>
            <a:r>
              <a:rPr lang="en-US" b="1" dirty="0">
                <a:solidFill>
                  <a:schemeClr val="bg1"/>
                </a:solidFill>
                <a:latin typeface="Courier New" pitchFamily="49" charset="0"/>
              </a:rPr>
              <a:t>)</a:t>
            </a:r>
            <a:endParaRPr lang="en-US" sz="2400" b="1" dirty="0">
              <a:solidFill>
                <a:schemeClr val="bg1"/>
              </a:solidFill>
              <a:latin typeface="Courier New" pitchFamily="49" charset="0"/>
            </a:endParaRPr>
          </a:p>
          <a:p>
            <a:pPr eaLnBrk="1" hangingPunct="1">
              <a:lnSpc>
                <a:spcPct val="80000"/>
              </a:lnSpc>
              <a:buFontTx/>
              <a:buNone/>
            </a:pPr>
            <a:r>
              <a:rPr lang="en-US" b="1" dirty="0">
                <a:solidFill>
                  <a:schemeClr val="bg1"/>
                </a:solidFill>
                <a:latin typeface="Courier New" pitchFamily="49" charset="0"/>
              </a:rPr>
              <a:t>     </a:t>
            </a:r>
            <a:r>
              <a:rPr lang="en-US" sz="2400" b="1" dirty="0">
                <a:solidFill>
                  <a:schemeClr val="bg1"/>
                </a:solidFill>
                <a:latin typeface="Courier New" pitchFamily="49" charset="0"/>
              </a:rPr>
              <a:t>     </a:t>
            </a:r>
            <a:r>
              <a:rPr lang="en-US" sz="2400" b="1" dirty="0" err="1">
                <a:solidFill>
                  <a:schemeClr val="bg1"/>
                </a:solidFill>
                <a:latin typeface="Courier New" pitchFamily="49" charset="0"/>
              </a:rPr>
              <a:t>w.dist</a:t>
            </a:r>
            <a:r>
              <a:rPr lang="en-US" sz="2400" b="1" dirty="0">
                <a:solidFill>
                  <a:schemeClr val="bg1"/>
                </a:solidFill>
                <a:latin typeface="Courier New" pitchFamily="49" charset="0"/>
              </a:rPr>
              <a:t> = </a:t>
            </a:r>
            <a:r>
              <a:rPr lang="en-US" sz="2400" b="1" dirty="0" err="1">
                <a:solidFill>
                  <a:schemeClr val="bg1"/>
                </a:solidFill>
                <a:latin typeface="Courier New" pitchFamily="49" charset="0"/>
              </a:rPr>
              <a:t>v.dist</a:t>
            </a:r>
            <a:r>
              <a:rPr lang="en-US" sz="2400" b="1" dirty="0">
                <a:solidFill>
                  <a:schemeClr val="bg1"/>
                </a:solidFill>
                <a:latin typeface="Courier New" pitchFamily="49" charset="0"/>
              </a:rPr>
              <a:t> + </a:t>
            </a:r>
            <a:r>
              <a:rPr lang="en-US" sz="2400" b="1" dirty="0" err="1">
                <a:solidFill>
                  <a:schemeClr val="bg1"/>
                </a:solidFill>
                <a:latin typeface="Courier New" pitchFamily="49" charset="0"/>
              </a:rPr>
              <a:t>Cost_VW</a:t>
            </a:r>
            <a:r>
              <a:rPr lang="en-US" sz="2400" b="1" dirty="0">
                <a:solidFill>
                  <a:schemeClr val="bg1"/>
                </a:solidFill>
                <a:latin typeface="Courier New" pitchFamily="49" charset="0"/>
              </a:rPr>
              <a:t>;</a:t>
            </a:r>
          </a:p>
          <a:p>
            <a:pPr eaLnBrk="1" hangingPunct="1">
              <a:lnSpc>
                <a:spcPct val="80000"/>
              </a:lnSpc>
              <a:buFontTx/>
              <a:buNone/>
            </a:pPr>
            <a:r>
              <a:rPr lang="en-US" sz="2400" b="1" dirty="0">
                <a:solidFill>
                  <a:schemeClr val="bg1"/>
                </a:solidFill>
                <a:latin typeface="Courier New" pitchFamily="49" charset="0"/>
              </a:rPr>
              <a:t>          </a:t>
            </a:r>
            <a:r>
              <a:rPr lang="en-US" sz="2400" b="1" dirty="0" err="1">
                <a:solidFill>
                  <a:schemeClr val="bg1"/>
                </a:solidFill>
                <a:latin typeface="Courier New" pitchFamily="49" charset="0"/>
              </a:rPr>
              <a:t>w.path</a:t>
            </a:r>
            <a:r>
              <a:rPr lang="en-US" sz="2400" b="1" dirty="0">
                <a:solidFill>
                  <a:schemeClr val="bg1"/>
                </a:solidFill>
                <a:latin typeface="Courier New" pitchFamily="49" charset="0"/>
              </a:rPr>
              <a:t> = v;</a:t>
            </a:r>
          </a:p>
        </p:txBody>
      </p:sp>
      <p:sp>
        <p:nvSpPr>
          <p:cNvPr id="2" name="Title 1">
            <a:extLst>
              <a:ext uri="{FF2B5EF4-FFF2-40B4-BE49-F238E27FC236}">
                <a16:creationId xmlns:a16="http://schemas.microsoft.com/office/drawing/2014/main" id="{5DFCC702-0BBD-6880-5ABF-327A3E1956A2}"/>
              </a:ext>
            </a:extLst>
          </p:cNvPr>
          <p:cNvSpPr>
            <a:spLocks noGrp="1"/>
          </p:cNvSpPr>
          <p:nvPr>
            <p:ph type="title"/>
          </p:nvPr>
        </p:nvSpPr>
        <p:spPr>
          <a:xfrm>
            <a:off x="1143001" y="222277"/>
            <a:ext cx="9905998" cy="713893"/>
          </a:xfrm>
        </p:spPr>
        <p:txBody>
          <a:bodyPr/>
          <a:lstStyle/>
          <a:p>
            <a:pPr algn="ctr"/>
            <a:r>
              <a:rPr lang="en-US" dirty="0"/>
              <a:t>Dijkstra’s algorithm </a:t>
            </a:r>
            <a:r>
              <a:rPr lang="en-US" dirty="0" err="1"/>
              <a:t>Psuedocode</a:t>
            </a:r>
            <a:endParaRPr lang="en-US" dirty="0"/>
          </a:p>
        </p:txBody>
      </p:sp>
      <p:cxnSp>
        <p:nvCxnSpPr>
          <p:cNvPr id="5" name="Straight Connector 4">
            <a:extLst>
              <a:ext uri="{FF2B5EF4-FFF2-40B4-BE49-F238E27FC236}">
                <a16:creationId xmlns:a16="http://schemas.microsoft.com/office/drawing/2014/main" id="{4F87303D-9426-0F52-6B30-742F3B61B73E}"/>
              </a:ext>
            </a:extLst>
          </p:cNvPr>
          <p:cNvCxnSpPr>
            <a:cxnSpLocks/>
          </p:cNvCxnSpPr>
          <p:nvPr/>
        </p:nvCxnSpPr>
        <p:spPr>
          <a:xfrm flipV="1">
            <a:off x="8595360" y="2177143"/>
            <a:ext cx="957943" cy="79520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CEFE21A-04F9-956B-8240-6C2947E8F084}"/>
              </a:ext>
            </a:extLst>
          </p:cNvPr>
          <p:cNvSpPr txBox="1"/>
          <p:nvPr/>
        </p:nvSpPr>
        <p:spPr>
          <a:xfrm>
            <a:off x="9650187" y="1374414"/>
            <a:ext cx="1935481" cy="1200329"/>
          </a:xfrm>
          <a:prstGeom prst="rect">
            <a:avLst/>
          </a:prstGeom>
          <a:noFill/>
        </p:spPr>
        <p:txBody>
          <a:bodyPr wrap="square" rtlCol="0">
            <a:spAutoFit/>
          </a:bodyPr>
          <a:lstStyle/>
          <a:p>
            <a:r>
              <a:rPr lang="en-US" dirty="0"/>
              <a:t>Will need to figure out how to do these two purple items fast</a:t>
            </a:r>
          </a:p>
        </p:txBody>
      </p:sp>
      <p:cxnSp>
        <p:nvCxnSpPr>
          <p:cNvPr id="10" name="Straight Connector 9">
            <a:extLst>
              <a:ext uri="{FF2B5EF4-FFF2-40B4-BE49-F238E27FC236}">
                <a16:creationId xmlns:a16="http://schemas.microsoft.com/office/drawing/2014/main" id="{222D4477-704D-18A0-9B7A-5D3AFB455DDF}"/>
              </a:ext>
            </a:extLst>
          </p:cNvPr>
          <p:cNvCxnSpPr>
            <a:cxnSpLocks/>
          </p:cNvCxnSpPr>
          <p:nvPr/>
        </p:nvCxnSpPr>
        <p:spPr>
          <a:xfrm>
            <a:off x="8643802" y="3369944"/>
            <a:ext cx="478972" cy="4340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66B5CC8-F93E-427F-BAA8-BF7377A58559}"/>
                  </a:ext>
                </a:extLst>
              </p:cNvPr>
              <p:cNvSpPr txBox="1"/>
              <p:nvPr/>
            </p:nvSpPr>
            <p:spPr>
              <a:xfrm>
                <a:off x="9149447" y="3767543"/>
                <a:ext cx="2392677" cy="2031325"/>
              </a:xfrm>
              <a:prstGeom prst="rect">
                <a:avLst/>
              </a:prstGeom>
              <a:noFill/>
            </p:spPr>
            <p:txBody>
              <a:bodyPr wrap="square" rtlCol="0">
                <a:spAutoFit/>
              </a:bodyPr>
              <a:lstStyle/>
              <a:p>
                <a:r>
                  <a:rPr lang="en-US" dirty="0"/>
                  <a:t>If nodes in list, then </a:t>
                </a:r>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d>
                  </m:oMath>
                </a14:m>
                <a:r>
                  <a:rPr lang="en-US" dirty="0"/>
                  <a:t> time to find next vertex. Need to run loop once per node and inner loop once per edge so total runtime is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endParaRPr lang="en-US" dirty="0"/>
              </a:p>
            </p:txBody>
          </p:sp>
        </mc:Choice>
        <mc:Fallback xmlns="">
          <p:sp>
            <p:nvSpPr>
              <p:cNvPr id="12" name="TextBox 11">
                <a:extLst>
                  <a:ext uri="{FF2B5EF4-FFF2-40B4-BE49-F238E27FC236}">
                    <a16:creationId xmlns:a16="http://schemas.microsoft.com/office/drawing/2014/main" id="{466B5CC8-F93E-427F-BAA8-BF7377A58559}"/>
                  </a:ext>
                </a:extLst>
              </p:cNvPr>
              <p:cNvSpPr txBox="1">
                <a:spLocks noRot="1" noChangeAspect="1" noMove="1" noResize="1" noEditPoints="1" noAdjustHandles="1" noChangeArrowheads="1" noChangeShapeType="1" noTextEdit="1"/>
              </p:cNvSpPr>
              <p:nvPr/>
            </p:nvSpPr>
            <p:spPr>
              <a:xfrm>
                <a:off x="9149447" y="3767543"/>
                <a:ext cx="2392677" cy="2031325"/>
              </a:xfrm>
              <a:prstGeom prst="rect">
                <a:avLst/>
              </a:prstGeom>
              <a:blipFill>
                <a:blip r:embed="rId4"/>
                <a:stretch>
                  <a:fillRect l="-2116" t="-1242" r="-4233" b="-1863"/>
                </a:stretch>
              </a:blipFill>
            </p:spPr>
            <p:txBody>
              <a:bodyPr/>
              <a:lstStyle/>
              <a:p>
                <a:r>
                  <a:rPr lang="en-US">
                    <a:noFill/>
                  </a:rPr>
                  <a:t> </a:t>
                </a:r>
              </a:p>
            </p:txBody>
          </p:sp>
        </mc:Fallback>
      </mc:AlternateContent>
    </p:spTree>
    <p:extLst>
      <p:ext uri="{BB962C8B-B14F-4D97-AF65-F5344CB8AC3E}">
        <p14:creationId xmlns:p14="http://schemas.microsoft.com/office/powerpoint/2010/main" val="12096955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20" name="Rectangle 3"/>
          <p:cNvSpPr>
            <a:spLocks noGrp="1" noChangeArrowheads="1"/>
          </p:cNvSpPr>
          <p:nvPr>
            <p:ph type="title"/>
            <p:custDataLst>
              <p:tags r:id="rId1"/>
            </p:custDataLst>
          </p:nvPr>
        </p:nvSpPr>
        <p:spPr>
          <a:xfrm>
            <a:off x="1143001" y="182880"/>
            <a:ext cx="9905998" cy="731311"/>
          </a:xfrm>
        </p:spPr>
        <p:txBody>
          <a:bodyPr/>
          <a:lstStyle/>
          <a:p>
            <a:pPr algn="ctr"/>
            <a:r>
              <a:rPr lang="en-US" dirty="0"/>
              <a:t>Dijkstra' Algorithm</a:t>
            </a:r>
          </a:p>
        </p:txBody>
      </p:sp>
      <p:sp>
        <p:nvSpPr>
          <p:cNvPr id="86019" name="Rectangle 2"/>
          <p:cNvSpPr>
            <a:spLocks noGrp="1" noChangeArrowheads="1"/>
          </p:cNvSpPr>
          <p:nvPr>
            <p:ph sz="quarter" idx="1"/>
            <p:custDataLst>
              <p:tags r:id="rId2"/>
            </p:custDataLst>
          </p:nvPr>
        </p:nvSpPr>
        <p:spPr>
          <a:xfrm>
            <a:off x="254222" y="1248588"/>
            <a:ext cx="7554686" cy="5037909"/>
          </a:xfrm>
          <a:solidFill>
            <a:schemeClr val="tx1">
              <a:lumMod val="95000"/>
            </a:schemeClr>
          </a:solidFill>
          <a:ln>
            <a:solidFill>
              <a:schemeClr val="bg1"/>
            </a:solidFill>
          </a:ln>
        </p:spPr>
        <p:txBody>
          <a:bodyPr anchor="ctr">
            <a:noAutofit/>
          </a:bodyPr>
          <a:lstStyle/>
          <a:p>
            <a:pPr>
              <a:lnSpc>
                <a:spcPct val="80000"/>
              </a:lnSpc>
              <a:buFont typeface="Monotype Sorts" charset="2"/>
              <a:buNone/>
            </a:pPr>
            <a:r>
              <a:rPr lang="en-US" sz="1600" b="1" dirty="0" err="1">
                <a:solidFill>
                  <a:schemeClr val="bg1"/>
                </a:solidFill>
                <a:latin typeface="Courier New" pitchFamily="49" charset="0"/>
              </a:rPr>
              <a:t>dijkstra</a:t>
            </a:r>
            <a:r>
              <a:rPr lang="en-US" sz="1600" b="1" dirty="0">
                <a:solidFill>
                  <a:schemeClr val="bg1"/>
                </a:solidFill>
                <a:latin typeface="Courier New" pitchFamily="49" charset="0"/>
              </a:rPr>
              <a:t>(G, s):</a:t>
            </a:r>
          </a:p>
          <a:p>
            <a:pPr>
              <a:lnSpc>
                <a:spcPct val="80000"/>
              </a:lnSpc>
              <a:buFont typeface="Monotype Sorts" charset="2"/>
              <a:buNone/>
            </a:pPr>
            <a:r>
              <a:rPr lang="en-US" sz="1600" b="1" dirty="0">
                <a:solidFill>
                  <a:schemeClr val="bg1"/>
                </a:solidFill>
                <a:latin typeface="Courier New" pitchFamily="49" charset="0"/>
              </a:rPr>
              <a:t>1. </a:t>
            </a:r>
            <a:r>
              <a:rPr lang="en-US" sz="1600" b="1" dirty="0">
                <a:solidFill>
                  <a:schemeClr val="accent3"/>
                </a:solidFill>
                <a:latin typeface="Courier New" pitchFamily="49" charset="0"/>
              </a:rPr>
              <a:t>init PQ to be empty</a:t>
            </a:r>
          </a:p>
          <a:p>
            <a:pPr>
              <a:lnSpc>
                <a:spcPct val="80000"/>
              </a:lnSpc>
              <a:buFont typeface="Monotype Sorts" charset="2"/>
              <a:buNone/>
            </a:pPr>
            <a:r>
              <a:rPr lang="en-US" sz="1600" b="1" dirty="0">
                <a:solidFill>
                  <a:schemeClr val="bg1"/>
                </a:solidFill>
                <a:latin typeface="Courier New" pitchFamily="49" charset="0"/>
              </a:rPr>
              <a:t>2. </a:t>
            </a:r>
            <a:r>
              <a:rPr lang="en-US" sz="1600" b="1" dirty="0" err="1">
                <a:solidFill>
                  <a:schemeClr val="accent3"/>
                </a:solidFill>
                <a:latin typeface="Courier New" pitchFamily="49" charset="0"/>
              </a:rPr>
              <a:t>PQ.Insert</a:t>
            </a:r>
            <a:r>
              <a:rPr lang="en-US" sz="1600" b="1" dirty="0">
                <a:solidFill>
                  <a:schemeClr val="accent3"/>
                </a:solidFill>
                <a:latin typeface="Courier New" pitchFamily="49" charset="0"/>
              </a:rPr>
              <a:t>(s, dist=0)</a:t>
            </a:r>
          </a:p>
          <a:p>
            <a:pPr>
              <a:lnSpc>
                <a:spcPct val="80000"/>
              </a:lnSpc>
              <a:buFont typeface="Monotype Sorts" charset="2"/>
              <a:buNone/>
            </a:pPr>
            <a:r>
              <a:rPr lang="en-US" sz="1600" b="1" dirty="0">
                <a:solidFill>
                  <a:schemeClr val="bg1"/>
                </a:solidFill>
                <a:latin typeface="Courier New" pitchFamily="49" charset="0"/>
                <a:sym typeface="Symbol" pitchFamily="18" charset="2"/>
              </a:rPr>
              <a:t>3. parent[s] = NULL;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[s] = 0;</a:t>
            </a:r>
          </a:p>
          <a:p>
            <a:pPr>
              <a:lnSpc>
                <a:spcPct val="80000"/>
              </a:lnSpc>
              <a:buFont typeface="Monotype Sorts" charset="2"/>
              <a:buNone/>
            </a:pPr>
            <a:r>
              <a:rPr lang="en-US" sz="1600" b="1" dirty="0">
                <a:solidFill>
                  <a:schemeClr val="bg1"/>
                </a:solidFill>
                <a:latin typeface="Courier New" pitchFamily="49" charset="0"/>
                <a:sym typeface="Symbol" pitchFamily="18" charset="2"/>
              </a:rPr>
              <a:t>4. while (</a:t>
            </a:r>
            <a:r>
              <a:rPr lang="en-US" sz="1600" b="1" dirty="0">
                <a:solidFill>
                  <a:schemeClr val="accent3"/>
                </a:solidFill>
                <a:latin typeface="Courier New" pitchFamily="49" charset="0"/>
                <a:sym typeface="Symbol" pitchFamily="18" charset="2"/>
              </a:rPr>
              <a:t>PQ not empty</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5.   v = </a:t>
            </a:r>
            <a:r>
              <a:rPr lang="en-US" sz="1600" b="1" dirty="0" err="1">
                <a:solidFill>
                  <a:schemeClr val="accent3"/>
                </a:solidFill>
                <a:latin typeface="Courier New" pitchFamily="49" charset="0"/>
                <a:sym typeface="Symbol" pitchFamily="18" charset="2"/>
              </a:rPr>
              <a:t>PQ.ExtractMin</a:t>
            </a:r>
            <a:r>
              <a:rPr lang="en-US" sz="1600" b="1" dirty="0">
                <a:solidFill>
                  <a:schemeClr val="accent3"/>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6.   for each w</a:t>
            </a:r>
            <a:r>
              <a:rPr lang="en-US" sz="1600" b="1" dirty="0">
                <a:solidFill>
                  <a:schemeClr val="bg1"/>
                </a:solidFill>
                <a:latin typeface="Courier New" pitchFamily="49" charset="0"/>
              </a:rPr>
              <a:t> </a:t>
            </a:r>
            <a:r>
              <a:rPr lang="en-US" sz="1600" b="1" dirty="0" err="1">
                <a:solidFill>
                  <a:schemeClr val="bg1"/>
                </a:solidFill>
                <a:latin typeface="Courier New" pitchFamily="49" charset="0"/>
                <a:sym typeface="Symbol" pitchFamily="18" charset="2"/>
              </a:rPr>
              <a:t>adj</a:t>
            </a:r>
            <a:r>
              <a:rPr lang="en-US" sz="1600" b="1" dirty="0">
                <a:solidFill>
                  <a:schemeClr val="bg1"/>
                </a:solidFill>
                <a:latin typeface="Courier New" pitchFamily="49" charset="0"/>
                <a:sym typeface="Symbol" pitchFamily="18" charset="2"/>
              </a:rPr>
              <a:t> to v</a:t>
            </a:r>
          </a:p>
          <a:p>
            <a:pPr>
              <a:lnSpc>
                <a:spcPct val="80000"/>
              </a:lnSpc>
              <a:buFont typeface="Monotype Sorts" charset="2"/>
              <a:buNone/>
            </a:pPr>
            <a:r>
              <a:rPr lang="en-US" sz="1600" b="1" dirty="0">
                <a:solidFill>
                  <a:schemeClr val="bg1"/>
                </a:solidFill>
                <a:latin typeface="Courier New" pitchFamily="49" charset="0"/>
                <a:sym typeface="Symbol" pitchFamily="18" charset="2"/>
              </a:rPr>
              <a:t>7.     if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600" b="1" dirty="0">
                <a:solidFill>
                  <a:schemeClr val="bg1"/>
                </a:solidFill>
                <a:latin typeface="Courier New" pitchFamily="49" charset="0"/>
                <a:sym typeface="Symbol" pitchFamily="18" charset="2"/>
              </a:rPr>
              <a:t>8.        dist[w] = dist[v] + wt(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 </a:t>
            </a:r>
          </a:p>
          <a:p>
            <a:pPr>
              <a:lnSpc>
                <a:spcPct val="80000"/>
              </a:lnSpc>
              <a:buFont typeface="Monotype Sorts" charset="2"/>
              <a:buNone/>
            </a:pPr>
            <a:r>
              <a:rPr lang="en-US" sz="1600" b="1" dirty="0">
                <a:solidFill>
                  <a:schemeClr val="bg1"/>
                </a:solidFill>
                <a:latin typeface="Courier New" pitchFamily="49" charset="0"/>
                <a:sym typeface="Symbol" pitchFamily="18" charset="2"/>
              </a:rPr>
              <a:t>9.        </a:t>
            </a:r>
            <a:r>
              <a:rPr lang="en-US" sz="1600" b="1" dirty="0" err="1">
                <a:solidFill>
                  <a:schemeClr val="accent3"/>
                </a:solidFill>
                <a:latin typeface="Courier New" pitchFamily="49" charset="0"/>
                <a:sym typeface="Symbol" pitchFamily="18" charset="2"/>
              </a:rPr>
              <a:t>PQ.Insert</a:t>
            </a:r>
            <a:r>
              <a:rPr lang="en-US" sz="1600" b="1" dirty="0">
                <a:solidFill>
                  <a:schemeClr val="accent3"/>
                </a:solidFill>
                <a:latin typeface="Courier New" pitchFamily="49" charset="0"/>
                <a:sym typeface="Symbol" pitchFamily="18" charset="2"/>
              </a:rPr>
              <a:t>(w, dist[w] )</a:t>
            </a:r>
          </a:p>
          <a:p>
            <a:pPr>
              <a:lnSpc>
                <a:spcPct val="80000"/>
              </a:lnSpc>
              <a:buFont typeface="Monotype Sorts" charset="2"/>
              <a:buNone/>
            </a:pPr>
            <a:r>
              <a:rPr lang="en-US" sz="1600" b="1" dirty="0">
                <a:solidFill>
                  <a:schemeClr val="bg1"/>
                </a:solidFill>
                <a:latin typeface="Courier New" pitchFamily="49" charset="0"/>
                <a:sym typeface="Symbol" pitchFamily="18" charset="2"/>
              </a:rPr>
              <a:t>10.       parent[w] = v</a:t>
            </a:r>
          </a:p>
          <a:p>
            <a:pPr>
              <a:lnSpc>
                <a:spcPct val="80000"/>
              </a:lnSpc>
              <a:buFont typeface="Monotype Sorts" charset="2"/>
              <a:buNone/>
            </a:pPr>
            <a:r>
              <a:rPr lang="en-US" sz="1600" b="1" dirty="0">
                <a:solidFill>
                  <a:schemeClr val="bg1"/>
                </a:solidFill>
                <a:latin typeface="Courier New" pitchFamily="49" charset="0"/>
                <a:sym typeface="Symbol" pitchFamily="18" charset="2"/>
              </a:rPr>
              <a:t>11.    else if (w is fringe &amp;&amp; dist[v]+</a:t>
            </a:r>
            <a:r>
              <a:rPr lang="en-US" sz="1600" b="1" dirty="0" err="1">
                <a:solidFill>
                  <a:schemeClr val="bg1"/>
                </a:solidFill>
                <a:latin typeface="Courier New" pitchFamily="49" charset="0"/>
                <a:sym typeface="Symbol" pitchFamily="18" charset="2"/>
              </a:rPr>
              <a:t>wt</a:t>
            </a:r>
            <a:r>
              <a:rPr lang="en-US" sz="1600" b="1" dirty="0">
                <a:solidFill>
                  <a:schemeClr val="bg1"/>
                </a:solidFill>
                <a:latin typeface="Courier New" pitchFamily="49" charset="0"/>
                <a:sym typeface="Symbol" pitchFamily="18" charset="2"/>
              </a:rPr>
              <a: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 &lt; dist[w]):</a:t>
            </a:r>
          </a:p>
          <a:p>
            <a:pPr>
              <a:lnSpc>
                <a:spcPct val="80000"/>
              </a:lnSpc>
              <a:buFont typeface="Monotype Sorts" charset="2"/>
              <a:buNone/>
            </a:pPr>
            <a:r>
              <a:rPr lang="en-US" sz="1600" b="1" dirty="0">
                <a:solidFill>
                  <a:schemeClr val="bg1"/>
                </a:solidFill>
                <a:latin typeface="Courier New" pitchFamily="49" charset="0"/>
                <a:sym typeface="Symbol" pitchFamily="18" charset="2"/>
              </a:rPr>
              <a:t>12.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 = dist[v] + wt(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accent3"/>
                </a:solidFill>
                <a:latin typeface="Courier New" pitchFamily="49" charset="0"/>
                <a:sym typeface="Symbol" pitchFamily="18" charset="2"/>
              </a:rPr>
              <a:t>13.       </a:t>
            </a:r>
            <a:r>
              <a:rPr lang="en-US" sz="1600" b="1" dirty="0" err="1">
                <a:solidFill>
                  <a:schemeClr val="accent3"/>
                </a:solidFill>
                <a:latin typeface="Courier New" pitchFamily="49" charset="0"/>
                <a:sym typeface="Symbol" pitchFamily="18" charset="2"/>
              </a:rPr>
              <a:t>PQ.decreaseKey</a:t>
            </a:r>
            <a:r>
              <a:rPr lang="en-US" sz="1600" b="1" dirty="0">
                <a:solidFill>
                  <a:schemeClr val="accent3"/>
                </a:solidFill>
                <a:latin typeface="Courier New" pitchFamily="49" charset="0"/>
                <a:sym typeface="Symbol" pitchFamily="18" charset="2"/>
              </a:rPr>
              <a:t>(w, dist[w])</a:t>
            </a:r>
          </a:p>
          <a:p>
            <a:pPr>
              <a:lnSpc>
                <a:spcPct val="80000"/>
              </a:lnSpc>
              <a:buFont typeface="Monotype Sorts" charset="2"/>
              <a:buNone/>
            </a:pPr>
            <a:r>
              <a:rPr lang="en-US" sz="1600" b="1" dirty="0">
                <a:solidFill>
                  <a:schemeClr val="bg1"/>
                </a:solidFill>
                <a:latin typeface="Courier New" pitchFamily="49" charset="0"/>
                <a:sym typeface="Symbol" pitchFamily="18" charset="2"/>
              </a:rPr>
              <a:t>14.       parent[w] = v</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2BD6531-E648-05A7-F86B-6582BABC7D63}"/>
                  </a:ext>
                </a:extLst>
              </p:cNvPr>
              <p:cNvSpPr txBox="1"/>
              <p:nvPr/>
            </p:nvSpPr>
            <p:spPr>
              <a:xfrm>
                <a:off x="7939454" y="1410782"/>
                <a:ext cx="3998324" cy="2933624"/>
              </a:xfrm>
              <a:prstGeom prst="rect">
                <a:avLst/>
              </a:prstGeom>
              <a:noFill/>
              <a:ln>
                <a:solidFill>
                  <a:schemeClr val="tx1">
                    <a:lumMod val="95000"/>
                  </a:schemeClr>
                </a:solidFill>
              </a:ln>
            </p:spPr>
            <p:txBody>
              <a:bodyPr wrap="square" rtlCol="0">
                <a:spAutoFit/>
              </a:bodyPr>
              <a:lstStyle/>
              <a:p>
                <a:r>
                  <a:rPr lang="en-US" dirty="0"/>
                  <a:t>What is the runtime now?</a:t>
                </a:r>
              </a:p>
              <a:p>
                <a:endParaRPr lang="en-US" dirty="0"/>
              </a:p>
              <a:p>
                <a:r>
                  <a:rPr lang="en-US" dirty="0"/>
                  <a:t>Extract min is </a:t>
                </a:r>
                <a14:m>
                  <m:oMath xmlns:m="http://schemas.openxmlformats.org/officeDocument/2006/math">
                    <m:r>
                      <m:rPr>
                        <m:sty m:val="p"/>
                      </m:rPr>
                      <a:rPr lang="en-US" b="0" i="0" smtClean="0">
                        <a:latin typeface="Cambria Math" panose="02040503050406030204" pitchFamily="18" charset="0"/>
                      </a:rPr>
                      <m:t>Θ</m:t>
                    </m:r>
                    <m:r>
                      <a:rPr lang="en-US" b="0" i="0" smtClean="0">
                        <a:latin typeface="Cambria Math" panose="02040503050406030204" pitchFamily="18" charset="0"/>
                      </a:rPr>
                      <m:t>(</m:t>
                    </m:r>
                    <m:r>
                      <m:rPr>
                        <m:sty m:val="p"/>
                      </m:rPr>
                      <a:rPr lang="en-US" b="0" i="0" smtClean="0">
                        <a:latin typeface="Cambria Math" panose="02040503050406030204" pitchFamily="18" charset="0"/>
                      </a:rPr>
                      <m:t>log</m:t>
                    </m:r>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r>
                      <a:rPr lang="en-US" b="0" i="0" smtClean="0">
                        <a:latin typeface="Cambria Math" panose="02040503050406030204" pitchFamily="18" charset="0"/>
                      </a:rPr>
                      <m:t>)</m:t>
                    </m:r>
                  </m:oMath>
                </a14:m>
                <a:endParaRPr lang="en-US" b="0" dirty="0"/>
              </a:p>
              <a:p>
                <a:r>
                  <a:rPr lang="en-US" dirty="0"/>
                  <a:t>Called </a:t>
                </a:r>
                <a14:m>
                  <m:oMath xmlns:m="http://schemas.openxmlformats.org/officeDocument/2006/math">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oMath>
                </a14:m>
                <a:r>
                  <a:rPr lang="en-US" dirty="0"/>
                  <a:t> times</a:t>
                </a:r>
              </a:p>
              <a:p>
                <a:endParaRPr lang="en-US" dirty="0"/>
              </a:p>
              <a:p>
                <a:r>
                  <a:rPr lang="en-US" dirty="0"/>
                  <a:t>Inner loop runs </a:t>
                </a:r>
                <a14:m>
                  <m:oMath xmlns:m="http://schemas.openxmlformats.org/officeDocument/2006/math">
                    <m:r>
                      <a:rPr lang="en-US" b="0" i="0" smtClean="0">
                        <a:latin typeface="Cambria Math" panose="02040503050406030204" pitchFamily="18" charset="0"/>
                      </a:rPr>
                      <m:t>|</m:t>
                    </m:r>
                    <m:r>
                      <m:rPr>
                        <m:sty m:val="p"/>
                      </m:rPr>
                      <a:rPr lang="en-US" b="0" i="0" smtClean="0">
                        <a:latin typeface="Cambria Math" panose="02040503050406030204" pitchFamily="18" charset="0"/>
                      </a:rPr>
                      <m:t>E</m:t>
                    </m:r>
                    <m:r>
                      <a:rPr lang="en-US" b="0" i="0" smtClean="0">
                        <a:latin typeface="Cambria Math" panose="02040503050406030204" pitchFamily="18" charset="0"/>
                      </a:rPr>
                      <m:t>|</m:t>
                    </m:r>
                  </m:oMath>
                </a14:m>
                <a:r>
                  <a:rPr lang="en-US" dirty="0"/>
                  <a:t> times</a:t>
                </a:r>
                <a:br>
                  <a:rPr lang="en-US" dirty="0"/>
                </a:br>
                <a:r>
                  <a:rPr lang="en-US" dirty="0"/>
                  <a:t>calls insert or </a:t>
                </a:r>
                <a:r>
                  <a:rPr lang="en-US" dirty="0" err="1"/>
                  <a:t>decreaseKey</a:t>
                </a:r>
                <a:r>
                  <a:rPr lang="en-US" dirty="0"/>
                  <a:t>: </a:t>
                </a:r>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e>
                            </m:d>
                          </m:e>
                        </m:func>
                      </m:e>
                    </m:d>
                  </m:oMath>
                </a14:m>
                <a:endParaRPr lang="en-US" b="0" dirty="0"/>
              </a:p>
              <a:p>
                <a:endParaRPr lang="en-US" dirty="0"/>
              </a:p>
              <a:p>
                <a:pPr/>
                <a:r>
                  <a:rPr lang="en-US" dirty="0"/>
                  <a:t>Total time:</a:t>
                </a:r>
                <a:br>
                  <a:rPr lang="en-US" dirty="0"/>
                </a:b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Vlog</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r>
                            <a:rPr lang="en-US" b="0" i="0" smtClean="0">
                              <a:latin typeface="Cambria Math" panose="02040503050406030204" pitchFamily="18" charset="0"/>
                            </a:rPr>
                            <m:t>+</m:t>
                          </m:r>
                          <m:r>
                            <m:rPr>
                              <m:sty m:val="p"/>
                            </m:rPr>
                            <a:rPr lang="en-US" b="0" i="0" smtClean="0">
                              <a:latin typeface="Cambria Math" panose="02040503050406030204" pitchFamily="18" charset="0"/>
                            </a:rPr>
                            <m:t>Elog</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e>
                      </m:d>
                      <m:r>
                        <a:rPr lang="en-US" b="0" i="0"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Elog</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e>
                      </m:d>
                    </m:oMath>
                  </m:oMathPara>
                </a14:m>
                <a:endParaRPr lang="en-US" b="0" dirty="0"/>
              </a:p>
            </p:txBody>
          </p:sp>
        </mc:Choice>
        <mc:Fallback xmlns="">
          <p:sp>
            <p:nvSpPr>
              <p:cNvPr id="2" name="TextBox 1">
                <a:extLst>
                  <a:ext uri="{FF2B5EF4-FFF2-40B4-BE49-F238E27FC236}">
                    <a16:creationId xmlns:a16="http://schemas.microsoft.com/office/drawing/2014/main" id="{12BD6531-E648-05A7-F86B-6582BABC7D63}"/>
                  </a:ext>
                </a:extLst>
              </p:cNvPr>
              <p:cNvSpPr txBox="1">
                <a:spLocks noRot="1" noChangeAspect="1" noMove="1" noResize="1" noEditPoints="1" noAdjustHandles="1" noChangeArrowheads="1" noChangeShapeType="1" noTextEdit="1"/>
              </p:cNvSpPr>
              <p:nvPr/>
            </p:nvSpPr>
            <p:spPr>
              <a:xfrm>
                <a:off x="7939454" y="1410782"/>
                <a:ext cx="3998324" cy="2933624"/>
              </a:xfrm>
              <a:prstGeom prst="rect">
                <a:avLst/>
              </a:prstGeom>
              <a:blipFill>
                <a:blip r:embed="rId4"/>
                <a:stretch>
                  <a:fillRect l="-946" t="-858"/>
                </a:stretch>
              </a:blipFill>
              <a:ln>
                <a:solidFill>
                  <a:schemeClr val="tx1">
                    <a:lumMod val="95000"/>
                  </a:schemeClr>
                </a:solidFill>
              </a:ln>
            </p:spPr>
            <p:txBody>
              <a:bodyPr/>
              <a:lstStyle/>
              <a:p>
                <a:r>
                  <a:rPr lang="en-US">
                    <a:noFill/>
                  </a:rPr>
                  <a:t> </a:t>
                </a:r>
              </a:p>
            </p:txBody>
          </p:sp>
        </mc:Fallback>
      </mc:AlternateContent>
      <p:sp>
        <p:nvSpPr>
          <p:cNvPr id="3" name="TextBox 2">
            <a:extLst>
              <a:ext uri="{FF2B5EF4-FFF2-40B4-BE49-F238E27FC236}">
                <a16:creationId xmlns:a16="http://schemas.microsoft.com/office/drawing/2014/main" id="{DED561AC-8582-4C51-9C11-093C540F2F17}"/>
              </a:ext>
            </a:extLst>
          </p:cNvPr>
          <p:cNvSpPr txBox="1"/>
          <p:nvPr/>
        </p:nvSpPr>
        <p:spPr>
          <a:xfrm>
            <a:off x="8515728" y="5350503"/>
            <a:ext cx="2705100" cy="1200329"/>
          </a:xfrm>
          <a:prstGeom prst="rect">
            <a:avLst/>
          </a:prstGeom>
          <a:noFill/>
          <a:ln>
            <a:noFill/>
          </a:ln>
        </p:spPr>
        <p:txBody>
          <a:bodyPr wrap="square" rtlCol="0">
            <a:spAutoFit/>
          </a:bodyPr>
          <a:lstStyle/>
          <a:p>
            <a:r>
              <a:rPr lang="en-US" i="1" dirty="0"/>
              <a:t>We will see how to actually implement </a:t>
            </a:r>
            <a:r>
              <a:rPr lang="en-US" i="1" dirty="0" err="1"/>
              <a:t>decreaseKey</a:t>
            </a:r>
            <a:r>
              <a:rPr lang="en-US" i="1" dirty="0"/>
              <a:t>() in logarithmic time at the end of this slide deck</a:t>
            </a:r>
            <a:endParaRPr lang="en-US" b="0" i="1" dirty="0"/>
          </a:p>
        </p:txBody>
      </p:sp>
      <p:cxnSp>
        <p:nvCxnSpPr>
          <p:cNvPr id="6" name="Straight Connector 5">
            <a:extLst>
              <a:ext uri="{FF2B5EF4-FFF2-40B4-BE49-F238E27FC236}">
                <a16:creationId xmlns:a16="http://schemas.microsoft.com/office/drawing/2014/main" id="{909C5C89-42A1-AB89-5D72-D8B3D1864C11}"/>
              </a:ext>
            </a:extLst>
          </p:cNvPr>
          <p:cNvCxnSpPr>
            <a:cxnSpLocks/>
          </p:cNvCxnSpPr>
          <p:nvPr/>
        </p:nvCxnSpPr>
        <p:spPr>
          <a:xfrm flipV="1">
            <a:off x="9205546" y="4510454"/>
            <a:ext cx="413239" cy="76493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1965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Dijkstra’s Proof of Correctness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4099761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1412" y="354749"/>
            <a:ext cx="9905998" cy="779459"/>
          </a:xfrm>
        </p:spPr>
        <p:txBody>
          <a:bodyPr>
            <a:normAutofit/>
          </a:bodyPr>
          <a:lstStyle/>
          <a:p>
            <a:pPr algn="ctr"/>
            <a:r>
              <a:rPr lang="en-US" dirty="0"/>
              <a:t>How to Prove Correctness?</a:t>
            </a:r>
          </a:p>
        </p:txBody>
      </p:sp>
      <p:sp>
        <p:nvSpPr>
          <p:cNvPr id="37891" name="Rectangle 3"/>
          <p:cNvSpPr>
            <a:spLocks noGrp="1" noChangeArrowheads="1"/>
          </p:cNvSpPr>
          <p:nvPr>
            <p:ph sz="quarter" idx="1"/>
            <p:custDataLst>
              <p:tags r:id="rId2"/>
            </p:custDataLst>
          </p:nvPr>
        </p:nvSpPr>
        <p:spPr>
          <a:xfrm>
            <a:off x="4187275" y="2038131"/>
            <a:ext cx="3158026" cy="624927"/>
          </a:xfrm>
        </p:spPr>
        <p:txBody>
          <a:bodyPr/>
          <a:lstStyle/>
          <a:p>
            <a:pPr marL="0" indent="0">
              <a:buNone/>
            </a:pPr>
            <a:r>
              <a:rPr lang="en-US" dirty="0"/>
              <a:t>We want to prove that:</a:t>
            </a:r>
          </a:p>
        </p:txBody>
      </p:sp>
      <p:sp>
        <p:nvSpPr>
          <p:cNvPr id="2" name="Rectangle 3">
            <a:extLst>
              <a:ext uri="{FF2B5EF4-FFF2-40B4-BE49-F238E27FC236}">
                <a16:creationId xmlns:a16="http://schemas.microsoft.com/office/drawing/2014/main" id="{5A6FCA03-A175-FF79-EA2F-133D249B18D1}"/>
              </a:ext>
            </a:extLst>
          </p:cNvPr>
          <p:cNvSpPr txBox="1">
            <a:spLocks noChangeArrowheads="1"/>
          </p:cNvSpPr>
          <p:nvPr>
            <p:custDataLst>
              <p:tags r:id="rId3"/>
            </p:custDataLst>
          </p:nvPr>
        </p:nvSpPr>
        <p:spPr>
          <a:xfrm>
            <a:off x="3359208" y="5131316"/>
            <a:ext cx="5470405" cy="62492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Let’s do this by induction. I will draw it out!</a:t>
            </a:r>
          </a:p>
        </p:txBody>
      </p:sp>
      <mc:AlternateContent xmlns:mc="http://schemas.openxmlformats.org/markup-compatibility/2006" xmlns:a14="http://schemas.microsoft.com/office/drawing/2010/main">
        <mc:Choice Requires="a14">
          <p:sp>
            <p:nvSpPr>
              <p:cNvPr id="3" name="Rectangle 3">
                <a:extLst>
                  <a:ext uri="{FF2B5EF4-FFF2-40B4-BE49-F238E27FC236}">
                    <a16:creationId xmlns:a16="http://schemas.microsoft.com/office/drawing/2014/main" id="{DE91909F-4AB1-3056-5C8A-A1BC7C2770FD}"/>
                  </a:ext>
                </a:extLst>
              </p:cNvPr>
              <p:cNvSpPr txBox="1">
                <a:spLocks noChangeArrowheads="1"/>
              </p:cNvSpPr>
              <p:nvPr>
                <p:custDataLst>
                  <p:tags r:id="rId4"/>
                </p:custDataLst>
              </p:nvPr>
            </p:nvSpPr>
            <p:spPr>
              <a:xfrm>
                <a:off x="4187275" y="2548758"/>
                <a:ext cx="3814272" cy="624928"/>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𝑣</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𝑉</m:t>
                      </m:r>
                      <m:r>
                        <a:rPr lang="en-US" i="1" smtClean="0">
                          <a:solidFill>
                            <a:schemeClr val="bg1"/>
                          </a:solidFill>
                          <a:latin typeface="Cambria Math" panose="02040503050406030204" pitchFamily="18" charset="0"/>
                        </a:rPr>
                        <m:t> </m:t>
                      </m:r>
                      <m:r>
                        <a:rPr lang="en-US" i="1" smtClean="0">
                          <a:solidFill>
                            <a:schemeClr val="bg1"/>
                          </a:solidFill>
                          <a:latin typeface="Cambria Math" panose="02040503050406030204" pitchFamily="18" charset="0"/>
                        </a:rPr>
                        <m:t>𝑣</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𝑑</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𝛿</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𝑠</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𝑣</m:t>
                      </m:r>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 name="Rectangle 3">
                <a:extLst>
                  <a:ext uri="{FF2B5EF4-FFF2-40B4-BE49-F238E27FC236}">
                    <a16:creationId xmlns:a16="http://schemas.microsoft.com/office/drawing/2014/main" id="{DE91909F-4AB1-3056-5C8A-A1BC7C2770FD}"/>
                  </a:ext>
                </a:extLst>
              </p:cNvPr>
              <p:cNvSpPr txBox="1">
                <a:spLocks noRot="1" noChangeAspect="1" noMove="1" noResize="1" noEditPoints="1" noAdjustHandles="1" noChangeArrowheads="1" noChangeShapeType="1" noTextEdit="1"/>
              </p:cNvSpPr>
              <p:nvPr>
                <p:custDataLst>
                  <p:tags r:id="rId7"/>
                </p:custDataLst>
              </p:nvPr>
            </p:nvSpPr>
            <p:spPr>
              <a:xfrm>
                <a:off x="4187275" y="2548758"/>
                <a:ext cx="3814272" cy="624928"/>
              </a:xfrm>
              <a:prstGeom prst="rect">
                <a:avLst/>
              </a:prstGeom>
              <a:blipFill>
                <a:blip r:embed="rId8"/>
                <a:stretch>
                  <a:fillRect b="-1961"/>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3">
                <a:extLst>
                  <a:ext uri="{FF2B5EF4-FFF2-40B4-BE49-F238E27FC236}">
                    <a16:creationId xmlns:a16="http://schemas.microsoft.com/office/drawing/2014/main" id="{6BA7208F-A4FF-B73E-3F62-E9FF4EAE691D}"/>
                  </a:ext>
                </a:extLst>
              </p:cNvPr>
              <p:cNvSpPr txBox="1">
                <a:spLocks noChangeArrowheads="1"/>
              </p:cNvSpPr>
              <p:nvPr>
                <p:custDataLst>
                  <p:tags r:id="rId5"/>
                </p:custDataLst>
              </p:nvPr>
            </p:nvSpPr>
            <p:spPr>
              <a:xfrm>
                <a:off x="8396655" y="3787104"/>
                <a:ext cx="2400300" cy="1028362"/>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Note that </a:t>
                </a:r>
                <a14:m>
                  <m:oMath xmlns:m="http://schemas.openxmlformats.org/officeDocument/2006/math">
                    <m:r>
                      <a:rPr lang="en-US" b="0" i="1" smtClean="0">
                        <a:latin typeface="Cambria Math" panose="02040503050406030204" pitchFamily="18" charset="0"/>
                      </a:rPr>
                      <m:t>𝛿</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𝑣</m:t>
                        </m:r>
                      </m:e>
                    </m:d>
                  </m:oMath>
                </a14:m>
                <a:r>
                  <a:rPr lang="en-US" dirty="0"/>
                  <a:t> represents the optimal weight possible to get from s to v</a:t>
                </a:r>
              </a:p>
            </p:txBody>
          </p:sp>
        </mc:Choice>
        <mc:Fallback xmlns="">
          <p:sp>
            <p:nvSpPr>
              <p:cNvPr id="5" name="Rectangle 3">
                <a:extLst>
                  <a:ext uri="{FF2B5EF4-FFF2-40B4-BE49-F238E27FC236}">
                    <a16:creationId xmlns:a16="http://schemas.microsoft.com/office/drawing/2014/main" id="{6BA7208F-A4FF-B73E-3F62-E9FF4EAE691D}"/>
                  </a:ext>
                </a:extLst>
              </p:cNvPr>
              <p:cNvSpPr txBox="1">
                <a:spLocks noRot="1" noChangeAspect="1" noMove="1" noResize="1" noEditPoints="1" noAdjustHandles="1" noChangeArrowheads="1" noChangeShapeType="1" noTextEdit="1"/>
              </p:cNvSpPr>
              <p:nvPr>
                <p:custDataLst>
                  <p:tags r:id="rId9"/>
                </p:custDataLst>
              </p:nvPr>
            </p:nvSpPr>
            <p:spPr>
              <a:xfrm>
                <a:off x="8396655" y="3787104"/>
                <a:ext cx="2400300" cy="1028362"/>
              </a:xfrm>
              <a:prstGeom prst="rect">
                <a:avLst/>
              </a:prstGeom>
              <a:blipFill>
                <a:blip r:embed="rId10"/>
                <a:stretch>
                  <a:fillRect l="-524" t="-1220"/>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98EEB930-947C-DCD7-F299-EA047230B369}"/>
              </a:ext>
            </a:extLst>
          </p:cNvPr>
          <p:cNvCxnSpPr/>
          <p:nvPr/>
        </p:nvCxnSpPr>
        <p:spPr>
          <a:xfrm>
            <a:off x="7156938" y="3349869"/>
            <a:ext cx="1195754" cy="60666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81693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322509"/>
            <a:ext cx="9905998" cy="744290"/>
          </a:xfrm>
        </p:spPr>
        <p:txBody>
          <a:bodyPr>
            <a:normAutofit/>
          </a:bodyPr>
          <a:lstStyle/>
          <a:p>
            <a:pPr algn="ctr"/>
            <a:r>
              <a:rPr lang="en-US" dirty="0"/>
              <a:t>Proof w/ Picture:</a:t>
            </a:r>
          </a:p>
        </p:txBody>
      </p:sp>
      <p:sp>
        <p:nvSpPr>
          <p:cNvPr id="37891" name="Rectangle 3"/>
          <p:cNvSpPr>
            <a:spLocks noGrp="1" noChangeArrowheads="1"/>
          </p:cNvSpPr>
          <p:nvPr>
            <p:ph sz="quarter" idx="1"/>
            <p:custDataLst>
              <p:tags r:id="rId2"/>
            </p:custDataLst>
          </p:nvPr>
        </p:nvSpPr>
        <p:spPr>
          <a:xfrm>
            <a:off x="1143000" y="1913582"/>
            <a:ext cx="2479431" cy="627857"/>
          </a:xfrm>
        </p:spPr>
        <p:txBody>
          <a:bodyPr>
            <a:normAutofit/>
          </a:bodyPr>
          <a:lstStyle/>
          <a:p>
            <a:pPr marL="0" indent="0">
              <a:buNone/>
            </a:pPr>
            <a:r>
              <a:rPr lang="en-US" b="1" i="1" u="sng" dirty="0"/>
              <a:t>Base Case (trivial)</a:t>
            </a:r>
            <a:r>
              <a:rPr lang="en-US" dirty="0"/>
              <a:t>:</a:t>
            </a:r>
          </a:p>
        </p:txBody>
      </p:sp>
      <p:sp>
        <p:nvSpPr>
          <p:cNvPr id="2" name="Rectangle 3">
            <a:extLst>
              <a:ext uri="{FF2B5EF4-FFF2-40B4-BE49-F238E27FC236}">
                <a16:creationId xmlns:a16="http://schemas.microsoft.com/office/drawing/2014/main" id="{919C15CD-AF2E-DDC1-6CAD-A890BF48E35F}"/>
              </a:ext>
            </a:extLst>
          </p:cNvPr>
          <p:cNvSpPr txBox="1">
            <a:spLocks noChangeArrowheads="1"/>
          </p:cNvSpPr>
          <p:nvPr>
            <p:custDataLst>
              <p:tags r:id="rId3"/>
            </p:custDataLst>
          </p:nvPr>
        </p:nvSpPr>
        <p:spPr>
          <a:xfrm>
            <a:off x="1142999" y="3811409"/>
            <a:ext cx="2734409" cy="6520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Inductive Hypothesis</a:t>
            </a:r>
            <a:r>
              <a:rPr lang="en-US" dirty="0"/>
              <a:t>:</a:t>
            </a:r>
          </a:p>
        </p:txBody>
      </p:sp>
      <mc:AlternateContent xmlns:mc="http://schemas.openxmlformats.org/markup-compatibility/2006" xmlns:a14="http://schemas.microsoft.com/office/drawing/2010/main">
        <mc:Choice Requires="a14">
          <p:sp>
            <p:nvSpPr>
              <p:cNvPr id="3" name="Rectangle 3">
                <a:extLst>
                  <a:ext uri="{FF2B5EF4-FFF2-40B4-BE49-F238E27FC236}">
                    <a16:creationId xmlns:a16="http://schemas.microsoft.com/office/drawing/2014/main" id="{28C7CA1E-D919-07F5-AD6F-74E3E303EC98}"/>
                  </a:ext>
                </a:extLst>
              </p:cNvPr>
              <p:cNvSpPr txBox="1">
                <a:spLocks noChangeArrowheads="1"/>
              </p:cNvSpPr>
              <p:nvPr>
                <p:custDataLst>
                  <p:tags r:id="rId4"/>
                </p:custDataLst>
              </p:nvPr>
            </p:nvSpPr>
            <p:spPr>
              <a:xfrm>
                <a:off x="3701561" y="2064953"/>
                <a:ext cx="2394438" cy="104469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𝑠</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𝑑</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𝛿</m:t>
                      </m:r>
                      <m:d>
                        <m:dPr>
                          <m:ctrlPr>
                            <a:rPr lang="en-US" i="1" smtClean="0">
                              <a:solidFill>
                                <a:schemeClr val="bg1"/>
                              </a:solidFill>
                              <a:latin typeface="Cambria Math" panose="02040503050406030204" pitchFamily="18" charset="0"/>
                            </a:rPr>
                          </m:ctrlPr>
                        </m:dPr>
                        <m:e>
                          <m:r>
                            <a:rPr lang="en-US" i="1" smtClean="0">
                              <a:solidFill>
                                <a:schemeClr val="bg1"/>
                              </a:solidFill>
                              <a:latin typeface="Cambria Math" panose="02040503050406030204" pitchFamily="18" charset="0"/>
                            </a:rPr>
                            <m:t>𝑠</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𝑠</m:t>
                          </m:r>
                        </m:e>
                      </m:d>
                    </m:oMath>
                  </m:oMathPara>
                </a14:m>
                <a:endParaRPr lang="en-US" dirty="0">
                  <a:solidFill>
                    <a:schemeClr val="bg1"/>
                  </a:solidFill>
                </a:endParaRP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0=0</m:t>
                      </m:r>
                    </m:oMath>
                  </m:oMathPara>
                </a14:m>
                <a:endParaRPr lang="en-US" dirty="0">
                  <a:solidFill>
                    <a:schemeClr val="bg1"/>
                  </a:solidFill>
                </a:endParaRPr>
              </a:p>
            </p:txBody>
          </p:sp>
        </mc:Choice>
        <mc:Fallback xmlns="">
          <p:sp>
            <p:nvSpPr>
              <p:cNvPr id="3" name="Rectangle 3">
                <a:extLst>
                  <a:ext uri="{FF2B5EF4-FFF2-40B4-BE49-F238E27FC236}">
                    <a16:creationId xmlns:a16="http://schemas.microsoft.com/office/drawing/2014/main" id="{28C7CA1E-D919-07F5-AD6F-74E3E303EC98}"/>
                  </a:ext>
                </a:extLst>
              </p:cNvPr>
              <p:cNvSpPr txBox="1">
                <a:spLocks noRot="1" noChangeAspect="1" noMove="1" noResize="1" noEditPoints="1" noAdjustHandles="1" noChangeArrowheads="1" noChangeShapeType="1" noTextEdit="1"/>
              </p:cNvSpPr>
              <p:nvPr>
                <p:custDataLst>
                  <p:tags r:id="rId8"/>
                </p:custDataLst>
              </p:nvPr>
            </p:nvSpPr>
            <p:spPr>
              <a:xfrm>
                <a:off x="3701561" y="2064953"/>
                <a:ext cx="2394438" cy="1044698"/>
              </a:xfrm>
              <a:prstGeom prst="rect">
                <a:avLst/>
              </a:prstGeom>
              <a:blipFill>
                <a:blip r:embed="rId9"/>
                <a:stretch>
                  <a:fillRect/>
                </a:stretch>
              </a:blipFill>
              <a:ln>
                <a:solidFill>
                  <a:schemeClr val="bg1"/>
                </a:solidFill>
              </a:ln>
            </p:spPr>
            <p:txBody>
              <a:bodyPr/>
              <a:lstStyle/>
              <a:p>
                <a:r>
                  <a:rPr lang="en-US">
                    <a:noFill/>
                  </a:rPr>
                  <a:t> </a:t>
                </a:r>
              </a:p>
            </p:txBody>
          </p:sp>
        </mc:Fallback>
      </mc:AlternateContent>
      <p:sp>
        <p:nvSpPr>
          <p:cNvPr id="5" name="Rectangle 3">
            <a:extLst>
              <a:ext uri="{FF2B5EF4-FFF2-40B4-BE49-F238E27FC236}">
                <a16:creationId xmlns:a16="http://schemas.microsoft.com/office/drawing/2014/main" id="{05C4A583-41A0-287B-3EF1-98006C903C50}"/>
              </a:ext>
            </a:extLst>
          </p:cNvPr>
          <p:cNvSpPr txBox="1">
            <a:spLocks noChangeArrowheads="1"/>
          </p:cNvSpPr>
          <p:nvPr>
            <p:custDataLst>
              <p:tags r:id="rId5"/>
            </p:custDataLst>
          </p:nvPr>
        </p:nvSpPr>
        <p:spPr>
          <a:xfrm>
            <a:off x="6175129" y="2303196"/>
            <a:ext cx="3267809" cy="47648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Algorithm sets </a:t>
            </a:r>
            <a:r>
              <a:rPr lang="en-US" sz="1800" i="1" dirty="0" err="1"/>
              <a:t>s.d</a:t>
            </a:r>
            <a:r>
              <a:rPr lang="en-US" sz="1800" i="1" dirty="0"/>
              <a:t> to 0 in line 3</a:t>
            </a:r>
          </a:p>
        </p:txBody>
      </p:sp>
      <p:sp>
        <p:nvSpPr>
          <p:cNvPr id="6" name="Rectangle 3">
            <a:extLst>
              <a:ext uri="{FF2B5EF4-FFF2-40B4-BE49-F238E27FC236}">
                <a16:creationId xmlns:a16="http://schemas.microsoft.com/office/drawing/2014/main" id="{6411C62A-D539-1638-42DC-B34C49507A08}"/>
              </a:ext>
            </a:extLst>
          </p:cNvPr>
          <p:cNvSpPr txBox="1">
            <a:spLocks noChangeArrowheads="1"/>
          </p:cNvSpPr>
          <p:nvPr>
            <p:custDataLst>
              <p:tags r:id="rId6"/>
            </p:custDataLst>
          </p:nvPr>
        </p:nvSpPr>
        <p:spPr>
          <a:xfrm>
            <a:off x="3739660" y="3900114"/>
            <a:ext cx="7499838" cy="121983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Suppose that the first k nodes that the algorithm makes known have optimal paths computed. </a:t>
            </a:r>
          </a:p>
        </p:txBody>
      </p:sp>
    </p:spTree>
    <p:extLst>
      <p:ext uri="{BB962C8B-B14F-4D97-AF65-F5344CB8AC3E}">
        <p14:creationId xmlns:p14="http://schemas.microsoft.com/office/powerpoint/2010/main" val="33785763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28931"/>
            <a:ext cx="9905998" cy="735908"/>
          </a:xfrm>
        </p:spPr>
        <p:txBody>
          <a:bodyPr>
            <a:normAutofit/>
          </a:bodyPr>
          <a:lstStyle/>
          <a:p>
            <a:pPr algn="ctr"/>
            <a:r>
              <a:rPr lang="en-US" dirty="0"/>
              <a:t>Proof w/ Picture: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A80AF0C-1E58-F84D-B397-492549006E9C}"/>
                  </a:ext>
                </a:extLst>
              </p:cNvPr>
              <p:cNvSpPr txBox="1"/>
              <p:nvPr/>
            </p:nvSpPr>
            <p:spPr>
              <a:xfrm>
                <a:off x="6426265" y="2244779"/>
                <a:ext cx="5638800" cy="2308324"/>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 </m:t>
                    </m:r>
                    <m:r>
                      <a:rPr lang="en-US" b="0" i="1" smtClean="0">
                        <a:solidFill>
                          <a:schemeClr val="accent2"/>
                        </a:solidFill>
                        <a:latin typeface="Cambria Math" panose="02040503050406030204" pitchFamily="18" charset="0"/>
                      </a:rPr>
                      <m:t>𝛿</m:t>
                    </m:r>
                    <m:d>
                      <m:dPr>
                        <m:ctrlPr>
                          <a:rPr lang="en-US" b="0" i="1" smtClean="0">
                            <a:solidFill>
                              <a:schemeClr val="accent2"/>
                            </a:solidFill>
                            <a:latin typeface="Cambria Math" panose="02040503050406030204" pitchFamily="18" charset="0"/>
                          </a:rPr>
                        </m:ctrlPr>
                      </m:dPr>
                      <m:e>
                        <m:r>
                          <a:rPr lang="en-US" b="0" i="1" smtClean="0">
                            <a:solidFill>
                              <a:schemeClr val="accent2"/>
                            </a:solidFill>
                            <a:latin typeface="Cambria Math" panose="02040503050406030204" pitchFamily="18" charset="0"/>
                          </a:rPr>
                          <m:t>𝑠</m:t>
                        </m:r>
                        <m:r>
                          <a:rPr lang="en-US" b="0" i="1" smtClean="0">
                            <a:solidFill>
                              <a:schemeClr val="accent2"/>
                            </a:solidFill>
                            <a:latin typeface="Cambria Math" panose="02040503050406030204" pitchFamily="18" charset="0"/>
                          </a:rPr>
                          <m:t>,</m:t>
                        </m:r>
                        <m:r>
                          <a:rPr lang="en-US" b="0" i="1" smtClean="0">
                            <a:solidFill>
                              <a:schemeClr val="accent2"/>
                            </a:solidFill>
                            <a:latin typeface="Cambria Math" panose="02040503050406030204" pitchFamily="18" charset="0"/>
                          </a:rPr>
                          <m:t>𝑢</m:t>
                        </m:r>
                      </m:e>
                    </m:d>
                    <m:r>
                      <a:rPr lang="en-US" b="0" i="1" smtClean="0">
                        <a:latin typeface="Cambria Math" panose="02040503050406030204" pitchFamily="18" charset="0"/>
                      </a:rPr>
                      <m:t>+</m:t>
                    </m:r>
                    <m:r>
                      <a:rPr lang="en-US" b="0" i="1" smtClean="0">
                        <a:solidFill>
                          <a:schemeClr val="accent3"/>
                        </a:solidFill>
                        <a:latin typeface="Cambria Math" panose="02040503050406030204" pitchFamily="18" charset="0"/>
                      </a:rPr>
                      <m:t>𝑐</m:t>
                    </m:r>
                    <m:r>
                      <a:rPr lang="en-US" b="0" i="1" smtClean="0">
                        <a:solidFill>
                          <a:schemeClr val="accent3"/>
                        </a:solidFill>
                        <a:latin typeface="Cambria Math" panose="02040503050406030204" pitchFamily="18" charset="0"/>
                      </a:rPr>
                      <m:t>(</m:t>
                    </m:r>
                    <m:r>
                      <a:rPr lang="en-US" b="0" i="1" smtClean="0">
                        <a:solidFill>
                          <a:schemeClr val="accent3"/>
                        </a:solidFill>
                        <a:latin typeface="Cambria Math" panose="02040503050406030204" pitchFamily="18" charset="0"/>
                      </a:rPr>
                      <m:t>𝑒</m:t>
                    </m:r>
                    <m:r>
                      <a:rPr lang="en-US" b="0" i="1" smtClean="0">
                        <a:solidFill>
                          <a:schemeClr val="accent3"/>
                        </a:solidFill>
                        <a:latin typeface="Cambria Math" panose="02040503050406030204" pitchFamily="18" charset="0"/>
                      </a:rPr>
                      <m:t>)</m:t>
                    </m:r>
                  </m:oMath>
                </a14:m>
                <a:r>
                  <a:rPr lang="en-US" dirty="0"/>
                  <a:t> was just made known by Dijkstra’s (and will never change)</a:t>
                </a:r>
              </a:p>
              <a:p>
                <a:endParaRPr lang="en-US" dirty="0"/>
              </a:p>
              <a:p>
                <a:r>
                  <a:rPr lang="en-US" dirty="0"/>
                  <a:t>Thus, by definition it is the lowest cost of any option of the form (path from s to known node + cost of edge to unknown node)</a:t>
                </a:r>
              </a:p>
              <a:p>
                <a:endParaRPr lang="en-US" dirty="0"/>
              </a:p>
              <a:p>
                <a:r>
                  <a:rPr lang="en-US" dirty="0"/>
                  <a:t>^^REMEMBER THIS</a:t>
                </a:r>
              </a:p>
            </p:txBody>
          </p:sp>
        </mc:Choice>
        <mc:Fallback xmlns="">
          <p:sp>
            <p:nvSpPr>
              <p:cNvPr id="6" name="TextBox 5">
                <a:extLst>
                  <a:ext uri="{FF2B5EF4-FFF2-40B4-BE49-F238E27FC236}">
                    <a16:creationId xmlns:a16="http://schemas.microsoft.com/office/drawing/2014/main" id="{5A80AF0C-1E58-F84D-B397-492549006E9C}"/>
                  </a:ext>
                </a:extLst>
              </p:cNvPr>
              <p:cNvSpPr txBox="1">
                <a:spLocks noRot="1" noChangeAspect="1" noMove="1" noResize="1" noEditPoints="1" noAdjustHandles="1" noChangeArrowheads="1" noChangeShapeType="1" noTextEdit="1"/>
              </p:cNvSpPr>
              <p:nvPr/>
            </p:nvSpPr>
            <p:spPr>
              <a:xfrm>
                <a:off x="6426265" y="2244779"/>
                <a:ext cx="5638800" cy="2308324"/>
              </a:xfrm>
              <a:prstGeom prst="rect">
                <a:avLst/>
              </a:prstGeom>
              <a:blipFill>
                <a:blip r:embed="rId3"/>
                <a:stretch>
                  <a:fillRect l="-674" t="-1093" r="-1798" b="-3279"/>
                </a:stretch>
              </a:blipFill>
            </p:spPr>
            <p:txBody>
              <a:bodyPr/>
              <a:lstStyle/>
              <a:p>
                <a:r>
                  <a:rPr lang="en-US">
                    <a:noFill/>
                  </a:rPr>
                  <a:t> </a:t>
                </a:r>
              </a:p>
            </p:txBody>
          </p:sp>
        </mc:Fallback>
      </mc:AlternateContent>
      <p:grpSp>
        <p:nvGrpSpPr>
          <p:cNvPr id="50" name="Group 49">
            <a:extLst>
              <a:ext uri="{FF2B5EF4-FFF2-40B4-BE49-F238E27FC236}">
                <a16:creationId xmlns:a16="http://schemas.microsoft.com/office/drawing/2014/main" id="{E948CF86-9BB4-79D3-F516-85182BCAADAD}"/>
              </a:ext>
            </a:extLst>
          </p:cNvPr>
          <p:cNvGrpSpPr/>
          <p:nvPr/>
        </p:nvGrpSpPr>
        <p:grpSpPr>
          <a:xfrm>
            <a:off x="553916" y="1648557"/>
            <a:ext cx="5794130" cy="3560885"/>
            <a:chOff x="1019909" y="1397977"/>
            <a:chExt cx="5794130" cy="3560885"/>
          </a:xfrm>
        </p:grpSpPr>
        <p:sp>
          <p:nvSpPr>
            <p:cNvPr id="49" name="Rectangle 48">
              <a:extLst>
                <a:ext uri="{FF2B5EF4-FFF2-40B4-BE49-F238E27FC236}">
                  <a16:creationId xmlns:a16="http://schemas.microsoft.com/office/drawing/2014/main" id="{893C05E2-98E6-8E23-7B1C-94566AA51C06}"/>
                </a:ext>
              </a:extLst>
            </p:cNvPr>
            <p:cNvSpPr/>
            <p:nvPr/>
          </p:nvSpPr>
          <p:spPr>
            <a:xfrm>
              <a:off x="1019909" y="1397977"/>
              <a:ext cx="5794130" cy="356088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CBA0458C-C54F-FFC7-2799-08EE08232DBB}"/>
                </a:ext>
              </a:extLst>
            </p:cNvPr>
            <p:cNvGrpSpPr/>
            <p:nvPr/>
          </p:nvGrpSpPr>
          <p:grpSpPr>
            <a:xfrm>
              <a:off x="1143001" y="1513261"/>
              <a:ext cx="5571856" cy="3320370"/>
              <a:chOff x="1872761" y="1502902"/>
              <a:chExt cx="5571856" cy="3320370"/>
            </a:xfrm>
          </p:grpSpPr>
          <p:sp>
            <p:nvSpPr>
              <p:cNvPr id="7" name="Freeform 6">
                <a:extLst>
                  <a:ext uri="{FF2B5EF4-FFF2-40B4-BE49-F238E27FC236}">
                    <a16:creationId xmlns:a16="http://schemas.microsoft.com/office/drawing/2014/main" id="{42FDC82E-E3C2-D282-F08E-2DC68F407C74}"/>
                  </a:ext>
                </a:extLst>
              </p:cNvPr>
              <p:cNvSpPr/>
              <p:nvPr/>
            </p:nvSpPr>
            <p:spPr>
              <a:xfrm>
                <a:off x="1872761" y="1502902"/>
                <a:ext cx="3792711"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6F677ED-B541-4811-C3B1-5B0DAA6BEABC}"/>
                  </a:ext>
                </a:extLst>
              </p:cNvPr>
              <p:cNvSpPr/>
              <p:nvPr/>
            </p:nvSpPr>
            <p:spPr>
              <a:xfrm>
                <a:off x="2121771" y="2732678"/>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9" name="Oval 8">
                <a:extLst>
                  <a:ext uri="{FF2B5EF4-FFF2-40B4-BE49-F238E27FC236}">
                    <a16:creationId xmlns:a16="http://schemas.microsoft.com/office/drawing/2014/main" id="{79DC430E-50CA-A874-7331-3923F37565BA}"/>
                  </a:ext>
                </a:extLst>
              </p:cNvPr>
              <p:cNvSpPr/>
              <p:nvPr/>
            </p:nvSpPr>
            <p:spPr>
              <a:xfrm>
                <a:off x="4694467" y="2211435"/>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5F57CE1A-349F-F7AD-A81B-686B2DBBD3AF}"/>
                  </a:ext>
                </a:extLst>
              </p:cNvPr>
              <p:cNvSpPr/>
              <p:nvPr/>
            </p:nvSpPr>
            <p:spPr>
              <a:xfrm>
                <a:off x="4890251" y="2889198"/>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11" name="Oval 10">
                <a:extLst>
                  <a:ext uri="{FF2B5EF4-FFF2-40B4-BE49-F238E27FC236}">
                    <a16:creationId xmlns:a16="http://schemas.microsoft.com/office/drawing/2014/main" id="{51C53460-A1F6-924A-2ADF-45E1D6BF600B}"/>
                  </a:ext>
                </a:extLst>
              </p:cNvPr>
              <p:cNvSpPr/>
              <p:nvPr/>
            </p:nvSpPr>
            <p:spPr>
              <a:xfrm>
                <a:off x="4303491" y="3462931"/>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Oval 13">
                <a:extLst>
                  <a:ext uri="{FF2B5EF4-FFF2-40B4-BE49-F238E27FC236}">
                    <a16:creationId xmlns:a16="http://schemas.microsoft.com/office/drawing/2014/main" id="{0869894D-952B-062F-EC82-C12F26C50E4F}"/>
                  </a:ext>
                </a:extLst>
              </p:cNvPr>
              <p:cNvSpPr/>
              <p:nvPr/>
            </p:nvSpPr>
            <p:spPr>
              <a:xfrm>
                <a:off x="6591177" y="1771696"/>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Oval 14">
                <a:extLst>
                  <a:ext uri="{FF2B5EF4-FFF2-40B4-BE49-F238E27FC236}">
                    <a16:creationId xmlns:a16="http://schemas.microsoft.com/office/drawing/2014/main" id="{7645C823-B9E0-CE05-CC9A-6FCE470BA82E}"/>
                  </a:ext>
                </a:extLst>
              </p:cNvPr>
              <p:cNvSpPr/>
              <p:nvPr/>
            </p:nvSpPr>
            <p:spPr>
              <a:xfrm>
                <a:off x="7017897" y="2960086"/>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v</a:t>
                </a:r>
              </a:p>
            </p:txBody>
          </p:sp>
          <p:sp>
            <p:nvSpPr>
              <p:cNvPr id="16" name="Oval 15">
                <a:extLst>
                  <a:ext uri="{FF2B5EF4-FFF2-40B4-BE49-F238E27FC236}">
                    <a16:creationId xmlns:a16="http://schemas.microsoft.com/office/drawing/2014/main" id="{F2DF0675-2E74-840B-E877-41084A51961D}"/>
                  </a:ext>
                </a:extLst>
              </p:cNvPr>
              <p:cNvSpPr/>
              <p:nvPr/>
            </p:nvSpPr>
            <p:spPr>
              <a:xfrm>
                <a:off x="6524069" y="4396552"/>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7" name="Straight Connector 16">
                <a:extLst>
                  <a:ext uri="{FF2B5EF4-FFF2-40B4-BE49-F238E27FC236}">
                    <a16:creationId xmlns:a16="http://schemas.microsoft.com/office/drawing/2014/main" id="{9410A927-9B18-23A3-B593-C0EA777F8900}"/>
                  </a:ext>
                </a:extLst>
              </p:cNvPr>
              <p:cNvCxnSpPr>
                <a:stCxn id="9" idx="6"/>
                <a:endCxn id="14" idx="2"/>
              </p:cNvCxnSpPr>
              <p:nvPr/>
            </p:nvCxnSpPr>
            <p:spPr>
              <a:xfrm flipV="1">
                <a:off x="5121187" y="1985056"/>
                <a:ext cx="1469990" cy="439739"/>
              </a:xfrm>
              <a:prstGeom prst="line">
                <a:avLst/>
              </a:prstGeom>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D44798E8-4F80-3012-A095-F93F4C109FAE}"/>
                  </a:ext>
                </a:extLst>
              </p:cNvPr>
              <p:cNvCxnSpPr>
                <a:cxnSpLocks/>
                <a:stCxn id="10" idx="6"/>
                <a:endCxn id="15" idx="2"/>
              </p:cNvCxnSpPr>
              <p:nvPr/>
            </p:nvCxnSpPr>
            <p:spPr>
              <a:xfrm>
                <a:off x="5316971" y="3102558"/>
                <a:ext cx="1700926" cy="70888"/>
              </a:xfrm>
              <a:prstGeom prst="line">
                <a:avLst/>
              </a:prstGeom>
            </p:spPr>
            <p:style>
              <a:lnRef idx="1">
                <a:schemeClr val="accent2"/>
              </a:lnRef>
              <a:fillRef idx="0">
                <a:schemeClr val="accent2"/>
              </a:fillRef>
              <a:effectRef idx="0">
                <a:schemeClr val="accent2"/>
              </a:effectRef>
              <a:fontRef idx="minor">
                <a:schemeClr val="tx1"/>
              </a:fontRef>
            </p:style>
          </p:cxnSp>
          <p:cxnSp>
            <p:nvCxnSpPr>
              <p:cNvPr id="19" name="Straight Connector 18">
                <a:extLst>
                  <a:ext uri="{FF2B5EF4-FFF2-40B4-BE49-F238E27FC236}">
                    <a16:creationId xmlns:a16="http://schemas.microsoft.com/office/drawing/2014/main" id="{F02EB163-05CD-3119-7E65-90D79CCB8F95}"/>
                  </a:ext>
                </a:extLst>
              </p:cNvPr>
              <p:cNvCxnSpPr>
                <a:cxnSpLocks/>
                <a:stCxn id="11" idx="6"/>
                <a:endCxn id="16" idx="2"/>
              </p:cNvCxnSpPr>
              <p:nvPr/>
            </p:nvCxnSpPr>
            <p:spPr>
              <a:xfrm>
                <a:off x="4730211" y="3676291"/>
                <a:ext cx="1793858" cy="933621"/>
              </a:xfrm>
              <a:prstGeom prst="line">
                <a:avLst/>
              </a:prstGeom>
            </p:spPr>
            <p:style>
              <a:lnRef idx="1">
                <a:schemeClr val="accent2"/>
              </a:lnRef>
              <a:fillRef idx="0">
                <a:schemeClr val="accent2"/>
              </a:fillRef>
              <a:effectRef idx="0">
                <a:schemeClr val="accent2"/>
              </a:effectRef>
              <a:fontRef idx="minor">
                <a:schemeClr val="tx1"/>
              </a:fontRef>
            </p:style>
          </p:cxnSp>
          <p:cxnSp>
            <p:nvCxnSpPr>
              <p:cNvPr id="26" name="Straight Connector 25">
                <a:extLst>
                  <a:ext uri="{FF2B5EF4-FFF2-40B4-BE49-F238E27FC236}">
                    <a16:creationId xmlns:a16="http://schemas.microsoft.com/office/drawing/2014/main" id="{63B5B019-2C62-65F9-3CE2-054F5F379BCC}"/>
                  </a:ext>
                </a:extLst>
              </p:cNvPr>
              <p:cNvCxnSpPr>
                <a:cxnSpLocks/>
                <a:stCxn id="10" idx="7"/>
                <a:endCxn id="14" idx="3"/>
              </p:cNvCxnSpPr>
              <p:nvPr/>
            </p:nvCxnSpPr>
            <p:spPr>
              <a:xfrm flipV="1">
                <a:off x="5254479" y="2135924"/>
                <a:ext cx="1399190" cy="815766"/>
              </a:xfrm>
              <a:prstGeom prst="line">
                <a:avLst/>
              </a:prstGeom>
            </p:spPr>
            <p:style>
              <a:lnRef idx="1">
                <a:schemeClr val="accent2"/>
              </a:lnRef>
              <a:fillRef idx="0">
                <a:schemeClr val="accent2"/>
              </a:fillRef>
              <a:effectRef idx="0">
                <a:schemeClr val="accent2"/>
              </a:effectRef>
              <a:fontRef idx="minor">
                <a:schemeClr val="tx1"/>
              </a:fontRef>
            </p:style>
          </p:cxnSp>
          <p:cxnSp>
            <p:nvCxnSpPr>
              <p:cNvPr id="29" name="Straight Connector 28">
                <a:extLst>
                  <a:ext uri="{FF2B5EF4-FFF2-40B4-BE49-F238E27FC236}">
                    <a16:creationId xmlns:a16="http://schemas.microsoft.com/office/drawing/2014/main" id="{BB280641-483D-67AA-E973-72606D1D48E1}"/>
                  </a:ext>
                </a:extLst>
              </p:cNvPr>
              <p:cNvCxnSpPr>
                <a:cxnSpLocks/>
                <a:stCxn id="8" idx="6"/>
              </p:cNvCxnSpPr>
              <p:nvPr/>
            </p:nvCxnSpPr>
            <p:spPr>
              <a:xfrm flipV="1">
                <a:off x="2548491" y="2685635"/>
                <a:ext cx="440873" cy="260403"/>
              </a:xfrm>
              <a:prstGeom prst="line">
                <a:avLst/>
              </a:prstGeom>
            </p:spPr>
            <p:style>
              <a:lnRef idx="1">
                <a:schemeClr val="accent2"/>
              </a:lnRef>
              <a:fillRef idx="0">
                <a:schemeClr val="accent2"/>
              </a:fillRef>
              <a:effectRef idx="0">
                <a:schemeClr val="accent2"/>
              </a:effectRef>
              <a:fontRef idx="minor">
                <a:schemeClr val="tx1"/>
              </a:fontRef>
            </p:style>
          </p:cxnSp>
          <p:cxnSp>
            <p:nvCxnSpPr>
              <p:cNvPr id="32" name="Straight Connector 31">
                <a:extLst>
                  <a:ext uri="{FF2B5EF4-FFF2-40B4-BE49-F238E27FC236}">
                    <a16:creationId xmlns:a16="http://schemas.microsoft.com/office/drawing/2014/main" id="{F0567D34-EE85-BDB9-3EAD-AA82EEFF697C}"/>
                  </a:ext>
                </a:extLst>
              </p:cNvPr>
              <p:cNvCxnSpPr>
                <a:cxnSpLocks/>
              </p:cNvCxnSpPr>
              <p:nvPr/>
            </p:nvCxnSpPr>
            <p:spPr>
              <a:xfrm>
                <a:off x="2989364" y="2685635"/>
                <a:ext cx="234857" cy="567146"/>
              </a:xfrm>
              <a:prstGeom prst="line">
                <a:avLst/>
              </a:prstGeom>
            </p:spPr>
            <p:style>
              <a:lnRef idx="1">
                <a:schemeClr val="accent2"/>
              </a:lnRef>
              <a:fillRef idx="0">
                <a:schemeClr val="accent2"/>
              </a:fillRef>
              <a:effectRef idx="0">
                <a:schemeClr val="accent2"/>
              </a:effectRef>
              <a:fontRef idx="minor">
                <a:schemeClr val="tx1"/>
              </a:fontRef>
            </p:style>
          </p:cxnSp>
          <p:cxnSp>
            <p:nvCxnSpPr>
              <p:cNvPr id="35" name="Straight Connector 34">
                <a:extLst>
                  <a:ext uri="{FF2B5EF4-FFF2-40B4-BE49-F238E27FC236}">
                    <a16:creationId xmlns:a16="http://schemas.microsoft.com/office/drawing/2014/main" id="{C95E5708-77B0-E17A-3976-9B479523B1DC}"/>
                  </a:ext>
                </a:extLst>
              </p:cNvPr>
              <p:cNvCxnSpPr>
                <a:cxnSpLocks/>
              </p:cNvCxnSpPr>
              <p:nvPr/>
            </p:nvCxnSpPr>
            <p:spPr>
              <a:xfrm flipV="1">
                <a:off x="3236010" y="2732678"/>
                <a:ext cx="750920" cy="520103"/>
              </a:xfrm>
              <a:prstGeom prst="line">
                <a:avLst/>
              </a:prstGeom>
            </p:spPr>
            <p:style>
              <a:lnRef idx="1">
                <a:schemeClr val="accent2"/>
              </a:lnRef>
              <a:fillRef idx="0">
                <a:schemeClr val="accent2"/>
              </a:fillRef>
              <a:effectRef idx="0">
                <a:schemeClr val="accent2"/>
              </a:effectRef>
              <a:fontRef idx="minor">
                <a:schemeClr val="tx1"/>
              </a:fontRef>
            </p:style>
          </p:cxnSp>
          <p:cxnSp>
            <p:nvCxnSpPr>
              <p:cNvPr id="38" name="Straight Connector 37">
                <a:extLst>
                  <a:ext uri="{FF2B5EF4-FFF2-40B4-BE49-F238E27FC236}">
                    <a16:creationId xmlns:a16="http://schemas.microsoft.com/office/drawing/2014/main" id="{04A4DB89-E6DA-A154-DA3A-26F954481EBE}"/>
                  </a:ext>
                </a:extLst>
              </p:cNvPr>
              <p:cNvCxnSpPr>
                <a:cxnSpLocks/>
                <a:stCxn id="10" idx="2"/>
              </p:cNvCxnSpPr>
              <p:nvPr/>
            </p:nvCxnSpPr>
            <p:spPr>
              <a:xfrm flipH="1" flipV="1">
                <a:off x="3986930" y="2732678"/>
                <a:ext cx="903321" cy="369880"/>
              </a:xfrm>
              <a:prstGeom prst="line">
                <a:avLst/>
              </a:prstGeom>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9B2B764-978D-A5EE-623F-86F9DA54B3B3}"/>
                      </a:ext>
                    </a:extLst>
                  </p:cNvPr>
                  <p:cNvSpPr txBox="1"/>
                  <p:nvPr/>
                </p:nvSpPr>
                <p:spPr>
                  <a:xfrm>
                    <a:off x="3194756" y="2374001"/>
                    <a:ext cx="91121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𝛿</m:t>
                          </m:r>
                          <m:r>
                            <a:rPr lang="en-US" b="0" i="1" smtClean="0">
                              <a:solidFill>
                                <a:schemeClr val="accent2"/>
                              </a:solidFill>
                              <a:latin typeface="Cambria Math" panose="02040503050406030204" pitchFamily="18" charset="0"/>
                            </a:rPr>
                            <m:t>(</m:t>
                          </m:r>
                          <m:r>
                            <a:rPr lang="en-US" b="0" i="1" smtClean="0">
                              <a:solidFill>
                                <a:schemeClr val="accent2"/>
                              </a:solidFill>
                              <a:latin typeface="Cambria Math" panose="02040503050406030204" pitchFamily="18" charset="0"/>
                            </a:rPr>
                            <m:t>𝑠</m:t>
                          </m:r>
                          <m:r>
                            <a:rPr lang="en-US" b="0" i="1" smtClean="0">
                              <a:solidFill>
                                <a:schemeClr val="accent2"/>
                              </a:solidFill>
                              <a:latin typeface="Cambria Math" panose="02040503050406030204" pitchFamily="18" charset="0"/>
                            </a:rPr>
                            <m:t>,</m:t>
                          </m:r>
                          <m:r>
                            <a:rPr lang="en-US" b="0" i="1" smtClean="0">
                              <a:solidFill>
                                <a:schemeClr val="accent2"/>
                              </a:solidFill>
                              <a:latin typeface="Cambria Math" panose="02040503050406030204" pitchFamily="18" charset="0"/>
                            </a:rPr>
                            <m:t>𝑢</m:t>
                          </m:r>
                          <m:r>
                            <a:rPr lang="en-US" b="0" i="1" smtClean="0">
                              <a:solidFill>
                                <a:schemeClr val="accent2"/>
                              </a:solidFill>
                              <a:latin typeface="Cambria Math" panose="02040503050406030204" pitchFamily="18" charset="0"/>
                            </a:rPr>
                            <m:t>)</m:t>
                          </m:r>
                        </m:oMath>
                      </m:oMathPara>
                    </a14:m>
                    <a:endParaRPr lang="en-US" dirty="0">
                      <a:solidFill>
                        <a:schemeClr val="accent2"/>
                      </a:solidFill>
                    </a:endParaRPr>
                  </a:p>
                </p:txBody>
              </p:sp>
            </mc:Choice>
            <mc:Fallback xmlns="">
              <p:sp>
                <p:nvSpPr>
                  <p:cNvPr id="41" name="TextBox 40">
                    <a:extLst>
                      <a:ext uri="{FF2B5EF4-FFF2-40B4-BE49-F238E27FC236}">
                        <a16:creationId xmlns:a16="http://schemas.microsoft.com/office/drawing/2014/main" id="{A9B2B764-978D-A5EE-623F-86F9DA54B3B3}"/>
                      </a:ext>
                    </a:extLst>
                  </p:cNvPr>
                  <p:cNvSpPr txBox="1">
                    <a:spLocks noRot="1" noChangeAspect="1" noMove="1" noResize="1" noEditPoints="1" noAdjustHandles="1" noChangeArrowheads="1" noChangeShapeType="1" noTextEdit="1"/>
                  </p:cNvSpPr>
                  <p:nvPr/>
                </p:nvSpPr>
                <p:spPr>
                  <a:xfrm>
                    <a:off x="3194756" y="2374001"/>
                    <a:ext cx="911211" cy="369332"/>
                  </a:xfrm>
                  <a:prstGeom prst="rect">
                    <a:avLst/>
                  </a:prstGeom>
                  <a:blipFill>
                    <a:blip r:embed="rId4"/>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A512CC7-FFA9-4E35-077E-17B7023F5589}"/>
                      </a:ext>
                    </a:extLst>
                  </p:cNvPr>
                  <p:cNvSpPr txBox="1"/>
                  <p:nvPr/>
                </p:nvSpPr>
                <p:spPr>
                  <a:xfrm>
                    <a:off x="5743691" y="2789149"/>
                    <a:ext cx="121860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3"/>
                              </a:solidFill>
                              <a:latin typeface="Cambria Math" panose="02040503050406030204" pitchFamily="18" charset="0"/>
                            </a:rPr>
                            <m:t>𝑒</m:t>
                          </m:r>
                          <m:r>
                            <a:rPr lang="en-US" b="0" i="1" smtClean="0">
                              <a:solidFill>
                                <a:schemeClr val="accent3"/>
                              </a:solidFill>
                              <a:latin typeface="Cambria Math" panose="02040503050406030204" pitchFamily="18" charset="0"/>
                            </a:rPr>
                            <m:t>=(</m:t>
                          </m:r>
                          <m:r>
                            <a:rPr lang="en-US" b="0" i="1" smtClean="0">
                              <a:solidFill>
                                <a:schemeClr val="accent3"/>
                              </a:solidFill>
                              <a:latin typeface="Cambria Math" panose="02040503050406030204" pitchFamily="18" charset="0"/>
                            </a:rPr>
                            <m:t>𝑢</m:t>
                          </m:r>
                          <m:r>
                            <a:rPr lang="en-US" b="0" i="1" smtClean="0">
                              <a:solidFill>
                                <a:schemeClr val="accent3"/>
                              </a:solidFill>
                              <a:latin typeface="Cambria Math" panose="02040503050406030204" pitchFamily="18" charset="0"/>
                            </a:rPr>
                            <m:t>,</m:t>
                          </m:r>
                          <m:r>
                            <a:rPr lang="en-US" b="0" i="1" smtClean="0">
                              <a:solidFill>
                                <a:schemeClr val="accent3"/>
                              </a:solidFill>
                              <a:latin typeface="Cambria Math" panose="02040503050406030204" pitchFamily="18" charset="0"/>
                            </a:rPr>
                            <m:t>𝑣</m:t>
                          </m:r>
                          <m:r>
                            <a:rPr lang="en-US" b="0" i="1" smtClean="0">
                              <a:solidFill>
                                <a:schemeClr val="accent3"/>
                              </a:solidFill>
                              <a:latin typeface="Cambria Math" panose="02040503050406030204" pitchFamily="18" charset="0"/>
                            </a:rPr>
                            <m:t>)</m:t>
                          </m:r>
                        </m:oMath>
                      </m:oMathPara>
                    </a14:m>
                    <a:endParaRPr lang="en-US" dirty="0">
                      <a:solidFill>
                        <a:schemeClr val="accent3"/>
                      </a:solidFill>
                    </a:endParaRPr>
                  </a:p>
                </p:txBody>
              </p:sp>
            </mc:Choice>
            <mc:Fallback xmlns="">
              <p:sp>
                <p:nvSpPr>
                  <p:cNvPr id="47" name="TextBox 46">
                    <a:extLst>
                      <a:ext uri="{FF2B5EF4-FFF2-40B4-BE49-F238E27FC236}">
                        <a16:creationId xmlns:a16="http://schemas.microsoft.com/office/drawing/2014/main" id="{CA512CC7-FFA9-4E35-077E-17B7023F5589}"/>
                      </a:ext>
                    </a:extLst>
                  </p:cNvPr>
                  <p:cNvSpPr txBox="1">
                    <a:spLocks noRot="1" noChangeAspect="1" noMove="1" noResize="1" noEditPoints="1" noAdjustHandles="1" noChangeArrowheads="1" noChangeShapeType="1" noTextEdit="1"/>
                  </p:cNvSpPr>
                  <p:nvPr/>
                </p:nvSpPr>
                <p:spPr>
                  <a:xfrm>
                    <a:off x="5743691" y="2789149"/>
                    <a:ext cx="1218603" cy="369332"/>
                  </a:xfrm>
                  <a:prstGeom prst="rect">
                    <a:avLst/>
                  </a:prstGeom>
                  <a:blipFill>
                    <a:blip r:embed="rId5"/>
                    <a:stretch>
                      <a:fillRect b="-13333"/>
                    </a:stretch>
                  </a:blipFill>
                </p:spPr>
                <p:txBody>
                  <a:bodyPr/>
                  <a:lstStyle/>
                  <a:p>
                    <a:r>
                      <a:rPr lang="en-US">
                        <a:noFill/>
                      </a:rPr>
                      <a:t> </a:t>
                    </a:r>
                  </a:p>
                </p:txBody>
              </p:sp>
            </mc:Fallback>
          </mc:AlternateContent>
        </p:grpSp>
      </p:grpSp>
    </p:spTree>
    <p:extLst>
      <p:ext uri="{BB962C8B-B14F-4D97-AF65-F5344CB8AC3E}">
        <p14:creationId xmlns:p14="http://schemas.microsoft.com/office/powerpoint/2010/main" val="1301128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47758"/>
            <a:ext cx="9905998" cy="666227"/>
          </a:xfrm>
        </p:spPr>
        <p:txBody>
          <a:bodyPr>
            <a:normAutofit/>
          </a:bodyPr>
          <a:lstStyle/>
          <a:p>
            <a:pPr algn="ctr"/>
            <a:r>
              <a:rPr lang="en-US" dirty="0"/>
              <a:t>Proof w/ Picture:</a:t>
            </a:r>
          </a:p>
        </p:txBody>
      </p:sp>
      <p:sp>
        <p:nvSpPr>
          <p:cNvPr id="6" name="TextBox 5">
            <a:extLst>
              <a:ext uri="{FF2B5EF4-FFF2-40B4-BE49-F238E27FC236}">
                <a16:creationId xmlns:a16="http://schemas.microsoft.com/office/drawing/2014/main" id="{5A80AF0C-1E58-F84D-B397-492549006E9C}"/>
              </a:ext>
            </a:extLst>
          </p:cNvPr>
          <p:cNvSpPr txBox="1"/>
          <p:nvPr/>
        </p:nvSpPr>
        <p:spPr>
          <a:xfrm>
            <a:off x="7573583" y="1859572"/>
            <a:ext cx="4486532" cy="923330"/>
          </a:xfrm>
          <a:prstGeom prst="rect">
            <a:avLst/>
          </a:prstGeom>
          <a:noFill/>
        </p:spPr>
        <p:txBody>
          <a:bodyPr wrap="square" rtlCol="0">
            <a:spAutoFit/>
          </a:bodyPr>
          <a:lstStyle/>
          <a:p>
            <a:r>
              <a:rPr lang="en-US" dirty="0"/>
              <a:t>Suppose (For sake of contradiction):</a:t>
            </a:r>
          </a:p>
          <a:p>
            <a:endParaRPr lang="en-US" dirty="0"/>
          </a:p>
          <a:p>
            <a:r>
              <a:rPr lang="en-US" i="1" dirty="0">
                <a:solidFill>
                  <a:schemeClr val="accent5"/>
                </a:solidFill>
              </a:rPr>
              <a:t>s to u to v is NOT the optimal way to get to v</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D83879F-B122-D699-81BB-2F2238B55DDC}"/>
                  </a:ext>
                </a:extLst>
              </p:cNvPr>
              <p:cNvSpPr txBox="1"/>
              <p:nvPr/>
            </p:nvSpPr>
            <p:spPr>
              <a:xfrm>
                <a:off x="7491046" y="3425544"/>
                <a:ext cx="4486532" cy="1754326"/>
              </a:xfrm>
              <a:prstGeom prst="rect">
                <a:avLst/>
              </a:prstGeom>
              <a:noFill/>
            </p:spPr>
            <p:txBody>
              <a:bodyPr wrap="square" rtlCol="0">
                <a:spAutoFit/>
              </a:bodyPr>
              <a:lstStyle/>
              <a:p>
                <a:r>
                  <a:rPr lang="en-US" dirty="0"/>
                  <a:t>So there is a better way to get to v:</a:t>
                </a:r>
              </a:p>
              <a:p>
                <a:endParaRPr lang="en-US" dirty="0"/>
              </a:p>
              <a:p>
                <a:r>
                  <a:rPr lang="en-US" i="1" dirty="0">
                    <a:solidFill>
                      <a:schemeClr val="accent1"/>
                    </a:solidFill>
                  </a:rPr>
                  <a:t>The actual best way to get to v goes through some other node:</a:t>
                </a:r>
              </a:p>
              <a:p>
                <a:endParaRPr lang="en-US" i="1" dirty="0">
                  <a:solidFill>
                    <a:schemeClr val="accent1"/>
                  </a:solidFill>
                </a:endParaRPr>
              </a:p>
              <a:p>
                <a:pPr algn="ctr"/>
                <a14:m>
                  <m:oMath xmlns:m="http://schemas.openxmlformats.org/officeDocument/2006/math">
                    <m:r>
                      <a:rPr lang="en-US" b="0" i="1" smtClean="0">
                        <a:solidFill>
                          <a:schemeClr val="accent1"/>
                        </a:solidFill>
                        <a:latin typeface="Cambria Math" panose="02040503050406030204" pitchFamily="18" charset="0"/>
                      </a:rPr>
                      <m:t>𝛿</m:t>
                    </m:r>
                    <m:d>
                      <m:dPr>
                        <m:ctrlPr>
                          <a:rPr lang="en-US" b="0" i="1" smtClean="0">
                            <a:solidFill>
                              <a:schemeClr val="accent1"/>
                            </a:solidFill>
                            <a:latin typeface="Cambria Math" panose="02040503050406030204" pitchFamily="18" charset="0"/>
                          </a:rPr>
                        </m:ctrlPr>
                      </m:dPr>
                      <m:e>
                        <m:r>
                          <a:rPr lang="en-US" b="0" i="1" smtClean="0">
                            <a:solidFill>
                              <a:schemeClr val="accent1"/>
                            </a:solidFill>
                            <a:latin typeface="Cambria Math" panose="02040503050406030204" pitchFamily="18" charset="0"/>
                          </a:rPr>
                          <m:t>𝑠</m:t>
                        </m:r>
                        <m:r>
                          <a:rPr lang="en-US" b="0" i="1" smtClean="0">
                            <a:solidFill>
                              <a:schemeClr val="accent1"/>
                            </a:solidFill>
                            <a:latin typeface="Cambria Math" panose="02040503050406030204" pitchFamily="18" charset="0"/>
                          </a:rPr>
                          <m:t>,</m:t>
                        </m:r>
                        <m:sSup>
                          <m:sSupPr>
                            <m:ctrlPr>
                              <a:rPr lang="en-US" b="0" i="1" smtClean="0">
                                <a:solidFill>
                                  <a:schemeClr val="accent1"/>
                                </a:solidFill>
                                <a:latin typeface="Cambria Math" panose="02040503050406030204" pitchFamily="18" charset="0"/>
                              </a:rPr>
                            </m:ctrlPr>
                          </m:sSupPr>
                          <m:e>
                            <m:r>
                              <a:rPr lang="en-US" b="0" i="1" smtClean="0">
                                <a:solidFill>
                                  <a:schemeClr val="accent1"/>
                                </a:solidFill>
                                <a:latin typeface="Cambria Math" panose="02040503050406030204" pitchFamily="18" charset="0"/>
                              </a:rPr>
                              <m:t>𝑢</m:t>
                            </m:r>
                          </m:e>
                          <m:sup>
                            <m:r>
                              <a:rPr lang="en-US" b="0" i="1" smtClean="0">
                                <a:solidFill>
                                  <a:schemeClr val="accent1"/>
                                </a:solidFill>
                                <a:latin typeface="Cambria Math" panose="02040503050406030204" pitchFamily="18" charset="0"/>
                              </a:rPr>
                              <m:t>′</m:t>
                            </m:r>
                          </m:sup>
                        </m:sSup>
                      </m:e>
                    </m:d>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𝑐</m:t>
                    </m:r>
                    <m:d>
                      <m:dPr>
                        <m:ctrlPr>
                          <a:rPr lang="en-US" b="0" i="1" smtClean="0">
                            <a:solidFill>
                              <a:schemeClr val="accent1"/>
                            </a:solidFill>
                            <a:latin typeface="Cambria Math" panose="02040503050406030204" pitchFamily="18" charset="0"/>
                          </a:rPr>
                        </m:ctrlPr>
                      </m:dPr>
                      <m:e>
                        <m:sSup>
                          <m:sSupPr>
                            <m:ctrlPr>
                              <a:rPr lang="en-US" b="0" i="1" smtClean="0">
                                <a:solidFill>
                                  <a:schemeClr val="accent1"/>
                                </a:solidFill>
                                <a:latin typeface="Cambria Math" panose="02040503050406030204" pitchFamily="18" charset="0"/>
                              </a:rPr>
                            </m:ctrlPr>
                          </m:sSupPr>
                          <m:e>
                            <m:r>
                              <a:rPr lang="en-US" b="0" i="1" smtClean="0">
                                <a:solidFill>
                                  <a:schemeClr val="accent1"/>
                                </a:solidFill>
                                <a:latin typeface="Cambria Math" panose="02040503050406030204" pitchFamily="18" charset="0"/>
                              </a:rPr>
                              <m:t>𝑒</m:t>
                            </m:r>
                          </m:e>
                          <m:sup>
                            <m:r>
                              <a:rPr lang="en-US" b="0" i="1" smtClean="0">
                                <a:solidFill>
                                  <a:schemeClr val="accent1"/>
                                </a:solidFill>
                                <a:latin typeface="Cambria Math" panose="02040503050406030204" pitchFamily="18" charset="0"/>
                              </a:rPr>
                              <m:t>′</m:t>
                            </m:r>
                          </m:sup>
                        </m:sSup>
                      </m:e>
                    </m:d>
                    <m:r>
                      <a:rPr lang="en-US" b="0" i="1" smtClean="0">
                        <a:solidFill>
                          <a:schemeClr val="accent1"/>
                        </a:solidFill>
                        <a:latin typeface="Cambria Math" panose="02040503050406030204" pitchFamily="18" charset="0"/>
                      </a:rPr>
                      <m:t>+</m:t>
                    </m:r>
                    <m:r>
                      <m:rPr>
                        <m:sty m:val="p"/>
                      </m:rPr>
                      <a:rPr lang="en-US" b="0" i="0" smtClean="0">
                        <a:solidFill>
                          <a:schemeClr val="accent1"/>
                        </a:solidFill>
                        <a:latin typeface="Cambria Math" panose="02040503050406030204" pitchFamily="18" charset="0"/>
                      </a:rPr>
                      <m:t>Δ</m:t>
                    </m:r>
                  </m:oMath>
                </a14:m>
                <a:r>
                  <a:rPr lang="en-US" i="1" dirty="0">
                    <a:solidFill>
                      <a:schemeClr val="accent1"/>
                    </a:solidFill>
                  </a:rPr>
                  <a:t> is better</a:t>
                </a:r>
              </a:p>
            </p:txBody>
          </p:sp>
        </mc:Choice>
        <mc:Fallback xmlns="">
          <p:sp>
            <p:nvSpPr>
              <p:cNvPr id="30" name="TextBox 29">
                <a:extLst>
                  <a:ext uri="{FF2B5EF4-FFF2-40B4-BE49-F238E27FC236}">
                    <a16:creationId xmlns:a16="http://schemas.microsoft.com/office/drawing/2014/main" id="{6D83879F-B122-D699-81BB-2F2238B55DDC}"/>
                  </a:ext>
                </a:extLst>
              </p:cNvPr>
              <p:cNvSpPr txBox="1">
                <a:spLocks noRot="1" noChangeAspect="1" noMove="1" noResize="1" noEditPoints="1" noAdjustHandles="1" noChangeArrowheads="1" noChangeShapeType="1" noTextEdit="1"/>
              </p:cNvSpPr>
              <p:nvPr/>
            </p:nvSpPr>
            <p:spPr>
              <a:xfrm>
                <a:off x="7491046" y="3425544"/>
                <a:ext cx="4486532" cy="1754326"/>
              </a:xfrm>
              <a:prstGeom prst="rect">
                <a:avLst/>
              </a:prstGeom>
              <a:blipFill>
                <a:blip r:embed="rId3"/>
                <a:stretch>
                  <a:fillRect l="-1127" t="-1429" b="-4286"/>
                </a:stretch>
              </a:blipFill>
            </p:spPr>
            <p:txBody>
              <a:bodyPr/>
              <a:lstStyle/>
              <a:p>
                <a:r>
                  <a:rPr lang="en-US">
                    <a:noFill/>
                  </a:rPr>
                  <a:t> </a:t>
                </a:r>
              </a:p>
            </p:txBody>
          </p:sp>
        </mc:Fallback>
      </mc:AlternateContent>
      <p:grpSp>
        <p:nvGrpSpPr>
          <p:cNvPr id="39936" name="Group 39935">
            <a:extLst>
              <a:ext uri="{FF2B5EF4-FFF2-40B4-BE49-F238E27FC236}">
                <a16:creationId xmlns:a16="http://schemas.microsoft.com/office/drawing/2014/main" id="{33EC3386-9C71-698E-1734-BE3426614D4F}"/>
              </a:ext>
            </a:extLst>
          </p:cNvPr>
          <p:cNvGrpSpPr/>
          <p:nvPr/>
        </p:nvGrpSpPr>
        <p:grpSpPr>
          <a:xfrm>
            <a:off x="826478" y="1859572"/>
            <a:ext cx="6541476" cy="3560885"/>
            <a:chOff x="826478" y="1859572"/>
            <a:chExt cx="6541476" cy="3560885"/>
          </a:xfrm>
        </p:grpSpPr>
        <p:sp>
          <p:nvSpPr>
            <p:cNvPr id="8" name="Rectangle 7">
              <a:extLst>
                <a:ext uri="{FF2B5EF4-FFF2-40B4-BE49-F238E27FC236}">
                  <a16:creationId xmlns:a16="http://schemas.microsoft.com/office/drawing/2014/main" id="{8CFA1CB9-73AB-825A-F4C7-6A6F17D63B55}"/>
                </a:ext>
              </a:extLst>
            </p:cNvPr>
            <p:cNvSpPr/>
            <p:nvPr/>
          </p:nvSpPr>
          <p:spPr>
            <a:xfrm>
              <a:off x="826478" y="1859572"/>
              <a:ext cx="6541476" cy="356088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5DB4ADF5-58D9-8AF7-801F-646B768B7542}"/>
                </a:ext>
              </a:extLst>
            </p:cNvPr>
            <p:cNvSpPr/>
            <p:nvPr/>
          </p:nvSpPr>
          <p:spPr>
            <a:xfrm>
              <a:off x="949570" y="1974856"/>
              <a:ext cx="3792711"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EA288DE-21EE-E3C0-1178-B4C258354A5D}"/>
                </a:ext>
              </a:extLst>
            </p:cNvPr>
            <p:cNvSpPr/>
            <p:nvPr/>
          </p:nvSpPr>
          <p:spPr>
            <a:xfrm>
              <a:off x="1198580" y="3204632"/>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14" name="Oval 13">
              <a:extLst>
                <a:ext uri="{FF2B5EF4-FFF2-40B4-BE49-F238E27FC236}">
                  <a16:creationId xmlns:a16="http://schemas.microsoft.com/office/drawing/2014/main" id="{25D645CB-3CAE-2C35-B137-7D9C86750F18}"/>
                </a:ext>
              </a:extLst>
            </p:cNvPr>
            <p:cNvSpPr/>
            <p:nvPr/>
          </p:nvSpPr>
          <p:spPr>
            <a:xfrm>
              <a:off x="3771276" y="2683389"/>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Oval 14">
              <a:extLst>
                <a:ext uri="{FF2B5EF4-FFF2-40B4-BE49-F238E27FC236}">
                  <a16:creationId xmlns:a16="http://schemas.microsoft.com/office/drawing/2014/main" id="{339A09BD-4526-D9AB-B7F8-A85E2EB8AE7E}"/>
                </a:ext>
              </a:extLst>
            </p:cNvPr>
            <p:cNvSpPr/>
            <p:nvPr/>
          </p:nvSpPr>
          <p:spPr>
            <a:xfrm>
              <a:off x="3967060" y="3361152"/>
              <a:ext cx="426720" cy="42672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16" name="Oval 15">
              <a:extLst>
                <a:ext uri="{FF2B5EF4-FFF2-40B4-BE49-F238E27FC236}">
                  <a16:creationId xmlns:a16="http://schemas.microsoft.com/office/drawing/2014/main" id="{BA08ED73-C373-5FE9-8AA4-25FBD8911DA5}"/>
                </a:ext>
              </a:extLst>
            </p:cNvPr>
            <p:cNvSpPr/>
            <p:nvPr/>
          </p:nvSpPr>
          <p:spPr>
            <a:xfrm>
              <a:off x="3358169" y="4022568"/>
              <a:ext cx="586760" cy="502845"/>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17" name="Oval 16">
              <a:extLst>
                <a:ext uri="{FF2B5EF4-FFF2-40B4-BE49-F238E27FC236}">
                  <a16:creationId xmlns:a16="http://schemas.microsoft.com/office/drawing/2014/main" id="{40471ACE-AD01-F2FB-0B33-8E805B062181}"/>
                </a:ext>
              </a:extLst>
            </p:cNvPr>
            <p:cNvSpPr/>
            <p:nvPr/>
          </p:nvSpPr>
          <p:spPr>
            <a:xfrm>
              <a:off x="5667986" y="2243650"/>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8" name="Oval 17">
              <a:extLst>
                <a:ext uri="{FF2B5EF4-FFF2-40B4-BE49-F238E27FC236}">
                  <a16:creationId xmlns:a16="http://schemas.microsoft.com/office/drawing/2014/main" id="{4298FC48-EE73-D21E-BC0A-1096F1A07962}"/>
                </a:ext>
              </a:extLst>
            </p:cNvPr>
            <p:cNvSpPr/>
            <p:nvPr/>
          </p:nvSpPr>
          <p:spPr>
            <a:xfrm>
              <a:off x="6094706" y="3432040"/>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v</a:t>
              </a:r>
            </a:p>
          </p:txBody>
        </p:sp>
        <p:sp>
          <p:nvSpPr>
            <p:cNvPr id="19" name="Oval 18">
              <a:extLst>
                <a:ext uri="{FF2B5EF4-FFF2-40B4-BE49-F238E27FC236}">
                  <a16:creationId xmlns:a16="http://schemas.microsoft.com/office/drawing/2014/main" id="{17BC8FDA-9966-DCF6-9E99-7CC8572DFEA3}"/>
                </a:ext>
              </a:extLst>
            </p:cNvPr>
            <p:cNvSpPr/>
            <p:nvPr/>
          </p:nvSpPr>
          <p:spPr>
            <a:xfrm>
              <a:off x="5600878" y="4756638"/>
              <a:ext cx="493828" cy="538588"/>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V’</a:t>
              </a:r>
            </a:p>
          </p:txBody>
        </p:sp>
        <p:cxnSp>
          <p:nvCxnSpPr>
            <p:cNvPr id="20" name="Straight Connector 19">
              <a:extLst>
                <a:ext uri="{FF2B5EF4-FFF2-40B4-BE49-F238E27FC236}">
                  <a16:creationId xmlns:a16="http://schemas.microsoft.com/office/drawing/2014/main" id="{C647CF7D-A3B1-D5AB-DAEA-582A0A4FE9E9}"/>
                </a:ext>
              </a:extLst>
            </p:cNvPr>
            <p:cNvCxnSpPr>
              <a:stCxn id="14" idx="6"/>
              <a:endCxn id="17" idx="2"/>
            </p:cNvCxnSpPr>
            <p:nvPr/>
          </p:nvCxnSpPr>
          <p:spPr>
            <a:xfrm flipV="1">
              <a:off x="4197996" y="2457010"/>
              <a:ext cx="1469990" cy="439739"/>
            </a:xfrm>
            <a:prstGeom prst="line">
              <a:avLst/>
            </a:prstGeom>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18BFAFE2-ABB9-E3DA-65F5-E44EA44ADFB3}"/>
                </a:ext>
              </a:extLst>
            </p:cNvPr>
            <p:cNvCxnSpPr>
              <a:cxnSpLocks/>
              <a:stCxn id="15" idx="6"/>
              <a:endCxn id="18" idx="2"/>
            </p:cNvCxnSpPr>
            <p:nvPr/>
          </p:nvCxnSpPr>
          <p:spPr>
            <a:xfrm>
              <a:off x="4393780" y="3574512"/>
              <a:ext cx="1700926" cy="70888"/>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2" name="Straight Connector 21">
              <a:extLst>
                <a:ext uri="{FF2B5EF4-FFF2-40B4-BE49-F238E27FC236}">
                  <a16:creationId xmlns:a16="http://schemas.microsoft.com/office/drawing/2014/main" id="{74B4663D-826C-0EDE-CC1B-46D2750D77F5}"/>
                </a:ext>
              </a:extLst>
            </p:cNvPr>
            <p:cNvCxnSpPr>
              <a:cxnSpLocks/>
              <a:stCxn id="16" idx="6"/>
              <a:endCxn id="19" idx="2"/>
            </p:cNvCxnSpPr>
            <p:nvPr/>
          </p:nvCxnSpPr>
          <p:spPr>
            <a:xfrm>
              <a:off x="3944929" y="4273991"/>
              <a:ext cx="1655949" cy="751941"/>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F9716EB-4C87-6D3C-44C1-12A5015165C0}"/>
                </a:ext>
              </a:extLst>
            </p:cNvPr>
            <p:cNvCxnSpPr>
              <a:cxnSpLocks/>
              <a:stCxn id="15" idx="7"/>
              <a:endCxn id="17" idx="3"/>
            </p:cNvCxnSpPr>
            <p:nvPr/>
          </p:nvCxnSpPr>
          <p:spPr>
            <a:xfrm flipV="1">
              <a:off x="4331288" y="2607878"/>
              <a:ext cx="1399190" cy="815766"/>
            </a:xfrm>
            <a:prstGeom prst="line">
              <a:avLst/>
            </a:prstGeom>
          </p:spPr>
          <p:style>
            <a:lnRef idx="1">
              <a:schemeClr val="accent2"/>
            </a:lnRef>
            <a:fillRef idx="0">
              <a:schemeClr val="accent2"/>
            </a:fillRef>
            <a:effectRef idx="0">
              <a:schemeClr val="accent2"/>
            </a:effectRef>
            <a:fontRef idx="minor">
              <a:schemeClr val="tx1"/>
            </a:fontRef>
          </p:style>
        </p:cxnSp>
        <p:cxnSp>
          <p:nvCxnSpPr>
            <p:cNvPr id="24" name="Straight Connector 23">
              <a:extLst>
                <a:ext uri="{FF2B5EF4-FFF2-40B4-BE49-F238E27FC236}">
                  <a16:creationId xmlns:a16="http://schemas.microsoft.com/office/drawing/2014/main" id="{C6428683-70B7-8D18-E5BE-2C8DED7A75E6}"/>
                </a:ext>
              </a:extLst>
            </p:cNvPr>
            <p:cNvCxnSpPr>
              <a:cxnSpLocks/>
              <a:stCxn id="13" idx="6"/>
            </p:cNvCxnSpPr>
            <p:nvPr/>
          </p:nvCxnSpPr>
          <p:spPr>
            <a:xfrm flipV="1">
              <a:off x="1625300" y="3157589"/>
              <a:ext cx="440873" cy="260403"/>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5" name="Straight Connector 24">
              <a:extLst>
                <a:ext uri="{FF2B5EF4-FFF2-40B4-BE49-F238E27FC236}">
                  <a16:creationId xmlns:a16="http://schemas.microsoft.com/office/drawing/2014/main" id="{1BBC41BB-C98A-1083-D609-EBB9C3A50122}"/>
                </a:ext>
              </a:extLst>
            </p:cNvPr>
            <p:cNvCxnSpPr>
              <a:cxnSpLocks/>
            </p:cNvCxnSpPr>
            <p:nvPr/>
          </p:nvCxnSpPr>
          <p:spPr>
            <a:xfrm>
              <a:off x="2066173" y="3157589"/>
              <a:ext cx="234857" cy="567146"/>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6" name="Straight Connector 25">
              <a:extLst>
                <a:ext uri="{FF2B5EF4-FFF2-40B4-BE49-F238E27FC236}">
                  <a16:creationId xmlns:a16="http://schemas.microsoft.com/office/drawing/2014/main" id="{4ED3B244-4366-BBCE-111C-92D50035EF1D}"/>
                </a:ext>
              </a:extLst>
            </p:cNvPr>
            <p:cNvCxnSpPr>
              <a:cxnSpLocks/>
            </p:cNvCxnSpPr>
            <p:nvPr/>
          </p:nvCxnSpPr>
          <p:spPr>
            <a:xfrm flipV="1">
              <a:off x="2312819" y="3204632"/>
              <a:ext cx="750920" cy="520103"/>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7" name="Straight Connector 26">
              <a:extLst>
                <a:ext uri="{FF2B5EF4-FFF2-40B4-BE49-F238E27FC236}">
                  <a16:creationId xmlns:a16="http://schemas.microsoft.com/office/drawing/2014/main" id="{4CDEB1B5-E00B-0F07-AED9-7A391F3C009A}"/>
                </a:ext>
              </a:extLst>
            </p:cNvPr>
            <p:cNvCxnSpPr>
              <a:cxnSpLocks/>
              <a:stCxn id="15" idx="2"/>
            </p:cNvCxnSpPr>
            <p:nvPr/>
          </p:nvCxnSpPr>
          <p:spPr>
            <a:xfrm flipH="1" flipV="1">
              <a:off x="3063739" y="3204632"/>
              <a:ext cx="903321" cy="369880"/>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C2ADE2EB-9BED-748C-C76C-A9425B6817B1}"/>
                    </a:ext>
                  </a:extLst>
                </p:cNvPr>
                <p:cNvSpPr txBox="1"/>
                <p:nvPr/>
              </p:nvSpPr>
              <p:spPr>
                <a:xfrm>
                  <a:off x="2271565" y="2845955"/>
                  <a:ext cx="911211"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𝛿</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𝑠</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𝑢</m:t>
                        </m:r>
                        <m:r>
                          <a:rPr lang="en-US" b="0" i="1" smtClean="0">
                            <a:solidFill>
                              <a:schemeClr val="accent5"/>
                            </a:solidFill>
                            <a:latin typeface="Cambria Math" panose="02040503050406030204" pitchFamily="18" charset="0"/>
                          </a:rPr>
                          <m:t>)</m:t>
                        </m:r>
                      </m:oMath>
                    </m:oMathPara>
                  </a14:m>
                  <a:endParaRPr lang="en-US" dirty="0">
                    <a:solidFill>
                      <a:schemeClr val="accent5"/>
                    </a:solidFill>
                  </a:endParaRPr>
                </a:p>
              </p:txBody>
            </p:sp>
          </mc:Choice>
          <mc:Fallback xmlns="">
            <p:sp>
              <p:nvSpPr>
                <p:cNvPr id="28" name="TextBox 27">
                  <a:extLst>
                    <a:ext uri="{FF2B5EF4-FFF2-40B4-BE49-F238E27FC236}">
                      <a16:creationId xmlns:a16="http://schemas.microsoft.com/office/drawing/2014/main" id="{C2ADE2EB-9BED-748C-C76C-A9425B6817B1}"/>
                    </a:ext>
                  </a:extLst>
                </p:cNvPr>
                <p:cNvSpPr txBox="1">
                  <a:spLocks noRot="1" noChangeAspect="1" noMove="1" noResize="1" noEditPoints="1" noAdjustHandles="1" noChangeArrowheads="1" noChangeShapeType="1" noTextEdit="1"/>
                </p:cNvSpPr>
                <p:nvPr/>
              </p:nvSpPr>
              <p:spPr>
                <a:xfrm>
                  <a:off x="2271565" y="2845955"/>
                  <a:ext cx="911211" cy="369332"/>
                </a:xfrm>
                <a:prstGeom prst="rect">
                  <a:avLst/>
                </a:prstGeom>
                <a:blipFill>
                  <a:blip r:embed="rId4"/>
                  <a:stretch>
                    <a:fillRect b="-17241"/>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BFEA787-D3BE-F2BF-343C-4E7DFFB8E62E}"/>
                    </a:ext>
                  </a:extLst>
                </p:cNvPr>
                <p:cNvSpPr txBox="1"/>
                <p:nvPr/>
              </p:nvSpPr>
              <p:spPr>
                <a:xfrm>
                  <a:off x="4820500" y="3261103"/>
                  <a:ext cx="1218603"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𝑒</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𝑢</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𝑣</m:t>
                        </m:r>
                        <m:r>
                          <a:rPr lang="en-US" b="0" i="1" smtClean="0">
                            <a:solidFill>
                              <a:schemeClr val="accent5"/>
                            </a:solidFill>
                            <a:latin typeface="Cambria Math" panose="02040503050406030204" pitchFamily="18" charset="0"/>
                          </a:rPr>
                          <m:t>)</m:t>
                        </m:r>
                      </m:oMath>
                    </m:oMathPara>
                  </a14:m>
                  <a:endParaRPr lang="en-US" dirty="0">
                    <a:solidFill>
                      <a:schemeClr val="accent5"/>
                    </a:solidFill>
                  </a:endParaRPr>
                </a:p>
              </p:txBody>
            </p:sp>
          </mc:Choice>
          <mc:Fallback xmlns="">
            <p:sp>
              <p:nvSpPr>
                <p:cNvPr id="29" name="TextBox 28">
                  <a:extLst>
                    <a:ext uri="{FF2B5EF4-FFF2-40B4-BE49-F238E27FC236}">
                      <a16:creationId xmlns:a16="http://schemas.microsoft.com/office/drawing/2014/main" id="{5BFEA787-D3BE-F2BF-343C-4E7DFFB8E62E}"/>
                    </a:ext>
                  </a:extLst>
                </p:cNvPr>
                <p:cNvSpPr txBox="1">
                  <a:spLocks noRot="1" noChangeAspect="1" noMove="1" noResize="1" noEditPoints="1" noAdjustHandles="1" noChangeArrowheads="1" noChangeShapeType="1" noTextEdit="1"/>
                </p:cNvSpPr>
                <p:nvPr/>
              </p:nvSpPr>
              <p:spPr>
                <a:xfrm>
                  <a:off x="4820500" y="3261103"/>
                  <a:ext cx="1218603" cy="369332"/>
                </a:xfrm>
                <a:prstGeom prst="rect">
                  <a:avLst/>
                </a:prstGeom>
                <a:blipFill>
                  <a:blip r:embed="rId5"/>
                  <a:stretch>
                    <a:fillRect b="-9677"/>
                  </a:stretch>
                </a:blipFill>
                <a:ln>
                  <a:noFill/>
                </a:ln>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36D1DC42-CA21-8B5A-A8D5-39D509D0527B}"/>
                </a:ext>
              </a:extLst>
            </p:cNvPr>
            <p:cNvCxnSpPr>
              <a:cxnSpLocks/>
              <a:stCxn id="13" idx="5"/>
            </p:cNvCxnSpPr>
            <p:nvPr/>
          </p:nvCxnSpPr>
          <p:spPr>
            <a:xfrm>
              <a:off x="1562808" y="3568860"/>
              <a:ext cx="394327" cy="634498"/>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2D8E21BF-17B7-B9E3-8FC7-E8C2636943D5}"/>
                </a:ext>
              </a:extLst>
            </p:cNvPr>
            <p:cNvCxnSpPr>
              <a:cxnSpLocks/>
            </p:cNvCxnSpPr>
            <p:nvPr/>
          </p:nvCxnSpPr>
          <p:spPr>
            <a:xfrm flipH="1">
              <a:off x="1928693" y="3934885"/>
              <a:ext cx="641680" cy="268473"/>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F9C3AF4-2D30-6D2B-E86E-F18387C1D986}"/>
                </a:ext>
              </a:extLst>
            </p:cNvPr>
            <p:cNvCxnSpPr>
              <a:cxnSpLocks/>
              <a:endCxn id="16" idx="2"/>
            </p:cNvCxnSpPr>
            <p:nvPr/>
          </p:nvCxnSpPr>
          <p:spPr>
            <a:xfrm>
              <a:off x="2570373" y="3940537"/>
              <a:ext cx="787796" cy="333454"/>
            </a:xfrm>
            <a:prstGeom prst="line">
              <a:avLst/>
            </a:prstGeom>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1AEAC35-1157-5012-F6E8-0C47CCBCBEA9}"/>
                    </a:ext>
                  </a:extLst>
                </p:cNvPr>
                <p:cNvSpPr txBox="1"/>
                <p:nvPr/>
              </p:nvSpPr>
              <p:spPr>
                <a:xfrm>
                  <a:off x="2122014" y="4069121"/>
                  <a:ext cx="964688"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1"/>
                            </a:solidFill>
                            <a:latin typeface="Cambria Math" panose="02040503050406030204" pitchFamily="18" charset="0"/>
                          </a:rPr>
                          <m:t>𝛿</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𝑠</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𝑢</m:t>
                        </m:r>
                        <m:r>
                          <a:rPr lang="en-US" b="0" i="1" smtClean="0">
                            <a:solidFill>
                              <a:schemeClr val="accent1"/>
                            </a:solidFill>
                            <a:latin typeface="Cambria Math" panose="02040503050406030204" pitchFamily="18" charset="0"/>
                          </a:rPr>
                          <m:t>′)</m:t>
                        </m:r>
                      </m:oMath>
                    </m:oMathPara>
                  </a14:m>
                  <a:endParaRPr lang="en-US" dirty="0">
                    <a:solidFill>
                      <a:schemeClr val="accent1"/>
                    </a:solidFill>
                  </a:endParaRPr>
                </a:p>
              </p:txBody>
            </p:sp>
          </mc:Choice>
          <mc:Fallback xmlns="">
            <p:sp>
              <p:nvSpPr>
                <p:cNvPr id="52" name="TextBox 51">
                  <a:extLst>
                    <a:ext uri="{FF2B5EF4-FFF2-40B4-BE49-F238E27FC236}">
                      <a16:creationId xmlns:a16="http://schemas.microsoft.com/office/drawing/2014/main" id="{71AEAC35-1157-5012-F6E8-0C47CCBCBEA9}"/>
                    </a:ext>
                  </a:extLst>
                </p:cNvPr>
                <p:cNvSpPr txBox="1">
                  <a:spLocks noRot="1" noChangeAspect="1" noMove="1" noResize="1" noEditPoints="1" noAdjustHandles="1" noChangeArrowheads="1" noChangeShapeType="1" noTextEdit="1"/>
                </p:cNvSpPr>
                <p:nvPr/>
              </p:nvSpPr>
              <p:spPr>
                <a:xfrm>
                  <a:off x="2122014" y="4069121"/>
                  <a:ext cx="964688" cy="369332"/>
                </a:xfrm>
                <a:prstGeom prst="rect">
                  <a:avLst/>
                </a:prstGeom>
                <a:blipFill>
                  <a:blip r:embed="rId6"/>
                  <a:stretch>
                    <a:fillRect b="-1333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487ADEE-675C-5C03-849E-D989A3D07052}"/>
                    </a:ext>
                  </a:extLst>
                </p:cNvPr>
                <p:cNvSpPr txBox="1"/>
                <p:nvPr/>
              </p:nvSpPr>
              <p:spPr>
                <a:xfrm>
                  <a:off x="4548165" y="4253787"/>
                  <a:ext cx="1378903"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1"/>
                            </a:solidFill>
                            <a:latin typeface="Cambria Math" panose="02040503050406030204" pitchFamily="18" charset="0"/>
                          </a:rPr>
                          <m:t>𝑒</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𝑢</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𝑣</m:t>
                        </m:r>
                        <m:r>
                          <a:rPr lang="en-US" b="0" i="1" smtClean="0">
                            <a:solidFill>
                              <a:schemeClr val="accent1"/>
                            </a:solidFill>
                            <a:latin typeface="Cambria Math" panose="02040503050406030204" pitchFamily="18" charset="0"/>
                          </a:rPr>
                          <m:t>′)</m:t>
                        </m:r>
                      </m:oMath>
                    </m:oMathPara>
                  </a14:m>
                  <a:endParaRPr lang="en-US" dirty="0">
                    <a:solidFill>
                      <a:schemeClr val="accent1"/>
                    </a:solidFill>
                  </a:endParaRPr>
                </a:p>
              </p:txBody>
            </p:sp>
          </mc:Choice>
          <mc:Fallback xmlns="">
            <p:sp>
              <p:nvSpPr>
                <p:cNvPr id="53" name="TextBox 52">
                  <a:extLst>
                    <a:ext uri="{FF2B5EF4-FFF2-40B4-BE49-F238E27FC236}">
                      <a16:creationId xmlns:a16="http://schemas.microsoft.com/office/drawing/2014/main" id="{C487ADEE-675C-5C03-849E-D989A3D07052}"/>
                    </a:ext>
                  </a:extLst>
                </p:cNvPr>
                <p:cNvSpPr txBox="1">
                  <a:spLocks noRot="1" noChangeAspect="1" noMove="1" noResize="1" noEditPoints="1" noAdjustHandles="1" noChangeArrowheads="1" noChangeShapeType="1" noTextEdit="1"/>
                </p:cNvSpPr>
                <p:nvPr/>
              </p:nvSpPr>
              <p:spPr>
                <a:xfrm>
                  <a:off x="4548165" y="4253787"/>
                  <a:ext cx="1378903" cy="369332"/>
                </a:xfrm>
                <a:prstGeom prst="rect">
                  <a:avLst/>
                </a:prstGeom>
                <a:blipFill>
                  <a:blip r:embed="rId7"/>
                  <a:stretch>
                    <a:fillRect b="-17241"/>
                  </a:stretch>
                </a:blipFill>
                <a:ln>
                  <a:noFill/>
                </a:ln>
              </p:spPr>
              <p:txBody>
                <a:bodyPr/>
                <a:lstStyle/>
                <a:p>
                  <a:r>
                    <a:rPr lang="en-US">
                      <a:noFill/>
                    </a:rPr>
                    <a:t> </a:t>
                  </a:r>
                </a:p>
              </p:txBody>
            </p:sp>
          </mc:Fallback>
        </mc:AlternateContent>
        <p:cxnSp>
          <p:nvCxnSpPr>
            <p:cNvPr id="54" name="Straight Connector 53">
              <a:extLst>
                <a:ext uri="{FF2B5EF4-FFF2-40B4-BE49-F238E27FC236}">
                  <a16:creationId xmlns:a16="http://schemas.microsoft.com/office/drawing/2014/main" id="{F99B7E44-8544-14A1-9158-0E2DB35D2F86}"/>
                </a:ext>
              </a:extLst>
            </p:cNvPr>
            <p:cNvCxnSpPr>
              <a:cxnSpLocks/>
              <a:stCxn id="19" idx="7"/>
            </p:cNvCxnSpPr>
            <p:nvPr/>
          </p:nvCxnSpPr>
          <p:spPr>
            <a:xfrm flipV="1">
              <a:off x="6022387" y="4469083"/>
              <a:ext cx="499039" cy="366429"/>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7080640-6638-F8DE-E0DB-BE291C5868E8}"/>
                </a:ext>
              </a:extLst>
            </p:cNvPr>
            <p:cNvCxnSpPr>
              <a:cxnSpLocks/>
            </p:cNvCxnSpPr>
            <p:nvPr/>
          </p:nvCxnSpPr>
          <p:spPr>
            <a:xfrm>
              <a:off x="6039103" y="4253787"/>
              <a:ext cx="477112" cy="215296"/>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2CFB4BA8-59D7-5F6C-0B43-BB65E12DAC85}"/>
                </a:ext>
              </a:extLst>
            </p:cNvPr>
            <p:cNvCxnSpPr>
              <a:cxnSpLocks/>
              <a:endCxn id="18" idx="4"/>
            </p:cNvCxnSpPr>
            <p:nvPr/>
          </p:nvCxnSpPr>
          <p:spPr>
            <a:xfrm flipV="1">
              <a:off x="6033892" y="3858760"/>
              <a:ext cx="274174" cy="395027"/>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63" name="TextBox 62">
                  <a:extLst>
                    <a:ext uri="{FF2B5EF4-FFF2-40B4-BE49-F238E27FC236}">
                      <a16:creationId xmlns:a16="http://schemas.microsoft.com/office/drawing/2014/main" id="{66135EEA-07DE-7F4D-7F93-58EFFBF06170}"/>
                    </a:ext>
                  </a:extLst>
                </p:cNvPr>
                <p:cNvSpPr txBox="1"/>
                <p:nvPr/>
              </p:nvSpPr>
              <p:spPr>
                <a:xfrm>
                  <a:off x="6340017" y="4056273"/>
                  <a:ext cx="816249"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b="0" i="0" smtClean="0">
                            <a:solidFill>
                              <a:schemeClr val="accent1"/>
                            </a:solidFill>
                            <a:latin typeface="Cambria Math" panose="02040503050406030204" pitchFamily="18" charset="0"/>
                          </a:rPr>
                          <m:t>Δ</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0</m:t>
                        </m:r>
                      </m:oMath>
                    </m:oMathPara>
                  </a14:m>
                  <a:endParaRPr lang="en-US" dirty="0">
                    <a:solidFill>
                      <a:schemeClr val="accent1"/>
                    </a:solidFill>
                  </a:endParaRPr>
                </a:p>
              </p:txBody>
            </p:sp>
          </mc:Choice>
          <mc:Fallback>
            <p:sp>
              <p:nvSpPr>
                <p:cNvPr id="63" name="TextBox 62">
                  <a:extLst>
                    <a:ext uri="{FF2B5EF4-FFF2-40B4-BE49-F238E27FC236}">
                      <a16:creationId xmlns:a16="http://schemas.microsoft.com/office/drawing/2014/main" id="{66135EEA-07DE-7F4D-7F93-58EFFBF06170}"/>
                    </a:ext>
                  </a:extLst>
                </p:cNvPr>
                <p:cNvSpPr txBox="1">
                  <a:spLocks noRot="1" noChangeAspect="1" noMove="1" noResize="1" noEditPoints="1" noAdjustHandles="1" noChangeArrowheads="1" noChangeShapeType="1" noTextEdit="1"/>
                </p:cNvSpPr>
                <p:nvPr/>
              </p:nvSpPr>
              <p:spPr>
                <a:xfrm>
                  <a:off x="6340017" y="4056273"/>
                  <a:ext cx="816249" cy="369332"/>
                </a:xfrm>
                <a:prstGeom prst="rect">
                  <a:avLst/>
                </a:prstGeom>
                <a:blipFill>
                  <a:blip r:embed="rId8"/>
                  <a:stretch>
                    <a:fillRect/>
                  </a:stretch>
                </a:blipFill>
                <a:ln>
                  <a:noFill/>
                </a:ln>
              </p:spPr>
              <p:txBody>
                <a:bodyPr/>
                <a:lstStyle/>
                <a:p>
                  <a:r>
                    <a:rPr lang="en-US">
                      <a:noFill/>
                    </a:rPr>
                    <a:t> </a:t>
                  </a:r>
                </a:p>
              </p:txBody>
            </p:sp>
          </mc:Fallback>
        </mc:AlternateContent>
      </p:grpSp>
    </p:spTree>
    <p:extLst>
      <p:ext uri="{BB962C8B-B14F-4D97-AF65-F5344CB8AC3E}">
        <p14:creationId xmlns:p14="http://schemas.microsoft.com/office/powerpoint/2010/main" val="904370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28600"/>
            <a:ext cx="9905998" cy="646331"/>
          </a:xfrm>
        </p:spPr>
        <p:txBody>
          <a:bodyPr>
            <a:normAutofit/>
          </a:bodyPr>
          <a:lstStyle/>
          <a:p>
            <a:pPr algn="ctr"/>
            <a:r>
              <a:rPr lang="en-US" dirty="0"/>
              <a:t>Formulas</a:t>
            </a:r>
          </a:p>
        </p:txBody>
      </p:sp>
      <mc:AlternateContent xmlns:mc="http://schemas.openxmlformats.org/markup-compatibility/2006" xmlns:a14="http://schemas.microsoft.com/office/drawing/2010/main">
        <mc:Choice Requires="a14">
          <p:sp>
            <p:nvSpPr>
              <p:cNvPr id="37891" name="Rectangle 3"/>
              <p:cNvSpPr>
                <a:spLocks noGrp="1" noChangeArrowheads="1"/>
              </p:cNvSpPr>
              <p:nvPr>
                <p:ph sz="quarter" idx="1"/>
                <p:custDataLst>
                  <p:tags r:id="rId2"/>
                </p:custDataLst>
              </p:nvPr>
            </p:nvSpPr>
            <p:spPr>
              <a:xfrm>
                <a:off x="2200742" y="1489589"/>
                <a:ext cx="2438400" cy="1066800"/>
              </a:xfrm>
              <a:solidFill>
                <a:schemeClr val="tx1">
                  <a:lumMod val="95000"/>
                </a:schemeClr>
              </a:solidFill>
              <a:ln>
                <a:solidFill>
                  <a:schemeClr val="bg1"/>
                </a:solidFill>
              </a:ln>
            </p:spPr>
            <p:txBody>
              <a:bodyPr/>
              <a:lstStyle/>
              <a:p>
                <a:pPr marL="0" indent="0">
                  <a:buNone/>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𝑢</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𝑑</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𝑐</m:t>
                      </m:r>
                      <m:d>
                        <m:dPr>
                          <m:ctrlPr>
                            <a:rPr lang="en-US" b="0" i="1" smtClean="0">
                              <a:solidFill>
                                <a:schemeClr val="accent5"/>
                              </a:solidFill>
                              <a:latin typeface="Cambria Math" panose="02040503050406030204" pitchFamily="18" charset="0"/>
                            </a:rPr>
                          </m:ctrlPr>
                        </m:dPr>
                        <m:e>
                          <m:r>
                            <a:rPr lang="en-US" b="0" i="1" smtClean="0">
                              <a:solidFill>
                                <a:schemeClr val="accent5"/>
                              </a:solidFill>
                              <a:latin typeface="Cambria Math" panose="02040503050406030204" pitchFamily="18" charset="0"/>
                            </a:rPr>
                            <m:t>𝑒</m:t>
                          </m:r>
                        </m:e>
                      </m:d>
                    </m:oMath>
                  </m:oMathPara>
                </a14:m>
                <a:endParaRPr lang="en-US" b="0" dirty="0">
                  <a:solidFill>
                    <a:schemeClr val="accent5"/>
                  </a:solidFill>
                </a:endParaRP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𝛿</m:t>
                      </m:r>
                      <m:d>
                        <m:dPr>
                          <m:ctrlPr>
                            <a:rPr lang="en-US" b="0" i="1" smtClean="0">
                              <a:solidFill>
                                <a:schemeClr val="accent5"/>
                              </a:solidFill>
                              <a:latin typeface="Cambria Math" panose="02040503050406030204" pitchFamily="18" charset="0"/>
                            </a:rPr>
                          </m:ctrlPr>
                        </m:dPr>
                        <m:e>
                          <m:r>
                            <a:rPr lang="en-US" b="0" i="1" smtClean="0">
                              <a:solidFill>
                                <a:schemeClr val="accent5"/>
                              </a:solidFill>
                              <a:latin typeface="Cambria Math" panose="02040503050406030204" pitchFamily="18" charset="0"/>
                            </a:rPr>
                            <m:t>𝑠</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𝑢</m:t>
                          </m:r>
                        </m:e>
                      </m:d>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𝑐</m:t>
                      </m:r>
                      <m:d>
                        <m:dPr>
                          <m:ctrlPr>
                            <a:rPr lang="en-US" b="0" i="1" smtClean="0">
                              <a:solidFill>
                                <a:schemeClr val="accent5"/>
                              </a:solidFill>
                              <a:latin typeface="Cambria Math" panose="02040503050406030204" pitchFamily="18" charset="0"/>
                            </a:rPr>
                          </m:ctrlPr>
                        </m:dPr>
                        <m:e>
                          <m:r>
                            <a:rPr lang="en-US" b="0" i="1" smtClean="0">
                              <a:solidFill>
                                <a:schemeClr val="accent5"/>
                              </a:solidFill>
                              <a:latin typeface="Cambria Math" panose="02040503050406030204" pitchFamily="18" charset="0"/>
                            </a:rPr>
                            <m:t>𝑒</m:t>
                          </m:r>
                        </m:e>
                      </m:d>
                    </m:oMath>
                  </m:oMathPara>
                </a14:m>
                <a:endParaRPr lang="en-US" b="0" dirty="0">
                  <a:solidFill>
                    <a:schemeClr val="accent5"/>
                  </a:solidFill>
                </a:endParaRPr>
              </a:p>
            </p:txBody>
          </p:sp>
        </mc:Choice>
        <mc:Fallback xmlns="">
          <p:sp>
            <p:nvSpPr>
              <p:cNvPr id="37891" name="Rectangle 3"/>
              <p:cNvSpPr>
                <a:spLocks noGrp="1" noRot="1" noChangeAspect="1" noMove="1" noResize="1" noEditPoints="1" noAdjustHandles="1" noChangeArrowheads="1" noChangeShapeType="1" noTextEdit="1"/>
              </p:cNvSpPr>
              <p:nvPr>
                <p:ph sz="quarter" idx="1"/>
                <p:custDataLst>
                  <p:tags r:id="rId7"/>
                </p:custDataLst>
              </p:nvPr>
            </p:nvSpPr>
            <p:spPr>
              <a:xfrm>
                <a:off x="2200742" y="1489589"/>
                <a:ext cx="2438400" cy="1066800"/>
              </a:xfrm>
              <a:blipFill>
                <a:blip r:embed="rId8"/>
                <a:stretch>
                  <a:fillRect/>
                </a:stretch>
              </a:blipFill>
              <a:ln>
                <a:solidFill>
                  <a:schemeClr val="bg1"/>
                </a:solidFill>
              </a:ln>
            </p:spPr>
            <p:txBody>
              <a:bodyPr/>
              <a:lstStyle/>
              <a:p>
                <a:r>
                  <a:rPr lang="en-US">
                    <a:noFill/>
                  </a:rPr>
                  <a:t> </a:t>
                </a:r>
              </a:p>
            </p:txBody>
          </p:sp>
        </mc:Fallback>
      </mc:AlternateContent>
      <p:sp>
        <p:nvSpPr>
          <p:cNvPr id="5" name="Rectangle 3">
            <a:extLst>
              <a:ext uri="{FF2B5EF4-FFF2-40B4-BE49-F238E27FC236}">
                <a16:creationId xmlns:a16="http://schemas.microsoft.com/office/drawing/2014/main" id="{3709DC4E-C2AC-E547-AFEF-1215DDE3ED8C}"/>
              </a:ext>
            </a:extLst>
          </p:cNvPr>
          <p:cNvSpPr txBox="1">
            <a:spLocks noChangeArrowheads="1"/>
          </p:cNvSpPr>
          <p:nvPr>
            <p:custDataLst>
              <p:tags r:id="rId3"/>
            </p:custDataLst>
          </p:nvPr>
        </p:nvSpPr>
        <p:spPr>
          <a:xfrm>
            <a:off x="6248400" y="1219200"/>
            <a:ext cx="5791200" cy="5410200"/>
          </a:xfrm>
          <a:prstGeom prst="rect">
            <a:avLst/>
          </a:prstGeom>
        </p:spPr>
        <p:txBody>
          <a:bodyPr vert="horz">
            <a:normAutofit/>
          </a:bodyPr>
          <a:lstStyle>
            <a:lvl1pPr marL="274320" indent="-274320" algn="just"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just"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just"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just"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just"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fontAlgn="auto">
              <a:spcAft>
                <a:spcPts val="0"/>
              </a:spcAft>
              <a:buFont typeface="Wingdings 3"/>
              <a:buNone/>
            </a:pPr>
            <a:endParaRPr lang="en-US" dirty="0"/>
          </a:p>
          <a:p>
            <a:pPr marL="0" indent="0" fontAlgn="auto">
              <a:spcAft>
                <a:spcPts val="0"/>
              </a:spcAft>
              <a:buFont typeface="Wingdings 3"/>
              <a:buNone/>
            </a:pPr>
            <a:endParaRPr lang="en-US" dirty="0"/>
          </a:p>
        </p:txBody>
      </p:sp>
      <p:sp>
        <p:nvSpPr>
          <p:cNvPr id="2" name="TextBox 1">
            <a:extLst>
              <a:ext uri="{FF2B5EF4-FFF2-40B4-BE49-F238E27FC236}">
                <a16:creationId xmlns:a16="http://schemas.microsoft.com/office/drawing/2014/main" id="{613E31DD-FA5D-084C-8274-4FB7C921A6E7}"/>
              </a:ext>
            </a:extLst>
          </p:cNvPr>
          <p:cNvSpPr txBox="1"/>
          <p:nvPr/>
        </p:nvSpPr>
        <p:spPr>
          <a:xfrm>
            <a:off x="4756906" y="1818116"/>
            <a:ext cx="4448640" cy="369332"/>
          </a:xfrm>
          <a:prstGeom prst="rect">
            <a:avLst/>
          </a:prstGeom>
          <a:noFill/>
          <a:ln>
            <a:solidFill>
              <a:schemeClr val="tx1">
                <a:lumMod val="95000"/>
              </a:schemeClr>
            </a:solidFill>
          </a:ln>
        </p:spPr>
        <p:txBody>
          <a:bodyPr wrap="square" rtlCol="0">
            <a:spAutoFit/>
          </a:bodyPr>
          <a:lstStyle/>
          <a:p>
            <a:r>
              <a:rPr lang="en-US" sz="1800" dirty="0"/>
              <a:t>Path that Dijkstra chose. Best path of this form</a:t>
            </a:r>
          </a:p>
        </p:txBody>
      </p:sp>
      <p:sp>
        <p:nvSpPr>
          <p:cNvPr id="7" name="TextBox 6">
            <a:extLst>
              <a:ext uri="{FF2B5EF4-FFF2-40B4-BE49-F238E27FC236}">
                <a16:creationId xmlns:a16="http://schemas.microsoft.com/office/drawing/2014/main" id="{517FE774-9A8F-834A-9A81-21C8AF96D516}"/>
              </a:ext>
            </a:extLst>
          </p:cNvPr>
          <p:cNvSpPr txBox="1"/>
          <p:nvPr/>
        </p:nvSpPr>
        <p:spPr>
          <a:xfrm>
            <a:off x="6078416" y="3130633"/>
            <a:ext cx="5715000" cy="646331"/>
          </a:xfrm>
          <a:prstGeom prst="rect">
            <a:avLst/>
          </a:prstGeom>
          <a:noFill/>
          <a:ln>
            <a:solidFill>
              <a:schemeClr val="tx1">
                <a:lumMod val="95000"/>
              </a:schemeClr>
            </a:solidFill>
          </a:ln>
        </p:spPr>
        <p:txBody>
          <a:bodyPr wrap="square" rtlCol="0">
            <a:spAutoFit/>
          </a:bodyPr>
          <a:lstStyle/>
          <a:p>
            <a:r>
              <a:rPr lang="en-US" sz="1800" dirty="0"/>
              <a:t>Suppose there is a better path s (start) to u’ (known node) to v’ (unknown node) to v (end node) where e’ = (u’, v’)</a:t>
            </a:r>
          </a:p>
        </p:txBody>
      </p:sp>
      <p:sp>
        <p:nvSpPr>
          <p:cNvPr id="8" name="TextBox 7">
            <a:extLst>
              <a:ext uri="{FF2B5EF4-FFF2-40B4-BE49-F238E27FC236}">
                <a16:creationId xmlns:a16="http://schemas.microsoft.com/office/drawing/2014/main" id="{270682A3-843C-0246-AD6D-D7ECDC2E2A9B}"/>
              </a:ext>
            </a:extLst>
          </p:cNvPr>
          <p:cNvSpPr txBox="1"/>
          <p:nvPr/>
        </p:nvSpPr>
        <p:spPr>
          <a:xfrm>
            <a:off x="4346331" y="4664630"/>
            <a:ext cx="6418118" cy="369332"/>
          </a:xfrm>
          <a:prstGeom prst="rect">
            <a:avLst/>
          </a:prstGeom>
          <a:noFill/>
          <a:ln>
            <a:solidFill>
              <a:schemeClr val="tx1">
                <a:lumMod val="95000"/>
              </a:schemeClr>
            </a:solidFill>
          </a:ln>
        </p:spPr>
        <p:txBody>
          <a:bodyPr wrap="square" rtlCol="0">
            <a:spAutoFit/>
          </a:bodyPr>
          <a:lstStyle/>
          <a:p>
            <a:r>
              <a:rPr lang="en-US" sz="1800" dirty="0"/>
              <a:t>Delta must be greater than 0 because this is requirement of input</a:t>
            </a:r>
          </a:p>
        </p:txBody>
      </p:sp>
      <mc:AlternateContent xmlns:mc="http://schemas.openxmlformats.org/markup-compatibility/2006" xmlns:a14="http://schemas.microsoft.com/office/drawing/2010/main">
        <mc:Choice Requires="a14">
          <p:sp>
            <p:nvSpPr>
              <p:cNvPr id="3" name="Rectangle 3">
                <a:extLst>
                  <a:ext uri="{FF2B5EF4-FFF2-40B4-BE49-F238E27FC236}">
                    <a16:creationId xmlns:a16="http://schemas.microsoft.com/office/drawing/2014/main" id="{39EE796D-6FDB-2382-D169-0F1ECC924F92}"/>
                  </a:ext>
                </a:extLst>
              </p:cNvPr>
              <p:cNvSpPr txBox="1">
                <a:spLocks noChangeArrowheads="1"/>
              </p:cNvSpPr>
              <p:nvPr>
                <p:custDataLst>
                  <p:tags r:id="rId4"/>
                </p:custDataLst>
              </p:nvPr>
            </p:nvSpPr>
            <p:spPr>
              <a:xfrm>
                <a:off x="903876" y="3186069"/>
                <a:ext cx="5032130" cy="57681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accent1"/>
                          </a:solidFill>
                          <a:latin typeface="Cambria Math" panose="02040503050406030204" pitchFamily="18" charset="0"/>
                        </a:rPr>
                        <m:t>𝛿</m:t>
                      </m:r>
                      <m:d>
                        <m:dPr>
                          <m:ctrlPr>
                            <a:rPr lang="en-US" i="1" smtClean="0">
                              <a:solidFill>
                                <a:schemeClr val="accent1"/>
                              </a:solidFill>
                              <a:latin typeface="Cambria Math" panose="02040503050406030204" pitchFamily="18" charset="0"/>
                            </a:rPr>
                          </m:ctrlPr>
                        </m:dPr>
                        <m:e>
                          <m:r>
                            <a:rPr lang="en-US" i="1" smtClean="0">
                              <a:solidFill>
                                <a:schemeClr val="accent1"/>
                              </a:solidFill>
                              <a:latin typeface="Cambria Math" panose="02040503050406030204" pitchFamily="18" charset="0"/>
                            </a:rPr>
                            <m:t>𝑠</m:t>
                          </m:r>
                          <m:r>
                            <a:rPr lang="en-US" i="1" smtClean="0">
                              <a:solidFill>
                                <a:schemeClr val="accent1"/>
                              </a:solidFill>
                              <a:latin typeface="Cambria Math" panose="02040503050406030204" pitchFamily="18" charset="0"/>
                            </a:rPr>
                            <m:t>,</m:t>
                          </m:r>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𝑢</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a:rPr lang="en-US" i="1" smtClean="0">
                          <a:solidFill>
                            <a:schemeClr val="accent1"/>
                          </a:solidFill>
                          <a:latin typeface="Cambria Math" panose="02040503050406030204" pitchFamily="18" charset="0"/>
                        </a:rPr>
                        <m:t>𝑐</m:t>
                      </m:r>
                      <m:d>
                        <m:dPr>
                          <m:ctrlPr>
                            <a:rPr lang="en-US" i="1" smtClean="0">
                              <a:solidFill>
                                <a:schemeClr val="accent1"/>
                              </a:solidFill>
                              <a:latin typeface="Cambria Math" panose="02040503050406030204" pitchFamily="18" charset="0"/>
                            </a:rPr>
                          </m:ctrlPr>
                        </m:dPr>
                        <m:e>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𝑒</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m:rPr>
                          <m:sty m:val="p"/>
                        </m:rPr>
                        <a:rPr lang="en-US" smtClean="0">
                          <a:solidFill>
                            <a:schemeClr val="accent1"/>
                          </a:solidFill>
                          <a:latin typeface="Cambria Math" panose="02040503050406030204" pitchFamily="18" charset="0"/>
                        </a:rPr>
                        <m:t>Δ</m:t>
                      </m:r>
                      <m:r>
                        <a:rPr lang="en-US" i="1" smtClean="0">
                          <a:solidFill>
                            <a:schemeClr val="bg1"/>
                          </a:solidFill>
                          <a:latin typeface="Cambria Math" panose="02040503050406030204" pitchFamily="18" charset="0"/>
                        </a:rPr>
                        <m:t>&lt;</m:t>
                      </m:r>
                      <m:r>
                        <a:rPr lang="en-US" i="1" smtClean="0">
                          <a:solidFill>
                            <a:schemeClr val="accent5"/>
                          </a:solidFill>
                          <a:latin typeface="Cambria Math" panose="02040503050406030204" pitchFamily="18" charset="0"/>
                        </a:rPr>
                        <m:t>𝛿</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𝑠</m:t>
                          </m:r>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𝑢</m:t>
                          </m:r>
                        </m:e>
                      </m:d>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𝑐</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𝑒</m:t>
                          </m:r>
                        </m:e>
                      </m:d>
                    </m:oMath>
                  </m:oMathPara>
                </a14:m>
                <a:endParaRPr lang="en-US" dirty="0">
                  <a:solidFill>
                    <a:schemeClr val="accent5"/>
                  </a:solidFill>
                </a:endParaRPr>
              </a:p>
              <a:p>
                <a:pPr marL="0" indent="0">
                  <a:buFont typeface="Arial" panose="020B0604020202020204" pitchFamily="34" charset="0"/>
                  <a:buNone/>
                </a:pPr>
                <a:endParaRPr lang="en-US" dirty="0">
                  <a:solidFill>
                    <a:schemeClr val="bg1"/>
                  </a:solidFill>
                </a:endParaRPr>
              </a:p>
            </p:txBody>
          </p:sp>
        </mc:Choice>
        <mc:Fallback xmlns="">
          <p:sp>
            <p:nvSpPr>
              <p:cNvPr id="3" name="Rectangle 3">
                <a:extLst>
                  <a:ext uri="{FF2B5EF4-FFF2-40B4-BE49-F238E27FC236}">
                    <a16:creationId xmlns:a16="http://schemas.microsoft.com/office/drawing/2014/main" id="{39EE796D-6FDB-2382-D169-0F1ECC924F92}"/>
                  </a:ext>
                </a:extLst>
              </p:cNvPr>
              <p:cNvSpPr txBox="1">
                <a:spLocks noRot="1" noChangeAspect="1" noMove="1" noResize="1" noEditPoints="1" noAdjustHandles="1" noChangeArrowheads="1" noChangeShapeType="1" noTextEdit="1"/>
              </p:cNvSpPr>
              <p:nvPr>
                <p:custDataLst>
                  <p:tags r:id="rId9"/>
                </p:custDataLst>
              </p:nvPr>
            </p:nvSpPr>
            <p:spPr>
              <a:xfrm>
                <a:off x="903876" y="3186069"/>
                <a:ext cx="5032130" cy="576814"/>
              </a:xfrm>
              <a:prstGeom prst="rect">
                <a:avLst/>
              </a:prstGeo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3">
                <a:extLst>
                  <a:ext uri="{FF2B5EF4-FFF2-40B4-BE49-F238E27FC236}">
                    <a16:creationId xmlns:a16="http://schemas.microsoft.com/office/drawing/2014/main" id="{1812C250-8E92-38DD-819D-EF20A5467443}"/>
                  </a:ext>
                </a:extLst>
              </p:cNvPr>
              <p:cNvSpPr txBox="1">
                <a:spLocks noChangeArrowheads="1"/>
              </p:cNvSpPr>
              <p:nvPr>
                <p:custDataLst>
                  <p:tags r:id="rId5"/>
                </p:custDataLst>
              </p:nvPr>
            </p:nvSpPr>
            <p:spPr>
              <a:xfrm>
                <a:off x="2647684" y="4555626"/>
                <a:ext cx="1544515" cy="58734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ln w="0"/>
                          <a:solidFill>
                            <a:schemeClr val="accent1"/>
                          </a:solidFill>
                          <a:effectLst>
                            <a:outerShdw blurRad="38100" dist="25400" dir="5400000" algn="ctr" rotWithShape="0">
                              <a:srgbClr val="6E747A">
                                <a:alpha val="43000"/>
                              </a:srgbClr>
                            </a:outerShdw>
                          </a:effectLst>
                          <a:latin typeface="Cambria Math" panose="02040503050406030204" pitchFamily="18" charset="0"/>
                        </a:rPr>
                        <m:t>Δ</m:t>
                      </m:r>
                      <m:r>
                        <a:rPr lang="en-US" i="1" smtClean="0">
                          <a:solidFill>
                            <a:schemeClr val="bg1"/>
                          </a:solidFill>
                          <a:latin typeface="Cambria Math" panose="02040503050406030204" pitchFamily="18" charset="0"/>
                        </a:rPr>
                        <m:t>≥0</m:t>
                      </m:r>
                    </m:oMath>
                  </m:oMathPara>
                </a14:m>
                <a:endParaRPr lang="en-US" dirty="0">
                  <a:solidFill>
                    <a:schemeClr val="bg1"/>
                  </a:solidFill>
                </a:endParaRPr>
              </a:p>
            </p:txBody>
          </p:sp>
        </mc:Choice>
        <mc:Fallback xmlns="">
          <p:sp>
            <p:nvSpPr>
              <p:cNvPr id="6" name="Rectangle 3">
                <a:extLst>
                  <a:ext uri="{FF2B5EF4-FFF2-40B4-BE49-F238E27FC236}">
                    <a16:creationId xmlns:a16="http://schemas.microsoft.com/office/drawing/2014/main" id="{1812C250-8E92-38DD-819D-EF20A5467443}"/>
                  </a:ext>
                </a:extLst>
              </p:cNvPr>
              <p:cNvSpPr txBox="1">
                <a:spLocks noRot="1" noChangeAspect="1" noMove="1" noResize="1" noEditPoints="1" noAdjustHandles="1" noChangeArrowheads="1" noChangeShapeType="1" noTextEdit="1"/>
              </p:cNvSpPr>
              <p:nvPr>
                <p:custDataLst>
                  <p:tags r:id="rId11"/>
                </p:custDataLst>
              </p:nvPr>
            </p:nvSpPr>
            <p:spPr>
              <a:xfrm>
                <a:off x="2647684" y="4555626"/>
                <a:ext cx="1544515" cy="587340"/>
              </a:xfrm>
              <a:prstGeom prst="rect">
                <a:avLst/>
              </a:prstGeom>
              <a:blipFill>
                <a:blip r:embed="rId12"/>
                <a:stretch>
                  <a:fillRect/>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83610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81842"/>
            <a:ext cx="9905998" cy="646331"/>
          </a:xfrm>
        </p:spPr>
        <p:txBody>
          <a:bodyPr>
            <a:normAutofit/>
          </a:bodyPr>
          <a:lstStyle/>
          <a:p>
            <a:pPr algn="ctr"/>
            <a:r>
              <a:rPr lang="en-US" dirty="0"/>
              <a:t>Formulas</a:t>
            </a:r>
          </a:p>
        </p:txBody>
      </p:sp>
      <p:sp>
        <p:nvSpPr>
          <p:cNvPr id="5" name="Rectangle 3">
            <a:extLst>
              <a:ext uri="{FF2B5EF4-FFF2-40B4-BE49-F238E27FC236}">
                <a16:creationId xmlns:a16="http://schemas.microsoft.com/office/drawing/2014/main" id="{3709DC4E-C2AC-E547-AFEF-1215DDE3ED8C}"/>
              </a:ext>
            </a:extLst>
          </p:cNvPr>
          <p:cNvSpPr txBox="1">
            <a:spLocks noChangeArrowheads="1"/>
          </p:cNvSpPr>
          <p:nvPr>
            <p:custDataLst>
              <p:tags r:id="rId2"/>
            </p:custDataLst>
          </p:nvPr>
        </p:nvSpPr>
        <p:spPr>
          <a:xfrm>
            <a:off x="6248400" y="1219200"/>
            <a:ext cx="5791200" cy="5410200"/>
          </a:xfrm>
          <a:prstGeom prst="rect">
            <a:avLst/>
          </a:prstGeom>
        </p:spPr>
        <p:txBody>
          <a:bodyPr vert="horz">
            <a:normAutofit/>
          </a:bodyPr>
          <a:lstStyle>
            <a:lvl1pPr marL="274320" indent="-274320" algn="just"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just"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just"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just"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just"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fontAlgn="auto">
              <a:spcAft>
                <a:spcPts val="0"/>
              </a:spcAft>
              <a:buFont typeface="Wingdings 3"/>
              <a:buNone/>
            </a:pPr>
            <a:endParaRPr lang="en-US" dirty="0"/>
          </a:p>
          <a:p>
            <a:pPr marL="0" indent="0" fontAlgn="auto">
              <a:spcAft>
                <a:spcPts val="0"/>
              </a:spcAft>
              <a:buFont typeface="Wingdings 3"/>
              <a:buNone/>
            </a:pPr>
            <a:endParaRPr lang="en-US" dirty="0"/>
          </a:p>
        </p:txBody>
      </p:sp>
      <p:sp>
        <p:nvSpPr>
          <p:cNvPr id="9" name="TextBox 8">
            <a:extLst>
              <a:ext uri="{FF2B5EF4-FFF2-40B4-BE49-F238E27FC236}">
                <a16:creationId xmlns:a16="http://schemas.microsoft.com/office/drawing/2014/main" id="{83ACEC02-B328-3749-8723-97E81067C5CF}"/>
              </a:ext>
            </a:extLst>
          </p:cNvPr>
          <p:cNvSpPr txBox="1"/>
          <p:nvPr/>
        </p:nvSpPr>
        <p:spPr>
          <a:xfrm>
            <a:off x="6034454" y="3429000"/>
            <a:ext cx="5624146" cy="1754326"/>
          </a:xfrm>
          <a:prstGeom prst="rect">
            <a:avLst/>
          </a:prstGeom>
          <a:noFill/>
          <a:ln>
            <a:solidFill>
              <a:schemeClr val="tx1">
                <a:lumMod val="95000"/>
              </a:schemeClr>
            </a:solidFill>
          </a:ln>
        </p:spPr>
        <p:txBody>
          <a:bodyPr wrap="square" rtlCol="0">
            <a:spAutoFit/>
          </a:bodyPr>
          <a:lstStyle/>
          <a:p>
            <a:r>
              <a:rPr lang="en-US" sz="1800" dirty="0"/>
              <a:t>Delta gets removed and inequality still holds (left side may get even smaller</a:t>
            </a:r>
          </a:p>
          <a:p>
            <a:endParaRPr lang="en-US" sz="1800" dirty="0"/>
          </a:p>
          <a:p>
            <a:r>
              <a:rPr lang="en-US" sz="1800" dirty="0"/>
              <a:t>This is a CONTRADICTION. If this equation were true, Dijkstra’s algorithm would have selected v’ as the next known node.</a:t>
            </a:r>
          </a:p>
        </p:txBody>
      </p:sp>
      <mc:AlternateContent xmlns:mc="http://schemas.openxmlformats.org/markup-compatibility/2006" xmlns:a14="http://schemas.microsoft.com/office/drawing/2010/main">
        <mc:Choice Requires="a14">
          <p:sp>
            <p:nvSpPr>
              <p:cNvPr id="10" name="Rectangle 3">
                <a:extLst>
                  <a:ext uri="{FF2B5EF4-FFF2-40B4-BE49-F238E27FC236}">
                    <a16:creationId xmlns:a16="http://schemas.microsoft.com/office/drawing/2014/main" id="{7D05EA12-899F-F63B-AE96-CE030720D669}"/>
                  </a:ext>
                </a:extLst>
              </p:cNvPr>
              <p:cNvSpPr txBox="1">
                <a:spLocks noChangeArrowheads="1"/>
              </p:cNvSpPr>
              <p:nvPr>
                <p:custDataLst>
                  <p:tags r:id="rId3"/>
                </p:custDataLst>
              </p:nvPr>
            </p:nvSpPr>
            <p:spPr>
              <a:xfrm>
                <a:off x="884826" y="1752247"/>
                <a:ext cx="5032130" cy="57681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accent1"/>
                          </a:solidFill>
                          <a:latin typeface="Cambria Math" panose="02040503050406030204" pitchFamily="18" charset="0"/>
                        </a:rPr>
                        <m:t>𝛿</m:t>
                      </m:r>
                      <m:d>
                        <m:dPr>
                          <m:ctrlPr>
                            <a:rPr lang="en-US" i="1" smtClean="0">
                              <a:solidFill>
                                <a:schemeClr val="accent1"/>
                              </a:solidFill>
                              <a:latin typeface="Cambria Math" panose="02040503050406030204" pitchFamily="18" charset="0"/>
                            </a:rPr>
                          </m:ctrlPr>
                        </m:dPr>
                        <m:e>
                          <m:r>
                            <a:rPr lang="en-US" i="1" smtClean="0">
                              <a:solidFill>
                                <a:schemeClr val="accent1"/>
                              </a:solidFill>
                              <a:latin typeface="Cambria Math" panose="02040503050406030204" pitchFamily="18" charset="0"/>
                            </a:rPr>
                            <m:t>𝑠</m:t>
                          </m:r>
                          <m:r>
                            <a:rPr lang="en-US" i="1" smtClean="0">
                              <a:solidFill>
                                <a:schemeClr val="accent1"/>
                              </a:solidFill>
                              <a:latin typeface="Cambria Math" panose="02040503050406030204" pitchFamily="18" charset="0"/>
                            </a:rPr>
                            <m:t>,</m:t>
                          </m:r>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𝑢</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a:rPr lang="en-US" i="1" smtClean="0">
                          <a:solidFill>
                            <a:schemeClr val="accent1"/>
                          </a:solidFill>
                          <a:latin typeface="Cambria Math" panose="02040503050406030204" pitchFamily="18" charset="0"/>
                        </a:rPr>
                        <m:t>𝑐</m:t>
                      </m:r>
                      <m:d>
                        <m:dPr>
                          <m:ctrlPr>
                            <a:rPr lang="en-US" i="1" smtClean="0">
                              <a:solidFill>
                                <a:schemeClr val="accent1"/>
                              </a:solidFill>
                              <a:latin typeface="Cambria Math" panose="02040503050406030204" pitchFamily="18" charset="0"/>
                            </a:rPr>
                          </m:ctrlPr>
                        </m:dPr>
                        <m:e>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𝑒</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m:rPr>
                          <m:sty m:val="p"/>
                        </m:rPr>
                        <a:rPr lang="en-US" smtClean="0">
                          <a:solidFill>
                            <a:schemeClr val="accent1"/>
                          </a:solidFill>
                          <a:latin typeface="Cambria Math" panose="02040503050406030204" pitchFamily="18" charset="0"/>
                        </a:rPr>
                        <m:t>Δ</m:t>
                      </m:r>
                      <m:r>
                        <a:rPr lang="en-US" i="1" smtClean="0">
                          <a:solidFill>
                            <a:schemeClr val="bg1"/>
                          </a:solidFill>
                          <a:latin typeface="Cambria Math" panose="02040503050406030204" pitchFamily="18" charset="0"/>
                        </a:rPr>
                        <m:t>&lt;</m:t>
                      </m:r>
                      <m:r>
                        <a:rPr lang="en-US" i="1" smtClean="0">
                          <a:solidFill>
                            <a:schemeClr val="accent5"/>
                          </a:solidFill>
                          <a:latin typeface="Cambria Math" panose="02040503050406030204" pitchFamily="18" charset="0"/>
                        </a:rPr>
                        <m:t>𝛿</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𝑠</m:t>
                          </m:r>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𝑢</m:t>
                          </m:r>
                        </m:e>
                      </m:d>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𝑐</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𝑒</m:t>
                          </m:r>
                        </m:e>
                      </m:d>
                    </m:oMath>
                  </m:oMathPara>
                </a14:m>
                <a:endParaRPr lang="en-US" dirty="0">
                  <a:solidFill>
                    <a:schemeClr val="accent5"/>
                  </a:solidFill>
                </a:endParaRPr>
              </a:p>
              <a:p>
                <a:pPr marL="0" indent="0">
                  <a:buFont typeface="Arial" panose="020B0604020202020204" pitchFamily="34" charset="0"/>
                  <a:buNone/>
                </a:pPr>
                <a:endParaRPr lang="en-US" dirty="0">
                  <a:solidFill>
                    <a:schemeClr val="bg1"/>
                  </a:solidFill>
                </a:endParaRPr>
              </a:p>
            </p:txBody>
          </p:sp>
        </mc:Choice>
        <mc:Fallback xmlns="">
          <p:sp>
            <p:nvSpPr>
              <p:cNvPr id="10" name="Rectangle 3">
                <a:extLst>
                  <a:ext uri="{FF2B5EF4-FFF2-40B4-BE49-F238E27FC236}">
                    <a16:creationId xmlns:a16="http://schemas.microsoft.com/office/drawing/2014/main" id="{7D05EA12-899F-F63B-AE96-CE030720D669}"/>
                  </a:ext>
                </a:extLst>
              </p:cNvPr>
              <p:cNvSpPr txBox="1">
                <a:spLocks noRot="1" noChangeAspect="1" noMove="1" noResize="1" noEditPoints="1" noAdjustHandles="1" noChangeArrowheads="1" noChangeShapeType="1" noTextEdit="1"/>
              </p:cNvSpPr>
              <p:nvPr>
                <p:custDataLst>
                  <p:tags r:id="rId7"/>
                </p:custDataLst>
              </p:nvPr>
            </p:nvSpPr>
            <p:spPr>
              <a:xfrm>
                <a:off x="884826" y="1752247"/>
                <a:ext cx="5032130" cy="576814"/>
              </a:xfrm>
              <a:prstGeom prst="rect">
                <a:avLst/>
              </a:prstGeom>
              <a:blipFill>
                <a:blip r:embed="rId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3">
                <a:extLst>
                  <a:ext uri="{FF2B5EF4-FFF2-40B4-BE49-F238E27FC236}">
                    <a16:creationId xmlns:a16="http://schemas.microsoft.com/office/drawing/2014/main" id="{89FA79EB-3E78-3CC2-BF91-875F01368656}"/>
                  </a:ext>
                </a:extLst>
              </p:cNvPr>
              <p:cNvSpPr txBox="1">
                <a:spLocks noChangeArrowheads="1"/>
              </p:cNvSpPr>
              <p:nvPr>
                <p:custDataLst>
                  <p:tags r:id="rId4"/>
                </p:custDataLst>
              </p:nvPr>
            </p:nvSpPr>
            <p:spPr>
              <a:xfrm>
                <a:off x="2628634" y="2383170"/>
                <a:ext cx="1544515" cy="58734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ln w="0"/>
                          <a:solidFill>
                            <a:schemeClr val="accent1"/>
                          </a:solidFill>
                          <a:effectLst>
                            <a:outerShdw blurRad="38100" dist="25400" dir="5400000" algn="ctr" rotWithShape="0">
                              <a:srgbClr val="6E747A">
                                <a:alpha val="43000"/>
                              </a:srgbClr>
                            </a:outerShdw>
                          </a:effectLst>
                          <a:latin typeface="Cambria Math" panose="02040503050406030204" pitchFamily="18" charset="0"/>
                        </a:rPr>
                        <m:t>Δ</m:t>
                      </m:r>
                      <m:r>
                        <a:rPr lang="en-US" i="1" smtClean="0">
                          <a:solidFill>
                            <a:schemeClr val="bg1"/>
                          </a:solidFill>
                          <a:latin typeface="Cambria Math" panose="02040503050406030204" pitchFamily="18" charset="0"/>
                        </a:rPr>
                        <m:t>≥0</m:t>
                      </m:r>
                    </m:oMath>
                  </m:oMathPara>
                </a14:m>
                <a:endParaRPr lang="en-US" dirty="0">
                  <a:solidFill>
                    <a:schemeClr val="bg1"/>
                  </a:solidFill>
                </a:endParaRPr>
              </a:p>
            </p:txBody>
          </p:sp>
        </mc:Choice>
        <mc:Fallback xmlns="">
          <p:sp>
            <p:nvSpPr>
              <p:cNvPr id="11" name="Rectangle 3">
                <a:extLst>
                  <a:ext uri="{FF2B5EF4-FFF2-40B4-BE49-F238E27FC236}">
                    <a16:creationId xmlns:a16="http://schemas.microsoft.com/office/drawing/2014/main" id="{89FA79EB-3E78-3CC2-BF91-875F01368656}"/>
                  </a:ext>
                </a:extLst>
              </p:cNvPr>
              <p:cNvSpPr txBox="1">
                <a:spLocks noRot="1" noChangeAspect="1" noMove="1" noResize="1" noEditPoints="1" noAdjustHandles="1" noChangeArrowheads="1" noChangeShapeType="1" noTextEdit="1"/>
              </p:cNvSpPr>
              <p:nvPr>
                <p:custDataLst>
                  <p:tags r:id="rId9"/>
                </p:custDataLst>
              </p:nvPr>
            </p:nvSpPr>
            <p:spPr>
              <a:xfrm>
                <a:off x="2628634" y="2383170"/>
                <a:ext cx="1544515" cy="587340"/>
              </a:xfrm>
              <a:prstGeom prst="rect">
                <a:avLst/>
              </a:prstGeom>
              <a:blipFill>
                <a:blip r:embed="rId10"/>
                <a:stretch>
                  <a:fillRect/>
                </a:stretch>
              </a:blipFill>
              <a:ln>
                <a:solidFill>
                  <a:schemeClr val="bg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D25DEC13-79AB-AAA8-F1FB-9A7F3C2B9940}"/>
              </a:ext>
            </a:extLst>
          </p:cNvPr>
          <p:cNvSpPr txBox="1"/>
          <p:nvPr/>
        </p:nvSpPr>
        <p:spPr>
          <a:xfrm>
            <a:off x="6034454" y="1855988"/>
            <a:ext cx="2259622" cy="369332"/>
          </a:xfrm>
          <a:prstGeom prst="rect">
            <a:avLst/>
          </a:prstGeom>
          <a:noFill/>
        </p:spPr>
        <p:txBody>
          <a:bodyPr wrap="square" rtlCol="0">
            <a:spAutoFit/>
          </a:bodyPr>
          <a:lstStyle/>
          <a:p>
            <a:r>
              <a:rPr lang="en-US" sz="1800" dirty="0"/>
              <a:t>…From previous slide</a:t>
            </a:r>
          </a:p>
        </p:txBody>
      </p:sp>
      <mc:AlternateContent xmlns:mc="http://schemas.openxmlformats.org/markup-compatibility/2006" xmlns:a14="http://schemas.microsoft.com/office/drawing/2010/main">
        <mc:Choice Requires="a14">
          <p:sp>
            <p:nvSpPr>
              <p:cNvPr id="13" name="Rectangle 3">
                <a:extLst>
                  <a:ext uri="{FF2B5EF4-FFF2-40B4-BE49-F238E27FC236}">
                    <a16:creationId xmlns:a16="http://schemas.microsoft.com/office/drawing/2014/main" id="{35DB6C37-2254-2090-C59C-6FFA48173223}"/>
                  </a:ext>
                </a:extLst>
              </p:cNvPr>
              <p:cNvSpPr txBox="1">
                <a:spLocks noChangeArrowheads="1"/>
              </p:cNvSpPr>
              <p:nvPr>
                <p:custDataLst>
                  <p:tags r:id="rId5"/>
                </p:custDataLst>
              </p:nvPr>
            </p:nvSpPr>
            <p:spPr>
              <a:xfrm>
                <a:off x="884826" y="3862852"/>
                <a:ext cx="5032130" cy="57681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accent1"/>
                          </a:solidFill>
                          <a:latin typeface="Cambria Math" panose="02040503050406030204" pitchFamily="18" charset="0"/>
                        </a:rPr>
                        <m:t>𝛿</m:t>
                      </m:r>
                      <m:d>
                        <m:dPr>
                          <m:ctrlPr>
                            <a:rPr lang="en-US" i="1" smtClean="0">
                              <a:solidFill>
                                <a:schemeClr val="accent1"/>
                              </a:solidFill>
                              <a:latin typeface="Cambria Math" panose="02040503050406030204" pitchFamily="18" charset="0"/>
                            </a:rPr>
                          </m:ctrlPr>
                        </m:dPr>
                        <m:e>
                          <m:r>
                            <a:rPr lang="en-US" i="1" smtClean="0">
                              <a:solidFill>
                                <a:schemeClr val="accent1"/>
                              </a:solidFill>
                              <a:latin typeface="Cambria Math" panose="02040503050406030204" pitchFamily="18" charset="0"/>
                            </a:rPr>
                            <m:t>𝑠</m:t>
                          </m:r>
                          <m:r>
                            <a:rPr lang="en-US" i="1" smtClean="0">
                              <a:solidFill>
                                <a:schemeClr val="accent1"/>
                              </a:solidFill>
                              <a:latin typeface="Cambria Math" panose="02040503050406030204" pitchFamily="18" charset="0"/>
                            </a:rPr>
                            <m:t>,</m:t>
                          </m:r>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𝑢</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a:rPr lang="en-US" i="1" smtClean="0">
                          <a:solidFill>
                            <a:schemeClr val="accent1"/>
                          </a:solidFill>
                          <a:latin typeface="Cambria Math" panose="02040503050406030204" pitchFamily="18" charset="0"/>
                        </a:rPr>
                        <m:t>𝑐</m:t>
                      </m:r>
                      <m:d>
                        <m:dPr>
                          <m:ctrlPr>
                            <a:rPr lang="en-US" i="1" smtClean="0">
                              <a:solidFill>
                                <a:schemeClr val="accent1"/>
                              </a:solidFill>
                              <a:latin typeface="Cambria Math" panose="02040503050406030204" pitchFamily="18" charset="0"/>
                            </a:rPr>
                          </m:ctrlPr>
                        </m:dPr>
                        <m:e>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𝑒</m:t>
                              </m:r>
                            </m:e>
                            <m:sup>
                              <m:r>
                                <a:rPr lang="en-US" i="1" smtClean="0">
                                  <a:solidFill>
                                    <a:schemeClr val="accent1"/>
                                  </a:solidFill>
                                  <a:latin typeface="Cambria Math" panose="02040503050406030204" pitchFamily="18" charset="0"/>
                                </a:rPr>
                                <m:t>′</m:t>
                              </m:r>
                            </m:sup>
                          </m:sSup>
                        </m:e>
                      </m:d>
                      <m:r>
                        <a:rPr lang="en-US" i="1" smtClean="0">
                          <a:solidFill>
                            <a:schemeClr val="bg1"/>
                          </a:solidFill>
                          <a:latin typeface="Cambria Math" panose="02040503050406030204" pitchFamily="18" charset="0"/>
                        </a:rPr>
                        <m:t>&lt;</m:t>
                      </m:r>
                      <m:r>
                        <a:rPr lang="en-US" i="1" smtClean="0">
                          <a:solidFill>
                            <a:schemeClr val="accent5"/>
                          </a:solidFill>
                          <a:latin typeface="Cambria Math" panose="02040503050406030204" pitchFamily="18" charset="0"/>
                        </a:rPr>
                        <m:t>𝛿</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𝑠</m:t>
                          </m:r>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𝑢</m:t>
                          </m:r>
                        </m:e>
                      </m:d>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𝑐</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𝑒</m:t>
                          </m:r>
                        </m:e>
                      </m:d>
                    </m:oMath>
                  </m:oMathPara>
                </a14:m>
                <a:endParaRPr lang="en-US" dirty="0">
                  <a:solidFill>
                    <a:schemeClr val="accent5"/>
                  </a:solidFill>
                </a:endParaRPr>
              </a:p>
              <a:p>
                <a:pPr marL="0" indent="0">
                  <a:buFont typeface="Arial" panose="020B0604020202020204" pitchFamily="34" charset="0"/>
                  <a:buNone/>
                </a:pPr>
                <a:endParaRPr lang="en-US" dirty="0">
                  <a:solidFill>
                    <a:schemeClr val="bg1"/>
                  </a:solidFill>
                </a:endParaRPr>
              </a:p>
            </p:txBody>
          </p:sp>
        </mc:Choice>
        <mc:Fallback xmlns="">
          <p:sp>
            <p:nvSpPr>
              <p:cNvPr id="13" name="Rectangle 3">
                <a:extLst>
                  <a:ext uri="{FF2B5EF4-FFF2-40B4-BE49-F238E27FC236}">
                    <a16:creationId xmlns:a16="http://schemas.microsoft.com/office/drawing/2014/main" id="{35DB6C37-2254-2090-C59C-6FFA48173223}"/>
                  </a:ext>
                </a:extLst>
              </p:cNvPr>
              <p:cNvSpPr txBox="1">
                <a:spLocks noRot="1" noChangeAspect="1" noMove="1" noResize="1" noEditPoints="1" noAdjustHandles="1" noChangeArrowheads="1" noChangeShapeType="1" noTextEdit="1"/>
              </p:cNvSpPr>
              <p:nvPr>
                <p:custDataLst>
                  <p:tags r:id="rId11"/>
                </p:custDataLst>
              </p:nvPr>
            </p:nvSpPr>
            <p:spPr>
              <a:xfrm>
                <a:off x="884826" y="3862852"/>
                <a:ext cx="5032130" cy="576814"/>
              </a:xfrm>
              <a:prstGeom prst="rect">
                <a:avLst/>
              </a:prstGeom>
              <a:blipFill>
                <a:blip r:embed="rId12"/>
                <a:stretch>
                  <a:fillRect/>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9692076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Prim’s Algorithm</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18344454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265433"/>
            <a:ext cx="9905998" cy="630860"/>
          </a:xfrm>
        </p:spPr>
        <p:txBody>
          <a:bodyPr/>
          <a:lstStyle/>
          <a:p>
            <a:pPr algn="ctr" eaLnBrk="1" hangingPunct="1"/>
            <a:r>
              <a:rPr lang="en-US" dirty="0"/>
              <a:t>Spanning Tree</a:t>
            </a:r>
          </a:p>
        </p:txBody>
      </p:sp>
      <p:sp>
        <p:nvSpPr>
          <p:cNvPr id="66563" name="Rectangle 3"/>
          <p:cNvSpPr>
            <a:spLocks noGrp="1" noChangeArrowheads="1"/>
          </p:cNvSpPr>
          <p:nvPr>
            <p:ph sz="quarter" idx="1"/>
            <p:custDataLst>
              <p:tags r:id="rId2"/>
            </p:custDataLst>
          </p:nvPr>
        </p:nvSpPr>
        <p:spPr>
          <a:xfrm>
            <a:off x="1143000" y="2046084"/>
            <a:ext cx="9905999" cy="1222218"/>
          </a:xfrm>
          <a:solidFill>
            <a:schemeClr val="tx1">
              <a:lumMod val="95000"/>
            </a:schemeClr>
          </a:solidFill>
          <a:ln>
            <a:solidFill>
              <a:schemeClr val="bg1"/>
            </a:solidFill>
          </a:ln>
        </p:spPr>
        <p:txBody>
          <a:bodyPr anchor="ctr"/>
          <a:lstStyle/>
          <a:p>
            <a:pPr marL="0" indent="0" algn="ctr" eaLnBrk="1" hangingPunct="1">
              <a:buNone/>
            </a:pPr>
            <a:r>
              <a:rPr lang="en-US" dirty="0">
                <a:solidFill>
                  <a:sysClr val="windowText" lastClr="000000"/>
                </a:solidFill>
              </a:rPr>
              <a:t>A </a:t>
            </a:r>
            <a:r>
              <a:rPr lang="en-US" b="1" i="1" dirty="0">
                <a:solidFill>
                  <a:sysClr val="windowText" lastClr="000000"/>
                </a:solidFill>
              </a:rPr>
              <a:t>spanning tree </a:t>
            </a:r>
            <a:r>
              <a:rPr lang="en-US" dirty="0">
                <a:solidFill>
                  <a:sysClr val="windowText" lastClr="000000"/>
                </a:solidFill>
              </a:rPr>
              <a:t>of a graph G is a subgraph of G that contains every vertex in G and is also a </a:t>
            </a:r>
            <a:r>
              <a:rPr lang="en-US" b="1" i="1" dirty="0">
                <a:solidFill>
                  <a:sysClr val="windowText" lastClr="000000"/>
                </a:solidFill>
              </a:rPr>
              <a:t>tree </a:t>
            </a:r>
            <a:r>
              <a:rPr lang="en-US" dirty="0">
                <a:solidFill>
                  <a:sysClr val="windowText" lastClr="000000"/>
                </a:solidFill>
              </a:rPr>
              <a:t>(i.e., it has no cycles)</a:t>
            </a:r>
          </a:p>
        </p:txBody>
      </p:sp>
    </p:spTree>
    <p:extLst>
      <p:ext uri="{BB962C8B-B14F-4D97-AF65-F5344CB8AC3E}">
        <p14:creationId xmlns:p14="http://schemas.microsoft.com/office/powerpoint/2010/main" val="30183127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333071"/>
            <a:ext cx="9905998" cy="705456"/>
          </a:xfrm>
        </p:spPr>
        <p:txBody>
          <a:bodyPr/>
          <a:lstStyle/>
          <a:p>
            <a:pPr algn="ctr" eaLnBrk="1" hangingPunct="1"/>
            <a:r>
              <a:rPr lang="en-US" dirty="0"/>
              <a:t>Spanning Tree: Example</a:t>
            </a:r>
          </a:p>
        </p:txBody>
      </p:sp>
      <p:sp>
        <p:nvSpPr>
          <p:cNvPr id="66563" name="Rectangle 3"/>
          <p:cNvSpPr>
            <a:spLocks noGrp="1" noChangeArrowheads="1"/>
          </p:cNvSpPr>
          <p:nvPr>
            <p:ph sz="quarter" idx="1"/>
            <p:custDataLst>
              <p:tags r:id="rId2"/>
            </p:custDataLst>
          </p:nvPr>
        </p:nvSpPr>
        <p:spPr>
          <a:xfrm>
            <a:off x="2564035" y="1518620"/>
            <a:ext cx="2153201" cy="564333"/>
          </a:xfrm>
        </p:spPr>
        <p:txBody>
          <a:bodyPr>
            <a:normAutofit/>
          </a:bodyPr>
          <a:lstStyle/>
          <a:p>
            <a:pPr marL="0" indent="0" eaLnBrk="1" hangingPunct="1">
              <a:buNone/>
            </a:pPr>
            <a:r>
              <a:rPr lang="en-US" dirty="0"/>
              <a:t>Original Graph:</a:t>
            </a:r>
          </a:p>
        </p:txBody>
      </p:sp>
      <p:grpSp>
        <p:nvGrpSpPr>
          <p:cNvPr id="29" name="Group 28">
            <a:extLst>
              <a:ext uri="{FF2B5EF4-FFF2-40B4-BE49-F238E27FC236}">
                <a16:creationId xmlns:a16="http://schemas.microsoft.com/office/drawing/2014/main" id="{0D95BC4F-BC55-EC41-DDC5-AB3FDD87255A}"/>
              </a:ext>
            </a:extLst>
          </p:cNvPr>
          <p:cNvGrpSpPr/>
          <p:nvPr/>
        </p:nvGrpSpPr>
        <p:grpSpPr>
          <a:xfrm>
            <a:off x="4753069" y="1385178"/>
            <a:ext cx="2885041" cy="1837853"/>
            <a:chOff x="4753069" y="1140737"/>
            <a:chExt cx="2885041" cy="1837853"/>
          </a:xfrm>
        </p:grpSpPr>
        <p:sp>
          <p:nvSpPr>
            <p:cNvPr id="28" name="Rectangle 27">
              <a:extLst>
                <a:ext uri="{FF2B5EF4-FFF2-40B4-BE49-F238E27FC236}">
                  <a16:creationId xmlns:a16="http://schemas.microsoft.com/office/drawing/2014/main" id="{5C42B411-D719-844C-49D7-E50F8BC8EAEE}"/>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CAC501F6-9261-8D14-C0F9-3F45925F0842}"/>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D8A12B1-2312-D732-997E-412A19F1CCE7}"/>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070E913-44D8-9B89-21E1-0776F6F13590}"/>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21241F2B-487C-32C0-E031-594CEAC7F385}"/>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7A7AAA91-B48D-533A-4CC7-6AB3012FC6BD}"/>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5324933E-8CE2-9E43-96C0-775B4091949E}"/>
                </a:ext>
              </a:extLst>
            </p:cNvPr>
            <p:cNvCxnSpPr>
              <a:cxnSpLocks/>
              <a:stCxn id="4" idx="7"/>
              <a:endCxn id="8"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142E456-1565-0B04-F28C-C3FE737ED776}"/>
                </a:ext>
              </a:extLst>
            </p:cNvPr>
            <p:cNvCxnSpPr>
              <a:cxnSpLocks/>
              <a:stCxn id="8" idx="6"/>
              <a:endCxn id="9"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8801C7E-ED97-5FA6-1E90-A1EDDAE25AE8}"/>
                </a:ext>
              </a:extLst>
            </p:cNvPr>
            <p:cNvCxnSpPr>
              <a:cxnSpLocks/>
              <a:stCxn id="10" idx="0"/>
              <a:endCxn id="8"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19B0EE5-BA13-2DEB-E982-24C925970044}"/>
                </a:ext>
              </a:extLst>
            </p:cNvPr>
            <p:cNvCxnSpPr>
              <a:cxnSpLocks/>
              <a:stCxn id="10" idx="6"/>
              <a:endCxn id="11"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DFFDAC3-FB92-EDC3-F0C9-B5431B4058D3}"/>
                </a:ext>
              </a:extLst>
            </p:cNvPr>
            <p:cNvCxnSpPr>
              <a:cxnSpLocks/>
              <a:stCxn id="9" idx="4"/>
              <a:endCxn id="11"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sp>
        <p:nvSpPr>
          <p:cNvPr id="30" name="Rectangle 3">
            <a:extLst>
              <a:ext uri="{FF2B5EF4-FFF2-40B4-BE49-F238E27FC236}">
                <a16:creationId xmlns:a16="http://schemas.microsoft.com/office/drawing/2014/main" id="{CFA75FA1-A302-F719-7AC7-AAE73DEBD392}"/>
              </a:ext>
            </a:extLst>
          </p:cNvPr>
          <p:cNvSpPr txBox="1">
            <a:spLocks noChangeArrowheads="1"/>
          </p:cNvSpPr>
          <p:nvPr>
            <p:custDataLst>
              <p:tags r:id="rId3"/>
            </p:custDataLst>
          </p:nvPr>
        </p:nvSpPr>
        <p:spPr>
          <a:xfrm>
            <a:off x="2564034" y="3798584"/>
            <a:ext cx="3260362" cy="56433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All possible spanning trees:</a:t>
            </a:r>
          </a:p>
        </p:txBody>
      </p:sp>
      <p:grpSp>
        <p:nvGrpSpPr>
          <p:cNvPr id="31" name="Group 30">
            <a:extLst>
              <a:ext uri="{FF2B5EF4-FFF2-40B4-BE49-F238E27FC236}">
                <a16:creationId xmlns:a16="http://schemas.microsoft.com/office/drawing/2014/main" id="{D7351522-692E-7798-CB56-90CAD9A866E0}"/>
              </a:ext>
            </a:extLst>
          </p:cNvPr>
          <p:cNvGrpSpPr/>
          <p:nvPr/>
        </p:nvGrpSpPr>
        <p:grpSpPr>
          <a:xfrm>
            <a:off x="188617" y="4425636"/>
            <a:ext cx="2885041" cy="1837853"/>
            <a:chOff x="4753069" y="1140737"/>
            <a:chExt cx="2885041" cy="1837853"/>
          </a:xfrm>
        </p:grpSpPr>
        <p:sp>
          <p:nvSpPr>
            <p:cNvPr id="32" name="Rectangle 31">
              <a:extLst>
                <a:ext uri="{FF2B5EF4-FFF2-40B4-BE49-F238E27FC236}">
                  <a16:creationId xmlns:a16="http://schemas.microsoft.com/office/drawing/2014/main" id="{956CA176-7BD0-5326-175E-C0F7702B48C5}"/>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329D8C66-1C5C-4CD7-1AA8-8EABB21EAA34}"/>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4957A825-0518-2E5C-A62F-585D0355CE99}"/>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804483C1-360A-ED07-4B19-95E6C31B5DC9}"/>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B801789E-6B34-B132-9546-433F9A1111F6}"/>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D58AB6FE-C6A4-7EBF-F951-FA862B5F961C}"/>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Connector 37">
              <a:extLst>
                <a:ext uri="{FF2B5EF4-FFF2-40B4-BE49-F238E27FC236}">
                  <a16:creationId xmlns:a16="http://schemas.microsoft.com/office/drawing/2014/main" id="{0A147D9A-9B83-2827-D8DB-5451EF130996}"/>
                </a:ext>
              </a:extLst>
            </p:cNvPr>
            <p:cNvCxnSpPr>
              <a:cxnSpLocks/>
              <a:stCxn id="33" idx="7"/>
              <a:endCxn id="34"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D2976A9-B25B-CE08-87F3-C18EDB26FF64}"/>
                </a:ext>
              </a:extLst>
            </p:cNvPr>
            <p:cNvCxnSpPr>
              <a:cxnSpLocks/>
              <a:stCxn id="36" idx="0"/>
              <a:endCxn id="34"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CD303755-F0C9-FAF6-6983-1F8AE19B94E5}"/>
                </a:ext>
              </a:extLst>
            </p:cNvPr>
            <p:cNvCxnSpPr>
              <a:cxnSpLocks/>
              <a:stCxn id="36" idx="6"/>
              <a:endCxn id="37"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DE9C39E5-9B44-47BC-4659-E79D587F463F}"/>
                </a:ext>
              </a:extLst>
            </p:cNvPr>
            <p:cNvCxnSpPr>
              <a:cxnSpLocks/>
              <a:stCxn id="35" idx="4"/>
              <a:endCxn id="37"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A6076381-2442-5E86-1BAC-9E78DD9996B0}"/>
              </a:ext>
            </a:extLst>
          </p:cNvPr>
          <p:cNvGrpSpPr/>
          <p:nvPr/>
        </p:nvGrpSpPr>
        <p:grpSpPr>
          <a:xfrm>
            <a:off x="3167212" y="4425636"/>
            <a:ext cx="2885041" cy="1837853"/>
            <a:chOff x="4753069" y="1140737"/>
            <a:chExt cx="2885041" cy="1837853"/>
          </a:xfrm>
        </p:grpSpPr>
        <p:sp>
          <p:nvSpPr>
            <p:cNvPr id="44" name="Rectangle 43">
              <a:extLst>
                <a:ext uri="{FF2B5EF4-FFF2-40B4-BE49-F238E27FC236}">
                  <a16:creationId xmlns:a16="http://schemas.microsoft.com/office/drawing/2014/main" id="{F267221C-AE00-8DDA-5325-C7EF9CAC41C8}"/>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D405419B-D8FB-E202-AAB8-D7C425853622}"/>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D7E2E7E5-DA4B-38E5-6CBB-65AA60AC149D}"/>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BA767FB7-236F-6976-2024-BE815B945709}"/>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117E496D-F38B-707A-8D2A-C1E1F5D5AD53}"/>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5F0F45CB-6E9D-1ADA-93B3-99E3DF0FB6B9}"/>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37D5AD0F-8642-106E-5BD0-BE338C126175}"/>
                </a:ext>
              </a:extLst>
            </p:cNvPr>
            <p:cNvCxnSpPr>
              <a:cxnSpLocks/>
              <a:stCxn id="45" idx="7"/>
              <a:endCxn id="46"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0EC9F0E-57CB-6F0A-D338-BFE4904FB0DC}"/>
                </a:ext>
              </a:extLst>
            </p:cNvPr>
            <p:cNvCxnSpPr>
              <a:cxnSpLocks/>
              <a:stCxn id="46" idx="6"/>
              <a:endCxn id="47"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57DEA3C-1279-BCB2-ADC7-32D0A3FFD483}"/>
                </a:ext>
              </a:extLst>
            </p:cNvPr>
            <p:cNvCxnSpPr>
              <a:cxnSpLocks/>
              <a:stCxn id="48" idx="6"/>
              <a:endCxn id="49"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A5F25697-F7A0-8EB0-C182-4AADEE7DD1D7}"/>
                </a:ext>
              </a:extLst>
            </p:cNvPr>
            <p:cNvCxnSpPr>
              <a:cxnSpLocks/>
              <a:stCxn id="47" idx="4"/>
              <a:endCxn id="49"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5" name="Group 54">
            <a:extLst>
              <a:ext uri="{FF2B5EF4-FFF2-40B4-BE49-F238E27FC236}">
                <a16:creationId xmlns:a16="http://schemas.microsoft.com/office/drawing/2014/main" id="{DB935291-18B6-CDD0-BAC2-6819A01A1C56}"/>
              </a:ext>
            </a:extLst>
          </p:cNvPr>
          <p:cNvGrpSpPr/>
          <p:nvPr/>
        </p:nvGrpSpPr>
        <p:grpSpPr>
          <a:xfrm>
            <a:off x="6177493" y="4425635"/>
            <a:ext cx="2885041" cy="1837853"/>
            <a:chOff x="4753069" y="1140737"/>
            <a:chExt cx="2885041" cy="1837853"/>
          </a:xfrm>
        </p:grpSpPr>
        <p:sp>
          <p:nvSpPr>
            <p:cNvPr id="56" name="Rectangle 55">
              <a:extLst>
                <a:ext uri="{FF2B5EF4-FFF2-40B4-BE49-F238E27FC236}">
                  <a16:creationId xmlns:a16="http://schemas.microsoft.com/office/drawing/2014/main" id="{E1BCC9AA-0CDE-A95E-1765-233BDF1F3DF2}"/>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69EC9A1F-CC4A-59F2-D28B-6FB519169C3F}"/>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067471A0-A34E-6DA3-08F2-A5001BF30588}"/>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0C026AB4-1774-932E-C1AC-F97DD8B6AD5B}"/>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DCF10382-93E3-BA2F-D649-E65392E1CF3C}"/>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989EA419-1917-E823-5BE5-18EE06BDB3B3}"/>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B67EC6D9-9A8A-59DE-9F2C-C6B40C4AD96C}"/>
                </a:ext>
              </a:extLst>
            </p:cNvPr>
            <p:cNvCxnSpPr>
              <a:cxnSpLocks/>
              <a:stCxn id="57" idx="7"/>
              <a:endCxn id="58"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8787234-5731-E57B-75F4-9C1353ACB536}"/>
                </a:ext>
              </a:extLst>
            </p:cNvPr>
            <p:cNvCxnSpPr>
              <a:cxnSpLocks/>
              <a:stCxn id="58" idx="6"/>
              <a:endCxn id="59"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60" name="Straight Connector 66559">
              <a:extLst>
                <a:ext uri="{FF2B5EF4-FFF2-40B4-BE49-F238E27FC236}">
                  <a16:creationId xmlns:a16="http://schemas.microsoft.com/office/drawing/2014/main" id="{9FF5E6FD-20D5-9E31-04C7-DF0E782F08A0}"/>
                </a:ext>
              </a:extLst>
            </p:cNvPr>
            <p:cNvCxnSpPr>
              <a:cxnSpLocks/>
              <a:stCxn id="60" idx="0"/>
              <a:endCxn id="58"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64" name="Straight Connector 66563">
              <a:extLst>
                <a:ext uri="{FF2B5EF4-FFF2-40B4-BE49-F238E27FC236}">
                  <a16:creationId xmlns:a16="http://schemas.microsoft.com/office/drawing/2014/main" id="{70F481C2-E4E1-2E76-8740-ADA3D7193451}"/>
                </a:ext>
              </a:extLst>
            </p:cNvPr>
            <p:cNvCxnSpPr>
              <a:cxnSpLocks/>
              <a:stCxn id="59" idx="4"/>
              <a:endCxn id="61"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565" name="Group 66564">
            <a:extLst>
              <a:ext uri="{FF2B5EF4-FFF2-40B4-BE49-F238E27FC236}">
                <a16:creationId xmlns:a16="http://schemas.microsoft.com/office/drawing/2014/main" id="{04E3B552-B2CF-4EA8-E5A7-A658ED14949B}"/>
              </a:ext>
            </a:extLst>
          </p:cNvPr>
          <p:cNvGrpSpPr/>
          <p:nvPr/>
        </p:nvGrpSpPr>
        <p:grpSpPr>
          <a:xfrm>
            <a:off x="9156086" y="4425635"/>
            <a:ext cx="2885041" cy="1837853"/>
            <a:chOff x="4753069" y="1140737"/>
            <a:chExt cx="2885041" cy="1837853"/>
          </a:xfrm>
        </p:grpSpPr>
        <p:sp>
          <p:nvSpPr>
            <p:cNvPr id="66566" name="Rectangle 66565">
              <a:extLst>
                <a:ext uri="{FF2B5EF4-FFF2-40B4-BE49-F238E27FC236}">
                  <a16:creationId xmlns:a16="http://schemas.microsoft.com/office/drawing/2014/main" id="{701FC30C-A0F7-BFE2-D646-E78E46DB748C}"/>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67" name="Oval 66566">
              <a:extLst>
                <a:ext uri="{FF2B5EF4-FFF2-40B4-BE49-F238E27FC236}">
                  <a16:creationId xmlns:a16="http://schemas.microsoft.com/office/drawing/2014/main" id="{41282829-D061-E37C-059C-64D79162C7F6}"/>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68" name="Oval 66567">
              <a:extLst>
                <a:ext uri="{FF2B5EF4-FFF2-40B4-BE49-F238E27FC236}">
                  <a16:creationId xmlns:a16="http://schemas.microsoft.com/office/drawing/2014/main" id="{3DFD6D64-E6DB-9E9B-4DAF-C0514C3D6128}"/>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69" name="Oval 66568">
              <a:extLst>
                <a:ext uri="{FF2B5EF4-FFF2-40B4-BE49-F238E27FC236}">
                  <a16:creationId xmlns:a16="http://schemas.microsoft.com/office/drawing/2014/main" id="{787CD425-ED11-A92A-655B-2E5D75FCFE93}"/>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70" name="Oval 66569">
              <a:extLst>
                <a:ext uri="{FF2B5EF4-FFF2-40B4-BE49-F238E27FC236}">
                  <a16:creationId xmlns:a16="http://schemas.microsoft.com/office/drawing/2014/main" id="{F2138803-8F93-A0C2-B8F3-B39C4D6B49E1}"/>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71" name="Oval 66570">
              <a:extLst>
                <a:ext uri="{FF2B5EF4-FFF2-40B4-BE49-F238E27FC236}">
                  <a16:creationId xmlns:a16="http://schemas.microsoft.com/office/drawing/2014/main" id="{0556DAF6-A279-B57B-D4C0-F2B90905A02F}"/>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572" name="Straight Connector 66571">
              <a:extLst>
                <a:ext uri="{FF2B5EF4-FFF2-40B4-BE49-F238E27FC236}">
                  <a16:creationId xmlns:a16="http://schemas.microsoft.com/office/drawing/2014/main" id="{BAB8999B-7B39-22B0-1399-C61E4796F8EE}"/>
                </a:ext>
              </a:extLst>
            </p:cNvPr>
            <p:cNvCxnSpPr>
              <a:cxnSpLocks/>
              <a:stCxn id="66567" idx="7"/>
              <a:endCxn id="66568"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73" name="Straight Connector 66572">
              <a:extLst>
                <a:ext uri="{FF2B5EF4-FFF2-40B4-BE49-F238E27FC236}">
                  <a16:creationId xmlns:a16="http://schemas.microsoft.com/office/drawing/2014/main" id="{8BAB00E9-7EDC-3B80-D394-0D056B9AFABC}"/>
                </a:ext>
              </a:extLst>
            </p:cNvPr>
            <p:cNvCxnSpPr>
              <a:cxnSpLocks/>
              <a:stCxn id="66568" idx="6"/>
              <a:endCxn id="66569"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74" name="Straight Connector 66573">
              <a:extLst>
                <a:ext uri="{FF2B5EF4-FFF2-40B4-BE49-F238E27FC236}">
                  <a16:creationId xmlns:a16="http://schemas.microsoft.com/office/drawing/2014/main" id="{556FBD05-C985-B5AB-28E9-A6BAA10BBCE8}"/>
                </a:ext>
              </a:extLst>
            </p:cNvPr>
            <p:cNvCxnSpPr>
              <a:cxnSpLocks/>
              <a:stCxn id="66570" idx="0"/>
              <a:endCxn id="66568"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75" name="Straight Connector 66574">
              <a:extLst>
                <a:ext uri="{FF2B5EF4-FFF2-40B4-BE49-F238E27FC236}">
                  <a16:creationId xmlns:a16="http://schemas.microsoft.com/office/drawing/2014/main" id="{253C6DA5-39FD-4D52-71C6-5544CC573893}"/>
                </a:ext>
              </a:extLst>
            </p:cNvPr>
            <p:cNvCxnSpPr>
              <a:cxnSpLocks/>
              <a:stCxn id="66570" idx="6"/>
              <a:endCxn id="66571"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316823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274487"/>
            <a:ext cx="9905998" cy="692038"/>
          </a:xfrm>
        </p:spPr>
        <p:txBody>
          <a:bodyPr/>
          <a:lstStyle/>
          <a:p>
            <a:pPr algn="ctr" eaLnBrk="1" hangingPunct="1"/>
            <a:r>
              <a:rPr lang="en-US" dirty="0"/>
              <a:t>Spanning Tree: Example (almost)</a:t>
            </a:r>
          </a:p>
        </p:txBody>
      </p:sp>
      <p:pic>
        <p:nvPicPr>
          <p:cNvPr id="8" name="Picture 7">
            <a:extLst>
              <a:ext uri="{FF2B5EF4-FFF2-40B4-BE49-F238E27FC236}">
                <a16:creationId xmlns:a16="http://schemas.microsoft.com/office/drawing/2014/main" id="{5F1FF9BA-E37F-6A43-B616-1A8368B085B9}"/>
              </a:ext>
            </a:extLst>
          </p:cNvPr>
          <p:cNvPicPr>
            <a:picLocks noChangeAspect="1"/>
          </p:cNvPicPr>
          <p:nvPr/>
        </p:nvPicPr>
        <p:blipFill>
          <a:blip r:embed="rId3"/>
          <a:stretch>
            <a:fillRect/>
          </a:stretch>
        </p:blipFill>
        <p:spPr>
          <a:xfrm>
            <a:off x="2300573" y="1138541"/>
            <a:ext cx="7590853" cy="5353463"/>
          </a:xfrm>
          <a:prstGeom prst="rect">
            <a:avLst/>
          </a:prstGeom>
        </p:spPr>
      </p:pic>
    </p:spTree>
    <p:extLst>
      <p:ext uri="{BB962C8B-B14F-4D97-AF65-F5344CB8AC3E}">
        <p14:creationId xmlns:p14="http://schemas.microsoft.com/office/powerpoint/2010/main" val="1093440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435939"/>
            <a:ext cx="9905998" cy="630860"/>
          </a:xfrm>
        </p:spPr>
        <p:txBody>
          <a:bodyPr/>
          <a:lstStyle/>
          <a:p>
            <a:pPr algn="ctr" eaLnBrk="1" hangingPunct="1"/>
            <a:r>
              <a:rPr lang="en-US" dirty="0"/>
              <a:t>Minimum Spanning Tree</a:t>
            </a:r>
          </a:p>
        </p:txBody>
      </p:sp>
      <p:sp>
        <p:nvSpPr>
          <p:cNvPr id="2" name="Rectangle 3">
            <a:extLst>
              <a:ext uri="{FF2B5EF4-FFF2-40B4-BE49-F238E27FC236}">
                <a16:creationId xmlns:a16="http://schemas.microsoft.com/office/drawing/2014/main" id="{34685486-D297-F71A-8193-E48619AA277C}"/>
              </a:ext>
            </a:extLst>
          </p:cNvPr>
          <p:cNvSpPr txBox="1">
            <a:spLocks noChangeArrowheads="1"/>
          </p:cNvSpPr>
          <p:nvPr>
            <p:custDataLst>
              <p:tags r:id="rId2"/>
            </p:custDataLst>
          </p:nvPr>
        </p:nvSpPr>
        <p:spPr>
          <a:xfrm>
            <a:off x="1141412" y="1421395"/>
            <a:ext cx="9905999" cy="1222218"/>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A </a:t>
            </a:r>
            <a:r>
              <a:rPr lang="en-US" b="1" i="1" dirty="0">
                <a:solidFill>
                  <a:sysClr val="windowText" lastClr="000000"/>
                </a:solidFill>
              </a:rPr>
              <a:t>minimum spanning tree </a:t>
            </a:r>
            <a:r>
              <a:rPr lang="en-US" dirty="0">
                <a:solidFill>
                  <a:sysClr val="windowText" lastClr="000000"/>
                </a:solidFill>
              </a:rPr>
              <a:t>of a weighted graph G is the spanning tree that has the lowest overall cost (sum of the cost of the edges in the spanning tree)</a:t>
            </a:r>
          </a:p>
        </p:txBody>
      </p:sp>
      <p:sp>
        <p:nvSpPr>
          <p:cNvPr id="5" name="Rectangle 3">
            <a:extLst>
              <a:ext uri="{FF2B5EF4-FFF2-40B4-BE49-F238E27FC236}">
                <a16:creationId xmlns:a16="http://schemas.microsoft.com/office/drawing/2014/main" id="{6188E75A-660A-D6B7-9518-D4F494D551DD}"/>
              </a:ext>
            </a:extLst>
          </p:cNvPr>
          <p:cNvSpPr>
            <a:spLocks noGrp="1" noChangeArrowheads="1"/>
          </p:cNvSpPr>
          <p:nvPr>
            <p:ph sz="quarter" idx="1"/>
            <p:custDataLst>
              <p:tags r:id="rId3"/>
            </p:custDataLst>
          </p:nvPr>
        </p:nvSpPr>
        <p:spPr>
          <a:xfrm>
            <a:off x="382150" y="3854414"/>
            <a:ext cx="2153201" cy="564333"/>
          </a:xfrm>
        </p:spPr>
        <p:txBody>
          <a:bodyPr>
            <a:normAutofit/>
          </a:bodyPr>
          <a:lstStyle/>
          <a:p>
            <a:pPr marL="0" indent="0" eaLnBrk="1" hangingPunct="1">
              <a:buNone/>
            </a:pPr>
            <a:r>
              <a:rPr lang="en-US" dirty="0"/>
              <a:t>Original Graph:</a:t>
            </a:r>
          </a:p>
        </p:txBody>
      </p:sp>
      <p:grpSp>
        <p:nvGrpSpPr>
          <p:cNvPr id="23" name="Group 22">
            <a:extLst>
              <a:ext uri="{FF2B5EF4-FFF2-40B4-BE49-F238E27FC236}">
                <a16:creationId xmlns:a16="http://schemas.microsoft.com/office/drawing/2014/main" id="{9558EACD-8FBD-B9ED-E85E-ED5B6F10792A}"/>
              </a:ext>
            </a:extLst>
          </p:cNvPr>
          <p:cNvGrpSpPr/>
          <p:nvPr/>
        </p:nvGrpSpPr>
        <p:grpSpPr>
          <a:xfrm>
            <a:off x="2571184" y="3720972"/>
            <a:ext cx="2885041" cy="1837853"/>
            <a:chOff x="2571184" y="3720972"/>
            <a:chExt cx="2885041" cy="1837853"/>
          </a:xfrm>
        </p:grpSpPr>
        <p:sp>
          <p:nvSpPr>
            <p:cNvPr id="7" name="Rectangle 6">
              <a:extLst>
                <a:ext uri="{FF2B5EF4-FFF2-40B4-BE49-F238E27FC236}">
                  <a16:creationId xmlns:a16="http://schemas.microsoft.com/office/drawing/2014/main" id="{0F31628E-2582-B67E-D20F-E98EDF8084C4}"/>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8" name="Oval 7">
              <a:extLst>
                <a:ext uri="{FF2B5EF4-FFF2-40B4-BE49-F238E27FC236}">
                  <a16:creationId xmlns:a16="http://schemas.microsoft.com/office/drawing/2014/main" id="{C0C247BC-C5F0-8F3F-A9D2-7416E589DC51}"/>
                </a:ext>
              </a:extLst>
            </p:cNvPr>
            <p:cNvSpPr/>
            <p:nvPr/>
          </p:nvSpPr>
          <p:spPr>
            <a:xfrm>
              <a:off x="2642850" y="426451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AAA067A-7C85-62C1-01BC-1E5CB92A7C6D}"/>
                </a:ext>
              </a:extLst>
            </p:cNvPr>
            <p:cNvSpPr/>
            <p:nvPr/>
          </p:nvSpPr>
          <p:spPr>
            <a:xfrm>
              <a:off x="3642511" y="3884593"/>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5649DDD1-ED25-9CF8-4685-771BDA498C42}"/>
                </a:ext>
              </a:extLst>
            </p:cNvPr>
            <p:cNvSpPr/>
            <p:nvPr/>
          </p:nvSpPr>
          <p:spPr>
            <a:xfrm>
              <a:off x="4781734" y="384536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3360793-E830-90CE-983C-6C9967BE27C3}"/>
                </a:ext>
              </a:extLst>
            </p:cNvPr>
            <p:cNvSpPr/>
            <p:nvPr/>
          </p:nvSpPr>
          <p:spPr>
            <a:xfrm>
              <a:off x="3642511" y="481375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B6EB2E9-7473-5F71-F2C0-72D625D89180}"/>
                </a:ext>
              </a:extLst>
            </p:cNvPr>
            <p:cNvSpPr/>
            <p:nvPr/>
          </p:nvSpPr>
          <p:spPr>
            <a:xfrm>
              <a:off x="4790793" y="478357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85A94818-4DBA-90C4-2897-956E8AD458C1}"/>
                </a:ext>
              </a:extLst>
            </p:cNvPr>
            <p:cNvCxnSpPr>
              <a:cxnSpLocks/>
              <a:stCxn id="8" idx="7"/>
              <a:endCxn id="9" idx="2"/>
            </p:cNvCxnSpPr>
            <p:nvPr/>
          </p:nvCxnSpPr>
          <p:spPr>
            <a:xfrm flipV="1">
              <a:off x="3106507" y="4156197"/>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FC06F73-8559-1BBC-904D-DEA665B834B3}"/>
                </a:ext>
              </a:extLst>
            </p:cNvPr>
            <p:cNvCxnSpPr>
              <a:cxnSpLocks/>
              <a:stCxn id="9" idx="6"/>
              <a:endCxn id="10" idx="2"/>
            </p:cNvCxnSpPr>
            <p:nvPr/>
          </p:nvCxnSpPr>
          <p:spPr>
            <a:xfrm flipV="1">
              <a:off x="4185719" y="4116965"/>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83EB3AE-8A71-BCEC-4C44-DF59AF6D52E0}"/>
                </a:ext>
              </a:extLst>
            </p:cNvPr>
            <p:cNvCxnSpPr>
              <a:cxnSpLocks/>
              <a:stCxn id="11" idx="0"/>
              <a:endCxn id="9" idx="4"/>
            </p:cNvCxnSpPr>
            <p:nvPr/>
          </p:nvCxnSpPr>
          <p:spPr>
            <a:xfrm flipV="1">
              <a:off x="3914115" y="4427801"/>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5401491-EBD2-CF2A-0B26-44BFF1B59F62}"/>
                </a:ext>
              </a:extLst>
            </p:cNvPr>
            <p:cNvCxnSpPr>
              <a:cxnSpLocks/>
              <a:stCxn id="11" idx="6"/>
              <a:endCxn id="12" idx="2"/>
            </p:cNvCxnSpPr>
            <p:nvPr/>
          </p:nvCxnSpPr>
          <p:spPr>
            <a:xfrm flipV="1">
              <a:off x="4185719" y="5055181"/>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A997722-0E23-85AC-2608-F4D76E152EC0}"/>
                </a:ext>
              </a:extLst>
            </p:cNvPr>
            <p:cNvCxnSpPr>
              <a:cxnSpLocks/>
              <a:stCxn id="10" idx="4"/>
              <a:endCxn id="12" idx="0"/>
            </p:cNvCxnSpPr>
            <p:nvPr/>
          </p:nvCxnSpPr>
          <p:spPr>
            <a:xfrm>
              <a:off x="5053338" y="4388569"/>
              <a:ext cx="9059" cy="395008"/>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0CBC6B55-D4D6-9DB3-CC08-976BE9E4F90B}"/>
                </a:ext>
              </a:extLst>
            </p:cNvPr>
            <p:cNvSpPr txBox="1"/>
            <p:nvPr/>
          </p:nvSpPr>
          <p:spPr>
            <a:xfrm>
              <a:off x="3146358" y="3917374"/>
              <a:ext cx="311304" cy="369332"/>
            </a:xfrm>
            <a:prstGeom prst="rect">
              <a:avLst/>
            </a:prstGeom>
            <a:noFill/>
          </p:spPr>
          <p:txBody>
            <a:bodyPr wrap="none" rtlCol="0">
              <a:spAutoFit/>
            </a:bodyPr>
            <a:lstStyle/>
            <a:p>
              <a:r>
                <a:rPr lang="en-US" dirty="0">
                  <a:solidFill>
                    <a:sysClr val="windowText" lastClr="000000"/>
                  </a:solidFill>
                </a:rPr>
                <a:t>3</a:t>
              </a:r>
            </a:p>
          </p:txBody>
        </p:sp>
        <p:sp>
          <p:nvSpPr>
            <p:cNvPr id="19" name="TextBox 18">
              <a:extLst>
                <a:ext uri="{FF2B5EF4-FFF2-40B4-BE49-F238E27FC236}">
                  <a16:creationId xmlns:a16="http://schemas.microsoft.com/office/drawing/2014/main" id="{4EB14EAE-D63E-C3EA-8BFF-16B82A7E8F76}"/>
                </a:ext>
              </a:extLst>
            </p:cNvPr>
            <p:cNvSpPr txBox="1"/>
            <p:nvPr/>
          </p:nvSpPr>
          <p:spPr>
            <a:xfrm>
              <a:off x="4301671" y="3786865"/>
              <a:ext cx="311304" cy="369332"/>
            </a:xfrm>
            <a:prstGeom prst="rect">
              <a:avLst/>
            </a:prstGeom>
            <a:noFill/>
          </p:spPr>
          <p:txBody>
            <a:bodyPr wrap="none" rtlCol="0">
              <a:spAutoFit/>
            </a:bodyPr>
            <a:lstStyle/>
            <a:p>
              <a:r>
                <a:rPr lang="en-US" dirty="0">
                  <a:solidFill>
                    <a:sysClr val="windowText" lastClr="000000"/>
                  </a:solidFill>
                </a:rPr>
                <a:t>8</a:t>
              </a:r>
            </a:p>
          </p:txBody>
        </p:sp>
        <p:sp>
          <p:nvSpPr>
            <p:cNvPr id="20" name="TextBox 19">
              <a:extLst>
                <a:ext uri="{FF2B5EF4-FFF2-40B4-BE49-F238E27FC236}">
                  <a16:creationId xmlns:a16="http://schemas.microsoft.com/office/drawing/2014/main" id="{FF8DD0BE-06C2-995F-A4CC-2C461E1CAEF7}"/>
                </a:ext>
              </a:extLst>
            </p:cNvPr>
            <p:cNvSpPr txBox="1"/>
            <p:nvPr/>
          </p:nvSpPr>
          <p:spPr>
            <a:xfrm>
              <a:off x="3898025" y="4427801"/>
              <a:ext cx="311304" cy="369332"/>
            </a:xfrm>
            <a:prstGeom prst="rect">
              <a:avLst/>
            </a:prstGeom>
            <a:noFill/>
          </p:spPr>
          <p:txBody>
            <a:bodyPr wrap="none" rtlCol="0">
              <a:spAutoFit/>
            </a:bodyPr>
            <a:lstStyle/>
            <a:p>
              <a:r>
                <a:rPr lang="en-US" dirty="0">
                  <a:solidFill>
                    <a:sysClr val="windowText" lastClr="000000"/>
                  </a:solidFill>
                </a:rPr>
                <a:t>4</a:t>
              </a:r>
            </a:p>
          </p:txBody>
        </p:sp>
        <p:sp>
          <p:nvSpPr>
            <p:cNvPr id="21" name="TextBox 20">
              <a:extLst>
                <a:ext uri="{FF2B5EF4-FFF2-40B4-BE49-F238E27FC236}">
                  <a16:creationId xmlns:a16="http://schemas.microsoft.com/office/drawing/2014/main" id="{915DAF6C-8ADD-8817-C139-729737521E83}"/>
                </a:ext>
              </a:extLst>
            </p:cNvPr>
            <p:cNvSpPr txBox="1"/>
            <p:nvPr/>
          </p:nvSpPr>
          <p:spPr>
            <a:xfrm>
              <a:off x="4344409" y="5048890"/>
              <a:ext cx="311304" cy="369332"/>
            </a:xfrm>
            <a:prstGeom prst="rect">
              <a:avLst/>
            </a:prstGeom>
            <a:noFill/>
          </p:spPr>
          <p:txBody>
            <a:bodyPr wrap="none" rtlCol="0">
              <a:spAutoFit/>
            </a:bodyPr>
            <a:lstStyle/>
            <a:p>
              <a:r>
                <a:rPr lang="en-US" dirty="0">
                  <a:solidFill>
                    <a:sysClr val="windowText" lastClr="000000"/>
                  </a:solidFill>
                </a:rPr>
                <a:t>5</a:t>
              </a:r>
            </a:p>
          </p:txBody>
        </p:sp>
        <p:sp>
          <p:nvSpPr>
            <p:cNvPr id="22" name="TextBox 21">
              <a:extLst>
                <a:ext uri="{FF2B5EF4-FFF2-40B4-BE49-F238E27FC236}">
                  <a16:creationId xmlns:a16="http://schemas.microsoft.com/office/drawing/2014/main" id="{C16E30D3-5A17-854A-2E73-E28FC150BDE0}"/>
                </a:ext>
              </a:extLst>
            </p:cNvPr>
            <p:cNvSpPr txBox="1"/>
            <p:nvPr/>
          </p:nvSpPr>
          <p:spPr>
            <a:xfrm>
              <a:off x="4742034" y="4414245"/>
              <a:ext cx="311304" cy="369332"/>
            </a:xfrm>
            <a:prstGeom prst="rect">
              <a:avLst/>
            </a:prstGeom>
            <a:noFill/>
          </p:spPr>
          <p:txBody>
            <a:bodyPr wrap="none" rtlCol="0">
              <a:spAutoFit/>
            </a:bodyPr>
            <a:lstStyle/>
            <a:p>
              <a:r>
                <a:rPr lang="en-US" dirty="0">
                  <a:solidFill>
                    <a:sysClr val="windowText" lastClr="000000"/>
                  </a:solidFill>
                </a:rPr>
                <a:t>6</a:t>
              </a:r>
            </a:p>
          </p:txBody>
        </p:sp>
      </p:grpSp>
      <p:sp>
        <p:nvSpPr>
          <p:cNvPr id="24" name="Rectangle 3">
            <a:extLst>
              <a:ext uri="{FF2B5EF4-FFF2-40B4-BE49-F238E27FC236}">
                <a16:creationId xmlns:a16="http://schemas.microsoft.com/office/drawing/2014/main" id="{A0C51285-15F9-F83E-1FA1-6AA157623A42}"/>
              </a:ext>
            </a:extLst>
          </p:cNvPr>
          <p:cNvSpPr txBox="1">
            <a:spLocks noChangeArrowheads="1"/>
          </p:cNvSpPr>
          <p:nvPr>
            <p:custDataLst>
              <p:tags r:id="rId4"/>
            </p:custDataLst>
          </p:nvPr>
        </p:nvSpPr>
        <p:spPr>
          <a:xfrm>
            <a:off x="6880637" y="3824236"/>
            <a:ext cx="922959" cy="5643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MST:</a:t>
            </a:r>
          </a:p>
        </p:txBody>
      </p:sp>
      <p:grpSp>
        <p:nvGrpSpPr>
          <p:cNvPr id="25" name="Group 24">
            <a:extLst>
              <a:ext uri="{FF2B5EF4-FFF2-40B4-BE49-F238E27FC236}">
                <a16:creationId xmlns:a16="http://schemas.microsoft.com/office/drawing/2014/main" id="{59EF6E7D-5954-4E3F-DA43-0A1C93074501}"/>
              </a:ext>
            </a:extLst>
          </p:cNvPr>
          <p:cNvGrpSpPr/>
          <p:nvPr/>
        </p:nvGrpSpPr>
        <p:grpSpPr>
          <a:xfrm>
            <a:off x="7839429" y="3690794"/>
            <a:ext cx="2885041" cy="1837853"/>
            <a:chOff x="2571184" y="3720972"/>
            <a:chExt cx="2885041" cy="1837853"/>
          </a:xfrm>
        </p:grpSpPr>
        <p:sp>
          <p:nvSpPr>
            <p:cNvPr id="26" name="Rectangle 25">
              <a:extLst>
                <a:ext uri="{FF2B5EF4-FFF2-40B4-BE49-F238E27FC236}">
                  <a16:creationId xmlns:a16="http://schemas.microsoft.com/office/drawing/2014/main" id="{C9819D97-A761-47E3-6206-6A58D93C0FC5}"/>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27" name="Oval 26">
              <a:extLst>
                <a:ext uri="{FF2B5EF4-FFF2-40B4-BE49-F238E27FC236}">
                  <a16:creationId xmlns:a16="http://schemas.microsoft.com/office/drawing/2014/main" id="{8FCDFEF8-1C13-A6A3-5D3B-2F74E02C05BA}"/>
                </a:ext>
              </a:extLst>
            </p:cNvPr>
            <p:cNvSpPr/>
            <p:nvPr/>
          </p:nvSpPr>
          <p:spPr>
            <a:xfrm>
              <a:off x="2642850" y="426451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B4597030-32F4-25FC-2234-A164ABCAEC46}"/>
                </a:ext>
              </a:extLst>
            </p:cNvPr>
            <p:cNvSpPr/>
            <p:nvPr/>
          </p:nvSpPr>
          <p:spPr>
            <a:xfrm>
              <a:off x="3642511" y="3884593"/>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3EC11710-F180-8019-B3C0-2DA90DD47011}"/>
                </a:ext>
              </a:extLst>
            </p:cNvPr>
            <p:cNvSpPr/>
            <p:nvPr/>
          </p:nvSpPr>
          <p:spPr>
            <a:xfrm>
              <a:off x="4781734" y="384536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56D63817-EBF0-799B-0DD6-4604F8B7997F}"/>
                </a:ext>
              </a:extLst>
            </p:cNvPr>
            <p:cNvSpPr/>
            <p:nvPr/>
          </p:nvSpPr>
          <p:spPr>
            <a:xfrm>
              <a:off x="3642511" y="481375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9717A5E-E50D-6906-E67B-908CB3B22923}"/>
                </a:ext>
              </a:extLst>
            </p:cNvPr>
            <p:cNvSpPr/>
            <p:nvPr/>
          </p:nvSpPr>
          <p:spPr>
            <a:xfrm>
              <a:off x="4790793" y="478357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72654F6D-0AF8-E951-0573-F82D15231323}"/>
                </a:ext>
              </a:extLst>
            </p:cNvPr>
            <p:cNvCxnSpPr>
              <a:cxnSpLocks/>
              <a:stCxn id="27" idx="7"/>
              <a:endCxn id="28" idx="2"/>
            </p:cNvCxnSpPr>
            <p:nvPr/>
          </p:nvCxnSpPr>
          <p:spPr>
            <a:xfrm flipV="1">
              <a:off x="3106507" y="4156197"/>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B7B3C14-DD0A-CE4C-986F-701E2E942400}"/>
                </a:ext>
              </a:extLst>
            </p:cNvPr>
            <p:cNvCxnSpPr>
              <a:cxnSpLocks/>
              <a:stCxn id="30" idx="0"/>
              <a:endCxn id="28" idx="4"/>
            </p:cNvCxnSpPr>
            <p:nvPr/>
          </p:nvCxnSpPr>
          <p:spPr>
            <a:xfrm flipV="1">
              <a:off x="3914115" y="4427801"/>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2157E319-9FE0-927B-DF8E-608B6CCF3256}"/>
                </a:ext>
              </a:extLst>
            </p:cNvPr>
            <p:cNvCxnSpPr>
              <a:cxnSpLocks/>
              <a:stCxn id="30" idx="6"/>
              <a:endCxn id="31" idx="2"/>
            </p:cNvCxnSpPr>
            <p:nvPr/>
          </p:nvCxnSpPr>
          <p:spPr>
            <a:xfrm flipV="1">
              <a:off x="4185719" y="5055181"/>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238BF848-F455-6D4E-F7FE-B247DAE79C54}"/>
                </a:ext>
              </a:extLst>
            </p:cNvPr>
            <p:cNvCxnSpPr>
              <a:cxnSpLocks/>
              <a:stCxn id="29" idx="4"/>
              <a:endCxn id="31" idx="0"/>
            </p:cNvCxnSpPr>
            <p:nvPr/>
          </p:nvCxnSpPr>
          <p:spPr>
            <a:xfrm>
              <a:off x="5053338" y="4388569"/>
              <a:ext cx="9059" cy="395008"/>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6C94DC0B-5E6D-3B64-123F-A54D944D37F5}"/>
                </a:ext>
              </a:extLst>
            </p:cNvPr>
            <p:cNvSpPr txBox="1"/>
            <p:nvPr/>
          </p:nvSpPr>
          <p:spPr>
            <a:xfrm>
              <a:off x="3146358" y="3917374"/>
              <a:ext cx="311304" cy="369332"/>
            </a:xfrm>
            <a:prstGeom prst="rect">
              <a:avLst/>
            </a:prstGeom>
            <a:noFill/>
          </p:spPr>
          <p:txBody>
            <a:bodyPr wrap="none" rtlCol="0">
              <a:spAutoFit/>
            </a:bodyPr>
            <a:lstStyle/>
            <a:p>
              <a:r>
                <a:rPr lang="en-US" dirty="0">
                  <a:solidFill>
                    <a:sysClr val="windowText" lastClr="000000"/>
                  </a:solidFill>
                </a:rPr>
                <a:t>3</a:t>
              </a:r>
            </a:p>
          </p:txBody>
        </p:sp>
        <p:sp>
          <p:nvSpPr>
            <p:cNvPr id="39" name="TextBox 38">
              <a:extLst>
                <a:ext uri="{FF2B5EF4-FFF2-40B4-BE49-F238E27FC236}">
                  <a16:creationId xmlns:a16="http://schemas.microsoft.com/office/drawing/2014/main" id="{9ED5E424-8E9E-C3E0-EC08-D147F2614827}"/>
                </a:ext>
              </a:extLst>
            </p:cNvPr>
            <p:cNvSpPr txBox="1"/>
            <p:nvPr/>
          </p:nvSpPr>
          <p:spPr>
            <a:xfrm>
              <a:off x="3898025" y="4427801"/>
              <a:ext cx="311304" cy="369332"/>
            </a:xfrm>
            <a:prstGeom prst="rect">
              <a:avLst/>
            </a:prstGeom>
            <a:noFill/>
          </p:spPr>
          <p:txBody>
            <a:bodyPr wrap="none" rtlCol="0">
              <a:spAutoFit/>
            </a:bodyPr>
            <a:lstStyle/>
            <a:p>
              <a:r>
                <a:rPr lang="en-US" dirty="0">
                  <a:solidFill>
                    <a:sysClr val="windowText" lastClr="000000"/>
                  </a:solidFill>
                </a:rPr>
                <a:t>4</a:t>
              </a:r>
            </a:p>
          </p:txBody>
        </p:sp>
        <p:sp>
          <p:nvSpPr>
            <p:cNvPr id="40" name="TextBox 39">
              <a:extLst>
                <a:ext uri="{FF2B5EF4-FFF2-40B4-BE49-F238E27FC236}">
                  <a16:creationId xmlns:a16="http://schemas.microsoft.com/office/drawing/2014/main" id="{B4047B91-25BC-7EF5-2868-D81EE93CA6CC}"/>
                </a:ext>
              </a:extLst>
            </p:cNvPr>
            <p:cNvSpPr txBox="1"/>
            <p:nvPr/>
          </p:nvSpPr>
          <p:spPr>
            <a:xfrm>
              <a:off x="4344409" y="5048890"/>
              <a:ext cx="311304" cy="369332"/>
            </a:xfrm>
            <a:prstGeom prst="rect">
              <a:avLst/>
            </a:prstGeom>
            <a:noFill/>
          </p:spPr>
          <p:txBody>
            <a:bodyPr wrap="none" rtlCol="0">
              <a:spAutoFit/>
            </a:bodyPr>
            <a:lstStyle/>
            <a:p>
              <a:r>
                <a:rPr lang="en-US" dirty="0">
                  <a:solidFill>
                    <a:sysClr val="windowText" lastClr="000000"/>
                  </a:solidFill>
                </a:rPr>
                <a:t>5</a:t>
              </a:r>
            </a:p>
          </p:txBody>
        </p:sp>
        <p:sp>
          <p:nvSpPr>
            <p:cNvPr id="41" name="TextBox 40">
              <a:extLst>
                <a:ext uri="{FF2B5EF4-FFF2-40B4-BE49-F238E27FC236}">
                  <a16:creationId xmlns:a16="http://schemas.microsoft.com/office/drawing/2014/main" id="{DEF6143C-925F-E04A-C984-A447AB92EC42}"/>
                </a:ext>
              </a:extLst>
            </p:cNvPr>
            <p:cNvSpPr txBox="1"/>
            <p:nvPr/>
          </p:nvSpPr>
          <p:spPr>
            <a:xfrm>
              <a:off x="4742034" y="4414245"/>
              <a:ext cx="311304" cy="369332"/>
            </a:xfrm>
            <a:prstGeom prst="rect">
              <a:avLst/>
            </a:prstGeom>
            <a:noFill/>
          </p:spPr>
          <p:txBody>
            <a:bodyPr wrap="none" rtlCol="0">
              <a:spAutoFit/>
            </a:bodyPr>
            <a:lstStyle/>
            <a:p>
              <a:r>
                <a:rPr lang="en-US" dirty="0">
                  <a:solidFill>
                    <a:sysClr val="windowText" lastClr="000000"/>
                  </a:solidFill>
                </a:rPr>
                <a:t>6</a:t>
              </a:r>
            </a:p>
          </p:txBody>
        </p:sp>
      </p:grpSp>
    </p:spTree>
    <p:extLst>
      <p:ext uri="{BB962C8B-B14F-4D97-AF65-F5344CB8AC3E}">
        <p14:creationId xmlns:p14="http://schemas.microsoft.com/office/powerpoint/2010/main" val="32808717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D87EC-79E9-AB35-9F24-4646BCF14327}"/>
            </a:ext>
          </a:extLst>
        </p:cNvPr>
        <p:cNvGrpSpPr/>
        <p:nvPr/>
      </p:nvGrpSpPr>
      <p:grpSpPr>
        <a:xfrm>
          <a:off x="0" y="0"/>
          <a:ext cx="0" cy="0"/>
          <a:chOff x="0" y="0"/>
          <a:chExt cx="0" cy="0"/>
        </a:xfrm>
      </p:grpSpPr>
      <p:sp>
        <p:nvSpPr>
          <p:cNvPr id="67586" name="Rectangle 2">
            <a:extLst>
              <a:ext uri="{FF2B5EF4-FFF2-40B4-BE49-F238E27FC236}">
                <a16:creationId xmlns:a16="http://schemas.microsoft.com/office/drawing/2014/main" id="{5C2B7A8B-262D-FF34-F6B8-1106F0E91FBB}"/>
              </a:ext>
            </a:extLst>
          </p:cNvPr>
          <p:cNvSpPr>
            <a:spLocks noGrp="1" noChangeArrowheads="1"/>
          </p:cNvSpPr>
          <p:nvPr>
            <p:ph type="title" idx="4294967295"/>
            <p:custDataLst>
              <p:tags r:id="rId1"/>
            </p:custDataLst>
          </p:nvPr>
        </p:nvSpPr>
        <p:spPr>
          <a:xfrm>
            <a:off x="1524000" y="274638"/>
            <a:ext cx="9485014" cy="720723"/>
          </a:xfrm>
        </p:spPr>
        <p:txBody>
          <a:bodyPr/>
          <a:lstStyle/>
          <a:p>
            <a:pPr algn="ctr" eaLnBrk="1" hangingPunct="1"/>
            <a:r>
              <a:rPr lang="en-US" dirty="0"/>
              <a:t>Prim’s Algorithm</a:t>
            </a:r>
          </a:p>
        </p:txBody>
      </p:sp>
      <p:grpSp>
        <p:nvGrpSpPr>
          <p:cNvPr id="67624" name="Group 67623">
            <a:extLst>
              <a:ext uri="{FF2B5EF4-FFF2-40B4-BE49-F238E27FC236}">
                <a16:creationId xmlns:a16="http://schemas.microsoft.com/office/drawing/2014/main" id="{C873A88A-CB1A-9150-477C-04A6FC83338E}"/>
              </a:ext>
            </a:extLst>
          </p:cNvPr>
          <p:cNvGrpSpPr/>
          <p:nvPr/>
        </p:nvGrpSpPr>
        <p:grpSpPr>
          <a:xfrm>
            <a:off x="4246263" y="1241111"/>
            <a:ext cx="3699473" cy="3084115"/>
            <a:chOff x="7710488" y="2454275"/>
            <a:chExt cx="3699473" cy="3084115"/>
          </a:xfrm>
        </p:grpSpPr>
        <mc:AlternateContent xmlns:mc="http://schemas.openxmlformats.org/markup-compatibility/2006" xmlns:a14="http://schemas.microsoft.com/office/drawing/2010/main">
          <mc:Choice Requires="a14">
            <p:sp>
              <p:nvSpPr>
                <p:cNvPr id="3" name="Oval 2">
                  <a:extLst>
                    <a:ext uri="{FF2B5EF4-FFF2-40B4-BE49-F238E27FC236}">
                      <a16:creationId xmlns:a16="http://schemas.microsoft.com/office/drawing/2014/main" id="{8AFB0FE2-8D28-14D2-46F1-98A5E94079BF}"/>
                    </a:ext>
                  </a:extLst>
                </p:cNvPr>
                <p:cNvSpPr/>
                <p:nvPr/>
              </p:nvSpPr>
              <p:spPr>
                <a:xfrm>
                  <a:off x="8290323" y="2575321"/>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0</m:t>
                            </m:r>
                          </m:sub>
                        </m:sSub>
                      </m:oMath>
                    </m:oMathPara>
                  </a14:m>
                  <a:endParaRPr lang="en-US" dirty="0"/>
                </a:p>
              </p:txBody>
            </p:sp>
          </mc:Choice>
          <mc:Fallback xmlns="">
            <p:sp>
              <p:nvSpPr>
                <p:cNvPr id="3" name="Oval 2">
                  <a:extLst>
                    <a:ext uri="{FF2B5EF4-FFF2-40B4-BE49-F238E27FC236}">
                      <a16:creationId xmlns:a16="http://schemas.microsoft.com/office/drawing/2014/main" id="{8AFB0FE2-8D28-14D2-46F1-98A5E94079BF}"/>
                    </a:ext>
                  </a:extLst>
                </p:cNvPr>
                <p:cNvSpPr>
                  <a:spLocks noRot="1" noChangeAspect="1" noMove="1" noResize="1" noEditPoints="1" noAdjustHandles="1" noChangeArrowheads="1" noChangeShapeType="1" noTextEdit="1"/>
                </p:cNvSpPr>
                <p:nvPr/>
              </p:nvSpPr>
              <p:spPr>
                <a:xfrm>
                  <a:off x="8290323" y="2575321"/>
                  <a:ext cx="465931" cy="465931"/>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49177708-6389-B2F4-623E-FF5818EA0F34}"/>
                    </a:ext>
                  </a:extLst>
                </p:cNvPr>
                <p:cNvSpPr/>
                <p:nvPr/>
              </p:nvSpPr>
              <p:spPr>
                <a:xfrm>
                  <a:off x="7710488" y="3698060"/>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2</m:t>
                            </m:r>
                          </m:sub>
                        </m:sSub>
                      </m:oMath>
                    </m:oMathPara>
                  </a14:m>
                  <a:endParaRPr lang="en-US" dirty="0"/>
                </a:p>
              </p:txBody>
            </p:sp>
          </mc:Choice>
          <mc:Fallback xmlns="">
            <p:sp>
              <p:nvSpPr>
                <p:cNvPr id="4" name="Oval 3">
                  <a:extLst>
                    <a:ext uri="{FF2B5EF4-FFF2-40B4-BE49-F238E27FC236}">
                      <a16:creationId xmlns:a16="http://schemas.microsoft.com/office/drawing/2014/main" id="{49177708-6389-B2F4-623E-FF5818EA0F34}"/>
                    </a:ext>
                  </a:extLst>
                </p:cNvPr>
                <p:cNvSpPr>
                  <a:spLocks noRot="1" noChangeAspect="1" noMove="1" noResize="1" noEditPoints="1" noAdjustHandles="1" noChangeArrowheads="1" noChangeShapeType="1" noTextEdit="1"/>
                </p:cNvSpPr>
                <p:nvPr/>
              </p:nvSpPr>
              <p:spPr>
                <a:xfrm>
                  <a:off x="7710488" y="3698060"/>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906D3BE0-6E14-B924-E402-4E314894F693}"/>
                    </a:ext>
                  </a:extLst>
                </p:cNvPr>
                <p:cNvSpPr/>
                <p:nvPr/>
              </p:nvSpPr>
              <p:spPr>
                <a:xfrm>
                  <a:off x="9331551" y="3698059"/>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3</m:t>
                            </m:r>
                          </m:sub>
                        </m:sSub>
                      </m:oMath>
                    </m:oMathPara>
                  </a14:m>
                  <a:endParaRPr lang="en-US" dirty="0"/>
                </a:p>
              </p:txBody>
            </p:sp>
          </mc:Choice>
          <mc:Fallback xmlns="">
            <p:sp>
              <p:nvSpPr>
                <p:cNvPr id="5" name="Oval 4">
                  <a:extLst>
                    <a:ext uri="{FF2B5EF4-FFF2-40B4-BE49-F238E27FC236}">
                      <a16:creationId xmlns:a16="http://schemas.microsoft.com/office/drawing/2014/main" id="{906D3BE0-6E14-B924-E402-4E314894F693}"/>
                    </a:ext>
                  </a:extLst>
                </p:cNvPr>
                <p:cNvSpPr>
                  <a:spLocks noRot="1" noChangeAspect="1" noMove="1" noResize="1" noEditPoints="1" noAdjustHandles="1" noChangeArrowheads="1" noChangeShapeType="1" noTextEdit="1"/>
                </p:cNvSpPr>
                <p:nvPr/>
              </p:nvSpPr>
              <p:spPr>
                <a:xfrm>
                  <a:off x="9331551" y="3698059"/>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122568CA-579E-4618-4941-12722BA5E262}"/>
                    </a:ext>
                  </a:extLst>
                </p:cNvPr>
                <p:cNvSpPr/>
                <p:nvPr/>
              </p:nvSpPr>
              <p:spPr>
                <a:xfrm>
                  <a:off x="10351904" y="2539309"/>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122568CA-579E-4618-4941-12722BA5E262}"/>
                    </a:ext>
                  </a:extLst>
                </p:cNvPr>
                <p:cNvSpPr>
                  <a:spLocks noRot="1" noChangeAspect="1" noMove="1" noResize="1" noEditPoints="1" noAdjustHandles="1" noChangeArrowheads="1" noChangeShapeType="1" noTextEdit="1"/>
                </p:cNvSpPr>
                <p:nvPr/>
              </p:nvSpPr>
              <p:spPr>
                <a:xfrm>
                  <a:off x="10351904" y="2539309"/>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BCE3D052-4C18-2616-EE3C-80EFD6FAD8C1}"/>
                    </a:ext>
                  </a:extLst>
                </p:cNvPr>
                <p:cNvSpPr/>
                <p:nvPr/>
              </p:nvSpPr>
              <p:spPr>
                <a:xfrm>
                  <a:off x="10909711" y="3687173"/>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4</m:t>
                            </m:r>
                          </m:sub>
                        </m:sSub>
                      </m:oMath>
                    </m:oMathPara>
                  </a14:m>
                  <a:endParaRPr lang="en-US" dirty="0"/>
                </a:p>
              </p:txBody>
            </p:sp>
          </mc:Choice>
          <mc:Fallback xmlns="">
            <p:sp>
              <p:nvSpPr>
                <p:cNvPr id="7" name="Oval 6">
                  <a:extLst>
                    <a:ext uri="{FF2B5EF4-FFF2-40B4-BE49-F238E27FC236}">
                      <a16:creationId xmlns:a16="http://schemas.microsoft.com/office/drawing/2014/main" id="{BCE3D052-4C18-2616-EE3C-80EFD6FAD8C1}"/>
                    </a:ext>
                  </a:extLst>
                </p:cNvPr>
                <p:cNvSpPr>
                  <a:spLocks noRot="1" noChangeAspect="1" noMove="1" noResize="1" noEditPoints="1" noAdjustHandles="1" noChangeArrowheads="1" noChangeShapeType="1" noTextEdit="1"/>
                </p:cNvSpPr>
                <p:nvPr/>
              </p:nvSpPr>
              <p:spPr>
                <a:xfrm>
                  <a:off x="10909711" y="3687173"/>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8C27CB63-1D26-E013-FDA6-E96FFFDF4665}"/>
                    </a:ext>
                  </a:extLst>
                </p:cNvPr>
                <p:cNvSpPr/>
                <p:nvPr/>
              </p:nvSpPr>
              <p:spPr>
                <a:xfrm>
                  <a:off x="8756254" y="5042694"/>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5</m:t>
                            </m:r>
                          </m:sub>
                        </m:sSub>
                      </m:oMath>
                    </m:oMathPara>
                  </a14:m>
                  <a:endParaRPr lang="en-US" dirty="0"/>
                </a:p>
              </p:txBody>
            </p:sp>
          </mc:Choice>
          <mc:Fallback xmlns="">
            <p:sp>
              <p:nvSpPr>
                <p:cNvPr id="8" name="Oval 7">
                  <a:extLst>
                    <a:ext uri="{FF2B5EF4-FFF2-40B4-BE49-F238E27FC236}">
                      <a16:creationId xmlns:a16="http://schemas.microsoft.com/office/drawing/2014/main" id="{8C27CB63-1D26-E013-FDA6-E96FFFDF4665}"/>
                    </a:ext>
                  </a:extLst>
                </p:cNvPr>
                <p:cNvSpPr>
                  <a:spLocks noRot="1" noChangeAspect="1" noMove="1" noResize="1" noEditPoints="1" noAdjustHandles="1" noChangeArrowheads="1" noChangeShapeType="1" noTextEdit="1"/>
                </p:cNvSpPr>
                <p:nvPr/>
              </p:nvSpPr>
              <p:spPr>
                <a:xfrm>
                  <a:off x="8756254" y="5042694"/>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D06587F1-112D-D493-53CB-0198C3A2621B}"/>
                    </a:ext>
                  </a:extLst>
                </p:cNvPr>
                <p:cNvSpPr/>
                <p:nvPr/>
              </p:nvSpPr>
              <p:spPr>
                <a:xfrm>
                  <a:off x="10446161" y="5072459"/>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6</m:t>
                            </m:r>
                          </m:sub>
                        </m:sSub>
                      </m:oMath>
                    </m:oMathPara>
                  </a14:m>
                  <a:endParaRPr lang="en-US" dirty="0"/>
                </a:p>
              </p:txBody>
            </p:sp>
          </mc:Choice>
          <mc:Fallback xmlns="">
            <p:sp>
              <p:nvSpPr>
                <p:cNvPr id="9" name="Oval 8">
                  <a:extLst>
                    <a:ext uri="{FF2B5EF4-FFF2-40B4-BE49-F238E27FC236}">
                      <a16:creationId xmlns:a16="http://schemas.microsoft.com/office/drawing/2014/main" id="{D06587F1-112D-D493-53CB-0198C3A2621B}"/>
                    </a:ext>
                  </a:extLst>
                </p:cNvPr>
                <p:cNvSpPr>
                  <a:spLocks noRot="1" noChangeAspect="1" noMove="1" noResize="1" noEditPoints="1" noAdjustHandles="1" noChangeArrowheads="1" noChangeShapeType="1" noTextEdit="1"/>
                </p:cNvSpPr>
                <p:nvPr/>
              </p:nvSpPr>
              <p:spPr>
                <a:xfrm>
                  <a:off x="10446161" y="5072459"/>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p:sp>
          <p:nvSpPr>
            <p:cNvPr id="22" name="Text Box 27">
              <a:extLst>
                <a:ext uri="{FF2B5EF4-FFF2-40B4-BE49-F238E27FC236}">
                  <a16:creationId xmlns:a16="http://schemas.microsoft.com/office/drawing/2014/main" id="{9CB0CA99-E0A6-E46B-C4FD-23678888B3CE}"/>
                </a:ext>
              </a:extLst>
            </p:cNvPr>
            <p:cNvSpPr txBox="1">
              <a:spLocks noChangeArrowheads="1"/>
            </p:cNvSpPr>
            <p:nvPr>
              <p:custDataLst>
                <p:tags r:id="rId2"/>
              </p:custDataLst>
            </p:nvPr>
          </p:nvSpPr>
          <p:spPr bwMode="auto">
            <a:xfrm>
              <a:off x="7821702" y="3021806"/>
              <a:ext cx="306494" cy="369332"/>
            </a:xfrm>
            <a:prstGeom prst="rect">
              <a:avLst/>
            </a:prstGeom>
            <a:noFill/>
            <a:ln w="9525">
              <a:noFill/>
              <a:miter lim="800000"/>
              <a:headEnd/>
              <a:tailEnd/>
            </a:ln>
          </p:spPr>
          <p:txBody>
            <a:bodyPr wrap="none">
              <a:spAutoFit/>
            </a:bodyPr>
            <a:lstStyle/>
            <a:p>
              <a:r>
                <a:rPr lang="en-US" b="1" dirty="0"/>
                <a:t>4</a:t>
              </a:r>
            </a:p>
          </p:txBody>
        </p:sp>
        <p:sp>
          <p:nvSpPr>
            <p:cNvPr id="23" name="Text Box 27">
              <a:extLst>
                <a:ext uri="{FF2B5EF4-FFF2-40B4-BE49-F238E27FC236}">
                  <a16:creationId xmlns:a16="http://schemas.microsoft.com/office/drawing/2014/main" id="{B8520BEE-77AA-31C5-BDC7-730443066B49}"/>
                </a:ext>
              </a:extLst>
            </p:cNvPr>
            <p:cNvSpPr txBox="1">
              <a:spLocks noChangeArrowheads="1"/>
            </p:cNvSpPr>
            <p:nvPr>
              <p:custDataLst>
                <p:tags r:id="rId3"/>
              </p:custDataLst>
            </p:nvPr>
          </p:nvSpPr>
          <p:spPr bwMode="auto">
            <a:xfrm>
              <a:off x="9011443" y="3070851"/>
              <a:ext cx="306494" cy="369332"/>
            </a:xfrm>
            <a:prstGeom prst="rect">
              <a:avLst/>
            </a:prstGeom>
            <a:noFill/>
            <a:ln w="9525">
              <a:noFill/>
              <a:miter lim="800000"/>
              <a:headEnd/>
              <a:tailEnd/>
            </a:ln>
          </p:spPr>
          <p:txBody>
            <a:bodyPr wrap="none">
              <a:spAutoFit/>
            </a:bodyPr>
            <a:lstStyle/>
            <a:p>
              <a:r>
                <a:rPr lang="en-US" b="1" dirty="0"/>
                <a:t>1</a:t>
              </a:r>
            </a:p>
          </p:txBody>
        </p:sp>
        <p:sp>
          <p:nvSpPr>
            <p:cNvPr id="24" name="Text Box 27">
              <a:extLst>
                <a:ext uri="{FF2B5EF4-FFF2-40B4-BE49-F238E27FC236}">
                  <a16:creationId xmlns:a16="http://schemas.microsoft.com/office/drawing/2014/main" id="{D9C8517F-973B-A475-6952-357352699D96}"/>
                </a:ext>
              </a:extLst>
            </p:cNvPr>
            <p:cNvSpPr txBox="1">
              <a:spLocks noChangeArrowheads="1"/>
            </p:cNvSpPr>
            <p:nvPr>
              <p:custDataLst>
                <p:tags r:id="rId4"/>
              </p:custDataLst>
            </p:nvPr>
          </p:nvSpPr>
          <p:spPr bwMode="auto">
            <a:xfrm>
              <a:off x="9363922" y="2454275"/>
              <a:ext cx="336550" cy="457200"/>
            </a:xfrm>
            <a:prstGeom prst="rect">
              <a:avLst/>
            </a:prstGeom>
            <a:noFill/>
            <a:ln w="9525">
              <a:noFill/>
              <a:miter lim="800000"/>
              <a:headEnd/>
              <a:tailEnd/>
            </a:ln>
          </p:spPr>
          <p:txBody>
            <a:bodyPr wrap="none">
              <a:spAutoFit/>
            </a:bodyPr>
            <a:lstStyle/>
            <a:p>
              <a:r>
                <a:rPr lang="en-US" b="1" dirty="0"/>
                <a:t>2</a:t>
              </a:r>
            </a:p>
          </p:txBody>
        </p:sp>
        <p:sp>
          <p:nvSpPr>
            <p:cNvPr id="25" name="Text Box 27">
              <a:extLst>
                <a:ext uri="{FF2B5EF4-FFF2-40B4-BE49-F238E27FC236}">
                  <a16:creationId xmlns:a16="http://schemas.microsoft.com/office/drawing/2014/main" id="{926DE59D-178C-EA05-2FBA-2A52DFE73F72}"/>
                </a:ext>
              </a:extLst>
            </p:cNvPr>
            <p:cNvSpPr txBox="1">
              <a:spLocks noChangeArrowheads="1"/>
            </p:cNvSpPr>
            <p:nvPr>
              <p:custDataLst>
                <p:tags r:id="rId5"/>
              </p:custDataLst>
            </p:nvPr>
          </p:nvSpPr>
          <p:spPr bwMode="auto">
            <a:xfrm>
              <a:off x="8523288" y="3582625"/>
              <a:ext cx="306494" cy="369332"/>
            </a:xfrm>
            <a:prstGeom prst="rect">
              <a:avLst/>
            </a:prstGeom>
            <a:noFill/>
            <a:ln w="9525">
              <a:noFill/>
              <a:miter lim="800000"/>
              <a:headEnd/>
              <a:tailEnd/>
            </a:ln>
          </p:spPr>
          <p:txBody>
            <a:bodyPr wrap="none">
              <a:spAutoFit/>
            </a:bodyPr>
            <a:lstStyle/>
            <a:p>
              <a:r>
                <a:rPr lang="en-US" b="1" dirty="0"/>
                <a:t>2</a:t>
              </a:r>
            </a:p>
          </p:txBody>
        </p:sp>
        <p:sp>
          <p:nvSpPr>
            <p:cNvPr id="26" name="Text Box 27">
              <a:extLst>
                <a:ext uri="{FF2B5EF4-FFF2-40B4-BE49-F238E27FC236}">
                  <a16:creationId xmlns:a16="http://schemas.microsoft.com/office/drawing/2014/main" id="{7E74880A-EBAF-ACB3-BE00-F354253B021B}"/>
                </a:ext>
              </a:extLst>
            </p:cNvPr>
            <p:cNvSpPr txBox="1">
              <a:spLocks noChangeArrowheads="1"/>
            </p:cNvSpPr>
            <p:nvPr>
              <p:custDataLst>
                <p:tags r:id="rId6"/>
              </p:custDataLst>
            </p:nvPr>
          </p:nvSpPr>
          <p:spPr bwMode="auto">
            <a:xfrm>
              <a:off x="10981639" y="3054171"/>
              <a:ext cx="428322" cy="369332"/>
            </a:xfrm>
            <a:prstGeom prst="rect">
              <a:avLst/>
            </a:prstGeom>
            <a:noFill/>
            <a:ln w="9525">
              <a:noFill/>
              <a:miter lim="800000"/>
              <a:headEnd/>
              <a:tailEnd/>
            </a:ln>
          </p:spPr>
          <p:txBody>
            <a:bodyPr wrap="none">
              <a:spAutoFit/>
            </a:bodyPr>
            <a:lstStyle/>
            <a:p>
              <a:r>
                <a:rPr lang="en-US" b="1" dirty="0"/>
                <a:t>10</a:t>
              </a:r>
            </a:p>
          </p:txBody>
        </p:sp>
        <p:sp>
          <p:nvSpPr>
            <p:cNvPr id="27" name="Text Box 27">
              <a:extLst>
                <a:ext uri="{FF2B5EF4-FFF2-40B4-BE49-F238E27FC236}">
                  <a16:creationId xmlns:a16="http://schemas.microsoft.com/office/drawing/2014/main" id="{9F9BE4F5-E951-081B-ACA5-BB8EAA38D32B}"/>
                </a:ext>
              </a:extLst>
            </p:cNvPr>
            <p:cNvSpPr txBox="1">
              <a:spLocks noChangeArrowheads="1"/>
            </p:cNvSpPr>
            <p:nvPr>
              <p:custDataLst>
                <p:tags r:id="rId7"/>
              </p:custDataLst>
            </p:nvPr>
          </p:nvSpPr>
          <p:spPr bwMode="auto">
            <a:xfrm>
              <a:off x="10282142" y="3557036"/>
              <a:ext cx="306494" cy="369332"/>
            </a:xfrm>
            <a:prstGeom prst="rect">
              <a:avLst/>
            </a:prstGeom>
            <a:noFill/>
            <a:ln w="9525">
              <a:noFill/>
              <a:miter lim="800000"/>
              <a:headEnd/>
              <a:tailEnd/>
            </a:ln>
          </p:spPr>
          <p:txBody>
            <a:bodyPr wrap="none">
              <a:spAutoFit/>
            </a:bodyPr>
            <a:lstStyle/>
            <a:p>
              <a:r>
                <a:rPr lang="en-US" b="1" dirty="0"/>
                <a:t>7</a:t>
              </a:r>
            </a:p>
          </p:txBody>
        </p:sp>
        <p:sp>
          <p:nvSpPr>
            <p:cNvPr id="28" name="Text Box 27">
              <a:extLst>
                <a:ext uri="{FF2B5EF4-FFF2-40B4-BE49-F238E27FC236}">
                  <a16:creationId xmlns:a16="http://schemas.microsoft.com/office/drawing/2014/main" id="{7FB3C62F-A162-34EF-11B8-5ED0A430B34C}"/>
                </a:ext>
              </a:extLst>
            </p:cNvPr>
            <p:cNvSpPr txBox="1">
              <a:spLocks noChangeArrowheads="1"/>
            </p:cNvSpPr>
            <p:nvPr>
              <p:custDataLst>
                <p:tags r:id="rId8"/>
              </p:custDataLst>
            </p:nvPr>
          </p:nvSpPr>
          <p:spPr bwMode="auto">
            <a:xfrm>
              <a:off x="8077995" y="4425950"/>
              <a:ext cx="306494" cy="369332"/>
            </a:xfrm>
            <a:prstGeom prst="rect">
              <a:avLst/>
            </a:prstGeom>
            <a:noFill/>
            <a:ln w="9525">
              <a:noFill/>
              <a:miter lim="800000"/>
              <a:headEnd/>
              <a:tailEnd/>
            </a:ln>
          </p:spPr>
          <p:txBody>
            <a:bodyPr wrap="none">
              <a:spAutoFit/>
            </a:bodyPr>
            <a:lstStyle/>
            <a:p>
              <a:r>
                <a:rPr lang="en-US" b="1" dirty="0"/>
                <a:t>5</a:t>
              </a:r>
            </a:p>
          </p:txBody>
        </p:sp>
        <p:sp>
          <p:nvSpPr>
            <p:cNvPr id="29" name="Text Box 27">
              <a:extLst>
                <a:ext uri="{FF2B5EF4-FFF2-40B4-BE49-F238E27FC236}">
                  <a16:creationId xmlns:a16="http://schemas.microsoft.com/office/drawing/2014/main" id="{9645EF4E-BDEF-6EEB-5331-6E8F9FBA5508}"/>
                </a:ext>
              </a:extLst>
            </p:cNvPr>
            <p:cNvSpPr txBox="1">
              <a:spLocks noChangeArrowheads="1"/>
            </p:cNvSpPr>
            <p:nvPr>
              <p:custDataLst>
                <p:tags r:id="rId9"/>
              </p:custDataLst>
            </p:nvPr>
          </p:nvSpPr>
          <p:spPr bwMode="auto">
            <a:xfrm>
              <a:off x="8878463" y="4216400"/>
              <a:ext cx="306494" cy="369332"/>
            </a:xfrm>
            <a:prstGeom prst="rect">
              <a:avLst/>
            </a:prstGeom>
            <a:noFill/>
            <a:ln w="9525">
              <a:noFill/>
              <a:miter lim="800000"/>
              <a:headEnd/>
              <a:tailEnd/>
            </a:ln>
          </p:spPr>
          <p:txBody>
            <a:bodyPr wrap="none">
              <a:spAutoFit/>
            </a:bodyPr>
            <a:lstStyle/>
            <a:p>
              <a:r>
                <a:rPr lang="en-US" b="1" dirty="0"/>
                <a:t>8</a:t>
              </a:r>
            </a:p>
          </p:txBody>
        </p:sp>
        <p:sp>
          <p:nvSpPr>
            <p:cNvPr id="30" name="Text Box 27">
              <a:extLst>
                <a:ext uri="{FF2B5EF4-FFF2-40B4-BE49-F238E27FC236}">
                  <a16:creationId xmlns:a16="http://schemas.microsoft.com/office/drawing/2014/main" id="{E84E41FF-6BC8-E4D3-E2CF-50D799A5863C}"/>
                </a:ext>
              </a:extLst>
            </p:cNvPr>
            <p:cNvSpPr txBox="1">
              <a:spLocks noChangeArrowheads="1"/>
            </p:cNvSpPr>
            <p:nvPr>
              <p:custDataLst>
                <p:tags r:id="rId10"/>
              </p:custDataLst>
            </p:nvPr>
          </p:nvSpPr>
          <p:spPr bwMode="auto">
            <a:xfrm>
              <a:off x="10056458" y="4228940"/>
              <a:ext cx="306494" cy="369332"/>
            </a:xfrm>
            <a:prstGeom prst="rect">
              <a:avLst/>
            </a:prstGeom>
            <a:noFill/>
            <a:ln w="9525">
              <a:noFill/>
              <a:miter lim="800000"/>
              <a:headEnd/>
              <a:tailEnd/>
            </a:ln>
          </p:spPr>
          <p:txBody>
            <a:bodyPr wrap="none">
              <a:spAutoFit/>
            </a:bodyPr>
            <a:lstStyle/>
            <a:p>
              <a:r>
                <a:rPr lang="en-US" b="1" dirty="0"/>
                <a:t>4</a:t>
              </a:r>
            </a:p>
          </p:txBody>
        </p:sp>
        <p:sp>
          <p:nvSpPr>
            <p:cNvPr id="31" name="Text Box 27">
              <a:extLst>
                <a:ext uri="{FF2B5EF4-FFF2-40B4-BE49-F238E27FC236}">
                  <a16:creationId xmlns:a16="http://schemas.microsoft.com/office/drawing/2014/main" id="{0E21ACA9-AD4D-E112-E38D-50906302148E}"/>
                </a:ext>
              </a:extLst>
            </p:cNvPr>
            <p:cNvSpPr txBox="1">
              <a:spLocks noChangeArrowheads="1"/>
            </p:cNvSpPr>
            <p:nvPr>
              <p:custDataLst>
                <p:tags r:id="rId11"/>
              </p:custDataLst>
            </p:nvPr>
          </p:nvSpPr>
          <p:spPr bwMode="auto">
            <a:xfrm>
              <a:off x="11031552" y="4543425"/>
              <a:ext cx="306494" cy="369332"/>
            </a:xfrm>
            <a:prstGeom prst="rect">
              <a:avLst/>
            </a:prstGeom>
            <a:noFill/>
            <a:ln w="9525">
              <a:noFill/>
              <a:miter lim="800000"/>
              <a:headEnd/>
              <a:tailEnd/>
            </a:ln>
          </p:spPr>
          <p:txBody>
            <a:bodyPr wrap="none">
              <a:spAutoFit/>
            </a:bodyPr>
            <a:lstStyle/>
            <a:p>
              <a:r>
                <a:rPr lang="en-US" b="1" dirty="0"/>
                <a:t>6</a:t>
              </a:r>
            </a:p>
          </p:txBody>
        </p:sp>
        <p:sp>
          <p:nvSpPr>
            <p:cNvPr id="32" name="Text Box 27">
              <a:extLst>
                <a:ext uri="{FF2B5EF4-FFF2-40B4-BE49-F238E27FC236}">
                  <a16:creationId xmlns:a16="http://schemas.microsoft.com/office/drawing/2014/main" id="{8363DCF2-FE30-513E-049B-D71490CAB7D3}"/>
                </a:ext>
              </a:extLst>
            </p:cNvPr>
            <p:cNvSpPr txBox="1">
              <a:spLocks noChangeArrowheads="1"/>
            </p:cNvSpPr>
            <p:nvPr>
              <p:custDataLst>
                <p:tags r:id="rId12"/>
              </p:custDataLst>
            </p:nvPr>
          </p:nvSpPr>
          <p:spPr bwMode="auto">
            <a:xfrm>
              <a:off x="9583935" y="4912093"/>
              <a:ext cx="306494" cy="369332"/>
            </a:xfrm>
            <a:prstGeom prst="rect">
              <a:avLst/>
            </a:prstGeom>
            <a:noFill/>
            <a:ln w="9525">
              <a:noFill/>
              <a:miter lim="800000"/>
              <a:headEnd/>
              <a:tailEnd/>
            </a:ln>
          </p:spPr>
          <p:txBody>
            <a:bodyPr wrap="none">
              <a:spAutoFit/>
            </a:bodyPr>
            <a:lstStyle/>
            <a:p>
              <a:r>
                <a:rPr lang="en-US" b="1" dirty="0"/>
                <a:t>1</a:t>
              </a:r>
            </a:p>
          </p:txBody>
        </p:sp>
        <p:sp>
          <p:nvSpPr>
            <p:cNvPr id="33" name="Text Box 27">
              <a:extLst>
                <a:ext uri="{FF2B5EF4-FFF2-40B4-BE49-F238E27FC236}">
                  <a16:creationId xmlns:a16="http://schemas.microsoft.com/office/drawing/2014/main" id="{4D3C603E-5F31-18E1-B576-372C6775989E}"/>
                </a:ext>
              </a:extLst>
            </p:cNvPr>
            <p:cNvSpPr txBox="1">
              <a:spLocks noChangeArrowheads="1"/>
            </p:cNvSpPr>
            <p:nvPr>
              <p:custDataLst>
                <p:tags r:id="rId13"/>
              </p:custDataLst>
            </p:nvPr>
          </p:nvSpPr>
          <p:spPr bwMode="auto">
            <a:xfrm>
              <a:off x="9747513" y="3054171"/>
              <a:ext cx="306494" cy="369332"/>
            </a:xfrm>
            <a:prstGeom prst="rect">
              <a:avLst/>
            </a:prstGeom>
            <a:noFill/>
            <a:ln w="9525">
              <a:noFill/>
              <a:miter lim="800000"/>
              <a:headEnd/>
              <a:tailEnd/>
            </a:ln>
          </p:spPr>
          <p:txBody>
            <a:bodyPr wrap="square">
              <a:spAutoFit/>
            </a:bodyPr>
            <a:lstStyle/>
            <a:p>
              <a:r>
                <a:rPr lang="en-US" b="1" dirty="0"/>
                <a:t>3</a:t>
              </a:r>
            </a:p>
          </p:txBody>
        </p:sp>
        <p:cxnSp>
          <p:nvCxnSpPr>
            <p:cNvPr id="35" name="Straight Connector 34">
              <a:extLst>
                <a:ext uri="{FF2B5EF4-FFF2-40B4-BE49-F238E27FC236}">
                  <a16:creationId xmlns:a16="http://schemas.microsoft.com/office/drawing/2014/main" id="{EB08C462-9B99-6561-7E17-51AE355CCCFC}"/>
                </a:ext>
              </a:extLst>
            </p:cNvPr>
            <p:cNvCxnSpPr>
              <a:stCxn id="3" idx="6"/>
              <a:endCxn id="6" idx="2"/>
            </p:cNvCxnSpPr>
            <p:nvPr/>
          </p:nvCxnSpPr>
          <p:spPr>
            <a:xfrm flipV="1">
              <a:off x="8756254" y="2772275"/>
              <a:ext cx="1595650" cy="36012"/>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85D0564B-97D2-0C68-D74F-0AD4FBA79F33}"/>
                </a:ext>
              </a:extLst>
            </p:cNvPr>
            <p:cNvCxnSpPr>
              <a:cxnSpLocks/>
              <a:stCxn id="3" idx="3"/>
              <a:endCxn id="4" idx="0"/>
            </p:cNvCxnSpPr>
            <p:nvPr/>
          </p:nvCxnSpPr>
          <p:spPr>
            <a:xfrm flipH="1">
              <a:off x="7943454" y="2973018"/>
              <a:ext cx="415103" cy="725042"/>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A62F396-F2EE-E44D-0105-5644755CEBFE}"/>
                </a:ext>
              </a:extLst>
            </p:cNvPr>
            <p:cNvCxnSpPr>
              <a:cxnSpLocks/>
              <a:stCxn id="8" idx="1"/>
              <a:endCxn id="4" idx="5"/>
            </p:cNvCxnSpPr>
            <p:nvPr/>
          </p:nvCxnSpPr>
          <p:spPr>
            <a:xfrm flipH="1" flipV="1">
              <a:off x="8108185" y="4095757"/>
              <a:ext cx="716303" cy="101517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DF79FD91-BB7A-8D45-680C-6F7B7CE95E1A}"/>
                </a:ext>
              </a:extLst>
            </p:cNvPr>
            <p:cNvCxnSpPr>
              <a:cxnSpLocks/>
              <a:stCxn id="8" idx="6"/>
              <a:endCxn id="9" idx="2"/>
            </p:cNvCxnSpPr>
            <p:nvPr/>
          </p:nvCxnSpPr>
          <p:spPr>
            <a:xfrm>
              <a:off x="9222185" y="5275660"/>
              <a:ext cx="1223976" cy="29765"/>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4EE14470-A9E2-5AC9-3D30-75D6D166FE2D}"/>
                </a:ext>
              </a:extLst>
            </p:cNvPr>
            <p:cNvCxnSpPr>
              <a:cxnSpLocks/>
              <a:stCxn id="9" idx="7"/>
              <a:endCxn id="7" idx="4"/>
            </p:cNvCxnSpPr>
            <p:nvPr/>
          </p:nvCxnSpPr>
          <p:spPr>
            <a:xfrm flipV="1">
              <a:off x="10843858" y="4153104"/>
              <a:ext cx="298819" cy="987589"/>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11AECC0E-DAAB-AA58-4B64-C2796A0552F0}"/>
                </a:ext>
              </a:extLst>
            </p:cNvPr>
            <p:cNvCxnSpPr>
              <a:cxnSpLocks/>
              <a:stCxn id="7" idx="0"/>
              <a:endCxn id="6" idx="5"/>
            </p:cNvCxnSpPr>
            <p:nvPr/>
          </p:nvCxnSpPr>
          <p:spPr>
            <a:xfrm flipH="1" flipV="1">
              <a:off x="10749601" y="2937006"/>
              <a:ext cx="393076" cy="750167"/>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0606212-79A3-7ED0-AA21-92096F8AC518}"/>
                </a:ext>
              </a:extLst>
            </p:cNvPr>
            <p:cNvCxnSpPr>
              <a:cxnSpLocks/>
              <a:stCxn id="6" idx="3"/>
              <a:endCxn id="5" idx="7"/>
            </p:cNvCxnSpPr>
            <p:nvPr/>
          </p:nvCxnSpPr>
          <p:spPr>
            <a:xfrm flipH="1">
              <a:off x="9729248" y="2937006"/>
              <a:ext cx="690890" cy="829287"/>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CD19F2DA-F948-3694-8C8D-AB176DC9AC1D}"/>
                </a:ext>
              </a:extLst>
            </p:cNvPr>
            <p:cNvCxnSpPr>
              <a:cxnSpLocks/>
              <a:stCxn id="5" idx="1"/>
              <a:endCxn id="3" idx="5"/>
            </p:cNvCxnSpPr>
            <p:nvPr/>
          </p:nvCxnSpPr>
          <p:spPr>
            <a:xfrm flipH="1" flipV="1">
              <a:off x="8688020" y="2973018"/>
              <a:ext cx="711765" cy="793275"/>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E7ED6625-BB19-6264-721E-ABC3C47D14A4}"/>
                </a:ext>
              </a:extLst>
            </p:cNvPr>
            <p:cNvCxnSpPr>
              <a:cxnSpLocks/>
              <a:stCxn id="5" idx="2"/>
              <a:endCxn id="4" idx="6"/>
            </p:cNvCxnSpPr>
            <p:nvPr/>
          </p:nvCxnSpPr>
          <p:spPr>
            <a:xfrm flipH="1">
              <a:off x="8176419" y="3931025"/>
              <a:ext cx="1155132" cy="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50A9AB-4FE7-8E33-1D84-12CA9CFD2BB0}"/>
                </a:ext>
              </a:extLst>
            </p:cNvPr>
            <p:cNvCxnSpPr>
              <a:cxnSpLocks/>
              <a:stCxn id="5" idx="3"/>
              <a:endCxn id="8" idx="0"/>
            </p:cNvCxnSpPr>
            <p:nvPr/>
          </p:nvCxnSpPr>
          <p:spPr>
            <a:xfrm flipH="1">
              <a:off x="8989220" y="4095756"/>
              <a:ext cx="410565" cy="946938"/>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67618" name="Straight Connector 67617">
              <a:extLst>
                <a:ext uri="{FF2B5EF4-FFF2-40B4-BE49-F238E27FC236}">
                  <a16:creationId xmlns:a16="http://schemas.microsoft.com/office/drawing/2014/main" id="{0A764217-7FF5-8F23-FBC1-16F0D4CC266F}"/>
                </a:ext>
              </a:extLst>
            </p:cNvPr>
            <p:cNvCxnSpPr>
              <a:cxnSpLocks/>
              <a:stCxn id="5" idx="5"/>
              <a:endCxn id="9" idx="1"/>
            </p:cNvCxnSpPr>
            <p:nvPr/>
          </p:nvCxnSpPr>
          <p:spPr>
            <a:xfrm>
              <a:off x="9729248" y="4095756"/>
              <a:ext cx="785147" cy="1044937"/>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67621" name="Straight Connector 67620">
              <a:extLst>
                <a:ext uri="{FF2B5EF4-FFF2-40B4-BE49-F238E27FC236}">
                  <a16:creationId xmlns:a16="http://schemas.microsoft.com/office/drawing/2014/main" id="{FE428520-5333-5405-1169-33DBB90E6E68}"/>
                </a:ext>
              </a:extLst>
            </p:cNvPr>
            <p:cNvCxnSpPr>
              <a:cxnSpLocks/>
              <a:stCxn id="5" idx="6"/>
              <a:endCxn id="7" idx="2"/>
            </p:cNvCxnSpPr>
            <p:nvPr/>
          </p:nvCxnSpPr>
          <p:spPr>
            <a:xfrm flipV="1">
              <a:off x="9797482" y="3920139"/>
              <a:ext cx="1112229" cy="10886"/>
            </a:xfrm>
            <a:prstGeom prst="line">
              <a:avLst/>
            </a:prstGeom>
            <a:ln w="19050"/>
          </p:spPr>
          <p:style>
            <a:lnRef idx="1">
              <a:schemeClr val="accent1"/>
            </a:lnRef>
            <a:fillRef idx="0">
              <a:schemeClr val="accent1"/>
            </a:fillRef>
            <a:effectRef idx="0">
              <a:schemeClr val="accent1"/>
            </a:effectRef>
            <a:fontRef idx="minor">
              <a:schemeClr val="tx1"/>
            </a:fontRef>
          </p:style>
        </p:cxnSp>
      </p:grpSp>
      <p:cxnSp>
        <p:nvCxnSpPr>
          <p:cNvPr id="67626" name="Straight Connector 67625">
            <a:extLst>
              <a:ext uri="{FF2B5EF4-FFF2-40B4-BE49-F238E27FC236}">
                <a16:creationId xmlns:a16="http://schemas.microsoft.com/office/drawing/2014/main" id="{4565DA8C-EF0D-BAAA-4C0E-CEC5EAD275BD}"/>
              </a:ext>
            </a:extLst>
          </p:cNvPr>
          <p:cNvCxnSpPr/>
          <p:nvPr/>
        </p:nvCxnSpPr>
        <p:spPr>
          <a:xfrm flipV="1">
            <a:off x="3295461" y="4092260"/>
            <a:ext cx="950802" cy="94146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7627" name="TextBox 67626">
            <a:extLst>
              <a:ext uri="{FF2B5EF4-FFF2-40B4-BE49-F238E27FC236}">
                <a16:creationId xmlns:a16="http://schemas.microsoft.com/office/drawing/2014/main" id="{E29541FA-194B-060C-037A-358A55E8A968}"/>
              </a:ext>
            </a:extLst>
          </p:cNvPr>
          <p:cNvSpPr txBox="1"/>
          <p:nvPr/>
        </p:nvSpPr>
        <p:spPr>
          <a:xfrm>
            <a:off x="1921117" y="5096003"/>
            <a:ext cx="2791077" cy="646331"/>
          </a:xfrm>
          <a:prstGeom prst="rect">
            <a:avLst/>
          </a:prstGeom>
          <a:noFill/>
        </p:spPr>
        <p:txBody>
          <a:bodyPr wrap="square" rtlCol="0">
            <a:spAutoFit/>
          </a:bodyPr>
          <a:lstStyle/>
          <a:p>
            <a:r>
              <a:rPr lang="en-US" dirty="0"/>
              <a:t>How do we quickly find the MST of a bigger graph?</a:t>
            </a:r>
          </a:p>
        </p:txBody>
      </p:sp>
      <p:cxnSp>
        <p:nvCxnSpPr>
          <p:cNvPr id="67628" name="Straight Connector 67627">
            <a:extLst>
              <a:ext uri="{FF2B5EF4-FFF2-40B4-BE49-F238E27FC236}">
                <a16:creationId xmlns:a16="http://schemas.microsoft.com/office/drawing/2014/main" id="{8068EC34-0988-9F5D-7F92-F0BB987BDF34}"/>
              </a:ext>
            </a:extLst>
          </p:cNvPr>
          <p:cNvCxnSpPr>
            <a:cxnSpLocks/>
          </p:cNvCxnSpPr>
          <p:nvPr/>
        </p:nvCxnSpPr>
        <p:spPr>
          <a:xfrm flipH="1" flipV="1">
            <a:off x="8075691" y="4209861"/>
            <a:ext cx="596152" cy="103209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7629" name="TextBox 67628">
            <a:extLst>
              <a:ext uri="{FF2B5EF4-FFF2-40B4-BE49-F238E27FC236}">
                <a16:creationId xmlns:a16="http://schemas.microsoft.com/office/drawing/2014/main" id="{CA292642-086C-E332-9FDB-63D1F15EF45D}"/>
              </a:ext>
            </a:extLst>
          </p:cNvPr>
          <p:cNvSpPr txBox="1"/>
          <p:nvPr/>
        </p:nvSpPr>
        <p:spPr>
          <a:xfrm>
            <a:off x="8217937" y="5328969"/>
            <a:ext cx="2791077" cy="923330"/>
          </a:xfrm>
          <a:prstGeom prst="rect">
            <a:avLst/>
          </a:prstGeom>
          <a:noFill/>
        </p:spPr>
        <p:txBody>
          <a:bodyPr wrap="square" rtlCol="0">
            <a:spAutoFit/>
          </a:bodyPr>
          <a:lstStyle/>
          <a:p>
            <a:r>
              <a:rPr lang="en-US" dirty="0"/>
              <a:t>Once again, we need some kind of </a:t>
            </a:r>
            <a:r>
              <a:rPr lang="en-US" b="1" i="1" u="sng" dirty="0"/>
              <a:t>key idea </a:t>
            </a:r>
            <a:r>
              <a:rPr lang="en-US" dirty="0"/>
              <a:t>that we can build an algorithm from!</a:t>
            </a:r>
          </a:p>
        </p:txBody>
      </p:sp>
    </p:spTree>
    <p:extLst>
      <p:ext uri="{BB962C8B-B14F-4D97-AF65-F5344CB8AC3E}">
        <p14:creationId xmlns:p14="http://schemas.microsoft.com/office/powerpoint/2010/main" val="24096764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title"/>
            <p:custDataLst>
              <p:tags r:id="rId1"/>
            </p:custDataLst>
          </p:nvPr>
        </p:nvSpPr>
        <p:spPr>
          <a:xfrm>
            <a:off x="1141412" y="239463"/>
            <a:ext cx="9905998" cy="694234"/>
          </a:xfrm>
        </p:spPr>
        <p:txBody>
          <a:bodyPr/>
          <a:lstStyle/>
          <a:p>
            <a:pPr algn="ctr" eaLnBrk="1" hangingPunct="1"/>
            <a:r>
              <a:rPr lang="en-US" dirty="0"/>
              <a:t>Prim’s algorithm</a:t>
            </a:r>
          </a:p>
        </p:txBody>
      </p:sp>
      <p:sp>
        <p:nvSpPr>
          <p:cNvPr id="43" name="Rectangle 3">
            <a:extLst>
              <a:ext uri="{FF2B5EF4-FFF2-40B4-BE49-F238E27FC236}">
                <a16:creationId xmlns:a16="http://schemas.microsoft.com/office/drawing/2014/main" id="{D34D04A9-5F69-6B74-D425-D13A7D0B4310}"/>
              </a:ext>
            </a:extLst>
          </p:cNvPr>
          <p:cNvSpPr txBox="1">
            <a:spLocks noChangeArrowheads="1"/>
          </p:cNvSpPr>
          <p:nvPr>
            <p:custDataLst>
              <p:tags r:id="rId2"/>
            </p:custDataLst>
          </p:nvPr>
        </p:nvSpPr>
        <p:spPr>
          <a:xfrm>
            <a:off x="1082673" y="1141323"/>
            <a:ext cx="9905999" cy="1041401"/>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Key Idea</a:t>
            </a:r>
            <a:r>
              <a:rPr lang="en-US" b="1" dirty="0">
                <a:solidFill>
                  <a:schemeClr val="bg1"/>
                </a:solidFill>
              </a:rPr>
              <a:t>: </a:t>
            </a:r>
            <a:r>
              <a:rPr lang="en-US" dirty="0">
                <a:solidFill>
                  <a:schemeClr val="bg1"/>
                </a:solidFill>
              </a:rPr>
              <a:t>Maintain three groups of nodes. </a:t>
            </a:r>
            <a:r>
              <a:rPr lang="en-US" b="1" i="1" dirty="0">
                <a:solidFill>
                  <a:schemeClr val="bg1"/>
                </a:solidFill>
              </a:rPr>
              <a:t>Known </a:t>
            </a:r>
            <a:r>
              <a:rPr lang="en-US" dirty="0">
                <a:solidFill>
                  <a:schemeClr val="bg1"/>
                </a:solidFill>
              </a:rPr>
              <a:t>nodes (current </a:t>
            </a:r>
            <a:r>
              <a:rPr lang="en-US" dirty="0" err="1">
                <a:solidFill>
                  <a:schemeClr val="bg1"/>
                </a:solidFill>
              </a:rPr>
              <a:t>mst</a:t>
            </a:r>
            <a:r>
              <a:rPr lang="en-US" dirty="0">
                <a:solidFill>
                  <a:schemeClr val="bg1"/>
                </a:solidFill>
              </a:rPr>
              <a:t>), </a:t>
            </a:r>
            <a:r>
              <a:rPr lang="en-US" b="1" i="1" dirty="0">
                <a:solidFill>
                  <a:schemeClr val="bg1"/>
                </a:solidFill>
              </a:rPr>
              <a:t>fringe</a:t>
            </a:r>
            <a:r>
              <a:rPr lang="en-US" dirty="0">
                <a:solidFill>
                  <a:schemeClr val="bg1"/>
                </a:solidFill>
              </a:rPr>
              <a:t> nodes, and </a:t>
            </a:r>
            <a:r>
              <a:rPr lang="en-US" b="1" i="1" dirty="0">
                <a:solidFill>
                  <a:schemeClr val="bg1"/>
                </a:solidFill>
              </a:rPr>
              <a:t>unknown</a:t>
            </a:r>
            <a:r>
              <a:rPr lang="en-US" dirty="0">
                <a:solidFill>
                  <a:schemeClr val="bg1"/>
                </a:solidFill>
              </a:rPr>
              <a:t> nodes. Grow the current MST one node at a time.</a:t>
            </a:r>
          </a:p>
        </p:txBody>
      </p:sp>
      <p:sp>
        <p:nvSpPr>
          <p:cNvPr id="44" name="TextBox 43">
            <a:extLst>
              <a:ext uri="{FF2B5EF4-FFF2-40B4-BE49-F238E27FC236}">
                <a16:creationId xmlns:a16="http://schemas.microsoft.com/office/drawing/2014/main" id="{F46D3FDA-51F4-484D-0365-90E447E39FA7}"/>
              </a:ext>
            </a:extLst>
          </p:cNvPr>
          <p:cNvSpPr txBox="1"/>
          <p:nvPr/>
        </p:nvSpPr>
        <p:spPr>
          <a:xfrm>
            <a:off x="712413" y="2501813"/>
            <a:ext cx="4195986" cy="1200329"/>
          </a:xfrm>
          <a:prstGeom prst="rect">
            <a:avLst/>
          </a:prstGeom>
          <a:noFill/>
          <a:ln>
            <a:solidFill>
              <a:schemeClr val="accent2"/>
            </a:solidFill>
          </a:ln>
        </p:spPr>
        <p:txBody>
          <a:bodyPr wrap="square" rtlCol="0">
            <a:spAutoFit/>
          </a:bodyPr>
          <a:lstStyle/>
          <a:p>
            <a:r>
              <a:rPr lang="en-US" b="1" i="1" u="sng" dirty="0"/>
              <a:t>Known nodes (and edges)</a:t>
            </a:r>
            <a:r>
              <a:rPr lang="en-US" i="1" dirty="0"/>
              <a:t> are the minimum spanning tree of the subgraph involving only those nodes. This is correct and will never change once set</a:t>
            </a:r>
          </a:p>
        </p:txBody>
      </p:sp>
      <p:sp>
        <p:nvSpPr>
          <p:cNvPr id="45" name="TextBox 44">
            <a:extLst>
              <a:ext uri="{FF2B5EF4-FFF2-40B4-BE49-F238E27FC236}">
                <a16:creationId xmlns:a16="http://schemas.microsoft.com/office/drawing/2014/main" id="{A36C3848-C196-C084-6C9E-2ED1CFDD842D}"/>
              </a:ext>
            </a:extLst>
          </p:cNvPr>
          <p:cNvSpPr txBox="1"/>
          <p:nvPr/>
        </p:nvSpPr>
        <p:spPr>
          <a:xfrm>
            <a:off x="8750740" y="5141209"/>
            <a:ext cx="2586886" cy="1477328"/>
          </a:xfrm>
          <a:prstGeom prst="rect">
            <a:avLst/>
          </a:prstGeom>
          <a:noFill/>
          <a:ln>
            <a:solidFill>
              <a:schemeClr val="accent3"/>
            </a:solidFill>
          </a:ln>
        </p:spPr>
        <p:txBody>
          <a:bodyPr wrap="square" rtlCol="0">
            <a:spAutoFit/>
          </a:bodyPr>
          <a:lstStyle/>
          <a:p>
            <a:r>
              <a:rPr lang="en-US" i="1" dirty="0"/>
              <a:t>Fringe nodes are reachable via one edge from a known node. They can be added into the MST for the cost of that one edge!</a:t>
            </a:r>
          </a:p>
        </p:txBody>
      </p:sp>
      <p:sp>
        <p:nvSpPr>
          <p:cNvPr id="46" name="TextBox 45">
            <a:extLst>
              <a:ext uri="{FF2B5EF4-FFF2-40B4-BE49-F238E27FC236}">
                <a16:creationId xmlns:a16="http://schemas.microsoft.com/office/drawing/2014/main" id="{B2F47939-94A9-262C-7D90-B66B8BD90B59}"/>
              </a:ext>
            </a:extLst>
          </p:cNvPr>
          <p:cNvSpPr txBox="1"/>
          <p:nvPr/>
        </p:nvSpPr>
        <p:spPr>
          <a:xfrm>
            <a:off x="9098217" y="2750642"/>
            <a:ext cx="2239409" cy="1477328"/>
          </a:xfrm>
          <a:prstGeom prst="rect">
            <a:avLst/>
          </a:prstGeom>
          <a:noFill/>
          <a:ln>
            <a:solidFill>
              <a:schemeClr val="accent4"/>
            </a:solidFill>
          </a:ln>
        </p:spPr>
        <p:txBody>
          <a:bodyPr wrap="square" rtlCol="0">
            <a:spAutoFit/>
          </a:bodyPr>
          <a:lstStyle/>
          <a:p>
            <a:r>
              <a:rPr lang="en-US" i="1" dirty="0"/>
              <a:t>Unknown nodes have not been seen by the algorithm yet. They will become fringe, and then known eventually</a:t>
            </a:r>
          </a:p>
        </p:txBody>
      </p:sp>
      <p:grpSp>
        <p:nvGrpSpPr>
          <p:cNvPr id="65536" name="Group 65535">
            <a:extLst>
              <a:ext uri="{FF2B5EF4-FFF2-40B4-BE49-F238E27FC236}">
                <a16:creationId xmlns:a16="http://schemas.microsoft.com/office/drawing/2014/main" id="{FEC6F6A5-D34C-E0BE-DCFA-15C25AA44807}"/>
              </a:ext>
            </a:extLst>
          </p:cNvPr>
          <p:cNvGrpSpPr/>
          <p:nvPr/>
        </p:nvGrpSpPr>
        <p:grpSpPr>
          <a:xfrm>
            <a:off x="3986617" y="2900555"/>
            <a:ext cx="4672228" cy="3261992"/>
            <a:chOff x="3823655" y="2900555"/>
            <a:chExt cx="4672228" cy="3261992"/>
          </a:xfrm>
        </p:grpSpPr>
        <p:sp>
          <p:nvSpPr>
            <p:cNvPr id="3" name="Freeform 2">
              <a:extLst>
                <a:ext uri="{FF2B5EF4-FFF2-40B4-BE49-F238E27FC236}">
                  <a16:creationId xmlns:a16="http://schemas.microsoft.com/office/drawing/2014/main" id="{1171D6A1-C442-C958-747F-7285B80F08C9}"/>
                </a:ext>
              </a:extLst>
            </p:cNvPr>
            <p:cNvSpPr/>
            <p:nvPr/>
          </p:nvSpPr>
          <p:spPr>
            <a:xfrm>
              <a:off x="4494981" y="3435851"/>
              <a:ext cx="2915217" cy="2513336"/>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C0BA5738-611C-35DF-9366-D650D10234F0}"/>
                </a:ext>
              </a:extLst>
            </p:cNvPr>
            <p:cNvSpPr/>
            <p:nvPr/>
          </p:nvSpPr>
          <p:spPr>
            <a:xfrm>
              <a:off x="5077744" y="3863742"/>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5" name="Oval 4">
              <a:extLst>
                <a:ext uri="{FF2B5EF4-FFF2-40B4-BE49-F238E27FC236}">
                  <a16:creationId xmlns:a16="http://schemas.microsoft.com/office/drawing/2014/main" id="{33507764-D4E1-D647-B689-FEEB4C29A59A}"/>
                </a:ext>
              </a:extLst>
            </p:cNvPr>
            <p:cNvSpPr/>
            <p:nvPr/>
          </p:nvSpPr>
          <p:spPr>
            <a:xfrm>
              <a:off x="6300587" y="4077102"/>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 name="Oval 5">
              <a:extLst>
                <a:ext uri="{FF2B5EF4-FFF2-40B4-BE49-F238E27FC236}">
                  <a16:creationId xmlns:a16="http://schemas.microsoft.com/office/drawing/2014/main" id="{2245E462-8612-72FF-C8C3-177BDBA0A65A}"/>
                </a:ext>
              </a:extLst>
            </p:cNvPr>
            <p:cNvSpPr/>
            <p:nvPr/>
          </p:nvSpPr>
          <p:spPr>
            <a:xfrm>
              <a:off x="6836187" y="4586941"/>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 name="Oval 6">
              <a:extLst>
                <a:ext uri="{FF2B5EF4-FFF2-40B4-BE49-F238E27FC236}">
                  <a16:creationId xmlns:a16="http://schemas.microsoft.com/office/drawing/2014/main" id="{9D944DD9-06D6-A6D8-D392-5EA2C6362C8F}"/>
                </a:ext>
              </a:extLst>
            </p:cNvPr>
            <p:cNvSpPr/>
            <p:nvPr/>
          </p:nvSpPr>
          <p:spPr>
            <a:xfrm>
              <a:off x="5142203" y="5013661"/>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Oval 8">
              <a:extLst>
                <a:ext uri="{FF2B5EF4-FFF2-40B4-BE49-F238E27FC236}">
                  <a16:creationId xmlns:a16="http://schemas.microsoft.com/office/drawing/2014/main" id="{64B01151-DA44-9EE6-398C-F9CE16C676AA}"/>
                </a:ext>
              </a:extLst>
            </p:cNvPr>
            <p:cNvSpPr/>
            <p:nvPr/>
          </p:nvSpPr>
          <p:spPr>
            <a:xfrm>
              <a:off x="5677175" y="4632649"/>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4D35F718-E12D-8DB8-E907-9293E9120C51}"/>
                </a:ext>
              </a:extLst>
            </p:cNvPr>
            <p:cNvSpPr/>
            <p:nvPr/>
          </p:nvSpPr>
          <p:spPr>
            <a:xfrm>
              <a:off x="6300587" y="3116397"/>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Oval 10">
              <a:extLst>
                <a:ext uri="{FF2B5EF4-FFF2-40B4-BE49-F238E27FC236}">
                  <a16:creationId xmlns:a16="http://schemas.microsoft.com/office/drawing/2014/main" id="{1AEF85F6-4C11-9448-696C-BD09C7A3677B}"/>
                </a:ext>
              </a:extLst>
            </p:cNvPr>
            <p:cNvSpPr/>
            <p:nvPr/>
          </p:nvSpPr>
          <p:spPr>
            <a:xfrm>
              <a:off x="7642443" y="4587122"/>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2" name="Oval 11">
              <a:extLst>
                <a:ext uri="{FF2B5EF4-FFF2-40B4-BE49-F238E27FC236}">
                  <a16:creationId xmlns:a16="http://schemas.microsoft.com/office/drawing/2014/main" id="{E2FBBBA1-8EE6-979E-E28B-5D9D59D1C423}"/>
                </a:ext>
              </a:extLst>
            </p:cNvPr>
            <p:cNvSpPr/>
            <p:nvPr/>
          </p:nvSpPr>
          <p:spPr>
            <a:xfrm>
              <a:off x="4432489" y="5735827"/>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3" name="Straight Connector 12">
              <a:extLst>
                <a:ext uri="{FF2B5EF4-FFF2-40B4-BE49-F238E27FC236}">
                  <a16:creationId xmlns:a16="http://schemas.microsoft.com/office/drawing/2014/main" id="{D20CF444-6AF8-1D8C-EB29-BE3E75831DD7}"/>
                </a:ext>
              </a:extLst>
            </p:cNvPr>
            <p:cNvCxnSpPr>
              <a:cxnSpLocks/>
              <a:stCxn id="5" idx="0"/>
              <a:endCxn id="10" idx="4"/>
            </p:cNvCxnSpPr>
            <p:nvPr/>
          </p:nvCxnSpPr>
          <p:spPr>
            <a:xfrm flipV="1">
              <a:off x="6513947" y="3543117"/>
              <a:ext cx="0" cy="533985"/>
            </a:xfrm>
            <a:prstGeom prst="line">
              <a:avLst/>
            </a:prstGeom>
            <a:ln>
              <a:solidFill>
                <a:schemeClr val="accent3"/>
              </a:solidFill>
            </a:ln>
          </p:spPr>
          <p:style>
            <a:lnRef idx="1">
              <a:schemeClr val="accent2"/>
            </a:lnRef>
            <a:fillRef idx="0">
              <a:schemeClr val="accent2"/>
            </a:fillRef>
            <a:effectRef idx="0">
              <a:schemeClr val="accent2"/>
            </a:effectRef>
            <a:fontRef idx="minor">
              <a:schemeClr val="tx1"/>
            </a:fontRef>
          </p:style>
        </p:cxnSp>
        <p:cxnSp>
          <p:nvCxnSpPr>
            <p:cNvPr id="14" name="Straight Connector 13">
              <a:extLst>
                <a:ext uri="{FF2B5EF4-FFF2-40B4-BE49-F238E27FC236}">
                  <a16:creationId xmlns:a16="http://schemas.microsoft.com/office/drawing/2014/main" id="{7CAF5D74-F0CD-60DA-BA46-3CF1B7C546DA}"/>
                </a:ext>
              </a:extLst>
            </p:cNvPr>
            <p:cNvCxnSpPr>
              <a:cxnSpLocks/>
              <a:stCxn id="6" idx="6"/>
              <a:endCxn id="11" idx="2"/>
            </p:cNvCxnSpPr>
            <p:nvPr/>
          </p:nvCxnSpPr>
          <p:spPr>
            <a:xfrm>
              <a:off x="7262907" y="4800301"/>
              <a:ext cx="379536" cy="181"/>
            </a:xfrm>
            <a:prstGeom prst="line">
              <a:avLst/>
            </a:prstGeom>
            <a:ln>
              <a:solidFill>
                <a:schemeClr val="accent3"/>
              </a:solidFill>
            </a:ln>
          </p:spPr>
          <p:style>
            <a:lnRef idx="1">
              <a:schemeClr val="accent2"/>
            </a:lnRef>
            <a:fillRef idx="0">
              <a:schemeClr val="accent2"/>
            </a:fillRef>
            <a:effectRef idx="0">
              <a:schemeClr val="accent2"/>
            </a:effectRef>
            <a:fontRef idx="minor">
              <a:schemeClr val="tx1"/>
            </a:fontRef>
          </p:style>
        </p:cxnSp>
        <p:cxnSp>
          <p:nvCxnSpPr>
            <p:cNvPr id="15" name="Straight Connector 14">
              <a:extLst>
                <a:ext uri="{FF2B5EF4-FFF2-40B4-BE49-F238E27FC236}">
                  <a16:creationId xmlns:a16="http://schemas.microsoft.com/office/drawing/2014/main" id="{55699E70-B3FC-F8CA-4FB6-3A38CD301401}"/>
                </a:ext>
              </a:extLst>
            </p:cNvPr>
            <p:cNvCxnSpPr>
              <a:cxnSpLocks/>
              <a:stCxn id="7" idx="3"/>
              <a:endCxn id="12" idx="7"/>
            </p:cNvCxnSpPr>
            <p:nvPr/>
          </p:nvCxnSpPr>
          <p:spPr>
            <a:xfrm flipH="1">
              <a:off x="4796717" y="5377889"/>
              <a:ext cx="407978" cy="420430"/>
            </a:xfrm>
            <a:prstGeom prst="line">
              <a:avLst/>
            </a:prstGeom>
            <a:ln>
              <a:solidFill>
                <a:schemeClr val="accent3"/>
              </a:solidFill>
            </a:ln>
          </p:spPr>
          <p:style>
            <a:lnRef idx="1">
              <a:schemeClr val="accent2"/>
            </a:lnRef>
            <a:fillRef idx="0">
              <a:schemeClr val="accent2"/>
            </a:fillRef>
            <a:effectRef idx="0">
              <a:schemeClr val="accent2"/>
            </a:effectRef>
            <a:fontRef idx="minor">
              <a:schemeClr val="tx1"/>
            </a:fontRef>
          </p:style>
        </p:cxnSp>
        <p:sp>
          <p:nvSpPr>
            <p:cNvPr id="16" name="Oval 15">
              <a:extLst>
                <a:ext uri="{FF2B5EF4-FFF2-40B4-BE49-F238E27FC236}">
                  <a16:creationId xmlns:a16="http://schemas.microsoft.com/office/drawing/2014/main" id="{F03C071D-7A43-1FE5-84D8-7EAAAC77C26A}"/>
                </a:ext>
              </a:extLst>
            </p:cNvPr>
            <p:cNvSpPr/>
            <p:nvPr/>
          </p:nvSpPr>
          <p:spPr>
            <a:xfrm>
              <a:off x="7069682" y="2900555"/>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7" name="Oval 16">
              <a:extLst>
                <a:ext uri="{FF2B5EF4-FFF2-40B4-BE49-F238E27FC236}">
                  <a16:creationId xmlns:a16="http://schemas.microsoft.com/office/drawing/2014/main" id="{5C5F2867-0B30-CFEE-8210-BED63A8CA36C}"/>
                </a:ext>
              </a:extLst>
            </p:cNvPr>
            <p:cNvSpPr/>
            <p:nvPr/>
          </p:nvSpPr>
          <p:spPr>
            <a:xfrm>
              <a:off x="8012806" y="5357104"/>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8" name="Oval 17">
              <a:extLst>
                <a:ext uri="{FF2B5EF4-FFF2-40B4-BE49-F238E27FC236}">
                  <a16:creationId xmlns:a16="http://schemas.microsoft.com/office/drawing/2014/main" id="{A1AAE4C1-8622-8CFF-2D4B-0F8363C2500E}"/>
                </a:ext>
              </a:extLst>
            </p:cNvPr>
            <p:cNvSpPr/>
            <p:nvPr/>
          </p:nvSpPr>
          <p:spPr>
            <a:xfrm>
              <a:off x="8069163" y="3863742"/>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9" name="Oval 18">
              <a:extLst>
                <a:ext uri="{FF2B5EF4-FFF2-40B4-BE49-F238E27FC236}">
                  <a16:creationId xmlns:a16="http://schemas.microsoft.com/office/drawing/2014/main" id="{9D29F5F2-F399-B6E0-06BA-A0654181DFE2}"/>
                </a:ext>
              </a:extLst>
            </p:cNvPr>
            <p:cNvSpPr/>
            <p:nvPr/>
          </p:nvSpPr>
          <p:spPr>
            <a:xfrm>
              <a:off x="3823655" y="4951169"/>
              <a:ext cx="426720" cy="42672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49" name="Straight Connector 48">
              <a:extLst>
                <a:ext uri="{FF2B5EF4-FFF2-40B4-BE49-F238E27FC236}">
                  <a16:creationId xmlns:a16="http://schemas.microsoft.com/office/drawing/2014/main" id="{29C6A4BA-4DFC-F9BD-07C8-46498385450A}"/>
                </a:ext>
              </a:extLst>
            </p:cNvPr>
            <p:cNvCxnSpPr>
              <a:cxnSpLocks/>
              <a:stCxn id="9" idx="1"/>
              <a:endCxn id="4" idx="5"/>
            </p:cNvCxnSpPr>
            <p:nvPr/>
          </p:nvCxnSpPr>
          <p:spPr>
            <a:xfrm flipH="1" flipV="1">
              <a:off x="5441972" y="4227970"/>
              <a:ext cx="297695" cy="467171"/>
            </a:xfrm>
            <a:prstGeom prst="line">
              <a:avLst/>
            </a:prstGeom>
          </p:spPr>
          <p:style>
            <a:lnRef idx="1">
              <a:schemeClr val="accent2"/>
            </a:lnRef>
            <a:fillRef idx="0">
              <a:schemeClr val="accent2"/>
            </a:fillRef>
            <a:effectRef idx="0">
              <a:schemeClr val="accent2"/>
            </a:effectRef>
            <a:fontRef idx="minor">
              <a:schemeClr val="tx1"/>
            </a:fontRef>
          </p:style>
        </p:cxnSp>
        <p:cxnSp>
          <p:nvCxnSpPr>
            <p:cNvPr id="52" name="Straight Connector 51">
              <a:extLst>
                <a:ext uri="{FF2B5EF4-FFF2-40B4-BE49-F238E27FC236}">
                  <a16:creationId xmlns:a16="http://schemas.microsoft.com/office/drawing/2014/main" id="{28649CD7-7A58-9D99-D381-66F8F660D6B3}"/>
                </a:ext>
              </a:extLst>
            </p:cNvPr>
            <p:cNvCxnSpPr>
              <a:cxnSpLocks/>
              <a:stCxn id="9" idx="2"/>
              <a:endCxn id="7" idx="7"/>
            </p:cNvCxnSpPr>
            <p:nvPr/>
          </p:nvCxnSpPr>
          <p:spPr>
            <a:xfrm flipH="1">
              <a:off x="5506431" y="4846009"/>
              <a:ext cx="170744" cy="230144"/>
            </a:xfrm>
            <a:prstGeom prst="line">
              <a:avLst/>
            </a:prstGeom>
          </p:spPr>
          <p:style>
            <a:lnRef idx="1">
              <a:schemeClr val="accent2"/>
            </a:lnRef>
            <a:fillRef idx="0">
              <a:schemeClr val="accent2"/>
            </a:fillRef>
            <a:effectRef idx="0">
              <a:schemeClr val="accent2"/>
            </a:effectRef>
            <a:fontRef idx="minor">
              <a:schemeClr val="tx1"/>
            </a:fontRef>
          </p:style>
        </p:cxnSp>
        <p:cxnSp>
          <p:nvCxnSpPr>
            <p:cNvPr id="55" name="Straight Connector 54">
              <a:extLst>
                <a:ext uri="{FF2B5EF4-FFF2-40B4-BE49-F238E27FC236}">
                  <a16:creationId xmlns:a16="http://schemas.microsoft.com/office/drawing/2014/main" id="{98D6B97F-8772-3CA2-9EDF-A78D44D50027}"/>
                </a:ext>
              </a:extLst>
            </p:cNvPr>
            <p:cNvCxnSpPr>
              <a:cxnSpLocks/>
              <a:stCxn id="9" idx="7"/>
              <a:endCxn id="5" idx="3"/>
            </p:cNvCxnSpPr>
            <p:nvPr/>
          </p:nvCxnSpPr>
          <p:spPr>
            <a:xfrm flipV="1">
              <a:off x="6041403" y="4441330"/>
              <a:ext cx="321676" cy="253811"/>
            </a:xfrm>
            <a:prstGeom prst="line">
              <a:avLst/>
            </a:prstGeom>
          </p:spPr>
          <p:style>
            <a:lnRef idx="1">
              <a:schemeClr val="accent2"/>
            </a:lnRef>
            <a:fillRef idx="0">
              <a:schemeClr val="accent2"/>
            </a:fillRef>
            <a:effectRef idx="0">
              <a:schemeClr val="accent2"/>
            </a:effectRef>
            <a:fontRef idx="minor">
              <a:schemeClr val="tx1"/>
            </a:fontRef>
          </p:style>
        </p:cxnSp>
        <p:cxnSp>
          <p:nvCxnSpPr>
            <p:cNvPr id="58" name="Straight Connector 57">
              <a:extLst>
                <a:ext uri="{FF2B5EF4-FFF2-40B4-BE49-F238E27FC236}">
                  <a16:creationId xmlns:a16="http://schemas.microsoft.com/office/drawing/2014/main" id="{7CB5F9F8-C479-D7DF-C9D0-0E9A29D21CC4}"/>
                </a:ext>
              </a:extLst>
            </p:cNvPr>
            <p:cNvCxnSpPr>
              <a:cxnSpLocks/>
              <a:stCxn id="6" idx="1"/>
              <a:endCxn id="5" idx="5"/>
            </p:cNvCxnSpPr>
            <p:nvPr/>
          </p:nvCxnSpPr>
          <p:spPr>
            <a:xfrm flipH="1" flipV="1">
              <a:off x="6664815" y="4441330"/>
              <a:ext cx="233864" cy="208103"/>
            </a:xfrm>
            <a:prstGeom prst="line">
              <a:avLst/>
            </a:prstGeom>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896525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265433"/>
            <a:ext cx="9905998" cy="621807"/>
          </a:xfrm>
        </p:spPr>
        <p:txBody>
          <a:bodyPr/>
          <a:lstStyle/>
          <a:p>
            <a:pPr algn="ctr" eaLnBrk="1" hangingPunct="1"/>
            <a:r>
              <a:rPr lang="en-US" dirty="0"/>
              <a:t>Prim’s Algorithm for MST</a:t>
            </a:r>
          </a:p>
        </p:txBody>
      </p:sp>
      <p:sp>
        <p:nvSpPr>
          <p:cNvPr id="66563" name="Rectangle 3"/>
          <p:cNvSpPr>
            <a:spLocks noGrp="1" noChangeArrowheads="1"/>
          </p:cNvSpPr>
          <p:nvPr>
            <p:ph sz="quarter" idx="1"/>
            <p:custDataLst>
              <p:tags r:id="rId2"/>
            </p:custDataLst>
          </p:nvPr>
        </p:nvSpPr>
        <p:spPr>
          <a:xfrm>
            <a:off x="1018514" y="1706282"/>
            <a:ext cx="10154971" cy="3617159"/>
          </a:xfrm>
          <a:solidFill>
            <a:schemeClr val="tx1">
              <a:lumMod val="95000"/>
            </a:schemeClr>
          </a:solidFill>
          <a:ln>
            <a:solidFill>
              <a:schemeClr val="bg1"/>
            </a:solidFill>
          </a:ln>
        </p:spPr>
        <p:txBody>
          <a:bodyPr>
            <a:normAutofit/>
          </a:bodyPr>
          <a:lstStyle/>
          <a:p>
            <a:pPr marL="0"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Pick any node to be </a:t>
            </a:r>
            <a:r>
              <a:rPr lang="en-US" sz="1800" i="1" dirty="0">
                <a:solidFill>
                  <a:schemeClr val="accent2"/>
                </a:solidFill>
                <a:latin typeface="Courier New" panose="02070309020205020404" pitchFamily="49" charset="0"/>
                <a:cs typeface="Courier New" panose="02070309020205020404" pitchFamily="49" charset="0"/>
              </a:rPr>
              <a:t>root s</a:t>
            </a:r>
          </a:p>
          <a:p>
            <a:pPr marL="0"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Pick the edge (</a:t>
            </a:r>
            <a:r>
              <a:rPr lang="en-US" sz="1800" i="1" dirty="0" err="1">
                <a:solidFill>
                  <a:sysClr val="windowText" lastClr="000000"/>
                </a:solidFill>
                <a:latin typeface="Courier New" panose="02070309020205020404" pitchFamily="49" charset="0"/>
                <a:cs typeface="Courier New" panose="02070309020205020404" pitchFamily="49" charset="0"/>
              </a:rPr>
              <a:t>u,v</a:t>
            </a:r>
            <a:r>
              <a:rPr lang="en-US" sz="1800" i="1" dirty="0">
                <a:solidFill>
                  <a:sysClr val="windowText" lastClr="000000"/>
                </a:solidFill>
                <a:latin typeface="Courier New" panose="02070309020205020404" pitchFamily="49" charset="0"/>
                <a:cs typeface="Courier New" panose="02070309020205020404" pitchFamily="49" charset="0"/>
              </a:rPr>
              <a:t>) where:</a:t>
            </a:r>
          </a:p>
          <a:p>
            <a:pPr marL="457200" lvl="1" indent="0" eaLnBrk="1" hangingPunct="1">
              <a:buNone/>
            </a:pPr>
            <a:r>
              <a:rPr lang="en-US" sz="1800" i="1" dirty="0">
                <a:solidFill>
                  <a:schemeClr val="accent2"/>
                </a:solidFill>
                <a:latin typeface="Courier New" panose="02070309020205020404" pitchFamily="49" charset="0"/>
                <a:cs typeface="Courier New" panose="02070309020205020404" pitchFamily="49" charset="0"/>
              </a:rPr>
              <a:t>u is in the tree</a:t>
            </a:r>
            <a:r>
              <a:rPr lang="en-US" sz="1800" i="1" dirty="0">
                <a:solidFill>
                  <a:sysClr val="windowText" lastClr="000000"/>
                </a:solidFill>
                <a:latin typeface="Courier New" panose="02070309020205020404" pitchFamily="49" charset="0"/>
                <a:cs typeface="Courier New" panose="02070309020205020404" pitchFamily="49" charset="0"/>
              </a:rPr>
              <a:t>, </a:t>
            </a:r>
            <a:r>
              <a:rPr lang="en-US" sz="1800" i="1" dirty="0">
                <a:solidFill>
                  <a:schemeClr val="accent3"/>
                </a:solidFill>
                <a:latin typeface="Courier New" panose="02070309020205020404" pitchFamily="49" charset="0"/>
                <a:cs typeface="Courier New" panose="02070309020205020404" pitchFamily="49" charset="0"/>
              </a:rPr>
              <a:t>v is not </a:t>
            </a:r>
            <a:r>
              <a:rPr lang="en-US" sz="1800" i="1" dirty="0">
                <a:solidFill>
                  <a:sysClr val="windowText" lastClr="000000"/>
                </a:solidFill>
                <a:latin typeface="Courier New" panose="02070309020205020404" pitchFamily="49" charset="0"/>
                <a:cs typeface="Courier New" panose="02070309020205020404" pitchFamily="49" charset="0"/>
              </a:rPr>
              <a:t>AND cost of (</a:t>
            </a:r>
            <a:r>
              <a:rPr lang="en-US" sz="1800" i="1" dirty="0" err="1">
                <a:solidFill>
                  <a:sysClr val="windowText" lastClr="000000"/>
                </a:solidFill>
                <a:latin typeface="Courier New" panose="02070309020205020404" pitchFamily="49" charset="0"/>
                <a:cs typeface="Courier New" panose="02070309020205020404" pitchFamily="49" charset="0"/>
              </a:rPr>
              <a:t>u,v</a:t>
            </a:r>
            <a:r>
              <a:rPr lang="en-US" sz="1800" i="1" dirty="0">
                <a:solidFill>
                  <a:sysClr val="windowText" lastClr="000000"/>
                </a:solidFill>
                <a:latin typeface="Courier New" panose="02070309020205020404" pitchFamily="49" charset="0"/>
                <a:cs typeface="Courier New" panose="02070309020205020404" pitchFamily="49" charset="0"/>
              </a:rPr>
              <a:t>) is as small as possible.</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Add </a:t>
            </a:r>
            <a:r>
              <a:rPr lang="en-US" sz="1800" i="1" dirty="0">
                <a:solidFill>
                  <a:schemeClr val="accent2"/>
                </a:solidFill>
                <a:latin typeface="Courier New" panose="02070309020205020404" pitchFamily="49" charset="0"/>
                <a:cs typeface="Courier New" panose="02070309020205020404" pitchFamily="49" charset="0"/>
              </a:rPr>
              <a:t>v to known set</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For each </a:t>
            </a:r>
            <a:r>
              <a:rPr lang="en-US" sz="1800" i="1" dirty="0">
                <a:solidFill>
                  <a:schemeClr val="accent4"/>
                </a:solidFill>
                <a:latin typeface="Courier New" panose="02070309020205020404" pitchFamily="49" charset="0"/>
                <a:cs typeface="Courier New" panose="02070309020205020404" pitchFamily="49" charset="0"/>
              </a:rPr>
              <a:t>v’ neighbor</a:t>
            </a:r>
            <a:r>
              <a:rPr lang="en-US" sz="1800" i="1" dirty="0">
                <a:solidFill>
                  <a:sysClr val="windowText" lastClr="000000"/>
                </a:solidFill>
                <a:latin typeface="Courier New" panose="02070309020205020404" pitchFamily="49" charset="0"/>
                <a:cs typeface="Courier New" panose="02070309020205020404" pitchFamily="49" charset="0"/>
              </a:rPr>
              <a:t> of v:</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	If edge (</a:t>
            </a:r>
            <a:r>
              <a:rPr lang="en-US" sz="1800" i="1" dirty="0" err="1">
                <a:solidFill>
                  <a:sysClr val="windowText" lastClr="000000"/>
                </a:solidFill>
                <a:latin typeface="Courier New" panose="02070309020205020404" pitchFamily="49" charset="0"/>
                <a:cs typeface="Courier New" panose="02070309020205020404" pitchFamily="49" charset="0"/>
              </a:rPr>
              <a:t>v,v</a:t>
            </a:r>
            <a:r>
              <a:rPr lang="en-US" sz="1800" i="1" dirty="0">
                <a:solidFill>
                  <a:sysClr val="windowText" lastClr="000000"/>
                </a:solidFill>
                <a:latin typeface="Courier New" panose="02070309020205020404" pitchFamily="49" charset="0"/>
                <a:cs typeface="Courier New" panose="02070309020205020404" pitchFamily="49" charset="0"/>
              </a:rPr>
              <a:t>’) is lowest cost to v’ </a:t>
            </a:r>
            <a:br>
              <a:rPr lang="en-US" sz="1800" i="1" dirty="0">
                <a:solidFill>
                  <a:sysClr val="windowText" lastClr="000000"/>
                </a:solidFill>
                <a:latin typeface="Courier New" panose="02070309020205020404" pitchFamily="49" charset="0"/>
                <a:cs typeface="Courier New" panose="02070309020205020404" pitchFamily="49" charset="0"/>
              </a:rPr>
            </a:br>
            <a:r>
              <a:rPr lang="en-US" sz="1800" i="1" dirty="0">
                <a:solidFill>
                  <a:sysClr val="windowText" lastClr="000000"/>
                </a:solidFill>
                <a:latin typeface="Courier New" panose="02070309020205020404" pitchFamily="49" charset="0"/>
                <a:cs typeface="Courier New" panose="02070309020205020404" pitchFamily="49" charset="0"/>
              </a:rPr>
              <a:t>	</a:t>
            </a:r>
            <a:r>
              <a:rPr lang="en-US" sz="1800" i="1" dirty="0">
                <a:solidFill>
                  <a:schemeClr val="accent3"/>
                </a:solidFill>
                <a:latin typeface="Courier New" panose="02070309020205020404" pitchFamily="49" charset="0"/>
                <a:cs typeface="Courier New" panose="02070309020205020404" pitchFamily="49" charset="0"/>
              </a:rPr>
              <a:t>update v’ best edge to be this one</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Repeat until no more nodes can be added</a:t>
            </a:r>
          </a:p>
        </p:txBody>
      </p:sp>
    </p:spTree>
    <p:extLst>
      <p:ext uri="{BB962C8B-B14F-4D97-AF65-F5344CB8AC3E}">
        <p14:creationId xmlns:p14="http://schemas.microsoft.com/office/powerpoint/2010/main" val="21631374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idx="4294967295"/>
            <p:custDataLst>
              <p:tags r:id="rId1"/>
            </p:custDataLst>
          </p:nvPr>
        </p:nvSpPr>
        <p:spPr>
          <a:xfrm>
            <a:off x="1524000" y="274638"/>
            <a:ext cx="9512174" cy="658811"/>
          </a:xfrm>
        </p:spPr>
        <p:txBody>
          <a:bodyPr/>
          <a:lstStyle/>
          <a:p>
            <a:pPr algn="ctr" eaLnBrk="1" hangingPunct="1"/>
            <a:r>
              <a:rPr lang="en-US" dirty="0"/>
              <a:t>Example By Hand</a:t>
            </a:r>
          </a:p>
        </p:txBody>
      </p:sp>
      <p:grpSp>
        <p:nvGrpSpPr>
          <p:cNvPr id="2" name="Group 1">
            <a:extLst>
              <a:ext uri="{FF2B5EF4-FFF2-40B4-BE49-F238E27FC236}">
                <a16:creationId xmlns:a16="http://schemas.microsoft.com/office/drawing/2014/main" id="{A9F88D9F-4207-C830-6C06-75EF98D2343A}"/>
              </a:ext>
            </a:extLst>
          </p:cNvPr>
          <p:cNvGrpSpPr/>
          <p:nvPr/>
        </p:nvGrpSpPr>
        <p:grpSpPr>
          <a:xfrm>
            <a:off x="1204298" y="2064977"/>
            <a:ext cx="3699473" cy="3084115"/>
            <a:chOff x="7710488" y="2454275"/>
            <a:chExt cx="3699473" cy="3084115"/>
          </a:xfrm>
        </p:grpSpPr>
        <mc:AlternateContent xmlns:mc="http://schemas.openxmlformats.org/markup-compatibility/2006" xmlns:a14="http://schemas.microsoft.com/office/drawing/2010/main">
          <mc:Choice Requires="a14">
            <p:sp>
              <p:nvSpPr>
                <p:cNvPr id="3" name="Oval 2">
                  <a:extLst>
                    <a:ext uri="{FF2B5EF4-FFF2-40B4-BE49-F238E27FC236}">
                      <a16:creationId xmlns:a16="http://schemas.microsoft.com/office/drawing/2014/main" id="{12384C0A-02AA-85CD-4C2F-F3EC1E1E1B6F}"/>
                    </a:ext>
                  </a:extLst>
                </p:cNvPr>
                <p:cNvSpPr/>
                <p:nvPr/>
              </p:nvSpPr>
              <p:spPr>
                <a:xfrm>
                  <a:off x="8290323" y="2575321"/>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0</m:t>
                            </m:r>
                          </m:sub>
                        </m:sSub>
                      </m:oMath>
                    </m:oMathPara>
                  </a14:m>
                  <a:endParaRPr lang="en-US" dirty="0"/>
                </a:p>
              </p:txBody>
            </p:sp>
          </mc:Choice>
          <mc:Fallback xmlns="">
            <p:sp>
              <p:nvSpPr>
                <p:cNvPr id="3" name="Oval 2">
                  <a:extLst>
                    <a:ext uri="{FF2B5EF4-FFF2-40B4-BE49-F238E27FC236}">
                      <a16:creationId xmlns:a16="http://schemas.microsoft.com/office/drawing/2014/main" id="{12384C0A-02AA-85CD-4C2F-F3EC1E1E1B6F}"/>
                    </a:ext>
                  </a:extLst>
                </p:cNvPr>
                <p:cNvSpPr>
                  <a:spLocks noRot="1" noChangeAspect="1" noMove="1" noResize="1" noEditPoints="1" noAdjustHandles="1" noChangeArrowheads="1" noChangeShapeType="1" noTextEdit="1"/>
                </p:cNvSpPr>
                <p:nvPr/>
              </p:nvSpPr>
              <p:spPr>
                <a:xfrm>
                  <a:off x="8290323" y="2575321"/>
                  <a:ext cx="465931" cy="465931"/>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5C034221-88ED-7711-F1F9-08ECCE7212D2}"/>
                    </a:ext>
                  </a:extLst>
                </p:cNvPr>
                <p:cNvSpPr/>
                <p:nvPr/>
              </p:nvSpPr>
              <p:spPr>
                <a:xfrm>
                  <a:off x="7710488" y="3698060"/>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2</m:t>
                            </m:r>
                          </m:sub>
                        </m:sSub>
                      </m:oMath>
                    </m:oMathPara>
                  </a14:m>
                  <a:endParaRPr lang="en-US" dirty="0"/>
                </a:p>
              </p:txBody>
            </p:sp>
          </mc:Choice>
          <mc:Fallback xmlns="">
            <p:sp>
              <p:nvSpPr>
                <p:cNvPr id="4" name="Oval 3">
                  <a:extLst>
                    <a:ext uri="{FF2B5EF4-FFF2-40B4-BE49-F238E27FC236}">
                      <a16:creationId xmlns:a16="http://schemas.microsoft.com/office/drawing/2014/main" id="{5C034221-88ED-7711-F1F9-08ECCE7212D2}"/>
                    </a:ext>
                  </a:extLst>
                </p:cNvPr>
                <p:cNvSpPr>
                  <a:spLocks noRot="1" noChangeAspect="1" noMove="1" noResize="1" noEditPoints="1" noAdjustHandles="1" noChangeArrowheads="1" noChangeShapeType="1" noTextEdit="1"/>
                </p:cNvSpPr>
                <p:nvPr/>
              </p:nvSpPr>
              <p:spPr>
                <a:xfrm>
                  <a:off x="7710488" y="3698060"/>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97D2483A-DEF3-EC26-87D4-DD4F1DE828AA}"/>
                    </a:ext>
                  </a:extLst>
                </p:cNvPr>
                <p:cNvSpPr/>
                <p:nvPr/>
              </p:nvSpPr>
              <p:spPr>
                <a:xfrm>
                  <a:off x="9331551" y="3698059"/>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3</m:t>
                            </m:r>
                          </m:sub>
                        </m:sSub>
                      </m:oMath>
                    </m:oMathPara>
                  </a14:m>
                  <a:endParaRPr lang="en-US" dirty="0"/>
                </a:p>
              </p:txBody>
            </p:sp>
          </mc:Choice>
          <mc:Fallback xmlns="">
            <p:sp>
              <p:nvSpPr>
                <p:cNvPr id="5" name="Oval 4">
                  <a:extLst>
                    <a:ext uri="{FF2B5EF4-FFF2-40B4-BE49-F238E27FC236}">
                      <a16:creationId xmlns:a16="http://schemas.microsoft.com/office/drawing/2014/main" id="{97D2483A-DEF3-EC26-87D4-DD4F1DE828AA}"/>
                    </a:ext>
                  </a:extLst>
                </p:cNvPr>
                <p:cNvSpPr>
                  <a:spLocks noRot="1" noChangeAspect="1" noMove="1" noResize="1" noEditPoints="1" noAdjustHandles="1" noChangeArrowheads="1" noChangeShapeType="1" noTextEdit="1"/>
                </p:cNvSpPr>
                <p:nvPr/>
              </p:nvSpPr>
              <p:spPr>
                <a:xfrm>
                  <a:off x="9331551" y="3698059"/>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C57AE43-EB56-8B6B-124F-E2652D6DCB5F}"/>
                    </a:ext>
                  </a:extLst>
                </p:cNvPr>
                <p:cNvSpPr/>
                <p:nvPr/>
              </p:nvSpPr>
              <p:spPr>
                <a:xfrm>
                  <a:off x="10351904" y="2539309"/>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2C57AE43-EB56-8B6B-124F-E2652D6DCB5F}"/>
                    </a:ext>
                  </a:extLst>
                </p:cNvPr>
                <p:cNvSpPr>
                  <a:spLocks noRot="1" noChangeAspect="1" noMove="1" noResize="1" noEditPoints="1" noAdjustHandles="1" noChangeArrowheads="1" noChangeShapeType="1" noTextEdit="1"/>
                </p:cNvSpPr>
                <p:nvPr/>
              </p:nvSpPr>
              <p:spPr>
                <a:xfrm>
                  <a:off x="10351904" y="2539309"/>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FDEBB904-F62B-2280-283F-58BD0E68D10B}"/>
                    </a:ext>
                  </a:extLst>
                </p:cNvPr>
                <p:cNvSpPr/>
                <p:nvPr/>
              </p:nvSpPr>
              <p:spPr>
                <a:xfrm>
                  <a:off x="10909711" y="3687173"/>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4</m:t>
                            </m:r>
                          </m:sub>
                        </m:sSub>
                      </m:oMath>
                    </m:oMathPara>
                  </a14:m>
                  <a:endParaRPr lang="en-US" dirty="0"/>
                </a:p>
              </p:txBody>
            </p:sp>
          </mc:Choice>
          <mc:Fallback xmlns="">
            <p:sp>
              <p:nvSpPr>
                <p:cNvPr id="7" name="Oval 6">
                  <a:extLst>
                    <a:ext uri="{FF2B5EF4-FFF2-40B4-BE49-F238E27FC236}">
                      <a16:creationId xmlns:a16="http://schemas.microsoft.com/office/drawing/2014/main" id="{FDEBB904-F62B-2280-283F-58BD0E68D10B}"/>
                    </a:ext>
                  </a:extLst>
                </p:cNvPr>
                <p:cNvSpPr>
                  <a:spLocks noRot="1" noChangeAspect="1" noMove="1" noResize="1" noEditPoints="1" noAdjustHandles="1" noChangeArrowheads="1" noChangeShapeType="1" noTextEdit="1"/>
                </p:cNvSpPr>
                <p:nvPr/>
              </p:nvSpPr>
              <p:spPr>
                <a:xfrm>
                  <a:off x="10909711" y="3687173"/>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30C5D336-505C-0913-37C2-5423664D30AF}"/>
                    </a:ext>
                  </a:extLst>
                </p:cNvPr>
                <p:cNvSpPr/>
                <p:nvPr/>
              </p:nvSpPr>
              <p:spPr>
                <a:xfrm>
                  <a:off x="8756254" y="5042694"/>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5</m:t>
                            </m:r>
                          </m:sub>
                        </m:sSub>
                      </m:oMath>
                    </m:oMathPara>
                  </a14:m>
                  <a:endParaRPr lang="en-US" dirty="0"/>
                </a:p>
              </p:txBody>
            </p:sp>
          </mc:Choice>
          <mc:Fallback xmlns="">
            <p:sp>
              <p:nvSpPr>
                <p:cNvPr id="8" name="Oval 7">
                  <a:extLst>
                    <a:ext uri="{FF2B5EF4-FFF2-40B4-BE49-F238E27FC236}">
                      <a16:creationId xmlns:a16="http://schemas.microsoft.com/office/drawing/2014/main" id="{30C5D336-505C-0913-37C2-5423664D30AF}"/>
                    </a:ext>
                  </a:extLst>
                </p:cNvPr>
                <p:cNvSpPr>
                  <a:spLocks noRot="1" noChangeAspect="1" noMove="1" noResize="1" noEditPoints="1" noAdjustHandles="1" noChangeArrowheads="1" noChangeShapeType="1" noTextEdit="1"/>
                </p:cNvSpPr>
                <p:nvPr/>
              </p:nvSpPr>
              <p:spPr>
                <a:xfrm>
                  <a:off x="8756254" y="5042694"/>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A317D9D8-0DF1-ECD8-A278-E84709FB1841}"/>
                    </a:ext>
                  </a:extLst>
                </p:cNvPr>
                <p:cNvSpPr/>
                <p:nvPr/>
              </p:nvSpPr>
              <p:spPr>
                <a:xfrm>
                  <a:off x="10446161" y="5072459"/>
                  <a:ext cx="465931" cy="465931"/>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6</m:t>
                            </m:r>
                          </m:sub>
                        </m:sSub>
                      </m:oMath>
                    </m:oMathPara>
                  </a14:m>
                  <a:endParaRPr lang="en-US" dirty="0"/>
                </a:p>
              </p:txBody>
            </p:sp>
          </mc:Choice>
          <mc:Fallback xmlns="">
            <p:sp>
              <p:nvSpPr>
                <p:cNvPr id="9" name="Oval 8">
                  <a:extLst>
                    <a:ext uri="{FF2B5EF4-FFF2-40B4-BE49-F238E27FC236}">
                      <a16:creationId xmlns:a16="http://schemas.microsoft.com/office/drawing/2014/main" id="{A317D9D8-0DF1-ECD8-A278-E84709FB1841}"/>
                    </a:ext>
                  </a:extLst>
                </p:cNvPr>
                <p:cNvSpPr>
                  <a:spLocks noRot="1" noChangeAspect="1" noMove="1" noResize="1" noEditPoints="1" noAdjustHandles="1" noChangeArrowheads="1" noChangeShapeType="1" noTextEdit="1"/>
                </p:cNvSpPr>
                <p:nvPr/>
              </p:nvSpPr>
              <p:spPr>
                <a:xfrm>
                  <a:off x="10446161" y="5072459"/>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p:sp>
          <p:nvSpPr>
            <p:cNvPr id="10" name="Text Box 27">
              <a:extLst>
                <a:ext uri="{FF2B5EF4-FFF2-40B4-BE49-F238E27FC236}">
                  <a16:creationId xmlns:a16="http://schemas.microsoft.com/office/drawing/2014/main" id="{DF2DEB42-A060-E320-2957-4555CE737346}"/>
                </a:ext>
              </a:extLst>
            </p:cNvPr>
            <p:cNvSpPr txBox="1">
              <a:spLocks noChangeArrowheads="1"/>
            </p:cNvSpPr>
            <p:nvPr>
              <p:custDataLst>
                <p:tags r:id="rId2"/>
              </p:custDataLst>
            </p:nvPr>
          </p:nvSpPr>
          <p:spPr bwMode="auto">
            <a:xfrm>
              <a:off x="7821702" y="3021806"/>
              <a:ext cx="306494" cy="369332"/>
            </a:xfrm>
            <a:prstGeom prst="rect">
              <a:avLst/>
            </a:prstGeom>
            <a:noFill/>
            <a:ln w="9525">
              <a:noFill/>
              <a:miter lim="800000"/>
              <a:headEnd/>
              <a:tailEnd/>
            </a:ln>
          </p:spPr>
          <p:txBody>
            <a:bodyPr wrap="none">
              <a:spAutoFit/>
            </a:bodyPr>
            <a:lstStyle/>
            <a:p>
              <a:r>
                <a:rPr lang="en-US" b="1" dirty="0"/>
                <a:t>4</a:t>
              </a:r>
            </a:p>
          </p:txBody>
        </p:sp>
        <p:sp>
          <p:nvSpPr>
            <p:cNvPr id="11" name="Text Box 27">
              <a:extLst>
                <a:ext uri="{FF2B5EF4-FFF2-40B4-BE49-F238E27FC236}">
                  <a16:creationId xmlns:a16="http://schemas.microsoft.com/office/drawing/2014/main" id="{48F6C14A-0536-076B-8094-34739EABC464}"/>
                </a:ext>
              </a:extLst>
            </p:cNvPr>
            <p:cNvSpPr txBox="1">
              <a:spLocks noChangeArrowheads="1"/>
            </p:cNvSpPr>
            <p:nvPr>
              <p:custDataLst>
                <p:tags r:id="rId3"/>
              </p:custDataLst>
            </p:nvPr>
          </p:nvSpPr>
          <p:spPr bwMode="auto">
            <a:xfrm>
              <a:off x="9011443" y="3070851"/>
              <a:ext cx="306494" cy="369332"/>
            </a:xfrm>
            <a:prstGeom prst="rect">
              <a:avLst/>
            </a:prstGeom>
            <a:noFill/>
            <a:ln w="9525">
              <a:noFill/>
              <a:miter lim="800000"/>
              <a:headEnd/>
              <a:tailEnd/>
            </a:ln>
          </p:spPr>
          <p:txBody>
            <a:bodyPr wrap="none">
              <a:spAutoFit/>
            </a:bodyPr>
            <a:lstStyle/>
            <a:p>
              <a:r>
                <a:rPr lang="en-US" b="1" dirty="0"/>
                <a:t>1</a:t>
              </a:r>
            </a:p>
          </p:txBody>
        </p:sp>
        <p:sp>
          <p:nvSpPr>
            <p:cNvPr id="12" name="Text Box 27">
              <a:extLst>
                <a:ext uri="{FF2B5EF4-FFF2-40B4-BE49-F238E27FC236}">
                  <a16:creationId xmlns:a16="http://schemas.microsoft.com/office/drawing/2014/main" id="{5D757C54-AE26-B132-8420-FB0A0685825A}"/>
                </a:ext>
              </a:extLst>
            </p:cNvPr>
            <p:cNvSpPr txBox="1">
              <a:spLocks noChangeArrowheads="1"/>
            </p:cNvSpPr>
            <p:nvPr>
              <p:custDataLst>
                <p:tags r:id="rId4"/>
              </p:custDataLst>
            </p:nvPr>
          </p:nvSpPr>
          <p:spPr bwMode="auto">
            <a:xfrm>
              <a:off x="9363922" y="2454275"/>
              <a:ext cx="336550" cy="457200"/>
            </a:xfrm>
            <a:prstGeom prst="rect">
              <a:avLst/>
            </a:prstGeom>
            <a:noFill/>
            <a:ln w="9525">
              <a:noFill/>
              <a:miter lim="800000"/>
              <a:headEnd/>
              <a:tailEnd/>
            </a:ln>
          </p:spPr>
          <p:txBody>
            <a:bodyPr wrap="none">
              <a:spAutoFit/>
            </a:bodyPr>
            <a:lstStyle/>
            <a:p>
              <a:r>
                <a:rPr lang="en-US" b="1" dirty="0"/>
                <a:t>2</a:t>
              </a:r>
            </a:p>
          </p:txBody>
        </p:sp>
        <p:sp>
          <p:nvSpPr>
            <p:cNvPr id="13" name="Text Box 27">
              <a:extLst>
                <a:ext uri="{FF2B5EF4-FFF2-40B4-BE49-F238E27FC236}">
                  <a16:creationId xmlns:a16="http://schemas.microsoft.com/office/drawing/2014/main" id="{F38CFE29-BD4A-F218-7472-5C963F39F2A1}"/>
                </a:ext>
              </a:extLst>
            </p:cNvPr>
            <p:cNvSpPr txBox="1">
              <a:spLocks noChangeArrowheads="1"/>
            </p:cNvSpPr>
            <p:nvPr>
              <p:custDataLst>
                <p:tags r:id="rId5"/>
              </p:custDataLst>
            </p:nvPr>
          </p:nvSpPr>
          <p:spPr bwMode="auto">
            <a:xfrm>
              <a:off x="8523288" y="3582625"/>
              <a:ext cx="306494" cy="369332"/>
            </a:xfrm>
            <a:prstGeom prst="rect">
              <a:avLst/>
            </a:prstGeom>
            <a:noFill/>
            <a:ln w="9525">
              <a:noFill/>
              <a:miter lim="800000"/>
              <a:headEnd/>
              <a:tailEnd/>
            </a:ln>
          </p:spPr>
          <p:txBody>
            <a:bodyPr wrap="none">
              <a:spAutoFit/>
            </a:bodyPr>
            <a:lstStyle/>
            <a:p>
              <a:r>
                <a:rPr lang="en-US" b="1" dirty="0"/>
                <a:t>2</a:t>
              </a:r>
            </a:p>
          </p:txBody>
        </p:sp>
        <p:sp>
          <p:nvSpPr>
            <p:cNvPr id="14" name="Text Box 27">
              <a:extLst>
                <a:ext uri="{FF2B5EF4-FFF2-40B4-BE49-F238E27FC236}">
                  <a16:creationId xmlns:a16="http://schemas.microsoft.com/office/drawing/2014/main" id="{D1C1A06D-4098-F689-1B40-7E143F16F409}"/>
                </a:ext>
              </a:extLst>
            </p:cNvPr>
            <p:cNvSpPr txBox="1">
              <a:spLocks noChangeArrowheads="1"/>
            </p:cNvSpPr>
            <p:nvPr>
              <p:custDataLst>
                <p:tags r:id="rId6"/>
              </p:custDataLst>
            </p:nvPr>
          </p:nvSpPr>
          <p:spPr bwMode="auto">
            <a:xfrm>
              <a:off x="10981639" y="3054171"/>
              <a:ext cx="428322" cy="369332"/>
            </a:xfrm>
            <a:prstGeom prst="rect">
              <a:avLst/>
            </a:prstGeom>
            <a:noFill/>
            <a:ln w="9525">
              <a:noFill/>
              <a:miter lim="800000"/>
              <a:headEnd/>
              <a:tailEnd/>
            </a:ln>
          </p:spPr>
          <p:txBody>
            <a:bodyPr wrap="none">
              <a:spAutoFit/>
            </a:bodyPr>
            <a:lstStyle/>
            <a:p>
              <a:r>
                <a:rPr lang="en-US" b="1" dirty="0"/>
                <a:t>10</a:t>
              </a:r>
            </a:p>
          </p:txBody>
        </p:sp>
        <p:sp>
          <p:nvSpPr>
            <p:cNvPr id="15" name="Text Box 27">
              <a:extLst>
                <a:ext uri="{FF2B5EF4-FFF2-40B4-BE49-F238E27FC236}">
                  <a16:creationId xmlns:a16="http://schemas.microsoft.com/office/drawing/2014/main" id="{4FF786A8-117F-5D3A-CA24-5759796BA918}"/>
                </a:ext>
              </a:extLst>
            </p:cNvPr>
            <p:cNvSpPr txBox="1">
              <a:spLocks noChangeArrowheads="1"/>
            </p:cNvSpPr>
            <p:nvPr>
              <p:custDataLst>
                <p:tags r:id="rId7"/>
              </p:custDataLst>
            </p:nvPr>
          </p:nvSpPr>
          <p:spPr bwMode="auto">
            <a:xfrm>
              <a:off x="10282142" y="3557036"/>
              <a:ext cx="306494" cy="369332"/>
            </a:xfrm>
            <a:prstGeom prst="rect">
              <a:avLst/>
            </a:prstGeom>
            <a:noFill/>
            <a:ln w="9525">
              <a:noFill/>
              <a:miter lim="800000"/>
              <a:headEnd/>
              <a:tailEnd/>
            </a:ln>
          </p:spPr>
          <p:txBody>
            <a:bodyPr wrap="none">
              <a:spAutoFit/>
            </a:bodyPr>
            <a:lstStyle/>
            <a:p>
              <a:r>
                <a:rPr lang="en-US" b="1" dirty="0"/>
                <a:t>7</a:t>
              </a:r>
            </a:p>
          </p:txBody>
        </p:sp>
        <p:sp>
          <p:nvSpPr>
            <p:cNvPr id="16" name="Text Box 27">
              <a:extLst>
                <a:ext uri="{FF2B5EF4-FFF2-40B4-BE49-F238E27FC236}">
                  <a16:creationId xmlns:a16="http://schemas.microsoft.com/office/drawing/2014/main" id="{99FD5538-2902-99ED-CF27-F1D5C7D33DBF}"/>
                </a:ext>
              </a:extLst>
            </p:cNvPr>
            <p:cNvSpPr txBox="1">
              <a:spLocks noChangeArrowheads="1"/>
            </p:cNvSpPr>
            <p:nvPr>
              <p:custDataLst>
                <p:tags r:id="rId8"/>
              </p:custDataLst>
            </p:nvPr>
          </p:nvSpPr>
          <p:spPr bwMode="auto">
            <a:xfrm>
              <a:off x="8077995" y="4425950"/>
              <a:ext cx="306494" cy="369332"/>
            </a:xfrm>
            <a:prstGeom prst="rect">
              <a:avLst/>
            </a:prstGeom>
            <a:noFill/>
            <a:ln w="9525">
              <a:noFill/>
              <a:miter lim="800000"/>
              <a:headEnd/>
              <a:tailEnd/>
            </a:ln>
          </p:spPr>
          <p:txBody>
            <a:bodyPr wrap="none">
              <a:spAutoFit/>
            </a:bodyPr>
            <a:lstStyle/>
            <a:p>
              <a:r>
                <a:rPr lang="en-US" b="1" dirty="0"/>
                <a:t>5</a:t>
              </a:r>
            </a:p>
          </p:txBody>
        </p:sp>
        <p:sp>
          <p:nvSpPr>
            <p:cNvPr id="17" name="Text Box 27">
              <a:extLst>
                <a:ext uri="{FF2B5EF4-FFF2-40B4-BE49-F238E27FC236}">
                  <a16:creationId xmlns:a16="http://schemas.microsoft.com/office/drawing/2014/main" id="{7ED96084-7E84-5314-A4C4-05070CED5B58}"/>
                </a:ext>
              </a:extLst>
            </p:cNvPr>
            <p:cNvSpPr txBox="1">
              <a:spLocks noChangeArrowheads="1"/>
            </p:cNvSpPr>
            <p:nvPr>
              <p:custDataLst>
                <p:tags r:id="rId9"/>
              </p:custDataLst>
            </p:nvPr>
          </p:nvSpPr>
          <p:spPr bwMode="auto">
            <a:xfrm>
              <a:off x="8878463" y="4216400"/>
              <a:ext cx="306494" cy="369332"/>
            </a:xfrm>
            <a:prstGeom prst="rect">
              <a:avLst/>
            </a:prstGeom>
            <a:noFill/>
            <a:ln w="9525">
              <a:noFill/>
              <a:miter lim="800000"/>
              <a:headEnd/>
              <a:tailEnd/>
            </a:ln>
          </p:spPr>
          <p:txBody>
            <a:bodyPr wrap="none">
              <a:spAutoFit/>
            </a:bodyPr>
            <a:lstStyle/>
            <a:p>
              <a:r>
                <a:rPr lang="en-US" b="1" dirty="0"/>
                <a:t>8</a:t>
              </a:r>
            </a:p>
          </p:txBody>
        </p:sp>
        <p:sp>
          <p:nvSpPr>
            <p:cNvPr id="18" name="Text Box 27">
              <a:extLst>
                <a:ext uri="{FF2B5EF4-FFF2-40B4-BE49-F238E27FC236}">
                  <a16:creationId xmlns:a16="http://schemas.microsoft.com/office/drawing/2014/main" id="{0C343D46-BFD4-12DE-3DDE-F207D979BD16}"/>
                </a:ext>
              </a:extLst>
            </p:cNvPr>
            <p:cNvSpPr txBox="1">
              <a:spLocks noChangeArrowheads="1"/>
            </p:cNvSpPr>
            <p:nvPr>
              <p:custDataLst>
                <p:tags r:id="rId10"/>
              </p:custDataLst>
            </p:nvPr>
          </p:nvSpPr>
          <p:spPr bwMode="auto">
            <a:xfrm>
              <a:off x="10056458" y="4228940"/>
              <a:ext cx="306494" cy="369332"/>
            </a:xfrm>
            <a:prstGeom prst="rect">
              <a:avLst/>
            </a:prstGeom>
            <a:noFill/>
            <a:ln w="9525">
              <a:noFill/>
              <a:miter lim="800000"/>
              <a:headEnd/>
              <a:tailEnd/>
            </a:ln>
          </p:spPr>
          <p:txBody>
            <a:bodyPr wrap="none">
              <a:spAutoFit/>
            </a:bodyPr>
            <a:lstStyle/>
            <a:p>
              <a:r>
                <a:rPr lang="en-US" b="1" dirty="0"/>
                <a:t>4</a:t>
              </a:r>
            </a:p>
          </p:txBody>
        </p:sp>
        <p:sp>
          <p:nvSpPr>
            <p:cNvPr id="19" name="Text Box 27">
              <a:extLst>
                <a:ext uri="{FF2B5EF4-FFF2-40B4-BE49-F238E27FC236}">
                  <a16:creationId xmlns:a16="http://schemas.microsoft.com/office/drawing/2014/main" id="{CF74C15B-1A9C-0356-D56B-42ECE26581F3}"/>
                </a:ext>
              </a:extLst>
            </p:cNvPr>
            <p:cNvSpPr txBox="1">
              <a:spLocks noChangeArrowheads="1"/>
            </p:cNvSpPr>
            <p:nvPr>
              <p:custDataLst>
                <p:tags r:id="rId11"/>
              </p:custDataLst>
            </p:nvPr>
          </p:nvSpPr>
          <p:spPr bwMode="auto">
            <a:xfrm>
              <a:off x="11031552" y="4543425"/>
              <a:ext cx="306494" cy="369332"/>
            </a:xfrm>
            <a:prstGeom prst="rect">
              <a:avLst/>
            </a:prstGeom>
            <a:noFill/>
            <a:ln w="9525">
              <a:noFill/>
              <a:miter lim="800000"/>
              <a:headEnd/>
              <a:tailEnd/>
            </a:ln>
          </p:spPr>
          <p:txBody>
            <a:bodyPr wrap="none">
              <a:spAutoFit/>
            </a:bodyPr>
            <a:lstStyle/>
            <a:p>
              <a:r>
                <a:rPr lang="en-US" b="1" dirty="0"/>
                <a:t>6</a:t>
              </a:r>
            </a:p>
          </p:txBody>
        </p:sp>
        <p:sp>
          <p:nvSpPr>
            <p:cNvPr id="20" name="Text Box 27">
              <a:extLst>
                <a:ext uri="{FF2B5EF4-FFF2-40B4-BE49-F238E27FC236}">
                  <a16:creationId xmlns:a16="http://schemas.microsoft.com/office/drawing/2014/main" id="{38D6A3E6-D1D2-DEBB-4447-4095E08ACFC3}"/>
                </a:ext>
              </a:extLst>
            </p:cNvPr>
            <p:cNvSpPr txBox="1">
              <a:spLocks noChangeArrowheads="1"/>
            </p:cNvSpPr>
            <p:nvPr>
              <p:custDataLst>
                <p:tags r:id="rId12"/>
              </p:custDataLst>
            </p:nvPr>
          </p:nvSpPr>
          <p:spPr bwMode="auto">
            <a:xfrm>
              <a:off x="9583935" y="4912093"/>
              <a:ext cx="306494" cy="369332"/>
            </a:xfrm>
            <a:prstGeom prst="rect">
              <a:avLst/>
            </a:prstGeom>
            <a:noFill/>
            <a:ln w="9525">
              <a:noFill/>
              <a:miter lim="800000"/>
              <a:headEnd/>
              <a:tailEnd/>
            </a:ln>
          </p:spPr>
          <p:txBody>
            <a:bodyPr wrap="none">
              <a:spAutoFit/>
            </a:bodyPr>
            <a:lstStyle/>
            <a:p>
              <a:r>
                <a:rPr lang="en-US" b="1" dirty="0"/>
                <a:t>1</a:t>
              </a:r>
            </a:p>
          </p:txBody>
        </p:sp>
        <p:sp>
          <p:nvSpPr>
            <p:cNvPr id="21" name="Text Box 27">
              <a:extLst>
                <a:ext uri="{FF2B5EF4-FFF2-40B4-BE49-F238E27FC236}">
                  <a16:creationId xmlns:a16="http://schemas.microsoft.com/office/drawing/2014/main" id="{BDB3805C-A620-FF4A-8FF3-EF379F52FAC9}"/>
                </a:ext>
              </a:extLst>
            </p:cNvPr>
            <p:cNvSpPr txBox="1">
              <a:spLocks noChangeArrowheads="1"/>
            </p:cNvSpPr>
            <p:nvPr>
              <p:custDataLst>
                <p:tags r:id="rId13"/>
              </p:custDataLst>
            </p:nvPr>
          </p:nvSpPr>
          <p:spPr bwMode="auto">
            <a:xfrm>
              <a:off x="9747513" y="3054171"/>
              <a:ext cx="306494" cy="369332"/>
            </a:xfrm>
            <a:prstGeom prst="rect">
              <a:avLst/>
            </a:prstGeom>
            <a:noFill/>
            <a:ln w="9525">
              <a:noFill/>
              <a:miter lim="800000"/>
              <a:headEnd/>
              <a:tailEnd/>
            </a:ln>
          </p:spPr>
          <p:txBody>
            <a:bodyPr wrap="square">
              <a:spAutoFit/>
            </a:bodyPr>
            <a:lstStyle/>
            <a:p>
              <a:r>
                <a:rPr lang="en-US" b="1" dirty="0"/>
                <a:t>3</a:t>
              </a:r>
            </a:p>
          </p:txBody>
        </p:sp>
        <p:cxnSp>
          <p:nvCxnSpPr>
            <p:cNvPr id="22" name="Straight Connector 21">
              <a:extLst>
                <a:ext uri="{FF2B5EF4-FFF2-40B4-BE49-F238E27FC236}">
                  <a16:creationId xmlns:a16="http://schemas.microsoft.com/office/drawing/2014/main" id="{4964A906-A7FA-0396-C096-DF95C4A67F6D}"/>
                </a:ext>
              </a:extLst>
            </p:cNvPr>
            <p:cNvCxnSpPr>
              <a:stCxn id="3" idx="6"/>
              <a:endCxn id="6" idx="2"/>
            </p:cNvCxnSpPr>
            <p:nvPr/>
          </p:nvCxnSpPr>
          <p:spPr>
            <a:xfrm flipV="1">
              <a:off x="8756254" y="2772275"/>
              <a:ext cx="1595650" cy="36012"/>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7DEA69B-4605-5524-5CD6-599D53F0FF6F}"/>
                </a:ext>
              </a:extLst>
            </p:cNvPr>
            <p:cNvCxnSpPr>
              <a:cxnSpLocks/>
              <a:stCxn id="3" idx="3"/>
              <a:endCxn id="4" idx="0"/>
            </p:cNvCxnSpPr>
            <p:nvPr/>
          </p:nvCxnSpPr>
          <p:spPr>
            <a:xfrm flipH="1">
              <a:off x="7943454" y="2973018"/>
              <a:ext cx="415103" cy="725042"/>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0582FF7-9680-BD5B-EDDF-B09E4FCD5CCC}"/>
                </a:ext>
              </a:extLst>
            </p:cNvPr>
            <p:cNvCxnSpPr>
              <a:cxnSpLocks/>
              <a:stCxn id="8" idx="1"/>
              <a:endCxn id="4" idx="5"/>
            </p:cNvCxnSpPr>
            <p:nvPr/>
          </p:nvCxnSpPr>
          <p:spPr>
            <a:xfrm flipH="1" flipV="1">
              <a:off x="8108185" y="4095757"/>
              <a:ext cx="716303" cy="101517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D0395218-06D5-01BF-D1AD-B83697CF58B4}"/>
                </a:ext>
              </a:extLst>
            </p:cNvPr>
            <p:cNvCxnSpPr>
              <a:cxnSpLocks/>
              <a:stCxn id="8" idx="6"/>
              <a:endCxn id="9" idx="2"/>
            </p:cNvCxnSpPr>
            <p:nvPr/>
          </p:nvCxnSpPr>
          <p:spPr>
            <a:xfrm>
              <a:off x="9222185" y="5275660"/>
              <a:ext cx="1223976" cy="29765"/>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2BCFA82-3895-35D8-4418-A26EA64B7F52}"/>
                </a:ext>
              </a:extLst>
            </p:cNvPr>
            <p:cNvCxnSpPr>
              <a:cxnSpLocks/>
              <a:stCxn id="9" idx="7"/>
              <a:endCxn id="7" idx="4"/>
            </p:cNvCxnSpPr>
            <p:nvPr/>
          </p:nvCxnSpPr>
          <p:spPr>
            <a:xfrm flipV="1">
              <a:off x="10843858" y="4153104"/>
              <a:ext cx="298819" cy="987589"/>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006DAFA8-D748-95A8-93CB-5D38E82818B1}"/>
                </a:ext>
              </a:extLst>
            </p:cNvPr>
            <p:cNvCxnSpPr>
              <a:cxnSpLocks/>
              <a:stCxn id="7" idx="0"/>
              <a:endCxn id="6" idx="5"/>
            </p:cNvCxnSpPr>
            <p:nvPr/>
          </p:nvCxnSpPr>
          <p:spPr>
            <a:xfrm flipH="1" flipV="1">
              <a:off x="10749601" y="2937006"/>
              <a:ext cx="393076" cy="750167"/>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F563EA9-328E-0F57-6F30-01F740EAE720}"/>
                </a:ext>
              </a:extLst>
            </p:cNvPr>
            <p:cNvCxnSpPr>
              <a:cxnSpLocks/>
              <a:stCxn id="6" idx="3"/>
              <a:endCxn id="5" idx="7"/>
            </p:cNvCxnSpPr>
            <p:nvPr/>
          </p:nvCxnSpPr>
          <p:spPr>
            <a:xfrm flipH="1">
              <a:off x="9729248" y="2937006"/>
              <a:ext cx="690890" cy="829287"/>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5D85D2E1-5B56-B7A8-62C9-2A8AFE566A8A}"/>
                </a:ext>
              </a:extLst>
            </p:cNvPr>
            <p:cNvCxnSpPr>
              <a:cxnSpLocks/>
              <a:stCxn id="5" idx="1"/>
              <a:endCxn id="3" idx="5"/>
            </p:cNvCxnSpPr>
            <p:nvPr/>
          </p:nvCxnSpPr>
          <p:spPr>
            <a:xfrm flipH="1" flipV="1">
              <a:off x="8688020" y="2973018"/>
              <a:ext cx="711765" cy="793275"/>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6F67260D-5068-E4C5-8376-5B5C902CE78A}"/>
                </a:ext>
              </a:extLst>
            </p:cNvPr>
            <p:cNvCxnSpPr>
              <a:cxnSpLocks/>
              <a:stCxn id="5" idx="2"/>
              <a:endCxn id="4" idx="6"/>
            </p:cNvCxnSpPr>
            <p:nvPr/>
          </p:nvCxnSpPr>
          <p:spPr>
            <a:xfrm flipH="1">
              <a:off x="8176419" y="3931025"/>
              <a:ext cx="1155132" cy="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953F233-E917-70DC-61AD-F1B699F3A639}"/>
                </a:ext>
              </a:extLst>
            </p:cNvPr>
            <p:cNvCxnSpPr>
              <a:cxnSpLocks/>
              <a:stCxn id="5" idx="3"/>
              <a:endCxn id="8" idx="0"/>
            </p:cNvCxnSpPr>
            <p:nvPr/>
          </p:nvCxnSpPr>
          <p:spPr>
            <a:xfrm flipH="1">
              <a:off x="8989220" y="4095756"/>
              <a:ext cx="410565" cy="946938"/>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9636C40-28BA-9E3C-D38A-B466E7A47E59}"/>
                </a:ext>
              </a:extLst>
            </p:cNvPr>
            <p:cNvCxnSpPr>
              <a:cxnSpLocks/>
              <a:stCxn id="5" idx="5"/>
              <a:endCxn id="9" idx="1"/>
            </p:cNvCxnSpPr>
            <p:nvPr/>
          </p:nvCxnSpPr>
          <p:spPr>
            <a:xfrm>
              <a:off x="9729248" y="4095756"/>
              <a:ext cx="785147" cy="1044937"/>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2BC01DE-00D5-4773-9A16-EE3E0FC49A16}"/>
                </a:ext>
              </a:extLst>
            </p:cNvPr>
            <p:cNvCxnSpPr>
              <a:cxnSpLocks/>
              <a:stCxn id="5" idx="6"/>
              <a:endCxn id="7" idx="2"/>
            </p:cNvCxnSpPr>
            <p:nvPr/>
          </p:nvCxnSpPr>
          <p:spPr>
            <a:xfrm flipV="1">
              <a:off x="9797482" y="3920139"/>
              <a:ext cx="1112229" cy="10886"/>
            </a:xfrm>
            <a:prstGeom prst="line">
              <a:avLst/>
            </a:prstGeom>
            <a:ln w="1905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016301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Rectangle 2"/>
          <p:cNvSpPr>
            <a:spLocks noGrp="1" noChangeArrowheads="1"/>
          </p:cNvSpPr>
          <p:nvPr>
            <p:ph type="title"/>
            <p:custDataLst>
              <p:tags r:id="rId1"/>
            </p:custDataLst>
          </p:nvPr>
        </p:nvSpPr>
        <p:spPr>
          <a:xfrm>
            <a:off x="1141412" y="301991"/>
            <a:ext cx="9905998" cy="603700"/>
          </a:xfrm>
        </p:spPr>
        <p:txBody>
          <a:bodyPr/>
          <a:lstStyle/>
          <a:p>
            <a:pPr algn="ctr"/>
            <a:r>
              <a:rPr lang="en-US" dirty="0"/>
              <a:t>Prim’s Algorithm</a:t>
            </a:r>
          </a:p>
        </p:txBody>
      </p:sp>
      <p:sp>
        <p:nvSpPr>
          <p:cNvPr id="2" name="Rectangle 2">
            <a:extLst>
              <a:ext uri="{FF2B5EF4-FFF2-40B4-BE49-F238E27FC236}">
                <a16:creationId xmlns:a16="http://schemas.microsoft.com/office/drawing/2014/main" id="{6CED9B50-FDC8-A5F3-9AD3-F79E98A95CBC}"/>
              </a:ext>
            </a:extLst>
          </p:cNvPr>
          <p:cNvSpPr txBox="1">
            <a:spLocks noChangeArrowheads="1"/>
          </p:cNvSpPr>
          <p:nvPr>
            <p:custDataLst>
              <p:tags r:id="rId2"/>
            </p:custDataLst>
          </p:nvPr>
        </p:nvSpPr>
        <p:spPr>
          <a:xfrm>
            <a:off x="2794785" y="1229485"/>
            <a:ext cx="6599251" cy="5037909"/>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600" b="1" dirty="0">
                <a:solidFill>
                  <a:schemeClr val="bg1"/>
                </a:solidFill>
                <a:latin typeface="Courier New" pitchFamily="49" charset="0"/>
              </a:rPr>
              <a:t>prim(G, s):</a:t>
            </a:r>
          </a:p>
          <a:p>
            <a:pPr>
              <a:lnSpc>
                <a:spcPct val="80000"/>
              </a:lnSpc>
              <a:buFont typeface="Monotype Sorts" charset="2"/>
              <a:buNone/>
            </a:pPr>
            <a:r>
              <a:rPr lang="en-US" sz="1600" b="1" dirty="0">
                <a:solidFill>
                  <a:schemeClr val="bg1"/>
                </a:solidFill>
                <a:latin typeface="Courier New" pitchFamily="49" charset="0"/>
              </a:rPr>
              <a:t>1. </a:t>
            </a:r>
            <a:r>
              <a:rPr lang="en-US" sz="1600" b="1" dirty="0" err="1">
                <a:solidFill>
                  <a:schemeClr val="accent3"/>
                </a:solidFill>
                <a:latin typeface="Courier New" pitchFamily="49" charset="0"/>
              </a:rPr>
              <a:t>init</a:t>
            </a:r>
            <a:r>
              <a:rPr lang="en-US" sz="1600" b="1" dirty="0">
                <a:solidFill>
                  <a:schemeClr val="accent3"/>
                </a:solidFill>
                <a:latin typeface="Courier New" pitchFamily="49" charset="0"/>
              </a:rPr>
              <a:t> PQ to be empty</a:t>
            </a:r>
          </a:p>
          <a:p>
            <a:pPr>
              <a:lnSpc>
                <a:spcPct val="80000"/>
              </a:lnSpc>
              <a:buFont typeface="Monotype Sorts" charset="2"/>
              <a:buNone/>
            </a:pPr>
            <a:r>
              <a:rPr lang="en-US" sz="1600" b="1" dirty="0">
                <a:solidFill>
                  <a:schemeClr val="bg1"/>
                </a:solidFill>
                <a:latin typeface="Courier New" pitchFamily="49" charset="0"/>
              </a:rPr>
              <a:t>2. </a:t>
            </a:r>
            <a:r>
              <a:rPr lang="en-US" sz="1600" b="1" dirty="0" err="1">
                <a:solidFill>
                  <a:schemeClr val="accent3"/>
                </a:solidFill>
                <a:latin typeface="Courier New" pitchFamily="49" charset="0"/>
              </a:rPr>
              <a:t>PQ.Insert</a:t>
            </a:r>
            <a:r>
              <a:rPr lang="en-US" sz="1600" b="1" dirty="0">
                <a:solidFill>
                  <a:schemeClr val="accent3"/>
                </a:solidFill>
                <a:latin typeface="Courier New" pitchFamily="49" charset="0"/>
              </a:rPr>
              <a:t>(s, </a:t>
            </a:r>
            <a:r>
              <a:rPr lang="en-US" sz="1600" b="1" dirty="0" err="1">
                <a:solidFill>
                  <a:schemeClr val="accent3"/>
                </a:solidFill>
                <a:latin typeface="Courier New" pitchFamily="49" charset="0"/>
              </a:rPr>
              <a:t>wt</a:t>
            </a:r>
            <a:r>
              <a:rPr lang="en-US" sz="1600" b="1" dirty="0">
                <a:solidFill>
                  <a:schemeClr val="accent3"/>
                </a:solidFill>
                <a:latin typeface="Courier New" pitchFamily="49" charset="0"/>
              </a:rPr>
              <a:t>=0)</a:t>
            </a:r>
          </a:p>
          <a:p>
            <a:pPr>
              <a:lnSpc>
                <a:spcPct val="80000"/>
              </a:lnSpc>
              <a:buFont typeface="Monotype Sorts" charset="2"/>
              <a:buNone/>
            </a:pPr>
            <a:r>
              <a:rPr lang="en-US" sz="1600" b="1" dirty="0">
                <a:solidFill>
                  <a:schemeClr val="bg1"/>
                </a:solidFill>
                <a:latin typeface="Courier New" pitchFamily="49" charset="0"/>
                <a:sym typeface="Symbol" pitchFamily="18" charset="2"/>
              </a:rPr>
              <a:t>3. parent[s] = NULL;</a:t>
            </a:r>
          </a:p>
          <a:p>
            <a:pPr>
              <a:lnSpc>
                <a:spcPct val="80000"/>
              </a:lnSpc>
              <a:buFont typeface="Monotype Sorts" charset="2"/>
              <a:buNone/>
            </a:pPr>
            <a:r>
              <a:rPr lang="en-US" sz="1600" b="1" dirty="0">
                <a:solidFill>
                  <a:schemeClr val="bg1"/>
                </a:solidFill>
                <a:latin typeface="Courier New" pitchFamily="49" charset="0"/>
                <a:sym typeface="Symbol" pitchFamily="18" charset="2"/>
              </a:rPr>
              <a:t>4. while (</a:t>
            </a:r>
            <a:r>
              <a:rPr lang="en-US" sz="1600" b="1" dirty="0">
                <a:solidFill>
                  <a:schemeClr val="accent3"/>
                </a:solidFill>
                <a:latin typeface="Courier New" pitchFamily="49" charset="0"/>
                <a:sym typeface="Symbol" pitchFamily="18" charset="2"/>
              </a:rPr>
              <a:t>PQ not empty</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5.   v = </a:t>
            </a:r>
            <a:r>
              <a:rPr lang="en-US" sz="1600" b="1" dirty="0" err="1">
                <a:solidFill>
                  <a:schemeClr val="accent3"/>
                </a:solidFill>
                <a:latin typeface="Courier New" pitchFamily="49" charset="0"/>
                <a:sym typeface="Symbol" pitchFamily="18" charset="2"/>
              </a:rPr>
              <a:t>PQ.ExtractMin</a:t>
            </a:r>
            <a:r>
              <a:rPr lang="en-US" sz="1600" b="1" dirty="0">
                <a:solidFill>
                  <a:schemeClr val="accent3"/>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6.   for each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600" b="1" dirty="0">
                <a:solidFill>
                  <a:schemeClr val="bg1"/>
                </a:solidFill>
                <a:latin typeface="Courier New" pitchFamily="49" charset="0"/>
                <a:sym typeface="Symbol" pitchFamily="18" charset="2"/>
              </a:rPr>
              <a:t>7.     if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600" b="1" dirty="0">
                <a:solidFill>
                  <a:schemeClr val="bg1"/>
                </a:solidFill>
                <a:latin typeface="Courier New" pitchFamily="49" charset="0"/>
                <a:sym typeface="Symbol" pitchFamily="18" charset="2"/>
              </a:rPr>
              <a:t>8.        </a:t>
            </a:r>
            <a:r>
              <a:rPr lang="en-US" sz="1600" b="1" dirty="0" err="1">
                <a:solidFill>
                  <a:schemeClr val="accent3"/>
                </a:solidFill>
                <a:latin typeface="Courier New" pitchFamily="49" charset="0"/>
                <a:sym typeface="Symbol" pitchFamily="18" charset="2"/>
              </a:rPr>
              <a:t>PQ.Insert</a:t>
            </a:r>
            <a:r>
              <a:rPr lang="en-US" sz="1600" b="1" dirty="0">
                <a:solidFill>
                  <a:schemeClr val="accent3"/>
                </a:solidFill>
                <a:latin typeface="Courier New" pitchFamily="49" charset="0"/>
                <a:sym typeface="Symbol" pitchFamily="18" charset="2"/>
              </a:rPr>
              <a:t>(w, </a:t>
            </a:r>
            <a:r>
              <a:rPr lang="en-US" sz="1600" b="1" dirty="0" err="1">
                <a:solidFill>
                  <a:schemeClr val="accent3"/>
                </a:solidFill>
                <a:latin typeface="Courier New" pitchFamily="49" charset="0"/>
                <a:sym typeface="Symbol" pitchFamily="18" charset="2"/>
              </a:rPr>
              <a:t>wt</a:t>
            </a:r>
            <a:r>
              <a:rPr lang="en-US" sz="1600" b="1" dirty="0">
                <a:solidFill>
                  <a:schemeClr val="accent3"/>
                </a:solidFill>
                <a:latin typeface="Courier New" pitchFamily="49" charset="0"/>
                <a:sym typeface="Symbol" pitchFamily="18" charset="2"/>
              </a:rPr>
              <a:t>[</a:t>
            </a:r>
            <a:r>
              <a:rPr lang="en-US" sz="1600" b="1" dirty="0" err="1">
                <a:solidFill>
                  <a:schemeClr val="accent3"/>
                </a:solidFill>
                <a:latin typeface="Courier New" pitchFamily="49" charset="0"/>
                <a:sym typeface="Symbol" pitchFamily="18" charset="2"/>
              </a:rPr>
              <a:t>v,w</a:t>
            </a:r>
            <a:r>
              <a:rPr lang="en-US" sz="1600" b="1" dirty="0">
                <a:solidFill>
                  <a:schemeClr val="accent3"/>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9.        parent[w] = v</a:t>
            </a:r>
          </a:p>
          <a:p>
            <a:pPr>
              <a:lnSpc>
                <a:spcPct val="80000"/>
              </a:lnSpc>
              <a:buFont typeface="Monotype Sorts" charset="2"/>
              <a:buNone/>
            </a:pPr>
            <a:r>
              <a:rPr lang="en-US" sz="1600" b="1" dirty="0">
                <a:solidFill>
                  <a:schemeClr val="bg1"/>
                </a:solidFill>
                <a:latin typeface="Courier New" pitchFamily="49" charset="0"/>
                <a:sym typeface="Symbol" pitchFamily="18" charset="2"/>
              </a:rPr>
              <a:t>10.    else if (w is fringe &amp;&amp; </a:t>
            </a:r>
            <a:r>
              <a:rPr lang="en-US" sz="1600" b="1" dirty="0" err="1">
                <a:solidFill>
                  <a:schemeClr val="bg1"/>
                </a:solidFill>
                <a:latin typeface="Courier New" pitchFamily="49" charset="0"/>
                <a:sym typeface="Symbol" pitchFamily="18" charset="2"/>
              </a:rPr>
              <a:t>wt</a:t>
            </a:r>
            <a:r>
              <a:rPr lang="en-US" sz="1600" b="1" dirty="0">
                <a:solidFill>
                  <a:schemeClr val="bg1"/>
                </a:solidFill>
                <a:latin typeface="Courier New" pitchFamily="49" charset="0"/>
                <a:sym typeface="Symbol" pitchFamily="18" charset="2"/>
              </a:rPr>
              <a: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 &lt;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11.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 = </a:t>
            </a:r>
            <a:r>
              <a:rPr lang="en-US" sz="1600" b="1" dirty="0" err="1">
                <a:solidFill>
                  <a:schemeClr val="bg1"/>
                </a:solidFill>
                <a:latin typeface="Courier New" pitchFamily="49" charset="0"/>
                <a:sym typeface="Symbol" pitchFamily="18" charset="2"/>
              </a:rPr>
              <a:t>wt</a:t>
            </a:r>
            <a:r>
              <a:rPr lang="en-US" sz="1600" b="1" dirty="0">
                <a:solidFill>
                  <a:schemeClr val="bg1"/>
                </a:solidFill>
                <a:latin typeface="Courier New" pitchFamily="49" charset="0"/>
                <a:sym typeface="Symbol" pitchFamily="18" charset="2"/>
              </a:rPr>
              <a: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accent3"/>
                </a:solidFill>
                <a:latin typeface="Courier New" pitchFamily="49" charset="0"/>
                <a:sym typeface="Symbol" pitchFamily="18" charset="2"/>
              </a:rPr>
              <a:t>12.       </a:t>
            </a:r>
            <a:r>
              <a:rPr lang="en-US" sz="1600" b="1" dirty="0" err="1">
                <a:solidFill>
                  <a:schemeClr val="accent3"/>
                </a:solidFill>
                <a:latin typeface="Courier New" pitchFamily="49" charset="0"/>
                <a:sym typeface="Symbol" pitchFamily="18" charset="2"/>
              </a:rPr>
              <a:t>PQ.decreaseKey</a:t>
            </a:r>
            <a:r>
              <a:rPr lang="en-US" sz="1600" b="1" dirty="0">
                <a:solidFill>
                  <a:schemeClr val="accent3"/>
                </a:solidFill>
                <a:latin typeface="Courier New" pitchFamily="49" charset="0"/>
                <a:sym typeface="Symbol" pitchFamily="18" charset="2"/>
              </a:rPr>
              <a:t>(w, </a:t>
            </a:r>
            <a:r>
              <a:rPr lang="en-US" sz="1600" b="1" dirty="0" err="1">
                <a:solidFill>
                  <a:schemeClr val="accent3"/>
                </a:solidFill>
                <a:latin typeface="Courier New" pitchFamily="49" charset="0"/>
                <a:sym typeface="Symbol" pitchFamily="18" charset="2"/>
              </a:rPr>
              <a:t>dist</a:t>
            </a:r>
            <a:r>
              <a:rPr lang="en-US" sz="1600" b="1" dirty="0">
                <a:solidFill>
                  <a:schemeClr val="accent3"/>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13.       parent[w] = v</a:t>
            </a:r>
          </a:p>
        </p:txBody>
      </p:sp>
    </p:spTree>
    <p:extLst>
      <p:ext uri="{BB962C8B-B14F-4D97-AF65-F5344CB8AC3E}">
        <p14:creationId xmlns:p14="http://schemas.microsoft.com/office/powerpoint/2010/main" val="20576333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F73BA-B35A-6BA9-B5AB-1AEA59D4D6E3}"/>
            </a:ext>
          </a:extLst>
        </p:cNvPr>
        <p:cNvGrpSpPr/>
        <p:nvPr/>
      </p:nvGrpSpPr>
      <p:grpSpPr>
        <a:xfrm>
          <a:off x="0" y="0"/>
          <a:ext cx="0" cy="0"/>
          <a:chOff x="0" y="0"/>
          <a:chExt cx="0" cy="0"/>
        </a:xfrm>
      </p:grpSpPr>
      <p:sp>
        <p:nvSpPr>
          <p:cNvPr id="47107" name="Rectangle 2">
            <a:extLst>
              <a:ext uri="{FF2B5EF4-FFF2-40B4-BE49-F238E27FC236}">
                <a16:creationId xmlns:a16="http://schemas.microsoft.com/office/drawing/2014/main" id="{63C897DE-17B4-CA40-3136-6EC481AC2F3F}"/>
              </a:ext>
            </a:extLst>
          </p:cNvPr>
          <p:cNvSpPr>
            <a:spLocks noGrp="1" noChangeArrowheads="1"/>
          </p:cNvSpPr>
          <p:nvPr>
            <p:ph type="title"/>
            <p:custDataLst>
              <p:tags r:id="rId1"/>
            </p:custDataLst>
          </p:nvPr>
        </p:nvSpPr>
        <p:spPr>
          <a:xfrm>
            <a:off x="1141412" y="301991"/>
            <a:ext cx="9905998" cy="603700"/>
          </a:xfrm>
        </p:spPr>
        <p:txBody>
          <a:bodyPr/>
          <a:lstStyle/>
          <a:p>
            <a:pPr algn="ctr"/>
            <a:r>
              <a:rPr lang="en-US" dirty="0"/>
              <a:t>Prim’s Algorithm</a:t>
            </a:r>
          </a:p>
        </p:txBody>
      </p:sp>
      <p:sp>
        <p:nvSpPr>
          <p:cNvPr id="2" name="Rectangle 2">
            <a:extLst>
              <a:ext uri="{FF2B5EF4-FFF2-40B4-BE49-F238E27FC236}">
                <a16:creationId xmlns:a16="http://schemas.microsoft.com/office/drawing/2014/main" id="{985A4B1E-4808-2ED5-B2F7-B90ACF94E9E5}"/>
              </a:ext>
            </a:extLst>
          </p:cNvPr>
          <p:cNvSpPr txBox="1">
            <a:spLocks noChangeArrowheads="1"/>
          </p:cNvSpPr>
          <p:nvPr>
            <p:custDataLst>
              <p:tags r:id="rId2"/>
            </p:custDataLst>
          </p:nvPr>
        </p:nvSpPr>
        <p:spPr>
          <a:xfrm>
            <a:off x="1062282" y="1269523"/>
            <a:ext cx="6338281" cy="4722091"/>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600" b="1" dirty="0">
                <a:solidFill>
                  <a:schemeClr val="bg1"/>
                </a:solidFill>
                <a:latin typeface="Courier New" pitchFamily="49" charset="0"/>
              </a:rPr>
              <a:t>prim(G, s):</a:t>
            </a:r>
          </a:p>
          <a:p>
            <a:pPr>
              <a:lnSpc>
                <a:spcPct val="80000"/>
              </a:lnSpc>
              <a:buFont typeface="Monotype Sorts" charset="2"/>
              <a:buNone/>
            </a:pPr>
            <a:r>
              <a:rPr lang="en-US" sz="1600" b="1" dirty="0">
                <a:solidFill>
                  <a:schemeClr val="bg1"/>
                </a:solidFill>
                <a:latin typeface="Courier New" pitchFamily="49" charset="0"/>
              </a:rPr>
              <a:t>1. </a:t>
            </a:r>
            <a:r>
              <a:rPr lang="en-US" sz="1600" b="1" dirty="0" err="1">
                <a:solidFill>
                  <a:schemeClr val="bg1"/>
                </a:solidFill>
                <a:latin typeface="Courier New" pitchFamily="49" charset="0"/>
              </a:rPr>
              <a:t>init</a:t>
            </a:r>
            <a:r>
              <a:rPr lang="en-US" sz="1600" b="1" dirty="0">
                <a:solidFill>
                  <a:schemeClr val="bg1"/>
                </a:solidFill>
                <a:latin typeface="Courier New" pitchFamily="49" charset="0"/>
              </a:rPr>
              <a:t> PQ to be empty</a:t>
            </a:r>
          </a:p>
          <a:p>
            <a:pPr>
              <a:lnSpc>
                <a:spcPct val="80000"/>
              </a:lnSpc>
              <a:buFont typeface="Monotype Sorts" charset="2"/>
              <a:buNone/>
            </a:pPr>
            <a:r>
              <a:rPr lang="en-US" sz="1600" b="1" dirty="0">
                <a:solidFill>
                  <a:schemeClr val="bg1"/>
                </a:solidFill>
                <a:latin typeface="Courier New" pitchFamily="49" charset="0"/>
              </a:rPr>
              <a:t>2. </a:t>
            </a:r>
            <a:r>
              <a:rPr lang="en-US" sz="1600" b="1" dirty="0" err="1">
                <a:solidFill>
                  <a:schemeClr val="bg1"/>
                </a:solidFill>
                <a:latin typeface="Courier New" pitchFamily="49" charset="0"/>
              </a:rPr>
              <a:t>PQ.Insert</a:t>
            </a:r>
            <a:r>
              <a:rPr lang="en-US" sz="1600" b="1" dirty="0">
                <a:solidFill>
                  <a:schemeClr val="bg1"/>
                </a:solidFill>
                <a:latin typeface="Courier New" pitchFamily="49" charset="0"/>
              </a:rPr>
              <a:t>(s, </a:t>
            </a:r>
            <a:r>
              <a:rPr lang="en-US" sz="1600" b="1" dirty="0" err="1">
                <a:solidFill>
                  <a:schemeClr val="bg1"/>
                </a:solidFill>
                <a:latin typeface="Courier New" pitchFamily="49" charset="0"/>
              </a:rPr>
              <a:t>wt</a:t>
            </a:r>
            <a:r>
              <a:rPr lang="en-US" sz="1600" b="1" dirty="0">
                <a:solidFill>
                  <a:schemeClr val="bg1"/>
                </a:solidFill>
                <a:latin typeface="Courier New" pitchFamily="49" charset="0"/>
              </a:rPr>
              <a:t>=0)</a:t>
            </a:r>
          </a:p>
          <a:p>
            <a:pPr>
              <a:lnSpc>
                <a:spcPct val="80000"/>
              </a:lnSpc>
              <a:buFont typeface="Monotype Sorts" charset="2"/>
              <a:buNone/>
            </a:pPr>
            <a:r>
              <a:rPr lang="en-US" sz="1600" b="1" dirty="0">
                <a:solidFill>
                  <a:schemeClr val="bg1"/>
                </a:solidFill>
                <a:latin typeface="Courier New" pitchFamily="49" charset="0"/>
                <a:sym typeface="Symbol" pitchFamily="18" charset="2"/>
              </a:rPr>
              <a:t>3. parent[s] = NULL;</a:t>
            </a:r>
          </a:p>
          <a:p>
            <a:pPr>
              <a:lnSpc>
                <a:spcPct val="80000"/>
              </a:lnSpc>
              <a:buFont typeface="Monotype Sorts" charset="2"/>
              <a:buNone/>
            </a:pPr>
            <a:r>
              <a:rPr lang="en-US" sz="1600" b="1" dirty="0">
                <a:solidFill>
                  <a:schemeClr val="bg1"/>
                </a:solidFill>
                <a:latin typeface="Courier New" pitchFamily="49" charset="0"/>
                <a:sym typeface="Symbol" pitchFamily="18" charset="2"/>
              </a:rPr>
              <a:t>4. while (PQ not empty):</a:t>
            </a:r>
          </a:p>
          <a:p>
            <a:pPr>
              <a:lnSpc>
                <a:spcPct val="80000"/>
              </a:lnSpc>
              <a:buFont typeface="Monotype Sorts" charset="2"/>
              <a:buNone/>
            </a:pPr>
            <a:r>
              <a:rPr lang="en-US" sz="1600" b="1" dirty="0">
                <a:solidFill>
                  <a:schemeClr val="bg1"/>
                </a:solidFill>
                <a:latin typeface="Courier New" pitchFamily="49" charset="0"/>
                <a:sym typeface="Symbol" pitchFamily="18" charset="2"/>
              </a:rPr>
              <a:t>5.   v = </a:t>
            </a:r>
            <a:r>
              <a:rPr lang="en-US" sz="1600" b="1" dirty="0" err="1">
                <a:solidFill>
                  <a:schemeClr val="bg1"/>
                </a:solidFill>
                <a:latin typeface="Courier New" pitchFamily="49" charset="0"/>
                <a:sym typeface="Symbol" pitchFamily="18" charset="2"/>
              </a:rPr>
              <a:t>PQ.ExtractMin</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6.   for each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600" b="1" dirty="0">
                <a:solidFill>
                  <a:schemeClr val="bg1"/>
                </a:solidFill>
                <a:latin typeface="Courier New" pitchFamily="49" charset="0"/>
                <a:sym typeface="Symbol" pitchFamily="18" charset="2"/>
              </a:rPr>
              <a:t>7.     if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600" b="1" dirty="0">
                <a:solidFill>
                  <a:schemeClr val="bg1"/>
                </a:solidFill>
                <a:latin typeface="Courier New" pitchFamily="49" charset="0"/>
                <a:sym typeface="Symbol" pitchFamily="18" charset="2"/>
              </a:rPr>
              <a:t>8.        </a:t>
            </a:r>
            <a:r>
              <a:rPr lang="en-US" sz="1600" b="1" dirty="0" err="1">
                <a:solidFill>
                  <a:schemeClr val="bg1"/>
                </a:solidFill>
                <a:latin typeface="Courier New" pitchFamily="49" charset="0"/>
                <a:sym typeface="Symbol" pitchFamily="18" charset="2"/>
              </a:rPr>
              <a:t>PQ.Insert</a:t>
            </a:r>
            <a:r>
              <a:rPr lang="en-US" sz="1600" b="1" dirty="0">
                <a:solidFill>
                  <a:schemeClr val="bg1"/>
                </a:solidFill>
                <a:latin typeface="Courier New" pitchFamily="49" charset="0"/>
                <a:sym typeface="Symbol" pitchFamily="18" charset="2"/>
              </a:rPr>
              <a:t>(w, </a:t>
            </a:r>
            <a:r>
              <a:rPr lang="en-US" sz="1600" b="1" dirty="0" err="1">
                <a:solidFill>
                  <a:schemeClr val="accent5"/>
                </a:solidFill>
                <a:latin typeface="Courier New" pitchFamily="49" charset="0"/>
                <a:sym typeface="Symbol" pitchFamily="18" charset="2"/>
              </a:rPr>
              <a:t>wt</a:t>
            </a:r>
            <a:r>
              <a:rPr lang="en-US" sz="1600" b="1" dirty="0">
                <a:solidFill>
                  <a:schemeClr val="accent5"/>
                </a:solidFill>
                <a:latin typeface="Courier New" pitchFamily="49" charset="0"/>
                <a:sym typeface="Symbol" pitchFamily="18" charset="2"/>
              </a:rPr>
              <a:t>[</a:t>
            </a:r>
            <a:r>
              <a:rPr lang="en-US" sz="1600" b="1" dirty="0" err="1">
                <a:solidFill>
                  <a:schemeClr val="accent5"/>
                </a:solidFill>
                <a:latin typeface="Courier New" pitchFamily="49" charset="0"/>
                <a:sym typeface="Symbol" pitchFamily="18" charset="2"/>
              </a:rPr>
              <a:t>v,w</a:t>
            </a:r>
            <a:r>
              <a:rPr lang="en-US" sz="1600" b="1" dirty="0">
                <a:solidFill>
                  <a:schemeClr val="accent5"/>
                </a:solidFill>
                <a:latin typeface="Courier New" pitchFamily="49" charset="0"/>
                <a:sym typeface="Symbol" pitchFamily="18" charset="2"/>
              </a:rPr>
              <a:t>]</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9.        parent[w] = v</a:t>
            </a:r>
          </a:p>
          <a:p>
            <a:pPr>
              <a:lnSpc>
                <a:spcPct val="80000"/>
              </a:lnSpc>
              <a:buFont typeface="Monotype Sorts" charset="2"/>
              <a:buNone/>
            </a:pPr>
            <a:r>
              <a:rPr lang="en-US" sz="1600" b="1" dirty="0">
                <a:solidFill>
                  <a:schemeClr val="bg1"/>
                </a:solidFill>
                <a:latin typeface="Courier New" pitchFamily="49" charset="0"/>
                <a:sym typeface="Symbol" pitchFamily="18" charset="2"/>
              </a:rPr>
              <a:t>10.    else if (w is fringe &amp;&amp; </a:t>
            </a:r>
            <a:r>
              <a:rPr lang="en-US" sz="1600" b="1" dirty="0" err="1">
                <a:solidFill>
                  <a:schemeClr val="accent5"/>
                </a:solidFill>
                <a:latin typeface="Courier New" pitchFamily="49" charset="0"/>
                <a:sym typeface="Symbol" pitchFamily="18" charset="2"/>
              </a:rPr>
              <a:t>wt</a:t>
            </a:r>
            <a:r>
              <a:rPr lang="en-US" sz="1600" b="1" dirty="0">
                <a:solidFill>
                  <a:schemeClr val="accent5"/>
                </a:solidFill>
                <a:latin typeface="Courier New" pitchFamily="49" charset="0"/>
                <a:sym typeface="Symbol" pitchFamily="18" charset="2"/>
              </a:rPr>
              <a:t>(</a:t>
            </a:r>
            <a:r>
              <a:rPr lang="en-US" sz="1600" b="1" dirty="0" err="1">
                <a:solidFill>
                  <a:schemeClr val="accent5"/>
                </a:solidFill>
                <a:latin typeface="Courier New" pitchFamily="49" charset="0"/>
                <a:sym typeface="Symbol" pitchFamily="18" charset="2"/>
              </a:rPr>
              <a:t>v,w</a:t>
            </a:r>
            <a:r>
              <a:rPr lang="en-US" sz="1600" b="1" dirty="0">
                <a:solidFill>
                  <a:schemeClr val="accent5"/>
                </a:solidFill>
                <a:latin typeface="Courier New" pitchFamily="49" charset="0"/>
                <a:sym typeface="Symbol" pitchFamily="18" charset="2"/>
              </a:rPr>
              <a:t>)</a:t>
            </a:r>
            <a:r>
              <a:rPr lang="en-US" sz="1600" b="1" dirty="0">
                <a:solidFill>
                  <a:schemeClr val="bg1"/>
                </a:solidFill>
                <a:latin typeface="Courier New" pitchFamily="49" charset="0"/>
                <a:sym typeface="Symbol" pitchFamily="18" charset="2"/>
              </a:rPr>
              <a:t> &lt;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11.       </a:t>
            </a:r>
            <a:r>
              <a:rPr lang="en-US" sz="1600" b="1" dirty="0" err="1">
                <a:solidFill>
                  <a:schemeClr val="accent5"/>
                </a:solidFill>
                <a:latin typeface="Courier New" pitchFamily="49" charset="0"/>
                <a:sym typeface="Symbol" pitchFamily="18" charset="2"/>
              </a:rPr>
              <a:t>dist</a:t>
            </a:r>
            <a:r>
              <a:rPr lang="en-US" sz="1600" b="1" dirty="0">
                <a:solidFill>
                  <a:schemeClr val="accent5"/>
                </a:solidFill>
                <a:latin typeface="Courier New" pitchFamily="49" charset="0"/>
                <a:sym typeface="Symbol" pitchFamily="18" charset="2"/>
              </a:rPr>
              <a:t>[w] = </a:t>
            </a:r>
            <a:r>
              <a:rPr lang="en-US" sz="1600" b="1" dirty="0" err="1">
                <a:solidFill>
                  <a:schemeClr val="accent5"/>
                </a:solidFill>
                <a:latin typeface="Courier New" pitchFamily="49" charset="0"/>
                <a:sym typeface="Symbol" pitchFamily="18" charset="2"/>
              </a:rPr>
              <a:t>wt</a:t>
            </a:r>
            <a:r>
              <a:rPr lang="en-US" sz="1600" b="1" dirty="0">
                <a:solidFill>
                  <a:schemeClr val="accent5"/>
                </a:solidFill>
                <a:latin typeface="Courier New" pitchFamily="49" charset="0"/>
                <a:sym typeface="Symbol" pitchFamily="18" charset="2"/>
              </a:rPr>
              <a:t>(</a:t>
            </a:r>
            <a:r>
              <a:rPr lang="en-US" sz="1600" b="1" dirty="0" err="1">
                <a:solidFill>
                  <a:schemeClr val="accent5"/>
                </a:solidFill>
                <a:latin typeface="Courier New" pitchFamily="49" charset="0"/>
                <a:sym typeface="Symbol" pitchFamily="18" charset="2"/>
              </a:rPr>
              <a:t>v,w</a:t>
            </a:r>
            <a:r>
              <a:rPr lang="en-US" sz="1600" b="1" dirty="0">
                <a:solidFill>
                  <a:schemeClr val="accent5"/>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12.       </a:t>
            </a:r>
            <a:r>
              <a:rPr lang="en-US" sz="1600" b="1" dirty="0" err="1">
                <a:solidFill>
                  <a:schemeClr val="bg1"/>
                </a:solidFill>
                <a:latin typeface="Courier New" pitchFamily="49" charset="0"/>
                <a:sym typeface="Symbol" pitchFamily="18" charset="2"/>
              </a:rPr>
              <a:t>PQ.decreaseKey</a:t>
            </a:r>
            <a:r>
              <a:rPr lang="en-US" sz="1600" b="1" dirty="0">
                <a:solidFill>
                  <a:schemeClr val="bg1"/>
                </a:solidFill>
                <a:latin typeface="Courier New" pitchFamily="49" charset="0"/>
                <a:sym typeface="Symbol" pitchFamily="18" charset="2"/>
              </a:rPr>
              <a:t>(w,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13.       parent[w] = v</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51BF556-4986-4D35-8578-6DD6F2FB8410}"/>
                  </a:ext>
                </a:extLst>
              </p:cNvPr>
              <p:cNvSpPr txBox="1"/>
              <p:nvPr/>
            </p:nvSpPr>
            <p:spPr>
              <a:xfrm>
                <a:off x="7563300" y="4124297"/>
                <a:ext cx="3880237" cy="923330"/>
              </a:xfrm>
              <a:prstGeom prst="rect">
                <a:avLst/>
              </a:prstGeom>
              <a:noFill/>
              <a:ln>
                <a:solidFill>
                  <a:schemeClr val="tx1">
                    <a:lumMod val="95000"/>
                  </a:schemeClr>
                </a:solidFill>
              </a:ln>
            </p:spPr>
            <p:txBody>
              <a:bodyPr wrap="square" rtlCol="0">
                <a:spAutoFit/>
              </a:bodyPr>
              <a:lstStyle/>
              <a:p>
                <a:pPr/>
                <a:r>
                  <a:rPr lang="en-US" dirty="0"/>
                  <a:t>Runtime is same as Dijkstra’s Algorithm:</a:t>
                </a:r>
                <a:br>
                  <a:rPr lang="en-US" dirty="0"/>
                </a:br>
                <a:br>
                  <a:rPr lang="en-US" dirty="0"/>
                </a:b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𝐸𝑙𝑜𝑔</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051BF556-4986-4D35-8578-6DD6F2FB8410}"/>
                  </a:ext>
                </a:extLst>
              </p:cNvPr>
              <p:cNvSpPr txBox="1">
                <a:spLocks noRot="1" noChangeAspect="1" noMove="1" noResize="1" noEditPoints="1" noAdjustHandles="1" noChangeArrowheads="1" noChangeShapeType="1" noTextEdit="1"/>
              </p:cNvSpPr>
              <p:nvPr/>
            </p:nvSpPr>
            <p:spPr>
              <a:xfrm>
                <a:off x="7563300" y="4124297"/>
                <a:ext cx="3880237" cy="923330"/>
              </a:xfrm>
              <a:prstGeom prst="rect">
                <a:avLst/>
              </a:prstGeom>
              <a:blipFill>
                <a:blip r:embed="rId4"/>
                <a:stretch>
                  <a:fillRect l="-1303" t="-2703" b="-5405"/>
                </a:stretch>
              </a:blipFill>
              <a:ln>
                <a:solidFill>
                  <a:schemeClr val="tx1">
                    <a:lumMod val="95000"/>
                  </a:schemeClr>
                </a:solidFill>
              </a:ln>
            </p:spPr>
            <p:txBody>
              <a:bodyPr/>
              <a:lstStyle/>
              <a:p>
                <a:r>
                  <a:rPr lang="en-US">
                    <a:noFill/>
                  </a:rPr>
                  <a:t> </a:t>
                </a:r>
              </a:p>
            </p:txBody>
          </p:sp>
        </mc:Fallback>
      </mc:AlternateContent>
      <p:sp>
        <p:nvSpPr>
          <p:cNvPr id="4" name="TextBox 3">
            <a:extLst>
              <a:ext uri="{FF2B5EF4-FFF2-40B4-BE49-F238E27FC236}">
                <a16:creationId xmlns:a16="http://schemas.microsoft.com/office/drawing/2014/main" id="{C04B9742-2D6C-F48D-3798-96C1041DA71C}"/>
              </a:ext>
            </a:extLst>
          </p:cNvPr>
          <p:cNvSpPr txBox="1"/>
          <p:nvPr/>
        </p:nvSpPr>
        <p:spPr>
          <a:xfrm>
            <a:off x="7563300" y="1876243"/>
            <a:ext cx="3880237" cy="1754326"/>
          </a:xfrm>
          <a:prstGeom prst="rect">
            <a:avLst/>
          </a:prstGeom>
          <a:noFill/>
          <a:ln>
            <a:solidFill>
              <a:schemeClr val="tx1">
                <a:lumMod val="95000"/>
              </a:schemeClr>
            </a:solidFill>
          </a:ln>
        </p:spPr>
        <p:txBody>
          <a:bodyPr wrap="square" rtlCol="0">
            <a:spAutoFit/>
          </a:bodyPr>
          <a:lstStyle/>
          <a:p>
            <a:r>
              <a:rPr lang="en-US" dirty="0"/>
              <a:t>Implementation is basically the same as Dijkstra’s Algorithm. Highlighted sections are the differences between the two! Difference is essentially just what value you put as the weight in the priority queue!</a:t>
            </a:r>
          </a:p>
        </p:txBody>
      </p:sp>
    </p:spTree>
    <p:extLst>
      <p:ext uri="{BB962C8B-B14F-4D97-AF65-F5344CB8AC3E}">
        <p14:creationId xmlns:p14="http://schemas.microsoft.com/office/powerpoint/2010/main" val="36377291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Indirect Heaps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22640188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custDataLst>
              <p:tags r:id="rId1"/>
            </p:custDataLst>
          </p:nvPr>
        </p:nvSpPr>
        <p:spPr>
          <a:xfrm>
            <a:off x="1141412" y="152525"/>
            <a:ext cx="9905998" cy="542067"/>
          </a:xfrm>
        </p:spPr>
        <p:txBody>
          <a:bodyPr>
            <a:normAutofit fontScale="90000"/>
          </a:bodyPr>
          <a:lstStyle/>
          <a:p>
            <a:pPr algn="ctr"/>
            <a:r>
              <a:rPr lang="en-US" dirty="0">
                <a:sym typeface="Symbol" pitchFamily="18" charset="2"/>
              </a:rPr>
              <a:t>Compare</a:t>
            </a:r>
          </a:p>
        </p:txBody>
      </p:sp>
      <p:sp>
        <p:nvSpPr>
          <p:cNvPr id="72708" name="Rectangle 3"/>
          <p:cNvSpPr>
            <a:spLocks noGrp="1" noChangeArrowheads="1"/>
          </p:cNvSpPr>
          <p:nvPr>
            <p:ph sz="quarter" idx="1"/>
            <p:custDataLst>
              <p:tags r:id="rId2"/>
            </p:custDataLst>
          </p:nvPr>
        </p:nvSpPr>
        <p:spPr>
          <a:xfrm>
            <a:off x="1197848" y="5972023"/>
            <a:ext cx="10601429" cy="542067"/>
          </a:xfrm>
        </p:spPr>
        <p:txBody>
          <a:bodyPr>
            <a:normAutofit fontScale="92500"/>
          </a:bodyPr>
          <a:lstStyle/>
          <a:p>
            <a:pPr marL="0" indent="0">
              <a:buNone/>
            </a:pPr>
            <a:r>
              <a:rPr lang="en-US" dirty="0"/>
              <a:t>Both of these require priority queue </a:t>
            </a:r>
            <a:r>
              <a:rPr lang="en-US" dirty="0" err="1"/>
              <a:t>decreaseKey</a:t>
            </a:r>
            <a:r>
              <a:rPr lang="en-US" dirty="0"/>
              <a:t>() to be fast! How do we actually do that!</a:t>
            </a:r>
            <a:endParaRPr lang="en-US" b="1" i="1" dirty="0">
              <a:sym typeface="Symbol" pitchFamily="18" charset="2"/>
            </a:endParaRPr>
          </a:p>
        </p:txBody>
      </p:sp>
      <p:sp>
        <p:nvSpPr>
          <p:cNvPr id="2" name="Rectangle 2">
            <a:extLst>
              <a:ext uri="{FF2B5EF4-FFF2-40B4-BE49-F238E27FC236}">
                <a16:creationId xmlns:a16="http://schemas.microsoft.com/office/drawing/2014/main" id="{65958399-D16F-BF2C-981B-D35E8B29D6C9}"/>
              </a:ext>
            </a:extLst>
          </p:cNvPr>
          <p:cNvSpPr txBox="1">
            <a:spLocks noChangeArrowheads="1"/>
          </p:cNvSpPr>
          <p:nvPr>
            <p:custDataLst>
              <p:tags r:id="rId3"/>
            </p:custDataLst>
          </p:nvPr>
        </p:nvSpPr>
        <p:spPr>
          <a:xfrm>
            <a:off x="6583723" y="894769"/>
            <a:ext cx="5513149" cy="4722091"/>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400" b="1" dirty="0">
                <a:solidFill>
                  <a:schemeClr val="bg1"/>
                </a:solidFill>
                <a:latin typeface="Courier New" pitchFamily="49" charset="0"/>
              </a:rPr>
              <a:t>prim(G, s):</a:t>
            </a:r>
          </a:p>
          <a:p>
            <a:pPr>
              <a:lnSpc>
                <a:spcPct val="80000"/>
              </a:lnSpc>
              <a:buFont typeface="Monotype Sorts" charset="2"/>
              <a:buNone/>
            </a:pPr>
            <a:r>
              <a:rPr lang="en-US" sz="1400" b="1" dirty="0">
                <a:solidFill>
                  <a:schemeClr val="bg1"/>
                </a:solidFill>
                <a:latin typeface="Courier New" pitchFamily="49" charset="0"/>
              </a:rPr>
              <a:t>1. </a:t>
            </a:r>
            <a:r>
              <a:rPr lang="en-US" sz="1400" b="1" dirty="0" err="1">
                <a:solidFill>
                  <a:schemeClr val="bg1"/>
                </a:solidFill>
                <a:latin typeface="Courier New" pitchFamily="49" charset="0"/>
              </a:rPr>
              <a:t>init</a:t>
            </a:r>
            <a:r>
              <a:rPr lang="en-US" sz="1400" b="1" dirty="0">
                <a:solidFill>
                  <a:schemeClr val="bg1"/>
                </a:solidFill>
                <a:latin typeface="Courier New" pitchFamily="49" charset="0"/>
              </a:rPr>
              <a:t> PQ to be empty</a:t>
            </a:r>
          </a:p>
          <a:p>
            <a:pPr>
              <a:lnSpc>
                <a:spcPct val="80000"/>
              </a:lnSpc>
              <a:buFont typeface="Monotype Sorts" charset="2"/>
              <a:buNone/>
            </a:pPr>
            <a:r>
              <a:rPr lang="en-US" sz="1400" b="1" dirty="0">
                <a:solidFill>
                  <a:schemeClr val="bg1"/>
                </a:solidFill>
                <a:latin typeface="Courier New" pitchFamily="49" charset="0"/>
              </a:rPr>
              <a:t>2. </a:t>
            </a:r>
            <a:r>
              <a:rPr lang="en-US" sz="1400" b="1" dirty="0" err="1">
                <a:solidFill>
                  <a:schemeClr val="bg1"/>
                </a:solidFill>
                <a:latin typeface="Courier New" pitchFamily="49" charset="0"/>
              </a:rPr>
              <a:t>PQ.Insert</a:t>
            </a:r>
            <a:r>
              <a:rPr lang="en-US" sz="1400" b="1" dirty="0">
                <a:solidFill>
                  <a:schemeClr val="bg1"/>
                </a:solidFill>
                <a:latin typeface="Courier New" pitchFamily="49" charset="0"/>
              </a:rPr>
              <a:t>(s, </a:t>
            </a:r>
            <a:r>
              <a:rPr lang="en-US" sz="1400" b="1" dirty="0" err="1">
                <a:solidFill>
                  <a:schemeClr val="bg1"/>
                </a:solidFill>
                <a:latin typeface="Courier New" pitchFamily="49" charset="0"/>
              </a:rPr>
              <a:t>wt</a:t>
            </a:r>
            <a:r>
              <a:rPr lang="en-US" sz="1400" b="1" dirty="0">
                <a:solidFill>
                  <a:schemeClr val="bg1"/>
                </a:solidFill>
                <a:latin typeface="Courier New" pitchFamily="49" charset="0"/>
              </a:rPr>
              <a:t>=0)</a:t>
            </a:r>
          </a:p>
          <a:p>
            <a:pPr>
              <a:lnSpc>
                <a:spcPct val="80000"/>
              </a:lnSpc>
              <a:buFont typeface="Monotype Sorts" charset="2"/>
              <a:buNone/>
            </a:pPr>
            <a:r>
              <a:rPr lang="en-US" sz="1400" b="1" dirty="0">
                <a:solidFill>
                  <a:schemeClr val="bg1"/>
                </a:solidFill>
                <a:latin typeface="Courier New" pitchFamily="49" charset="0"/>
                <a:sym typeface="Symbol" pitchFamily="18" charset="2"/>
              </a:rPr>
              <a:t>3. parent[s] = NULL;</a:t>
            </a:r>
          </a:p>
          <a:p>
            <a:pPr>
              <a:lnSpc>
                <a:spcPct val="80000"/>
              </a:lnSpc>
              <a:buFont typeface="Monotype Sorts" charset="2"/>
              <a:buNone/>
            </a:pPr>
            <a:r>
              <a:rPr lang="en-US" sz="1400" b="1" dirty="0">
                <a:solidFill>
                  <a:schemeClr val="bg1"/>
                </a:solidFill>
                <a:latin typeface="Courier New" pitchFamily="49" charset="0"/>
                <a:sym typeface="Symbol" pitchFamily="18" charset="2"/>
              </a:rPr>
              <a:t>4. while (PQ not empty):</a:t>
            </a:r>
          </a:p>
          <a:p>
            <a:pPr>
              <a:lnSpc>
                <a:spcPct val="80000"/>
              </a:lnSpc>
              <a:buFont typeface="Monotype Sorts" charset="2"/>
              <a:buNone/>
            </a:pPr>
            <a:r>
              <a:rPr lang="en-US" sz="1400" b="1" dirty="0">
                <a:solidFill>
                  <a:schemeClr val="bg1"/>
                </a:solidFill>
                <a:latin typeface="Courier New" pitchFamily="49" charset="0"/>
                <a:sym typeface="Symbol" pitchFamily="18" charset="2"/>
              </a:rPr>
              <a:t>5.   v = </a:t>
            </a:r>
            <a:r>
              <a:rPr lang="en-US" sz="1400" b="1" dirty="0" err="1">
                <a:solidFill>
                  <a:schemeClr val="bg1"/>
                </a:solidFill>
                <a:latin typeface="Courier New" pitchFamily="49" charset="0"/>
                <a:sym typeface="Symbol" pitchFamily="18" charset="2"/>
              </a:rPr>
              <a:t>PQ.ExtractMin</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6.   for each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400" b="1" dirty="0">
                <a:solidFill>
                  <a:schemeClr val="bg1"/>
                </a:solidFill>
                <a:latin typeface="Courier New" pitchFamily="49" charset="0"/>
                <a:sym typeface="Symbol" pitchFamily="18" charset="2"/>
              </a:rPr>
              <a:t>7.     if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400" b="1" dirty="0">
                <a:solidFill>
                  <a:schemeClr val="bg1"/>
                </a:solidFill>
                <a:latin typeface="Courier New" pitchFamily="49" charset="0"/>
                <a:sym typeface="Symbol" pitchFamily="18" charset="2"/>
              </a:rPr>
              <a:t>8.        </a:t>
            </a:r>
            <a:r>
              <a:rPr lang="en-US" sz="1400" b="1" dirty="0" err="1">
                <a:solidFill>
                  <a:schemeClr val="bg1"/>
                </a:solidFill>
                <a:latin typeface="Courier New" pitchFamily="49" charset="0"/>
                <a:sym typeface="Symbol" pitchFamily="18" charset="2"/>
              </a:rPr>
              <a:t>PQ.Insert</a:t>
            </a:r>
            <a:r>
              <a:rPr lang="en-US" sz="1400" b="1" dirty="0">
                <a:solidFill>
                  <a:schemeClr val="bg1"/>
                </a:solidFill>
                <a:latin typeface="Courier New" pitchFamily="49" charset="0"/>
                <a:sym typeface="Symbol" pitchFamily="18" charset="2"/>
              </a:rPr>
              <a:t>(w, </a:t>
            </a:r>
            <a:r>
              <a:rPr lang="en-US" sz="1400" b="1" dirty="0" err="1">
                <a:solidFill>
                  <a:schemeClr val="accent5"/>
                </a:solidFill>
                <a:latin typeface="Courier New" pitchFamily="49" charset="0"/>
                <a:sym typeface="Symbol" pitchFamily="18" charset="2"/>
              </a:rPr>
              <a:t>wt</a:t>
            </a:r>
            <a:r>
              <a:rPr lang="en-US" sz="1400" b="1" dirty="0">
                <a:solidFill>
                  <a:schemeClr val="accent5"/>
                </a:solidFill>
                <a:latin typeface="Courier New" pitchFamily="49" charset="0"/>
                <a:sym typeface="Symbol" pitchFamily="18" charset="2"/>
              </a:rPr>
              <a:t>[</a:t>
            </a:r>
            <a:r>
              <a:rPr lang="en-US" sz="1400" b="1" dirty="0" err="1">
                <a:solidFill>
                  <a:schemeClr val="accent5"/>
                </a:solidFill>
                <a:latin typeface="Courier New" pitchFamily="49" charset="0"/>
                <a:sym typeface="Symbol" pitchFamily="18" charset="2"/>
              </a:rPr>
              <a:t>v,w</a:t>
            </a:r>
            <a:r>
              <a:rPr lang="en-US" sz="1400" b="1" dirty="0">
                <a:solidFill>
                  <a:schemeClr val="accent5"/>
                </a:solidFill>
                <a:latin typeface="Courier New" pitchFamily="49" charset="0"/>
                <a:sym typeface="Symbol" pitchFamily="18" charset="2"/>
              </a:rPr>
              <a:t>]</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9.        parent[w] = v</a:t>
            </a:r>
          </a:p>
          <a:p>
            <a:pPr>
              <a:lnSpc>
                <a:spcPct val="80000"/>
              </a:lnSpc>
              <a:buFont typeface="Monotype Sorts" charset="2"/>
              <a:buNone/>
            </a:pPr>
            <a:r>
              <a:rPr lang="en-US" sz="1400" b="1" dirty="0">
                <a:solidFill>
                  <a:schemeClr val="bg1"/>
                </a:solidFill>
                <a:latin typeface="Courier New" pitchFamily="49" charset="0"/>
                <a:sym typeface="Symbol" pitchFamily="18" charset="2"/>
              </a:rPr>
              <a:t>10.    else if (w is fringe &amp;&amp; </a:t>
            </a:r>
            <a:r>
              <a:rPr lang="en-US" sz="1400" b="1" dirty="0" err="1">
                <a:solidFill>
                  <a:schemeClr val="accent5"/>
                </a:solidFill>
                <a:latin typeface="Courier New" pitchFamily="49" charset="0"/>
                <a:sym typeface="Symbol" pitchFamily="18" charset="2"/>
              </a:rPr>
              <a:t>wt</a:t>
            </a:r>
            <a:r>
              <a:rPr lang="en-US" sz="1400" b="1" dirty="0">
                <a:solidFill>
                  <a:schemeClr val="accent5"/>
                </a:solidFill>
                <a:latin typeface="Courier New" pitchFamily="49" charset="0"/>
                <a:sym typeface="Symbol" pitchFamily="18" charset="2"/>
              </a:rPr>
              <a:t>(</a:t>
            </a:r>
            <a:r>
              <a:rPr lang="en-US" sz="1400" b="1" dirty="0" err="1">
                <a:solidFill>
                  <a:schemeClr val="accent5"/>
                </a:solidFill>
                <a:latin typeface="Courier New" pitchFamily="49" charset="0"/>
                <a:sym typeface="Symbol" pitchFamily="18" charset="2"/>
              </a:rPr>
              <a:t>v,w</a:t>
            </a:r>
            <a:r>
              <a:rPr lang="en-US" sz="1400" b="1" dirty="0">
                <a:solidFill>
                  <a:schemeClr val="accent5"/>
                </a:solidFill>
                <a:latin typeface="Courier New" pitchFamily="49" charset="0"/>
                <a:sym typeface="Symbol" pitchFamily="18" charset="2"/>
              </a:rPr>
              <a:t>)</a:t>
            </a:r>
            <a:r>
              <a:rPr lang="en-US" sz="1400" b="1" dirty="0">
                <a:solidFill>
                  <a:schemeClr val="bg1"/>
                </a:solidFill>
                <a:latin typeface="Courier New" pitchFamily="49" charset="0"/>
                <a:sym typeface="Symbol" pitchFamily="18" charset="2"/>
              </a:rPr>
              <a:t> &lt;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11.       </a:t>
            </a:r>
            <a:r>
              <a:rPr lang="en-US" sz="1400" b="1" dirty="0" err="1">
                <a:solidFill>
                  <a:schemeClr val="accent5"/>
                </a:solidFill>
                <a:latin typeface="Courier New" pitchFamily="49" charset="0"/>
                <a:sym typeface="Symbol" pitchFamily="18" charset="2"/>
              </a:rPr>
              <a:t>dist</a:t>
            </a:r>
            <a:r>
              <a:rPr lang="en-US" sz="1400" b="1" dirty="0">
                <a:solidFill>
                  <a:schemeClr val="accent5"/>
                </a:solidFill>
                <a:latin typeface="Courier New" pitchFamily="49" charset="0"/>
                <a:sym typeface="Symbol" pitchFamily="18" charset="2"/>
              </a:rPr>
              <a:t>[w] = </a:t>
            </a:r>
            <a:r>
              <a:rPr lang="en-US" sz="1400" b="1" dirty="0" err="1">
                <a:solidFill>
                  <a:schemeClr val="accent5"/>
                </a:solidFill>
                <a:latin typeface="Courier New" pitchFamily="49" charset="0"/>
                <a:sym typeface="Symbol" pitchFamily="18" charset="2"/>
              </a:rPr>
              <a:t>wt</a:t>
            </a:r>
            <a:r>
              <a:rPr lang="en-US" sz="1400" b="1" dirty="0">
                <a:solidFill>
                  <a:schemeClr val="accent5"/>
                </a:solidFill>
                <a:latin typeface="Courier New" pitchFamily="49" charset="0"/>
                <a:sym typeface="Symbol" pitchFamily="18" charset="2"/>
              </a:rPr>
              <a:t>(</a:t>
            </a:r>
            <a:r>
              <a:rPr lang="en-US" sz="1400" b="1" dirty="0" err="1">
                <a:solidFill>
                  <a:schemeClr val="accent5"/>
                </a:solidFill>
                <a:latin typeface="Courier New" pitchFamily="49" charset="0"/>
                <a:sym typeface="Symbol" pitchFamily="18" charset="2"/>
              </a:rPr>
              <a:t>v,w</a:t>
            </a:r>
            <a:r>
              <a:rPr lang="en-US" sz="1400" b="1" dirty="0">
                <a:solidFill>
                  <a:schemeClr val="accent5"/>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12.       </a:t>
            </a:r>
            <a:r>
              <a:rPr lang="en-US" sz="1400" b="1" dirty="0" err="1">
                <a:solidFill>
                  <a:schemeClr val="bg1"/>
                </a:solidFill>
                <a:latin typeface="Courier New" pitchFamily="49" charset="0"/>
                <a:sym typeface="Symbol" pitchFamily="18" charset="2"/>
              </a:rPr>
              <a:t>PQ.decreaseKey</a:t>
            </a:r>
            <a:r>
              <a:rPr lang="en-US" sz="1400" b="1" dirty="0">
                <a:solidFill>
                  <a:schemeClr val="bg1"/>
                </a:solidFill>
                <a:latin typeface="Courier New" pitchFamily="49" charset="0"/>
                <a:sym typeface="Symbol" pitchFamily="18" charset="2"/>
              </a:rPr>
              <a:t>(w,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13.       parent[w] = v</a:t>
            </a:r>
          </a:p>
        </p:txBody>
      </p:sp>
      <p:sp>
        <p:nvSpPr>
          <p:cNvPr id="3" name="Rectangle 2">
            <a:extLst>
              <a:ext uri="{FF2B5EF4-FFF2-40B4-BE49-F238E27FC236}">
                <a16:creationId xmlns:a16="http://schemas.microsoft.com/office/drawing/2014/main" id="{A2A55BB5-B66E-3C1D-542A-A99889E620B1}"/>
              </a:ext>
            </a:extLst>
          </p:cNvPr>
          <p:cNvSpPr txBox="1">
            <a:spLocks noChangeArrowheads="1"/>
          </p:cNvSpPr>
          <p:nvPr>
            <p:custDataLst>
              <p:tags r:id="rId4"/>
            </p:custDataLst>
          </p:nvPr>
        </p:nvSpPr>
        <p:spPr>
          <a:xfrm>
            <a:off x="79130" y="894769"/>
            <a:ext cx="6410347" cy="5037909"/>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400" b="1" dirty="0" err="1">
                <a:solidFill>
                  <a:schemeClr val="bg1"/>
                </a:solidFill>
                <a:latin typeface="Courier New" pitchFamily="49" charset="0"/>
              </a:rPr>
              <a:t>dijkstra</a:t>
            </a:r>
            <a:r>
              <a:rPr lang="en-US" sz="1400" b="1" dirty="0">
                <a:solidFill>
                  <a:schemeClr val="bg1"/>
                </a:solidFill>
                <a:latin typeface="Courier New" pitchFamily="49" charset="0"/>
              </a:rPr>
              <a:t>(G, s):</a:t>
            </a:r>
          </a:p>
          <a:p>
            <a:pPr>
              <a:lnSpc>
                <a:spcPct val="80000"/>
              </a:lnSpc>
              <a:buFont typeface="Monotype Sorts" charset="2"/>
              <a:buNone/>
            </a:pPr>
            <a:r>
              <a:rPr lang="en-US" sz="1400" b="1" dirty="0">
                <a:solidFill>
                  <a:schemeClr val="bg1"/>
                </a:solidFill>
                <a:latin typeface="Courier New" pitchFamily="49" charset="0"/>
              </a:rPr>
              <a:t>1. </a:t>
            </a:r>
            <a:r>
              <a:rPr lang="en-US" sz="1400" b="1" dirty="0" err="1">
                <a:solidFill>
                  <a:schemeClr val="accent3"/>
                </a:solidFill>
                <a:latin typeface="Courier New" pitchFamily="49" charset="0"/>
              </a:rPr>
              <a:t>init</a:t>
            </a:r>
            <a:r>
              <a:rPr lang="en-US" sz="1400" b="1" dirty="0">
                <a:solidFill>
                  <a:schemeClr val="accent3"/>
                </a:solidFill>
                <a:latin typeface="Courier New" pitchFamily="49" charset="0"/>
              </a:rPr>
              <a:t> PQ to be empty</a:t>
            </a:r>
          </a:p>
          <a:p>
            <a:pPr>
              <a:lnSpc>
                <a:spcPct val="80000"/>
              </a:lnSpc>
              <a:buFont typeface="Monotype Sorts" charset="2"/>
              <a:buNone/>
            </a:pPr>
            <a:r>
              <a:rPr lang="en-US" sz="1400" b="1" dirty="0">
                <a:solidFill>
                  <a:schemeClr val="bg1"/>
                </a:solidFill>
                <a:latin typeface="Courier New" pitchFamily="49" charset="0"/>
              </a:rPr>
              <a:t>2. </a:t>
            </a:r>
            <a:r>
              <a:rPr lang="en-US" sz="1400" b="1" dirty="0" err="1">
                <a:solidFill>
                  <a:schemeClr val="accent3"/>
                </a:solidFill>
                <a:latin typeface="Courier New" pitchFamily="49" charset="0"/>
              </a:rPr>
              <a:t>PQ.Insert</a:t>
            </a:r>
            <a:r>
              <a:rPr lang="en-US" sz="1400" b="1" dirty="0">
                <a:solidFill>
                  <a:schemeClr val="accent3"/>
                </a:solidFill>
                <a:latin typeface="Courier New" pitchFamily="49" charset="0"/>
              </a:rPr>
              <a:t>(s, </a:t>
            </a:r>
            <a:r>
              <a:rPr lang="en-US" sz="1400" b="1" dirty="0" err="1">
                <a:solidFill>
                  <a:schemeClr val="accent3"/>
                </a:solidFill>
                <a:latin typeface="Courier New" pitchFamily="49" charset="0"/>
              </a:rPr>
              <a:t>dist</a:t>
            </a:r>
            <a:r>
              <a:rPr lang="en-US" sz="1400" b="1" dirty="0">
                <a:solidFill>
                  <a:schemeClr val="accent3"/>
                </a:solidFill>
                <a:latin typeface="Courier New" pitchFamily="49" charset="0"/>
              </a:rPr>
              <a:t>=0)</a:t>
            </a:r>
          </a:p>
          <a:p>
            <a:pPr>
              <a:lnSpc>
                <a:spcPct val="80000"/>
              </a:lnSpc>
              <a:buFont typeface="Monotype Sorts" charset="2"/>
              <a:buNone/>
            </a:pPr>
            <a:r>
              <a:rPr lang="en-US" sz="1400" b="1" dirty="0">
                <a:solidFill>
                  <a:schemeClr val="bg1"/>
                </a:solidFill>
                <a:latin typeface="Courier New" pitchFamily="49" charset="0"/>
                <a:sym typeface="Symbol" pitchFamily="18" charset="2"/>
              </a:rPr>
              <a:t>3. parent[s] = NULL;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[s] = 0;</a:t>
            </a:r>
          </a:p>
          <a:p>
            <a:pPr>
              <a:lnSpc>
                <a:spcPct val="80000"/>
              </a:lnSpc>
              <a:buFont typeface="Monotype Sorts" charset="2"/>
              <a:buNone/>
            </a:pPr>
            <a:r>
              <a:rPr lang="en-US" sz="1400" b="1" dirty="0">
                <a:solidFill>
                  <a:schemeClr val="bg1"/>
                </a:solidFill>
                <a:latin typeface="Courier New" pitchFamily="49" charset="0"/>
                <a:sym typeface="Symbol" pitchFamily="18" charset="2"/>
              </a:rPr>
              <a:t>4. while (</a:t>
            </a:r>
            <a:r>
              <a:rPr lang="en-US" sz="1400" b="1" dirty="0">
                <a:solidFill>
                  <a:schemeClr val="accent3"/>
                </a:solidFill>
                <a:latin typeface="Courier New" pitchFamily="49" charset="0"/>
                <a:sym typeface="Symbol" pitchFamily="18" charset="2"/>
              </a:rPr>
              <a:t>PQ not empty</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5.   v = </a:t>
            </a:r>
            <a:r>
              <a:rPr lang="en-US" sz="1400" b="1" dirty="0" err="1">
                <a:solidFill>
                  <a:schemeClr val="accent3"/>
                </a:solidFill>
                <a:latin typeface="Courier New" pitchFamily="49" charset="0"/>
                <a:sym typeface="Symbol" pitchFamily="18" charset="2"/>
              </a:rPr>
              <a:t>PQ.ExtractMin</a:t>
            </a:r>
            <a:r>
              <a:rPr lang="en-US" sz="1400" b="1" dirty="0">
                <a:solidFill>
                  <a:schemeClr val="accent3"/>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6.   for each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400" b="1" dirty="0">
                <a:solidFill>
                  <a:schemeClr val="bg1"/>
                </a:solidFill>
                <a:latin typeface="Courier New" pitchFamily="49" charset="0"/>
                <a:sym typeface="Symbol" pitchFamily="18" charset="2"/>
              </a:rPr>
              <a:t>7.     if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400" b="1" dirty="0">
                <a:solidFill>
                  <a:schemeClr val="bg1"/>
                </a:solidFill>
                <a:latin typeface="Courier New" pitchFamily="49" charset="0"/>
                <a:sym typeface="Symbol" pitchFamily="18" charset="2"/>
              </a:rPr>
              <a:t>8.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 =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[v] + </a:t>
            </a:r>
            <a:r>
              <a:rPr lang="en-US" sz="1400" b="1" dirty="0" err="1">
                <a:solidFill>
                  <a:schemeClr val="bg1"/>
                </a:solidFill>
                <a:latin typeface="Courier New" pitchFamily="49" charset="0"/>
                <a:sym typeface="Symbol" pitchFamily="18" charset="2"/>
              </a:rPr>
              <a:t>wt</a:t>
            </a:r>
            <a:r>
              <a:rPr lang="en-US" sz="1400" b="1" dirty="0">
                <a:solidFill>
                  <a:schemeClr val="bg1"/>
                </a:solidFill>
                <a:latin typeface="Courier New" pitchFamily="49" charset="0"/>
                <a:sym typeface="Symbol" pitchFamily="18" charset="2"/>
              </a:rPr>
              <a:t>(</a:t>
            </a:r>
            <a:r>
              <a:rPr lang="en-US" sz="1400" b="1" dirty="0" err="1">
                <a:solidFill>
                  <a:schemeClr val="bg1"/>
                </a:solidFill>
                <a:latin typeface="Courier New" pitchFamily="49" charset="0"/>
                <a:sym typeface="Symbol" pitchFamily="18" charset="2"/>
              </a:rPr>
              <a:t>v,w</a:t>
            </a:r>
            <a:r>
              <a:rPr lang="en-US" sz="1400" b="1" dirty="0">
                <a:solidFill>
                  <a:schemeClr val="bg1"/>
                </a:solidFill>
                <a:latin typeface="Courier New" pitchFamily="49" charset="0"/>
                <a:sym typeface="Symbol" pitchFamily="18" charset="2"/>
              </a:rPr>
              <a:t>) </a:t>
            </a:r>
          </a:p>
          <a:p>
            <a:pPr>
              <a:lnSpc>
                <a:spcPct val="80000"/>
              </a:lnSpc>
              <a:buFont typeface="Monotype Sorts" charset="2"/>
              <a:buNone/>
            </a:pPr>
            <a:r>
              <a:rPr lang="en-US" sz="1400" b="1" dirty="0">
                <a:solidFill>
                  <a:schemeClr val="bg1"/>
                </a:solidFill>
                <a:latin typeface="Courier New" pitchFamily="49" charset="0"/>
                <a:sym typeface="Symbol" pitchFamily="18" charset="2"/>
              </a:rPr>
              <a:t>9.        </a:t>
            </a:r>
            <a:r>
              <a:rPr lang="en-US" sz="1400" b="1" dirty="0" err="1">
                <a:solidFill>
                  <a:schemeClr val="accent3"/>
                </a:solidFill>
                <a:latin typeface="Courier New" pitchFamily="49" charset="0"/>
                <a:sym typeface="Symbol" pitchFamily="18" charset="2"/>
              </a:rPr>
              <a:t>PQ.Insert</a:t>
            </a:r>
            <a:r>
              <a:rPr lang="en-US" sz="1400" b="1" dirty="0">
                <a:solidFill>
                  <a:schemeClr val="accent3"/>
                </a:solidFill>
                <a:latin typeface="Courier New" pitchFamily="49" charset="0"/>
                <a:sym typeface="Symbol" pitchFamily="18" charset="2"/>
              </a:rPr>
              <a:t>(w, </a:t>
            </a:r>
            <a:r>
              <a:rPr lang="en-US" sz="1400" b="1" dirty="0" err="1">
                <a:solidFill>
                  <a:schemeClr val="accent3"/>
                </a:solidFill>
                <a:latin typeface="Courier New" pitchFamily="49" charset="0"/>
                <a:sym typeface="Symbol" pitchFamily="18" charset="2"/>
              </a:rPr>
              <a:t>dist</a:t>
            </a:r>
            <a:r>
              <a:rPr lang="en-US" sz="1400" b="1" dirty="0">
                <a:solidFill>
                  <a:schemeClr val="accent3"/>
                </a:solidFill>
                <a:latin typeface="Courier New" pitchFamily="49" charset="0"/>
                <a:sym typeface="Symbol" pitchFamily="18" charset="2"/>
              </a:rPr>
              <a:t>[w] )</a:t>
            </a:r>
          </a:p>
          <a:p>
            <a:pPr>
              <a:lnSpc>
                <a:spcPct val="80000"/>
              </a:lnSpc>
              <a:buFont typeface="Monotype Sorts" charset="2"/>
              <a:buNone/>
            </a:pPr>
            <a:r>
              <a:rPr lang="en-US" sz="1400" b="1" dirty="0">
                <a:solidFill>
                  <a:schemeClr val="bg1"/>
                </a:solidFill>
                <a:latin typeface="Courier New" pitchFamily="49" charset="0"/>
                <a:sym typeface="Symbol" pitchFamily="18" charset="2"/>
              </a:rPr>
              <a:t>10.       parent[w] = v</a:t>
            </a:r>
          </a:p>
          <a:p>
            <a:pPr>
              <a:lnSpc>
                <a:spcPct val="80000"/>
              </a:lnSpc>
              <a:buFont typeface="Monotype Sorts" charset="2"/>
              <a:buNone/>
            </a:pPr>
            <a:r>
              <a:rPr lang="en-US" sz="1400" b="1" dirty="0">
                <a:solidFill>
                  <a:schemeClr val="bg1"/>
                </a:solidFill>
                <a:latin typeface="Courier New" pitchFamily="49" charset="0"/>
                <a:sym typeface="Symbol" pitchFamily="18" charset="2"/>
              </a:rPr>
              <a:t>11.    else if (w is fringe &amp;&amp;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[v]+</a:t>
            </a:r>
            <a:r>
              <a:rPr lang="en-US" sz="1400" b="1" dirty="0" err="1">
                <a:solidFill>
                  <a:schemeClr val="bg1"/>
                </a:solidFill>
                <a:latin typeface="Courier New" pitchFamily="49" charset="0"/>
                <a:sym typeface="Symbol" pitchFamily="18" charset="2"/>
              </a:rPr>
              <a:t>wt</a:t>
            </a:r>
            <a:r>
              <a:rPr lang="en-US" sz="1400" b="1" dirty="0">
                <a:solidFill>
                  <a:schemeClr val="bg1"/>
                </a:solidFill>
                <a:latin typeface="Courier New" pitchFamily="49" charset="0"/>
                <a:sym typeface="Symbol" pitchFamily="18" charset="2"/>
              </a:rPr>
              <a:t>(</a:t>
            </a:r>
            <a:r>
              <a:rPr lang="en-US" sz="1400" b="1" dirty="0" err="1">
                <a:solidFill>
                  <a:schemeClr val="bg1"/>
                </a:solidFill>
                <a:latin typeface="Courier New" pitchFamily="49" charset="0"/>
                <a:sym typeface="Symbol" pitchFamily="18" charset="2"/>
              </a:rPr>
              <a:t>v,w</a:t>
            </a:r>
            <a:r>
              <a:rPr lang="en-US" sz="1400" b="1" dirty="0">
                <a:solidFill>
                  <a:schemeClr val="bg1"/>
                </a:solidFill>
                <a:latin typeface="Courier New" pitchFamily="49" charset="0"/>
                <a:sym typeface="Symbol" pitchFamily="18" charset="2"/>
              </a:rPr>
              <a:t>) &lt;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12.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 =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[v] + </a:t>
            </a:r>
            <a:r>
              <a:rPr lang="en-US" sz="1400" b="1" dirty="0" err="1">
                <a:solidFill>
                  <a:schemeClr val="bg1"/>
                </a:solidFill>
                <a:latin typeface="Courier New" pitchFamily="49" charset="0"/>
                <a:sym typeface="Symbol" pitchFamily="18" charset="2"/>
              </a:rPr>
              <a:t>wt</a:t>
            </a:r>
            <a:r>
              <a:rPr lang="en-US" sz="1400" b="1" dirty="0">
                <a:solidFill>
                  <a:schemeClr val="bg1"/>
                </a:solidFill>
                <a:latin typeface="Courier New" pitchFamily="49" charset="0"/>
                <a:sym typeface="Symbol" pitchFamily="18" charset="2"/>
              </a:rPr>
              <a:t>(</a:t>
            </a:r>
            <a:r>
              <a:rPr lang="en-US" sz="1400" b="1" dirty="0" err="1">
                <a:solidFill>
                  <a:schemeClr val="bg1"/>
                </a:solidFill>
                <a:latin typeface="Courier New" pitchFamily="49" charset="0"/>
                <a:sym typeface="Symbol" pitchFamily="18" charset="2"/>
              </a:rPr>
              <a:t>v,w</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accent3"/>
                </a:solidFill>
                <a:latin typeface="Courier New" pitchFamily="49" charset="0"/>
                <a:sym typeface="Symbol" pitchFamily="18" charset="2"/>
              </a:rPr>
              <a:t>13.       </a:t>
            </a:r>
            <a:r>
              <a:rPr lang="en-US" sz="1400" b="1" dirty="0" err="1">
                <a:solidFill>
                  <a:schemeClr val="accent3"/>
                </a:solidFill>
                <a:latin typeface="Courier New" pitchFamily="49" charset="0"/>
                <a:sym typeface="Symbol" pitchFamily="18" charset="2"/>
              </a:rPr>
              <a:t>PQ.decreaseKey</a:t>
            </a:r>
            <a:r>
              <a:rPr lang="en-US" sz="1400" b="1" dirty="0">
                <a:solidFill>
                  <a:schemeClr val="accent3"/>
                </a:solidFill>
                <a:latin typeface="Courier New" pitchFamily="49" charset="0"/>
                <a:sym typeface="Symbol" pitchFamily="18" charset="2"/>
              </a:rPr>
              <a:t>(w, </a:t>
            </a:r>
            <a:r>
              <a:rPr lang="en-US" sz="1400" b="1" dirty="0" err="1">
                <a:solidFill>
                  <a:schemeClr val="accent3"/>
                </a:solidFill>
                <a:latin typeface="Courier New" pitchFamily="49" charset="0"/>
                <a:sym typeface="Symbol" pitchFamily="18" charset="2"/>
              </a:rPr>
              <a:t>dist</a:t>
            </a:r>
            <a:r>
              <a:rPr lang="en-US" sz="1400" b="1" dirty="0">
                <a:solidFill>
                  <a:schemeClr val="accent3"/>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14.       parent[w] = v</a:t>
            </a:r>
          </a:p>
        </p:txBody>
      </p:sp>
    </p:spTree>
    <p:extLst>
      <p:ext uri="{BB962C8B-B14F-4D97-AF65-F5344CB8AC3E}">
        <p14:creationId xmlns:p14="http://schemas.microsoft.com/office/powerpoint/2010/main" val="29208953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custDataLst>
              <p:tags r:id="rId1"/>
            </p:custDataLst>
          </p:nvPr>
        </p:nvSpPr>
        <p:spPr>
          <a:xfrm>
            <a:off x="1141413" y="240448"/>
            <a:ext cx="9905998" cy="647574"/>
          </a:xfrm>
        </p:spPr>
        <p:txBody>
          <a:bodyPr/>
          <a:lstStyle/>
          <a:p>
            <a:pPr algn="ctr"/>
            <a:r>
              <a:rPr lang="en-US" dirty="0">
                <a:sym typeface="Symbol" pitchFamily="18" charset="2"/>
              </a:rPr>
              <a:t>Better PQ Implementations</a:t>
            </a:r>
          </a:p>
        </p:txBody>
      </p:sp>
      <p:sp>
        <p:nvSpPr>
          <p:cNvPr id="72708" name="Rectangle 3"/>
          <p:cNvSpPr>
            <a:spLocks noGrp="1" noChangeArrowheads="1"/>
          </p:cNvSpPr>
          <p:nvPr>
            <p:ph sz="quarter" idx="1"/>
            <p:custDataLst>
              <p:tags r:id="rId2"/>
            </p:custDataLst>
          </p:nvPr>
        </p:nvSpPr>
        <p:spPr>
          <a:xfrm>
            <a:off x="1204546" y="1213338"/>
            <a:ext cx="9842865" cy="5328139"/>
          </a:xfrm>
        </p:spPr>
        <p:txBody>
          <a:bodyPr/>
          <a:lstStyle/>
          <a:p>
            <a:r>
              <a:rPr lang="en-US" dirty="0">
                <a:sym typeface="Symbol" pitchFamily="18" charset="2"/>
              </a:rPr>
              <a:t>Goal: Lower cost of </a:t>
            </a:r>
            <a:r>
              <a:rPr lang="en-US" dirty="0" err="1">
                <a:sym typeface="Symbol" pitchFamily="18" charset="2"/>
              </a:rPr>
              <a:t>PQ.decreaseKey</a:t>
            </a:r>
            <a:r>
              <a:rPr lang="en-US" dirty="0">
                <a:sym typeface="Symbol" pitchFamily="18" charset="2"/>
              </a:rPr>
              <a:t>()</a:t>
            </a:r>
          </a:p>
          <a:p>
            <a:endParaRPr lang="en-US" dirty="0">
              <a:sym typeface="Symbol" pitchFamily="18" charset="2"/>
            </a:endParaRPr>
          </a:p>
          <a:p>
            <a:r>
              <a:rPr lang="en-US" dirty="0">
                <a:sym typeface="Symbol" pitchFamily="18" charset="2"/>
              </a:rPr>
              <a:t>Example of naïve approach first (I will draw manually) </a:t>
            </a:r>
            <a:r>
              <a:rPr lang="en-US" dirty="0">
                <a:sym typeface="Wingdings" pitchFamily="2" charset="2"/>
              </a:rPr>
              <a:t></a:t>
            </a:r>
            <a:endParaRPr lang="en-US" dirty="0">
              <a:sym typeface="Symbol" pitchFamily="18" charset="2"/>
            </a:endParaRPr>
          </a:p>
        </p:txBody>
      </p:sp>
    </p:spTree>
    <p:extLst>
      <p:ext uri="{BB962C8B-B14F-4D97-AF65-F5344CB8AC3E}">
        <p14:creationId xmlns:p14="http://schemas.microsoft.com/office/powerpoint/2010/main" val="30252543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custDataLst>
              <p:tags r:id="rId1"/>
            </p:custDataLst>
          </p:nvPr>
        </p:nvSpPr>
        <p:spPr>
          <a:xfrm>
            <a:off x="1141413" y="249241"/>
            <a:ext cx="9905998" cy="647574"/>
          </a:xfrm>
        </p:spPr>
        <p:txBody>
          <a:bodyPr/>
          <a:lstStyle/>
          <a:p>
            <a:pPr algn="ctr"/>
            <a:r>
              <a:rPr lang="en-US" dirty="0">
                <a:sym typeface="Symbol" pitchFamily="18" charset="2"/>
              </a:rPr>
              <a:t>Better PQ Implementations</a:t>
            </a:r>
          </a:p>
        </p:txBody>
      </p:sp>
      <p:sp>
        <p:nvSpPr>
          <p:cNvPr id="72708" name="Rectangle 3"/>
          <p:cNvSpPr>
            <a:spLocks noGrp="1" noChangeArrowheads="1"/>
          </p:cNvSpPr>
          <p:nvPr>
            <p:ph sz="quarter" idx="1"/>
            <p:custDataLst>
              <p:tags r:id="rId2"/>
            </p:custDataLst>
          </p:nvPr>
        </p:nvSpPr>
        <p:spPr>
          <a:xfrm>
            <a:off x="1141412" y="1230923"/>
            <a:ext cx="9905999" cy="4560278"/>
          </a:xfrm>
        </p:spPr>
        <p:txBody>
          <a:bodyPr/>
          <a:lstStyle/>
          <a:p>
            <a:r>
              <a:rPr lang="en-US" dirty="0">
                <a:sym typeface="Symbol" pitchFamily="18" charset="2"/>
              </a:rPr>
              <a:t>Goal: Lower cost of </a:t>
            </a:r>
            <a:r>
              <a:rPr lang="en-US" dirty="0" err="1">
                <a:sym typeface="Symbol" pitchFamily="18" charset="2"/>
              </a:rPr>
              <a:t>PQ.decreaseKey</a:t>
            </a:r>
            <a:r>
              <a:rPr lang="en-US" dirty="0">
                <a:sym typeface="Symbol" pitchFamily="18" charset="2"/>
              </a:rPr>
              <a:t>()</a:t>
            </a:r>
          </a:p>
          <a:p>
            <a:endParaRPr lang="en-US" dirty="0">
              <a:sym typeface="Symbol" pitchFamily="18" charset="2"/>
            </a:endParaRPr>
          </a:p>
          <a:p>
            <a:r>
              <a:rPr lang="en-US" dirty="0">
                <a:sym typeface="Symbol" pitchFamily="18" charset="2"/>
              </a:rPr>
              <a:t>Indirect Heap </a:t>
            </a:r>
            <a:r>
              <a:rPr lang="en-US" dirty="0">
                <a:sym typeface="Wingdings" pitchFamily="2" charset="2"/>
              </a:rPr>
              <a:t></a:t>
            </a:r>
            <a:endParaRPr lang="en-US" dirty="0">
              <a:sym typeface="Symbol" pitchFamily="18" charset="2"/>
            </a:endParaRPr>
          </a:p>
        </p:txBody>
      </p:sp>
    </p:spTree>
    <p:extLst>
      <p:ext uri="{BB962C8B-B14F-4D97-AF65-F5344CB8AC3E}">
        <p14:creationId xmlns:p14="http://schemas.microsoft.com/office/powerpoint/2010/main" val="37245574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Summary</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33848252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22864"/>
            <a:ext cx="9905998" cy="726705"/>
          </a:xfrm>
        </p:spPr>
        <p:txBody>
          <a:bodyPr>
            <a:normAutofit/>
          </a:bodyPr>
          <a:lstStyle/>
          <a:p>
            <a:pPr algn="ctr"/>
            <a:r>
              <a:rPr lang="en-US" dirty="0"/>
              <a:t>What Did We Learn?</a:t>
            </a:r>
          </a:p>
        </p:txBody>
      </p:sp>
      <p:sp>
        <p:nvSpPr>
          <p:cNvPr id="6" name="Content Placeholder 5"/>
          <p:cNvSpPr>
            <a:spLocks noGrp="1"/>
          </p:cNvSpPr>
          <p:nvPr>
            <p:ph sz="quarter" idx="1"/>
          </p:nvPr>
        </p:nvSpPr>
        <p:spPr>
          <a:xfrm>
            <a:off x="1141413" y="1924171"/>
            <a:ext cx="9905999" cy="1091591"/>
          </a:xfrm>
          <a:solidFill>
            <a:schemeClr val="tx1">
              <a:lumMod val="95000"/>
            </a:schemeClr>
          </a:solidFill>
          <a:ln>
            <a:solidFill>
              <a:schemeClr val="bg1"/>
            </a:solidFill>
          </a:ln>
        </p:spPr>
        <p:txBody>
          <a:bodyPr>
            <a:normAutofit/>
          </a:bodyPr>
          <a:lstStyle/>
          <a:p>
            <a:pPr marL="0" indent="0">
              <a:buNone/>
            </a:pPr>
            <a:r>
              <a:rPr lang="en-US" b="1" i="1" u="sng" dirty="0">
                <a:solidFill>
                  <a:schemeClr val="bg1"/>
                </a:solidFill>
              </a:rPr>
              <a:t>Review of Dijkstra’s and Prim’s</a:t>
            </a:r>
            <a:r>
              <a:rPr lang="en-US" dirty="0">
                <a:solidFill>
                  <a:schemeClr val="bg1"/>
                </a:solidFill>
              </a:rPr>
              <a:t>: Almost same algorithm but solve different problems!!</a:t>
            </a:r>
          </a:p>
        </p:txBody>
      </p:sp>
      <p:sp>
        <p:nvSpPr>
          <p:cNvPr id="3" name="Content Placeholder 5">
            <a:extLst>
              <a:ext uri="{FF2B5EF4-FFF2-40B4-BE49-F238E27FC236}">
                <a16:creationId xmlns:a16="http://schemas.microsoft.com/office/drawing/2014/main" id="{4A27E6E9-E493-DD82-FC78-A1CD1FD12CAD}"/>
              </a:ext>
            </a:extLst>
          </p:cNvPr>
          <p:cNvSpPr txBox="1">
            <a:spLocks/>
          </p:cNvSpPr>
          <p:nvPr/>
        </p:nvSpPr>
        <p:spPr>
          <a:xfrm>
            <a:off x="1141412" y="3533164"/>
            <a:ext cx="9905999" cy="81835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Indirect heap</a:t>
            </a:r>
            <a:r>
              <a:rPr lang="en-US" dirty="0">
                <a:solidFill>
                  <a:schemeClr val="bg1"/>
                </a:solidFill>
              </a:rPr>
              <a:t> and better runtime for each algorithm</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Extra Problem (If Time Allows)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25569287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1413" y="428017"/>
            <a:ext cx="9905998" cy="638782"/>
          </a:xfrm>
        </p:spPr>
        <p:txBody>
          <a:bodyPr/>
          <a:lstStyle/>
          <a:p>
            <a:pPr algn="ctr"/>
            <a:r>
              <a:rPr lang="en-US" dirty="0"/>
              <a:t>Solve This Problem</a:t>
            </a:r>
          </a:p>
        </p:txBody>
      </p:sp>
      <p:sp>
        <p:nvSpPr>
          <p:cNvPr id="35843" name="Content Placeholder 2"/>
          <p:cNvSpPr>
            <a:spLocks noGrp="1"/>
          </p:cNvSpPr>
          <p:nvPr>
            <p:ph sz="quarter" idx="1"/>
          </p:nvPr>
        </p:nvSpPr>
        <p:spPr>
          <a:xfrm>
            <a:off x="1141412" y="1801079"/>
            <a:ext cx="9905999" cy="3541714"/>
          </a:xfrm>
        </p:spPr>
        <p:txBody>
          <a:bodyPr>
            <a:normAutofit/>
          </a:bodyPr>
          <a:lstStyle/>
          <a:p>
            <a:r>
              <a:rPr lang="en-US" dirty="0"/>
              <a:t>Suppose </a:t>
            </a:r>
            <a:r>
              <a:rPr lang="en-US" dirty="0" err="1"/>
              <a:t>Floryan</a:t>
            </a:r>
            <a:r>
              <a:rPr lang="en-US" dirty="0"/>
              <a:t> is traveling by flying from city S to city D. </a:t>
            </a:r>
            <a:r>
              <a:rPr lang="en-US" dirty="0" err="1"/>
              <a:t>Floryan</a:t>
            </a:r>
            <a:r>
              <a:rPr lang="en-US" dirty="0"/>
              <a:t> doesn’t mind sitting on planes, but he REALLY dislikes layovers in airports (I mean, you are just SITTING there not making any progress).</a:t>
            </a:r>
          </a:p>
          <a:p>
            <a:endParaRPr lang="en-US" dirty="0"/>
          </a:p>
          <a:p>
            <a:r>
              <a:rPr lang="en-US" dirty="0"/>
              <a:t>Given </a:t>
            </a:r>
            <a:r>
              <a:rPr lang="en-US" dirty="0" err="1"/>
              <a:t>Floryan’s</a:t>
            </a:r>
            <a:r>
              <a:rPr lang="en-US" dirty="0"/>
              <a:t> start city S, destination city D, and a long list of flights (each flight is start city, end city, departure date/time, arrival date/time), can you find the optimal itinerary that minimizes </a:t>
            </a:r>
            <a:r>
              <a:rPr lang="en-US" dirty="0" err="1"/>
              <a:t>Floryan’s</a:t>
            </a:r>
            <a:r>
              <a:rPr lang="en-US" dirty="0"/>
              <a:t> layover time?</a:t>
            </a:r>
          </a:p>
          <a:p>
            <a:endParaRPr lang="en-US" dirty="0"/>
          </a:p>
        </p:txBody>
      </p:sp>
    </p:spTree>
    <p:extLst>
      <p:ext uri="{BB962C8B-B14F-4D97-AF65-F5344CB8AC3E}">
        <p14:creationId xmlns:p14="http://schemas.microsoft.com/office/powerpoint/2010/main" val="31969578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US" dirty="0"/>
              <a:t>Solution:</a:t>
            </a:r>
          </a:p>
        </p:txBody>
      </p:sp>
      <p:sp>
        <p:nvSpPr>
          <p:cNvPr id="35843" name="Content Placeholder 2"/>
          <p:cNvSpPr>
            <a:spLocks noGrp="1"/>
          </p:cNvSpPr>
          <p:nvPr>
            <p:ph sz="quarter" idx="1"/>
          </p:nvPr>
        </p:nvSpPr>
        <p:spPr/>
        <p:txBody>
          <a:bodyPr>
            <a:normAutofit/>
          </a:bodyPr>
          <a:lstStyle/>
          <a:p>
            <a:endParaRPr lang="en-US" dirty="0"/>
          </a:p>
        </p:txBody>
      </p:sp>
    </p:spTree>
    <p:extLst>
      <p:ext uri="{BB962C8B-B14F-4D97-AF65-F5344CB8AC3E}">
        <p14:creationId xmlns:p14="http://schemas.microsoft.com/office/powerpoint/2010/main" val="30664742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39436</TotalTime>
  <Words>2507</Words>
  <Application>Microsoft Macintosh PowerPoint</Application>
  <PresentationFormat>Widescreen</PresentationFormat>
  <Paragraphs>347</Paragraphs>
  <Slides>37</Slides>
  <Notes>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37</vt:i4>
      </vt:variant>
    </vt:vector>
  </HeadingPairs>
  <TitlesOfParts>
    <vt:vector size="47" baseType="lpstr">
      <vt:lpstr>Arial</vt:lpstr>
      <vt:lpstr>Calibri</vt:lpstr>
      <vt:lpstr>Cambria Math</vt:lpstr>
      <vt:lpstr>Courier New</vt:lpstr>
      <vt:lpstr>Monotype Sorts</vt:lpstr>
      <vt:lpstr>Symbol</vt:lpstr>
      <vt:lpstr>Tw Cen MT</vt:lpstr>
      <vt:lpstr>Wingdings</vt:lpstr>
      <vt:lpstr>Wingdings 3</vt:lpstr>
      <vt:lpstr>Circuit</vt:lpstr>
      <vt:lpstr>Graphs: Dijkstra’s Algorithm And Prim’s Algorithm</vt:lpstr>
      <vt:lpstr>Topics!</vt:lpstr>
      <vt:lpstr>Dijkstra’s Algorithm</vt:lpstr>
      <vt:lpstr>Weighted Shortest Path</vt:lpstr>
      <vt:lpstr>Dijkstra’s Algorithm</vt:lpstr>
      <vt:lpstr>Dijkstra’s Algorithm</vt:lpstr>
      <vt:lpstr>Dijkstra’s algorithm Overview</vt:lpstr>
      <vt:lpstr>Example</vt:lpstr>
      <vt:lpstr>Dijkstra’s algorithm Psuedocode</vt:lpstr>
      <vt:lpstr>Dijkstra' Algorithm</vt:lpstr>
      <vt:lpstr>Dijkstra’s Proof of Correctness</vt:lpstr>
      <vt:lpstr>How to Prove Correctness?</vt:lpstr>
      <vt:lpstr>Proof w/ Picture:</vt:lpstr>
      <vt:lpstr>Proof w/ Picture:</vt:lpstr>
      <vt:lpstr>Proof w/ Picture:</vt:lpstr>
      <vt:lpstr>Formulas</vt:lpstr>
      <vt:lpstr>Formulas</vt:lpstr>
      <vt:lpstr>Prim’s Algorithm</vt:lpstr>
      <vt:lpstr>Spanning Tree</vt:lpstr>
      <vt:lpstr>Spanning Tree: Example</vt:lpstr>
      <vt:lpstr>Spanning Tree: Example (almost)</vt:lpstr>
      <vt:lpstr>Minimum Spanning Tree</vt:lpstr>
      <vt:lpstr>Prim’s Algorithm</vt:lpstr>
      <vt:lpstr>Prim’s algorithm</vt:lpstr>
      <vt:lpstr>Prim’s Algorithm for MST</vt:lpstr>
      <vt:lpstr>Example By Hand</vt:lpstr>
      <vt:lpstr>Prim’s Algorithm</vt:lpstr>
      <vt:lpstr>Prim’s Algorithm</vt:lpstr>
      <vt:lpstr>Indirect Heaps</vt:lpstr>
      <vt:lpstr>Compare</vt:lpstr>
      <vt:lpstr>Better PQ Implementations</vt:lpstr>
      <vt:lpstr>Better PQ Implementations</vt:lpstr>
      <vt:lpstr>Summary</vt:lpstr>
      <vt:lpstr>What Did We Learn?</vt:lpstr>
      <vt:lpstr>Extra Problem (If Time Allows)</vt:lpstr>
      <vt:lpstr>Solve This Problem</vt:lpstr>
      <vt:lpstr>Solution: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245</cp:revision>
  <dcterms:created xsi:type="dcterms:W3CDTF">2023-02-24T14:15:53Z</dcterms:created>
  <dcterms:modified xsi:type="dcterms:W3CDTF">2025-09-11T13:15:59Z</dcterms:modified>
</cp:coreProperties>
</file>