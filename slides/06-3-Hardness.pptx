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1"/>
  </p:notesMasterIdLst>
  <p:sldIdLst>
    <p:sldId id="256" r:id="rId2"/>
    <p:sldId id="786" r:id="rId3"/>
    <p:sldId id="867" r:id="rId4"/>
    <p:sldId id="866" r:id="rId5"/>
    <p:sldId id="868" r:id="rId6"/>
    <p:sldId id="869" r:id="rId7"/>
    <p:sldId id="470" r:id="rId8"/>
    <p:sldId id="871" r:id="rId9"/>
    <p:sldId id="872" r:id="rId10"/>
    <p:sldId id="819" r:id="rId11"/>
    <p:sldId id="873" r:id="rId12"/>
    <p:sldId id="874" r:id="rId13"/>
    <p:sldId id="875" r:id="rId14"/>
    <p:sldId id="820" r:id="rId15"/>
    <p:sldId id="821" r:id="rId16"/>
    <p:sldId id="822" r:id="rId17"/>
    <p:sldId id="823" r:id="rId18"/>
    <p:sldId id="824" r:id="rId19"/>
    <p:sldId id="876" r:id="rId20"/>
    <p:sldId id="870" r:id="rId21"/>
    <p:sldId id="834" r:id="rId22"/>
    <p:sldId id="878" r:id="rId23"/>
    <p:sldId id="879" r:id="rId24"/>
    <p:sldId id="880" r:id="rId25"/>
    <p:sldId id="877" r:id="rId26"/>
    <p:sldId id="881" r:id="rId27"/>
    <p:sldId id="789" r:id="rId28"/>
    <p:sldId id="790" r:id="rId29"/>
    <p:sldId id="79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405"/>
    <p:restoredTop sz="94746"/>
  </p:normalViewPr>
  <p:slideViewPr>
    <p:cSldViewPr snapToGrid="0" snapToObjects="1">
      <p:cViewPr varScale="1">
        <p:scale>
          <a:sx n="147" d="100"/>
          <a:sy n="147" d="100"/>
        </p:scale>
        <p:origin x="125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C5133-F893-F14C-BA08-1EC9586E074E}" type="datetime1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B50B-1FD8-5E46-8B10-0DF06EAB94B0}" type="datetime1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5F7E1-7C38-2D4D-8C00-4127E00B0B48}" type="datetime1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A6956-3551-B545-9486-3BB7F190A0D2}" type="datetime1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6C75B-25A0-6544-8302-D042197E05AD}" type="datetime1">
              <a:rPr lang="en-US" smtClean="0"/>
              <a:t>10/15/25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4C7BB-BA6C-1645-9DAD-75B2F2C54F5F}" type="datetime1">
              <a:rPr lang="en-US" smtClean="0"/>
              <a:t>10/15/25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4012-384C-9A46-A1BB-C4ECB3A515E2}" type="datetime1">
              <a:rPr lang="en-US" smtClean="0"/>
              <a:t>10/15/25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591FD-BB3A-3E45-BDDF-440A7F347371}" type="datetime1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7735C-1C73-1945-A987-CC3C33F7E070}" type="datetime1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846-DDBA-4B41-AB95-6CC7486A9594}" type="datetime1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347C4-88DA-C446-8E50-9CCD1CDD5CFD}" type="datetime1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B3FC4-8F4E-0048-9E6E-571457D9347D}" type="datetime1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FB70-2694-734B-BD00-3E9B1243DA1B}" type="datetime1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6664F-3BD9-3D47-89E3-C16CBAA67B09}" type="datetime1">
              <a:rPr lang="en-US" smtClean="0"/>
              <a:t>10/15/25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30052-022C-594D-BCC4-41E81B10B173}" type="datetime1">
              <a:rPr lang="en-US" smtClean="0"/>
              <a:t>10/15/25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A53BD-D470-4D45-A2F4-FDA414AF0BDC}" type="datetime1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ECF03-F18B-C94B-8BE4-E6A6733BA604}" type="datetime1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95C4-FA21-394A-8B12-BECDBE77E1C6}" type="datetime1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 brief Introduction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33C82-FB1E-9B41-9C6B-87C336C49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26780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Roadmap: Goals for this deck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9E30A-8B11-F04A-8AA0-33FCB281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63422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Reductions help us establish one problem is at least as hard as another. Can we find the “hardest problems”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635573-5EE1-B1C1-A13F-4BBFE81B17FC}"/>
              </a:ext>
            </a:extLst>
          </p:cNvPr>
          <p:cNvSpPr txBox="1">
            <a:spLocks/>
          </p:cNvSpPr>
          <p:nvPr/>
        </p:nvSpPr>
        <p:spPr>
          <a:xfrm>
            <a:off x="2443843" y="295372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What do these hard problems look like and how do we know that they are the “hardest” in some set of problems.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2C9E4A-13BD-F16C-BD0B-73B4F7C5BA31}"/>
              </a:ext>
            </a:extLst>
          </p:cNvPr>
          <p:cNvSpPr txBox="1">
            <a:spLocks/>
          </p:cNvSpPr>
          <p:nvPr/>
        </p:nvSpPr>
        <p:spPr>
          <a:xfrm>
            <a:off x="2443843" y="427321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Along the way: A brief introduction to NP-Complete problems.</a:t>
            </a:r>
          </a:p>
        </p:txBody>
      </p:sp>
    </p:spTree>
    <p:extLst>
      <p:ext uri="{BB962C8B-B14F-4D97-AF65-F5344CB8AC3E}">
        <p14:creationId xmlns:p14="http://schemas.microsoft.com/office/powerpoint/2010/main" val="3800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F863-B5F4-DD9E-DF26-EE6DE9E91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Reminders</a:t>
            </a:r>
          </a:p>
        </p:txBody>
      </p:sp>
    </p:spTree>
    <p:extLst>
      <p:ext uri="{BB962C8B-B14F-4D97-AF65-F5344CB8AC3E}">
        <p14:creationId xmlns:p14="http://schemas.microsoft.com/office/powerpoint/2010/main" val="20499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89B9D-2CE9-5A01-9FED-A71AE382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00E6-23F7-3E76-D64B-AAA694E43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854313-B84E-7D72-24B8-D880992F6E8B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2C5D605-4969-40F5-67A9-6E8F6C1C74CD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69889-41CF-B38E-79C1-86401C4CC8C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CE132D-23E8-F8EE-60D2-AFBD22033406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6C15EF8-D107-F8CF-C0D7-1670A341FF9C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D3423DD2-75D2-185C-5620-2195E1AC847A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40A0809-8B00-5EBD-FA8C-7C13F5BAA499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485E36A-0BBC-88F2-9557-EE3A544CB487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D4E553-883A-707B-7293-493B644AE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0CB0B25-14A9-D3A3-BA87-255836837DA1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858908E-CD89-76DA-6BD8-298466DB38F0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DAD8E7B-0FE5-6728-EC83-7A223E907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B3A717-8F66-48D0-5A7C-CA0D5E1B58F3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0EDB5-9200-F62D-C9AF-1E1EBB54F1EE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CE8C4A8-084E-6474-AF11-C693AA710671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D78F2B-40F3-E1C8-8B2A-B3A387730BA2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D34BBFB-C803-8FF6-E5E6-CC4B72ABF78E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80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7794-F11E-B10B-4235-4012CF32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CFB1E-819B-CD88-5855-7579C0A1A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2DD1A-F1B3-043C-975C-DFB97546290F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BAAEDC0-ABB7-6DA1-49A5-EBDA0E6A3B1B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BFD8FA-0054-4978-EC86-07BAA4412BB2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E852B31-BB8C-AB9C-0065-D7809D30E99B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27F562D-F281-8E71-44BF-A9AD53752158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2063873-9E34-A5CE-4107-3133E6274469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FD4DE6-3E0F-4FA1-C5FD-BC744AB437F8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5202C7-0441-8841-71EF-A2913CFA1500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8715067-7AB7-40AC-FDE6-A654A85F93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D2F93C5-2D62-2AF7-D6DA-532AC0A00266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584B658-980A-806F-640A-472A2EBA24E5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414CBEB-52B0-FE3E-49EF-BAC6EA922B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933238-82AA-EEF2-5D10-B789B6788DC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B2DE3F-D2EF-49F2-D20C-41E818EC9C31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A3B4803-1C10-9B8E-48DC-A5FE3574A445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CE9B6B-8C03-841C-AE9A-EDB93E2DDF66}"/>
              </a:ext>
            </a:extLst>
          </p:cNvPr>
          <p:cNvSpPr txBox="1"/>
          <p:nvPr/>
        </p:nvSpPr>
        <p:spPr>
          <a:xfrm>
            <a:off x="7328638" y="5942200"/>
            <a:ext cx="3881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So…can we find the hardest problems that computers need to solve?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EF2268-7855-895E-9B30-71C4D8D033AF}"/>
              </a:ext>
            </a:extLst>
          </p:cNvPr>
          <p:cNvCxnSpPr>
            <a:cxnSpLocks/>
          </p:cNvCxnSpPr>
          <p:nvPr/>
        </p:nvCxnSpPr>
        <p:spPr>
          <a:xfrm flipV="1">
            <a:off x="8373600" y="5385600"/>
            <a:ext cx="266400" cy="556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78BA15-2AD4-4FF4-2B5D-E31ABF5081B1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6EE15-8EF4-A1C2-F9E2-F5BDF37C9250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28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5E07-F4A3-5400-CAE6-351CFEB9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E696A-92B2-8346-CEED-B25A14D36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1945980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Finding the Hardest Problems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DE71-5F15-D842-8C87-B5FE3BBA7ABB}"/>
              </a:ext>
            </a:extLst>
          </p:cNvPr>
          <p:cNvSpPr txBox="1"/>
          <p:nvPr/>
        </p:nvSpPr>
        <p:spPr>
          <a:xfrm>
            <a:off x="1377105" y="1497600"/>
            <a:ext cx="94346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Goal</a:t>
            </a:r>
            <a:r>
              <a:rPr lang="en-US" sz="2400" dirty="0"/>
              <a:t>: We want to identify what some of the hardest problems for computers to solve. We can do this by relating the difficulty of problems through reduction!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79F77-20F4-97C9-ABB1-9EE72C0DFB4F}"/>
              </a:ext>
            </a:extLst>
          </p:cNvPr>
          <p:cNvSpPr txBox="1"/>
          <p:nvPr/>
        </p:nvSpPr>
        <p:spPr>
          <a:xfrm>
            <a:off x="1377106" y="3473940"/>
            <a:ext cx="9434611" cy="15696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ysClr val="windowText" lastClr="000000"/>
                </a:solidFill>
              </a:rPr>
              <a:t>Complexity Class</a:t>
            </a:r>
            <a:r>
              <a:rPr lang="en-US" sz="3200" dirty="0">
                <a:solidFill>
                  <a:sysClr val="windowText" lastClr="000000"/>
                </a:solidFill>
              </a:rPr>
              <a:t>: A set (group) of problems that all have the same (or similar) difficulty to solve (given some definition of “same”).</a:t>
            </a:r>
          </a:p>
        </p:txBody>
      </p:sp>
    </p:spTree>
    <p:extLst>
      <p:ext uri="{BB962C8B-B14F-4D97-AF65-F5344CB8AC3E}">
        <p14:creationId xmlns:p14="http://schemas.microsoft.com/office/powerpoint/2010/main" val="314472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649D-810F-CD40-AE53-4B0400BF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675E6-03BA-BB76-2FCB-CDF0062BA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class P is the set of all problems that can be solved by a computer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blipFill>
                <a:blip r:embed="rId2"/>
                <a:stretch>
                  <a:fillRect l="-2740" r="-239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86B35DFF-E4C0-D75F-6ACC-AA213846CD84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F0056E8-8A2C-8CC1-1648-0F5DA356D609}"/>
              </a:ext>
            </a:extLst>
          </p:cNvPr>
          <p:cNvSpPr txBox="1">
            <a:spLocks/>
          </p:cNvSpPr>
          <p:nvPr/>
        </p:nvSpPr>
        <p:spPr>
          <a:xfrm>
            <a:off x="1973528" y="1106221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Important</a:t>
            </a:r>
            <a:r>
              <a:rPr lang="en-US" sz="1600" i="1" dirty="0"/>
              <a:t>: P is a set of problems (not solutions, not algorithms)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2B00B1-699E-C650-91F0-F61968E80EBE}"/>
              </a:ext>
            </a:extLst>
          </p:cNvPr>
          <p:cNvCxnSpPr/>
          <p:nvPr/>
        </p:nvCxnSpPr>
        <p:spPr>
          <a:xfrm>
            <a:off x="3750733" y="1888065"/>
            <a:ext cx="14308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F4A1826-B785-B108-33B5-F33D624B2EA6}"/>
              </a:ext>
            </a:extLst>
          </p:cNvPr>
          <p:cNvSpPr txBox="1">
            <a:spLocks/>
          </p:cNvSpPr>
          <p:nvPr/>
        </p:nvSpPr>
        <p:spPr>
          <a:xfrm>
            <a:off x="8200228" y="1234808"/>
            <a:ext cx="3856305" cy="282919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 problems in this set include</a:t>
            </a:r>
            <a:r>
              <a:rPr lang="en-US" sz="16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Sorting a list of numbers</a:t>
            </a:r>
            <a:br>
              <a:rPr lang="en-US" sz="1600" i="1" dirty="0"/>
            </a:br>
            <a:r>
              <a:rPr lang="en-US" sz="1600" i="1" dirty="0"/>
              <a:t>Inserting into a binary tree</a:t>
            </a:r>
            <a:br>
              <a:rPr lang="en-US" sz="1600" i="1" dirty="0"/>
            </a:br>
            <a:r>
              <a:rPr lang="en-US" sz="1600" i="1" dirty="0"/>
              <a:t>Computing the average of a list of numbers</a:t>
            </a:r>
            <a:br>
              <a:rPr lang="en-US" sz="1600" i="1" dirty="0"/>
            </a:br>
            <a:r>
              <a:rPr lang="en-US" sz="1600" i="1" dirty="0"/>
              <a:t>Printing “hello world”</a:t>
            </a:r>
            <a:br>
              <a:rPr lang="en-US" sz="1600" i="1" dirty="0"/>
            </a:br>
            <a:r>
              <a:rPr lang="en-US" sz="1600" i="1" dirty="0"/>
              <a:t>Find() in a hash table</a:t>
            </a:r>
            <a:br>
              <a:rPr lang="en-US" sz="1600" i="1" dirty="0"/>
            </a:br>
            <a:r>
              <a:rPr lang="en-US" sz="1600" i="1" dirty="0"/>
              <a:t>…and many more</a:t>
            </a:r>
            <a:br>
              <a:rPr lang="en-US" sz="1600" i="1" dirty="0"/>
            </a:br>
            <a:endParaRPr lang="en-US" sz="1600" i="1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25095-C963-E46C-3039-4B76CB857EA0}"/>
              </a:ext>
            </a:extLst>
          </p:cNvPr>
          <p:cNvCxnSpPr>
            <a:cxnSpLocks/>
          </p:cNvCxnSpPr>
          <p:nvPr/>
        </p:nvCxnSpPr>
        <p:spPr>
          <a:xfrm flipV="1">
            <a:off x="6771745" y="1573213"/>
            <a:ext cx="1352282" cy="32913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7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017-E4C6-F79A-4E8B-EBCA3D09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E653E8-281C-3C56-BCEF-5EE6F1C73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54F7E8B-B444-F9D9-6B64-ABC2198FECA3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6B429B8-4834-276C-C8F9-AF9DC8844F0F}"/>
              </a:ext>
            </a:extLst>
          </p:cNvPr>
          <p:cNvSpPr txBox="1">
            <a:spLocks/>
          </p:cNvSpPr>
          <p:nvPr/>
        </p:nvSpPr>
        <p:spPr>
          <a:xfrm>
            <a:off x="1318328" y="1409698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Essentially</a:t>
            </a:r>
            <a:r>
              <a:rPr lang="en-US" sz="1600" i="1" dirty="0"/>
              <a:t>: P is a set of problems we can solve quickly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4D8735-2186-A505-BE74-1986E447B4BC}"/>
              </a:ext>
            </a:extLst>
          </p:cNvPr>
          <p:cNvCxnSpPr>
            <a:cxnSpLocks/>
          </p:cNvCxnSpPr>
          <p:nvPr/>
        </p:nvCxnSpPr>
        <p:spPr>
          <a:xfrm>
            <a:off x="3484333" y="2031996"/>
            <a:ext cx="16924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bg1"/>
                    </a:solidFill>
                  </a:rPr>
                  <a:t>NP is the set of problems for which solutions can be </a:t>
                </a:r>
                <a:r>
                  <a:rPr lang="en-US" sz="1600" i="1" dirty="0">
                    <a:solidFill>
                      <a:schemeClr val="accent3"/>
                    </a:solidFill>
                  </a:rPr>
                  <a:t>verified as correct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sz="1600" i="1" dirty="0">
                    <a:solidFill>
                      <a:schemeClr val="bg1"/>
                    </a:solidFill>
                  </a:rPr>
                  <a:t>(the difficulty of finding solutions varies)</a:t>
                </a:r>
              </a:p>
            </p:txBody>
          </p:sp>
        </mc:Choice>
        <mc:Fallback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blipFill>
                <a:blip r:embed="rId3"/>
                <a:stretch>
                  <a:fillRect l="-690" r="-20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6120215" y="1296548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D1CA701-6607-7E4F-856B-6053AF5505F9}"/>
              </a:ext>
            </a:extLst>
          </p:cNvPr>
          <p:cNvSpPr txBox="1">
            <a:spLocks/>
          </p:cNvSpPr>
          <p:nvPr/>
        </p:nvSpPr>
        <p:spPr>
          <a:xfrm>
            <a:off x="2066032" y="1785679"/>
            <a:ext cx="2832007" cy="34422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NP: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81425-90FA-9EDA-35C9-ED280CAA5E49}"/>
              </a:ext>
            </a:extLst>
          </p:cNvPr>
          <p:cNvSpPr txBox="1"/>
          <p:nvPr/>
        </p:nvSpPr>
        <p:spPr>
          <a:xfrm>
            <a:off x="1098566" y="4377547"/>
            <a:ext cx="3926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You will see the formal definition and talk about this complexity class in more detail in DMT2!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79A768-A09A-F4A4-F0CC-851618155E66}"/>
              </a:ext>
            </a:extLst>
          </p:cNvPr>
          <p:cNvCxnSpPr/>
          <p:nvPr/>
        </p:nvCxnSpPr>
        <p:spPr>
          <a:xfrm flipH="1">
            <a:off x="2296435" y="3328472"/>
            <a:ext cx="475200" cy="928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/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For now, just trust us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1600" i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DF80A8-D519-9F28-AF03-4B3A67DEE6EE}"/>
              </a:ext>
            </a:extLst>
          </p:cNvPr>
          <p:cNvCxnSpPr>
            <a:cxnSpLocks/>
          </p:cNvCxnSpPr>
          <p:nvPr/>
        </p:nvCxnSpPr>
        <p:spPr>
          <a:xfrm>
            <a:off x="7813200" y="5488083"/>
            <a:ext cx="150000" cy="4644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03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1339-CF95-CA1C-D461-EC273884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CE94-E2DC-3524-8B85-649FFF7FD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106" y="1025487"/>
            <a:ext cx="4841788" cy="731313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What does it mean to “verify quickly”? Consider the following problem?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87B41E-749A-E4C8-F323-E64AD407A1E4}"/>
              </a:ext>
            </a:extLst>
          </p:cNvPr>
          <p:cNvSpPr txBox="1">
            <a:spLocks/>
          </p:cNvSpPr>
          <p:nvPr/>
        </p:nvSpPr>
        <p:spPr>
          <a:xfrm>
            <a:off x="1252624" y="21774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7E0F5-CCBD-E741-644C-51B0BB8195DB}"/>
              </a:ext>
            </a:extLst>
          </p:cNvPr>
          <p:cNvSpPr txBox="1">
            <a:spLocks/>
          </p:cNvSpPr>
          <p:nvPr/>
        </p:nvSpPr>
        <p:spPr>
          <a:xfrm>
            <a:off x="3673518" y="35835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</p:spTree>
    <p:extLst>
      <p:ext uri="{BB962C8B-B14F-4D97-AF65-F5344CB8AC3E}">
        <p14:creationId xmlns:p14="http://schemas.microsoft.com/office/powerpoint/2010/main" val="2059774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78FEE-70CB-3B9E-3854-75C2D6D8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7B91-5493-6800-311E-8F1656ABF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536F54-E269-3619-F517-C283D28BA6E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C13E39-42D5-5176-E87B-759924CA7415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03FB7-368A-A2D5-4757-CF69C1F11E6E}"/>
              </a:ext>
            </a:extLst>
          </p:cNvPr>
          <p:cNvSpPr txBox="1"/>
          <p:nvPr/>
        </p:nvSpPr>
        <p:spPr>
          <a:xfrm>
            <a:off x="1598400" y="3853544"/>
            <a:ext cx="3420000" cy="175432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Solve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Figure out if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 with no additional info. Pretty hard to do (there are algorithms for this FYI)!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BC345-9AA9-17E7-B54E-1E606D2DAE41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DA5D8-C732-D77D-93BF-08689764BB27}"/>
              </a:ext>
            </a:extLst>
          </p:cNvPr>
          <p:cNvCxnSpPr/>
          <p:nvPr/>
        </p:nvCxnSpPr>
        <p:spPr>
          <a:xfrm flipH="1">
            <a:off x="3866400" y="2997257"/>
            <a:ext cx="820800" cy="71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37526E-A4A6-C1F1-DDC7-C1EE66F5B3FD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896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8A2B1-F53E-02A2-04DE-1069A86A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C20D9-BA4E-40D8-8C66-2834382C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D7BA2B-FDF7-0AFD-8D95-5C2F98B4DC6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52A499-628B-2424-7A7E-E4B6EF7F6451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4EE1A-817C-A376-3432-81C6AE01C9C7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2B07B0-BA31-C47E-05D5-41093DD8CED4}"/>
              </a:ext>
            </a:extLst>
          </p:cNvPr>
          <p:cNvCxnSpPr>
            <a:cxnSpLocks/>
          </p:cNvCxnSpPr>
          <p:nvPr/>
        </p:nvCxnSpPr>
        <p:spPr>
          <a:xfrm flipH="1" flipV="1">
            <a:off x="5040000" y="4593600"/>
            <a:ext cx="1792800" cy="1936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EB5A9-7E1E-EF91-D442-2C01365308B8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/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Since verifying solutions is polynomial time (in this case,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), this problem is in the set NP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blipFill>
                <a:blip r:embed="rId2"/>
                <a:stretch>
                  <a:fillRect l="-1826" t="-2105" r="-411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34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Back to our Diagram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574324" y="4643553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Almost every algorithm we have studied has a polynomial time algorithm and is in 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505178" y="4802400"/>
            <a:ext cx="1492422" cy="34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5BFA89-9846-5295-461C-B846C6235AA2}"/>
              </a:ext>
            </a:extLst>
          </p:cNvPr>
          <p:cNvSpPr txBox="1">
            <a:spLocks/>
          </p:cNvSpPr>
          <p:nvPr/>
        </p:nvSpPr>
        <p:spPr>
          <a:xfrm>
            <a:off x="1502324" y="1458036"/>
            <a:ext cx="3226596" cy="95396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problem that sits at the very top here? For our purposes, this is the “hardest” problem (hardest in these groups we are choosing to study)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D8FB0-0E81-6C34-4F90-199764A50DA8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691358" y="1744659"/>
            <a:ext cx="2317572" cy="9313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11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3BEB5F83-FE3A-8245-91A4-E21E1020472F}"/>
              </a:ext>
            </a:extLst>
          </p:cNvPr>
          <p:cNvSpPr txBox="1">
            <a:spLocks/>
          </p:cNvSpPr>
          <p:nvPr/>
        </p:nvSpPr>
        <p:spPr>
          <a:xfrm>
            <a:off x="1112652" y="3823222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NP-Hard problems are defined to be all problems that are this hard OR harder.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B23BFE-72AD-684A-949E-4D647D62BDE8}"/>
              </a:ext>
            </a:extLst>
          </p:cNvPr>
          <p:cNvCxnSpPr>
            <a:cxnSpLocks/>
          </p:cNvCxnSpPr>
          <p:nvPr/>
        </p:nvCxnSpPr>
        <p:spPr>
          <a:xfrm flipV="1">
            <a:off x="2625505" y="2842788"/>
            <a:ext cx="200890" cy="9338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872132" y="2049753"/>
            <a:ext cx="2355130" cy="6988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Suppose we have find the hardest problem in NP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088723" y="1837790"/>
            <a:ext cx="2782857" cy="56137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66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51072" y="813235"/>
            <a:ext cx="2506589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371892-3A55-864A-BE74-1F51EA687C93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1CE101F-D131-5E4B-B329-8B3F728A41A4}"/>
                </a:ext>
              </a:extLst>
            </p:cNvPr>
            <p:cNvGrpSpPr/>
            <p:nvPr/>
          </p:nvGrpSpPr>
          <p:grpSpPr>
            <a:xfrm>
              <a:off x="5908350" y="2496096"/>
              <a:ext cx="4714481" cy="4063996"/>
              <a:chOff x="4523051" y="1761068"/>
              <a:chExt cx="4714481" cy="4063996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CBE22B-00AF-0249-B60F-AB6706A81B95}"/>
                  </a:ext>
                </a:extLst>
              </p:cNvPr>
              <p:cNvGrpSpPr/>
              <p:nvPr/>
            </p:nvGrpSpPr>
            <p:grpSpPr>
              <a:xfrm>
                <a:off x="4523051" y="1854199"/>
                <a:ext cx="3142722" cy="3970865"/>
                <a:chOff x="4519612" y="1845732"/>
                <a:chExt cx="3142722" cy="3970865"/>
              </a:xfrm>
            </p:grpSpPr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D4A1DF55-6DAA-0D4D-9919-563E750571CE}"/>
                    </a:ext>
                  </a:extLst>
                </p:cNvPr>
                <p:cNvSpPr/>
                <p:nvPr/>
              </p:nvSpPr>
              <p:spPr>
                <a:xfrm>
                  <a:off x="4519612" y="1845732"/>
                  <a:ext cx="3142722" cy="3970865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NP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CB683A8-08D1-204F-AFE5-1767C7DEADD6}"/>
                    </a:ext>
                  </a:extLst>
                </p:cNvPr>
                <p:cNvSpPr/>
                <p:nvPr/>
              </p:nvSpPr>
              <p:spPr>
                <a:xfrm>
                  <a:off x="4936067" y="3649131"/>
                  <a:ext cx="2269066" cy="2159000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P</a:t>
                  </a:r>
                </a:p>
              </p:txBody>
            </p: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BA46874-D347-F341-B74E-C744F75A9D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3200" y="1854199"/>
                <a:ext cx="0" cy="38777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C484E6F-0BD1-AB4E-9EFE-A40AC6ADE2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57715" y="5469457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Easy Problems</a:t>
                </a:r>
                <a:endParaRPr lang="en-US" sz="1600" i="1" dirty="0"/>
              </a:p>
            </p:txBody>
          </p:sp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188799F-CD2B-4748-AD60-BDD68DE381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200" y="1761068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Hard Problems</a:t>
                </a:r>
                <a:endParaRPr lang="en-US" sz="1600" i="1" dirty="0"/>
              </a:p>
            </p:txBody>
          </p:sp>
        </p:grp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44EC2B34-04B5-F843-91DE-FF6A65B7AE51}"/>
                </a:ext>
              </a:extLst>
            </p:cNvPr>
            <p:cNvSpPr/>
            <p:nvPr/>
          </p:nvSpPr>
          <p:spPr>
            <a:xfrm>
              <a:off x="5791207" y="-4553901"/>
              <a:ext cx="3336261" cy="7263666"/>
            </a:xfrm>
            <a:prstGeom prst="arc">
              <a:avLst>
                <a:gd name="adj1" fmla="val 334075"/>
                <a:gd name="adj2" fmla="val 10164359"/>
              </a:avLst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</a:rPr>
                <a:t>NP-Hard</a:t>
              </a:r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A6AB8359-241B-7744-9BEA-5C88AC4D9DD7}"/>
              </a:ext>
            </a:extLst>
          </p:cNvPr>
          <p:cNvSpPr txBox="1">
            <a:spLocks/>
          </p:cNvSpPr>
          <p:nvPr/>
        </p:nvSpPr>
        <p:spPr>
          <a:xfrm>
            <a:off x="2322497" y="1147442"/>
            <a:ext cx="1838778" cy="6365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Goes up to indefinite difficulty.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25A669-08BE-344E-89BF-97B3BC6A8ED9}"/>
              </a:ext>
            </a:extLst>
          </p:cNvPr>
          <p:cNvCxnSpPr>
            <a:cxnSpLocks/>
          </p:cNvCxnSpPr>
          <p:nvPr/>
        </p:nvCxnSpPr>
        <p:spPr>
          <a:xfrm flipV="1">
            <a:off x="3938257" y="461728"/>
            <a:ext cx="1702052" cy="6857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548143" y="375610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NP-Hard and NP intersect here. Problems in this intersection are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</p:cNvCxnSpPr>
          <p:nvPr/>
        </p:nvCxnSpPr>
        <p:spPr>
          <a:xfrm flipV="1">
            <a:off x="3715239" y="2589227"/>
            <a:ext cx="3065807" cy="11668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5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NP-Complete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487868" y="166088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This section (purple) is the set of NP-Complete problems.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948252" y="2437904"/>
            <a:ext cx="3203986" cy="2115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F52FCBCB-7180-2C4C-9A9D-CE6A6A75DE49}"/>
              </a:ext>
            </a:extLst>
          </p:cNvPr>
          <p:cNvSpPr txBox="1">
            <a:spLocks/>
          </p:cNvSpPr>
          <p:nvPr/>
        </p:nvSpPr>
        <p:spPr>
          <a:xfrm>
            <a:off x="1048233" y="3715269"/>
            <a:ext cx="4651890" cy="19431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bg1"/>
                </a:solidFill>
              </a:rPr>
              <a:t>Definition</a:t>
            </a:r>
            <a:r>
              <a:rPr lang="en-US" sz="2000" i="1" dirty="0">
                <a:solidFill>
                  <a:schemeClr val="bg1"/>
                </a:solidFill>
              </a:rPr>
              <a:t>: A problem is </a:t>
            </a:r>
            <a:r>
              <a:rPr lang="en-US" sz="2000" b="1" i="1" dirty="0">
                <a:solidFill>
                  <a:schemeClr val="bg1"/>
                </a:solidFill>
              </a:rPr>
              <a:t>NP-Complete</a:t>
            </a:r>
            <a:r>
              <a:rPr lang="en-US" sz="2000" i="1" dirty="0">
                <a:solidFill>
                  <a:schemeClr val="bg1"/>
                </a:solidFill>
              </a:rPr>
              <a:t> if and only if the problem: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in NP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NP-Hard</a:t>
            </a:r>
          </a:p>
        </p:txBody>
      </p:sp>
    </p:spTree>
    <p:extLst>
      <p:ext uri="{BB962C8B-B14F-4D97-AF65-F5344CB8AC3E}">
        <p14:creationId xmlns:p14="http://schemas.microsoft.com/office/powerpoint/2010/main" val="827764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047375" y="1616234"/>
            <a:ext cx="4651890" cy="45307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A different definition of NP-Hard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Definition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A problem A is </a:t>
                </a:r>
                <a:r>
                  <a:rPr lang="en-US" sz="2000" b="1" i="1" dirty="0">
                    <a:solidFill>
                      <a:schemeClr val="bg1"/>
                    </a:solidFill>
                  </a:rPr>
                  <a:t>NP-Hard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if and only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blipFill>
                <a:blip r:embed="rId2"/>
                <a:stretch>
                  <a:fillRect l="-1084" b="-57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i="1" dirty="0"/>
                  <a:t> means that problem A is harder than problem B, shown through a </a:t>
                </a:r>
                <a:r>
                  <a:rPr lang="en-US" sz="1600" b="1" i="1" u="sng" dirty="0"/>
                  <a:t>reduction</a:t>
                </a:r>
                <a:r>
                  <a:rPr lang="en-US" sz="1600" i="1" dirty="0"/>
                  <a:t>, which we will see in a moment.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blipFill>
                <a:blip r:embed="rId3"/>
                <a:stretch>
                  <a:fillRect l="-7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57FA3D-9EC4-A748-9BAF-9415D236B50D}"/>
              </a:ext>
            </a:extLst>
          </p:cNvPr>
          <p:cNvCxnSpPr>
            <a:cxnSpLocks/>
          </p:cNvCxnSpPr>
          <p:nvPr/>
        </p:nvCxnSpPr>
        <p:spPr>
          <a:xfrm flipV="1">
            <a:off x="2845578" y="2996697"/>
            <a:ext cx="830129" cy="10798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640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661B-301F-ACC9-5551-21563C95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4BA993-AB73-FD57-0A2D-4C91067A35B8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12123D-1786-CB92-0BC2-C7659C36B9DE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C690678-B057-3D3D-C8C0-43A7375E212C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D168CE3-B685-5CF4-26A5-E8C601C5857A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AAD10472-803D-0DF1-C7F9-E5A27FAE4BD5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2644FB4C-D3A3-E8CB-A7CF-ACAAC9598202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F5D0D99E-1BFC-0F7D-E25F-596635EA4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A4C43250-5E05-854E-D670-3BB4DB0C652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71AAA3E8-3573-4574-4392-749A42404D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722766B9-713F-B18E-4F22-1455E239F209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351B477-828D-C49E-ED37-88FD48C2E9AE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4D94017A-2DBF-3AC9-8858-E51AD3F8BA8A}"/>
              </a:ext>
            </a:extLst>
          </p:cNvPr>
          <p:cNvSpPr txBox="1">
            <a:spLocks/>
          </p:cNvSpPr>
          <p:nvPr/>
        </p:nvSpPr>
        <p:spPr>
          <a:xfrm>
            <a:off x="2064722" y="1919749"/>
            <a:ext cx="3296881" cy="13389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Remember that goal is to find a really hard problem in this NP-Complete region. But what is that problem?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073AB-CCFF-F14E-2515-4182FADFDAA7}"/>
              </a:ext>
            </a:extLst>
          </p:cNvPr>
          <p:cNvCxnSpPr>
            <a:cxnSpLocks/>
          </p:cNvCxnSpPr>
          <p:nvPr/>
        </p:nvCxnSpPr>
        <p:spPr>
          <a:xfrm>
            <a:off x="4932000" y="2465374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53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937A-B747-AD43-D25E-D57418B6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B175-E84F-F268-137B-34B84631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Satisfiability</a:t>
            </a:r>
          </a:p>
        </p:txBody>
      </p:sp>
    </p:spTree>
    <p:extLst>
      <p:ext uri="{BB962C8B-B14F-4D97-AF65-F5344CB8AC3E}">
        <p14:creationId xmlns:p14="http://schemas.microsoft.com/office/powerpoint/2010/main" val="1967503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74075"/>
            <a:ext cx="9905999" cy="884429"/>
          </a:xfrm>
          <a:solidFill>
            <a:schemeClr val="tx1">
              <a:lumMod val="95000"/>
            </a:schemeClr>
          </a:solidFill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Satisfiability (SAT) Problem</a:t>
            </a:r>
            <a:r>
              <a:rPr lang="en-US" dirty="0">
                <a:solidFill>
                  <a:schemeClr val="bg1"/>
                </a:solidFill>
              </a:rPr>
              <a:t>: Given a </a:t>
            </a:r>
            <a:r>
              <a:rPr lang="en-US" dirty="0" err="1">
                <a:solidFill>
                  <a:schemeClr val="accent3"/>
                </a:solidFill>
              </a:rPr>
              <a:t>boolean</a:t>
            </a:r>
            <a:r>
              <a:rPr lang="en-US" dirty="0">
                <a:solidFill>
                  <a:schemeClr val="accent3"/>
                </a:solidFill>
              </a:rPr>
              <a:t> formula</a:t>
            </a:r>
            <a:r>
              <a:rPr lang="en-US" dirty="0">
                <a:solidFill>
                  <a:schemeClr val="bg1"/>
                </a:solidFill>
              </a:rPr>
              <a:t>, is it possible to assign the variables true false values such that the </a:t>
            </a:r>
            <a:r>
              <a:rPr lang="en-US" dirty="0">
                <a:solidFill>
                  <a:schemeClr val="accent1"/>
                </a:solidFill>
              </a:rPr>
              <a:t>entire expression evaluates to “true”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C1D73BF-42AC-884D-8672-B2AA1D5E4609}"/>
              </a:ext>
            </a:extLst>
          </p:cNvPr>
          <p:cNvSpPr txBox="1">
            <a:spLocks/>
          </p:cNvSpPr>
          <p:nvPr/>
        </p:nvSpPr>
        <p:spPr>
          <a:xfrm>
            <a:off x="1689754" y="2819458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1: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1B19A-A987-9B82-154F-0782A0A9554C}"/>
              </a:ext>
            </a:extLst>
          </p:cNvPr>
          <p:cNvSpPr txBox="1">
            <a:spLocks/>
          </p:cNvSpPr>
          <p:nvPr/>
        </p:nvSpPr>
        <p:spPr>
          <a:xfrm>
            <a:off x="1689754" y="4380784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2: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6ACEB7-732E-BFF6-0E24-754FE7338F39}"/>
              </a:ext>
            </a:extLst>
          </p:cNvPr>
          <p:cNvSpPr txBox="1">
            <a:spLocks/>
          </p:cNvSpPr>
          <p:nvPr/>
        </p:nvSpPr>
        <p:spPr>
          <a:xfrm>
            <a:off x="7391928" y="3401841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Set all variables to 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79EA46-CAD6-1C50-0399-340F1A2CB515}"/>
              </a:ext>
            </a:extLst>
          </p:cNvPr>
          <p:cNvSpPr txBox="1">
            <a:spLocks/>
          </p:cNvSpPr>
          <p:nvPr/>
        </p:nvSpPr>
        <p:spPr>
          <a:xfrm>
            <a:off x="7391928" y="4962000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False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All assignment 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Fail</a:t>
            </a:r>
          </a:p>
        </p:txBody>
      </p:sp>
    </p:spTree>
    <p:extLst>
      <p:ext uri="{BB962C8B-B14F-4D97-AF65-F5344CB8AC3E}">
        <p14:creationId xmlns:p14="http://schemas.microsoft.com/office/powerpoint/2010/main" val="153164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9157-44F6-244C-27F9-069F25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0321-3855-EFFE-6637-10BD210E7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/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Solve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Very difficult! Only known algorithms 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blipFill>
                <a:blip r:embed="rId2"/>
                <a:stretch>
                  <a:fillRect l="-1449" t="-2062" r="-1449" b="-61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/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Verify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Evidence: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Plug into formula and check solution. Algorithm is polynomial time!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blipFill>
                <a:blip r:embed="rId3"/>
                <a:stretch>
                  <a:fillRect l="-946" t="-709" b="-42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132AE7-7081-4F03-29AF-D83E96146C8D}"/>
              </a:ext>
            </a:extLst>
          </p:cNvPr>
          <p:cNvCxnSpPr>
            <a:cxnSpLocks/>
          </p:cNvCxnSpPr>
          <p:nvPr/>
        </p:nvCxnSpPr>
        <p:spPr>
          <a:xfrm flipH="1">
            <a:off x="3739652" y="2507810"/>
            <a:ext cx="850455" cy="12988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4A6F5-B404-20F7-43A6-56B5E43F42E7}"/>
              </a:ext>
            </a:extLst>
          </p:cNvPr>
          <p:cNvCxnSpPr>
            <a:cxnSpLocks/>
          </p:cNvCxnSpPr>
          <p:nvPr/>
        </p:nvCxnSpPr>
        <p:spPr>
          <a:xfrm>
            <a:off x="7686392" y="2779414"/>
            <a:ext cx="1021796" cy="9357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4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95F4A8-3AF1-2F19-5C32-44FE8DD6A458}"/>
              </a:ext>
            </a:extLst>
          </p:cNvPr>
          <p:cNvSpPr txBox="1"/>
          <p:nvPr/>
        </p:nvSpPr>
        <p:spPr>
          <a:xfrm>
            <a:off x="7179398" y="2227152"/>
            <a:ext cx="450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imagine this formula could be VERY long!</a:t>
            </a:r>
          </a:p>
        </p:txBody>
      </p:sp>
    </p:spTree>
    <p:extLst>
      <p:ext uri="{BB962C8B-B14F-4D97-AF65-F5344CB8AC3E}">
        <p14:creationId xmlns:p14="http://schemas.microsoft.com/office/powerpoint/2010/main" val="1202757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B07A-59C1-78E3-5645-FE89C0BE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3E219D-928E-75CC-641F-6B0DC0C8CD6C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E9256F-B981-5F1C-9B7B-B489D7EC1576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CE7F387-1322-98C0-1C8E-4C67E8281495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28EA7F7-8BED-2313-EE6B-CD4DA20B3E0F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F3B71059-4863-2DD1-ECDA-61D02B4993B7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AEC28E7F-ED78-E2D8-AAC8-16A1EAACAD2E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3733CA58-C83A-EB9D-CDBB-50C32C07F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2EFC6761-F42C-0FEB-A9B8-14E2BF1863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07DE9928-D2FB-224B-99C2-9285246B8B2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8EF33FC8-CF4D-608D-78B9-3DD90B1F30EB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1DC4BDC-41DD-D6B1-731E-24B24D211664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EC41AE98-D96D-80D0-AA20-AD6AD572827A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36250E-31B3-36ED-15D7-74492C5ED40D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E37D55C-7CF2-27E3-98B5-285A88263AD7}"/>
              </a:ext>
            </a:extLst>
          </p:cNvPr>
          <p:cNvSpPr txBox="1"/>
          <p:nvPr/>
        </p:nvSpPr>
        <p:spPr>
          <a:xfrm>
            <a:off x="2263275" y="3327765"/>
            <a:ext cx="2408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how do we prove it? Need to show that every other problem down here somewhere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613B6-9246-DA7C-1357-1D69DFFD49ED}"/>
              </a:ext>
            </a:extLst>
          </p:cNvPr>
          <p:cNvCxnSpPr>
            <a:cxnSpLocks/>
          </p:cNvCxnSpPr>
          <p:nvPr/>
        </p:nvCxnSpPr>
        <p:spPr>
          <a:xfrm>
            <a:off x="4494019" y="3967921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5322BD-D50B-DE4A-5E64-5ED4DCEC8ABF}"/>
              </a:ext>
            </a:extLst>
          </p:cNvPr>
          <p:cNvCxnSpPr>
            <a:cxnSpLocks/>
          </p:cNvCxnSpPr>
          <p:nvPr/>
        </p:nvCxnSpPr>
        <p:spPr>
          <a:xfrm flipV="1">
            <a:off x="3920150" y="4238639"/>
            <a:ext cx="2852396" cy="14343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FA59C-11E4-0E11-F12F-04102F4047C5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/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Can be reduced to SAT: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𝑆𝐴𝑇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blipFill>
                <a:blip r:embed="rId2"/>
                <a:stretch>
                  <a:fillRect l="-2105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B864372-B052-93C2-501F-72814F20B05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</p:spTree>
    <p:extLst>
      <p:ext uri="{BB962C8B-B14F-4D97-AF65-F5344CB8AC3E}">
        <p14:creationId xmlns:p14="http://schemas.microsoft.com/office/powerpoint/2010/main" val="3519435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2B90-E69B-D2B1-3FAD-2BF6F49F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ED13B-A9C7-1F9E-CC5C-07C28B0B0F37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49CB88-AD6A-1985-5F18-9F8148EAEC1C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79D315F-1EED-DF45-BC7E-62090A122460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BEBE23AE-1F5F-9258-97E9-298ECE24475B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E48F9E6F-3410-4DD0-E5C6-90E3903D18DF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8E7BC2F3-F0DF-5538-9692-A6CCFC582F0D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B4770643-D66B-CF55-7DE7-E0F10E810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0B0F0FF4-CE02-A7AF-1FC3-1362D10B7D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CD6E0880-7CB2-1BEC-0305-33FAF7E44D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B43F188-F5EC-0D07-E1C6-4848AD2B6010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454EAE-B1EC-7AED-4FAC-168CAE42124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FAA20F94-6262-A43B-D0AF-476925811DD2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E5E726-BA55-D874-46F6-CC2692C2A688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E9AEC8-6E38-015B-591F-FC01EE431ECD}"/>
              </a:ext>
            </a:extLst>
          </p:cNvPr>
          <p:cNvCxnSpPr>
            <a:cxnSpLocks/>
          </p:cNvCxnSpPr>
          <p:nvPr/>
        </p:nvCxnSpPr>
        <p:spPr>
          <a:xfrm flipV="1">
            <a:off x="4702629" y="4238639"/>
            <a:ext cx="2069917" cy="22885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3FF810-A3B6-687A-F3D4-64081BA437E7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5F7DE-6E2D-2D8E-E7F6-654613DC493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1B25-357A-7F3C-E130-E83A89BBFF78}"/>
              </a:ext>
            </a:extLst>
          </p:cNvPr>
          <p:cNvSpPr txBox="1"/>
          <p:nvPr/>
        </p:nvSpPr>
        <p:spPr>
          <a:xfrm>
            <a:off x="1389831" y="4159473"/>
            <a:ext cx="318733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What do we know about any generic problem A: It has a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computer program </a:t>
            </a:r>
            <a:r>
              <a:rPr lang="en-US" dirty="0"/>
              <a:t>that solves it!</a:t>
            </a:r>
          </a:p>
        </p:txBody>
      </p:sp>
    </p:spTree>
    <p:extLst>
      <p:ext uri="{BB962C8B-B14F-4D97-AF65-F5344CB8AC3E}">
        <p14:creationId xmlns:p14="http://schemas.microsoft.com/office/powerpoint/2010/main" val="3422052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A440-D8FD-86DE-55A6-C8B44112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4BFC-C8BE-2C92-B777-E6608F3A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Computer Programs!</a:t>
            </a:r>
          </a:p>
        </p:txBody>
      </p:sp>
    </p:spTree>
    <p:extLst>
      <p:ext uri="{BB962C8B-B14F-4D97-AF65-F5344CB8AC3E}">
        <p14:creationId xmlns:p14="http://schemas.microsoft.com/office/powerpoint/2010/main" val="3434799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FB77-F45F-1D6C-A455-C728DA17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874-A7EE-6FE8-99BC-3BDAA502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1647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Quick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99C2-4A97-9482-A77D-E00A7FBFD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00720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All computer programs can be represented with </a:t>
            </a:r>
            <a:r>
              <a:rPr lang="en-US" dirty="0">
                <a:solidFill>
                  <a:schemeClr val="accent3"/>
                </a:solidFill>
              </a:rPr>
              <a:t>computational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D9F745-897A-6FDF-D712-D21A373F856E}"/>
              </a:ext>
            </a:extLst>
          </p:cNvPr>
          <p:cNvSpPr txBox="1">
            <a:spLocks/>
          </p:cNvSpPr>
          <p:nvPr/>
        </p:nvSpPr>
        <p:spPr>
          <a:xfrm>
            <a:off x="2443843" y="232670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computational model </a:t>
            </a:r>
            <a:r>
              <a:rPr lang="en-US" dirty="0">
                <a:solidFill>
                  <a:schemeClr val="bg1"/>
                </a:solidFill>
              </a:rPr>
              <a:t>is a simple reduced version of the program but fully describes how to solve the problem.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9965BA8-99B4-3B62-E9B1-53D868168861}"/>
              </a:ext>
            </a:extLst>
          </p:cNvPr>
          <p:cNvSpPr txBox="1">
            <a:spLocks/>
          </p:cNvSpPr>
          <p:nvPr/>
        </p:nvSpPr>
        <p:spPr>
          <a:xfrm>
            <a:off x="2443843" y="364619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There is a reduction between a </a:t>
            </a:r>
            <a:r>
              <a:rPr lang="en-US" dirty="0">
                <a:solidFill>
                  <a:schemeClr val="accent3"/>
                </a:solidFill>
              </a:rPr>
              <a:t>computational model</a:t>
            </a:r>
            <a:r>
              <a:rPr lang="en-US" dirty="0">
                <a:solidFill>
                  <a:schemeClr val="bg1"/>
                </a:solidFill>
              </a:rPr>
              <a:t>’s description (“code”) and an equivalent SAT expression!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E21AE-D9D8-1B8C-EB9A-4D5022423BFE}"/>
              </a:ext>
            </a:extLst>
          </p:cNvPr>
          <p:cNvSpPr txBox="1"/>
          <p:nvPr/>
        </p:nvSpPr>
        <p:spPr>
          <a:xfrm>
            <a:off x="5155474" y="4965686"/>
            <a:ext cx="6035040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Disclaimer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Everything in this section is going to be a bit vague. It is A LOT of material and we don’t have time to go over it thoroughly. This will give you a rough idea of how these things work and you will see it in much more detail in DMT2!</a:t>
            </a:r>
          </a:p>
        </p:txBody>
      </p:sp>
    </p:spTree>
    <p:extLst>
      <p:ext uri="{BB962C8B-B14F-4D97-AF65-F5344CB8AC3E}">
        <p14:creationId xmlns:p14="http://schemas.microsoft.com/office/powerpoint/2010/main" val="170892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48210-018A-8332-9415-CF7CAAA8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C0864-CA49-5174-9ECF-52825ACEB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DFA / NFA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84A8B-3280-0F34-74B0-2A761104F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How to represent anything?</a:t>
            </a:r>
          </a:p>
          <a:p>
            <a:pPr lvl="1"/>
            <a:r>
              <a:rPr lang="en-US" dirty="0"/>
              <a:t>It has a working “computer program”</a:t>
            </a:r>
          </a:p>
          <a:p>
            <a:r>
              <a:rPr lang="en-US" dirty="0"/>
              <a:t>What is a computer program?</a:t>
            </a:r>
          </a:p>
          <a:p>
            <a:pPr lvl="1"/>
            <a:r>
              <a:rPr lang="en-US" dirty="0"/>
              <a:t>Introduce DFA (and NFA?)</a:t>
            </a:r>
          </a:p>
          <a:p>
            <a:pPr lvl="1"/>
            <a:r>
              <a:rPr lang="en-US" dirty="0"/>
              <a:t>Only briefly mention the other ones</a:t>
            </a:r>
          </a:p>
          <a:p>
            <a:r>
              <a:rPr lang="en-US" dirty="0"/>
              <a:t>How do we represent a “computer program”?</a:t>
            </a:r>
          </a:p>
        </p:txBody>
      </p:sp>
    </p:spTree>
    <p:extLst>
      <p:ext uri="{BB962C8B-B14F-4D97-AF65-F5344CB8AC3E}">
        <p14:creationId xmlns:p14="http://schemas.microsoft.com/office/powerpoint/2010/main" val="16136073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82A65-7DCF-86EB-BF7D-4FBD4A48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F5817-9EA5-E78F-3541-5038AC84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1FA1D-0F68-A46B-15A2-2CCA8612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Any solvable program has a program</a:t>
            </a:r>
          </a:p>
          <a:p>
            <a:r>
              <a:rPr lang="en-US" dirty="0"/>
              <a:t>Looks like a DFA</a:t>
            </a:r>
          </a:p>
          <a:p>
            <a:r>
              <a:rPr lang="en-US" dirty="0"/>
              <a:t>Convert that DFA into a SAT Expression</a:t>
            </a:r>
          </a:p>
          <a:p>
            <a:pPr lvl="1"/>
            <a:r>
              <a:rPr lang="en-US" dirty="0"/>
              <a:t>Thus, instead of running the program to get output we can solve the SAT instance instead</a:t>
            </a:r>
          </a:p>
          <a:p>
            <a:pPr lvl="1"/>
            <a:r>
              <a:rPr lang="en-US" dirty="0"/>
              <a:t>Do example from other slides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2155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FD944-FC29-E35D-7531-44A9C9E03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CF527-1BAD-42B7-22AE-B055A95EF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Finish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73CF7-586F-BA14-6DE4-4D586DA00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Put names on the complexity classes.</a:t>
            </a:r>
          </a:p>
          <a:p>
            <a:r>
              <a:rPr lang="en-US" dirty="0"/>
              <a:t>Discuss NP-Completeness a little bit</a:t>
            </a:r>
          </a:p>
          <a:p>
            <a:r>
              <a:rPr lang="en-US" dirty="0"/>
              <a:t>Talk a bit about how Turing Machines have similar conversion.</a:t>
            </a:r>
          </a:p>
          <a:p>
            <a:r>
              <a:rPr lang="en-US" dirty="0"/>
              <a:t>Talk a little bit abut how lots of </a:t>
            </a:r>
            <a:r>
              <a:rPr lang="en-US"/>
              <a:t>NP-Complete problems exist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6569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41540</TotalTime>
  <Words>1484</Words>
  <Application>Microsoft Macintosh PowerPoint</Application>
  <PresentationFormat>Widescreen</PresentationFormat>
  <Paragraphs>208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Cambria Math</vt:lpstr>
      <vt:lpstr>Courier New</vt:lpstr>
      <vt:lpstr>Tw Cen MT</vt:lpstr>
      <vt:lpstr>Circuit</vt:lpstr>
      <vt:lpstr>A brief Introduction to NP-Completeness</vt:lpstr>
      <vt:lpstr>Roadmap: Goals for this deck</vt:lpstr>
      <vt:lpstr>Reduction Reminders</vt:lpstr>
      <vt:lpstr>Reminder: Reductions</vt:lpstr>
      <vt:lpstr>Reminder: Reductions</vt:lpstr>
      <vt:lpstr>Complexity Classes</vt:lpstr>
      <vt:lpstr>Finding the Hardest Problems</vt:lpstr>
      <vt:lpstr>The class P</vt:lpstr>
      <vt:lpstr>The class P</vt:lpstr>
      <vt:lpstr>NP</vt:lpstr>
      <vt:lpstr>NP: Quick Verification</vt:lpstr>
      <vt:lpstr>NP: Quick Verification</vt:lpstr>
      <vt:lpstr>NP: Quick Verification</vt:lpstr>
      <vt:lpstr>Back to our Diagram</vt:lpstr>
      <vt:lpstr>NP-Hard</vt:lpstr>
      <vt:lpstr>NP-Hard</vt:lpstr>
      <vt:lpstr>NP-Complete</vt:lpstr>
      <vt:lpstr>NP-Hard</vt:lpstr>
      <vt:lpstr>PowerPoint Presentation</vt:lpstr>
      <vt:lpstr>Satisfiability</vt:lpstr>
      <vt:lpstr>Satisfiability (SAT)</vt:lpstr>
      <vt:lpstr>Satisfiability (SAT)</vt:lpstr>
      <vt:lpstr>PowerPoint Presentation</vt:lpstr>
      <vt:lpstr>PowerPoint Presentation</vt:lpstr>
      <vt:lpstr>Computer Programs!</vt:lpstr>
      <vt:lpstr>Quick Roadmap</vt:lpstr>
      <vt:lpstr>DFA / NFA</vt:lpstr>
      <vt:lpstr>Reduction Time</vt:lpstr>
      <vt:lpstr>Finish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256</cp:revision>
  <dcterms:created xsi:type="dcterms:W3CDTF">2023-02-24T14:15:53Z</dcterms:created>
  <dcterms:modified xsi:type="dcterms:W3CDTF">2025-10-15T17:54:01Z</dcterms:modified>
</cp:coreProperties>
</file>