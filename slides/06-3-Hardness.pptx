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56"/>
  </p:notesMasterIdLst>
  <p:sldIdLst>
    <p:sldId id="256" r:id="rId2"/>
    <p:sldId id="786" r:id="rId3"/>
    <p:sldId id="867" r:id="rId4"/>
    <p:sldId id="866" r:id="rId5"/>
    <p:sldId id="868" r:id="rId6"/>
    <p:sldId id="869" r:id="rId7"/>
    <p:sldId id="470" r:id="rId8"/>
    <p:sldId id="871" r:id="rId9"/>
    <p:sldId id="872" r:id="rId10"/>
    <p:sldId id="819" r:id="rId11"/>
    <p:sldId id="873" r:id="rId12"/>
    <p:sldId id="874" r:id="rId13"/>
    <p:sldId id="875" r:id="rId14"/>
    <p:sldId id="820" r:id="rId15"/>
    <p:sldId id="821" r:id="rId16"/>
    <p:sldId id="822" r:id="rId17"/>
    <p:sldId id="823" r:id="rId18"/>
    <p:sldId id="824" r:id="rId19"/>
    <p:sldId id="876" r:id="rId20"/>
    <p:sldId id="870" r:id="rId21"/>
    <p:sldId id="834" r:id="rId22"/>
    <p:sldId id="878" r:id="rId23"/>
    <p:sldId id="879" r:id="rId24"/>
    <p:sldId id="880" r:id="rId25"/>
    <p:sldId id="877" r:id="rId26"/>
    <p:sldId id="881" r:id="rId27"/>
    <p:sldId id="882" r:id="rId28"/>
    <p:sldId id="883" r:id="rId29"/>
    <p:sldId id="884" r:id="rId30"/>
    <p:sldId id="891" r:id="rId31"/>
    <p:sldId id="892" r:id="rId32"/>
    <p:sldId id="893" r:id="rId33"/>
    <p:sldId id="894" r:id="rId34"/>
    <p:sldId id="895" r:id="rId35"/>
    <p:sldId id="896" r:id="rId36"/>
    <p:sldId id="897" r:id="rId37"/>
    <p:sldId id="886" r:id="rId38"/>
    <p:sldId id="885" r:id="rId39"/>
    <p:sldId id="887" r:id="rId40"/>
    <p:sldId id="888" r:id="rId41"/>
    <p:sldId id="889" r:id="rId42"/>
    <p:sldId id="890" r:id="rId43"/>
    <p:sldId id="898" r:id="rId44"/>
    <p:sldId id="899" r:id="rId45"/>
    <p:sldId id="900" r:id="rId46"/>
    <p:sldId id="903" r:id="rId47"/>
    <p:sldId id="904" r:id="rId48"/>
    <p:sldId id="905" r:id="rId49"/>
    <p:sldId id="906" r:id="rId50"/>
    <p:sldId id="907" r:id="rId51"/>
    <p:sldId id="902" r:id="rId52"/>
    <p:sldId id="901" r:id="rId53"/>
    <p:sldId id="790" r:id="rId54"/>
    <p:sldId id="791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23"/>
    <p:restoredTop sz="94794"/>
  </p:normalViewPr>
  <p:slideViewPr>
    <p:cSldViewPr snapToGrid="0" snapToObjects="1">
      <p:cViewPr varScale="1">
        <p:scale>
          <a:sx n="137" d="100"/>
          <a:sy n="137" d="100"/>
        </p:scale>
        <p:origin x="24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D5C5133-F893-F14C-BA08-1EC9586E074E}" type="datetime1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FB50B-1FD8-5E46-8B10-0DF06EAB94B0}" type="datetime1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5F7E1-7C38-2D4D-8C00-4127E00B0B48}" type="datetime1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A6956-3551-B545-9486-3BB7F190A0D2}" type="datetime1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6C75B-25A0-6544-8302-D042197E05AD}" type="datetime1">
              <a:rPr lang="en-US" smtClean="0"/>
              <a:t>10/27/25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4C7BB-BA6C-1645-9DAD-75B2F2C54F5F}" type="datetime1">
              <a:rPr lang="en-US" smtClean="0"/>
              <a:t>10/27/25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4012-384C-9A46-A1BB-C4ECB3A515E2}" type="datetime1">
              <a:rPr lang="en-US" smtClean="0"/>
              <a:t>10/27/25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591FD-BB3A-3E45-BDDF-440A7F347371}" type="datetime1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7735C-1C73-1945-A987-CC3C33F7E070}" type="datetime1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2846-DDBA-4B41-AB95-6CC7486A9594}" type="datetime1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347C4-88DA-C446-8E50-9CCD1CDD5CFD}" type="datetime1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B3FC4-8F4E-0048-9E6E-571457D9347D}" type="datetime1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FB70-2694-734B-BD00-3E9B1243DA1B}" type="datetime1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36664F-3BD9-3D47-89E3-C16CBAA67B09}" type="datetime1">
              <a:rPr lang="en-US" smtClean="0"/>
              <a:t>10/27/25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30052-022C-594D-BCC4-41E81B10B173}" type="datetime1">
              <a:rPr lang="en-US" smtClean="0"/>
              <a:t>10/27/25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A53BD-D470-4D45-A2F4-FDA414AF0BDC}" type="datetime1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ECF03-F18B-C94B-8BE4-E6A6733BA604}" type="datetime1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D995C4-FA21-394A-8B12-BECDBE77E1C6}" type="datetime1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 brief Introduction to NP-Completeness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Data Structures and Algorithms 2</a:t>
            </a:r>
            <a:br>
              <a:rPr lang="en-US" dirty="0"/>
            </a:br>
            <a:r>
              <a:rPr lang="en-US" dirty="0"/>
              <a:t>Mark Floryan and Aaron Bloomfield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33C82-FB1E-9B41-9C6B-87C336C49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326780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Roadmap: Goals for this deck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9E30A-8B11-F04A-8AA0-33FCB281C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3843" y="1634227"/>
            <a:ext cx="7304313" cy="950560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Reductions help us establish one problem is at least as hard as another. Can we find the “hardest problems”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E635573-5EE1-B1C1-A13F-4BBFE81B17FC}"/>
              </a:ext>
            </a:extLst>
          </p:cNvPr>
          <p:cNvSpPr txBox="1">
            <a:spLocks/>
          </p:cNvSpPr>
          <p:nvPr/>
        </p:nvSpPr>
        <p:spPr>
          <a:xfrm>
            <a:off x="2443843" y="2953720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What do these hard problems look like and how do we know that they are the “hardest” in some set of problems.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42C9E4A-13BD-F16C-BD0B-73B4F7C5BA31}"/>
              </a:ext>
            </a:extLst>
          </p:cNvPr>
          <p:cNvSpPr txBox="1">
            <a:spLocks/>
          </p:cNvSpPr>
          <p:nvPr/>
        </p:nvSpPr>
        <p:spPr>
          <a:xfrm>
            <a:off x="2443843" y="4273213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Along the way: A brief introduction to NP-Complete problems.</a:t>
            </a:r>
          </a:p>
        </p:txBody>
      </p:sp>
    </p:spTree>
    <p:extLst>
      <p:ext uri="{BB962C8B-B14F-4D97-AF65-F5344CB8AC3E}">
        <p14:creationId xmlns:p14="http://schemas.microsoft.com/office/powerpoint/2010/main" val="3800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6F863-B5F4-DD9E-DF26-EE6DE9E91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Reduction Reminders</a:t>
            </a:r>
          </a:p>
        </p:txBody>
      </p:sp>
    </p:spTree>
    <p:extLst>
      <p:ext uri="{BB962C8B-B14F-4D97-AF65-F5344CB8AC3E}">
        <p14:creationId xmlns:p14="http://schemas.microsoft.com/office/powerpoint/2010/main" val="204999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89B9D-2CE9-5A01-9FED-A71AE382E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500E6-23F7-3E76-D64B-AAA694E43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Reminder: Reductions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854313-B84E-7D72-24B8-D880992F6E8B}"/>
              </a:ext>
            </a:extLst>
          </p:cNvPr>
          <p:cNvGrpSpPr/>
          <p:nvPr/>
        </p:nvGrpSpPr>
        <p:grpSpPr>
          <a:xfrm>
            <a:off x="65032" y="1218531"/>
            <a:ext cx="7583914" cy="4478537"/>
            <a:chOff x="619432" y="1385760"/>
            <a:chExt cx="7583914" cy="447853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A2C5D605-4969-40F5-67A9-6E8F6C1C74CD}"/>
                </a:ext>
              </a:extLst>
            </p:cNvPr>
            <p:cNvSpPr/>
            <p:nvPr/>
          </p:nvSpPr>
          <p:spPr>
            <a:xfrm>
              <a:off x="5123701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Minimum Vertex Cover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94669889-41CF-B38E-79C1-86401C4CC8CC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Maximum Independent Set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B2CE132D-23E8-F8EE-60D2-AFBD22033406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6C15EF8-D107-F8CF-C0D7-1670A341FF9C}"/>
                </a:ext>
              </a:extLst>
            </p:cNvPr>
            <p:cNvSpPr txBox="1"/>
            <p:nvPr/>
          </p:nvSpPr>
          <p:spPr>
            <a:xfrm>
              <a:off x="3313499" y="1787410"/>
              <a:ext cx="23330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Do nothing to convert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D3423DD2-75D2-185C-5620-2195E1AC847A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40A0809-8B00-5EBD-FA8C-7C13F5BAA499}"/>
                </a:ext>
              </a:extLst>
            </p:cNvPr>
            <p:cNvSpPr txBox="1"/>
            <p:nvPr/>
          </p:nvSpPr>
          <p:spPr>
            <a:xfrm>
              <a:off x="6239626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MVC algorithm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485E36A-0BBC-88F2-9557-EE3A544CB487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f = ??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flow values on edges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F2D4E553-883A-707B-7293-493B644AE3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19337" y="4863968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E0CB0B25-14A9-D3A3-BA87-255836837DA1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Matches that can be made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858908E-CD89-76DA-6BD8-298466DB38F0}"/>
                </a:ext>
              </a:extLst>
            </p:cNvPr>
            <p:cNvSpPr txBox="1"/>
            <p:nvPr/>
          </p:nvSpPr>
          <p:spPr>
            <a:xfrm>
              <a:off x="3320271" y="4016779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Take complement of nodes in solution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34379B7C-873F-6EA4-2AA4-BE6B407DA536}"/>
                    </a:ext>
                  </a:extLst>
                </p:cNvPr>
                <p:cNvSpPr txBox="1"/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34379B7C-873F-6EA4-2AA4-BE6B407DA5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B230E4C3-C9B2-04A7-07CD-659497C426B2}"/>
                    </a:ext>
                  </a:extLst>
                </p:cNvPr>
                <p:cNvSpPr txBox="1"/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B230E4C3-C9B2-04A7-07CD-659497C426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D9DC4F7-ACC7-6EDC-3EBD-3BB9008A1D5A}"/>
                    </a:ext>
                  </a:extLst>
                </p:cNvPr>
                <p:cNvSpPr txBox="1"/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D9DC4F7-ACC7-6EDC-3EBD-3BB9008A1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DAD8E7B-0FE5-6728-EC83-7A223E907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4589" y="2885053"/>
              <a:ext cx="97033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AD805E4-70A9-51BB-EB15-1D2A6C335078}"/>
                    </a:ext>
                  </a:extLst>
                </p:cNvPr>
                <p:cNvSpPr txBox="1"/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AD805E4-70A9-51BB-EB15-1D2A6C3350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B3A717-8F66-48D0-5A7C-CA0D5E1B58F3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0EDB5-9200-F62D-C9AF-1E1EBB54F1EE}"/>
                </a:ext>
              </a:extLst>
            </p:cNvPr>
            <p:cNvSpPr txBox="1"/>
            <p:nvPr/>
          </p:nvSpPr>
          <p:spPr>
            <a:xfrm>
              <a:off x="1391370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MIS algorithm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CE8C4A8-084E-6474-AF11-C693AA710671}"/>
                </a:ext>
              </a:extLst>
            </p:cNvPr>
            <p:cNvCxnSpPr>
              <a:cxnSpLocks/>
            </p:cNvCxnSpPr>
            <p:nvPr/>
          </p:nvCxnSpPr>
          <p:spPr>
            <a:xfrm>
              <a:off x="4035295" y="5259715"/>
              <a:ext cx="9511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47D78F2B-40F3-E1C8-8B2A-B3A387730BA2}"/>
              </a:ext>
            </a:extLst>
          </p:cNvPr>
          <p:cNvSpPr txBox="1"/>
          <p:nvPr/>
        </p:nvSpPr>
        <p:spPr>
          <a:xfrm>
            <a:off x="7825438" y="1131754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Facts: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2E945-0CED-A7BD-31A7-2447A17B10D3}"/>
                  </a:ext>
                </a:extLst>
              </p:cNvPr>
              <p:cNvSpPr txBox="1"/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complexity of conversion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2E945-0CED-A7BD-31A7-2447A17B1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blipFill>
                <a:blip r:embed="rId6"/>
                <a:stretch>
                  <a:fillRect l="-1031" t="-3636" b="-1272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D5E4F-B2AB-B0E5-4D20-428EEF082EBF}"/>
                  </a:ext>
                </a:extLst>
              </p:cNvPr>
              <p:cNvSpPr txBox="1"/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Establishes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at least as hard as A. Difficulty is equal if reduction exists in both directions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D5E4F-B2AB-B0E5-4D20-428EEF082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blipFill>
                <a:blip r:embed="rId7"/>
                <a:stretch>
                  <a:fillRect l="-1031" t="-1333" b="-9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D34BBFB-C803-8FF6-E5E6-CC4B72ABF78E}"/>
              </a:ext>
            </a:extLst>
          </p:cNvPr>
          <p:cNvSpPr txBox="1"/>
          <p:nvPr/>
        </p:nvSpPr>
        <p:spPr>
          <a:xfrm>
            <a:off x="7825438" y="4342555"/>
            <a:ext cx="3672962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Can be used to establish which problems are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harder than huge numbers of other problems</a:t>
            </a:r>
            <a:r>
              <a:rPr lang="en-US" dirty="0">
                <a:solidFill>
                  <a:sysClr val="windowText" lastClr="000000"/>
                </a:solidFill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9130558-1AE9-CCDE-44FC-31913F8E5CF3}"/>
                  </a:ext>
                </a:extLst>
              </p:cNvPr>
              <p:cNvSpPr txBox="1"/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Converstion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) needs to be faster than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9130558-1AE9-CCDE-44FC-31913F8E5C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blipFill>
                <a:blip r:embed="rId8"/>
                <a:stretch>
                  <a:fillRect l="-1031" t="-3774" r="-1031" b="-132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5805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27794-F11E-B10B-4235-4012CF32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CFB1E-819B-CD88-5855-7579C0A1A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Reminder: Reductions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F2DD1A-F1B3-043C-975C-DFB97546290F}"/>
              </a:ext>
            </a:extLst>
          </p:cNvPr>
          <p:cNvGrpSpPr/>
          <p:nvPr/>
        </p:nvGrpSpPr>
        <p:grpSpPr>
          <a:xfrm>
            <a:off x="65032" y="1218531"/>
            <a:ext cx="7583914" cy="4478537"/>
            <a:chOff x="619432" y="1385760"/>
            <a:chExt cx="7583914" cy="447853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BAAEDC0-ABB7-6DA1-49A5-EBDA0E6A3B1B}"/>
                </a:ext>
              </a:extLst>
            </p:cNvPr>
            <p:cNvSpPr/>
            <p:nvPr/>
          </p:nvSpPr>
          <p:spPr>
            <a:xfrm>
              <a:off x="5123701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Minimum Vertex Cover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8BFD8FA-0054-4978-EC86-07BAA4412BB2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Maximum Independent Set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E852B31-BB8C-AB9C-0065-D7809D30E99B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27F562D-F281-8E71-44BF-A9AD53752158}"/>
                </a:ext>
              </a:extLst>
            </p:cNvPr>
            <p:cNvSpPr txBox="1"/>
            <p:nvPr/>
          </p:nvSpPr>
          <p:spPr>
            <a:xfrm>
              <a:off x="3313499" y="1787410"/>
              <a:ext cx="23330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Do nothing to convert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52063873-9E34-A5CE-4107-3133E6274469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BFD4DE6-3E0F-4FA1-C5FD-BC744AB437F8}"/>
                </a:ext>
              </a:extLst>
            </p:cNvPr>
            <p:cNvSpPr txBox="1"/>
            <p:nvPr/>
          </p:nvSpPr>
          <p:spPr>
            <a:xfrm>
              <a:off x="6239626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MVC algorithm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05202C7-0441-8841-71EF-A2913CFA1500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f = ??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flow values on edges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C8715067-7AB7-40AC-FDE6-A654A85F93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19337" y="4863968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D2F93C5-2D62-2AF7-D6DA-532AC0A00266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Matches that can be made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584B658-980A-806F-640A-472A2EBA24E5}"/>
                </a:ext>
              </a:extLst>
            </p:cNvPr>
            <p:cNvSpPr txBox="1"/>
            <p:nvPr/>
          </p:nvSpPr>
          <p:spPr>
            <a:xfrm>
              <a:off x="3320271" y="4016779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Take complement of nodes in solution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71DDD3D-B722-1EDF-08B6-9F4807694BA3}"/>
                    </a:ext>
                  </a:extLst>
                </p:cNvPr>
                <p:cNvSpPr txBox="1"/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71DDD3D-B722-1EDF-08B6-9F4807694B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C1F4444-4C98-7631-021A-D413F4F07AAF}"/>
                    </a:ext>
                  </a:extLst>
                </p:cNvPr>
                <p:cNvSpPr txBox="1"/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C1F4444-4C98-7631-021A-D413F4F07A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B108A32-681E-063C-227F-7165EE1F1923}"/>
                    </a:ext>
                  </a:extLst>
                </p:cNvPr>
                <p:cNvSpPr txBox="1"/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B108A32-681E-063C-227F-7165EE1F19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414CBEB-52B0-FE3E-49EF-BAC6EA922B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4589" y="2885053"/>
              <a:ext cx="97033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D262A8A-26A7-A4D1-797B-B29594BE6180}"/>
                    </a:ext>
                  </a:extLst>
                </p:cNvPr>
                <p:cNvSpPr txBox="1"/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D262A8A-26A7-A4D1-797B-B29594BE61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3933238-82AA-EEF2-5D10-B789B6788DCB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B2DE3F-D2EF-49F2-D20C-41E818EC9C31}"/>
                </a:ext>
              </a:extLst>
            </p:cNvPr>
            <p:cNvSpPr txBox="1"/>
            <p:nvPr/>
          </p:nvSpPr>
          <p:spPr>
            <a:xfrm>
              <a:off x="1391370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MIS algorithm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A3B4803-1C10-9B8E-48DC-A5FE3574A445}"/>
                </a:ext>
              </a:extLst>
            </p:cNvPr>
            <p:cNvCxnSpPr>
              <a:cxnSpLocks/>
            </p:cNvCxnSpPr>
            <p:nvPr/>
          </p:nvCxnSpPr>
          <p:spPr>
            <a:xfrm>
              <a:off x="4035295" y="5259715"/>
              <a:ext cx="9511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7FCE9B6B-8C03-841C-AE9A-EDB93E2DDF66}"/>
              </a:ext>
            </a:extLst>
          </p:cNvPr>
          <p:cNvSpPr txBox="1"/>
          <p:nvPr/>
        </p:nvSpPr>
        <p:spPr>
          <a:xfrm>
            <a:off x="7328638" y="5942200"/>
            <a:ext cx="3881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So…can we find the hardest problems that computers need to solve?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4EF2268-7855-895E-9B30-71C4D8D033AF}"/>
              </a:ext>
            </a:extLst>
          </p:cNvPr>
          <p:cNvCxnSpPr>
            <a:cxnSpLocks/>
          </p:cNvCxnSpPr>
          <p:nvPr/>
        </p:nvCxnSpPr>
        <p:spPr>
          <a:xfrm flipV="1">
            <a:off x="8373600" y="5385600"/>
            <a:ext cx="266400" cy="5566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978BA15-2AD4-4FF4-2B5D-E31ABF5081B1}"/>
              </a:ext>
            </a:extLst>
          </p:cNvPr>
          <p:cNvSpPr txBox="1"/>
          <p:nvPr/>
        </p:nvSpPr>
        <p:spPr>
          <a:xfrm>
            <a:off x="7825438" y="1131754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Facts: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C65A3C5-4CCE-D5F5-9B2D-C411603B09FC}"/>
                  </a:ext>
                </a:extLst>
              </p:cNvPr>
              <p:cNvSpPr txBox="1"/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complexity of conversion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C65A3C5-4CCE-D5F5-9B2D-C411603B09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blipFill>
                <a:blip r:embed="rId6"/>
                <a:stretch>
                  <a:fillRect l="-1031" t="-3636" b="-1272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2BFFF0-6542-3015-81F9-C46B00440FAF}"/>
                  </a:ext>
                </a:extLst>
              </p:cNvPr>
              <p:cNvSpPr txBox="1"/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Establishes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at least as hard as A. Difficulty is equal if reduction exists in both directions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2BFFF0-6542-3015-81F9-C46B00440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blipFill>
                <a:blip r:embed="rId7"/>
                <a:stretch>
                  <a:fillRect l="-1031" t="-1333" b="-9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4DC6EE15-8EF4-A1C2-F9E2-F5BDF37C9250}"/>
              </a:ext>
            </a:extLst>
          </p:cNvPr>
          <p:cNvSpPr txBox="1"/>
          <p:nvPr/>
        </p:nvSpPr>
        <p:spPr>
          <a:xfrm>
            <a:off x="7825438" y="4342555"/>
            <a:ext cx="3672962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Can be used to establish which problems are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harder than huge numbers of other problems</a:t>
            </a:r>
            <a:r>
              <a:rPr lang="en-US" dirty="0">
                <a:solidFill>
                  <a:sysClr val="windowText" lastClr="000000"/>
                </a:solidFill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876D8A-43A2-73A4-B6C9-6332E6D05870}"/>
                  </a:ext>
                </a:extLst>
              </p:cNvPr>
              <p:cNvSpPr txBox="1"/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Converstion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) needs to be faster than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876D8A-43A2-73A4-B6C9-6332E6D05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blipFill>
                <a:blip r:embed="rId8"/>
                <a:stretch>
                  <a:fillRect l="-1031" t="-3774" r="-1031" b="-132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3287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75E07-F4A3-5400-CAE6-351CFEB92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E696A-92B2-8346-CEED-B25A14D36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Complexity Classes</a:t>
            </a:r>
          </a:p>
        </p:txBody>
      </p:sp>
    </p:spTree>
    <p:extLst>
      <p:ext uri="{BB962C8B-B14F-4D97-AF65-F5344CB8AC3E}">
        <p14:creationId xmlns:p14="http://schemas.microsoft.com/office/powerpoint/2010/main" val="1945980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Finding the Hardest Problems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DE71-5F15-D842-8C87-B5FE3BBA7ABB}"/>
              </a:ext>
            </a:extLst>
          </p:cNvPr>
          <p:cNvSpPr txBox="1"/>
          <p:nvPr/>
        </p:nvSpPr>
        <p:spPr>
          <a:xfrm>
            <a:off x="1377105" y="1497600"/>
            <a:ext cx="943461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/>
              <a:t>Goal</a:t>
            </a:r>
            <a:r>
              <a:rPr lang="en-US" sz="2400" dirty="0"/>
              <a:t>: We want to identify what some of the hardest problems for computers to solve. We can do this by relating the difficulty of problems through reduction!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E79F77-20F4-97C9-ABB1-9EE72C0DFB4F}"/>
              </a:ext>
            </a:extLst>
          </p:cNvPr>
          <p:cNvSpPr txBox="1"/>
          <p:nvPr/>
        </p:nvSpPr>
        <p:spPr>
          <a:xfrm>
            <a:off x="1377106" y="3473940"/>
            <a:ext cx="9434611" cy="15696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ysClr val="windowText" lastClr="000000"/>
                </a:solidFill>
              </a:rPr>
              <a:t>Complexity Class</a:t>
            </a:r>
            <a:r>
              <a:rPr lang="en-US" sz="3200" dirty="0">
                <a:solidFill>
                  <a:sysClr val="windowText" lastClr="000000"/>
                </a:solidFill>
              </a:rPr>
              <a:t>: A set (group) of problems that all have the same (or similar) difficulty to solve (given some definition of “same”).</a:t>
            </a:r>
          </a:p>
        </p:txBody>
      </p:sp>
    </p:spTree>
    <p:extLst>
      <p:ext uri="{BB962C8B-B14F-4D97-AF65-F5344CB8AC3E}">
        <p14:creationId xmlns:p14="http://schemas.microsoft.com/office/powerpoint/2010/main" val="3144725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C649D-810F-CD40-AE53-4B0400BFC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1675E6-03BA-BB76-2FCB-CDF0062BA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The class 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E26E9FE-6EC9-DB15-8F2C-11560DD83D3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247883" y="3392487"/>
                <a:ext cx="3693055" cy="2339446"/>
              </a:xfr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class P is the set of all problems that can be solved by a computer in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𝒩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E26E9FE-6EC9-DB15-8F2C-11560DD83D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247883" y="3392487"/>
                <a:ext cx="3693055" cy="2339446"/>
              </a:xfrm>
              <a:blipFill>
                <a:blip r:embed="rId2"/>
                <a:stretch>
                  <a:fillRect l="-2740" r="-239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86B35DFF-E4C0-D75F-6ACC-AA213846CD84}"/>
              </a:ext>
            </a:extLst>
          </p:cNvPr>
          <p:cNvSpPr/>
          <p:nvPr/>
        </p:nvSpPr>
        <p:spPr>
          <a:xfrm>
            <a:off x="5417078" y="1888065"/>
            <a:ext cx="1354667" cy="1354667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P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FF0056E8-8A2C-8CC1-1648-0F5DA356D609}"/>
              </a:ext>
            </a:extLst>
          </p:cNvPr>
          <p:cNvSpPr txBox="1">
            <a:spLocks/>
          </p:cNvSpPr>
          <p:nvPr/>
        </p:nvSpPr>
        <p:spPr>
          <a:xfrm>
            <a:off x="1973528" y="1106221"/>
            <a:ext cx="2091267" cy="9567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u="sng" dirty="0"/>
              <a:t>Important</a:t>
            </a:r>
            <a:r>
              <a:rPr lang="en-US" sz="1600" i="1" dirty="0"/>
              <a:t>: P is a set of problems (not solutions, not algorithms)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2B00B1-699E-C650-91F0-F61968E80EBE}"/>
              </a:ext>
            </a:extLst>
          </p:cNvPr>
          <p:cNvCxnSpPr/>
          <p:nvPr/>
        </p:nvCxnSpPr>
        <p:spPr>
          <a:xfrm>
            <a:off x="3750733" y="1888065"/>
            <a:ext cx="1430867" cy="5334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F4A1826-B785-B108-33B5-F33D624B2EA6}"/>
              </a:ext>
            </a:extLst>
          </p:cNvPr>
          <p:cNvSpPr txBox="1">
            <a:spLocks/>
          </p:cNvSpPr>
          <p:nvPr/>
        </p:nvSpPr>
        <p:spPr>
          <a:xfrm>
            <a:off x="8200228" y="1234808"/>
            <a:ext cx="3856305" cy="282919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u="sng" dirty="0"/>
              <a:t>Example problems in this set include</a:t>
            </a:r>
            <a:r>
              <a:rPr lang="en-US" sz="16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Sorting a list of numbers</a:t>
            </a:r>
            <a:br>
              <a:rPr lang="en-US" sz="1600" i="1" dirty="0"/>
            </a:br>
            <a:r>
              <a:rPr lang="en-US" sz="1600" i="1" dirty="0"/>
              <a:t>Inserting into a binary tree</a:t>
            </a:r>
            <a:br>
              <a:rPr lang="en-US" sz="1600" i="1" dirty="0"/>
            </a:br>
            <a:r>
              <a:rPr lang="en-US" sz="1600" i="1" dirty="0"/>
              <a:t>Computing the average of a list of numbers</a:t>
            </a:r>
            <a:br>
              <a:rPr lang="en-US" sz="1600" i="1" dirty="0"/>
            </a:br>
            <a:r>
              <a:rPr lang="en-US" sz="1600" i="1" dirty="0"/>
              <a:t>Printing “hello world”</a:t>
            </a:r>
            <a:br>
              <a:rPr lang="en-US" sz="1600" i="1" dirty="0"/>
            </a:br>
            <a:r>
              <a:rPr lang="en-US" sz="1600" i="1" dirty="0"/>
              <a:t>Find() in a hash table</a:t>
            </a:r>
            <a:br>
              <a:rPr lang="en-US" sz="1600" i="1" dirty="0"/>
            </a:br>
            <a:r>
              <a:rPr lang="en-US" sz="1600" i="1" dirty="0"/>
              <a:t>…and many more</a:t>
            </a:r>
            <a:br>
              <a:rPr lang="en-US" sz="1600" i="1" dirty="0"/>
            </a:br>
            <a:endParaRPr lang="en-US" sz="1600" i="1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325095-C963-E46C-3039-4B76CB857EA0}"/>
              </a:ext>
            </a:extLst>
          </p:cNvPr>
          <p:cNvCxnSpPr>
            <a:cxnSpLocks/>
          </p:cNvCxnSpPr>
          <p:nvPr/>
        </p:nvCxnSpPr>
        <p:spPr>
          <a:xfrm flipV="1">
            <a:off x="6771745" y="1573213"/>
            <a:ext cx="1352282" cy="32913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6785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D0017-E4C6-F79A-4E8B-EBCA3D09E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E653E8-281C-3C56-BCEF-5EE6F1C73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The class P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54F7E8B-B444-F9D9-6B64-ABC2198FECA3}"/>
              </a:ext>
            </a:extLst>
          </p:cNvPr>
          <p:cNvSpPr/>
          <p:nvPr/>
        </p:nvSpPr>
        <p:spPr>
          <a:xfrm>
            <a:off x="5417078" y="1888065"/>
            <a:ext cx="1354667" cy="1354667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P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76B429B8-4834-276C-C8F9-AF9DC8844F0F}"/>
              </a:ext>
            </a:extLst>
          </p:cNvPr>
          <p:cNvSpPr txBox="1">
            <a:spLocks/>
          </p:cNvSpPr>
          <p:nvPr/>
        </p:nvSpPr>
        <p:spPr>
          <a:xfrm>
            <a:off x="1318328" y="1409698"/>
            <a:ext cx="2091267" cy="9567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u="sng" dirty="0"/>
              <a:t>Essentially</a:t>
            </a:r>
            <a:r>
              <a:rPr lang="en-US" sz="1600" i="1" dirty="0"/>
              <a:t>: P is a set of problems we can solve quickly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4D8735-2186-A505-BE74-1986E447B4BC}"/>
              </a:ext>
            </a:extLst>
          </p:cNvPr>
          <p:cNvCxnSpPr>
            <a:cxnSpLocks/>
          </p:cNvCxnSpPr>
          <p:nvPr/>
        </p:nvCxnSpPr>
        <p:spPr>
          <a:xfrm>
            <a:off x="3484333" y="2031996"/>
            <a:ext cx="1692467" cy="5334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4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/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62917"/>
                <a:ext cx="9905998" cy="668415"/>
              </a:xfrm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it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62917"/>
                <a:ext cx="9905998" cy="66841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3448D927-13CC-1C4D-A5A0-138503F3AB6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60800" y="2129902"/>
                <a:ext cx="3672000" cy="106317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>
                    <a:solidFill>
                      <a:schemeClr val="bg1"/>
                    </a:solidFill>
                  </a:rPr>
                  <a:t>NP is the set of problems for which solutions can be </a:t>
                </a:r>
                <a:r>
                  <a:rPr lang="en-US" sz="1600" i="1" dirty="0">
                    <a:solidFill>
                      <a:schemeClr val="accent3"/>
                    </a:solidFill>
                  </a:rPr>
                  <a:t>verified as correct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16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sz="16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chemeClr val="accent3"/>
                    </a:solidFill>
                  </a:rPr>
                  <a:t> </a:t>
                </a:r>
                <a:r>
                  <a:rPr lang="en-US" sz="1600" i="1" dirty="0">
                    <a:solidFill>
                      <a:schemeClr val="bg1"/>
                    </a:solidFill>
                  </a:rPr>
                  <a:t>(the difficulty of finding solutions varies)</a:t>
                </a: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3448D927-13CC-1C4D-A5A0-138503F3A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00" y="2129902"/>
                <a:ext cx="3672000" cy="1063176"/>
              </a:xfrm>
              <a:prstGeom prst="rect">
                <a:avLst/>
              </a:prstGeom>
              <a:blipFill>
                <a:blip r:embed="rId3"/>
                <a:stretch>
                  <a:fillRect l="-690" r="-20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6120215" y="1296548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1D1CA701-6607-7E4F-856B-6053AF5505F9}"/>
              </a:ext>
            </a:extLst>
          </p:cNvPr>
          <p:cNvSpPr txBox="1">
            <a:spLocks/>
          </p:cNvSpPr>
          <p:nvPr/>
        </p:nvSpPr>
        <p:spPr>
          <a:xfrm>
            <a:off x="2066032" y="1785679"/>
            <a:ext cx="2832007" cy="34422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NP: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681425-90FA-9EDA-35C9-ED280CAA5E49}"/>
              </a:ext>
            </a:extLst>
          </p:cNvPr>
          <p:cNvSpPr txBox="1"/>
          <p:nvPr/>
        </p:nvSpPr>
        <p:spPr>
          <a:xfrm>
            <a:off x="1098566" y="4377547"/>
            <a:ext cx="3926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You will see the formal definition and talk about this complexity class in more detail in DMT2!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D79A768-A09A-F4A4-F0CC-851618155E66}"/>
              </a:ext>
            </a:extLst>
          </p:cNvPr>
          <p:cNvCxnSpPr/>
          <p:nvPr/>
        </p:nvCxnSpPr>
        <p:spPr>
          <a:xfrm flipH="1">
            <a:off x="2296435" y="3328472"/>
            <a:ext cx="475200" cy="928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1302E0-593E-DC55-C8A8-DA882476DA27}"/>
                  </a:ext>
                </a:extLst>
              </p:cNvPr>
              <p:cNvSpPr txBox="1"/>
              <p:nvPr/>
            </p:nvSpPr>
            <p:spPr>
              <a:xfrm>
                <a:off x="7113600" y="5952483"/>
                <a:ext cx="308426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i="1" dirty="0"/>
                  <a:t>For now, just trust us that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1302E0-593E-DC55-C8A8-DA882476D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3600" y="5952483"/>
                <a:ext cx="3084269" cy="338554"/>
              </a:xfrm>
              <a:prstGeom prst="rect">
                <a:avLst/>
              </a:prstGeom>
              <a:blipFill>
                <a:blip r:embed="rId4"/>
                <a:stretch>
                  <a:fillRect t="-357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DF80A8-D519-9F28-AF03-4B3A67DEE6EE}"/>
              </a:ext>
            </a:extLst>
          </p:cNvPr>
          <p:cNvCxnSpPr>
            <a:cxnSpLocks/>
          </p:cNvCxnSpPr>
          <p:nvPr/>
        </p:nvCxnSpPr>
        <p:spPr>
          <a:xfrm>
            <a:off x="7813200" y="5488083"/>
            <a:ext cx="150000" cy="4644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3037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81339-CF95-CA1C-D461-EC273884F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CE94-E2DC-3524-8B85-649FFF7FD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5106" y="1025487"/>
            <a:ext cx="4841788" cy="731313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dirty="0"/>
              <a:t>What does it mean to “verify quickly”? Consider the following problem?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E87B41E-749A-E4C8-F323-E64AD407A1E4}"/>
              </a:ext>
            </a:extLst>
          </p:cNvPr>
          <p:cNvSpPr txBox="1">
            <a:spLocks/>
          </p:cNvSpPr>
          <p:nvPr/>
        </p:nvSpPr>
        <p:spPr>
          <a:xfrm>
            <a:off x="1252624" y="21774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67E0F5-CCBD-E741-644C-51B0BB8195DB}"/>
              </a:ext>
            </a:extLst>
          </p:cNvPr>
          <p:cNvSpPr txBox="1">
            <a:spLocks/>
          </p:cNvSpPr>
          <p:nvPr/>
        </p:nvSpPr>
        <p:spPr>
          <a:xfrm>
            <a:off x="3673518" y="35835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</p:spTree>
    <p:extLst>
      <p:ext uri="{BB962C8B-B14F-4D97-AF65-F5344CB8AC3E}">
        <p14:creationId xmlns:p14="http://schemas.microsoft.com/office/powerpoint/2010/main" val="2059774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78FEE-70CB-3B9E-3854-75C2D6D8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E7B91-5493-6800-311E-8F1656ABF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E536F54-E269-3619-F517-C283D28BA6E1}"/>
              </a:ext>
            </a:extLst>
          </p:cNvPr>
          <p:cNvSpPr txBox="1">
            <a:spLocks/>
          </p:cNvSpPr>
          <p:nvPr/>
        </p:nvSpPr>
        <p:spPr>
          <a:xfrm>
            <a:off x="1252624" y="11262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FC13E39-42D5-5176-E87B-759924CA7415}"/>
              </a:ext>
            </a:extLst>
          </p:cNvPr>
          <p:cNvSpPr txBox="1">
            <a:spLocks/>
          </p:cNvSpPr>
          <p:nvPr/>
        </p:nvSpPr>
        <p:spPr>
          <a:xfrm>
            <a:off x="3673518" y="22659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C03FB7-368A-A2D5-4757-CF69C1F11E6E}"/>
              </a:ext>
            </a:extLst>
          </p:cNvPr>
          <p:cNvSpPr txBox="1"/>
          <p:nvPr/>
        </p:nvSpPr>
        <p:spPr>
          <a:xfrm>
            <a:off x="1598400" y="3853544"/>
            <a:ext cx="3420000" cy="175432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Solve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Figure out if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 with no additional info. Pretty hard to do (there are algorithms for this FYI)!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ABC345-9AA9-17E7-B54E-1E606D2DAE41}"/>
              </a:ext>
            </a:extLst>
          </p:cNvPr>
          <p:cNvSpPr txBox="1"/>
          <p:nvPr/>
        </p:nvSpPr>
        <p:spPr>
          <a:xfrm>
            <a:off x="7049999" y="3853544"/>
            <a:ext cx="3997411" cy="258532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Verify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Given evidence that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composite, verify if evidence is accurate.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Evidence: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To verify, simply check:</a:t>
            </a:r>
          </a:p>
          <a:p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5"/>
                </a:solidFill>
              </a:rPr>
              <a:t>40353607</a:t>
            </a:r>
            <a:r>
              <a:rPr lang="en-US" dirty="0">
                <a:solidFill>
                  <a:schemeClr val="bg1"/>
                </a:solidFill>
              </a:rPr>
              <a:t> (VERIFIED!)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C2DA5D8-C732-D77D-93BF-08689764BB27}"/>
              </a:ext>
            </a:extLst>
          </p:cNvPr>
          <p:cNvCxnSpPr/>
          <p:nvPr/>
        </p:nvCxnSpPr>
        <p:spPr>
          <a:xfrm flipH="1">
            <a:off x="3866400" y="2997257"/>
            <a:ext cx="820800" cy="7179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937526E-A4A6-C1F1-DDC7-C1EE66F5B3FD}"/>
              </a:ext>
            </a:extLst>
          </p:cNvPr>
          <p:cNvCxnSpPr>
            <a:cxnSpLocks/>
          </p:cNvCxnSpPr>
          <p:nvPr/>
        </p:nvCxnSpPr>
        <p:spPr>
          <a:xfrm>
            <a:off x="7504802" y="2997256"/>
            <a:ext cx="1203386" cy="71794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3896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8A2B1-F53E-02A2-04DE-1069A86AD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C20D9-BA4E-40D8-8C66-2834382CE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AD7BA2B-FDF7-0AFD-8D95-5C2F98B4DC61}"/>
              </a:ext>
            </a:extLst>
          </p:cNvPr>
          <p:cNvSpPr txBox="1">
            <a:spLocks/>
          </p:cNvSpPr>
          <p:nvPr/>
        </p:nvSpPr>
        <p:spPr>
          <a:xfrm>
            <a:off x="1252624" y="11262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552A499-628B-2424-7A7E-E4B6EF7F6451}"/>
              </a:ext>
            </a:extLst>
          </p:cNvPr>
          <p:cNvSpPr txBox="1">
            <a:spLocks/>
          </p:cNvSpPr>
          <p:nvPr/>
        </p:nvSpPr>
        <p:spPr>
          <a:xfrm>
            <a:off x="3673518" y="22659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B4EE1A-817C-A376-3432-81C6AE01C9C7}"/>
              </a:ext>
            </a:extLst>
          </p:cNvPr>
          <p:cNvSpPr txBox="1"/>
          <p:nvPr/>
        </p:nvSpPr>
        <p:spPr>
          <a:xfrm>
            <a:off x="7049999" y="3853544"/>
            <a:ext cx="3997411" cy="258532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Verify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Given evidence that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composite, verify if evidence is accurate.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Evidence: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To verify, simply check:</a:t>
            </a:r>
          </a:p>
          <a:p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5"/>
                </a:solidFill>
              </a:rPr>
              <a:t>40353607</a:t>
            </a:r>
            <a:r>
              <a:rPr lang="en-US" dirty="0">
                <a:solidFill>
                  <a:schemeClr val="bg1"/>
                </a:solidFill>
              </a:rPr>
              <a:t> (VERIFIED!)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42B07B0-BA31-C47E-05D5-41093DD8CED4}"/>
              </a:ext>
            </a:extLst>
          </p:cNvPr>
          <p:cNvCxnSpPr>
            <a:cxnSpLocks/>
          </p:cNvCxnSpPr>
          <p:nvPr/>
        </p:nvCxnSpPr>
        <p:spPr>
          <a:xfrm flipH="1" flipV="1">
            <a:off x="5040000" y="4593600"/>
            <a:ext cx="1792800" cy="1936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BAEB5A9-7E1E-EF91-D442-2C01365308B8}"/>
              </a:ext>
            </a:extLst>
          </p:cNvPr>
          <p:cNvCxnSpPr>
            <a:cxnSpLocks/>
          </p:cNvCxnSpPr>
          <p:nvPr/>
        </p:nvCxnSpPr>
        <p:spPr>
          <a:xfrm>
            <a:off x="7504802" y="2997256"/>
            <a:ext cx="1203386" cy="71794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A3CD84-5D7F-D07D-E8B8-D9B86E9E78D3}"/>
                  </a:ext>
                </a:extLst>
              </p:cNvPr>
              <p:cNvSpPr txBox="1"/>
              <p:nvPr/>
            </p:nvSpPr>
            <p:spPr>
              <a:xfrm>
                <a:off x="2195401" y="4090251"/>
                <a:ext cx="276480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Since verifying solutions is polynomial time (in this case,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), this problem is in the set NP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A3CD84-5D7F-D07D-E8B8-D9B86E9E78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5401" y="4090251"/>
                <a:ext cx="2764800" cy="1200329"/>
              </a:xfrm>
              <a:prstGeom prst="rect">
                <a:avLst/>
              </a:prstGeom>
              <a:blipFill>
                <a:blip r:embed="rId2"/>
                <a:stretch>
                  <a:fillRect l="-1826" t="-2105" r="-4110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343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Back to our Diagram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5437569" y="1744659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44A26CC7-079F-374B-8C92-959E199970CA}"/>
              </a:ext>
            </a:extLst>
          </p:cNvPr>
          <p:cNvSpPr txBox="1">
            <a:spLocks/>
          </p:cNvSpPr>
          <p:nvPr/>
        </p:nvSpPr>
        <p:spPr>
          <a:xfrm>
            <a:off x="1574324" y="4643553"/>
            <a:ext cx="3226596" cy="1368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Almost every algorithm we have studied has a polynomial time algorithm and is in 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282BA-4C43-BD4B-94F3-054E7C20C489}"/>
              </a:ext>
            </a:extLst>
          </p:cNvPr>
          <p:cNvCxnSpPr>
            <a:cxnSpLocks/>
          </p:cNvCxnSpPr>
          <p:nvPr/>
        </p:nvCxnSpPr>
        <p:spPr>
          <a:xfrm flipV="1">
            <a:off x="4505178" y="4802400"/>
            <a:ext cx="1492422" cy="3428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C55BFA89-9846-5295-461C-B846C6235AA2}"/>
              </a:ext>
            </a:extLst>
          </p:cNvPr>
          <p:cNvSpPr txBox="1">
            <a:spLocks/>
          </p:cNvSpPr>
          <p:nvPr/>
        </p:nvSpPr>
        <p:spPr>
          <a:xfrm>
            <a:off x="1502324" y="1458036"/>
            <a:ext cx="3226596" cy="953964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What is the problem that sits at the very top here? For our purposes, this is the “hardest” problem (hardest in these groups we are choosing to study)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E4D8FB0-0E81-6C34-4F90-199764A50DA8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4691358" y="1744659"/>
            <a:ext cx="2317572" cy="9313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11196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5437569" y="1744659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3BEB5F83-FE3A-8245-91A4-E21E1020472F}"/>
              </a:ext>
            </a:extLst>
          </p:cNvPr>
          <p:cNvSpPr txBox="1">
            <a:spLocks/>
          </p:cNvSpPr>
          <p:nvPr/>
        </p:nvSpPr>
        <p:spPr>
          <a:xfrm>
            <a:off x="1112652" y="3823222"/>
            <a:ext cx="3226596" cy="1368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NP-Hard problems are defined to be all problems that are this hard OR harder.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8B23BFE-72AD-684A-949E-4D647D62BDE8}"/>
              </a:ext>
            </a:extLst>
          </p:cNvPr>
          <p:cNvCxnSpPr>
            <a:cxnSpLocks/>
          </p:cNvCxnSpPr>
          <p:nvPr/>
        </p:nvCxnSpPr>
        <p:spPr>
          <a:xfrm flipV="1">
            <a:off x="2625505" y="2842788"/>
            <a:ext cx="200890" cy="93386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44A26CC7-079F-374B-8C92-959E199970CA}"/>
              </a:ext>
            </a:extLst>
          </p:cNvPr>
          <p:cNvSpPr txBox="1">
            <a:spLocks/>
          </p:cNvSpPr>
          <p:nvPr/>
        </p:nvSpPr>
        <p:spPr>
          <a:xfrm>
            <a:off x="1872132" y="2049753"/>
            <a:ext cx="2355130" cy="6988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Suppose we have find the hardest problem in NP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282BA-4C43-BD4B-94F3-054E7C20C489}"/>
              </a:ext>
            </a:extLst>
          </p:cNvPr>
          <p:cNvCxnSpPr>
            <a:cxnSpLocks/>
          </p:cNvCxnSpPr>
          <p:nvPr/>
        </p:nvCxnSpPr>
        <p:spPr>
          <a:xfrm flipV="1">
            <a:off x="4088723" y="1837790"/>
            <a:ext cx="2782857" cy="56137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9667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051072" y="813235"/>
            <a:ext cx="2506589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B371892-3A55-864A-BE74-1F51EA687C93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1CE101F-D131-5E4B-B329-8B3F728A41A4}"/>
                </a:ext>
              </a:extLst>
            </p:cNvPr>
            <p:cNvGrpSpPr/>
            <p:nvPr/>
          </p:nvGrpSpPr>
          <p:grpSpPr>
            <a:xfrm>
              <a:off x="5908350" y="2496096"/>
              <a:ext cx="4714481" cy="4063996"/>
              <a:chOff x="4523051" y="1761068"/>
              <a:chExt cx="4714481" cy="4063996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CBE22B-00AF-0249-B60F-AB6706A81B95}"/>
                  </a:ext>
                </a:extLst>
              </p:cNvPr>
              <p:cNvGrpSpPr/>
              <p:nvPr/>
            </p:nvGrpSpPr>
            <p:grpSpPr>
              <a:xfrm>
                <a:off x="4523051" y="1854199"/>
                <a:ext cx="3142722" cy="3970865"/>
                <a:chOff x="4519612" y="1845732"/>
                <a:chExt cx="3142722" cy="3970865"/>
              </a:xfrm>
            </p:grpSpPr>
            <p:sp>
              <p:nvSpPr>
                <p:cNvPr id="2" name="Oval 1">
                  <a:extLst>
                    <a:ext uri="{FF2B5EF4-FFF2-40B4-BE49-F238E27FC236}">
                      <a16:creationId xmlns:a16="http://schemas.microsoft.com/office/drawing/2014/main" id="{D4A1DF55-6DAA-0D4D-9919-563E750571CE}"/>
                    </a:ext>
                  </a:extLst>
                </p:cNvPr>
                <p:cNvSpPr/>
                <p:nvPr/>
              </p:nvSpPr>
              <p:spPr>
                <a:xfrm>
                  <a:off x="4519612" y="1845732"/>
                  <a:ext cx="3142722" cy="3970865"/>
                </a:xfrm>
                <a:prstGeom prst="ellips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n-US" sz="3000" dirty="0">
                      <a:solidFill>
                        <a:schemeClr val="bg1"/>
                      </a:solidFill>
                    </a:rPr>
                    <a:t>NP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1CB683A8-08D1-204F-AFE5-1767C7DEADD6}"/>
                    </a:ext>
                  </a:extLst>
                </p:cNvPr>
                <p:cNvSpPr/>
                <p:nvPr/>
              </p:nvSpPr>
              <p:spPr>
                <a:xfrm>
                  <a:off x="4936067" y="3649131"/>
                  <a:ext cx="2269066" cy="2159000"/>
                </a:xfrm>
                <a:prstGeom prst="ellips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3000" dirty="0">
                      <a:solidFill>
                        <a:schemeClr val="bg1"/>
                      </a:solidFill>
                    </a:rPr>
                    <a:t>P</a:t>
                  </a:r>
                </a:p>
              </p:txBody>
            </p: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BA46874-D347-F341-B74E-C744F75A9D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3200" y="1854199"/>
                <a:ext cx="0" cy="38777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8C484E6F-0BD1-AB4E-9EFE-A40AC6ADE2A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57715" y="5469457"/>
                <a:ext cx="1414332" cy="355607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dirty="0"/>
                  <a:t>Easy Problems</a:t>
                </a:r>
                <a:endParaRPr lang="en-US" sz="1600" i="1" dirty="0"/>
              </a:p>
            </p:txBody>
          </p:sp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B188799F-CD2B-4748-AD60-BDD68DE3812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23200" y="1761068"/>
                <a:ext cx="1414332" cy="355607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dirty="0"/>
                  <a:t>Hard Problems</a:t>
                </a:r>
                <a:endParaRPr lang="en-US" sz="1600" i="1" dirty="0"/>
              </a:p>
            </p:txBody>
          </p:sp>
        </p:grp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44EC2B34-04B5-F843-91DE-FF6A65B7AE51}"/>
                </a:ext>
              </a:extLst>
            </p:cNvPr>
            <p:cNvSpPr/>
            <p:nvPr/>
          </p:nvSpPr>
          <p:spPr>
            <a:xfrm>
              <a:off x="5791207" y="-4553901"/>
              <a:ext cx="3336261" cy="7263666"/>
            </a:xfrm>
            <a:prstGeom prst="arc">
              <a:avLst>
                <a:gd name="adj1" fmla="val 334075"/>
                <a:gd name="adj2" fmla="val 10164359"/>
              </a:avLst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bg1"/>
                  </a:solidFill>
                </a:rPr>
                <a:t>NP-Hard</a:t>
              </a:r>
            </a:p>
          </p:txBody>
        </p:sp>
      </p:grp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A6AB8359-241B-7744-9BEA-5C88AC4D9DD7}"/>
              </a:ext>
            </a:extLst>
          </p:cNvPr>
          <p:cNvSpPr txBox="1">
            <a:spLocks/>
          </p:cNvSpPr>
          <p:nvPr/>
        </p:nvSpPr>
        <p:spPr>
          <a:xfrm>
            <a:off x="2322497" y="1147442"/>
            <a:ext cx="1838778" cy="63652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Goes up to indefinite difficulty.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225A669-08BE-344E-89BF-97B3BC6A8ED9}"/>
              </a:ext>
            </a:extLst>
          </p:cNvPr>
          <p:cNvCxnSpPr>
            <a:cxnSpLocks/>
          </p:cNvCxnSpPr>
          <p:nvPr/>
        </p:nvCxnSpPr>
        <p:spPr>
          <a:xfrm flipV="1">
            <a:off x="3938257" y="461728"/>
            <a:ext cx="1702052" cy="68571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548143" y="3756104"/>
            <a:ext cx="2613132" cy="130478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Note that NP-Hard and NP intersect here. Problems in this intersection are the hardest problems in NP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DA96E10-036D-F441-9C5D-5414C32DF908}"/>
              </a:ext>
            </a:extLst>
          </p:cNvPr>
          <p:cNvCxnSpPr>
            <a:cxnSpLocks/>
          </p:cNvCxnSpPr>
          <p:nvPr/>
        </p:nvCxnSpPr>
        <p:spPr>
          <a:xfrm flipV="1">
            <a:off x="3715239" y="2589227"/>
            <a:ext cx="3065807" cy="116687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350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0525" y="242867"/>
            <a:ext cx="4652864" cy="668415"/>
          </a:xfrm>
        </p:spPr>
        <p:txBody>
          <a:bodyPr/>
          <a:lstStyle/>
          <a:p>
            <a:pPr algn="ctr"/>
            <a:r>
              <a:rPr lang="en-US" dirty="0"/>
              <a:t>NP-Complete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487868" y="1660884"/>
            <a:ext cx="2613132" cy="130478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This section (purple) is the set of NP-Complete problems. The hardest problems in NP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DA96E10-036D-F441-9C5D-5414C32DF908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3948252" y="2437904"/>
            <a:ext cx="3203986" cy="21159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34D04-07D6-194D-B81F-9C6112208B1F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00DF796-924F-A44D-B050-4520087394B0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1CE101F-D131-5E4B-B329-8B3F728A41A4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5ECBE22B-00AF-0249-B60F-AB6706A81B95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D4A1DF55-6DAA-0D4D-9919-563E750571CE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1CB683A8-08D1-204F-AFE5-1767C7DEADD6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BA46874-D347-F341-B74E-C744F75A9D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8C484E6F-0BD1-AB4E-9EFE-A40AC6ADE2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B188799F-CD2B-4748-AD60-BDD68DE3812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4EC2B34-04B5-F843-91DE-FF6A65B7AE51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F78F878-B9AB-894D-BB85-D7E5A5579F6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F52FCBCB-7180-2C4C-9A9D-CE6A6A75DE49}"/>
              </a:ext>
            </a:extLst>
          </p:cNvPr>
          <p:cNvSpPr txBox="1">
            <a:spLocks/>
          </p:cNvSpPr>
          <p:nvPr/>
        </p:nvSpPr>
        <p:spPr>
          <a:xfrm>
            <a:off x="1048233" y="3715269"/>
            <a:ext cx="4651890" cy="194314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i="1" u="sng" dirty="0">
                <a:solidFill>
                  <a:schemeClr val="bg1"/>
                </a:solidFill>
              </a:rPr>
              <a:t>Definition</a:t>
            </a:r>
            <a:r>
              <a:rPr lang="en-US" sz="2000" i="1" dirty="0">
                <a:solidFill>
                  <a:schemeClr val="bg1"/>
                </a:solidFill>
              </a:rPr>
              <a:t>: A problem is </a:t>
            </a:r>
            <a:r>
              <a:rPr lang="en-US" sz="2000" b="1" i="1" dirty="0">
                <a:solidFill>
                  <a:schemeClr val="bg1"/>
                </a:solidFill>
              </a:rPr>
              <a:t>NP-Complete</a:t>
            </a:r>
            <a:r>
              <a:rPr lang="en-US" sz="2000" i="1" dirty="0">
                <a:solidFill>
                  <a:schemeClr val="bg1"/>
                </a:solidFill>
              </a:rPr>
              <a:t> if and only if the problem: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2000" i="1" dirty="0">
                <a:solidFill>
                  <a:schemeClr val="bg1"/>
                </a:solidFill>
              </a:rPr>
              <a:t>Is in NP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2000" i="1" dirty="0">
                <a:solidFill>
                  <a:schemeClr val="bg1"/>
                </a:solidFill>
              </a:rPr>
              <a:t>Is NP-Hard</a:t>
            </a:r>
          </a:p>
        </p:txBody>
      </p:sp>
    </p:spTree>
    <p:extLst>
      <p:ext uri="{BB962C8B-B14F-4D97-AF65-F5344CB8AC3E}">
        <p14:creationId xmlns:p14="http://schemas.microsoft.com/office/powerpoint/2010/main" val="827764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0525" y="242867"/>
            <a:ext cx="4652864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047375" y="1616234"/>
            <a:ext cx="4651890" cy="45307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A different definition of NP-Hard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34D04-07D6-194D-B81F-9C6112208B1F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00DF796-924F-A44D-B050-4520087394B0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1CE101F-D131-5E4B-B329-8B3F728A41A4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5ECBE22B-00AF-0249-B60F-AB6706A81B95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D4A1DF55-6DAA-0D4D-9919-563E750571CE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1CB683A8-08D1-204F-AFE5-1767C7DEADD6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BA46874-D347-F341-B74E-C744F75A9D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8C484E6F-0BD1-AB4E-9EFE-A40AC6ADE2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B188799F-CD2B-4748-AD60-BDD68DE3812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4EC2B34-04B5-F843-91DE-FF6A65B7AE51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F78F878-B9AB-894D-BB85-D7E5A5579F6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52FCBCB-7180-2C4C-9A9D-CE6A6A75DE4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47375" y="1999830"/>
                <a:ext cx="4651890" cy="85187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b="1" i="1" u="sng" dirty="0">
                    <a:solidFill>
                      <a:schemeClr val="bg1"/>
                    </a:solidFill>
                  </a:rPr>
                  <a:t>Definition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: A problem A is </a:t>
                </a:r>
                <a:r>
                  <a:rPr lang="en-US" sz="2000" b="1" i="1" dirty="0">
                    <a:solidFill>
                      <a:schemeClr val="bg1"/>
                    </a:solidFill>
                  </a:rPr>
                  <a:t>NP-Hard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 if and only 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2000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52FCBCB-7180-2C4C-9A9D-CE6A6A75DE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375" y="1999830"/>
                <a:ext cx="4651890" cy="851874"/>
              </a:xfrm>
              <a:prstGeom prst="rect">
                <a:avLst/>
              </a:prstGeom>
              <a:blipFill>
                <a:blip r:embed="rId2"/>
                <a:stretch>
                  <a:fillRect l="-1084" b="-571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002365C9-43F9-C746-B90C-0DE6E5BFE4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97138" y="4002590"/>
                <a:ext cx="3296881" cy="1338955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600" i="1" dirty="0"/>
                  <a:t> means that problem A is harder than problem B, shown through a </a:t>
                </a:r>
                <a:r>
                  <a:rPr lang="en-US" sz="1600" b="1" i="1" u="sng" dirty="0"/>
                  <a:t>reduction</a:t>
                </a:r>
                <a:r>
                  <a:rPr lang="en-US" sz="1600" i="1" dirty="0"/>
                  <a:t>, which we will see in a moment.</a:t>
                </a: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002365C9-43F9-C746-B90C-0DE6E5BFE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138" y="4002590"/>
                <a:ext cx="3296881" cy="1338955"/>
              </a:xfrm>
              <a:prstGeom prst="rect">
                <a:avLst/>
              </a:prstGeom>
              <a:blipFill>
                <a:blip r:embed="rId3"/>
                <a:stretch>
                  <a:fillRect l="-7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57FA3D-9EC4-A748-9BAF-9415D236B50D}"/>
              </a:ext>
            </a:extLst>
          </p:cNvPr>
          <p:cNvCxnSpPr>
            <a:cxnSpLocks/>
          </p:cNvCxnSpPr>
          <p:nvPr/>
        </p:nvCxnSpPr>
        <p:spPr>
          <a:xfrm flipV="1">
            <a:off x="2845578" y="2996697"/>
            <a:ext cx="830129" cy="10798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26401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661B-301F-ACC9-5551-21563C95B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D54BA993-AB73-FD57-0A2D-4C91067A35B8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E12123D-1786-CB92-0BC2-C7659C36B9DE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AC690678-B057-3D3D-C8C0-43A7375E212C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CD168CE3-B685-5CF4-26A5-E8C601C5857A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AAD10472-803D-0DF1-C7F9-E5A27FAE4BD5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2644FB4C-D3A3-E8CB-A7CF-ACAAC9598202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F5D0D99E-1BFC-0F7D-E25F-596635EA43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A4C43250-5E05-854E-D670-3BB4DB0C652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71AAA3E8-3573-4574-4392-749A42404D4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722766B9-713F-B18E-4F22-1455E239F209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351B477-828D-C49E-ED37-88FD48C2E9AE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4D94017A-2DBF-3AC9-8858-E51AD3F8BA8A}"/>
              </a:ext>
            </a:extLst>
          </p:cNvPr>
          <p:cNvSpPr txBox="1">
            <a:spLocks/>
          </p:cNvSpPr>
          <p:nvPr/>
        </p:nvSpPr>
        <p:spPr>
          <a:xfrm>
            <a:off x="2064722" y="1919749"/>
            <a:ext cx="3296881" cy="133895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Remember that goal is to find a really hard problem in this NP-Complete region. But what is that problem?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8073AB-CCFF-F14E-2515-4182FADFDAA7}"/>
              </a:ext>
            </a:extLst>
          </p:cNvPr>
          <p:cNvCxnSpPr>
            <a:cxnSpLocks/>
          </p:cNvCxnSpPr>
          <p:nvPr/>
        </p:nvCxnSpPr>
        <p:spPr>
          <a:xfrm>
            <a:off x="4932000" y="2465374"/>
            <a:ext cx="2329307" cy="184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453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F937A-B747-AD43-D25E-D57418B62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DB175-E84F-F268-137B-34B846315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Satisfiability</a:t>
            </a:r>
          </a:p>
        </p:txBody>
      </p:sp>
    </p:spTree>
    <p:extLst>
      <p:ext uri="{BB962C8B-B14F-4D97-AF65-F5344CB8AC3E}">
        <p14:creationId xmlns:p14="http://schemas.microsoft.com/office/powerpoint/2010/main" val="19675039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Satisfiability (SAT)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474075"/>
            <a:ext cx="9905999" cy="884429"/>
          </a:xfrm>
          <a:solidFill>
            <a:schemeClr val="tx1">
              <a:lumMod val="95000"/>
            </a:schemeClr>
          </a:solidFill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b="1" i="1" u="sng" dirty="0">
                <a:solidFill>
                  <a:schemeClr val="bg1"/>
                </a:solidFill>
              </a:rPr>
              <a:t>Satisfiability (SAT) Problem</a:t>
            </a:r>
            <a:r>
              <a:rPr lang="en-US" dirty="0">
                <a:solidFill>
                  <a:schemeClr val="bg1"/>
                </a:solidFill>
              </a:rPr>
              <a:t>: Given a </a:t>
            </a:r>
            <a:r>
              <a:rPr lang="en-US" dirty="0" err="1">
                <a:solidFill>
                  <a:schemeClr val="accent3"/>
                </a:solidFill>
              </a:rPr>
              <a:t>boolean</a:t>
            </a:r>
            <a:r>
              <a:rPr lang="en-US" dirty="0">
                <a:solidFill>
                  <a:schemeClr val="accent3"/>
                </a:solidFill>
              </a:rPr>
              <a:t> formula</a:t>
            </a:r>
            <a:r>
              <a:rPr lang="en-US" dirty="0">
                <a:solidFill>
                  <a:schemeClr val="bg1"/>
                </a:solidFill>
              </a:rPr>
              <a:t>, is it possible to assign the variables true false values such that the </a:t>
            </a:r>
            <a:r>
              <a:rPr lang="en-US" dirty="0">
                <a:solidFill>
                  <a:schemeClr val="accent1"/>
                </a:solidFill>
              </a:rPr>
              <a:t>entire expression evaluates to “true”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C1D73BF-42AC-884D-8672-B2AA1D5E4609}"/>
              </a:ext>
            </a:extLst>
          </p:cNvPr>
          <p:cNvSpPr txBox="1">
            <a:spLocks/>
          </p:cNvSpPr>
          <p:nvPr/>
        </p:nvSpPr>
        <p:spPr>
          <a:xfrm>
            <a:off x="1689754" y="2819458"/>
            <a:ext cx="1632871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Example 1: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A61B19A-A987-9B82-154F-0782A0A9554C}"/>
              </a:ext>
            </a:extLst>
          </p:cNvPr>
          <p:cNvSpPr txBox="1">
            <a:spLocks/>
          </p:cNvSpPr>
          <p:nvPr/>
        </p:nvSpPr>
        <p:spPr>
          <a:xfrm>
            <a:off x="1689754" y="4380784"/>
            <a:ext cx="1632871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Example 2: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5A142DC-8ED5-20A6-F5B7-B451FEDAF06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89753" y="3401841"/>
                <a:ext cx="5507755" cy="5034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¬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5A142DC-8ED5-20A6-F5B7-B451FEDAF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9753" y="3401841"/>
                <a:ext cx="5507755" cy="503405"/>
              </a:xfrm>
              <a:prstGeom prst="rect">
                <a:avLst/>
              </a:prstGeom>
              <a:blipFill>
                <a:blip r:embed="rId2"/>
                <a:stretch>
                  <a:fillRect b="-714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C1C8703-B7BC-F14A-813E-C696475314F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24342" y="4962001"/>
                <a:ext cx="5507755" cy="5034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∨¬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C1C8703-B7BC-F14A-813E-C69647531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4342" y="4962001"/>
                <a:ext cx="5507755" cy="503405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36ACEB7-732E-BFF6-0E24-754FE7338F39}"/>
              </a:ext>
            </a:extLst>
          </p:cNvPr>
          <p:cNvSpPr txBox="1">
            <a:spLocks/>
          </p:cNvSpPr>
          <p:nvPr/>
        </p:nvSpPr>
        <p:spPr>
          <a:xfrm>
            <a:off x="7391928" y="3401841"/>
            <a:ext cx="3264004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True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: Set all variables to </a:t>
            </a: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True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079EA46-CAD6-1C50-0399-340F1A2CB515}"/>
              </a:ext>
            </a:extLst>
          </p:cNvPr>
          <p:cNvSpPr txBox="1">
            <a:spLocks/>
          </p:cNvSpPr>
          <p:nvPr/>
        </p:nvSpPr>
        <p:spPr>
          <a:xfrm>
            <a:off x="7391928" y="4962000"/>
            <a:ext cx="3264004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False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: All assignment </a:t>
            </a: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Fail</a:t>
            </a:r>
          </a:p>
        </p:txBody>
      </p:sp>
    </p:spTree>
    <p:extLst>
      <p:ext uri="{BB962C8B-B14F-4D97-AF65-F5344CB8AC3E}">
        <p14:creationId xmlns:p14="http://schemas.microsoft.com/office/powerpoint/2010/main" val="1531644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C9157-44F6-244C-27F9-069F25976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F0321-3855-EFFE-6637-10BD210E7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Satisfiability (SAT)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8B6D0C-DC2B-EE57-C297-3D4A3666C4AD}"/>
                  </a:ext>
                </a:extLst>
              </p:cNvPr>
              <p:cNvSpPr txBox="1"/>
              <p:nvPr/>
            </p:nvSpPr>
            <p:spPr>
              <a:xfrm>
                <a:off x="2322677" y="3924537"/>
                <a:ext cx="2611461" cy="120032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>
                    <a:solidFill>
                      <a:schemeClr val="bg1"/>
                    </a:solidFill>
                  </a:rPr>
                  <a:t>Solve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Very difficult! Only known algorithms 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8B6D0C-DC2B-EE57-C297-3D4A3666C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2677" y="3924537"/>
                <a:ext cx="2611461" cy="1200329"/>
              </a:xfrm>
              <a:prstGeom prst="rect">
                <a:avLst/>
              </a:prstGeom>
              <a:blipFill>
                <a:blip r:embed="rId2"/>
                <a:stretch>
                  <a:fillRect l="-1449" t="-2062" r="-1449" b="-618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0D7CB7-4A09-BD04-D70E-2F5823344135}"/>
                  </a:ext>
                </a:extLst>
              </p:cNvPr>
              <p:cNvSpPr txBox="1"/>
              <p:nvPr/>
            </p:nvSpPr>
            <p:spPr>
              <a:xfrm>
                <a:off x="7049999" y="3853544"/>
                <a:ext cx="3997411" cy="175432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>
                    <a:solidFill>
                      <a:schemeClr val="bg1"/>
                    </a:solidFill>
                  </a:rPr>
                  <a:t>Verify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Evidence: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Plug into formula and check solution. Algorithm is polynomial time!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0D7CB7-4A09-BD04-D70E-2F5823344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9999" y="3853544"/>
                <a:ext cx="3997411" cy="1754326"/>
              </a:xfrm>
              <a:prstGeom prst="rect">
                <a:avLst/>
              </a:prstGeom>
              <a:blipFill>
                <a:blip r:embed="rId3"/>
                <a:stretch>
                  <a:fillRect l="-946" t="-709" b="-425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7132AE7-7081-4F03-29AF-D83E96146C8D}"/>
              </a:ext>
            </a:extLst>
          </p:cNvPr>
          <p:cNvCxnSpPr>
            <a:cxnSpLocks/>
          </p:cNvCxnSpPr>
          <p:nvPr/>
        </p:nvCxnSpPr>
        <p:spPr>
          <a:xfrm flipH="1">
            <a:off x="3739652" y="2507810"/>
            <a:ext cx="850455" cy="12988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944A6F5-B404-20F7-43A6-56B5E43F42E7}"/>
              </a:ext>
            </a:extLst>
          </p:cNvPr>
          <p:cNvCxnSpPr>
            <a:cxnSpLocks/>
          </p:cNvCxnSpPr>
          <p:nvPr/>
        </p:nvCxnSpPr>
        <p:spPr>
          <a:xfrm>
            <a:off x="7686392" y="2779414"/>
            <a:ext cx="1021796" cy="93578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60A0002-B305-061F-107F-C04D166B39F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1069060"/>
                <a:ext cx="9905997" cy="10081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sz="40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¬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000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60A0002-B305-061F-107F-C04D166B3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1069060"/>
                <a:ext cx="9905997" cy="1008188"/>
              </a:xfrm>
              <a:prstGeom prst="rect">
                <a:avLst/>
              </a:prstGeom>
              <a:blipFill>
                <a:blip r:embed="rId4"/>
                <a:stretch>
                  <a:fillRect b="-122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E095F4A8-3AF1-2F19-5C32-44FE8DD6A458}"/>
              </a:ext>
            </a:extLst>
          </p:cNvPr>
          <p:cNvSpPr txBox="1"/>
          <p:nvPr/>
        </p:nvSpPr>
        <p:spPr>
          <a:xfrm>
            <a:off x="7179398" y="2227152"/>
            <a:ext cx="4508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…but imagine this formula could be VERY long!</a:t>
            </a:r>
          </a:p>
        </p:txBody>
      </p:sp>
    </p:spTree>
    <p:extLst>
      <p:ext uri="{BB962C8B-B14F-4D97-AF65-F5344CB8AC3E}">
        <p14:creationId xmlns:p14="http://schemas.microsoft.com/office/powerpoint/2010/main" val="12027577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3B07A-59C1-78E3-5645-FE89C0BE0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3E219D-928E-75CC-641F-6B0DC0C8CD6C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EE9256F-B981-5F1C-9B7B-B489D7EC1576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FCE7F387-1322-98C0-1C8E-4C67E8281495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328EA7F7-8BED-2313-EE6B-CD4DA20B3E0F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F3B71059-4863-2DD1-ECDA-61D02B4993B7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AEC28E7F-ED78-E2D8-AAC8-16A1EAACAD2E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3733CA58-C83A-EB9D-CDBB-50C32C07F7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2EFC6761-F42C-0FEB-A9B8-14E2BF1863D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07DE9928-D2FB-224B-99C2-9285246B8B2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8EF33FC8-CF4D-608D-78B9-3DD90B1F30EB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1DC4BDC-41DD-D6B1-731E-24B24D211664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EC41AE98-D96D-80D0-AA20-AD6AD572827A}"/>
              </a:ext>
            </a:extLst>
          </p:cNvPr>
          <p:cNvSpPr txBox="1">
            <a:spLocks/>
          </p:cNvSpPr>
          <p:nvPr/>
        </p:nvSpPr>
        <p:spPr>
          <a:xfrm>
            <a:off x="5372475" y="2343904"/>
            <a:ext cx="918778" cy="5763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i="1" dirty="0"/>
              <a:t>SAT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B36250E-31B3-36ED-15D7-74492C5ED40D}"/>
              </a:ext>
            </a:extLst>
          </p:cNvPr>
          <p:cNvCxnSpPr>
            <a:cxnSpLocks/>
          </p:cNvCxnSpPr>
          <p:nvPr/>
        </p:nvCxnSpPr>
        <p:spPr>
          <a:xfrm flipV="1">
            <a:off x="6096000" y="2649496"/>
            <a:ext cx="1165307" cy="1150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E37D55C-7CF2-27E3-98B5-285A88263AD7}"/>
              </a:ext>
            </a:extLst>
          </p:cNvPr>
          <p:cNvSpPr txBox="1"/>
          <p:nvPr/>
        </p:nvSpPr>
        <p:spPr>
          <a:xfrm>
            <a:off x="2263275" y="3327765"/>
            <a:ext cx="24082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…but how do we prove it? Need to show that every other problem down here somewhere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8613B6-9246-DA7C-1357-1D69DFFD49ED}"/>
              </a:ext>
            </a:extLst>
          </p:cNvPr>
          <p:cNvCxnSpPr>
            <a:cxnSpLocks/>
          </p:cNvCxnSpPr>
          <p:nvPr/>
        </p:nvCxnSpPr>
        <p:spPr>
          <a:xfrm>
            <a:off x="4494019" y="3967921"/>
            <a:ext cx="2329307" cy="184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5322BD-D50B-DE4A-5E64-5ED4DCEC8ABF}"/>
              </a:ext>
            </a:extLst>
          </p:cNvPr>
          <p:cNvCxnSpPr>
            <a:cxnSpLocks/>
          </p:cNvCxnSpPr>
          <p:nvPr/>
        </p:nvCxnSpPr>
        <p:spPr>
          <a:xfrm flipV="1">
            <a:off x="3920150" y="4238639"/>
            <a:ext cx="2852396" cy="143432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14FA59C-11E4-0E11-F12F-04102F4047C5}"/>
              </a:ext>
            </a:extLst>
          </p:cNvPr>
          <p:cNvSpPr txBox="1"/>
          <p:nvPr/>
        </p:nvSpPr>
        <p:spPr>
          <a:xfrm>
            <a:off x="6770338" y="3983516"/>
            <a:ext cx="123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Problem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27ED115-4866-8E91-0CF8-7937722B7E2E}"/>
                  </a:ext>
                </a:extLst>
              </p:cNvPr>
              <p:cNvSpPr txBox="1"/>
              <p:nvPr/>
            </p:nvSpPr>
            <p:spPr>
              <a:xfrm>
                <a:off x="1677591" y="5297890"/>
                <a:ext cx="240822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dirty="0"/>
                  <a:t>Can be reduced to SAT: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𝑆𝐴𝑇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27ED115-4866-8E91-0CF8-7937722B7E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7591" y="5297890"/>
                <a:ext cx="2408222" cy="923330"/>
              </a:xfrm>
              <a:prstGeom prst="rect">
                <a:avLst/>
              </a:prstGeom>
              <a:blipFill>
                <a:blip r:embed="rId2"/>
                <a:stretch>
                  <a:fillRect l="-2105"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DB864372-B052-93C2-501F-72814F20B05A}"/>
              </a:ext>
            </a:extLst>
          </p:cNvPr>
          <p:cNvSpPr txBox="1"/>
          <p:nvPr/>
        </p:nvSpPr>
        <p:spPr>
          <a:xfrm>
            <a:off x="1021984" y="983068"/>
            <a:ext cx="4769223" cy="58477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chemeClr val="bg1"/>
                </a:solidFill>
              </a:rPr>
              <a:t>Claim</a:t>
            </a:r>
            <a:r>
              <a:rPr lang="en-US" sz="3200" dirty="0">
                <a:solidFill>
                  <a:schemeClr val="bg1"/>
                </a:solidFill>
              </a:rPr>
              <a:t>: SAT is NP-Complete</a:t>
            </a:r>
          </a:p>
        </p:txBody>
      </p:sp>
    </p:spTree>
    <p:extLst>
      <p:ext uri="{BB962C8B-B14F-4D97-AF65-F5344CB8AC3E}">
        <p14:creationId xmlns:p14="http://schemas.microsoft.com/office/powerpoint/2010/main" val="35194357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52B90-E69B-D2B1-3FAD-2BF6F49FD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C0ED13B-A9C7-1F9E-CC5C-07C28B0B0F37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449CB88-AD6A-1985-5F18-9F8148EAEC1C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79D315F-1EED-DF45-BC7E-62090A122460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BEBE23AE-1F5F-9258-97E9-298ECE24475B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E48F9E6F-3410-4DD0-E5C6-90E3903D18DF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8E7BC2F3-F0DF-5538-9692-A6CCFC582F0D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B4770643-D66B-CF55-7DE7-E0F10E810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0B0F0FF4-CE02-A7AF-1FC3-1362D10B7D0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CD6E0880-7CB2-1BEC-0305-33FAF7E44D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B43F188-F5EC-0D07-E1C6-4848AD2B6010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1454EAE-B1EC-7AED-4FAC-168CAE42124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FAA20F94-6262-A43B-D0AF-476925811DD2}"/>
              </a:ext>
            </a:extLst>
          </p:cNvPr>
          <p:cNvSpPr txBox="1">
            <a:spLocks/>
          </p:cNvSpPr>
          <p:nvPr/>
        </p:nvSpPr>
        <p:spPr>
          <a:xfrm>
            <a:off x="5372475" y="2343904"/>
            <a:ext cx="918778" cy="5763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i="1" dirty="0"/>
              <a:t>SAT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4E5E726-BA55-D874-46F6-CC2692C2A688}"/>
              </a:ext>
            </a:extLst>
          </p:cNvPr>
          <p:cNvCxnSpPr>
            <a:cxnSpLocks/>
          </p:cNvCxnSpPr>
          <p:nvPr/>
        </p:nvCxnSpPr>
        <p:spPr>
          <a:xfrm flipV="1">
            <a:off x="6096000" y="2649496"/>
            <a:ext cx="1165307" cy="1150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8E9AEC8-6E38-015B-591F-FC01EE431ECD}"/>
              </a:ext>
            </a:extLst>
          </p:cNvPr>
          <p:cNvCxnSpPr>
            <a:cxnSpLocks/>
          </p:cNvCxnSpPr>
          <p:nvPr/>
        </p:nvCxnSpPr>
        <p:spPr>
          <a:xfrm flipV="1">
            <a:off x="4702629" y="4238639"/>
            <a:ext cx="2069917" cy="22885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E3FF810-A3B6-687A-F3D4-64081BA437E7}"/>
              </a:ext>
            </a:extLst>
          </p:cNvPr>
          <p:cNvSpPr txBox="1"/>
          <p:nvPr/>
        </p:nvSpPr>
        <p:spPr>
          <a:xfrm>
            <a:off x="6770338" y="3983516"/>
            <a:ext cx="123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Problem 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A5F7DE-6E2D-2D8E-E7F6-654613DC493A}"/>
              </a:ext>
            </a:extLst>
          </p:cNvPr>
          <p:cNvSpPr txBox="1"/>
          <p:nvPr/>
        </p:nvSpPr>
        <p:spPr>
          <a:xfrm>
            <a:off x="1021984" y="983068"/>
            <a:ext cx="4769223" cy="58477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chemeClr val="bg1"/>
                </a:solidFill>
              </a:rPr>
              <a:t>Claim</a:t>
            </a:r>
            <a:r>
              <a:rPr lang="en-US" sz="3200" dirty="0">
                <a:solidFill>
                  <a:schemeClr val="bg1"/>
                </a:solidFill>
              </a:rPr>
              <a:t>: SAT is NP-Complete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E81B25-357A-7F3C-E130-E83A89BBFF78}"/>
              </a:ext>
            </a:extLst>
          </p:cNvPr>
          <p:cNvSpPr txBox="1"/>
          <p:nvPr/>
        </p:nvSpPr>
        <p:spPr>
          <a:xfrm>
            <a:off x="1389831" y="4159473"/>
            <a:ext cx="3187337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What do we know about any generic problem A: It has a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computer program </a:t>
            </a:r>
            <a:r>
              <a:rPr lang="en-US" dirty="0"/>
              <a:t>that solves it!</a:t>
            </a:r>
          </a:p>
        </p:txBody>
      </p:sp>
    </p:spTree>
    <p:extLst>
      <p:ext uri="{BB962C8B-B14F-4D97-AF65-F5344CB8AC3E}">
        <p14:creationId xmlns:p14="http://schemas.microsoft.com/office/powerpoint/2010/main" val="34220528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DA440-D8FD-86DE-55A6-C8B44112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4BFC-C8BE-2C92-B777-E6608F3A0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Computer Programs!</a:t>
            </a:r>
          </a:p>
        </p:txBody>
      </p:sp>
    </p:spTree>
    <p:extLst>
      <p:ext uri="{BB962C8B-B14F-4D97-AF65-F5344CB8AC3E}">
        <p14:creationId xmlns:p14="http://schemas.microsoft.com/office/powerpoint/2010/main" val="34347996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FFB77-F45F-1D6C-A455-C728DA17D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64874-A7EE-6FE8-99BC-3BDAA5028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91647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Quick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899C2-4A97-9482-A77D-E00A7FBFD6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3843" y="1007207"/>
            <a:ext cx="7304313" cy="950560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All computer programs can be represented with </a:t>
            </a:r>
            <a:r>
              <a:rPr lang="en-US" dirty="0">
                <a:solidFill>
                  <a:schemeClr val="accent3"/>
                </a:solidFill>
              </a:rPr>
              <a:t>computational models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D9F745-897A-6FDF-D712-D21A373F856E}"/>
              </a:ext>
            </a:extLst>
          </p:cNvPr>
          <p:cNvSpPr txBox="1">
            <a:spLocks/>
          </p:cNvSpPr>
          <p:nvPr/>
        </p:nvSpPr>
        <p:spPr>
          <a:xfrm>
            <a:off x="2443843" y="2326700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>
                <a:solidFill>
                  <a:schemeClr val="accent3"/>
                </a:solidFill>
              </a:rPr>
              <a:t>computational model </a:t>
            </a:r>
            <a:r>
              <a:rPr lang="en-US" dirty="0">
                <a:solidFill>
                  <a:schemeClr val="bg1"/>
                </a:solidFill>
              </a:rPr>
              <a:t>is a simple reduced version of the program but fully describes how to solve the problem.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9965BA8-99B4-3B62-E9B1-53D868168861}"/>
              </a:ext>
            </a:extLst>
          </p:cNvPr>
          <p:cNvSpPr txBox="1">
            <a:spLocks/>
          </p:cNvSpPr>
          <p:nvPr/>
        </p:nvSpPr>
        <p:spPr>
          <a:xfrm>
            <a:off x="2443843" y="3646193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There is a reduction between a </a:t>
            </a:r>
            <a:r>
              <a:rPr lang="en-US" dirty="0">
                <a:solidFill>
                  <a:schemeClr val="accent3"/>
                </a:solidFill>
              </a:rPr>
              <a:t>computational model</a:t>
            </a:r>
            <a:r>
              <a:rPr lang="en-US" dirty="0">
                <a:solidFill>
                  <a:schemeClr val="bg1"/>
                </a:solidFill>
              </a:rPr>
              <a:t>’s description (“code”) and an equivalent SAT expression!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9E21AE-D9D8-1B8C-EB9A-4D5022423BFE}"/>
              </a:ext>
            </a:extLst>
          </p:cNvPr>
          <p:cNvSpPr txBox="1"/>
          <p:nvPr/>
        </p:nvSpPr>
        <p:spPr>
          <a:xfrm>
            <a:off x="5155474" y="4965686"/>
            <a:ext cx="6035040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Disclaimer</a:t>
            </a:r>
            <a:r>
              <a:rPr lang="en-US" dirty="0"/>
              <a:t>!</a:t>
            </a:r>
            <a:br>
              <a:rPr lang="en-US" dirty="0"/>
            </a:br>
            <a:r>
              <a:rPr lang="en-US" dirty="0"/>
              <a:t>Everything in this section is going to be a bit vague. It is A LOT of material and we don’t have time to go over it thoroughly. This will give you a rough idea of how these things work and you will see it in much more detail in DMT2!</a:t>
            </a:r>
          </a:p>
        </p:txBody>
      </p:sp>
    </p:spTree>
    <p:extLst>
      <p:ext uri="{BB962C8B-B14F-4D97-AF65-F5344CB8AC3E}">
        <p14:creationId xmlns:p14="http://schemas.microsoft.com/office/powerpoint/2010/main" val="17089291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FC23A-C3F3-01CD-25BA-D69D85676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A5EC4-B117-0832-7E62-B92C0E23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651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Simple Program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186B0-A970-0B0C-8BDB-E84E19A82E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8886" y="2407966"/>
            <a:ext cx="7794228" cy="639107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Given a </a:t>
            </a:r>
            <a:r>
              <a:rPr lang="en-US" dirty="0">
                <a:solidFill>
                  <a:schemeClr val="accent5"/>
                </a:solidFill>
              </a:rPr>
              <a:t>string</a:t>
            </a:r>
            <a:r>
              <a:rPr lang="en-US" dirty="0">
                <a:solidFill>
                  <a:schemeClr val="bg1"/>
                </a:solidFill>
              </a:rPr>
              <a:t> input: Is this </a:t>
            </a:r>
            <a:r>
              <a:rPr lang="en-US" dirty="0">
                <a:solidFill>
                  <a:schemeClr val="accent5"/>
                </a:solidFill>
              </a:rPr>
              <a:t>string</a:t>
            </a:r>
            <a:r>
              <a:rPr lang="en-US" dirty="0">
                <a:solidFill>
                  <a:schemeClr val="bg1"/>
                </a:solidFill>
              </a:rPr>
              <a:t> a valid UVa Computing ID?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428360-AF9A-9C22-454E-9451575C425A}"/>
              </a:ext>
            </a:extLst>
          </p:cNvPr>
          <p:cNvSpPr txBox="1"/>
          <p:nvPr/>
        </p:nvSpPr>
        <p:spPr>
          <a:xfrm>
            <a:off x="2198886" y="2038634"/>
            <a:ext cx="779422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Consider the following problem: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B4A210-4AD1-1CC7-3781-B338085EE260}"/>
              </a:ext>
            </a:extLst>
          </p:cNvPr>
          <p:cNvSpPr txBox="1"/>
          <p:nvPr/>
        </p:nvSpPr>
        <p:spPr>
          <a:xfrm>
            <a:off x="1340469" y="4385388"/>
            <a:ext cx="39779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Format</a:t>
            </a:r>
            <a:r>
              <a:rPr lang="en-US" dirty="0"/>
              <a:t>:</a:t>
            </a:r>
          </a:p>
          <a:p>
            <a:pPr marL="342900" indent="-342900">
              <a:buAutoNum type="arabicPeriod"/>
            </a:pPr>
            <a:r>
              <a:rPr lang="en-US" dirty="0"/>
              <a:t>Starts with two or three letters (L)</a:t>
            </a:r>
          </a:p>
          <a:p>
            <a:pPr marL="342900" indent="-342900">
              <a:buAutoNum type="arabicPeriod"/>
            </a:pPr>
            <a:r>
              <a:rPr lang="en-US" dirty="0"/>
              <a:t>Optional digit (D)</a:t>
            </a:r>
          </a:p>
          <a:p>
            <a:pPr marL="342900" indent="-342900">
              <a:buAutoNum type="arabicPeriod"/>
            </a:pPr>
            <a:r>
              <a:rPr lang="en-US" dirty="0"/>
              <a:t>1-3 more letters IF there was a digit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1A1BAE-B4F7-5FE6-080D-F194DBA54370}"/>
              </a:ext>
            </a:extLst>
          </p:cNvPr>
          <p:cNvCxnSpPr/>
          <p:nvPr/>
        </p:nvCxnSpPr>
        <p:spPr>
          <a:xfrm flipH="1">
            <a:off x="2198886" y="3163078"/>
            <a:ext cx="1309424" cy="120364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57F95CB-2AC2-AE63-8427-11C92CFFB6A6}"/>
              </a:ext>
            </a:extLst>
          </p:cNvPr>
          <p:cNvSpPr txBox="1"/>
          <p:nvPr/>
        </p:nvSpPr>
        <p:spPr>
          <a:xfrm>
            <a:off x="6825942" y="5122590"/>
            <a:ext cx="422305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Valid Formats</a:t>
            </a:r>
            <a:r>
              <a:rPr lang="en-US" dirty="0"/>
              <a:t>:</a:t>
            </a:r>
          </a:p>
          <a:p>
            <a:r>
              <a:rPr lang="en-US" dirty="0"/>
              <a:t>LL, LLL, LLDL, LLDLL, LLLDLL, LLDLLL, LLLDLLL</a:t>
            </a:r>
          </a:p>
        </p:txBody>
      </p:sp>
    </p:spTree>
    <p:extLst>
      <p:ext uri="{BB962C8B-B14F-4D97-AF65-F5344CB8AC3E}">
        <p14:creationId xmlns:p14="http://schemas.microsoft.com/office/powerpoint/2010/main" val="32740914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31168-ADA4-A26C-D7CB-9617C1BB6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Python Code</a:t>
            </a:r>
          </a:p>
        </p:txBody>
      </p:sp>
      <p:pic>
        <p:nvPicPr>
          <p:cNvPr id="5" name="Picture 4" descr="A computer code with red and blue text&#10;&#10;AI-generated content may be incorrect.">
            <a:extLst>
              <a:ext uri="{FF2B5EF4-FFF2-40B4-BE49-F238E27FC236}">
                <a16:creationId xmlns:a16="http://schemas.microsoft.com/office/drawing/2014/main" id="{7AA0EC6F-A4E1-1FF4-6DF9-C786B094B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4477" y="693444"/>
            <a:ext cx="5858014" cy="3575112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CB198824-F6D2-5FAF-59F0-F74D31AC0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54" y="693444"/>
            <a:ext cx="5216849" cy="58922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EE4BCE-C589-583F-1C6E-DA0DD56DCF1A}"/>
              </a:ext>
            </a:extLst>
          </p:cNvPr>
          <p:cNvSpPr txBox="1"/>
          <p:nvPr/>
        </p:nvSpPr>
        <p:spPr>
          <a:xfrm>
            <a:off x="6490999" y="5038531"/>
            <a:ext cx="4618653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Main Point</a:t>
            </a:r>
            <a:r>
              <a:rPr lang="en-US" dirty="0"/>
              <a:t>: This code works! It uses a bunch of if-statements and is a working computer program for this problem. Great!</a:t>
            </a:r>
          </a:p>
        </p:txBody>
      </p:sp>
    </p:spTree>
    <p:extLst>
      <p:ext uri="{BB962C8B-B14F-4D97-AF65-F5344CB8AC3E}">
        <p14:creationId xmlns:p14="http://schemas.microsoft.com/office/powerpoint/2010/main" val="28371262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1D464-5C2E-86E8-3C39-A61BFBE34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FC6B2-3AF5-4412-398A-69F474D84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 different Way of “Coding” This…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998E107-864B-ECFE-509E-82ACAFE3F8F1}"/>
              </a:ext>
            </a:extLst>
          </p:cNvPr>
          <p:cNvSpPr txBox="1"/>
          <p:nvPr/>
        </p:nvSpPr>
        <p:spPr>
          <a:xfrm>
            <a:off x="1611086" y="4633433"/>
            <a:ext cx="5607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Procedure: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9E10A2E-2584-2CDD-595B-60A23F2FEFC0}"/>
              </a:ext>
            </a:extLst>
          </p:cNvPr>
          <p:cNvSpPr txBox="1"/>
          <p:nvPr/>
        </p:nvSpPr>
        <p:spPr>
          <a:xfrm>
            <a:off x="1611086" y="5023763"/>
            <a:ext cx="7130144" cy="160043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Start at the start state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each symbol of the computing id: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Go to the next state as per transition labels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finished and state your end in is accepting (double circles):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Return True (Valid ID)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Else:</a:t>
            </a:r>
            <a:b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Return False (Not Valid ID)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2CD08F2-8AA6-E555-C61F-7034739AB1B1}"/>
              </a:ext>
            </a:extLst>
          </p:cNvPr>
          <p:cNvSpPr txBox="1"/>
          <p:nvPr/>
        </p:nvSpPr>
        <p:spPr>
          <a:xfrm>
            <a:off x="9293186" y="4695249"/>
            <a:ext cx="1315616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Try it out:</a:t>
            </a:r>
          </a:p>
          <a:p>
            <a:endParaRPr lang="en-US" dirty="0"/>
          </a:p>
          <a:p>
            <a:r>
              <a:rPr lang="en-US" dirty="0"/>
              <a:t>  mrf8t</a:t>
            </a:r>
          </a:p>
          <a:p>
            <a:r>
              <a:rPr lang="en-US" dirty="0"/>
              <a:t>  as8f</a:t>
            </a:r>
          </a:p>
          <a:p>
            <a:r>
              <a:rPr lang="en-US" dirty="0"/>
              <a:t>  afde9d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9A3D8B9-D0B4-5D57-975B-8D64D31D14A5}"/>
              </a:ext>
            </a:extLst>
          </p:cNvPr>
          <p:cNvGrpSpPr/>
          <p:nvPr/>
        </p:nvGrpSpPr>
        <p:grpSpPr>
          <a:xfrm>
            <a:off x="1433806" y="1118514"/>
            <a:ext cx="8941835" cy="3072883"/>
            <a:chOff x="1433806" y="1118514"/>
            <a:chExt cx="8941835" cy="3072883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4B991BB-090A-5AA0-6F89-05FAA07A36E8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068EDBD0-730B-523F-BC0F-2F85A2DD6453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0EDE0720-CC3D-FF88-43F1-5630D245240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43B18173-9961-8CDC-7E4A-761433912720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43C307CC-0B7C-F6AB-2DDF-E8C6750E854D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FE1DDEA-4846-CDFE-46B3-8D620050FB6D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39816CA0-BEE7-11E8-0DFC-DE7CD2110A86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0547576-D203-3E80-A4FC-161B0CAC3B6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9281A55-3416-0DF1-E27D-E4A467DF535A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EC62288-F8F5-67DD-0BAD-D2557657845A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A446C3-3165-D645-F202-C3AD0815BCFC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04C7D579-176E-6F9B-466D-4853576FC10C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B99755C-1E5F-60F1-AD83-5F95BE59029D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F0B88462-A76E-7351-BEFC-8B74D64DC3B6}"/>
                  </a:ext>
                </a:extLst>
              </p:cNvPr>
              <p:cNvCxnSpPr>
                <a:cxnSpLocks/>
                <a:endCxn id="3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86CFAD9-5C16-AAB9-709E-0DF31535A1B9}"/>
                  </a:ext>
                </a:extLst>
              </p:cNvPr>
              <p:cNvCxnSpPr>
                <a:cxnSpLocks/>
                <a:stCxn id="3" idx="6"/>
                <a:endCxn id="4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AFC85AFB-DD86-3CA2-104B-99F18CCBCD02}"/>
                  </a:ext>
                </a:extLst>
              </p:cNvPr>
              <p:cNvCxnSpPr>
                <a:cxnSpLocks/>
                <a:stCxn id="4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144CD39-3E2E-52ED-B467-AA636A88A210}"/>
                  </a:ext>
                </a:extLst>
              </p:cNvPr>
              <p:cNvCxnSpPr>
                <a:cxnSpLocks/>
                <a:stCxn id="6" idx="6"/>
                <a:endCxn id="9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0EC7D43B-7FED-B991-2271-7AB2F4DD7835}"/>
                  </a:ext>
                </a:extLst>
              </p:cNvPr>
              <p:cNvCxnSpPr>
                <a:cxnSpLocks/>
                <a:stCxn id="6" idx="5"/>
                <a:endCxn id="13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C571837-F73C-8066-B123-DB96663D1BD8}"/>
                  </a:ext>
                </a:extLst>
              </p:cNvPr>
              <p:cNvCxnSpPr>
                <a:cxnSpLocks/>
                <a:stCxn id="9" idx="4"/>
                <a:endCxn id="13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303CB26B-ED53-28EF-25EC-6C74CD800EAC}"/>
                  </a:ext>
                </a:extLst>
              </p:cNvPr>
              <p:cNvCxnSpPr>
                <a:cxnSpLocks/>
                <a:stCxn id="13" idx="2"/>
                <a:endCxn id="12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738819C0-65F9-B97F-822F-4485E7822B1B}"/>
                  </a:ext>
                </a:extLst>
              </p:cNvPr>
              <p:cNvCxnSpPr>
                <a:cxnSpLocks/>
                <a:stCxn id="12" idx="2"/>
                <a:endCxn id="11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F2A9FCB-2FFD-814D-DBFC-778AAA2C53E4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790CE5C-7C47-4C79-4F37-9298DC2B1A11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447A5DA-2D6A-5C37-3B83-FEE425AB2CCE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ABF87DC-B90B-D97C-8F74-BCF39F3B9421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48D07C6-38F1-7473-641D-49A75DFC3EDE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EDA8FC6A-763D-D7A3-0972-AD4DF83FE421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8FC8F376-9AF8-35CA-76B8-DCB74747E1D3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C118B6E-BD6E-F2EC-DE82-892BF54E9CD4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B95BFA01-5762-1E11-A7BE-2F5748A06FBB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73A09CB-2A2D-8291-57CA-467719447171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F3E461C-550F-E8C2-5055-592048BA6E59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62615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C2C83-ACD8-5D66-1E73-AD8496825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3408BF-3E1E-6F64-6F90-3EBAA5F1F1E0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mrf8t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E4FCC4-E6EF-971B-7661-4D33751C19A6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5E6A04A-AF27-CAB6-7A6A-B03F69F6DBA4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93EA8F1-B689-3CEE-7065-4860776EA56B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B9F0A0B-A62A-B869-AB61-B8DDBC5926E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BA572C6-41A2-3A11-4312-358D364E037C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8863986-BC10-278D-7554-928D0AEDE94A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1C41D85-8D51-8808-22B6-512137007824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0BA17A7-68CC-1C03-84FB-4C5ACA51D37C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4D356D22-465B-D2DB-149E-DABD9B73898C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4B60F86-066F-9718-9936-6920068E796C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C88857D-7E20-9A4C-48B2-72545EAE8892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F56C422-4487-64C7-86B8-1A44B7ADB8AE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ED728811-0D58-D837-1904-32E8CA5ED3E5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A69C004-6C21-EE1B-2800-7F87342DC7C4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65F049E-2749-6DA9-2581-CBD8080AB940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88CFE262-07C5-AB30-0055-8AFD9F0E5428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AA7018C7-E519-2CCB-4569-0E2768CD64CB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5034178F-26B1-AA74-31AA-155848122404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BD994B5-7B78-F3F4-F016-FFCAF50E59AF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A0738F95-5A29-FFB4-9CCC-EF2E34284CC4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3F6DF21-56BC-5AED-5DD2-EADBEFC11630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8AE6DEE7-983B-6696-6AD2-1DD87F807A59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ECD2C3A0-7C56-8551-4073-41898E54D925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BE4AE10-8295-F6B4-13E6-9BFA6E25CAA5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C480F26-E4E2-2833-9DD8-D611575A6F17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CD8D087-F1DF-6FF1-92E3-B9C653AB7C18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41B6C78-6D96-AB0F-946C-525CBAAD9B38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DB671D1-152E-BCD1-65AA-F7F1C7348F5D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F5D63A2-80B2-AD22-11ED-3B260966C22B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9C9B9D1-00C8-819D-8617-B023CE6493D8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3A3C821-C1D4-E94E-07C4-599DD72378D8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F077A6F-3068-0736-E2A6-0543F476E233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5AD2567B-64DA-5B66-E140-1DBB8BAD186B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408300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5B1B6-9BCC-21BE-611D-FAB729757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8EF10-2125-DCF5-A7AB-7023AB3D5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2D24A6-8EA9-0B83-AA6D-DA1FC113710E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mrf8t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BDA36AF-688C-FB48-6180-C94150F441CA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D0869FAC-BBEC-2683-8337-E1E005F45139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987E8F36-4720-6565-F170-F17C0ED21E60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93765D4B-F89D-FB29-B8DE-A04E38A641E3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B96847F-C5BC-CA88-32F0-DF8F7581966E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F30AE6B-007B-8A35-E44F-1E67AC25A48D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B5F8A50-C28C-F207-3583-AAA8C0218FD4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A5F36B11-A613-9591-CE1E-03B123B2F57D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EE81EC7-FBD3-C35A-2DCB-03F31E6080C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3460B560-2557-2E5C-0610-09CF1CB97AB0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62DFB49-167B-8304-D3DD-3C87641BAC51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7D48E4A-208B-ACDD-2C39-4FFAC6C2631F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58FC6A4-AF0B-B975-FC34-B6B0C9F98579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5317046B-C791-D8BC-D13B-79C95B359A7F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FE3986E7-20FC-FC01-11B3-106B76D7F422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57FA4269-26FF-883E-9518-201587783FA5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6851496A-7B3D-E751-A9F5-F93185DCAE6A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52885923-800E-699E-2E90-382FC50E259F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0CED20-DE90-B3A9-5965-13FBEE233D83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07EEBA1C-E9C3-1842-A944-E31BF1302469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92DF01F-8BC2-6DE8-519F-EB914CC660A2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E54F1F82-2362-ACEC-783F-F2E046825650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F5052E97-F495-6E61-9DD5-59D5E1A4B000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966E6A5-E9DC-F4A0-3753-1F7CB5D3D3A9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9D9CE20-9192-70DB-D115-C4DDDF38DB68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3CDBC4A-C5B4-04DA-6F69-FC2E325EBB72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8FE8A09-3233-236F-0CD8-FDC8A6924184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94EA65E-406D-B397-FC35-8CA057B85D0F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F86ABEA-22F0-96D5-5F82-8B10BF9621F0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16758A0-6576-A871-698D-7003A2EC9783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4819E99-15D3-A942-21A4-8C6F87731D45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C09BF10-EC0C-24D3-B4D0-528D0097ACB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940ACBBD-8214-E6A4-ABF8-C534F64EF53F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450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6A07F-07A4-4F08-E925-5CEAEDC48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61C16-A989-A807-29B0-3B2E9D171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AE0BD21-6897-5742-CD3A-B10918ED0673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rf8t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5CE6E2F-C86D-F952-B77F-416729D35734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C2978F1-BC68-999D-EA78-937230E97907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72EC4ED8-03B2-C27F-49AD-1549C85E7DD4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A2A31339-8BDC-0425-127D-90FA23377D68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A2E0C9E-C683-DECC-5DD8-3928C3612FD1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F44DBC9-FEB7-9320-4C98-0640B05884E1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648AF18-2A6F-2254-5D16-93E4F4B8D884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DB77386-338E-16DD-CBDD-26000EF8BF27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334661B-767D-3369-6533-5C8A86113A18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8400AE0-CAB9-B86B-F63F-346672289AF9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EC811D4-E836-0885-A0C3-A1C508979398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8D24E52-D027-7D6B-5EDD-D16DE3480DD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35B07905-FB40-9995-DD6C-A2DB19923038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AF473163-FC59-8E39-C11B-AF4E71AF26F3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B9EEE897-CC69-5862-37CA-376EF5A34203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AC2D32E-28F5-40ED-2C0B-5FA64D202F1D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83000299-7B24-C170-200F-E56D167BC7EB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28A18769-33AA-DC6D-152B-BB666648E024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DFBB01E-E8DC-B79C-559A-8FFBD06CD4FF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63943D5-7CD2-BDE7-4550-D315E0187DEA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D4745FFA-66BF-EEB1-A9EB-2C9A9E4CD679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970624B-4AAC-E51E-A1BC-16FB9DEF70E9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DA5C080-04B9-3D2E-7EFE-9A9EDC8915C8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819D89A-837A-73E4-1152-0A7665D1F006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81AC07B-D13F-82DE-E44C-91CD8C186669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030A9A-84BF-D50B-A41A-9DCF4155445A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80D0926-D317-1C71-7E25-2A6E53C03116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9615E7B-B95E-0B1E-16D6-AB28FE2BE128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B966612-A9AB-CD24-B59D-6A69DE69DB10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217469-5C05-D510-39D8-75E65A31D2BF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CAA5396-DD53-8A4D-47BF-EE0D5960F96E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DF6485E-D5BD-0B6E-BC8E-AA34A26B5E7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491045AF-AE9A-D3FC-4E9A-0892D50CFA78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61190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694BA-1148-65BC-C144-A6A44DC6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9E84D-EB2F-9FC9-76EB-3A2DEAAEA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97E8B1-DDF6-8E68-71E4-1063ACE01A55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mr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B97A106-C0F3-A779-3EB6-1EB6C11C29BD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C26D210-B81A-B959-0277-92735FA53CC8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5F12F83-2F35-35DC-6147-90E0415CBAE9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8B0985F-AD09-51FA-914C-F1C3112A9DAE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1472F6C-B982-BDAF-C051-B8E66F46D13B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9A37CB41-1FD3-18AE-DEAB-9ED864705156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A2F5E39-748B-01C1-6EFB-D259716E7B6B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8E6D06C-00E1-4AD1-1326-CEA07DD6A703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A2F36FD-3FCA-F87E-A35D-C8928E162E7C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0504917-01F8-91EE-5F6A-2A6B626C660E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68162EA-840B-4D78-4370-C77C180B0A4C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D0AD489-BF0F-B02B-2069-995EB90EDD42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42B265-262F-5799-D3BC-6DE043115DF0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F8D47EF-02FA-BC09-9212-B2C9E9B9E003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0671CE00-6545-96B1-AE67-8E637A976993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801D9970-4B0E-DD28-5366-E3D92E8E0A85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A0178C51-13CC-BBFF-E88F-086FA65961DF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2F5AC427-3D17-6EF9-AA86-AC5B120E5CBB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BB717D57-0257-386B-9985-31A121FC19F9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A75CA427-78D9-1308-AACF-6B94D9005DAC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F632FF4D-7969-88BE-ED38-C539419CF619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03CD3B61-52D3-AE26-1DB0-D936FC7BDFED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0F3CF4B8-18AF-03B1-F2E3-16F47477F6E9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FBD5AF9-D419-48EC-6846-DF61A67FA469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8303BAC-CABC-FCDB-62C2-6259C2DE8467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0D5C90C-A39E-2224-B6A4-9AD6CC101106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031C4C9-C10A-8CBD-2630-8B421858EF1B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A5F9682-0EAA-99D3-6CA4-F6C3DBFA0C40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8F0139F-95D6-D424-CAAB-77B292DE1055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A8EC1C9-635D-7018-70CB-C70ED96B8C29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641CE82-62F4-1DD2-FCF6-B93DC484F387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BD0051A-379F-DC7F-EF31-C9B589655471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86F2B609-363C-00AC-90D1-AD68C40806AD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33048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2AF27-5F2C-E3D1-5BD0-5C1D8BE63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0830A-1392-9BD8-95CA-4FD63D63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8E4B5D-DB5E-F5B4-B75A-1411F277842F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mrf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076A4E4-1FD8-CC17-9092-754C0A192EAB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A31AEAA-38D1-B77A-CAC5-B9F137A2A589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003795C7-2985-8EC3-5C9C-58A2B5D2280C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38189D81-AC07-4C5D-A563-C8F5666E4A0A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6814D49D-2317-8D2D-6B3A-41578DE156D4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510F509-F467-6605-2999-E97A828F7D5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BEAAE27-0ECD-A87F-A540-E75336D29696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B8F1164-8825-E7E7-E29C-320E46B8BA51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EFD53A0-43EC-0552-A9BC-9A2B9CC2C72C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2CA1490-305C-E242-09D8-C3E28F20873B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A226175-A827-58D0-56D7-C28BF7FAEDFD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4A6101E-EA5F-A2C8-F4C7-CA92960DB050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DEEDE314-51B1-B4F8-81AF-CB8E3FD1BC3B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CBCDCE9-EE39-16F2-152C-97FEEECCA97F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B911A675-3A30-7EFB-AC45-BB62AACAE941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AC71AB0F-82BB-C29C-D208-9FAD530C516F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3D8ABDCB-2AC4-9D7A-B216-2F3E2D2B8898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F04736A-56A1-E947-7444-11E91CC80927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0D544D5-529E-5F9C-95A9-FE9063A043ED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6D6BDF7D-D9AE-D9B5-11FD-C408E54D61CB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F1D8EC51-9C65-8ADD-B6D8-45F1F69781EB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FD3DDD90-110F-883D-0208-DF84FD0C0E20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1E463D15-E2F7-5369-425A-9DFB289083F1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5B31EDE-B23B-3A05-C889-C54505007786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2085D9C-4F12-CDEE-6FD6-4AC1A5A2E08D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566565C-1563-D68F-00B6-72184E6B1F6E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EB0F789-5AC3-5D01-55DE-8C925F12389F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2F039E7-B022-4BA6-5E80-0D31145B4906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5476461-F811-F6FB-498B-51FA29C82A6A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4B6ABDA-5058-D4B0-CE35-45EBC31FC30D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22E33C4-BBF7-2242-C4DD-F7A724324514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7AB84D8-937D-93E6-4BE0-AFF3ADA0FC43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408CC3C-04B9-C028-4707-13A38D318848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41606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2EC38-F57C-E92A-E0E1-36E861C63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3E34C-759A-932C-3243-6D9E1B3F6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7D07CC-1FD0-D203-25C2-8CF1199D7960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mrf8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8546EC9-A3E2-BC90-B29B-B6AE6A992574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67EAEB4D-3588-E6A7-F362-00DCA0270456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352BB1B-FE38-0F0F-C12F-4A236B685F9B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F7881BE-7E74-2760-6153-8830C823ACB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6C3EF15-D037-4D30-8F67-92B6CE150E32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4CB36A2-3032-E4C7-5522-E27DF3A799D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23901A7-B12D-75E5-995E-BB772C095DBA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260D3E1-D6E8-F9B2-D66E-1CF288BCC8D5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2418B6C8-ADFC-3C22-8AA1-29A584FFECDB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4455E09-6354-7591-029F-7AD20F30735A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2E394B1-54C0-4D14-D0A5-61BC22277D4B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668068B-1BF9-E81E-3F89-84BD4078A249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3928A5B-B642-8A1C-7DF2-73742F6683BF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04492FF-25BB-6615-3C60-EB999D414485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B4B5A221-71F5-496A-8537-913CF17A57A5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5B93B1BD-EEFF-9822-E145-1375CA85AEA8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79CFB09-6837-4C99-6EFF-042351A3BE2A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C217111D-A544-4806-3204-238DDE8564AE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568651AA-08E2-B09D-492D-FF3E031F67FA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0F947A31-2271-AEB5-72E0-257AEA53846A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EC36D41-4FC6-6784-9368-2DAC832D539F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9C25AA33-B58D-D569-3D3B-B6B4AD979328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75DF9086-292C-081F-F864-6874D01BFD71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80914DF-9FC3-ABA7-2A7F-125441DB2624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AF85B0C-298E-75EB-9091-4FBFCB0186BC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7493386-45BB-6C94-20C6-CA205845DC4B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80CA96A-26A7-3B8A-45DA-986BC4BD9197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A6DAC0A-5412-3AB1-7807-2E335FF3565A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FF3BCE5-9AF1-1AD3-7766-1CA96E84BF0C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0B29ED9-967E-1D07-979C-2F5884AAE26B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9CFE407-2BDB-9C37-1C1B-D25E96D76919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35DB30B-0D16-E3ED-8762-3E1DA9270DF3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76605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6622-96F7-AD01-3FA9-935DC0931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92A2C-9E12-518C-F8A2-0CAEC654C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27AE37-CCFA-591E-F6E7-7B17CFEAA81A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mrf8t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67E4E48-0DA7-CC0D-61BB-DD02EF88D4E9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80F06A8-299A-9341-95B6-505EE2BD8EC5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928373FC-3513-1503-46A4-441C0C3F1638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3D47BE6-4A9A-F48F-4533-67F58278F60B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DFBD1EB-F2B3-7840-B751-2CBDBC776C37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474E690-E412-656A-4682-6C5750471C8F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ADEAF01-58B1-42A4-9657-268835DB9112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9E779096-FA23-4AF3-CAD8-609F891355D6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9FC8D69-4A7A-AF0A-1FDB-ECD99000FCCA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1B594137-3106-49A2-D6D6-F733C795A952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6CD5332-0B9A-28DE-21F8-C261FF56626D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D39EE49-4424-03B8-1F30-5FE4D62BD276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C4AE5A02-C378-8D20-6BD9-64A585FEBCB7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57C42A33-5062-D625-4EFC-8B0FA5DFDE74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6C89B008-DA0A-4DD2-22C2-9A888537AE4D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35DAFD1A-762D-FBA4-D19F-BCD798B48240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9A876B26-E5F8-2420-F0D9-0261761BACDA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75AC9121-17AD-DC7C-03B9-AD9CA138ABF7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C6BC336B-5B22-6211-86FC-62A5F62C2B84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F689688-CAFD-015E-232E-813070DCC4A1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F7F88060-9B5A-974E-9851-1A9BE16C44E0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FFBE7085-F4F5-FE18-368E-9CF6FE80B64D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185D2FB9-D03A-E559-D738-5C140E7E2735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E89E28A-BF2A-B066-450F-16174CCF7C59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0828921-2973-C5B4-9C50-5653B9111FD0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A569C8B-6D19-894E-D83F-69ADABC10ADA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B2FB4F2-BABF-C265-380C-77B0ACE2FDEF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C4AC5FA-7BC1-6D57-9B84-EDA85182D56A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17468B3-7D9C-CF13-5428-6B51FFE3C7EE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FB78F942-2460-9610-45F8-9427A3E810A6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F2EFC910-CBF5-9A54-0502-3F0DE141CE84}"/>
              </a:ext>
            </a:extLst>
          </p:cNvPr>
          <p:cNvSpPr txBox="1"/>
          <p:nvPr/>
        </p:nvSpPr>
        <p:spPr>
          <a:xfrm>
            <a:off x="7305867" y="4551222"/>
            <a:ext cx="1279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ACCEPT!!</a:t>
            </a:r>
          </a:p>
        </p:txBody>
      </p:sp>
    </p:spTree>
    <p:extLst>
      <p:ext uri="{BB962C8B-B14F-4D97-AF65-F5344CB8AC3E}">
        <p14:creationId xmlns:p14="http://schemas.microsoft.com/office/powerpoint/2010/main" val="9169366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38F02-31E2-9FFB-336D-81434B8E9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0F1EB-6D79-C735-1CFD-7BFFAD1EA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 different Way of “Coding” This…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185741C-CCF5-0A64-97FB-2FBB08066885}"/>
              </a:ext>
            </a:extLst>
          </p:cNvPr>
          <p:cNvSpPr txBox="1"/>
          <p:nvPr/>
        </p:nvSpPr>
        <p:spPr>
          <a:xfrm>
            <a:off x="2920483" y="4849024"/>
            <a:ext cx="5607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12BE394-FF8F-40C2-CB94-5FD272586443}"/>
              </a:ext>
            </a:extLst>
          </p:cNvPr>
          <p:cNvSpPr txBox="1"/>
          <p:nvPr/>
        </p:nvSpPr>
        <p:spPr>
          <a:xfrm>
            <a:off x="2920482" y="5239354"/>
            <a:ext cx="6618515" cy="101566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the way, this is called a </a:t>
            </a:r>
            <a:r>
              <a:rPr lang="en-US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Deterministic Finite Automata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You’ll learn more about these in DMT2! A lot (but not all) programs can be expressed as a </a:t>
            </a:r>
            <a:r>
              <a:rPr lang="en-US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DFA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1E8BEB2-C72A-EDC6-3EDA-65A34DBDC5A2}"/>
              </a:ext>
            </a:extLst>
          </p:cNvPr>
          <p:cNvGrpSpPr/>
          <p:nvPr/>
        </p:nvGrpSpPr>
        <p:grpSpPr>
          <a:xfrm>
            <a:off x="1433806" y="1118514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58054A8-B546-6C25-61F0-F5F3C7B9FE41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56FC834C-D684-A942-D0E5-541C5A1287A9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6974687-101F-2AC2-A584-5FCFDEF568A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F740C43-F9D8-C524-8590-FEAD3C6BE02B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07EC8683-7CE1-C31D-0E00-CB36AB508CA6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EA1B2376-262A-C445-2C19-713FC8BD2F24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2CA656F9-703C-00BE-C1B1-1381133C18ED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CCE2DDD-7E30-2DD9-DA2F-CDFC32DC9099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23334A4-28CB-2BFF-5278-10F37FD48B23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B3708C3-584E-2EE9-71A8-7D630D49F0A9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D777C40-BCA1-32A0-8492-19EA336B536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5E79E1B0-57C0-A563-322B-F48EB5524B68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05D0EFF-BA19-D82B-F819-77B0607E338C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AECC4196-715E-5445-8690-18BB76F62095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AB66C8B-1A47-5674-7DD5-BF53ACEEC50C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89190881-D989-D9EE-4AAC-027BA68995F6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CA8CDDD-1D67-E752-FA1F-A720D358015D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2D502E14-9003-2311-F80A-B4EAC15AAF7B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5304B42F-D92F-D6E9-2FC8-D1EDC675C57C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7FE21D4D-0AE3-534A-287B-AB684AF022C7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F7094DD3-ADFC-B6CF-FFDB-EAFB1C83C11A}"/>
                  </a:ext>
                </a:extLst>
              </p:cNvPr>
              <p:cNvCxnSpPr>
                <a:cxnSpLocks/>
                <a:stCxn id="28" idx="2"/>
                <a:endCxn id="26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5FBCDDE0-FD81-CB36-0769-269769639F44}"/>
                  </a:ext>
                </a:extLst>
              </p:cNvPr>
              <p:cNvCxnSpPr>
                <a:cxnSpLocks/>
                <a:stCxn id="26" idx="2"/>
                <a:endCxn id="25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F68A99E-4EDE-06AD-C9B5-C08AD693AB81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F69B9A8-AB8E-7F1F-A50F-F241E7AF0422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DB12DE1-8C92-3E1E-1D62-EE75C9D720FF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D5CAF8D-5C52-CDED-BFEB-3D9D3015B17D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0621664-C1E7-B955-CBF2-2963AB91D20D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7AFB27E-4FDF-EAE6-9581-A2A8109BB42A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6A9152B-D022-4040-ECD6-AA8761321CCD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DC91292-D8EF-6BE9-167A-C685925F5815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78A4CCD-8E05-E660-DF76-1468F5320746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754E872-DDC3-1E05-F410-F5429CD90576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738556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1B2F-5644-5996-294D-77D14BABE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69530-CD07-010F-8313-4BCF54986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Python Code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9373C-ECE7-47B7-6C45-94B1C05CCA60}"/>
              </a:ext>
            </a:extLst>
          </p:cNvPr>
          <p:cNvSpPr txBox="1"/>
          <p:nvPr/>
        </p:nvSpPr>
        <p:spPr>
          <a:xfrm>
            <a:off x="7766613" y="2505670"/>
            <a:ext cx="4098647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Main Point</a:t>
            </a:r>
            <a:r>
              <a:rPr lang="en-US" dirty="0"/>
              <a:t>: Coding up these machines is easy, very general, and works for a wide array of problems!!</a:t>
            </a:r>
          </a:p>
        </p:txBody>
      </p:sp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399AE306-F08E-2AE2-B165-24976653C2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15" y="630150"/>
            <a:ext cx="7275311" cy="3056025"/>
          </a:xfrm>
          <a:prstGeom prst="rect">
            <a:avLst/>
          </a:prstGeom>
        </p:spPr>
      </p:pic>
      <p:pic>
        <p:nvPicPr>
          <p:cNvPr id="9" name="Picture 8" descr="A computer code with red and blue text&#10;&#10;AI-generated content may be incorrect.">
            <a:extLst>
              <a:ext uri="{FF2B5EF4-FFF2-40B4-BE49-F238E27FC236}">
                <a16:creationId xmlns:a16="http://schemas.microsoft.com/office/drawing/2014/main" id="{130D4627-8212-336D-AC77-96ABABFD43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15" y="3677981"/>
            <a:ext cx="7275311" cy="3106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569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90FE2-5A76-649E-B271-81120CD7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730EC-3BD2-2D4C-7C66-F60BF1367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Aside: More Machine Types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8D24BCD-09DD-308F-F1DF-D2982309BC74}"/>
              </a:ext>
            </a:extLst>
          </p:cNvPr>
          <p:cNvGrpSpPr/>
          <p:nvPr/>
        </p:nvGrpSpPr>
        <p:grpSpPr>
          <a:xfrm>
            <a:off x="1054354" y="1632347"/>
            <a:ext cx="3192643" cy="1218360"/>
            <a:chOff x="1334278" y="2052736"/>
            <a:chExt cx="8052319" cy="3072883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D286DFE-3919-0121-89D3-F3BE6FB4F3B7}"/>
                </a:ext>
              </a:extLst>
            </p:cNvPr>
            <p:cNvSpPr/>
            <p:nvPr/>
          </p:nvSpPr>
          <p:spPr>
            <a:xfrm>
              <a:off x="2258010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44C625BC-CDCA-C5CD-D406-23CB2BEEEC37}"/>
                </a:ext>
              </a:extLst>
            </p:cNvPr>
            <p:cNvSpPr/>
            <p:nvPr/>
          </p:nvSpPr>
          <p:spPr>
            <a:xfrm>
              <a:off x="4323185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F5E5CFF-0FF5-B264-32EA-A6A9C60F1B0F}"/>
                </a:ext>
              </a:extLst>
            </p:cNvPr>
            <p:cNvSpPr/>
            <p:nvPr/>
          </p:nvSpPr>
          <p:spPr>
            <a:xfrm>
              <a:off x="6388360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5B3D2AC-C713-D145-FA7A-350B3E310121}"/>
                </a:ext>
              </a:extLst>
            </p:cNvPr>
            <p:cNvSpPr/>
            <p:nvPr/>
          </p:nvSpPr>
          <p:spPr>
            <a:xfrm>
              <a:off x="8453535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43DC545-8BB8-46D0-6E6E-3470D7A28027}"/>
                </a:ext>
              </a:extLst>
            </p:cNvPr>
            <p:cNvSpPr/>
            <p:nvPr/>
          </p:nvSpPr>
          <p:spPr>
            <a:xfrm>
              <a:off x="2258010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50AA15F-493B-F4D6-1A48-A7A558FECCC9}"/>
                </a:ext>
              </a:extLst>
            </p:cNvPr>
            <p:cNvSpPr/>
            <p:nvPr/>
          </p:nvSpPr>
          <p:spPr>
            <a:xfrm>
              <a:off x="4323185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86C49AD-A05A-FC71-CEB5-431CD7916C3D}"/>
                </a:ext>
              </a:extLst>
            </p:cNvPr>
            <p:cNvSpPr/>
            <p:nvPr/>
          </p:nvSpPr>
          <p:spPr>
            <a:xfrm>
              <a:off x="6388360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9C8E991-FA0C-0D0E-D3A4-5B944B08A18E}"/>
                </a:ext>
              </a:extLst>
            </p:cNvPr>
            <p:cNvSpPr/>
            <p:nvPr/>
          </p:nvSpPr>
          <p:spPr>
            <a:xfrm>
              <a:off x="8453535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02BDFD3-B06F-0819-E960-DA8B7B1B4B51}"/>
                </a:ext>
              </a:extLst>
            </p:cNvPr>
            <p:cNvSpPr/>
            <p:nvPr/>
          </p:nvSpPr>
          <p:spPr>
            <a:xfrm>
              <a:off x="6466114" y="2130491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B821B24-ED64-F500-033C-F8EA83038B11}"/>
                </a:ext>
              </a:extLst>
            </p:cNvPr>
            <p:cNvSpPr/>
            <p:nvPr/>
          </p:nvSpPr>
          <p:spPr>
            <a:xfrm>
              <a:off x="6466114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7F239208-2B34-DBBB-9A11-1E247F2603C5}"/>
                </a:ext>
              </a:extLst>
            </p:cNvPr>
            <p:cNvSpPr/>
            <p:nvPr/>
          </p:nvSpPr>
          <p:spPr>
            <a:xfrm>
              <a:off x="4400940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B5CB8D8-6AD3-45B0-8D62-C58D68D00A5B}"/>
                </a:ext>
              </a:extLst>
            </p:cNvPr>
            <p:cNvSpPr/>
            <p:nvPr/>
          </p:nvSpPr>
          <p:spPr>
            <a:xfrm>
              <a:off x="2334210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DE9EE7D-838E-EA5E-1BCB-A9C99EA3EB99}"/>
                </a:ext>
              </a:extLst>
            </p:cNvPr>
            <p:cNvCxnSpPr>
              <a:cxnSpLocks/>
              <a:endCxn id="3" idx="2"/>
            </p:cNvCxnSpPr>
            <p:nvPr/>
          </p:nvCxnSpPr>
          <p:spPr>
            <a:xfrm>
              <a:off x="1334278" y="2519267"/>
              <a:ext cx="923732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AB3B105-95AA-03BC-F574-F638B0AA716B}"/>
                </a:ext>
              </a:extLst>
            </p:cNvPr>
            <p:cNvCxnSpPr>
              <a:cxnSpLocks/>
              <a:stCxn id="3" idx="6"/>
              <a:endCxn id="4" idx="2"/>
            </p:cNvCxnSpPr>
            <p:nvPr/>
          </p:nvCxnSpPr>
          <p:spPr>
            <a:xfrm>
              <a:off x="3191072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B6C2F1D-4E6A-6037-66F5-B403F5B66E1B}"/>
                </a:ext>
              </a:extLst>
            </p:cNvPr>
            <p:cNvCxnSpPr>
              <a:cxnSpLocks/>
              <a:stCxn id="4" idx="6"/>
              <a:endCxn id="6" idx="2"/>
            </p:cNvCxnSpPr>
            <p:nvPr/>
          </p:nvCxnSpPr>
          <p:spPr>
            <a:xfrm>
              <a:off x="5256247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DFB0B23-FE13-6159-FAB8-A0D68F3F527C}"/>
                </a:ext>
              </a:extLst>
            </p:cNvPr>
            <p:cNvCxnSpPr>
              <a:cxnSpLocks/>
              <a:stCxn id="6" idx="6"/>
              <a:endCxn id="9" idx="2"/>
            </p:cNvCxnSpPr>
            <p:nvPr/>
          </p:nvCxnSpPr>
          <p:spPr>
            <a:xfrm>
              <a:off x="7321422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5A9D3E6-1121-866E-D601-4BDE37465309}"/>
                </a:ext>
              </a:extLst>
            </p:cNvPr>
            <p:cNvCxnSpPr>
              <a:cxnSpLocks/>
              <a:stCxn id="6" idx="5"/>
              <a:endCxn id="13" idx="1"/>
            </p:cNvCxnSpPr>
            <p:nvPr/>
          </p:nvCxnSpPr>
          <p:spPr>
            <a:xfrm>
              <a:off x="7184778" y="2849154"/>
              <a:ext cx="1405401" cy="1480047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B8F940-9746-6D0A-CEB6-E16A35C54C71}"/>
                </a:ext>
              </a:extLst>
            </p:cNvPr>
            <p:cNvCxnSpPr>
              <a:cxnSpLocks/>
              <a:stCxn id="9" idx="4"/>
              <a:endCxn id="13" idx="0"/>
            </p:cNvCxnSpPr>
            <p:nvPr/>
          </p:nvCxnSpPr>
          <p:spPr>
            <a:xfrm>
              <a:off x="8920066" y="2985798"/>
              <a:ext cx="0" cy="1206759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6591B09-F9B9-02E5-48D6-7CC1FC3D0E65}"/>
                </a:ext>
              </a:extLst>
            </p:cNvPr>
            <p:cNvCxnSpPr>
              <a:cxnSpLocks/>
              <a:stCxn id="13" idx="2"/>
              <a:endCxn id="12" idx="6"/>
            </p:cNvCxnSpPr>
            <p:nvPr/>
          </p:nvCxnSpPr>
          <p:spPr>
            <a:xfrm flipH="1">
              <a:off x="7321422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DEB6DA79-F0E1-72E2-D4FE-5AF8F7D59301}"/>
                </a:ext>
              </a:extLst>
            </p:cNvPr>
            <p:cNvCxnSpPr>
              <a:cxnSpLocks/>
              <a:stCxn id="12" idx="2"/>
              <a:endCxn id="11" idx="6"/>
            </p:cNvCxnSpPr>
            <p:nvPr/>
          </p:nvCxnSpPr>
          <p:spPr>
            <a:xfrm flipH="1">
              <a:off x="5256247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6FBF8D3B-0381-F6BA-131D-F97B85DD5695}"/>
                </a:ext>
              </a:extLst>
            </p:cNvPr>
            <p:cNvCxnSpPr>
              <a:cxnSpLocks/>
              <a:stCxn id="11" idx="2"/>
              <a:endCxn id="10" idx="6"/>
            </p:cNvCxnSpPr>
            <p:nvPr/>
          </p:nvCxnSpPr>
          <p:spPr>
            <a:xfrm flipH="1">
              <a:off x="3191072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D8CB4FBB-6E83-C2FD-04D3-757D4D1D5ED9}"/>
              </a:ext>
            </a:extLst>
          </p:cNvPr>
          <p:cNvSpPr txBox="1"/>
          <p:nvPr/>
        </p:nvSpPr>
        <p:spPr>
          <a:xfrm>
            <a:off x="5514683" y="1839805"/>
            <a:ext cx="5771163" cy="64633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Deterministic Finite Automata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Machine that processes input with no memory (except the current state)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D04A1C7-130F-3FBC-D7CF-A0026EF7FE09}"/>
              </a:ext>
            </a:extLst>
          </p:cNvPr>
          <p:cNvGrpSpPr/>
          <p:nvPr/>
        </p:nvGrpSpPr>
        <p:grpSpPr>
          <a:xfrm>
            <a:off x="1054358" y="3822319"/>
            <a:ext cx="3192643" cy="1218360"/>
            <a:chOff x="1110337" y="2641816"/>
            <a:chExt cx="3192643" cy="121836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1528461-A7E4-0385-79AC-5A7751151D4C}"/>
                </a:ext>
              </a:extLst>
            </p:cNvPr>
            <p:cNvSpPr/>
            <p:nvPr/>
          </p:nvSpPr>
          <p:spPr>
            <a:xfrm>
              <a:off x="1476585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0C7AAEC-11C6-54EA-DD82-BF4EBFC444D8}"/>
                </a:ext>
              </a:extLst>
            </p:cNvPr>
            <p:cNvSpPr/>
            <p:nvPr/>
          </p:nvSpPr>
          <p:spPr>
            <a:xfrm>
              <a:off x="2295401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333F8AC-1EE3-819A-FD81-C06384A007EA}"/>
                </a:ext>
              </a:extLst>
            </p:cNvPr>
            <p:cNvSpPr/>
            <p:nvPr/>
          </p:nvSpPr>
          <p:spPr>
            <a:xfrm>
              <a:off x="3114217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B75BC07-75AF-7ED1-3156-696BF72A53D4}"/>
                </a:ext>
              </a:extLst>
            </p:cNvPr>
            <p:cNvSpPr/>
            <p:nvPr/>
          </p:nvSpPr>
          <p:spPr>
            <a:xfrm>
              <a:off x="3933033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19B7AC0-737C-52C1-786C-C43F21A366E9}"/>
                </a:ext>
              </a:extLst>
            </p:cNvPr>
            <p:cNvSpPr/>
            <p:nvPr/>
          </p:nvSpPr>
          <p:spPr>
            <a:xfrm>
              <a:off x="1476585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A5484A8-4425-DFD7-065E-C58B782F92D1}"/>
                </a:ext>
              </a:extLst>
            </p:cNvPr>
            <p:cNvSpPr/>
            <p:nvPr/>
          </p:nvSpPr>
          <p:spPr>
            <a:xfrm>
              <a:off x="2295401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16B0D63-5EAA-5D50-53D5-F97E682376E2}"/>
                </a:ext>
              </a:extLst>
            </p:cNvPr>
            <p:cNvSpPr/>
            <p:nvPr/>
          </p:nvSpPr>
          <p:spPr>
            <a:xfrm>
              <a:off x="3114217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603CE8F-E2E5-1193-9AC8-24B60DA9BE40}"/>
                </a:ext>
              </a:extLst>
            </p:cNvPr>
            <p:cNvSpPr/>
            <p:nvPr/>
          </p:nvSpPr>
          <p:spPr>
            <a:xfrm>
              <a:off x="3933033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C70C7ADC-1911-A9D6-A36C-C429E16945C8}"/>
                </a:ext>
              </a:extLst>
            </p:cNvPr>
            <p:cNvSpPr/>
            <p:nvPr/>
          </p:nvSpPr>
          <p:spPr>
            <a:xfrm>
              <a:off x="3145045" y="2672645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ECF55F3-ACCA-2184-7E02-9A141D262E4D}"/>
                </a:ext>
              </a:extLst>
            </p:cNvPr>
            <p:cNvSpPr/>
            <p:nvPr/>
          </p:nvSpPr>
          <p:spPr>
            <a:xfrm>
              <a:off x="3145045" y="3520441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CCC7723-7EA8-921E-1F0E-394F93F42CB5}"/>
                </a:ext>
              </a:extLst>
            </p:cNvPr>
            <p:cNvSpPr/>
            <p:nvPr/>
          </p:nvSpPr>
          <p:spPr>
            <a:xfrm>
              <a:off x="2326230" y="3520441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92A26D1-CA3E-D9DC-5785-C6EDE6E84866}"/>
                </a:ext>
              </a:extLst>
            </p:cNvPr>
            <p:cNvSpPr/>
            <p:nvPr/>
          </p:nvSpPr>
          <p:spPr>
            <a:xfrm>
              <a:off x="1506797" y="3520441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3A9C85F-F1FF-C062-ED67-8EABAE380E4F}"/>
                </a:ext>
              </a:extLst>
            </p:cNvPr>
            <p:cNvCxnSpPr>
              <a:cxnSpLocks/>
              <a:endCxn id="7" idx="2"/>
            </p:cNvCxnSpPr>
            <p:nvPr/>
          </p:nvCxnSpPr>
          <p:spPr>
            <a:xfrm>
              <a:off x="1110337" y="2826790"/>
              <a:ext cx="366248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09EB00B-7D8C-5237-CA27-0E74F33CFE1D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1846532" y="2826790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2A46C6F-DA6B-E85A-C57B-3285520333ED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2665348" y="2826790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A8D0FB16-7D16-FBB9-969F-D1B149563D03}"/>
                </a:ext>
              </a:extLst>
            </p:cNvPr>
            <p:cNvCxnSpPr>
              <a:cxnSpLocks/>
              <a:stCxn id="18" idx="6"/>
              <a:endCxn id="20" idx="2"/>
            </p:cNvCxnSpPr>
            <p:nvPr/>
          </p:nvCxnSpPr>
          <p:spPr>
            <a:xfrm>
              <a:off x="3484164" y="2826790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60ACD7C9-5CE9-EB76-2BE1-F4F50EA07D79}"/>
                </a:ext>
              </a:extLst>
            </p:cNvPr>
            <p:cNvCxnSpPr>
              <a:cxnSpLocks/>
              <a:stCxn id="18" idx="5"/>
              <a:endCxn id="26" idx="1"/>
            </p:cNvCxnSpPr>
            <p:nvPr/>
          </p:nvCxnSpPr>
          <p:spPr>
            <a:xfrm>
              <a:off x="3429987" y="2957586"/>
              <a:ext cx="557224" cy="58682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08D750C-1797-980B-0A69-1D515C065FCA}"/>
                </a:ext>
              </a:extLst>
            </p:cNvPr>
            <p:cNvCxnSpPr>
              <a:cxnSpLocks/>
              <a:stCxn id="20" idx="4"/>
              <a:endCxn id="26" idx="0"/>
            </p:cNvCxnSpPr>
            <p:nvPr/>
          </p:nvCxnSpPr>
          <p:spPr>
            <a:xfrm>
              <a:off x="4118006" y="3011764"/>
              <a:ext cx="0" cy="478465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5D4C9B5-F9AE-35DA-8C15-5C2ABC06FBBA}"/>
                </a:ext>
              </a:extLst>
            </p:cNvPr>
            <p:cNvCxnSpPr>
              <a:cxnSpLocks/>
              <a:stCxn id="26" idx="2"/>
              <a:endCxn id="25" idx="6"/>
            </p:cNvCxnSpPr>
            <p:nvPr/>
          </p:nvCxnSpPr>
          <p:spPr>
            <a:xfrm flipH="1">
              <a:off x="3484164" y="3675202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377B3346-CF95-3DCA-6632-F57335BA3450}"/>
                </a:ext>
              </a:extLst>
            </p:cNvPr>
            <p:cNvCxnSpPr>
              <a:cxnSpLocks/>
              <a:stCxn id="25" idx="2"/>
              <a:endCxn id="23" idx="6"/>
            </p:cNvCxnSpPr>
            <p:nvPr/>
          </p:nvCxnSpPr>
          <p:spPr>
            <a:xfrm flipH="1">
              <a:off x="2665348" y="3675202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2BCA1138-4EDE-2E55-FEDF-6A7A5917C66C}"/>
                </a:ext>
              </a:extLst>
            </p:cNvPr>
            <p:cNvCxnSpPr>
              <a:cxnSpLocks/>
              <a:stCxn id="23" idx="2"/>
              <a:endCxn id="22" idx="6"/>
            </p:cNvCxnSpPr>
            <p:nvPr/>
          </p:nvCxnSpPr>
          <p:spPr>
            <a:xfrm flipH="1">
              <a:off x="1846532" y="3675202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01467553-929B-BA0B-53ED-8DD7F0768118}"/>
              </a:ext>
            </a:extLst>
          </p:cNvPr>
          <p:cNvSpPr txBox="1"/>
          <p:nvPr/>
        </p:nvSpPr>
        <p:spPr>
          <a:xfrm>
            <a:off x="5514687" y="4077556"/>
            <a:ext cx="5771159" cy="64633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Non-deterministic Finite Automata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DFA that can be in multiple states at once (more in a moment)</a:t>
            </a:r>
          </a:p>
        </p:txBody>
      </p:sp>
    </p:spTree>
    <p:extLst>
      <p:ext uri="{BB962C8B-B14F-4D97-AF65-F5344CB8AC3E}">
        <p14:creationId xmlns:p14="http://schemas.microsoft.com/office/powerpoint/2010/main" val="29087407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DDC2C-1563-84D5-29C9-6ED3AA04E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5E425-C402-F163-9778-D77E02171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Aside: More Machine Types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65104E6-DE96-F46B-42F9-8B3AC8E08BDF}"/>
              </a:ext>
            </a:extLst>
          </p:cNvPr>
          <p:cNvSpPr txBox="1"/>
          <p:nvPr/>
        </p:nvSpPr>
        <p:spPr>
          <a:xfrm>
            <a:off x="5673302" y="1744598"/>
            <a:ext cx="5771148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Pushdown Automata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An NFA with a </a:t>
            </a:r>
            <a:r>
              <a:rPr lang="en-US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stack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556DD3B-AFB2-2814-A3F2-E1BC4ADE2FFF}"/>
              </a:ext>
            </a:extLst>
          </p:cNvPr>
          <p:cNvGrpSpPr/>
          <p:nvPr/>
        </p:nvGrpSpPr>
        <p:grpSpPr>
          <a:xfrm>
            <a:off x="1212973" y="1300528"/>
            <a:ext cx="3999463" cy="1522377"/>
            <a:chOff x="1212973" y="1300528"/>
            <a:chExt cx="3999463" cy="1522377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91F609F4-4C50-6860-B5B4-9E10D99868EA}"/>
                </a:ext>
              </a:extLst>
            </p:cNvPr>
            <p:cNvSpPr/>
            <p:nvPr/>
          </p:nvSpPr>
          <p:spPr>
            <a:xfrm>
              <a:off x="1579221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BBAFFAE4-9FA1-525F-433C-73F35D2BDF46}"/>
                </a:ext>
              </a:extLst>
            </p:cNvPr>
            <p:cNvSpPr/>
            <p:nvPr/>
          </p:nvSpPr>
          <p:spPr>
            <a:xfrm>
              <a:off x="2398037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4BDE4E6D-E27C-4BB9-4FAD-51CA70D70E33}"/>
                </a:ext>
              </a:extLst>
            </p:cNvPr>
            <p:cNvSpPr/>
            <p:nvPr/>
          </p:nvSpPr>
          <p:spPr>
            <a:xfrm>
              <a:off x="3216853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31B2AAA6-F745-374E-D019-244B24DDA8E5}"/>
                </a:ext>
              </a:extLst>
            </p:cNvPr>
            <p:cNvSpPr/>
            <p:nvPr/>
          </p:nvSpPr>
          <p:spPr>
            <a:xfrm>
              <a:off x="4035669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6508E5D3-3E8A-79A8-08B6-2EFCD01B8B37}"/>
                </a:ext>
              </a:extLst>
            </p:cNvPr>
            <p:cNvSpPr/>
            <p:nvPr/>
          </p:nvSpPr>
          <p:spPr>
            <a:xfrm>
              <a:off x="1579221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31DDCD2-5085-94BC-C43D-DDF11573CE5D}"/>
                </a:ext>
              </a:extLst>
            </p:cNvPr>
            <p:cNvSpPr/>
            <p:nvPr/>
          </p:nvSpPr>
          <p:spPr>
            <a:xfrm>
              <a:off x="2398037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3080F373-3AF4-151F-F8A1-9DD677198F22}"/>
                </a:ext>
              </a:extLst>
            </p:cNvPr>
            <p:cNvSpPr/>
            <p:nvPr/>
          </p:nvSpPr>
          <p:spPr>
            <a:xfrm>
              <a:off x="3216853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C13DA7A-A74F-2A3C-65F7-9C64964A42D6}"/>
                </a:ext>
              </a:extLst>
            </p:cNvPr>
            <p:cNvSpPr/>
            <p:nvPr/>
          </p:nvSpPr>
          <p:spPr>
            <a:xfrm>
              <a:off x="4035669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FB97CED-F7C0-DC53-4509-2F1DB837ACDD}"/>
                </a:ext>
              </a:extLst>
            </p:cNvPr>
            <p:cNvSpPr/>
            <p:nvPr/>
          </p:nvSpPr>
          <p:spPr>
            <a:xfrm>
              <a:off x="3247681" y="1361569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C4D2DF53-DA22-C120-A685-914E89D13CE6}"/>
                </a:ext>
              </a:extLst>
            </p:cNvPr>
            <p:cNvSpPr/>
            <p:nvPr/>
          </p:nvSpPr>
          <p:spPr>
            <a:xfrm>
              <a:off x="3247681" y="2209365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A367C9F7-D2AD-BB01-BE23-0F3D7FD9EB8C}"/>
                </a:ext>
              </a:extLst>
            </p:cNvPr>
            <p:cNvSpPr/>
            <p:nvPr/>
          </p:nvSpPr>
          <p:spPr>
            <a:xfrm>
              <a:off x="2428866" y="2209365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05993F49-43C4-A20A-0E87-97B5DA342219}"/>
                </a:ext>
              </a:extLst>
            </p:cNvPr>
            <p:cNvSpPr/>
            <p:nvPr/>
          </p:nvSpPr>
          <p:spPr>
            <a:xfrm>
              <a:off x="1609433" y="2209365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C30D55EC-FD5E-A1F6-B5FF-DE5E7ADA9C3B}"/>
                </a:ext>
              </a:extLst>
            </p:cNvPr>
            <p:cNvCxnSpPr>
              <a:cxnSpLocks/>
              <a:endCxn id="59" idx="2"/>
            </p:cNvCxnSpPr>
            <p:nvPr/>
          </p:nvCxnSpPr>
          <p:spPr>
            <a:xfrm>
              <a:off x="1212973" y="1515714"/>
              <a:ext cx="366248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71517CDA-B146-2810-5BF1-E12668AC2230}"/>
                </a:ext>
              </a:extLst>
            </p:cNvPr>
            <p:cNvCxnSpPr>
              <a:cxnSpLocks/>
              <a:stCxn id="59" idx="6"/>
              <a:endCxn id="60" idx="2"/>
            </p:cNvCxnSpPr>
            <p:nvPr/>
          </p:nvCxnSpPr>
          <p:spPr>
            <a:xfrm>
              <a:off x="1949168" y="1515714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A1282B21-5DB9-A1E9-56A1-5BF66795051F}"/>
                </a:ext>
              </a:extLst>
            </p:cNvPr>
            <p:cNvCxnSpPr>
              <a:cxnSpLocks/>
              <a:stCxn id="60" idx="6"/>
              <a:endCxn id="61" idx="2"/>
            </p:cNvCxnSpPr>
            <p:nvPr/>
          </p:nvCxnSpPr>
          <p:spPr>
            <a:xfrm>
              <a:off x="2767984" y="1515714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3EA3245B-56AF-14FD-7893-87727F41FAD7}"/>
                </a:ext>
              </a:extLst>
            </p:cNvPr>
            <p:cNvCxnSpPr>
              <a:cxnSpLocks/>
              <a:stCxn id="61" idx="6"/>
              <a:endCxn id="62" idx="2"/>
            </p:cNvCxnSpPr>
            <p:nvPr/>
          </p:nvCxnSpPr>
          <p:spPr>
            <a:xfrm>
              <a:off x="3586800" y="1515714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AAE60CB1-E578-1012-F135-2B63D21B0D63}"/>
                </a:ext>
              </a:extLst>
            </p:cNvPr>
            <p:cNvCxnSpPr>
              <a:cxnSpLocks/>
              <a:stCxn id="61" idx="5"/>
              <a:endCxn id="66" idx="1"/>
            </p:cNvCxnSpPr>
            <p:nvPr/>
          </p:nvCxnSpPr>
          <p:spPr>
            <a:xfrm>
              <a:off x="3532623" y="1646510"/>
              <a:ext cx="557224" cy="58682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8E4F06E-E69E-8EA3-06A3-CD96D318946E}"/>
                </a:ext>
              </a:extLst>
            </p:cNvPr>
            <p:cNvCxnSpPr>
              <a:cxnSpLocks/>
              <a:stCxn id="62" idx="4"/>
              <a:endCxn id="66" idx="0"/>
            </p:cNvCxnSpPr>
            <p:nvPr/>
          </p:nvCxnSpPr>
          <p:spPr>
            <a:xfrm>
              <a:off x="4220642" y="1700688"/>
              <a:ext cx="0" cy="478465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4891D6C6-0AC8-1E70-2058-CD176F0EF348}"/>
                </a:ext>
              </a:extLst>
            </p:cNvPr>
            <p:cNvCxnSpPr>
              <a:cxnSpLocks/>
              <a:stCxn id="66" idx="2"/>
              <a:endCxn id="65" idx="6"/>
            </p:cNvCxnSpPr>
            <p:nvPr/>
          </p:nvCxnSpPr>
          <p:spPr>
            <a:xfrm flipH="1">
              <a:off x="3586800" y="2364126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554A6042-6F5C-9EE3-1AA0-18DF26028CE4}"/>
                </a:ext>
              </a:extLst>
            </p:cNvPr>
            <p:cNvCxnSpPr>
              <a:cxnSpLocks/>
              <a:stCxn id="65" idx="2"/>
              <a:endCxn id="64" idx="6"/>
            </p:cNvCxnSpPr>
            <p:nvPr/>
          </p:nvCxnSpPr>
          <p:spPr>
            <a:xfrm flipH="1">
              <a:off x="2767984" y="2364126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E9A2EB34-9D5D-AACD-C7F5-5FE8C54EAC4F}"/>
                </a:ext>
              </a:extLst>
            </p:cNvPr>
            <p:cNvCxnSpPr>
              <a:cxnSpLocks/>
              <a:stCxn id="64" idx="2"/>
              <a:endCxn id="63" idx="6"/>
            </p:cNvCxnSpPr>
            <p:nvPr/>
          </p:nvCxnSpPr>
          <p:spPr>
            <a:xfrm flipH="1">
              <a:off x="1949168" y="2364126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0676C9E-DACF-F3FD-0476-3A952DEFD347}"/>
                </a:ext>
              </a:extLst>
            </p:cNvPr>
            <p:cNvSpPr/>
            <p:nvPr/>
          </p:nvSpPr>
          <p:spPr>
            <a:xfrm>
              <a:off x="4740879" y="1300528"/>
              <a:ext cx="298580" cy="1218360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0048935-578E-4438-EE33-2C6596BCEB37}"/>
                </a:ext>
              </a:extLst>
            </p:cNvPr>
            <p:cNvSpPr txBox="1"/>
            <p:nvPr/>
          </p:nvSpPr>
          <p:spPr>
            <a:xfrm>
              <a:off x="4567901" y="2453573"/>
              <a:ext cx="6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stack</a:t>
              </a:r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0F9EEDA5-E410-285A-7B09-7F2696FFA003}"/>
              </a:ext>
            </a:extLst>
          </p:cNvPr>
          <p:cNvSpPr txBox="1"/>
          <p:nvPr/>
        </p:nvSpPr>
        <p:spPr>
          <a:xfrm>
            <a:off x="5673301" y="4058584"/>
            <a:ext cx="5771148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Turing Machine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An NFA with a </a:t>
            </a:r>
            <a:r>
              <a:rPr lang="en-US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tape (array)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E654BED-3A79-C23B-84E6-B0C63B167A26}"/>
              </a:ext>
            </a:extLst>
          </p:cNvPr>
          <p:cNvGrpSpPr/>
          <p:nvPr/>
        </p:nvGrpSpPr>
        <p:grpSpPr>
          <a:xfrm>
            <a:off x="1660842" y="3644726"/>
            <a:ext cx="3192643" cy="2636392"/>
            <a:chOff x="1212972" y="3961968"/>
            <a:chExt cx="3192643" cy="2636392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48D81D8-01CD-E312-358C-70EF31F961C2}"/>
                </a:ext>
              </a:extLst>
            </p:cNvPr>
            <p:cNvSpPr/>
            <p:nvPr/>
          </p:nvSpPr>
          <p:spPr>
            <a:xfrm>
              <a:off x="1579220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C360322-404E-3CF2-2557-812A9D0F4200}"/>
                </a:ext>
              </a:extLst>
            </p:cNvPr>
            <p:cNvSpPr/>
            <p:nvPr/>
          </p:nvSpPr>
          <p:spPr>
            <a:xfrm>
              <a:off x="2398036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469FA3F8-A3D6-48FB-3AB0-39ACF74929F3}"/>
                </a:ext>
              </a:extLst>
            </p:cNvPr>
            <p:cNvSpPr/>
            <p:nvPr/>
          </p:nvSpPr>
          <p:spPr>
            <a:xfrm>
              <a:off x="3216852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3CAA44FC-1219-059A-29D5-4BDC29BAAB98}"/>
                </a:ext>
              </a:extLst>
            </p:cNvPr>
            <p:cNvSpPr/>
            <p:nvPr/>
          </p:nvSpPr>
          <p:spPr>
            <a:xfrm>
              <a:off x="4035668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246B0DDE-0E95-20DF-1852-260A0F5E0290}"/>
                </a:ext>
              </a:extLst>
            </p:cNvPr>
            <p:cNvSpPr/>
            <p:nvPr/>
          </p:nvSpPr>
          <p:spPr>
            <a:xfrm>
              <a:off x="1579220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EB73E790-FBD4-B03A-9FA4-7A6B4B020C89}"/>
                </a:ext>
              </a:extLst>
            </p:cNvPr>
            <p:cNvSpPr/>
            <p:nvPr/>
          </p:nvSpPr>
          <p:spPr>
            <a:xfrm>
              <a:off x="2398036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55663364-079F-6731-D916-92BB4B7174F2}"/>
                </a:ext>
              </a:extLst>
            </p:cNvPr>
            <p:cNvSpPr/>
            <p:nvPr/>
          </p:nvSpPr>
          <p:spPr>
            <a:xfrm>
              <a:off x="3216852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B8FED0C-5A51-6036-E743-0DE1D89C72D1}"/>
                </a:ext>
              </a:extLst>
            </p:cNvPr>
            <p:cNvSpPr/>
            <p:nvPr/>
          </p:nvSpPr>
          <p:spPr>
            <a:xfrm>
              <a:off x="4035668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EB1784C5-0B41-B27A-1384-25A37262191D}"/>
                </a:ext>
              </a:extLst>
            </p:cNvPr>
            <p:cNvSpPr/>
            <p:nvPr/>
          </p:nvSpPr>
          <p:spPr>
            <a:xfrm>
              <a:off x="3247680" y="3992797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A61E67AD-2112-892D-E407-88A4AA46DC22}"/>
                </a:ext>
              </a:extLst>
            </p:cNvPr>
            <p:cNvSpPr/>
            <p:nvPr/>
          </p:nvSpPr>
          <p:spPr>
            <a:xfrm>
              <a:off x="3247680" y="4840593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A1DB90E2-387D-672F-353A-B0E2790C4D7D}"/>
                </a:ext>
              </a:extLst>
            </p:cNvPr>
            <p:cNvSpPr/>
            <p:nvPr/>
          </p:nvSpPr>
          <p:spPr>
            <a:xfrm>
              <a:off x="2428865" y="4840593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B130C47A-08B2-0460-CB57-F2456F99BB3B}"/>
                </a:ext>
              </a:extLst>
            </p:cNvPr>
            <p:cNvSpPr/>
            <p:nvPr/>
          </p:nvSpPr>
          <p:spPr>
            <a:xfrm>
              <a:off x="1609432" y="4840593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6268C106-91BC-913E-4393-0E2A37B77800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>
              <a:off x="1212972" y="4146942"/>
              <a:ext cx="366248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FF65A843-5B76-6198-79F6-753832625245}"/>
                </a:ext>
              </a:extLst>
            </p:cNvPr>
            <p:cNvCxnSpPr>
              <a:cxnSpLocks/>
              <a:stCxn id="5" idx="6"/>
              <a:endCxn id="46" idx="2"/>
            </p:cNvCxnSpPr>
            <p:nvPr/>
          </p:nvCxnSpPr>
          <p:spPr>
            <a:xfrm>
              <a:off x="1949167" y="4146942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02C26872-4A0D-6410-24E8-D96577E20CAE}"/>
                </a:ext>
              </a:extLst>
            </p:cNvPr>
            <p:cNvCxnSpPr>
              <a:cxnSpLocks/>
              <a:stCxn id="46" idx="6"/>
              <a:endCxn id="47" idx="2"/>
            </p:cNvCxnSpPr>
            <p:nvPr/>
          </p:nvCxnSpPr>
          <p:spPr>
            <a:xfrm>
              <a:off x="2767983" y="4146942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88A3F12A-E478-66CB-CB32-9CE916DC778A}"/>
                </a:ext>
              </a:extLst>
            </p:cNvPr>
            <p:cNvCxnSpPr>
              <a:cxnSpLocks/>
              <a:stCxn id="47" idx="6"/>
              <a:endCxn id="48" idx="2"/>
            </p:cNvCxnSpPr>
            <p:nvPr/>
          </p:nvCxnSpPr>
          <p:spPr>
            <a:xfrm>
              <a:off x="3586799" y="4146942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39774799-42CC-27CF-4AA3-501209ED8DBA}"/>
                </a:ext>
              </a:extLst>
            </p:cNvPr>
            <p:cNvCxnSpPr>
              <a:cxnSpLocks/>
              <a:stCxn id="47" idx="5"/>
              <a:endCxn id="52" idx="1"/>
            </p:cNvCxnSpPr>
            <p:nvPr/>
          </p:nvCxnSpPr>
          <p:spPr>
            <a:xfrm>
              <a:off x="3532622" y="4277738"/>
              <a:ext cx="557224" cy="58682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4E227D7-D416-BCFC-028D-83714D302ADF}"/>
                </a:ext>
              </a:extLst>
            </p:cNvPr>
            <p:cNvCxnSpPr>
              <a:cxnSpLocks/>
              <a:stCxn id="48" idx="4"/>
              <a:endCxn id="52" idx="0"/>
            </p:cNvCxnSpPr>
            <p:nvPr/>
          </p:nvCxnSpPr>
          <p:spPr>
            <a:xfrm>
              <a:off x="4220641" y="4331916"/>
              <a:ext cx="0" cy="478465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5F8D01-95E4-63EB-0191-718F10F15725}"/>
                </a:ext>
              </a:extLst>
            </p:cNvPr>
            <p:cNvCxnSpPr>
              <a:cxnSpLocks/>
              <a:stCxn id="52" idx="2"/>
              <a:endCxn id="51" idx="6"/>
            </p:cNvCxnSpPr>
            <p:nvPr/>
          </p:nvCxnSpPr>
          <p:spPr>
            <a:xfrm flipH="1">
              <a:off x="3586799" y="4995354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5419317-283B-1782-D81B-78716EC5A839}"/>
                </a:ext>
              </a:extLst>
            </p:cNvPr>
            <p:cNvCxnSpPr>
              <a:cxnSpLocks/>
              <a:stCxn id="51" idx="2"/>
              <a:endCxn id="50" idx="6"/>
            </p:cNvCxnSpPr>
            <p:nvPr/>
          </p:nvCxnSpPr>
          <p:spPr>
            <a:xfrm flipH="1">
              <a:off x="2767983" y="4995354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B59CD585-A43D-33D3-7FD4-0625E459827D}"/>
                </a:ext>
              </a:extLst>
            </p:cNvPr>
            <p:cNvCxnSpPr>
              <a:cxnSpLocks/>
              <a:stCxn id="50" idx="2"/>
              <a:endCxn id="49" idx="6"/>
            </p:cNvCxnSpPr>
            <p:nvPr/>
          </p:nvCxnSpPr>
          <p:spPr>
            <a:xfrm flipH="1">
              <a:off x="1949167" y="4995354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12DA111-5884-9BBF-82BD-77A7E5003275}"/>
                </a:ext>
              </a:extLst>
            </p:cNvPr>
            <p:cNvSpPr/>
            <p:nvPr/>
          </p:nvSpPr>
          <p:spPr>
            <a:xfrm rot="5400000">
              <a:off x="2770491" y="4344492"/>
              <a:ext cx="298580" cy="2800584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617F416-6728-E458-CCAD-F06CD64FCE15}"/>
                </a:ext>
              </a:extLst>
            </p:cNvPr>
            <p:cNvSpPr txBox="1"/>
            <p:nvPr/>
          </p:nvSpPr>
          <p:spPr>
            <a:xfrm>
              <a:off x="2428865" y="6229028"/>
              <a:ext cx="635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Tape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3B212B4-D291-8804-882F-6A6D03EDB9F3}"/>
                </a:ext>
              </a:extLst>
            </p:cNvPr>
            <p:cNvSpPr txBox="1"/>
            <p:nvPr/>
          </p:nvSpPr>
          <p:spPr>
            <a:xfrm>
              <a:off x="3263533" y="5929757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^</a:t>
              </a:r>
            </a:p>
          </p:txBody>
        </p: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540D90B5-5452-205F-1100-61B9CE936CEB}"/>
              </a:ext>
            </a:extLst>
          </p:cNvPr>
          <p:cNvSpPr txBox="1"/>
          <p:nvPr/>
        </p:nvSpPr>
        <p:spPr>
          <a:xfrm>
            <a:off x="6652726" y="5450121"/>
            <a:ext cx="4478694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You’ll see these in a lot more detail in DMT2. They exist, but we are going to stick with the first two for now (to keep things simple)…</a:t>
            </a:r>
          </a:p>
        </p:txBody>
      </p:sp>
    </p:spTree>
    <p:extLst>
      <p:ext uri="{BB962C8B-B14F-4D97-AF65-F5344CB8AC3E}">
        <p14:creationId xmlns:p14="http://schemas.microsoft.com/office/powerpoint/2010/main" val="6068491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EA92F-C4A8-4D91-623D-92B4E020E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99541-03E0-FD1C-D6E4-22F5AD3CA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Uva ID Detection with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NFA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B93368-BE6F-59C8-BF6D-04718B4815A7}"/>
              </a:ext>
            </a:extLst>
          </p:cNvPr>
          <p:cNvSpPr txBox="1"/>
          <p:nvPr/>
        </p:nvSpPr>
        <p:spPr>
          <a:xfrm>
            <a:off x="8929293" y="1315728"/>
            <a:ext cx="1315616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Try it out:</a:t>
            </a:r>
          </a:p>
          <a:p>
            <a:endParaRPr lang="en-US" dirty="0"/>
          </a:p>
          <a:p>
            <a:r>
              <a:rPr lang="en-US" dirty="0"/>
              <a:t>  mrf8t</a:t>
            </a:r>
          </a:p>
          <a:p>
            <a:r>
              <a:rPr lang="en-US" dirty="0"/>
              <a:t>  as8f</a:t>
            </a:r>
          </a:p>
          <a:p>
            <a:r>
              <a:rPr lang="en-US" dirty="0"/>
              <a:t>  afde9d</a:t>
            </a: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6A76799-896B-4F61-3697-F97F36F97679}"/>
              </a:ext>
            </a:extLst>
          </p:cNvPr>
          <p:cNvGrpSpPr/>
          <p:nvPr/>
        </p:nvGrpSpPr>
        <p:grpSpPr>
          <a:xfrm>
            <a:off x="1343602" y="908179"/>
            <a:ext cx="6156656" cy="5431207"/>
            <a:chOff x="643807" y="1038807"/>
            <a:chExt cx="6156656" cy="5431207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9506C8F-2B27-6612-0981-50EC97CB3D3E}"/>
                </a:ext>
              </a:extLst>
            </p:cNvPr>
            <p:cNvSpPr/>
            <p:nvPr/>
          </p:nvSpPr>
          <p:spPr>
            <a:xfrm>
              <a:off x="2435288" y="1038807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B62F2518-B160-2FB9-6502-226BBE204B16}"/>
                </a:ext>
              </a:extLst>
            </p:cNvPr>
            <p:cNvSpPr/>
            <p:nvPr/>
          </p:nvSpPr>
          <p:spPr>
            <a:xfrm>
              <a:off x="4264089" y="2185020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D69B662-8028-A7DB-300D-CD29CDB053D0}"/>
                </a:ext>
              </a:extLst>
            </p:cNvPr>
            <p:cNvSpPr/>
            <p:nvPr/>
          </p:nvSpPr>
          <p:spPr>
            <a:xfrm>
              <a:off x="5666791" y="3335881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FD27654-E2BB-77B6-E7C5-9F9098C00F91}"/>
                </a:ext>
              </a:extLst>
            </p:cNvPr>
            <p:cNvSpPr/>
            <p:nvPr/>
          </p:nvSpPr>
          <p:spPr>
            <a:xfrm>
              <a:off x="5725887" y="5070421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B830914-81D9-FB30-29E8-86FE41D9C2F4}"/>
                </a:ext>
              </a:extLst>
            </p:cNvPr>
            <p:cNvSpPr/>
            <p:nvPr/>
          </p:nvSpPr>
          <p:spPr>
            <a:xfrm>
              <a:off x="643807" y="4011380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9F1779E-1941-DC79-2373-9D27DB5964A5}"/>
                </a:ext>
              </a:extLst>
            </p:cNvPr>
            <p:cNvSpPr/>
            <p:nvPr/>
          </p:nvSpPr>
          <p:spPr>
            <a:xfrm>
              <a:off x="1862995" y="5536952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881E00A-51AD-97BD-1E23-39841FF44416}"/>
                </a:ext>
              </a:extLst>
            </p:cNvPr>
            <p:cNvSpPr/>
            <p:nvPr/>
          </p:nvSpPr>
          <p:spPr>
            <a:xfrm>
              <a:off x="3778757" y="5493738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4ADF184-27E8-2B1E-069E-EB66BA77D2A5}"/>
                </a:ext>
              </a:extLst>
            </p:cNvPr>
            <p:cNvGrpSpPr/>
            <p:nvPr/>
          </p:nvGrpSpPr>
          <p:grpSpPr>
            <a:xfrm>
              <a:off x="1483667" y="2396944"/>
              <a:ext cx="933062" cy="933062"/>
              <a:chOff x="2161594" y="4032379"/>
              <a:chExt cx="933062" cy="933062"/>
            </a:xfrm>
            <a:solidFill>
              <a:schemeClr val="accent3">
                <a:lumMod val="60000"/>
                <a:lumOff val="40000"/>
              </a:schemeClr>
            </a:solidFill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19EB0F2-982E-CE12-30B9-3DE82D150060}"/>
                  </a:ext>
                </a:extLst>
              </p:cNvPr>
              <p:cNvSpPr/>
              <p:nvPr/>
            </p:nvSpPr>
            <p:spPr>
              <a:xfrm>
                <a:off x="2161594" y="4032379"/>
                <a:ext cx="933062" cy="933062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698DD64D-925B-4EC4-C1FA-B8ACC17C2C99}"/>
                  </a:ext>
                </a:extLst>
              </p:cNvPr>
              <p:cNvSpPr/>
              <p:nvPr/>
            </p:nvSpPr>
            <p:spPr>
              <a:xfrm>
                <a:off x="2237794" y="4108579"/>
                <a:ext cx="780662" cy="780662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D4D15B4-A0E1-83EB-2048-019EBE234436}"/>
                </a:ext>
              </a:extLst>
            </p:cNvPr>
            <p:cNvCxnSpPr>
              <a:cxnSpLocks/>
              <a:endCxn id="3" idx="2"/>
            </p:cNvCxnSpPr>
            <p:nvPr/>
          </p:nvCxnSpPr>
          <p:spPr>
            <a:xfrm>
              <a:off x="1511556" y="1505338"/>
              <a:ext cx="923732" cy="0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17266EA-7990-352A-CDA1-9F774B77E285}"/>
                </a:ext>
              </a:extLst>
            </p:cNvPr>
            <p:cNvCxnSpPr>
              <a:cxnSpLocks/>
              <a:stCxn id="3" idx="5"/>
              <a:endCxn id="4" idx="1"/>
            </p:cNvCxnSpPr>
            <p:nvPr/>
          </p:nvCxnSpPr>
          <p:spPr>
            <a:xfrm>
              <a:off x="3231706" y="1835225"/>
              <a:ext cx="1169027" cy="486439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689632E-1490-B956-FA9C-F2D0D3C64777}"/>
                </a:ext>
              </a:extLst>
            </p:cNvPr>
            <p:cNvCxnSpPr>
              <a:cxnSpLocks/>
              <a:stCxn id="4" idx="5"/>
              <a:endCxn id="6" idx="1"/>
            </p:cNvCxnSpPr>
            <p:nvPr/>
          </p:nvCxnSpPr>
          <p:spPr>
            <a:xfrm>
              <a:off x="5060507" y="2981438"/>
              <a:ext cx="742928" cy="491087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F63164F-90E6-364D-690E-A42BAA136969}"/>
                </a:ext>
              </a:extLst>
            </p:cNvPr>
            <p:cNvCxnSpPr>
              <a:cxnSpLocks/>
              <a:stCxn id="6" idx="4"/>
              <a:endCxn id="9" idx="0"/>
            </p:cNvCxnSpPr>
            <p:nvPr/>
          </p:nvCxnSpPr>
          <p:spPr>
            <a:xfrm>
              <a:off x="6133322" y="4268943"/>
              <a:ext cx="59096" cy="801478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C1842EA-B8C4-6065-F1A5-B01143D7EF6C}"/>
                </a:ext>
              </a:extLst>
            </p:cNvPr>
            <p:cNvCxnSpPr>
              <a:cxnSpLocks/>
              <a:stCxn id="4" idx="2"/>
              <a:endCxn id="10" idx="6"/>
            </p:cNvCxnSpPr>
            <p:nvPr/>
          </p:nvCxnSpPr>
          <p:spPr>
            <a:xfrm flipH="1">
              <a:off x="2416729" y="2651551"/>
              <a:ext cx="1847360" cy="211924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818C76E-594A-5849-5A4B-E826A10EFA21}"/>
                </a:ext>
              </a:extLst>
            </p:cNvPr>
            <p:cNvCxnSpPr>
              <a:cxnSpLocks/>
              <a:stCxn id="9" idx="2"/>
              <a:endCxn id="13" idx="6"/>
            </p:cNvCxnSpPr>
            <p:nvPr/>
          </p:nvCxnSpPr>
          <p:spPr>
            <a:xfrm flipH="1">
              <a:off x="4711819" y="5536952"/>
              <a:ext cx="1014068" cy="423317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13FBF2F2-DE65-2C95-255D-B04F762757ED}"/>
                </a:ext>
              </a:extLst>
            </p:cNvPr>
            <p:cNvCxnSpPr>
              <a:cxnSpLocks/>
              <a:stCxn id="13" idx="2"/>
              <a:endCxn id="12" idx="6"/>
            </p:cNvCxnSpPr>
            <p:nvPr/>
          </p:nvCxnSpPr>
          <p:spPr>
            <a:xfrm flipH="1">
              <a:off x="2796057" y="5960269"/>
              <a:ext cx="982700" cy="43214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79996FEC-F169-E154-C409-3B807035CDEF}"/>
                </a:ext>
              </a:extLst>
            </p:cNvPr>
            <p:cNvCxnSpPr>
              <a:cxnSpLocks/>
              <a:stCxn id="12" idx="1"/>
              <a:endCxn id="11" idx="5"/>
            </p:cNvCxnSpPr>
            <p:nvPr/>
          </p:nvCxnSpPr>
          <p:spPr>
            <a:xfrm flipH="1" flipV="1">
              <a:off x="1440225" y="4807798"/>
              <a:ext cx="559414" cy="865798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CD116A8-0997-9D99-3121-E0705554DDD4}"/>
                </a:ext>
              </a:extLst>
            </p:cNvPr>
            <p:cNvCxnSpPr>
              <a:cxnSpLocks/>
              <a:stCxn id="11" idx="0"/>
              <a:endCxn id="10" idx="3"/>
            </p:cNvCxnSpPr>
            <p:nvPr/>
          </p:nvCxnSpPr>
          <p:spPr>
            <a:xfrm flipV="1">
              <a:off x="1110338" y="3193362"/>
              <a:ext cx="509973" cy="818018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253BCCC-B4AA-78B6-A876-B82B3DA63077}"/>
                </a:ext>
              </a:extLst>
            </p:cNvPr>
            <p:cNvSpPr txBox="1"/>
            <p:nvPr/>
          </p:nvSpPr>
          <p:spPr>
            <a:xfrm>
              <a:off x="3635833" y="136869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6770791-8EEA-9D8C-A4DB-D18032A934A1}"/>
                </a:ext>
              </a:extLst>
            </p:cNvPr>
            <p:cNvSpPr txBox="1"/>
            <p:nvPr/>
          </p:nvSpPr>
          <p:spPr>
            <a:xfrm>
              <a:off x="2743252" y="242422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6B1DEAF-5CC8-8DB1-7EB9-A8497B2C6B25}"/>
                </a:ext>
              </a:extLst>
            </p:cNvPr>
            <p:cNvSpPr txBox="1"/>
            <p:nvPr/>
          </p:nvSpPr>
          <p:spPr>
            <a:xfrm>
              <a:off x="3441337" y="3106828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A96D105-B982-7CFC-D225-8250C5A69F65}"/>
                </a:ext>
              </a:extLst>
            </p:cNvPr>
            <p:cNvSpPr txBox="1"/>
            <p:nvPr/>
          </p:nvSpPr>
          <p:spPr>
            <a:xfrm>
              <a:off x="5187768" y="282403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5D7D395-D2B8-C469-2F73-3699DE851D99}"/>
                </a:ext>
              </a:extLst>
            </p:cNvPr>
            <p:cNvSpPr txBox="1"/>
            <p:nvPr/>
          </p:nvSpPr>
          <p:spPr>
            <a:xfrm>
              <a:off x="6035353" y="4450311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FC6A27B-8709-FC51-00EA-9D17AA7BA2B1}"/>
                </a:ext>
              </a:extLst>
            </p:cNvPr>
            <p:cNvSpPr txBox="1"/>
            <p:nvPr/>
          </p:nvSpPr>
          <p:spPr>
            <a:xfrm>
              <a:off x="3071759" y="428477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7671BFB-ADFC-991C-17F7-759E39DB3EF6}"/>
                </a:ext>
              </a:extLst>
            </p:cNvPr>
            <p:cNvSpPr txBox="1"/>
            <p:nvPr/>
          </p:nvSpPr>
          <p:spPr>
            <a:xfrm>
              <a:off x="4575175" y="454626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0-9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37CDEDF-D87C-ED77-DDD5-E9140159A60B}"/>
                </a:ext>
              </a:extLst>
            </p:cNvPr>
            <p:cNvSpPr txBox="1"/>
            <p:nvPr/>
          </p:nvSpPr>
          <p:spPr>
            <a:xfrm>
              <a:off x="4957730" y="574861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0-9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95C6919-721B-8487-42EC-6C1C12FC59CE}"/>
                </a:ext>
              </a:extLst>
            </p:cNvPr>
            <p:cNvSpPr txBox="1"/>
            <p:nvPr/>
          </p:nvSpPr>
          <p:spPr>
            <a:xfrm>
              <a:off x="1576869" y="1136006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Start</a:t>
              </a:r>
            </a:p>
          </p:txBody>
        </p: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AEFAFC3C-B4D1-4212-2275-5C8103C1FB6A}"/>
                </a:ext>
              </a:extLst>
            </p:cNvPr>
            <p:cNvCxnSpPr>
              <a:cxnSpLocks/>
              <a:stCxn id="6" idx="2"/>
              <a:endCxn id="10" idx="5"/>
            </p:cNvCxnSpPr>
            <p:nvPr/>
          </p:nvCxnSpPr>
          <p:spPr>
            <a:xfrm flipH="1" flipV="1">
              <a:off x="2280085" y="3193362"/>
              <a:ext cx="3386706" cy="609050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8EDE5EB5-AE61-6A75-7CAF-ABEB6552F33F}"/>
                </a:ext>
              </a:extLst>
            </p:cNvPr>
            <p:cNvCxnSpPr>
              <a:cxnSpLocks/>
              <a:stCxn id="6" idx="3"/>
              <a:endCxn id="13" idx="7"/>
            </p:cNvCxnSpPr>
            <p:nvPr/>
          </p:nvCxnSpPr>
          <p:spPr>
            <a:xfrm flipH="1">
              <a:off x="4575175" y="4132299"/>
              <a:ext cx="1228260" cy="1498083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D742FB0C-F733-D8E1-6BE0-7200298BAE40}"/>
                </a:ext>
              </a:extLst>
            </p:cNvPr>
            <p:cNvCxnSpPr>
              <a:cxnSpLocks/>
              <a:stCxn id="13" idx="1"/>
              <a:endCxn id="10" idx="5"/>
            </p:cNvCxnSpPr>
            <p:nvPr/>
          </p:nvCxnSpPr>
          <p:spPr>
            <a:xfrm flipH="1" flipV="1">
              <a:off x="2280085" y="3193362"/>
              <a:ext cx="1635316" cy="2437020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3690BA7D-18D6-7D07-FAFC-FA4128ED999D}"/>
                </a:ext>
              </a:extLst>
            </p:cNvPr>
            <p:cNvCxnSpPr>
              <a:cxnSpLocks/>
              <a:stCxn id="12" idx="0"/>
              <a:endCxn id="10" idx="4"/>
            </p:cNvCxnSpPr>
            <p:nvPr/>
          </p:nvCxnSpPr>
          <p:spPr>
            <a:xfrm flipH="1" flipV="1">
              <a:off x="1950198" y="3330006"/>
              <a:ext cx="379328" cy="2206946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92879B5B-1BE2-B565-08A2-D8449721D493}"/>
                </a:ext>
              </a:extLst>
            </p:cNvPr>
            <p:cNvSpPr txBox="1"/>
            <p:nvPr/>
          </p:nvSpPr>
          <p:spPr>
            <a:xfrm>
              <a:off x="2064813" y="4450329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125BE70-CC85-0333-C4AB-B448EC6FC9E3}"/>
                </a:ext>
              </a:extLst>
            </p:cNvPr>
            <p:cNvSpPr txBox="1"/>
            <p:nvPr/>
          </p:nvSpPr>
          <p:spPr>
            <a:xfrm>
              <a:off x="2957854" y="6003483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A531CF5-F735-613B-EBAF-7AB78CAC8879}"/>
                </a:ext>
              </a:extLst>
            </p:cNvPr>
            <p:cNvSpPr txBox="1"/>
            <p:nvPr/>
          </p:nvSpPr>
          <p:spPr>
            <a:xfrm>
              <a:off x="1077452" y="512590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9FD0FCFA-2B5A-5B16-028A-AF0AB7799DC1}"/>
                </a:ext>
              </a:extLst>
            </p:cNvPr>
            <p:cNvSpPr txBox="1"/>
            <p:nvPr/>
          </p:nvSpPr>
          <p:spPr>
            <a:xfrm>
              <a:off x="713583" y="3336169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</p:grpSp>
      <p:sp>
        <p:nvSpPr>
          <p:cNvPr id="135" name="TextBox 134">
            <a:extLst>
              <a:ext uri="{FF2B5EF4-FFF2-40B4-BE49-F238E27FC236}">
                <a16:creationId xmlns:a16="http://schemas.microsoft.com/office/drawing/2014/main" id="{9624B8EC-A770-CD54-8EF8-7F1C0513DCE5}"/>
              </a:ext>
            </a:extLst>
          </p:cNvPr>
          <p:cNvSpPr txBox="1"/>
          <p:nvPr/>
        </p:nvSpPr>
        <p:spPr>
          <a:xfrm>
            <a:off x="8117976" y="3351983"/>
            <a:ext cx="3259596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Remember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String is a valid Uva user id if there is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at least one path </a:t>
            </a:r>
            <a:r>
              <a:rPr lang="en-US" dirty="0"/>
              <a:t>from start to finish on that string.</a:t>
            </a:r>
          </a:p>
        </p:txBody>
      </p:sp>
    </p:spTree>
    <p:extLst>
      <p:ext uri="{BB962C8B-B14F-4D97-AF65-F5344CB8AC3E}">
        <p14:creationId xmlns:p14="http://schemas.microsoft.com/office/powerpoint/2010/main" val="20526901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A22EE-8746-72C1-128A-7567D09FA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8745C-0348-5776-9EAA-FE9968D70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Reduction of DFA to Satisfiability</a:t>
            </a:r>
          </a:p>
        </p:txBody>
      </p:sp>
    </p:spTree>
    <p:extLst>
      <p:ext uri="{BB962C8B-B14F-4D97-AF65-F5344CB8AC3E}">
        <p14:creationId xmlns:p14="http://schemas.microsoft.com/office/powerpoint/2010/main" val="4008021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B5C09-17F1-E99B-CA6D-71F9B2E04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A55E-7842-9DCE-36D5-126FD647F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Reduction Idea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B002312-B9B6-10DA-94B0-3FD461D94083}"/>
              </a:ext>
            </a:extLst>
          </p:cNvPr>
          <p:cNvGrpSpPr/>
          <p:nvPr/>
        </p:nvGrpSpPr>
        <p:grpSpPr>
          <a:xfrm>
            <a:off x="934046" y="1309840"/>
            <a:ext cx="5969768" cy="4205044"/>
            <a:chOff x="1488446" y="1477069"/>
            <a:chExt cx="5969768" cy="420504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0C40158A-4198-0D58-AA6D-3F04389262E8}"/>
                    </a:ext>
                  </a:extLst>
                </p:cNvPr>
                <p:cNvSpPr/>
                <p:nvPr/>
              </p:nvSpPr>
              <p:spPr>
                <a:xfrm>
                  <a:off x="5123701" y="2175128"/>
                  <a:ext cx="2216075" cy="1105348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0" dirty="0">
                      <a:solidFill>
                        <a:schemeClr val="bg1"/>
                      </a:solidFill>
                    </a:rPr>
                    <a:t>Boolean formula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0C40158A-4198-0D58-AA6D-3F04389262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3701" y="2175128"/>
                  <a:ext cx="2216075" cy="1105348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3F6F65A-1E88-D277-2CAA-5A9A4AFF2D4B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Is </a:t>
              </a:r>
              <a:r>
                <a:rPr lang="en-US" dirty="0" err="1">
                  <a:solidFill>
                    <a:schemeClr val="accent3"/>
                  </a:solidFill>
                </a:rPr>
                <a:t>mrf</a:t>
              </a:r>
              <a:r>
                <a:rPr lang="en-US" dirty="0">
                  <a:solidFill>
                    <a:schemeClr val="bg1"/>
                  </a:solidFill>
                </a:rPr>
                <a:t> a valid uva computing id?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E77F5074-2640-E27F-3BBF-3A880A810820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87A7002B-B09F-FB9E-DE61-81F0AB5723BA}"/>
                </a:ext>
              </a:extLst>
            </p:cNvPr>
            <p:cNvSpPr txBox="1"/>
            <p:nvPr/>
          </p:nvSpPr>
          <p:spPr>
            <a:xfrm>
              <a:off x="3336429" y="1477069"/>
              <a:ext cx="233306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Convert DFA into equivalent Boolean formula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55F2658D-9433-4606-78A0-911BBC0C87CF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48C1D924-60C9-9DFD-F296-CA8A600EDF48}"/>
                    </a:ext>
                  </a:extLst>
                </p:cNvPr>
                <p:cNvSpPr txBox="1"/>
                <p:nvPr/>
              </p:nvSpPr>
              <p:spPr>
                <a:xfrm>
                  <a:off x="6239626" y="3605455"/>
                  <a:ext cx="1218588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tx1">
                          <a:lumMod val="95000"/>
                        </a:schemeClr>
                      </a:solidFill>
                    </a:rPr>
                    <a:t>Is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dirty="0">
                      <a:solidFill>
                        <a:schemeClr val="tx1">
                          <a:lumMod val="95000"/>
                        </a:schemeClr>
                      </a:solidFill>
                    </a:rPr>
                    <a:t> satisfiable?</a:t>
                  </a:r>
                </a:p>
              </p:txBody>
            </p:sp>
          </mc:Choice>
          <mc:Fallback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48C1D924-60C9-9DFD-F296-CA8A600EDF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9626" y="3605455"/>
                  <a:ext cx="1218588" cy="646331"/>
                </a:xfrm>
                <a:prstGeom prst="rect">
                  <a:avLst/>
                </a:prstGeom>
                <a:blipFill>
                  <a:blip r:embed="rId3"/>
                  <a:stretch>
                    <a:fillRect l="-3093" t="-3846" r="-4124" b="-153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DC0AE08-9576-B734-46B2-0494BD053C2E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True (satisfiable)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or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False (not satisfiable)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6E910A5E-40B7-1FB2-CE47-964276BD77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91344" y="485463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D17E7798-3798-9460-439C-171C45CF5ED8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Accept or Reject</a:t>
              </a:r>
            </a:p>
            <a:p>
              <a:pPr algn="ctr"/>
              <a:r>
                <a:rPr lang="en-US" dirty="0" err="1">
                  <a:solidFill>
                    <a:schemeClr val="accent3"/>
                  </a:solidFill>
                </a:rPr>
                <a:t>mrf</a:t>
              </a:r>
              <a:endParaRPr lang="en-US" dirty="0">
                <a:solidFill>
                  <a:schemeClr val="accent3"/>
                </a:solidFill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BFD01E8-99D9-2523-32D0-C660B374CE21}"/>
                </a:ext>
              </a:extLst>
            </p:cNvPr>
            <p:cNvSpPr txBox="1"/>
            <p:nvPr/>
          </p:nvSpPr>
          <p:spPr>
            <a:xfrm>
              <a:off x="3320271" y="3960794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If true, accept </a:t>
              </a:r>
              <a:r>
                <a:rPr lang="en-US" dirty="0" err="1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mrf</a:t>
              </a:r>
              <a:endParaRPr lang="en-US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If false, reject </a:t>
              </a:r>
              <a:r>
                <a:rPr lang="en-US" dirty="0" err="1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mrf</a:t>
              </a:r>
              <a:endParaRPr lang="en-US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7FF4CFE8-0493-75E3-53C3-63413CD94507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A0AF3C1-537E-6AEC-CD60-7A558A33B321}"/>
                </a:ext>
              </a:extLst>
            </p:cNvPr>
            <p:cNvSpPr txBox="1"/>
            <p:nvPr/>
          </p:nvSpPr>
          <p:spPr>
            <a:xfrm>
              <a:off x="1488446" y="3445406"/>
              <a:ext cx="121858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the 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DFA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 machine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9D8D2C8-08E9-1681-B353-BBA907B6C2C5}"/>
              </a:ext>
            </a:extLst>
          </p:cNvPr>
          <p:cNvSpPr txBox="1"/>
          <p:nvPr/>
        </p:nvSpPr>
        <p:spPr>
          <a:xfrm>
            <a:off x="8072714" y="2540942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Idea: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D825E8-530D-5283-A99D-069506E9B2C1}"/>
              </a:ext>
            </a:extLst>
          </p:cNvPr>
          <p:cNvSpPr txBox="1"/>
          <p:nvPr/>
        </p:nvSpPr>
        <p:spPr>
          <a:xfrm>
            <a:off x="8072714" y="2932208"/>
            <a:ext cx="3672962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Gives us TWO different ways to “run” this program. We can run the DFA directly OR we can convert into a formula and solve the Boolean formula instead.</a:t>
            </a:r>
          </a:p>
        </p:txBody>
      </p:sp>
    </p:spTree>
    <p:extLst>
      <p:ext uri="{BB962C8B-B14F-4D97-AF65-F5344CB8AC3E}">
        <p14:creationId xmlns:p14="http://schemas.microsoft.com/office/powerpoint/2010/main" val="14582499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35E80-3ACB-54D3-0FDB-2417AE137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AE51F-4B8D-0D24-206D-E166EB577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Convert this DFA into a formula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2FDC31A-F6CB-C751-CEC9-429D69D01F3B}"/>
              </a:ext>
            </a:extLst>
          </p:cNvPr>
          <p:cNvSpPr txBox="1"/>
          <p:nvPr/>
        </p:nvSpPr>
        <p:spPr>
          <a:xfrm>
            <a:off x="1915888" y="508060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24A8F22-ABF2-31E0-B15B-50DFC3EB908A}"/>
              </a:ext>
            </a:extLst>
          </p:cNvPr>
          <p:cNvGrpSpPr/>
          <p:nvPr/>
        </p:nvGrpSpPr>
        <p:grpSpPr>
          <a:xfrm>
            <a:off x="1433806" y="1071862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01A201B-D4B0-0430-1360-3E4AF3D6F246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31D26E77-7D77-3790-895D-5C6096933563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9DC6BF57-5F6C-F19C-CBA6-2DE8313AD304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E98EF08-B8EB-5B0A-7115-C522CCC68A0C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1E719142-2B2E-8B69-2462-493DC6F7FCEF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963DF9E3-949D-19E2-8A25-EBE4A0791442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5D756703-CCDC-B817-DDF2-CBFB6FAC5BEF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41D1CAA-7658-51A7-BAFA-24CBC0FE02B1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B40CFD0-AA53-207D-EBBF-AD69650953F6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49D272F-4DA4-4C03-7135-38AF824C1C92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1B3027AE-DED2-0181-2E1E-48357E9CC256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006BE06-1C24-3BBB-235F-8FEDDBC01BD8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E86D66A7-BE14-263E-C277-3ADE13E69785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585B8B74-BF24-BD0E-CEF4-C44FE910E1AB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55A03D39-07BC-90B3-4FA3-2686EA8C4081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EDA8E461-0432-4D4D-0CB8-FC91737C9F4B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01536E22-6991-8F23-89C0-262D0D4A191F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1C223C27-A208-8B65-8175-5CAF119BE5C7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53BA18C9-706A-FF28-8DB0-C9412DCE7C11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6450025-D03E-72C1-B6E8-C40F7FDDC1B7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34A8DD01-A123-4638-65E5-9F25E4670525}"/>
                  </a:ext>
                </a:extLst>
              </p:cNvPr>
              <p:cNvCxnSpPr>
                <a:cxnSpLocks/>
                <a:stCxn id="28" idx="2"/>
                <a:endCxn id="26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258001FB-77A0-1D0E-71DD-0FBA9848B448}"/>
                  </a:ext>
                </a:extLst>
              </p:cNvPr>
              <p:cNvCxnSpPr>
                <a:cxnSpLocks/>
                <a:stCxn id="26" idx="2"/>
                <a:endCxn id="25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DB4C3865-0604-179C-5F80-842C3DA5FD97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882D213-963C-9607-FEB0-E858F0EE6EAD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6D3BCDD-EB7C-2CFB-B8E2-186C03F4B3E0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FBB87A5-DBEE-3A19-19FF-09FB7C62B9FF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52D9ACD5-9863-A529-2298-14E03E25133C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E314FCE-EE80-CACD-6FE5-DF259EDC8F60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541CB7C3-0003-F4ED-942B-BCC44F1EDA96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B7D23E00-3BC0-2CA2-BB05-F1EA9DCC0EE2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7232CD3-3A11-2B64-E57A-2234B6F7B329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BEFB8F5-9058-6C0F-7B2C-AC8D13EDE323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327565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99795-783C-76C2-4D17-0D15157B3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1FDBD-CC0E-AEB5-E2A5-4A9196ED4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9B85016-856B-C6E5-4C5B-2C61E9796590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7163014-C1EC-7044-8A38-743B40CD5DA6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67CC716-2737-2D18-CEBD-1CC7E5C9B1B2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F8D51D1E-30A1-9BD2-801E-C2E54DB4CC4C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8180497D-B059-7846-5F8F-01416CF88C32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707D164-C665-F0E5-7F85-CABF8AC2A73E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D773A529-2EF3-8F26-3A58-0087B10A8F89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26F44684-4B2A-CF8B-CA7F-D6D1F765F0D0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6F9EAEF9-0134-08FF-5FC6-43403CBEB77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E507F464-FE76-76E1-94A7-39ED7791B626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3ED17FAB-1028-93FC-4F89-072B6D768B88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FF043B5F-4D26-A125-EB65-E83BB0C01E62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35C1C748-03DA-694A-962D-68DCA892B8FC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09F77E9-DCEB-271F-6DC4-B0F3D6FD19FB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421A571D-9BDE-9A5F-EAB1-35E8DD75CDAF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82B33642-B026-F673-2ACC-054DFF267C10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0B5E4AD0-ECF1-6ECC-97D4-4B9641EF83A1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74D0005B-BAC3-8461-DFB9-F40D674554CA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6CCCD98B-D073-2FAE-3BC0-EF9B72ABC4F8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2F7DD097-0DB0-3757-FE4B-D62FB53EEEBF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4535228A-A573-F4D9-3B90-E918AFF8F918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A4E6D63B-1C95-0C59-215C-7D9F736396E2}"/>
                  </a:ext>
                </a:extLst>
              </p:cNvPr>
              <p:cNvCxnSpPr>
                <a:cxnSpLocks/>
                <a:stCxn id="28" idx="2"/>
                <a:endCxn id="26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DD3EEB64-063E-FF2A-8627-CCAAE7278C52}"/>
                  </a:ext>
                </a:extLst>
              </p:cNvPr>
              <p:cNvCxnSpPr>
                <a:cxnSpLocks/>
                <a:stCxn id="26" idx="2"/>
                <a:endCxn id="25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0EBEEB4-D0B4-546F-F9FF-0B30FF79CCF2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1719279-9761-3623-2C89-A3507F856961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5FFD228-1714-1124-7D70-27ED8EB8F7E4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75703BD-DC44-928D-A735-4CF6D2075D9A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4501EB5-1C2F-8DD1-A797-7714B583E3D9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B96E910E-3646-AE8E-EB08-D4BB0050A441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2B420836-2AC8-DD4F-28B5-F22B5E79B300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17F35BE-15EE-4087-F695-C40E093D78EE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727DDFBE-157D-99CE-A5C2-293845AE90BE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8611972-A7CC-C96C-E5FC-D98C0B9F07BA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A5D87D6-F5BB-0105-EE9C-D3BFA6362226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D2B50D5-5DDE-1476-B68E-73BF00364A80}"/>
                  </a:ext>
                </a:extLst>
              </p:cNvPr>
              <p:cNvSpPr txBox="1"/>
              <p:nvPr/>
            </p:nvSpPr>
            <p:spPr>
              <a:xfrm>
                <a:off x="1543831" y="4496614"/>
                <a:ext cx="3535523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D2B50D5-5DDE-1476-B68E-73BF00364A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31" y="4496614"/>
                <a:ext cx="3535523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F771BD06-54C8-E5D2-3294-A9A63652BD59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3D810E-59C1-4EBD-7510-9DBEE59DED97}"/>
              </a:ext>
            </a:extLst>
          </p:cNvPr>
          <p:cNvSpPr txBox="1"/>
          <p:nvPr/>
        </p:nvSpPr>
        <p:spPr>
          <a:xfrm>
            <a:off x="6646505" y="5258568"/>
            <a:ext cx="4124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Notice that each row represents one STEP, so one variable in each row can be true, the others in that row must be false.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4D0D81E-4294-DAD7-8D14-9AE425FC82FF}"/>
              </a:ext>
            </a:extLst>
          </p:cNvPr>
          <p:cNvCxnSpPr/>
          <p:nvPr/>
        </p:nvCxnSpPr>
        <p:spPr>
          <a:xfrm>
            <a:off x="5200262" y="5121176"/>
            <a:ext cx="1331167" cy="34656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67906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9FBC3-128A-B8EB-CF01-D6075A64C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5EA7F-EEF4-AEB5-A7C6-10DFBFC45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CDC7402-C824-59A9-98E7-55D7DF3517FB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0E0D81-D108-0617-36A1-C8DADCB5F019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F4F8219B-66BD-CD8F-24F7-FF34F1E7FB77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BC6111E-67FA-5285-4F84-510C171F47D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59D2E7E-271F-BC88-5069-644C0F3E7C61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3609624-81DD-B766-88F6-7D05AFB0C694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A8216036-D932-1DA1-8BE9-3CA2AC3F9BEE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EF825BF4-C7D9-C965-0CB3-406CCD67EE3C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7F40BED6-32F2-BACE-8E79-44D696CB13E1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1DFF05B4-16F4-64FB-8184-338B1AED06A8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D961430-78DB-3E17-6BC3-D933E943E43C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931D55F9-79BA-7F6B-DCA0-F9B49BBD927E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B8130D2B-A603-7566-7B34-B8D29A84F748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32B9A05C-CF26-D68B-7C50-3A39B9923B45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21938129-AD85-8A2D-4E22-1687D2F43DCD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FA5645E8-A8A2-088E-AF44-97FF713B7980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B1140493-748F-1D9D-9434-EA0369F8F0E5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068C9FE-1E19-48DE-F439-B8E687158FA2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8072DFEE-4877-3162-42D3-3956D270A53A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CF6BE68E-4A3D-478A-3B6A-9B9C88D321E3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F182F82D-F303-AD99-12DA-F49686788606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0F340F5A-070A-7886-B1D5-700238B65B2D}"/>
                  </a:ext>
                </a:extLst>
              </p:cNvPr>
              <p:cNvCxnSpPr>
                <a:cxnSpLocks/>
                <a:stCxn id="28" idx="2"/>
                <a:endCxn id="26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D144071C-46FE-CBA4-710C-C01FF98805F4}"/>
                  </a:ext>
                </a:extLst>
              </p:cNvPr>
              <p:cNvCxnSpPr>
                <a:cxnSpLocks/>
                <a:stCxn id="26" idx="2"/>
                <a:endCxn id="25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FE71B79-1145-DE82-6842-57188C594DA4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F7C4C7A-B496-BC71-57CA-3AF20CBBC787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1152B4A-5C26-1A19-3778-7A38ABCFE8C9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DE8132A-32F6-49D8-FFAC-2AE93773C13B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091C8DD-9133-96C0-2FDD-0C1FBFCC28BA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7FA35E-B20E-0C4A-12B0-44DEC8537257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64A3D5A-24DF-9365-4C12-B64101F6FFA0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7051E0E-F9D4-CE88-23D3-5DF1B242BC6E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0910959-30C5-0643-789D-9E06EF686DF4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71689-89AB-25CB-5215-9E2C6C469CCA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78B39B-FC6A-420A-935D-AE3173E024BF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250598-B39C-748C-D6C3-F3564AE4E28F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825D02-D059-B769-0E59-F76B9A096153}"/>
                  </a:ext>
                </a:extLst>
              </p:cNvPr>
              <p:cNvSpPr txBox="1"/>
              <p:nvPr/>
            </p:nvSpPr>
            <p:spPr>
              <a:xfrm>
                <a:off x="1543831" y="4496614"/>
                <a:ext cx="3535523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825D02-D059-B769-0E59-F76B9A096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31" y="4496614"/>
                <a:ext cx="3535523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37901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E0A8E-6CF1-BA06-9AB6-76EB357BA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493D7-6F26-7645-299F-63D8E8393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6ED140B-93A5-9982-0D40-6D85E82E696D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CD5091B-591A-44C1-B6FC-C514B14139BA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135C9B4A-1685-429D-AEFE-B2C04B80DE86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C9B3F4B-7E26-CAD8-E544-E5058FC50C72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B7B833E1-F71C-4E1B-963E-792AD6706EC6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0504436-1E29-B7AB-1DB5-A30587EF66EC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5C5528C6-1A59-0516-3B37-8350F0E0D4DD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39DE8B68-A767-77B2-942E-C0B5ACD58EDE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93651CB-243A-0C30-D49E-9D6DE41C19F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2B521E7A-9519-EC23-1BD7-B5E8C817DDCD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2F37ABA2-F3D6-7073-F4EF-9565FFEFE611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052B3AF-2CE6-1B66-772F-18E0195AE111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2072C8A-B642-41F5-9437-641D2D77E8C4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C4F706B0-9CA0-204C-6EB3-D59AB8A5DBDB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75A08B9E-9BE7-4C70-F4DA-F655D05C31AB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1E7F346A-5956-D909-4294-D8A76A806331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CF15AEC-2A9F-4663-10D1-43F3186F6244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F1013E04-B72A-1AB6-BFF8-BFBFD9E88BC0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614F3CDC-9BFF-9C55-1B85-9E202E0B7AAE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C0F12760-0BC3-9EF5-CE04-AD411D002566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A2C0B414-2739-4ACB-069D-FEDD6B3AAD68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4248182A-7A9B-7BE6-8C33-B1332F2D55BC}"/>
                  </a:ext>
                </a:extLst>
              </p:cNvPr>
              <p:cNvCxnSpPr>
                <a:cxnSpLocks/>
                <a:stCxn id="28" idx="2"/>
                <a:endCxn id="26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58E87D0D-A10C-94F6-7807-171443DC44B3}"/>
                  </a:ext>
                </a:extLst>
              </p:cNvPr>
              <p:cNvCxnSpPr>
                <a:cxnSpLocks/>
                <a:stCxn id="26" idx="2"/>
                <a:endCxn id="25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29F8586-9650-47AF-99F0-037395435B4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AF9F7E3-E6C4-5AF6-D57E-82725C9AB87A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08CE300-B509-2040-6536-54F883214E5E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F2B4F22-A1E9-95AA-E97E-6651C69AA9F7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141211B5-8313-588E-0DE6-D737CDC3C651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C701C7CB-3637-8100-2148-C681A428F803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E9AEEE3-98FA-4C54-AE0C-7EC65BBDD10D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A3D9BC2-68EB-8744-C043-426D28217A3A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7370E3F-CCFE-DE33-55BB-E982AFB421DF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9B70F81-69B8-0754-9D27-C8CD3275A0B0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77B66A5-B68F-E220-240C-C8524ECDD050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E708FB-1AF1-C104-E0A0-6430CD964E7E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6481561-849B-AC6D-BB4C-BB8726269135}"/>
                  </a:ext>
                </a:extLst>
              </p:cNvPr>
              <p:cNvSpPr txBox="1"/>
              <p:nvPr/>
            </p:nvSpPr>
            <p:spPr>
              <a:xfrm>
                <a:off x="1543831" y="4496614"/>
                <a:ext cx="3535523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6481561-849B-AC6D-BB4C-BB8726269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31" y="4496614"/>
                <a:ext cx="3535523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64335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38E7D-5845-506B-1037-51435D103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DB70D-6E4E-9168-C6FE-1582B7AEF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53D71BE-4AE9-2353-5421-F5FCB705F59C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A7C2E2E-C9A8-0486-A17C-F83D103A0781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401DDEE-6A35-5565-B287-A40CBB113378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E7F946C-A319-DBF5-BE28-10B2CFFF3369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B8E3A73-D7A1-146B-F437-CEA739DD6819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7DCA7BF-53A2-C5FC-7572-D9300A101A52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EF3F5571-3A8D-6265-EC4E-40D5C991DCDD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8932BC9B-ED17-6E06-8651-118D84133388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DADBD6A-B47D-9063-4BC9-C44DF4040DE7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4C7C5669-B16D-2577-EBD4-9BA924E77989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CF2049E-7C5D-D191-967B-ADB2A660972B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D9354666-B655-2EBE-95B5-FBAAE5C448E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DFE553B-415F-733A-DBDB-61B1268AF933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EED0BB61-09CE-92BD-A0EA-D88423EFF04B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3E2B5533-7785-D317-46EA-8540DD25E939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5A56FD0A-B287-228D-F090-B99CA9A42347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6B448F6A-3443-88AA-B52F-DE40D2F4A111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72942CCC-2994-15B5-2A2E-9A0AB42DECB3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A62E1C64-B72B-6195-F277-5DAF6899525C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1737D163-5E2A-E52D-87F2-14122F5F00A3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A9F89A12-0C4F-6704-C955-E0F01C7EE9C9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08E7D262-1946-DC84-9C1B-01F74B836E34}"/>
                  </a:ext>
                </a:extLst>
              </p:cNvPr>
              <p:cNvCxnSpPr>
                <a:cxnSpLocks/>
                <a:stCxn id="28" idx="2"/>
                <a:endCxn id="26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84B437F8-7044-B9DC-F22A-AB94EBA598CC}"/>
                  </a:ext>
                </a:extLst>
              </p:cNvPr>
              <p:cNvCxnSpPr>
                <a:cxnSpLocks/>
                <a:stCxn id="26" idx="2"/>
                <a:endCxn id="25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2F4C1C7-2475-6763-25E1-4323CAA777D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9F059FF-53E2-112F-1D27-7D9E2CDD11DD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r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69918AB-07B9-DC33-F4FF-EE7DE4F1265A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DB7F13AB-166F-8335-4F8E-3834D1DF2023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EF52E477-75D9-A5EB-6FDB-23F264E9F4C0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0A615ED-3433-CA5C-79EF-BD10BEAD8BF7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0BF8F25-E914-02AF-C046-5E2DD4EC34B6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474409-3AC1-6FFD-5442-89931BB62EC3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FE438254-4651-E4F9-B605-F771CF15CB4F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205AE5-CAF0-EB5F-9717-B2FC2B35F0E2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B3CB63B-B61B-066B-30AA-FC65E9A31D04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3FFBFC-9931-D08A-B750-36948391613A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D80FAF8-87A1-C5B6-DEB4-86975D11BDFF}"/>
                  </a:ext>
                </a:extLst>
              </p:cNvPr>
              <p:cNvSpPr txBox="1"/>
              <p:nvPr/>
            </p:nvSpPr>
            <p:spPr>
              <a:xfrm>
                <a:off x="1543831" y="4496614"/>
                <a:ext cx="3535523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D80FAF8-87A1-C5B6-DEB4-86975D11B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31" y="4496614"/>
                <a:ext cx="3535523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69357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A8EF9-FE71-B4C0-1AC0-4CB290911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E1AA7-C941-D82F-C871-9EDF72EF0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FC9248C-D960-0FA6-BD5B-3FDC7D24626B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6A62F8B-91D9-A641-2AAC-7A25F9E4813E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6772626-44A8-6217-EB70-BD8F00AEC08B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8D59322-8A71-3311-142F-57AE1583785E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54690DA-457F-679F-8E40-DEBB5C8A7F85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8E7D29F6-E595-318A-306A-659DBA9B1708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4050DAD-07FE-AE65-FCB4-351CD251A231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387173CE-783C-77B9-F2A7-E615AE85F7C3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788E39A-518A-85CD-1815-DC49D81F0295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6166B76-561B-1BA4-858C-C95311B177AC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CB50DFAF-E816-E782-3FAD-233F5FAD4F7F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173DBAEC-3A56-D3CA-9019-ED789C36EEFB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8A227FF0-66DE-7CAA-7E2A-17E28384AA9A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399C9685-3B52-7561-CD67-B514CCFA731B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57829770-91C0-DBF5-20ED-610E7FCD9F0D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764478AD-9FBC-3FE1-E990-F921CEC1E965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CC081356-8D9D-F8A1-EBD9-5F2C6C711ED6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6DA232A-DDC6-6C68-EED2-D46228126D06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3B5A766F-EFBE-F467-012A-5D6F77A6FA4C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D717E5D5-B456-997C-14E2-7FD10BFD8FC6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4432228-F53A-99BA-F41F-1F9558734ABF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91C297B9-6696-9119-8F73-E6AF4AF81BA3}"/>
                  </a:ext>
                </a:extLst>
              </p:cNvPr>
              <p:cNvCxnSpPr>
                <a:cxnSpLocks/>
                <a:stCxn id="28" idx="2"/>
                <a:endCxn id="26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8C7B0665-253A-0827-58E3-BA07499DD98C}"/>
                  </a:ext>
                </a:extLst>
              </p:cNvPr>
              <p:cNvCxnSpPr>
                <a:cxnSpLocks/>
                <a:stCxn id="26" idx="2"/>
                <a:endCxn id="25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0DF0063-7820-35B3-A0B9-73E465C1D832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6E8331C5-429A-B6C2-1756-FD45FC8F0BAF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r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E18F54A-A1D7-F7CE-3509-CC92B142B36E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f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9C97F33-5EEF-CB3E-CE7B-C5064C103838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911A447-E1AD-E1DA-842B-5567DDE2FC98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9CD719D-8AFB-8BE7-525E-4D4CAA131AD7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D7CA6EA8-E608-7852-400C-B7CC14B1C418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44633C8-32D0-3ED5-4843-3012F38841BD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E043E8B8-343F-1A30-E5A5-F4124CC16C6E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29B0417-CEB9-E894-7B0C-1AE632B40AF9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A7AE994-98F8-61D7-E664-E2715D43A76B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A3F0E9-7374-4C6B-DCA0-FC61D2E00E3A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D1830A-9F11-D123-E445-1A5E6535763D}"/>
                  </a:ext>
                </a:extLst>
              </p:cNvPr>
              <p:cNvSpPr txBox="1"/>
              <p:nvPr/>
            </p:nvSpPr>
            <p:spPr>
              <a:xfrm>
                <a:off x="1543831" y="4496614"/>
                <a:ext cx="3535523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D1830A-9F11-D123-E445-1A5E65357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31" y="4496614"/>
                <a:ext cx="3535523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34A281B-46C1-883C-476A-1FC9AA51F231}"/>
              </a:ext>
            </a:extLst>
          </p:cNvPr>
          <p:cNvSpPr txBox="1"/>
          <p:nvPr/>
        </p:nvSpPr>
        <p:spPr>
          <a:xfrm>
            <a:off x="6646505" y="5258568"/>
            <a:ext cx="41241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how we eventually want these set when we “run” this machine.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598641-809C-FFF6-C0AE-45B7D5164B29}"/>
              </a:ext>
            </a:extLst>
          </p:cNvPr>
          <p:cNvCxnSpPr/>
          <p:nvPr/>
        </p:nvCxnSpPr>
        <p:spPr>
          <a:xfrm>
            <a:off x="5200262" y="5121176"/>
            <a:ext cx="1331167" cy="34656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55613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FA129-BB3A-78E7-4B3A-0AD108675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4BFC4-9EE1-27C2-25D1-377CBC7F0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C9027EA-4159-818D-9B75-037C6ACE2A60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7828C4D-82D6-5843-059E-BE1B6A36CC0B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6B6C50E-AF51-6D9B-F170-9BD56C29C80A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DA159C52-C17B-A77E-1299-AB8AD3AAECD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3A1DC13-28C8-47E1-D8DA-4C098A2A6C47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EDA26561-172D-90E2-7FD2-CFC0F34E5092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2D7A9F3E-D49E-DFDC-18C0-A0622C5D2785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85535CFE-AA8D-287D-99D1-43F003FF0B11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2645480-A30C-1B6C-000F-71C643B67361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FDBD8BBE-ED8E-5EAF-1690-FD35C9DFFE88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5F3B2CBA-A2C0-77C1-0AD1-9AC9CE0B5E33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D6EC37C-554A-DA92-0854-4813C943E977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50EBC4B8-C9DE-A0F1-0FF5-D93B46E6B919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F84CC600-C74E-3631-F194-2BA299E131A2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322456F2-3AAD-330B-F095-C3C82C4A923B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6C6A5421-368D-6425-0D78-12B0519AEDAC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5FFE9265-1D09-1BD3-C127-B4F206FFA44F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0A7BEDE1-98BA-9CB4-765C-333E90FD1A68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A87DC280-3932-1100-9167-83AD6BD44160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0AC2B917-ADEF-3DED-7E04-8510A5A276A5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03A3EEE-BDF0-6E18-CB7F-56FF35B890D2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DBFA6CC9-F628-E915-DE92-213995B9F926}"/>
                  </a:ext>
                </a:extLst>
              </p:cNvPr>
              <p:cNvCxnSpPr>
                <a:cxnSpLocks/>
                <a:stCxn id="28" idx="2"/>
                <a:endCxn id="26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3B397916-D6A3-3C12-7530-81611D0D1764}"/>
                  </a:ext>
                </a:extLst>
              </p:cNvPr>
              <p:cNvCxnSpPr>
                <a:cxnSpLocks/>
                <a:stCxn id="26" idx="2"/>
                <a:endCxn id="25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7BB6FD6-A1A6-34C9-E224-F807FA2467AD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5D09E8E-9122-EC5E-5032-CA7C5D997DE8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r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2D25E92-38EE-8DE9-9E53-0E1B63A06EC7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f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94431FEC-29CA-1CC0-B559-1A8FC2EE2E42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5E9BDBF3-F57E-0329-88C8-0C2EBE7084A3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5B6459D-E913-0306-711D-EF4C70A309D1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4394A04-23EF-98A3-2C72-A8175A8C03DE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7A9C926-53FF-00E3-A372-536ADA50AAD3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7A0B6ED-F688-86A3-4C89-5E125F188AD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950114C-F814-51F3-C64C-5B7125B5FAE4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1A7AC39-B749-D421-2BF6-BF0ABFE3D051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5A7F9E-073C-DBC3-9118-65BD8490E29A}"/>
              </a:ext>
            </a:extLst>
          </p:cNvPr>
          <p:cNvSpPr txBox="1"/>
          <p:nvPr/>
        </p:nvSpPr>
        <p:spPr>
          <a:xfrm>
            <a:off x="2646005" y="4048522"/>
            <a:ext cx="7235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Useful shorthand: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922ED7A-B526-F9B0-17D2-BE4C6D0EE8DA}"/>
                  </a:ext>
                </a:extLst>
              </p:cNvPr>
              <p:cNvSpPr txBox="1"/>
              <p:nvPr/>
            </p:nvSpPr>
            <p:spPr>
              <a:xfrm>
                <a:off x="2646005" y="4439431"/>
                <a:ext cx="7235889" cy="97116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2,1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4,1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5,1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6,1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7,1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8,1</m:t>
                              </m:r>
                            </m:sub>
                          </m:sSub>
                        </m:e>
                      </m:d>
                    </m:oMath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8,1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  …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922ED7A-B526-F9B0-17D2-BE4C6D0EE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005" y="4439431"/>
                <a:ext cx="7235889" cy="971163"/>
              </a:xfrm>
              <a:prstGeom prst="rect">
                <a:avLst/>
              </a:prstGeom>
              <a:blipFill>
                <a:blip r:embed="rId2"/>
                <a:stretch>
                  <a:fillRect b="-886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F62A506-0E15-0942-9022-D4CC573FF01A}"/>
              </a:ext>
            </a:extLst>
          </p:cNvPr>
          <p:cNvSpPr txBox="1"/>
          <p:nvPr/>
        </p:nvSpPr>
        <p:spPr>
          <a:xfrm>
            <a:off x="2646005" y="5636647"/>
            <a:ext cx="70531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now on, these SS variables tell us which state we are in at some step AND has terms for not being in all other states at the same time.</a:t>
            </a:r>
          </a:p>
        </p:txBody>
      </p:sp>
    </p:spTree>
    <p:extLst>
      <p:ext uri="{BB962C8B-B14F-4D97-AF65-F5344CB8AC3E}">
        <p14:creationId xmlns:p14="http://schemas.microsoft.com/office/powerpoint/2010/main" val="21024353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656C-FF0B-5FFC-7FA8-0D09CCA97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79A00-A817-85B2-8C34-5A818AB0C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E0CB801-C40B-1280-CDB7-CC0BCBC02265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B5AA2BB-2349-F83B-2774-B8CCCFD8CDB4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285E604-22E6-2154-2A2D-AF50FF8C64C3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72F82EA7-843C-1A97-9158-CE1E9521455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2CF9151-0B5A-62C8-2C22-5298F713C459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CCBB26AD-6B87-CBD7-021F-655661525C06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514138E4-AAE5-B7FC-DBA4-A9C7F9E5228B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140FE447-CF62-5E6D-ACED-1D749F534AA9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DC3D8F5-665B-F897-74A4-1F287ABF8BBD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BB7BDAF3-6586-1EB5-7324-1C18D78A6932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CAF6827-660E-465D-78EC-F6C39C5D363A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84680A3-F6B1-A83C-B04C-37F13F37C9B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3F2981D3-63E5-28DD-91DD-0CD83CCB0B39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FA007DF-3FB6-7906-1153-7AACB3D75D5D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8ECD5914-1D33-DF04-11CA-DD716BEFB402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C90B6808-45BD-11F5-3A32-5A5369DCBFFE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AA007DF3-7F9F-2FB1-E304-2E6E8E9ACD6D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913D3084-9A13-180B-0430-162B350EC564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07E84B9-3ADD-EBEB-1576-93BC90C6295C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28762D38-5889-885F-90A9-A743E356D428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0912FADA-8013-034B-52BD-958A25E5BBAB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2787AA05-485B-35C6-8F97-CA90D441FFFB}"/>
                  </a:ext>
                </a:extLst>
              </p:cNvPr>
              <p:cNvCxnSpPr>
                <a:cxnSpLocks/>
                <a:stCxn id="28" idx="2"/>
                <a:endCxn id="26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D0294315-CEFD-7349-68CF-79011E5849BB}"/>
                  </a:ext>
                </a:extLst>
              </p:cNvPr>
              <p:cNvCxnSpPr>
                <a:cxnSpLocks/>
                <a:stCxn id="26" idx="2"/>
                <a:endCxn id="25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AC14AD01-5007-A274-40D5-DFA32E051867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2CA01B08-D190-2CE0-7032-76A72F78EA2B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A276989-5736-E003-E67F-9400A3B8F625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786E816B-976F-0EDE-B984-5BA6A709421C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DE9999E-1590-CA25-92EB-ECD678DA3C70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37639BD3-9716-9CBE-278C-B9F169F918D8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B6DAFFA-4DE0-24AF-E61F-05D11D8A3199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7A048AD8-600C-DD29-4A85-835F40FAB68A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AC3131FA-2C51-8003-9F73-C7A58473C4B7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24708B9-4120-8D72-64DF-9B55FC8DBEEB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DE4FA83A-5A35-8791-A785-C21D7162E716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A3BA4D3-3294-C4A2-DB10-0F9BA610C5AE}"/>
                  </a:ext>
                </a:extLst>
              </p:cNvPr>
              <p:cNvSpPr txBox="1"/>
              <p:nvPr/>
            </p:nvSpPr>
            <p:spPr>
              <a:xfrm>
                <a:off x="2639010" y="4364354"/>
                <a:ext cx="2082281" cy="240578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1,4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,1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,4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,1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,4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,1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,4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,1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,4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,1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,4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,1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7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,4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,1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8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,4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A3BA4D3-3294-C4A2-DB10-0F9BA610C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9010" y="4364354"/>
                <a:ext cx="2082281" cy="2405787"/>
              </a:xfrm>
              <a:prstGeom prst="rect">
                <a:avLst/>
              </a:prstGeom>
              <a:blipFill>
                <a:blip r:embed="rId2"/>
                <a:stretch>
                  <a:fillRect b="-104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1B05E8-51C6-AB37-645C-BB14428AAE92}"/>
                  </a:ext>
                </a:extLst>
              </p:cNvPr>
              <p:cNvSpPr txBox="1"/>
              <p:nvPr/>
            </p:nvSpPr>
            <p:spPr>
              <a:xfrm>
                <a:off x="7366858" y="4705186"/>
                <a:ext cx="2082281" cy="96994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1B05E8-51C6-AB37-645C-BB14428AAE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6858" y="4705186"/>
                <a:ext cx="2082281" cy="969946"/>
              </a:xfrm>
              <a:prstGeom prst="rect">
                <a:avLst/>
              </a:prstGeom>
              <a:blipFill>
                <a:blip r:embed="rId3"/>
                <a:stretch>
                  <a:fillRect b="-256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DDB306BC-6257-D4B9-0C46-EBC0F140E5E1}"/>
              </a:ext>
            </a:extLst>
          </p:cNvPr>
          <p:cNvSpPr txBox="1"/>
          <p:nvPr/>
        </p:nvSpPr>
        <p:spPr>
          <a:xfrm>
            <a:off x="6684608" y="3985421"/>
            <a:ext cx="3482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Variables representing the input being a letter (a) or number (n)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D9945E-D161-DFA5-9FBF-1B27CF38651D}"/>
              </a:ext>
            </a:extLst>
          </p:cNvPr>
          <p:cNvSpPr txBox="1"/>
          <p:nvPr/>
        </p:nvSpPr>
        <p:spPr>
          <a:xfrm>
            <a:off x="6519868" y="5879073"/>
            <a:ext cx="3482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will be inserting these variables into our formula as we go!</a:t>
            </a:r>
          </a:p>
        </p:txBody>
      </p:sp>
    </p:spTree>
    <p:extLst>
      <p:ext uri="{BB962C8B-B14F-4D97-AF65-F5344CB8AC3E}">
        <p14:creationId xmlns:p14="http://schemas.microsoft.com/office/powerpoint/2010/main" val="35652683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F531-EF93-1CE0-1EBA-B7BEFE614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7F31E-D95F-9DD0-FC32-171D0392F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23169E-DD68-5D2B-33B2-90ACAC749A00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10DDF97-303E-580D-147C-C5D9A235CD31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5C91F6EC-F7C7-0595-7BA6-41892D7673C1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63AD143-440D-1386-22A9-0C8997D65F7A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A1541F5-6C49-CA17-3A63-83FD4E9F80DC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41A4655A-7350-2396-9670-7567AF5765D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D970293B-3912-A5FF-88E8-28A1B7E87400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6195DCC-27CF-1239-D5A7-E1D778C5AF5B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1040A16-5209-40B3-4749-870A51CD6B56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9668F2E0-7704-9E57-D49B-0EBE01F7AC93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CF5E0DA-F606-CA2C-F04E-70E838D7E4D7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60A0A3F-FCD0-47F1-E5A8-B6974AC7F185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B8917975-21BE-7047-01E5-4118C9C5CAB7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7C188FCA-94E1-DD44-14C3-3F942049E0E2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CC0B4187-EBF9-2FD4-02EC-6A2CD99FCE8E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B45F999-7400-E1E4-79D2-69D541E53AA0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D2EF493B-A95C-BCA9-B7A8-6279C5F6D2EF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2005607C-5D1A-FB0A-9484-A56260FF418B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927019FF-1405-6618-78EF-79DBB54BCFF5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5163A551-75F1-82C1-9576-2BDCCEA493C3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798BED8F-9CD6-F4BD-DA5D-BB00A5944B04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282285B7-EF67-434F-641C-4C22D629A601}"/>
                  </a:ext>
                </a:extLst>
              </p:cNvPr>
              <p:cNvCxnSpPr>
                <a:cxnSpLocks/>
                <a:stCxn id="28" idx="2"/>
                <a:endCxn id="26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BC9E8DFA-2492-DFCF-EF4B-C578107FC394}"/>
                  </a:ext>
                </a:extLst>
              </p:cNvPr>
              <p:cNvCxnSpPr>
                <a:cxnSpLocks/>
                <a:stCxn id="26" idx="2"/>
                <a:endCxn id="25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529B078-2417-90E8-717D-F7158C38490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FEAB4C3-8FF4-A2C7-AD93-6E2E50ED50CD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C75F74E-6CEE-5B75-797A-9EAD33FA0002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9240AB76-0D65-12D5-55BE-7BF98618A870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5118C9A9-A339-AA87-EDB6-CB8B315C24DF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A48F340-DD59-0FE1-BA8E-593B50F8C828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D2617F6-FF20-B742-6C65-71C8CE190148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6B09669-3547-2624-D561-F98312212CFA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9167836-611B-AAB8-42D6-FBB23FE7EE4A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3270F3-4412-6F67-F711-B82080AE655D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C0D31DE-6F7A-8919-7E2D-1F1AB3C48D24}"/>
                  </a:ext>
                </a:extLst>
              </p:cNvPr>
              <p:cNvSpPr txBox="1"/>
              <p:nvPr/>
            </p:nvSpPr>
            <p:spPr>
              <a:xfrm>
                <a:off x="2995127" y="4513641"/>
                <a:ext cx="6799008" cy="3915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)∧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i="1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i="1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 …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C0D31DE-6F7A-8919-7E2D-1F1AB3C48D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5127" y="4513641"/>
                <a:ext cx="6799008" cy="391582"/>
              </a:xfrm>
              <a:prstGeom prst="rect">
                <a:avLst/>
              </a:prstGeom>
              <a:blipFill>
                <a:blip r:embed="rId2"/>
                <a:stretch>
                  <a:fillRect b="-909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1B51F5AE-481A-32E0-2D89-5369E837C0F1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4D720C-9FD9-59E0-1DCB-C9C60391E6BE}"/>
              </a:ext>
            </a:extLst>
          </p:cNvPr>
          <p:cNvSpPr txBox="1"/>
          <p:nvPr/>
        </p:nvSpPr>
        <p:spPr>
          <a:xfrm>
            <a:off x="2705877" y="5300130"/>
            <a:ext cx="77787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start in state 1 on first step </a:t>
            </a:r>
            <a:r>
              <a:rPr lang="en-US" dirty="0"/>
              <a:t>and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input string (“</a:t>
            </a: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mrf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”) has all three characters being letters (a) and NOT numbers (n)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241774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82A65-7DCF-86EB-BF7D-4FBD4A48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F5817-9EA5-E78F-3541-5038AC84F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Reduction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1FA1D-0F68-A46B-15A2-2CCA86129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768541"/>
          </a:xfrm>
        </p:spPr>
        <p:txBody>
          <a:bodyPr/>
          <a:lstStyle/>
          <a:p>
            <a:r>
              <a:rPr lang="en-US" dirty="0"/>
              <a:t>Any solvable program has a program</a:t>
            </a:r>
          </a:p>
          <a:p>
            <a:r>
              <a:rPr lang="en-US" dirty="0"/>
              <a:t>Looks like a DFA</a:t>
            </a:r>
          </a:p>
          <a:p>
            <a:r>
              <a:rPr lang="en-US" dirty="0"/>
              <a:t>Convert that DFA into a SAT Expression</a:t>
            </a:r>
          </a:p>
          <a:p>
            <a:pPr lvl="1"/>
            <a:r>
              <a:rPr lang="en-US" dirty="0"/>
              <a:t>Thus, instead of running the program to get output we can solve the SAT instance instead</a:t>
            </a:r>
          </a:p>
          <a:p>
            <a:pPr lvl="1"/>
            <a:r>
              <a:rPr lang="en-US" dirty="0"/>
              <a:t>Do example from other slides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21550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FD944-FC29-E35D-7531-44A9C9E03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CF527-1BAD-42B7-22AE-B055A95EF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Finish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73CF7-586F-BA14-6DE4-4D586DA006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768541"/>
          </a:xfrm>
        </p:spPr>
        <p:txBody>
          <a:bodyPr/>
          <a:lstStyle/>
          <a:p>
            <a:r>
              <a:rPr lang="en-US" dirty="0"/>
              <a:t>Put names on the complexity classes.</a:t>
            </a:r>
          </a:p>
          <a:p>
            <a:r>
              <a:rPr lang="en-US" dirty="0"/>
              <a:t>Discuss NP-Completeness a little bit</a:t>
            </a:r>
          </a:p>
          <a:p>
            <a:r>
              <a:rPr lang="en-US" dirty="0"/>
              <a:t>Talk a bit about how Turing Machines have similar conversion.</a:t>
            </a:r>
          </a:p>
          <a:p>
            <a:r>
              <a:rPr lang="en-US" dirty="0"/>
              <a:t>Talk a little bit abut how lots of </a:t>
            </a:r>
            <a:r>
              <a:rPr lang="en-US"/>
              <a:t>NP-Complete problems exist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65693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43576</TotalTime>
  <Words>2961</Words>
  <Application>Microsoft Macintosh PowerPoint</Application>
  <PresentationFormat>Widescreen</PresentationFormat>
  <Paragraphs>782</Paragraphs>
  <Slides>54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Arial</vt:lpstr>
      <vt:lpstr>Calibri</vt:lpstr>
      <vt:lpstr>Cambria Math</vt:lpstr>
      <vt:lpstr>Courier New</vt:lpstr>
      <vt:lpstr>Tw Cen MT</vt:lpstr>
      <vt:lpstr>Circuit</vt:lpstr>
      <vt:lpstr>A brief Introduction to NP-Completeness</vt:lpstr>
      <vt:lpstr>Roadmap: Goals for this deck</vt:lpstr>
      <vt:lpstr>Reduction Reminders</vt:lpstr>
      <vt:lpstr>Reminder: Reductions</vt:lpstr>
      <vt:lpstr>Reminder: Reductions</vt:lpstr>
      <vt:lpstr>Complexity Classes</vt:lpstr>
      <vt:lpstr>Finding the Hardest Problems</vt:lpstr>
      <vt:lpstr>The class P</vt:lpstr>
      <vt:lpstr>The class P</vt:lpstr>
      <vt:lpstr>NP</vt:lpstr>
      <vt:lpstr>NP: Quick Verification</vt:lpstr>
      <vt:lpstr>NP: Quick Verification</vt:lpstr>
      <vt:lpstr>NP: Quick Verification</vt:lpstr>
      <vt:lpstr>Back to our Diagram</vt:lpstr>
      <vt:lpstr>NP-Hard</vt:lpstr>
      <vt:lpstr>NP-Hard</vt:lpstr>
      <vt:lpstr>NP-Complete</vt:lpstr>
      <vt:lpstr>NP-Hard</vt:lpstr>
      <vt:lpstr>PowerPoint Presentation</vt:lpstr>
      <vt:lpstr>Satisfiability</vt:lpstr>
      <vt:lpstr>Satisfiability (SAT)</vt:lpstr>
      <vt:lpstr>Satisfiability (SAT)</vt:lpstr>
      <vt:lpstr>PowerPoint Presentation</vt:lpstr>
      <vt:lpstr>PowerPoint Presentation</vt:lpstr>
      <vt:lpstr>Computer Programs!</vt:lpstr>
      <vt:lpstr>Quick Roadmap</vt:lpstr>
      <vt:lpstr>Simple Program Example</vt:lpstr>
      <vt:lpstr>Python Code</vt:lpstr>
      <vt:lpstr>A different Way of “Coding” This…</vt:lpstr>
      <vt:lpstr>All DFA can be reduced to SAT</vt:lpstr>
      <vt:lpstr>All DFA can be reduced to SAT</vt:lpstr>
      <vt:lpstr>All DFA can be reduced to SAT</vt:lpstr>
      <vt:lpstr>All DFA can be reduced to SAT</vt:lpstr>
      <vt:lpstr>All DFA can be reduced to SAT</vt:lpstr>
      <vt:lpstr>All DFA can be reduced to SAT</vt:lpstr>
      <vt:lpstr>All DFA can be reduced to SAT</vt:lpstr>
      <vt:lpstr>A different Way of “Coding” This…</vt:lpstr>
      <vt:lpstr>Python Code</vt:lpstr>
      <vt:lpstr>Aside: More Machine Types</vt:lpstr>
      <vt:lpstr>Aside: More Machine Types</vt:lpstr>
      <vt:lpstr>Uva ID Detection with NFA</vt:lpstr>
      <vt:lpstr>Reduction of DFA to Satisfiability</vt:lpstr>
      <vt:lpstr>Reduction Idea</vt:lpstr>
      <vt:lpstr>Convert this DFA into a formula</vt:lpstr>
      <vt:lpstr>Important Variables!</vt:lpstr>
      <vt:lpstr>Important Variables!</vt:lpstr>
      <vt:lpstr>Important Variables!</vt:lpstr>
      <vt:lpstr>Important Variables!</vt:lpstr>
      <vt:lpstr>Important Variables!</vt:lpstr>
      <vt:lpstr>Important Variables!</vt:lpstr>
      <vt:lpstr>Important Variables!</vt:lpstr>
      <vt:lpstr>The conversion</vt:lpstr>
      <vt:lpstr>Reduction Time</vt:lpstr>
      <vt:lpstr>Finish 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261</cp:revision>
  <dcterms:created xsi:type="dcterms:W3CDTF">2023-02-24T14:15:53Z</dcterms:created>
  <dcterms:modified xsi:type="dcterms:W3CDTF">2025-10-27T16:37:21Z</dcterms:modified>
</cp:coreProperties>
</file>