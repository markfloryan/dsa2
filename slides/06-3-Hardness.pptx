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40"/>
  </p:notesMasterIdLst>
  <p:sldIdLst>
    <p:sldId id="256" r:id="rId2"/>
    <p:sldId id="786" r:id="rId3"/>
    <p:sldId id="867" r:id="rId4"/>
    <p:sldId id="866" r:id="rId5"/>
    <p:sldId id="868" r:id="rId6"/>
    <p:sldId id="869" r:id="rId7"/>
    <p:sldId id="470" r:id="rId8"/>
    <p:sldId id="871" r:id="rId9"/>
    <p:sldId id="872" r:id="rId10"/>
    <p:sldId id="819" r:id="rId11"/>
    <p:sldId id="873" r:id="rId12"/>
    <p:sldId id="874" r:id="rId13"/>
    <p:sldId id="875" r:id="rId14"/>
    <p:sldId id="820" r:id="rId15"/>
    <p:sldId id="821" r:id="rId16"/>
    <p:sldId id="822" r:id="rId17"/>
    <p:sldId id="823" r:id="rId18"/>
    <p:sldId id="824" r:id="rId19"/>
    <p:sldId id="876" r:id="rId20"/>
    <p:sldId id="870" r:id="rId21"/>
    <p:sldId id="834" r:id="rId22"/>
    <p:sldId id="878" r:id="rId23"/>
    <p:sldId id="879" r:id="rId24"/>
    <p:sldId id="880" r:id="rId25"/>
    <p:sldId id="877" r:id="rId26"/>
    <p:sldId id="881" r:id="rId27"/>
    <p:sldId id="882" r:id="rId28"/>
    <p:sldId id="883" r:id="rId29"/>
    <p:sldId id="884" r:id="rId30"/>
    <p:sldId id="886" r:id="rId31"/>
    <p:sldId id="885" r:id="rId32"/>
    <p:sldId id="887" r:id="rId33"/>
    <p:sldId id="888" r:id="rId34"/>
    <p:sldId id="889" r:id="rId35"/>
    <p:sldId id="890" r:id="rId36"/>
    <p:sldId id="891" r:id="rId37"/>
    <p:sldId id="790" r:id="rId38"/>
    <p:sldId id="791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97"/>
    <p:restoredTop sz="94794"/>
  </p:normalViewPr>
  <p:slideViewPr>
    <p:cSldViewPr snapToGrid="0" snapToObjects="1">
      <p:cViewPr varScale="1">
        <p:scale>
          <a:sx n="137" d="100"/>
          <a:sy n="137" d="100"/>
        </p:scale>
        <p:origin x="36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10/20/25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7D5C5133-F893-F14C-BA08-1EC9586E074E}" type="datetime1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6FB50B-1FD8-5E46-8B10-0DF06EAB94B0}" type="datetime1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85F7E1-7C38-2D4D-8C00-4127E00B0B48}" type="datetime1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A6956-3551-B545-9486-3BB7F190A0D2}" type="datetime1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6C75B-25A0-6544-8302-D042197E05AD}" type="datetime1">
              <a:rPr lang="en-US" smtClean="0"/>
              <a:t>10/20/25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34C7BB-BA6C-1645-9DAD-75B2F2C54F5F}" type="datetime1">
              <a:rPr lang="en-US" smtClean="0"/>
              <a:t>10/20/25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B4012-384C-9A46-A1BB-C4ECB3A515E2}" type="datetime1">
              <a:rPr lang="en-US" smtClean="0"/>
              <a:t>10/20/25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0591FD-BB3A-3E45-BDDF-440A7F347371}" type="datetime1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97735C-1C73-1945-A987-CC3C33F7E070}" type="datetime1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42846-DDBA-4B41-AB95-6CC7486A9594}" type="datetime1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347C4-88DA-C446-8E50-9CCD1CDD5CFD}" type="datetime1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B3FC4-8F4E-0048-9E6E-571457D9347D}" type="datetime1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6FB70-2694-734B-BD00-3E9B1243DA1B}" type="datetime1">
              <a:rPr lang="en-US" smtClean="0"/>
              <a:t>10/20/25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36664F-3BD9-3D47-89E3-C16CBAA67B09}" type="datetime1">
              <a:rPr lang="en-US" smtClean="0"/>
              <a:t>10/20/25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30052-022C-594D-BCC4-41E81B10B173}" type="datetime1">
              <a:rPr lang="en-US" smtClean="0"/>
              <a:t>10/20/25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A53BD-D470-4D45-A2F4-FDA414AF0BDC}" type="datetime1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ECF03-F18B-C94B-8BE4-E6A6733BA604}" type="datetime1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D995C4-FA21-394A-8B12-BECDBE77E1C6}" type="datetime1">
              <a:rPr lang="en-US" smtClean="0"/>
              <a:t>10/20/25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A brief Introduction to NP-Completeness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Data Structures and Algorithms 2</a:t>
            </a:r>
            <a:br>
              <a:rPr lang="en-US" dirty="0"/>
            </a:br>
            <a:r>
              <a:rPr lang="en-US" dirty="0"/>
              <a:t>Mark Floryan and Aaron Bloomfield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33C82-FB1E-9B41-9C6B-87C336C49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326780"/>
            <a:ext cx="9905998" cy="740019"/>
          </a:xfrm>
        </p:spPr>
        <p:txBody>
          <a:bodyPr/>
          <a:lstStyle/>
          <a:p>
            <a:pPr algn="ctr"/>
            <a:r>
              <a:rPr lang="en-US" dirty="0"/>
              <a:t>Roadmap: Goals for this deck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9E30A-8B11-F04A-8AA0-33FCB281CF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3843" y="1634227"/>
            <a:ext cx="7304313" cy="950560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 anchorCtr="0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Reductions help us establish one problem is at least as hard as another. Can we find the “hardest problems”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E635573-5EE1-B1C1-A13F-4BBFE81B17FC}"/>
              </a:ext>
            </a:extLst>
          </p:cNvPr>
          <p:cNvSpPr txBox="1">
            <a:spLocks/>
          </p:cNvSpPr>
          <p:nvPr/>
        </p:nvSpPr>
        <p:spPr>
          <a:xfrm>
            <a:off x="2443843" y="2953720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What do these hard problems look like and how do we know that they are the “hardest” in some set of problems.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42C9E4A-13BD-F16C-BD0B-73B4F7C5BA31}"/>
              </a:ext>
            </a:extLst>
          </p:cNvPr>
          <p:cNvSpPr txBox="1">
            <a:spLocks/>
          </p:cNvSpPr>
          <p:nvPr/>
        </p:nvSpPr>
        <p:spPr>
          <a:xfrm>
            <a:off x="2443843" y="4273213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Along the way: A brief introduction to NP-Complete problems.</a:t>
            </a:r>
          </a:p>
        </p:txBody>
      </p:sp>
    </p:spTree>
    <p:extLst>
      <p:ext uri="{BB962C8B-B14F-4D97-AF65-F5344CB8AC3E}">
        <p14:creationId xmlns:p14="http://schemas.microsoft.com/office/powerpoint/2010/main" val="3800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6F863-B5F4-DD9E-DF26-EE6DE9E91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Reduction Reminders</a:t>
            </a:r>
          </a:p>
        </p:txBody>
      </p:sp>
    </p:spTree>
    <p:extLst>
      <p:ext uri="{BB962C8B-B14F-4D97-AF65-F5344CB8AC3E}">
        <p14:creationId xmlns:p14="http://schemas.microsoft.com/office/powerpoint/2010/main" val="204999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89B9D-2CE9-5A01-9FED-A71AE382E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500E6-23F7-3E76-D64B-AAA694E43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517" y="269469"/>
            <a:ext cx="10334307" cy="57236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Reminder: Reductions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1854313-B84E-7D72-24B8-D880992F6E8B}"/>
              </a:ext>
            </a:extLst>
          </p:cNvPr>
          <p:cNvGrpSpPr/>
          <p:nvPr/>
        </p:nvGrpSpPr>
        <p:grpSpPr>
          <a:xfrm>
            <a:off x="65032" y="1218531"/>
            <a:ext cx="7583914" cy="4478537"/>
            <a:chOff x="619432" y="1385760"/>
            <a:chExt cx="7583914" cy="4478537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A2C5D605-4969-40F5-67A9-6E8F6C1C74CD}"/>
                </a:ext>
              </a:extLst>
            </p:cNvPr>
            <p:cNvSpPr/>
            <p:nvPr/>
          </p:nvSpPr>
          <p:spPr>
            <a:xfrm>
              <a:off x="5123701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Minimum Vertex Cover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94669889-41CF-B38E-79C1-86401C4CC8CC}"/>
                </a:ext>
              </a:extLst>
            </p:cNvPr>
            <p:cNvSpPr/>
            <p:nvPr/>
          </p:nvSpPr>
          <p:spPr>
            <a:xfrm>
              <a:off x="1620288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Maximum Independent Set</a:t>
              </a: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B2CE132D-23E8-F8EE-60D2-AFBD22033406}"/>
                </a:ext>
              </a:extLst>
            </p:cNvPr>
            <p:cNvCxnSpPr>
              <a:cxnSpLocks/>
            </p:cNvCxnSpPr>
            <p:nvPr/>
          </p:nvCxnSpPr>
          <p:spPr>
            <a:xfrm>
              <a:off x="3991905" y="2454957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6C15EF8-D107-F8CF-C0D7-1670A341FF9C}"/>
                </a:ext>
              </a:extLst>
            </p:cNvPr>
            <p:cNvSpPr txBox="1"/>
            <p:nvPr/>
          </p:nvSpPr>
          <p:spPr>
            <a:xfrm>
              <a:off x="3313499" y="1787410"/>
              <a:ext cx="23330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Do nothing to convert</a:t>
              </a:r>
            </a:p>
          </p:txBody>
        </p: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D3423DD2-75D2-185C-5620-2195E1AC847A}"/>
                </a:ext>
              </a:extLst>
            </p:cNvPr>
            <p:cNvCxnSpPr>
              <a:cxnSpLocks/>
            </p:cNvCxnSpPr>
            <p:nvPr/>
          </p:nvCxnSpPr>
          <p:spPr>
            <a:xfrm>
              <a:off x="6231738" y="3450178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40A0809-8B00-5EBD-FA8C-7C13F5BAA499}"/>
                </a:ext>
              </a:extLst>
            </p:cNvPr>
            <p:cNvSpPr txBox="1"/>
            <p:nvPr/>
          </p:nvSpPr>
          <p:spPr>
            <a:xfrm>
              <a:off x="6239626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MVC algorithm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485E36A-0BBC-88F2-9557-EE3A544CB487}"/>
                </a:ext>
              </a:extLst>
            </p:cNvPr>
            <p:cNvSpPr/>
            <p:nvPr/>
          </p:nvSpPr>
          <p:spPr>
            <a:xfrm>
              <a:off x="5123701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f = ??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flow values on edges</a:t>
              </a:r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F2D4E553-883A-707B-7293-493B644AE3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19337" y="4863968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E0CB0B25-14A9-D3A3-BA87-255836837DA1}"/>
                </a:ext>
              </a:extLst>
            </p:cNvPr>
            <p:cNvSpPr/>
            <p:nvPr/>
          </p:nvSpPr>
          <p:spPr>
            <a:xfrm>
              <a:off x="1620287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Matches that can be made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A858908E-CD89-76DA-6BD8-298466DB38F0}"/>
                </a:ext>
              </a:extLst>
            </p:cNvPr>
            <p:cNvSpPr txBox="1"/>
            <p:nvPr/>
          </p:nvSpPr>
          <p:spPr>
            <a:xfrm>
              <a:off x="3320271" y="4016779"/>
              <a:ext cx="233306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Take complement of nodes in solution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34379B7C-873F-6EA4-2AA4-BE6B407DA536}"/>
                    </a:ext>
                  </a:extLst>
                </p:cNvPr>
                <p:cNvSpPr txBox="1"/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34379B7C-873F-6EA4-2AA4-BE6B407DA5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B230E4C3-C9B2-04A7-07CD-659497C426B2}"/>
                    </a:ext>
                  </a:extLst>
                </p:cNvPr>
                <p:cNvSpPr txBox="1"/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B230E4C3-C9B2-04A7-07CD-659497C426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D9DC4F7-ACC7-6EDC-3EBD-3BB9008A1D5A}"/>
                    </a:ext>
                  </a:extLst>
                </p:cNvPr>
                <p:cNvSpPr txBox="1"/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D9DC4F7-ACC7-6EDC-3EBD-3BB9008A1D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DAD8E7B-0FE5-6728-EC83-7A223E9072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04589" y="2885053"/>
              <a:ext cx="97033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AD805E4-70A9-51BB-EB15-1D2A6C335078}"/>
                    </a:ext>
                  </a:extLst>
                </p:cNvPr>
                <p:cNvSpPr txBox="1"/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AD805E4-70A9-51BB-EB15-1D2A6C3350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CEB3A717-8F66-48D0-5A7C-CA0D5E1B58F3}"/>
                </a:ext>
              </a:extLst>
            </p:cNvPr>
            <p:cNvCxnSpPr>
              <a:cxnSpLocks/>
            </p:cNvCxnSpPr>
            <p:nvPr/>
          </p:nvCxnSpPr>
          <p:spPr>
            <a:xfrm>
              <a:off x="2630674" y="3450176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810EDB5-9200-F62D-C9AF-1E1EBB54F1EE}"/>
                </a:ext>
              </a:extLst>
            </p:cNvPr>
            <p:cNvSpPr txBox="1"/>
            <p:nvPr/>
          </p:nvSpPr>
          <p:spPr>
            <a:xfrm>
              <a:off x="1391370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MIS algorithm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CE8C4A8-084E-6474-AF11-C693AA710671}"/>
                </a:ext>
              </a:extLst>
            </p:cNvPr>
            <p:cNvCxnSpPr>
              <a:cxnSpLocks/>
            </p:cNvCxnSpPr>
            <p:nvPr/>
          </p:nvCxnSpPr>
          <p:spPr>
            <a:xfrm>
              <a:off x="4035295" y="5259715"/>
              <a:ext cx="95117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47D78F2B-40F3-E1C8-8B2A-B3A387730BA2}"/>
              </a:ext>
            </a:extLst>
          </p:cNvPr>
          <p:cNvSpPr txBox="1"/>
          <p:nvPr/>
        </p:nvSpPr>
        <p:spPr>
          <a:xfrm>
            <a:off x="7825438" y="1131754"/>
            <a:ext cx="367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Reduction Facts: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2E945-0CED-A7BD-31A7-2447A17B10D3}"/>
                  </a:ext>
                </a:extLst>
              </p:cNvPr>
              <p:cNvSpPr txBox="1"/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Written as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complexity of conversion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482E945-0CED-A7BD-31A7-2447A17B10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blipFill>
                <a:blip r:embed="rId6"/>
                <a:stretch>
                  <a:fillRect l="-1031" t="-3636" b="-1272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A5D5E4F-B2AB-B0E5-4D20-428EEF082EBF}"/>
                  </a:ext>
                </a:extLst>
              </p:cNvPr>
              <p:cNvSpPr txBox="1"/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Establishes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at least as hard as A. Difficulty is equal if reduction exists in both directions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A5D5E4F-B2AB-B0E5-4D20-428EEF082E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blipFill>
                <a:blip r:embed="rId7"/>
                <a:stretch>
                  <a:fillRect l="-1031" t="-1333" b="-9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D34BBFB-C803-8FF6-E5E6-CC4B72ABF78E}"/>
              </a:ext>
            </a:extLst>
          </p:cNvPr>
          <p:cNvSpPr txBox="1"/>
          <p:nvPr/>
        </p:nvSpPr>
        <p:spPr>
          <a:xfrm>
            <a:off x="7825438" y="4342555"/>
            <a:ext cx="3672962" cy="92333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Can be used to establish which problems are the </a:t>
            </a:r>
            <a:r>
              <a:rPr lang="en-US" b="1" i="1" u="sng" dirty="0">
                <a:solidFill>
                  <a:sysClr val="windowText" lastClr="000000"/>
                </a:solidFill>
              </a:rPr>
              <a:t>harder than huge numbers of other problems</a:t>
            </a:r>
            <a:r>
              <a:rPr lang="en-US" dirty="0">
                <a:solidFill>
                  <a:sysClr val="windowText" lastClr="000000"/>
                </a:solidFill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9130558-1AE9-CCDE-44FC-31913F8E5CF3}"/>
                  </a:ext>
                </a:extLst>
              </p:cNvPr>
              <p:cNvSpPr txBox="1"/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Converstion (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) needs to be faster than the algorithm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9130558-1AE9-CCDE-44FC-31913F8E5C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blipFill>
                <a:blip r:embed="rId8"/>
                <a:stretch>
                  <a:fillRect l="-1031" t="-3774" r="-1031" b="-1320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5805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27794-F11E-B10B-4235-4012CF323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CFB1E-819B-CD88-5855-7579C0A1A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517" y="269469"/>
            <a:ext cx="10334307" cy="572368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Reminder: Reductions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6F2DD1A-F1B3-043C-975C-DFB97546290F}"/>
              </a:ext>
            </a:extLst>
          </p:cNvPr>
          <p:cNvGrpSpPr/>
          <p:nvPr/>
        </p:nvGrpSpPr>
        <p:grpSpPr>
          <a:xfrm>
            <a:off x="65032" y="1218531"/>
            <a:ext cx="7583914" cy="4478537"/>
            <a:chOff x="619432" y="1385760"/>
            <a:chExt cx="7583914" cy="4478537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BAAEDC0-ABB7-6DA1-49A5-EBDA0E6A3B1B}"/>
                </a:ext>
              </a:extLst>
            </p:cNvPr>
            <p:cNvSpPr/>
            <p:nvPr/>
          </p:nvSpPr>
          <p:spPr>
            <a:xfrm>
              <a:off x="5123701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Minimum Vertex Cover</a:t>
              </a:r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A8BFD8FA-0054-4978-EC86-07BAA4412BB2}"/>
                </a:ext>
              </a:extLst>
            </p:cNvPr>
            <p:cNvSpPr/>
            <p:nvPr/>
          </p:nvSpPr>
          <p:spPr>
            <a:xfrm>
              <a:off x="1620288" y="2175128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Maximum Independent Set</a:t>
              </a: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E852B31-BB8C-AB9C-0065-D7809D30E99B}"/>
                </a:ext>
              </a:extLst>
            </p:cNvPr>
            <p:cNvCxnSpPr>
              <a:cxnSpLocks/>
            </p:cNvCxnSpPr>
            <p:nvPr/>
          </p:nvCxnSpPr>
          <p:spPr>
            <a:xfrm>
              <a:off x="3991905" y="2454957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27F562D-F281-8E71-44BF-A9AD53752158}"/>
                </a:ext>
              </a:extLst>
            </p:cNvPr>
            <p:cNvSpPr txBox="1"/>
            <p:nvPr/>
          </p:nvSpPr>
          <p:spPr>
            <a:xfrm>
              <a:off x="3313499" y="1787410"/>
              <a:ext cx="23330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Do nothing to convert</a:t>
              </a:r>
            </a:p>
          </p:txBody>
        </p: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52063873-9E34-A5CE-4107-3133E6274469}"/>
                </a:ext>
              </a:extLst>
            </p:cNvPr>
            <p:cNvCxnSpPr>
              <a:cxnSpLocks/>
            </p:cNvCxnSpPr>
            <p:nvPr/>
          </p:nvCxnSpPr>
          <p:spPr>
            <a:xfrm>
              <a:off x="6231738" y="3450178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BFD4DE6-3E0F-4FA1-C5FD-BC744AB437F8}"/>
                </a:ext>
              </a:extLst>
            </p:cNvPr>
            <p:cNvSpPr txBox="1"/>
            <p:nvPr/>
          </p:nvSpPr>
          <p:spPr>
            <a:xfrm>
              <a:off x="6239626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MVC algorithm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E05202C7-0441-8841-71EF-A2913CFA1500}"/>
                </a:ext>
              </a:extLst>
            </p:cNvPr>
            <p:cNvSpPr/>
            <p:nvPr/>
          </p:nvSpPr>
          <p:spPr>
            <a:xfrm>
              <a:off x="5123701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f = ??</a:t>
              </a:r>
            </a:p>
            <a:p>
              <a:pPr algn="ctr"/>
              <a:r>
                <a:rPr lang="en-US" dirty="0">
                  <a:solidFill>
                    <a:schemeClr val="bg1"/>
                  </a:solidFill>
                </a:rPr>
                <a:t>flow values on edges</a:t>
              </a:r>
            </a:p>
          </p:txBody>
        </p: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C8715067-7AB7-40AC-FDE6-A654A85F93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19337" y="4863968"/>
              <a:ext cx="99777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9D2F93C5-2D62-2AF7-D6DA-532AC0A00266}"/>
                </a:ext>
              </a:extLst>
            </p:cNvPr>
            <p:cNvSpPr/>
            <p:nvPr/>
          </p:nvSpPr>
          <p:spPr>
            <a:xfrm>
              <a:off x="1620287" y="4576765"/>
              <a:ext cx="2216075" cy="1105348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Matches that can be made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584B658-980A-806F-640A-472A2EBA24E5}"/>
                </a:ext>
              </a:extLst>
            </p:cNvPr>
            <p:cNvSpPr txBox="1"/>
            <p:nvPr/>
          </p:nvSpPr>
          <p:spPr>
            <a:xfrm>
              <a:off x="3320271" y="4016779"/>
              <a:ext cx="233306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Take complement of nodes in solution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71DDD3D-B722-1EDF-08B6-9F4807694BA3}"/>
                    </a:ext>
                  </a:extLst>
                </p:cNvPr>
                <p:cNvSpPr txBox="1"/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71DDD3D-B722-1EDF-08B6-9F4807694B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5295" y="1385760"/>
                  <a:ext cx="720069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5C1F4444-4C98-7631-021A-D413F4F07AAF}"/>
                    </a:ext>
                  </a:extLst>
                </p:cNvPr>
                <p:cNvSpPr txBox="1"/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5C1F4444-4C98-7631-021A-D413F4F07A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9776" y="3743954"/>
                  <a:ext cx="86357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B108A32-681E-063C-227F-7165EE1F1923}"/>
                    </a:ext>
                  </a:extLst>
                </p:cNvPr>
                <p:cNvSpPr txBox="1"/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b="0" i="1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(1)</m:t>
                        </m:r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B108A32-681E-063C-227F-7165EE1F19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4935" y="5494965"/>
                  <a:ext cx="72006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414CBEB-52B0-FE3E-49EF-BAC6EA922B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04589" y="2885053"/>
              <a:ext cx="97033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ED262A8A-26A7-A4D1-797B-B29594BE6180}"/>
                    </a:ext>
                  </a:extLst>
                </p:cNvPr>
                <p:cNvSpPr txBox="1"/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5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accent5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??</m:t>
                            </m:r>
                          </m:e>
                        </m:d>
                      </m:oMath>
                    </m:oMathPara>
                  </a14:m>
                  <a:endParaRPr lang="en-US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ED262A8A-26A7-A4D1-797B-B29594BE61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9432" y="3716966"/>
                  <a:ext cx="86357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3933238-82AA-EEF2-5D10-B789B6788DCB}"/>
                </a:ext>
              </a:extLst>
            </p:cNvPr>
            <p:cNvCxnSpPr>
              <a:cxnSpLocks/>
            </p:cNvCxnSpPr>
            <p:nvPr/>
          </p:nvCxnSpPr>
          <p:spPr>
            <a:xfrm>
              <a:off x="2630674" y="3450176"/>
              <a:ext cx="0" cy="956887"/>
            </a:xfrm>
            <a:prstGeom prst="straightConnector1">
              <a:avLst/>
            </a:prstGeom>
            <a:ln>
              <a:solidFill>
                <a:schemeClr val="tx1">
                  <a:lumMod val="9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3B2DE3F-D2EF-49F2-D20C-41E818EC9C31}"/>
                </a:ext>
              </a:extLst>
            </p:cNvPr>
            <p:cNvSpPr txBox="1"/>
            <p:nvPr/>
          </p:nvSpPr>
          <p:spPr>
            <a:xfrm>
              <a:off x="1391370" y="3605455"/>
              <a:ext cx="12185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</a:schemeClr>
                  </a:solidFill>
                </a:rPr>
                <a:t>Run MIS algorithm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8A3B4803-1C10-9B8E-48DC-A5FE3574A445}"/>
                </a:ext>
              </a:extLst>
            </p:cNvPr>
            <p:cNvCxnSpPr>
              <a:cxnSpLocks/>
            </p:cNvCxnSpPr>
            <p:nvPr/>
          </p:nvCxnSpPr>
          <p:spPr>
            <a:xfrm>
              <a:off x="4035295" y="5259715"/>
              <a:ext cx="95117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7FCE9B6B-8C03-841C-AE9A-EDB93E2DDF66}"/>
              </a:ext>
            </a:extLst>
          </p:cNvPr>
          <p:cNvSpPr txBox="1"/>
          <p:nvPr/>
        </p:nvSpPr>
        <p:spPr>
          <a:xfrm>
            <a:off x="7328638" y="5942200"/>
            <a:ext cx="38817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So…can we find the hardest problems that computers need to solve?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4EF2268-7855-895E-9B30-71C4D8D033AF}"/>
              </a:ext>
            </a:extLst>
          </p:cNvPr>
          <p:cNvCxnSpPr>
            <a:cxnSpLocks/>
          </p:cNvCxnSpPr>
          <p:nvPr/>
        </p:nvCxnSpPr>
        <p:spPr>
          <a:xfrm flipV="1">
            <a:off x="8373600" y="5385600"/>
            <a:ext cx="266400" cy="5566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978BA15-2AD4-4FF4-2B5D-E31ABF5081B1}"/>
              </a:ext>
            </a:extLst>
          </p:cNvPr>
          <p:cNvSpPr txBox="1"/>
          <p:nvPr/>
        </p:nvSpPr>
        <p:spPr>
          <a:xfrm>
            <a:off x="7825438" y="1131754"/>
            <a:ext cx="3672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Reduction Facts: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C65A3C5-4CCE-D5F5-9B2D-C411603B09FC}"/>
                  </a:ext>
                </a:extLst>
              </p:cNvPr>
              <p:cNvSpPr txBox="1"/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Written as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sSub>
                      <m:sSub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b>
                    </m:sSub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complexity of conversion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C65A3C5-4CCE-D5F5-9B2D-C411603B09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1523020"/>
                <a:ext cx="3672962" cy="673005"/>
              </a:xfrm>
              <a:prstGeom prst="rect">
                <a:avLst/>
              </a:prstGeom>
              <a:blipFill>
                <a:blip r:embed="rId6"/>
                <a:stretch>
                  <a:fillRect l="-1031" t="-3636" b="-12727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2BFFF0-6542-3015-81F9-C46B00440FAF}"/>
                  </a:ext>
                </a:extLst>
              </p:cNvPr>
              <p:cNvSpPr txBox="1"/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Establishes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is at least as hard as A. Difficulty is equal if reduction exists in both directions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2BFFF0-6542-3015-81F9-C46B00440F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3218094"/>
                <a:ext cx="3672962" cy="923330"/>
              </a:xfrm>
              <a:prstGeom prst="rect">
                <a:avLst/>
              </a:prstGeom>
              <a:blipFill>
                <a:blip r:embed="rId7"/>
                <a:stretch>
                  <a:fillRect l="-1031" t="-1333" b="-93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4DC6EE15-8EF4-A1C2-F9E2-F5BDF37C9250}"/>
              </a:ext>
            </a:extLst>
          </p:cNvPr>
          <p:cNvSpPr txBox="1"/>
          <p:nvPr/>
        </p:nvSpPr>
        <p:spPr>
          <a:xfrm>
            <a:off x="7825438" y="4342555"/>
            <a:ext cx="3672962" cy="92333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ysClr val="windowText" lastClr="000000"/>
                </a:solidFill>
              </a:rPr>
              <a:t>Can be used to establish which problems are the </a:t>
            </a:r>
            <a:r>
              <a:rPr lang="en-US" b="1" i="1" u="sng" dirty="0">
                <a:solidFill>
                  <a:sysClr val="windowText" lastClr="000000"/>
                </a:solidFill>
              </a:rPr>
              <a:t>harder than huge numbers of other problems</a:t>
            </a:r>
            <a:r>
              <a:rPr lang="en-US" dirty="0">
                <a:solidFill>
                  <a:sysClr val="windowText" lastClr="000000"/>
                </a:solidFill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5876D8A-43A2-73A4-B6C9-6332E6D05870}"/>
                  </a:ext>
                </a:extLst>
              </p:cNvPr>
              <p:cNvSpPr txBox="1"/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ysClr val="windowText" lastClr="000000"/>
                    </a:solidFill>
                  </a:rPr>
                  <a:t>Converstion (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) needs to be faster than the algorithm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ysClr val="windowText" lastClr="000000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5876D8A-43A2-73A4-B6C9-6332E6D058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5438" y="2383894"/>
                <a:ext cx="3672962" cy="646331"/>
              </a:xfrm>
              <a:prstGeom prst="rect">
                <a:avLst/>
              </a:prstGeom>
              <a:blipFill>
                <a:blip r:embed="rId8"/>
                <a:stretch>
                  <a:fillRect l="-1031" t="-3774" r="-1031" b="-1320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3287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75E07-F4A3-5400-CAE6-351CFEB92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E696A-92B2-8346-CEED-B25A14D36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Complexity Classes</a:t>
            </a:r>
          </a:p>
        </p:txBody>
      </p:sp>
    </p:spTree>
    <p:extLst>
      <p:ext uri="{BB962C8B-B14F-4D97-AF65-F5344CB8AC3E}">
        <p14:creationId xmlns:p14="http://schemas.microsoft.com/office/powerpoint/2010/main" val="19459806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Finding the Hardest Problems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17DE71-5F15-D842-8C87-B5FE3BBA7ABB}"/>
              </a:ext>
            </a:extLst>
          </p:cNvPr>
          <p:cNvSpPr txBox="1"/>
          <p:nvPr/>
        </p:nvSpPr>
        <p:spPr>
          <a:xfrm>
            <a:off x="1377105" y="1497600"/>
            <a:ext cx="943461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u="sng" dirty="0"/>
              <a:t>Goal</a:t>
            </a:r>
            <a:r>
              <a:rPr lang="en-US" sz="2400" dirty="0"/>
              <a:t>: We want to identify what some of the hardest problems for computers to solve. We can do this by relating the difficulty of problems through reduction!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E79F77-20F4-97C9-ABB1-9EE72C0DFB4F}"/>
              </a:ext>
            </a:extLst>
          </p:cNvPr>
          <p:cNvSpPr txBox="1"/>
          <p:nvPr/>
        </p:nvSpPr>
        <p:spPr>
          <a:xfrm>
            <a:off x="1377106" y="3473940"/>
            <a:ext cx="9434611" cy="15696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b="1" i="1" u="sng" dirty="0">
                <a:solidFill>
                  <a:sysClr val="windowText" lastClr="000000"/>
                </a:solidFill>
              </a:rPr>
              <a:t>Complexity Class</a:t>
            </a:r>
            <a:r>
              <a:rPr lang="en-US" sz="3200" dirty="0">
                <a:solidFill>
                  <a:sysClr val="windowText" lastClr="000000"/>
                </a:solidFill>
              </a:rPr>
              <a:t>: A set (group) of problems that all have the same (or similar) difficulty to solve (given some definition of “same”).</a:t>
            </a:r>
          </a:p>
        </p:txBody>
      </p:sp>
    </p:spTree>
    <p:extLst>
      <p:ext uri="{BB962C8B-B14F-4D97-AF65-F5344CB8AC3E}">
        <p14:creationId xmlns:p14="http://schemas.microsoft.com/office/powerpoint/2010/main" val="3144725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C649D-810F-CD40-AE53-4B0400BFC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81675E6-03BA-BB76-2FCB-CDF0062BA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The class 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E26E9FE-6EC9-DB15-8F2C-11560DD83D33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247883" y="3392487"/>
                <a:ext cx="3693055" cy="2339446"/>
              </a:xfrm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class P is the set of all problems that can be solved by a computer in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𝒩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E26E9FE-6EC9-DB15-8F2C-11560DD83D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247883" y="3392487"/>
                <a:ext cx="3693055" cy="2339446"/>
              </a:xfrm>
              <a:blipFill>
                <a:blip r:embed="rId2"/>
                <a:stretch>
                  <a:fillRect l="-2740" r="-2397"/>
                </a:stretch>
              </a:blipFill>
              <a:ln>
                <a:solidFill>
                  <a:schemeClr val="tx1">
                    <a:lumMod val="9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86B35DFF-E4C0-D75F-6ACC-AA213846CD84}"/>
              </a:ext>
            </a:extLst>
          </p:cNvPr>
          <p:cNvSpPr/>
          <p:nvPr/>
        </p:nvSpPr>
        <p:spPr>
          <a:xfrm>
            <a:off x="5417078" y="1888065"/>
            <a:ext cx="1354667" cy="1354667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solidFill>
                  <a:schemeClr val="bg1"/>
                </a:solidFill>
              </a:rPr>
              <a:t>P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FF0056E8-8A2C-8CC1-1648-0F5DA356D609}"/>
              </a:ext>
            </a:extLst>
          </p:cNvPr>
          <p:cNvSpPr txBox="1">
            <a:spLocks/>
          </p:cNvSpPr>
          <p:nvPr/>
        </p:nvSpPr>
        <p:spPr>
          <a:xfrm>
            <a:off x="1973528" y="1106221"/>
            <a:ext cx="2091267" cy="9567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u="sng" dirty="0"/>
              <a:t>Important</a:t>
            </a:r>
            <a:r>
              <a:rPr lang="en-US" sz="1600" i="1" dirty="0"/>
              <a:t>: P is a set of problems (not solutions, not algorithms)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02B00B1-699E-C650-91F0-F61968E80EBE}"/>
              </a:ext>
            </a:extLst>
          </p:cNvPr>
          <p:cNvCxnSpPr/>
          <p:nvPr/>
        </p:nvCxnSpPr>
        <p:spPr>
          <a:xfrm>
            <a:off x="3750733" y="1888065"/>
            <a:ext cx="1430867" cy="53340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4F4A1826-B785-B108-33B5-F33D624B2EA6}"/>
              </a:ext>
            </a:extLst>
          </p:cNvPr>
          <p:cNvSpPr txBox="1">
            <a:spLocks/>
          </p:cNvSpPr>
          <p:nvPr/>
        </p:nvSpPr>
        <p:spPr>
          <a:xfrm>
            <a:off x="8200228" y="1234808"/>
            <a:ext cx="3856305" cy="282919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u="sng" dirty="0"/>
              <a:t>Example problems in this set include</a:t>
            </a:r>
            <a:r>
              <a:rPr lang="en-US" sz="1600" i="1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Sorting a list of numbers</a:t>
            </a:r>
            <a:br>
              <a:rPr lang="en-US" sz="1600" i="1" dirty="0"/>
            </a:br>
            <a:r>
              <a:rPr lang="en-US" sz="1600" i="1" dirty="0"/>
              <a:t>Inserting into a binary tree</a:t>
            </a:r>
            <a:br>
              <a:rPr lang="en-US" sz="1600" i="1" dirty="0"/>
            </a:br>
            <a:r>
              <a:rPr lang="en-US" sz="1600" i="1" dirty="0"/>
              <a:t>Computing the average of a list of numbers</a:t>
            </a:r>
            <a:br>
              <a:rPr lang="en-US" sz="1600" i="1" dirty="0"/>
            </a:br>
            <a:r>
              <a:rPr lang="en-US" sz="1600" i="1" dirty="0"/>
              <a:t>Printing “hello world”</a:t>
            </a:r>
            <a:br>
              <a:rPr lang="en-US" sz="1600" i="1" dirty="0"/>
            </a:br>
            <a:r>
              <a:rPr lang="en-US" sz="1600" i="1" dirty="0"/>
              <a:t>Find() in a hash table</a:t>
            </a:r>
            <a:br>
              <a:rPr lang="en-US" sz="1600" i="1" dirty="0"/>
            </a:br>
            <a:r>
              <a:rPr lang="en-US" sz="1600" i="1" dirty="0"/>
              <a:t>…and many more</a:t>
            </a:r>
            <a:br>
              <a:rPr lang="en-US" sz="1600" i="1" dirty="0"/>
            </a:br>
            <a:endParaRPr lang="en-US" sz="1600" i="1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9325095-C963-E46C-3039-4B76CB857EA0}"/>
              </a:ext>
            </a:extLst>
          </p:cNvPr>
          <p:cNvCxnSpPr>
            <a:cxnSpLocks/>
          </p:cNvCxnSpPr>
          <p:nvPr/>
        </p:nvCxnSpPr>
        <p:spPr>
          <a:xfrm flipV="1">
            <a:off x="6771745" y="1573213"/>
            <a:ext cx="1352282" cy="32913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6785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D0017-E4C6-F79A-4E8B-EBCA3D09E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E653E8-281C-3C56-BCEF-5EE6F1C73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The class P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54F7E8B-B444-F9D9-6B64-ABC2198FECA3}"/>
              </a:ext>
            </a:extLst>
          </p:cNvPr>
          <p:cNvSpPr/>
          <p:nvPr/>
        </p:nvSpPr>
        <p:spPr>
          <a:xfrm>
            <a:off x="5417078" y="1888065"/>
            <a:ext cx="1354667" cy="1354667"/>
          </a:xfrm>
          <a:prstGeom prst="ellips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>
                <a:solidFill>
                  <a:schemeClr val="bg1"/>
                </a:solidFill>
              </a:rPr>
              <a:t>P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76B429B8-4834-276C-C8F9-AF9DC8844F0F}"/>
              </a:ext>
            </a:extLst>
          </p:cNvPr>
          <p:cNvSpPr txBox="1">
            <a:spLocks/>
          </p:cNvSpPr>
          <p:nvPr/>
        </p:nvSpPr>
        <p:spPr>
          <a:xfrm>
            <a:off x="1318328" y="1409698"/>
            <a:ext cx="2091267" cy="9567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u="sng" dirty="0"/>
              <a:t>Essentially</a:t>
            </a:r>
            <a:r>
              <a:rPr lang="en-US" sz="1600" i="1" dirty="0"/>
              <a:t>: P is a set of problems we can solve quickly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C4D8735-2186-A505-BE74-1986E447B4BC}"/>
              </a:ext>
            </a:extLst>
          </p:cNvPr>
          <p:cNvCxnSpPr>
            <a:cxnSpLocks/>
          </p:cNvCxnSpPr>
          <p:nvPr/>
        </p:nvCxnSpPr>
        <p:spPr>
          <a:xfrm>
            <a:off x="3484333" y="2031996"/>
            <a:ext cx="1692467" cy="53340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85847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/>
              <p:cNvSpPr>
                <a:spLocks noGrp="1"/>
              </p:cNvSpPr>
              <p:nvPr>
                <p:ph type="title"/>
              </p:nvPr>
            </p:nvSpPr>
            <p:spPr>
              <a:xfrm>
                <a:off x="1141413" y="262917"/>
                <a:ext cx="9905998" cy="668415"/>
              </a:xfrm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it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141413" y="262917"/>
                <a:ext cx="9905998" cy="668415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3448D927-13CC-1C4D-A5A0-138503F3AB6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60800" y="2129902"/>
                <a:ext cx="3672000" cy="106317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i="1" dirty="0">
                    <a:solidFill>
                      <a:schemeClr val="bg1"/>
                    </a:solidFill>
                  </a:rPr>
                  <a:t>NP is the set of problems for which solutions can be </a:t>
                </a:r>
                <a:r>
                  <a:rPr lang="en-US" sz="1600" i="1" dirty="0">
                    <a:solidFill>
                      <a:schemeClr val="accent3"/>
                    </a:solidFill>
                  </a:rPr>
                  <a:t>verified as correct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16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6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sz="1600" b="0" i="1" smtClean="0">
                        <a:solidFill>
                          <a:schemeClr val="accent3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>
                    <a:solidFill>
                      <a:schemeClr val="accent3"/>
                    </a:solidFill>
                  </a:rPr>
                  <a:t> </a:t>
                </a:r>
                <a:r>
                  <a:rPr lang="en-US" sz="1600" i="1" dirty="0">
                    <a:solidFill>
                      <a:schemeClr val="bg1"/>
                    </a:solidFill>
                  </a:rPr>
                  <a:t>(the difficulty of finding solutions varies)</a:t>
                </a:r>
              </a:p>
            </p:txBody>
          </p:sp>
        </mc:Choice>
        <mc:Fallback xmlns="">
          <p:sp>
            <p:nvSpPr>
              <p:cNvPr id="11" name="Content Placeholder 4">
                <a:extLst>
                  <a:ext uri="{FF2B5EF4-FFF2-40B4-BE49-F238E27FC236}">
                    <a16:creationId xmlns:a16="http://schemas.microsoft.com/office/drawing/2014/main" id="{3448D927-13CC-1C4D-A5A0-138503F3AB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0800" y="2129902"/>
                <a:ext cx="3672000" cy="1063176"/>
              </a:xfrm>
              <a:prstGeom prst="rect">
                <a:avLst/>
              </a:prstGeom>
              <a:blipFill>
                <a:blip r:embed="rId3"/>
                <a:stretch>
                  <a:fillRect l="-690" r="-20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81CE101F-D131-5E4B-B329-8B3F728A41A4}"/>
              </a:ext>
            </a:extLst>
          </p:cNvPr>
          <p:cNvGrpSpPr/>
          <p:nvPr/>
        </p:nvGrpSpPr>
        <p:grpSpPr>
          <a:xfrm>
            <a:off x="6120215" y="1296548"/>
            <a:ext cx="4714481" cy="4063996"/>
            <a:chOff x="4523051" y="1761068"/>
            <a:chExt cx="4714481" cy="406399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ECBE22B-00AF-0249-B60F-AB6706A81B95}"/>
                </a:ext>
              </a:extLst>
            </p:cNvPr>
            <p:cNvGrpSpPr/>
            <p:nvPr/>
          </p:nvGrpSpPr>
          <p:grpSpPr>
            <a:xfrm>
              <a:off x="4523051" y="1854199"/>
              <a:ext cx="3142722" cy="3970865"/>
              <a:chOff x="4519612" y="1845732"/>
              <a:chExt cx="3142722" cy="3970865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4A1DF55-6DAA-0D4D-9919-563E750571CE}"/>
                  </a:ext>
                </a:extLst>
              </p:cNvPr>
              <p:cNvSpPr/>
              <p:nvPr/>
            </p:nvSpPr>
            <p:spPr>
              <a:xfrm>
                <a:off x="4519612" y="1845732"/>
                <a:ext cx="3142722" cy="3970865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NP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CB683A8-08D1-204F-AFE5-1767C7DEADD6}"/>
                  </a:ext>
                </a:extLst>
              </p:cNvPr>
              <p:cNvSpPr/>
              <p:nvPr/>
            </p:nvSpPr>
            <p:spPr>
              <a:xfrm>
                <a:off x="4936067" y="3649131"/>
                <a:ext cx="2269066" cy="2159000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P</a:t>
                </a:r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BA46874-D347-F341-B74E-C744F75A9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3200" y="1854199"/>
              <a:ext cx="0" cy="387773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Content Placeholder 4">
              <a:extLst>
                <a:ext uri="{FF2B5EF4-FFF2-40B4-BE49-F238E27FC236}">
                  <a16:creationId xmlns:a16="http://schemas.microsoft.com/office/drawing/2014/main" id="{8C484E6F-0BD1-AB4E-9EFE-A40AC6ADE2A8}"/>
                </a:ext>
              </a:extLst>
            </p:cNvPr>
            <p:cNvSpPr txBox="1">
              <a:spLocks/>
            </p:cNvSpPr>
            <p:nvPr/>
          </p:nvSpPr>
          <p:spPr>
            <a:xfrm>
              <a:off x="7757715" y="5469457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Easy Problems</a:t>
              </a:r>
              <a:endParaRPr lang="en-US" sz="1600" i="1" dirty="0"/>
            </a:p>
          </p:txBody>
        </p:sp>
        <p:sp>
          <p:nvSpPr>
            <p:cNvPr id="19" name="Content Placeholder 4">
              <a:extLst>
                <a:ext uri="{FF2B5EF4-FFF2-40B4-BE49-F238E27FC236}">
                  <a16:creationId xmlns:a16="http://schemas.microsoft.com/office/drawing/2014/main" id="{B188799F-CD2B-4748-AD60-BDD68DE38128}"/>
                </a:ext>
              </a:extLst>
            </p:cNvPr>
            <p:cNvSpPr txBox="1">
              <a:spLocks/>
            </p:cNvSpPr>
            <p:nvPr/>
          </p:nvSpPr>
          <p:spPr>
            <a:xfrm>
              <a:off x="7823200" y="1761068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Hard Problems</a:t>
              </a:r>
              <a:endParaRPr lang="en-US" sz="1600" i="1" dirty="0"/>
            </a:p>
          </p:txBody>
        </p:sp>
      </p:grp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1D1CA701-6607-7E4F-856B-6053AF5505F9}"/>
              </a:ext>
            </a:extLst>
          </p:cNvPr>
          <p:cNvSpPr txBox="1">
            <a:spLocks/>
          </p:cNvSpPr>
          <p:nvPr/>
        </p:nvSpPr>
        <p:spPr>
          <a:xfrm>
            <a:off x="2066032" y="1785679"/>
            <a:ext cx="2832007" cy="34422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NP: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681425-90FA-9EDA-35C9-ED280CAA5E49}"/>
              </a:ext>
            </a:extLst>
          </p:cNvPr>
          <p:cNvSpPr txBox="1"/>
          <p:nvPr/>
        </p:nvSpPr>
        <p:spPr>
          <a:xfrm>
            <a:off x="1098566" y="4377547"/>
            <a:ext cx="39266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i="1" dirty="0"/>
              <a:t>You will see the formal definition and talk about this complexity class in more detail in DMT2!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D79A768-A09A-F4A4-F0CC-851618155E66}"/>
              </a:ext>
            </a:extLst>
          </p:cNvPr>
          <p:cNvCxnSpPr/>
          <p:nvPr/>
        </p:nvCxnSpPr>
        <p:spPr>
          <a:xfrm flipH="1">
            <a:off x="2296435" y="3328472"/>
            <a:ext cx="475200" cy="9288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21302E0-593E-DC55-C8A8-DA882476DA27}"/>
                  </a:ext>
                </a:extLst>
              </p:cNvPr>
              <p:cNvSpPr txBox="1"/>
              <p:nvPr/>
            </p:nvSpPr>
            <p:spPr>
              <a:xfrm>
                <a:off x="7113600" y="5952483"/>
                <a:ext cx="3084269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i="1" dirty="0"/>
                  <a:t>For now, just trust us that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endParaRPr lang="en-US" sz="1600" i="1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21302E0-593E-DC55-C8A8-DA882476DA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3600" y="5952483"/>
                <a:ext cx="3084269" cy="338554"/>
              </a:xfrm>
              <a:prstGeom prst="rect">
                <a:avLst/>
              </a:prstGeom>
              <a:blipFill>
                <a:blip r:embed="rId4"/>
                <a:stretch>
                  <a:fillRect t="-3571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1DF80A8-D519-9F28-AF03-4B3A67DEE6EE}"/>
              </a:ext>
            </a:extLst>
          </p:cNvPr>
          <p:cNvCxnSpPr>
            <a:cxnSpLocks/>
          </p:cNvCxnSpPr>
          <p:nvPr/>
        </p:nvCxnSpPr>
        <p:spPr>
          <a:xfrm>
            <a:off x="7813200" y="5488083"/>
            <a:ext cx="150000" cy="4644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30375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81339-CF95-CA1C-D461-EC273884F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6918"/>
            <a:ext cx="9905998" cy="52628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NP: Quick Verification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CE94-E2DC-3524-8B85-649FFF7FD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75106" y="1025487"/>
            <a:ext cx="4841788" cy="731313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dirty="0"/>
              <a:t>What does it mean to “verify quickly”? Consider the following problem?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E87B41E-749A-E4C8-F323-E64AD407A1E4}"/>
              </a:ext>
            </a:extLst>
          </p:cNvPr>
          <p:cNvSpPr txBox="1">
            <a:spLocks/>
          </p:cNvSpPr>
          <p:nvPr/>
        </p:nvSpPr>
        <p:spPr>
          <a:xfrm>
            <a:off x="1252624" y="2177487"/>
            <a:ext cx="10000976" cy="73131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isComposite</a:t>
            </a:r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(int x)</a:t>
            </a:r>
            <a:r>
              <a:rPr lang="en-US" dirty="0">
                <a:solidFill>
                  <a:sysClr val="windowText" lastClr="000000"/>
                </a:solidFill>
              </a:rPr>
              <a:t>: Return true if and only if x is composite (not prime)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67E0F5-CCBD-E741-644C-51B0BB8195DB}"/>
              </a:ext>
            </a:extLst>
          </p:cNvPr>
          <p:cNvSpPr txBox="1">
            <a:spLocks/>
          </p:cNvSpPr>
          <p:nvPr/>
        </p:nvSpPr>
        <p:spPr>
          <a:xfrm>
            <a:off x="3673518" y="3583544"/>
            <a:ext cx="4841788" cy="7313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isComposite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(282475249) = ?</a:t>
            </a:r>
          </a:p>
        </p:txBody>
      </p:sp>
    </p:spTree>
    <p:extLst>
      <p:ext uri="{BB962C8B-B14F-4D97-AF65-F5344CB8AC3E}">
        <p14:creationId xmlns:p14="http://schemas.microsoft.com/office/powerpoint/2010/main" val="2059774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78FEE-70CB-3B9E-3854-75C2D6D82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E7B91-5493-6800-311E-8F1656ABF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6918"/>
            <a:ext cx="9905998" cy="52628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NP: Quick Verification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E536F54-E269-3619-F517-C283D28BA6E1}"/>
              </a:ext>
            </a:extLst>
          </p:cNvPr>
          <p:cNvSpPr txBox="1">
            <a:spLocks/>
          </p:cNvSpPr>
          <p:nvPr/>
        </p:nvSpPr>
        <p:spPr>
          <a:xfrm>
            <a:off x="1252624" y="1126287"/>
            <a:ext cx="10000976" cy="73131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isComposite</a:t>
            </a:r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(int x)</a:t>
            </a:r>
            <a:r>
              <a:rPr lang="en-US" dirty="0">
                <a:solidFill>
                  <a:sysClr val="windowText" lastClr="000000"/>
                </a:solidFill>
              </a:rPr>
              <a:t>: Return true if and only if x is composite (not prime)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FC13E39-42D5-5176-E87B-759924CA7415}"/>
              </a:ext>
            </a:extLst>
          </p:cNvPr>
          <p:cNvSpPr txBox="1">
            <a:spLocks/>
          </p:cNvSpPr>
          <p:nvPr/>
        </p:nvSpPr>
        <p:spPr>
          <a:xfrm>
            <a:off x="3673518" y="2265944"/>
            <a:ext cx="4841788" cy="7313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isComposite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(282475249) = 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C03FB7-368A-A2D5-4757-CF69C1F11E6E}"/>
              </a:ext>
            </a:extLst>
          </p:cNvPr>
          <p:cNvSpPr txBox="1"/>
          <p:nvPr/>
        </p:nvSpPr>
        <p:spPr>
          <a:xfrm>
            <a:off x="1598400" y="3853544"/>
            <a:ext cx="3420000" cy="175432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u="sng" dirty="0">
                <a:solidFill>
                  <a:schemeClr val="bg1"/>
                </a:solidFill>
              </a:rPr>
              <a:t>Solve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Figure out if </a:t>
            </a:r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is composite with no additional info. Pretty hard to do (there are algorithms for this FYI)!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ABC345-9AA9-17E7-B54E-1E606D2DAE41}"/>
              </a:ext>
            </a:extLst>
          </p:cNvPr>
          <p:cNvSpPr txBox="1"/>
          <p:nvPr/>
        </p:nvSpPr>
        <p:spPr>
          <a:xfrm>
            <a:off x="7049999" y="3853544"/>
            <a:ext cx="3997411" cy="258532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u="sng" dirty="0">
                <a:solidFill>
                  <a:schemeClr val="bg1"/>
                </a:solidFill>
              </a:rPr>
              <a:t>Verify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Given evidence that </a:t>
            </a:r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is composite, verify if evidence is accurate.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Evidence: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To verify, simply check:</a:t>
            </a:r>
          </a:p>
          <a:p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/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>
                <a:solidFill>
                  <a:schemeClr val="accent5"/>
                </a:solidFill>
              </a:rPr>
              <a:t>40353607</a:t>
            </a:r>
            <a:r>
              <a:rPr lang="en-US" dirty="0">
                <a:solidFill>
                  <a:schemeClr val="bg1"/>
                </a:solidFill>
              </a:rPr>
              <a:t> (VERIFIED!)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C2DA5D8-C732-D77D-93BF-08689764BB27}"/>
              </a:ext>
            </a:extLst>
          </p:cNvPr>
          <p:cNvCxnSpPr/>
          <p:nvPr/>
        </p:nvCxnSpPr>
        <p:spPr>
          <a:xfrm flipH="1">
            <a:off x="3866400" y="2997257"/>
            <a:ext cx="820800" cy="71794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937526E-A4A6-C1F1-DDC7-C1EE66F5B3FD}"/>
              </a:ext>
            </a:extLst>
          </p:cNvPr>
          <p:cNvCxnSpPr>
            <a:cxnSpLocks/>
          </p:cNvCxnSpPr>
          <p:nvPr/>
        </p:nvCxnSpPr>
        <p:spPr>
          <a:xfrm>
            <a:off x="7504802" y="2997256"/>
            <a:ext cx="1203386" cy="71794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38968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8A2B1-F53E-02A2-04DE-1069A86AD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C20D9-BA4E-40D8-8C66-2834382CE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36918"/>
            <a:ext cx="9905998" cy="526282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NP: Quick Verification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AD7BA2B-FDF7-0AFD-8D95-5C2F98B4DC61}"/>
              </a:ext>
            </a:extLst>
          </p:cNvPr>
          <p:cNvSpPr txBox="1">
            <a:spLocks/>
          </p:cNvSpPr>
          <p:nvPr/>
        </p:nvSpPr>
        <p:spPr>
          <a:xfrm>
            <a:off x="1252624" y="1126287"/>
            <a:ext cx="10000976" cy="73131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isComposite</a:t>
            </a:r>
            <a:r>
              <a:rPr lang="en-US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(int x)</a:t>
            </a:r>
            <a:r>
              <a:rPr lang="en-US" dirty="0">
                <a:solidFill>
                  <a:sysClr val="windowText" lastClr="000000"/>
                </a:solidFill>
              </a:rPr>
              <a:t>: Return true if and only if x is composite (not prime)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552A499-628B-2424-7A7E-E4B6EF7F6451}"/>
              </a:ext>
            </a:extLst>
          </p:cNvPr>
          <p:cNvSpPr txBox="1">
            <a:spLocks/>
          </p:cNvSpPr>
          <p:nvPr/>
        </p:nvSpPr>
        <p:spPr>
          <a:xfrm>
            <a:off x="3673518" y="2265944"/>
            <a:ext cx="4841788" cy="7313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isComposite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(282475249) = 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B4EE1A-817C-A376-3432-81C6AE01C9C7}"/>
              </a:ext>
            </a:extLst>
          </p:cNvPr>
          <p:cNvSpPr txBox="1"/>
          <p:nvPr/>
        </p:nvSpPr>
        <p:spPr>
          <a:xfrm>
            <a:off x="7049999" y="3853544"/>
            <a:ext cx="3997411" cy="258532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u="sng" dirty="0">
                <a:solidFill>
                  <a:schemeClr val="bg1"/>
                </a:solidFill>
              </a:rPr>
              <a:t>Verify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Given evidence that </a:t>
            </a:r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is composite, verify if evidence is accurate.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Evidence: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To verify, simply check:</a:t>
            </a:r>
          </a:p>
          <a:p>
            <a:r>
              <a:rPr lang="en-US" dirty="0">
                <a:solidFill>
                  <a:schemeClr val="accent3"/>
                </a:solidFill>
              </a:rPr>
              <a:t>282475249</a:t>
            </a:r>
            <a:r>
              <a:rPr lang="en-US" dirty="0">
                <a:solidFill>
                  <a:schemeClr val="bg1"/>
                </a:solidFill>
              </a:rPr>
              <a:t> / </a:t>
            </a:r>
            <a:r>
              <a:rPr lang="en-US" dirty="0">
                <a:solidFill>
                  <a:schemeClr val="accent4"/>
                </a:solidFill>
              </a:rPr>
              <a:t>7</a:t>
            </a:r>
            <a:r>
              <a:rPr lang="en-US" dirty="0">
                <a:solidFill>
                  <a:schemeClr val="bg1"/>
                </a:solidFill>
              </a:rPr>
              <a:t> = </a:t>
            </a:r>
            <a:r>
              <a:rPr lang="en-US" dirty="0">
                <a:solidFill>
                  <a:schemeClr val="accent5"/>
                </a:solidFill>
              </a:rPr>
              <a:t>40353607</a:t>
            </a:r>
            <a:r>
              <a:rPr lang="en-US" dirty="0">
                <a:solidFill>
                  <a:schemeClr val="bg1"/>
                </a:solidFill>
              </a:rPr>
              <a:t> (VERIFIED!)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42B07B0-BA31-C47E-05D5-41093DD8CED4}"/>
              </a:ext>
            </a:extLst>
          </p:cNvPr>
          <p:cNvCxnSpPr>
            <a:cxnSpLocks/>
          </p:cNvCxnSpPr>
          <p:nvPr/>
        </p:nvCxnSpPr>
        <p:spPr>
          <a:xfrm flipH="1" flipV="1">
            <a:off x="5040000" y="4593600"/>
            <a:ext cx="1792800" cy="19363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BAEB5A9-7E1E-EF91-D442-2C01365308B8}"/>
              </a:ext>
            </a:extLst>
          </p:cNvPr>
          <p:cNvCxnSpPr>
            <a:cxnSpLocks/>
          </p:cNvCxnSpPr>
          <p:nvPr/>
        </p:nvCxnSpPr>
        <p:spPr>
          <a:xfrm>
            <a:off x="7504802" y="2997256"/>
            <a:ext cx="1203386" cy="71794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A3CD84-5D7F-D07D-E8B8-D9B86E9E78D3}"/>
                  </a:ext>
                </a:extLst>
              </p:cNvPr>
              <p:cNvSpPr txBox="1"/>
              <p:nvPr/>
            </p:nvSpPr>
            <p:spPr>
              <a:xfrm>
                <a:off x="2195401" y="4090251"/>
                <a:ext cx="2764800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Since verifying solutions is polynomial time (in this case,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), this problem is in the set NP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A3CD84-5D7F-D07D-E8B8-D9B86E9E78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5401" y="4090251"/>
                <a:ext cx="2764800" cy="1200329"/>
              </a:xfrm>
              <a:prstGeom prst="rect">
                <a:avLst/>
              </a:prstGeom>
              <a:blipFill>
                <a:blip r:embed="rId2"/>
                <a:stretch>
                  <a:fillRect l="-1826" t="-2105" r="-4110" b="-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83436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Back to our Diagram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1CE101F-D131-5E4B-B329-8B3F728A41A4}"/>
              </a:ext>
            </a:extLst>
          </p:cNvPr>
          <p:cNvGrpSpPr/>
          <p:nvPr/>
        </p:nvGrpSpPr>
        <p:grpSpPr>
          <a:xfrm>
            <a:off x="5437569" y="1744659"/>
            <a:ext cx="4714481" cy="4063996"/>
            <a:chOff x="4523051" y="1761068"/>
            <a:chExt cx="4714481" cy="406399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ECBE22B-00AF-0249-B60F-AB6706A81B95}"/>
                </a:ext>
              </a:extLst>
            </p:cNvPr>
            <p:cNvGrpSpPr/>
            <p:nvPr/>
          </p:nvGrpSpPr>
          <p:grpSpPr>
            <a:xfrm>
              <a:off x="4523051" y="1854199"/>
              <a:ext cx="3142722" cy="3970865"/>
              <a:chOff x="4519612" y="1845732"/>
              <a:chExt cx="3142722" cy="3970865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4A1DF55-6DAA-0D4D-9919-563E750571CE}"/>
                  </a:ext>
                </a:extLst>
              </p:cNvPr>
              <p:cNvSpPr/>
              <p:nvPr/>
            </p:nvSpPr>
            <p:spPr>
              <a:xfrm>
                <a:off x="4519612" y="1845732"/>
                <a:ext cx="3142722" cy="3970865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NP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CB683A8-08D1-204F-AFE5-1767C7DEADD6}"/>
                  </a:ext>
                </a:extLst>
              </p:cNvPr>
              <p:cNvSpPr/>
              <p:nvPr/>
            </p:nvSpPr>
            <p:spPr>
              <a:xfrm>
                <a:off x="4936067" y="3649131"/>
                <a:ext cx="2269066" cy="2159000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P</a:t>
                </a:r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BA46874-D347-F341-B74E-C744F75A9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3200" y="1854199"/>
              <a:ext cx="0" cy="387773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Content Placeholder 4">
              <a:extLst>
                <a:ext uri="{FF2B5EF4-FFF2-40B4-BE49-F238E27FC236}">
                  <a16:creationId xmlns:a16="http://schemas.microsoft.com/office/drawing/2014/main" id="{8C484E6F-0BD1-AB4E-9EFE-A40AC6ADE2A8}"/>
                </a:ext>
              </a:extLst>
            </p:cNvPr>
            <p:cNvSpPr txBox="1">
              <a:spLocks/>
            </p:cNvSpPr>
            <p:nvPr/>
          </p:nvSpPr>
          <p:spPr>
            <a:xfrm>
              <a:off x="7757715" y="5469457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Easy Problems</a:t>
              </a:r>
              <a:endParaRPr lang="en-US" sz="1600" i="1" dirty="0"/>
            </a:p>
          </p:txBody>
        </p:sp>
        <p:sp>
          <p:nvSpPr>
            <p:cNvPr id="19" name="Content Placeholder 4">
              <a:extLst>
                <a:ext uri="{FF2B5EF4-FFF2-40B4-BE49-F238E27FC236}">
                  <a16:creationId xmlns:a16="http://schemas.microsoft.com/office/drawing/2014/main" id="{B188799F-CD2B-4748-AD60-BDD68DE38128}"/>
                </a:ext>
              </a:extLst>
            </p:cNvPr>
            <p:cNvSpPr txBox="1">
              <a:spLocks/>
            </p:cNvSpPr>
            <p:nvPr/>
          </p:nvSpPr>
          <p:spPr>
            <a:xfrm>
              <a:off x="7823200" y="1761068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Hard Problems</a:t>
              </a:r>
              <a:endParaRPr lang="en-US" sz="1600" i="1" dirty="0"/>
            </a:p>
          </p:txBody>
        </p:sp>
      </p:grp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44A26CC7-079F-374B-8C92-959E199970CA}"/>
              </a:ext>
            </a:extLst>
          </p:cNvPr>
          <p:cNvSpPr txBox="1">
            <a:spLocks/>
          </p:cNvSpPr>
          <p:nvPr/>
        </p:nvSpPr>
        <p:spPr>
          <a:xfrm>
            <a:off x="1574324" y="4643553"/>
            <a:ext cx="3226596" cy="136882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Almost every algorithm we have studied has a polynomial time algorithm and is in P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82282BA-4C43-BD4B-94F3-054E7C20C489}"/>
              </a:ext>
            </a:extLst>
          </p:cNvPr>
          <p:cNvCxnSpPr>
            <a:cxnSpLocks/>
          </p:cNvCxnSpPr>
          <p:nvPr/>
        </p:nvCxnSpPr>
        <p:spPr>
          <a:xfrm flipV="1">
            <a:off x="4505178" y="4802400"/>
            <a:ext cx="1492422" cy="34289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C55BFA89-9846-5295-461C-B846C6235AA2}"/>
              </a:ext>
            </a:extLst>
          </p:cNvPr>
          <p:cNvSpPr txBox="1">
            <a:spLocks/>
          </p:cNvSpPr>
          <p:nvPr/>
        </p:nvSpPr>
        <p:spPr>
          <a:xfrm>
            <a:off x="1502324" y="1458036"/>
            <a:ext cx="3226596" cy="953964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What is the problem that sits at the very top here? For our purposes, this is the “hardest” problem (hardest in these groups we are choosing to study) 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E4D8FB0-0E81-6C34-4F90-199764A50DA8}"/>
              </a:ext>
            </a:extLst>
          </p:cNvPr>
          <p:cNvCxnSpPr>
            <a:cxnSpLocks/>
            <a:endCxn id="2" idx="0"/>
          </p:cNvCxnSpPr>
          <p:nvPr/>
        </p:nvCxnSpPr>
        <p:spPr>
          <a:xfrm>
            <a:off x="4691358" y="1744659"/>
            <a:ext cx="2317572" cy="9313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11196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141413" y="262917"/>
            <a:ext cx="9905998" cy="668415"/>
          </a:xfrm>
        </p:spPr>
        <p:txBody>
          <a:bodyPr/>
          <a:lstStyle/>
          <a:p>
            <a:pPr algn="ctr"/>
            <a:r>
              <a:rPr lang="en-US" dirty="0"/>
              <a:t>NP-Hard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1CE101F-D131-5E4B-B329-8B3F728A41A4}"/>
              </a:ext>
            </a:extLst>
          </p:cNvPr>
          <p:cNvGrpSpPr/>
          <p:nvPr/>
        </p:nvGrpSpPr>
        <p:grpSpPr>
          <a:xfrm>
            <a:off x="5437569" y="1744659"/>
            <a:ext cx="4714481" cy="4063996"/>
            <a:chOff x="4523051" y="1761068"/>
            <a:chExt cx="4714481" cy="4063996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ECBE22B-00AF-0249-B60F-AB6706A81B95}"/>
                </a:ext>
              </a:extLst>
            </p:cNvPr>
            <p:cNvGrpSpPr/>
            <p:nvPr/>
          </p:nvGrpSpPr>
          <p:grpSpPr>
            <a:xfrm>
              <a:off x="4523051" y="1854199"/>
              <a:ext cx="3142722" cy="3970865"/>
              <a:chOff x="4519612" y="1845732"/>
              <a:chExt cx="3142722" cy="3970865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4A1DF55-6DAA-0D4D-9919-563E750571CE}"/>
                  </a:ext>
                </a:extLst>
              </p:cNvPr>
              <p:cNvSpPr/>
              <p:nvPr/>
            </p:nvSpPr>
            <p:spPr>
              <a:xfrm>
                <a:off x="4519612" y="1845732"/>
                <a:ext cx="3142722" cy="3970865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NP</a:t>
                </a: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CB683A8-08D1-204F-AFE5-1767C7DEADD6}"/>
                  </a:ext>
                </a:extLst>
              </p:cNvPr>
              <p:cNvSpPr/>
              <p:nvPr/>
            </p:nvSpPr>
            <p:spPr>
              <a:xfrm>
                <a:off x="4936067" y="3649131"/>
                <a:ext cx="2269066" cy="2159000"/>
              </a:xfrm>
              <a:prstGeom prst="ellips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000" dirty="0">
                    <a:solidFill>
                      <a:schemeClr val="bg1"/>
                    </a:solidFill>
                  </a:rPr>
                  <a:t>P</a:t>
                </a:r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BA46874-D347-F341-B74E-C744F75A9D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3200" y="1854199"/>
              <a:ext cx="0" cy="387773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Content Placeholder 4">
              <a:extLst>
                <a:ext uri="{FF2B5EF4-FFF2-40B4-BE49-F238E27FC236}">
                  <a16:creationId xmlns:a16="http://schemas.microsoft.com/office/drawing/2014/main" id="{8C484E6F-0BD1-AB4E-9EFE-A40AC6ADE2A8}"/>
                </a:ext>
              </a:extLst>
            </p:cNvPr>
            <p:cNvSpPr txBox="1">
              <a:spLocks/>
            </p:cNvSpPr>
            <p:nvPr/>
          </p:nvSpPr>
          <p:spPr>
            <a:xfrm>
              <a:off x="7757715" y="5469457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Easy Problems</a:t>
              </a:r>
              <a:endParaRPr lang="en-US" sz="1600" i="1" dirty="0"/>
            </a:p>
          </p:txBody>
        </p:sp>
        <p:sp>
          <p:nvSpPr>
            <p:cNvPr id="19" name="Content Placeholder 4">
              <a:extLst>
                <a:ext uri="{FF2B5EF4-FFF2-40B4-BE49-F238E27FC236}">
                  <a16:creationId xmlns:a16="http://schemas.microsoft.com/office/drawing/2014/main" id="{B188799F-CD2B-4748-AD60-BDD68DE38128}"/>
                </a:ext>
              </a:extLst>
            </p:cNvPr>
            <p:cNvSpPr txBox="1">
              <a:spLocks/>
            </p:cNvSpPr>
            <p:nvPr/>
          </p:nvSpPr>
          <p:spPr>
            <a:xfrm>
              <a:off x="7823200" y="1761068"/>
              <a:ext cx="1414332" cy="35560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>
              <a:normAutofit lnSpcReduction="1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600" b="1" i="1" dirty="0"/>
                <a:t>Hard Problems</a:t>
              </a:r>
              <a:endParaRPr lang="en-US" sz="1600" i="1" dirty="0"/>
            </a:p>
          </p:txBody>
        </p:sp>
      </p:grp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3BEB5F83-FE3A-8245-91A4-E21E1020472F}"/>
              </a:ext>
            </a:extLst>
          </p:cNvPr>
          <p:cNvSpPr txBox="1">
            <a:spLocks/>
          </p:cNvSpPr>
          <p:nvPr/>
        </p:nvSpPr>
        <p:spPr>
          <a:xfrm>
            <a:off x="1112652" y="3823222"/>
            <a:ext cx="3226596" cy="136882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NP-Hard problems are defined to be all problems that are this hard OR harder.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8B23BFE-72AD-684A-949E-4D647D62BDE8}"/>
              </a:ext>
            </a:extLst>
          </p:cNvPr>
          <p:cNvCxnSpPr>
            <a:cxnSpLocks/>
          </p:cNvCxnSpPr>
          <p:nvPr/>
        </p:nvCxnSpPr>
        <p:spPr>
          <a:xfrm flipV="1">
            <a:off x="2625505" y="2842788"/>
            <a:ext cx="200890" cy="93386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44A26CC7-079F-374B-8C92-959E199970CA}"/>
              </a:ext>
            </a:extLst>
          </p:cNvPr>
          <p:cNvSpPr txBox="1">
            <a:spLocks/>
          </p:cNvSpPr>
          <p:nvPr/>
        </p:nvSpPr>
        <p:spPr>
          <a:xfrm>
            <a:off x="1872132" y="2049753"/>
            <a:ext cx="2355130" cy="6988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Suppose we have find the hardest problem in NP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82282BA-4C43-BD4B-94F3-054E7C20C489}"/>
              </a:ext>
            </a:extLst>
          </p:cNvPr>
          <p:cNvCxnSpPr>
            <a:cxnSpLocks/>
          </p:cNvCxnSpPr>
          <p:nvPr/>
        </p:nvCxnSpPr>
        <p:spPr>
          <a:xfrm flipV="1">
            <a:off x="4088723" y="1837790"/>
            <a:ext cx="2782857" cy="56137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96670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051072" y="813235"/>
            <a:ext cx="2506589" cy="668415"/>
          </a:xfrm>
        </p:spPr>
        <p:txBody>
          <a:bodyPr/>
          <a:lstStyle/>
          <a:p>
            <a:pPr algn="ctr"/>
            <a:r>
              <a:rPr lang="en-US" dirty="0"/>
              <a:t>NP-Hard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B371892-3A55-864A-BE74-1F51EA687C93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1CE101F-D131-5E4B-B329-8B3F728A41A4}"/>
                </a:ext>
              </a:extLst>
            </p:cNvPr>
            <p:cNvGrpSpPr/>
            <p:nvPr/>
          </p:nvGrpSpPr>
          <p:grpSpPr>
            <a:xfrm>
              <a:off x="5908350" y="2496096"/>
              <a:ext cx="4714481" cy="4063996"/>
              <a:chOff x="4523051" y="1761068"/>
              <a:chExt cx="4714481" cy="4063996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5ECBE22B-00AF-0249-B60F-AB6706A81B95}"/>
                  </a:ext>
                </a:extLst>
              </p:cNvPr>
              <p:cNvGrpSpPr/>
              <p:nvPr/>
            </p:nvGrpSpPr>
            <p:grpSpPr>
              <a:xfrm>
                <a:off x="4523051" y="1854199"/>
                <a:ext cx="3142722" cy="3970865"/>
                <a:chOff x="4519612" y="1845732"/>
                <a:chExt cx="3142722" cy="3970865"/>
              </a:xfrm>
            </p:grpSpPr>
            <p:sp>
              <p:nvSpPr>
                <p:cNvPr id="2" name="Oval 1">
                  <a:extLst>
                    <a:ext uri="{FF2B5EF4-FFF2-40B4-BE49-F238E27FC236}">
                      <a16:creationId xmlns:a16="http://schemas.microsoft.com/office/drawing/2014/main" id="{D4A1DF55-6DAA-0D4D-9919-563E750571CE}"/>
                    </a:ext>
                  </a:extLst>
                </p:cNvPr>
                <p:cNvSpPr/>
                <p:nvPr/>
              </p:nvSpPr>
              <p:spPr>
                <a:xfrm>
                  <a:off x="4519612" y="1845732"/>
                  <a:ext cx="3142722" cy="3970865"/>
                </a:xfrm>
                <a:prstGeom prst="ellips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en-US" sz="3000" dirty="0">
                      <a:solidFill>
                        <a:schemeClr val="bg1"/>
                      </a:solidFill>
                    </a:rPr>
                    <a:t>NP</a:t>
                  </a:r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1CB683A8-08D1-204F-AFE5-1767C7DEADD6}"/>
                    </a:ext>
                  </a:extLst>
                </p:cNvPr>
                <p:cNvSpPr/>
                <p:nvPr/>
              </p:nvSpPr>
              <p:spPr>
                <a:xfrm>
                  <a:off x="4936067" y="3649131"/>
                  <a:ext cx="2269066" cy="2159000"/>
                </a:xfrm>
                <a:prstGeom prst="ellips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3000" dirty="0">
                      <a:solidFill>
                        <a:schemeClr val="bg1"/>
                      </a:solidFill>
                    </a:rPr>
                    <a:t>P</a:t>
                  </a:r>
                </a:p>
              </p:txBody>
            </p: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9BA46874-D347-F341-B74E-C744F75A9D1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823200" y="1854199"/>
                <a:ext cx="0" cy="38777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Content Placeholder 4">
                <a:extLst>
                  <a:ext uri="{FF2B5EF4-FFF2-40B4-BE49-F238E27FC236}">
                    <a16:creationId xmlns:a16="http://schemas.microsoft.com/office/drawing/2014/main" id="{8C484E6F-0BD1-AB4E-9EFE-A40AC6ADE2A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757715" y="5469457"/>
                <a:ext cx="1414332" cy="355607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b="1" i="1" dirty="0"/>
                  <a:t>Easy Problems</a:t>
                </a:r>
                <a:endParaRPr lang="en-US" sz="1600" i="1" dirty="0"/>
              </a:p>
            </p:txBody>
          </p:sp>
          <p:sp>
            <p:nvSpPr>
              <p:cNvPr id="19" name="Content Placeholder 4">
                <a:extLst>
                  <a:ext uri="{FF2B5EF4-FFF2-40B4-BE49-F238E27FC236}">
                    <a16:creationId xmlns:a16="http://schemas.microsoft.com/office/drawing/2014/main" id="{B188799F-CD2B-4748-AD60-BDD68DE3812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823200" y="1761068"/>
                <a:ext cx="1414332" cy="355607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b="1" i="1" dirty="0"/>
                  <a:t>Hard Problems</a:t>
                </a:r>
                <a:endParaRPr lang="en-US" sz="1600" i="1" dirty="0"/>
              </a:p>
            </p:txBody>
          </p:sp>
        </p:grpSp>
        <p:sp>
          <p:nvSpPr>
            <p:cNvPr id="5" name="Arc 4">
              <a:extLst>
                <a:ext uri="{FF2B5EF4-FFF2-40B4-BE49-F238E27FC236}">
                  <a16:creationId xmlns:a16="http://schemas.microsoft.com/office/drawing/2014/main" id="{44EC2B34-04B5-F843-91DE-FF6A65B7AE51}"/>
                </a:ext>
              </a:extLst>
            </p:cNvPr>
            <p:cNvSpPr/>
            <p:nvPr/>
          </p:nvSpPr>
          <p:spPr>
            <a:xfrm>
              <a:off x="5791207" y="-4553901"/>
              <a:ext cx="3336261" cy="7263666"/>
            </a:xfrm>
            <a:prstGeom prst="arc">
              <a:avLst>
                <a:gd name="adj1" fmla="val 334075"/>
                <a:gd name="adj2" fmla="val 10164359"/>
              </a:avLst>
            </a:prstGeom>
            <a:solidFill>
              <a:schemeClr val="accent1"/>
            </a:solidFill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bg1"/>
                  </a:solidFill>
                </a:rPr>
                <a:t>NP-Hard</a:t>
              </a:r>
            </a:p>
          </p:txBody>
        </p:sp>
      </p:grp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A6AB8359-241B-7744-9BEA-5C88AC4D9DD7}"/>
              </a:ext>
            </a:extLst>
          </p:cNvPr>
          <p:cNvSpPr txBox="1">
            <a:spLocks/>
          </p:cNvSpPr>
          <p:nvPr/>
        </p:nvSpPr>
        <p:spPr>
          <a:xfrm>
            <a:off x="2322497" y="1147442"/>
            <a:ext cx="1838778" cy="63652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Goes up to indefinite difficulty.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225A669-08BE-344E-89BF-97B3BC6A8ED9}"/>
              </a:ext>
            </a:extLst>
          </p:cNvPr>
          <p:cNvCxnSpPr>
            <a:cxnSpLocks/>
          </p:cNvCxnSpPr>
          <p:nvPr/>
        </p:nvCxnSpPr>
        <p:spPr>
          <a:xfrm flipV="1">
            <a:off x="3938257" y="461728"/>
            <a:ext cx="1702052" cy="68571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F9CC5AB5-3F62-ED42-9178-2EE8C74294BF}"/>
              </a:ext>
            </a:extLst>
          </p:cNvPr>
          <p:cNvSpPr txBox="1">
            <a:spLocks/>
          </p:cNvSpPr>
          <p:nvPr/>
        </p:nvSpPr>
        <p:spPr>
          <a:xfrm>
            <a:off x="1548143" y="3756104"/>
            <a:ext cx="2613132" cy="130478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Note that NP-Hard and NP intersect here. Problems in this intersection are the hardest problems in NP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DA96E10-036D-F441-9C5D-5414C32DF908}"/>
              </a:ext>
            </a:extLst>
          </p:cNvPr>
          <p:cNvCxnSpPr>
            <a:cxnSpLocks/>
          </p:cNvCxnSpPr>
          <p:nvPr/>
        </p:nvCxnSpPr>
        <p:spPr>
          <a:xfrm flipV="1">
            <a:off x="3715239" y="2589227"/>
            <a:ext cx="3065807" cy="116687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3505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0525" y="242867"/>
            <a:ext cx="4652864" cy="668415"/>
          </a:xfrm>
        </p:spPr>
        <p:txBody>
          <a:bodyPr/>
          <a:lstStyle/>
          <a:p>
            <a:pPr algn="ctr"/>
            <a:r>
              <a:rPr lang="en-US" dirty="0"/>
              <a:t>NP-Complete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F9CC5AB5-3F62-ED42-9178-2EE8C74294BF}"/>
              </a:ext>
            </a:extLst>
          </p:cNvPr>
          <p:cNvSpPr txBox="1">
            <a:spLocks/>
          </p:cNvSpPr>
          <p:nvPr/>
        </p:nvSpPr>
        <p:spPr>
          <a:xfrm>
            <a:off x="1487868" y="1660884"/>
            <a:ext cx="2613132" cy="130478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This section (purple) is the set of NP-Complete problems. The hardest problems in NP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DA96E10-036D-F441-9C5D-5414C32DF908}"/>
              </a:ext>
            </a:extLst>
          </p:cNvPr>
          <p:cNvCxnSpPr>
            <a:cxnSpLocks/>
            <a:endCxn id="7" idx="2"/>
          </p:cNvCxnSpPr>
          <p:nvPr/>
        </p:nvCxnSpPr>
        <p:spPr>
          <a:xfrm>
            <a:off x="3948252" y="2437904"/>
            <a:ext cx="3203986" cy="21159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1434D04-07D6-194D-B81F-9C6112208B1F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00DF796-924F-A44D-B050-4520087394B0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81CE101F-D131-5E4B-B329-8B3F728A41A4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5ECBE22B-00AF-0249-B60F-AB6706A81B95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D4A1DF55-6DAA-0D4D-9919-563E750571CE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1CB683A8-08D1-204F-AFE5-1767C7DEADD6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BA46874-D347-F341-B74E-C744F75A9D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8C484E6F-0BD1-AB4E-9EFE-A40AC6ADE2A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B188799F-CD2B-4748-AD60-BDD68DE3812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44EC2B34-04B5-F843-91DE-FF6A65B7AE51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F78F878-B9AB-894D-BB85-D7E5A5579F67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F52FCBCB-7180-2C4C-9A9D-CE6A6A75DE49}"/>
              </a:ext>
            </a:extLst>
          </p:cNvPr>
          <p:cNvSpPr txBox="1">
            <a:spLocks/>
          </p:cNvSpPr>
          <p:nvPr/>
        </p:nvSpPr>
        <p:spPr>
          <a:xfrm>
            <a:off x="1048233" y="3715269"/>
            <a:ext cx="4651890" cy="194314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i="1" u="sng" dirty="0">
                <a:solidFill>
                  <a:schemeClr val="bg1"/>
                </a:solidFill>
              </a:rPr>
              <a:t>Definition</a:t>
            </a:r>
            <a:r>
              <a:rPr lang="en-US" sz="2000" i="1" dirty="0">
                <a:solidFill>
                  <a:schemeClr val="bg1"/>
                </a:solidFill>
              </a:rPr>
              <a:t>: A problem is </a:t>
            </a:r>
            <a:r>
              <a:rPr lang="en-US" sz="2000" b="1" i="1" dirty="0">
                <a:solidFill>
                  <a:schemeClr val="bg1"/>
                </a:solidFill>
              </a:rPr>
              <a:t>NP-Complete</a:t>
            </a:r>
            <a:r>
              <a:rPr lang="en-US" sz="2000" i="1" dirty="0">
                <a:solidFill>
                  <a:schemeClr val="bg1"/>
                </a:solidFill>
              </a:rPr>
              <a:t> if and only if the problem: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n-US" sz="2000" i="1" dirty="0">
                <a:solidFill>
                  <a:schemeClr val="bg1"/>
                </a:solidFill>
              </a:rPr>
              <a:t>Is in NP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n-US" sz="2000" i="1" dirty="0">
                <a:solidFill>
                  <a:schemeClr val="bg1"/>
                </a:solidFill>
              </a:rPr>
              <a:t>Is NP-Hard</a:t>
            </a:r>
          </a:p>
        </p:txBody>
      </p:sp>
    </p:spTree>
    <p:extLst>
      <p:ext uri="{BB962C8B-B14F-4D97-AF65-F5344CB8AC3E}">
        <p14:creationId xmlns:p14="http://schemas.microsoft.com/office/powerpoint/2010/main" val="8277645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0525" y="242867"/>
            <a:ext cx="4652864" cy="668415"/>
          </a:xfrm>
        </p:spPr>
        <p:txBody>
          <a:bodyPr/>
          <a:lstStyle/>
          <a:p>
            <a:pPr algn="ctr"/>
            <a:r>
              <a:rPr lang="en-US" dirty="0"/>
              <a:t>NP-Hard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F9CC5AB5-3F62-ED42-9178-2EE8C74294BF}"/>
              </a:ext>
            </a:extLst>
          </p:cNvPr>
          <p:cNvSpPr txBox="1">
            <a:spLocks/>
          </p:cNvSpPr>
          <p:nvPr/>
        </p:nvSpPr>
        <p:spPr>
          <a:xfrm>
            <a:off x="1047375" y="1616234"/>
            <a:ext cx="4651890" cy="45307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A different definition of NP-Hard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1434D04-07D6-194D-B81F-9C6112208B1F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00DF796-924F-A44D-B050-4520087394B0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81CE101F-D131-5E4B-B329-8B3F728A41A4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5ECBE22B-00AF-0249-B60F-AB6706A81B95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D4A1DF55-6DAA-0D4D-9919-563E750571CE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1CB683A8-08D1-204F-AFE5-1767C7DEADD6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BA46874-D347-F341-B74E-C744F75A9D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8C484E6F-0BD1-AB4E-9EFE-A40AC6ADE2A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B188799F-CD2B-4748-AD60-BDD68DE3812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44EC2B34-04B5-F843-91DE-FF6A65B7AE51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F78F878-B9AB-894D-BB85-D7E5A5579F67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F52FCBCB-7180-2C4C-9A9D-CE6A6A75DE4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47375" y="1999830"/>
                <a:ext cx="4651890" cy="851874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b="1" i="1" u="sng" dirty="0">
                    <a:solidFill>
                      <a:schemeClr val="bg1"/>
                    </a:solidFill>
                  </a:rPr>
                  <a:t>Definition</a:t>
                </a:r>
                <a:r>
                  <a:rPr lang="en-US" sz="2000" i="1" dirty="0">
                    <a:solidFill>
                      <a:schemeClr val="bg1"/>
                    </a:solidFill>
                  </a:rPr>
                  <a:t>: A problem A is </a:t>
                </a:r>
                <a:r>
                  <a:rPr lang="en-US" sz="2000" b="1" i="1" dirty="0">
                    <a:solidFill>
                      <a:schemeClr val="bg1"/>
                    </a:solidFill>
                  </a:rPr>
                  <a:t>NP-Hard</a:t>
                </a:r>
                <a:r>
                  <a:rPr lang="en-US" sz="2000" i="1" dirty="0">
                    <a:solidFill>
                      <a:schemeClr val="bg1"/>
                    </a:solidFill>
                  </a:rPr>
                  <a:t> if and only if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𝑁𝑃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sSub>
                      <m:sSubPr>
                        <m:ctrlP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sz="2000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1" name="Content Placeholder 4">
                <a:extLst>
                  <a:ext uri="{FF2B5EF4-FFF2-40B4-BE49-F238E27FC236}">
                    <a16:creationId xmlns:a16="http://schemas.microsoft.com/office/drawing/2014/main" id="{F52FCBCB-7180-2C4C-9A9D-CE6A6A75DE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375" y="1999830"/>
                <a:ext cx="4651890" cy="851874"/>
              </a:xfrm>
              <a:prstGeom prst="rect">
                <a:avLst/>
              </a:prstGeom>
              <a:blipFill>
                <a:blip r:embed="rId2"/>
                <a:stretch>
                  <a:fillRect l="-1084" b="-571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002365C9-43F9-C746-B90C-0DE6E5BFE4B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97138" y="4002590"/>
                <a:ext cx="3296881" cy="1338955"/>
              </a:xfrm>
              <a:prstGeom prst="rect">
                <a:avLst/>
              </a:prstGeom>
              <a:ln>
                <a:noFill/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𝐵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1600" i="1" dirty="0"/>
                  <a:t> means that problem A is harder than problem B, shown through a </a:t>
                </a:r>
                <a:r>
                  <a:rPr lang="en-US" sz="1600" b="1" i="1" u="sng" dirty="0"/>
                  <a:t>reduction</a:t>
                </a:r>
                <a:r>
                  <a:rPr lang="en-US" sz="1600" i="1" dirty="0"/>
                  <a:t>, which we will see in a moment.</a:t>
                </a:r>
              </a:p>
            </p:txBody>
          </p:sp>
        </mc:Choice>
        <mc:Fallback xmlns="">
          <p:sp>
            <p:nvSpPr>
              <p:cNvPr id="17" name="Content Placeholder 4">
                <a:extLst>
                  <a:ext uri="{FF2B5EF4-FFF2-40B4-BE49-F238E27FC236}">
                    <a16:creationId xmlns:a16="http://schemas.microsoft.com/office/drawing/2014/main" id="{002365C9-43F9-C746-B90C-0DE6E5BFE4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138" y="4002590"/>
                <a:ext cx="3296881" cy="1338955"/>
              </a:xfrm>
              <a:prstGeom prst="rect">
                <a:avLst/>
              </a:prstGeom>
              <a:blipFill>
                <a:blip r:embed="rId3"/>
                <a:stretch>
                  <a:fillRect l="-76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757FA3D-9EC4-A748-9BAF-9415D236B50D}"/>
              </a:ext>
            </a:extLst>
          </p:cNvPr>
          <p:cNvCxnSpPr>
            <a:cxnSpLocks/>
          </p:cNvCxnSpPr>
          <p:nvPr/>
        </p:nvCxnSpPr>
        <p:spPr>
          <a:xfrm flipV="1">
            <a:off x="2845578" y="2996697"/>
            <a:ext cx="830129" cy="107988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26401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2661B-301F-ACC9-5551-21563C95B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D54BA993-AB73-FD57-0A2D-4C91067A35B8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E12123D-1786-CB92-0BC2-C7659C36B9DE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AC690678-B057-3D3D-C8C0-43A7375E212C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CD168CE3-B685-5CF4-26A5-E8C601C5857A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AAD10472-803D-0DF1-C7F9-E5A27FAE4BD5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2644FB4C-D3A3-E8CB-A7CF-ACAAC9598202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F5D0D99E-1BFC-0F7D-E25F-596635EA43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A4C43250-5E05-854E-D670-3BB4DB0C6525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71AAA3E8-3573-4574-4392-749A42404D4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722766B9-713F-B18E-4F22-1455E239F209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351B477-828D-C49E-ED37-88FD48C2E9AE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4D94017A-2DBF-3AC9-8858-E51AD3F8BA8A}"/>
              </a:ext>
            </a:extLst>
          </p:cNvPr>
          <p:cNvSpPr txBox="1">
            <a:spLocks/>
          </p:cNvSpPr>
          <p:nvPr/>
        </p:nvSpPr>
        <p:spPr>
          <a:xfrm>
            <a:off x="2064722" y="1919749"/>
            <a:ext cx="3296881" cy="133895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Remember that goal is to find a really hard problem in this NP-Complete region. But what is that problem?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78073AB-CCFF-F14E-2515-4182FADFDAA7}"/>
              </a:ext>
            </a:extLst>
          </p:cNvPr>
          <p:cNvCxnSpPr>
            <a:cxnSpLocks/>
          </p:cNvCxnSpPr>
          <p:nvPr/>
        </p:nvCxnSpPr>
        <p:spPr>
          <a:xfrm>
            <a:off x="4932000" y="2465374"/>
            <a:ext cx="2329307" cy="18412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4539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F937A-B747-AD43-D25E-D57418B62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DB175-E84F-F268-137B-34B846315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Satisfiability</a:t>
            </a:r>
          </a:p>
        </p:txBody>
      </p:sp>
    </p:spTree>
    <p:extLst>
      <p:ext uri="{BB962C8B-B14F-4D97-AF65-F5344CB8AC3E}">
        <p14:creationId xmlns:p14="http://schemas.microsoft.com/office/powerpoint/2010/main" val="19675039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Satisfiability (SAT)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78F5F-F936-6145-9FF8-704886F1A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474075"/>
            <a:ext cx="9905999" cy="884429"/>
          </a:xfrm>
          <a:solidFill>
            <a:schemeClr val="tx1">
              <a:lumMod val="95000"/>
            </a:schemeClr>
          </a:solidFill>
        </p:spPr>
        <p:txBody>
          <a:bodyPr anchor="ctr">
            <a:normAutofit lnSpcReduction="10000"/>
          </a:bodyPr>
          <a:lstStyle/>
          <a:p>
            <a:pPr marL="0" indent="0" algn="ctr">
              <a:buNone/>
            </a:pPr>
            <a:r>
              <a:rPr lang="en-US" b="1" i="1" u="sng" dirty="0">
                <a:solidFill>
                  <a:schemeClr val="bg1"/>
                </a:solidFill>
              </a:rPr>
              <a:t>Satisfiability (SAT) Problem</a:t>
            </a:r>
            <a:r>
              <a:rPr lang="en-US" dirty="0">
                <a:solidFill>
                  <a:schemeClr val="bg1"/>
                </a:solidFill>
              </a:rPr>
              <a:t>: Given a </a:t>
            </a:r>
            <a:r>
              <a:rPr lang="en-US" dirty="0" err="1">
                <a:solidFill>
                  <a:schemeClr val="accent3"/>
                </a:solidFill>
              </a:rPr>
              <a:t>boolean</a:t>
            </a:r>
            <a:r>
              <a:rPr lang="en-US" dirty="0">
                <a:solidFill>
                  <a:schemeClr val="accent3"/>
                </a:solidFill>
              </a:rPr>
              <a:t> formula</a:t>
            </a:r>
            <a:r>
              <a:rPr lang="en-US" dirty="0">
                <a:solidFill>
                  <a:schemeClr val="bg1"/>
                </a:solidFill>
              </a:rPr>
              <a:t>, is it possible to assign the variables true false values such that the </a:t>
            </a:r>
            <a:r>
              <a:rPr lang="en-US" dirty="0">
                <a:solidFill>
                  <a:schemeClr val="accent1"/>
                </a:solidFill>
              </a:rPr>
              <a:t>entire expression evaluates to “true”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C1D73BF-42AC-884D-8672-B2AA1D5E4609}"/>
              </a:ext>
            </a:extLst>
          </p:cNvPr>
          <p:cNvSpPr txBox="1">
            <a:spLocks/>
          </p:cNvSpPr>
          <p:nvPr/>
        </p:nvSpPr>
        <p:spPr>
          <a:xfrm>
            <a:off x="1689754" y="2819458"/>
            <a:ext cx="1632871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Example 1: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A61B19A-A987-9B82-154F-0782A0A9554C}"/>
              </a:ext>
            </a:extLst>
          </p:cNvPr>
          <p:cNvSpPr txBox="1">
            <a:spLocks/>
          </p:cNvSpPr>
          <p:nvPr/>
        </p:nvSpPr>
        <p:spPr>
          <a:xfrm>
            <a:off x="1689754" y="4380784"/>
            <a:ext cx="1632871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Example 2: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5A142DC-8ED5-20A6-F5B7-B451FEDAF06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89753" y="3401841"/>
                <a:ext cx="5507755" cy="5034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US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¬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25A142DC-8ED5-20A6-F5B7-B451FEDAF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9753" y="3401841"/>
                <a:ext cx="5507755" cy="503405"/>
              </a:xfrm>
              <a:prstGeom prst="rect">
                <a:avLst/>
              </a:prstGeom>
              <a:blipFill>
                <a:blip r:embed="rId2"/>
                <a:stretch>
                  <a:fillRect b="-714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8C1C8703-B7BC-F14A-813E-C696475314F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24342" y="4962001"/>
                <a:ext cx="5507755" cy="50340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chemeClr val="accent3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∨¬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8C1C8703-B7BC-F14A-813E-C696475314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4342" y="4962001"/>
                <a:ext cx="5507755" cy="503405"/>
              </a:xfrm>
              <a:prstGeom prst="rect">
                <a:avLst/>
              </a:prstGeom>
              <a:blipFill>
                <a:blip r:embed="rId3"/>
                <a:stretch>
                  <a:fillRect b="-476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36ACEB7-732E-BFF6-0E24-754FE7338F39}"/>
              </a:ext>
            </a:extLst>
          </p:cNvPr>
          <p:cNvSpPr txBox="1">
            <a:spLocks/>
          </p:cNvSpPr>
          <p:nvPr/>
        </p:nvSpPr>
        <p:spPr>
          <a:xfrm>
            <a:off x="7391928" y="3401841"/>
            <a:ext cx="3264004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True</a:t>
            </a: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: Set all variables to </a:t>
            </a: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True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079EA46-CAD6-1C50-0399-340F1A2CB515}"/>
              </a:ext>
            </a:extLst>
          </p:cNvPr>
          <p:cNvSpPr txBox="1">
            <a:spLocks/>
          </p:cNvSpPr>
          <p:nvPr/>
        </p:nvSpPr>
        <p:spPr>
          <a:xfrm>
            <a:off x="7391928" y="4962000"/>
            <a:ext cx="3264004" cy="503405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False</a:t>
            </a:r>
            <a:r>
              <a:rPr lang="en-US" i="1" dirty="0">
                <a:solidFill>
                  <a:schemeClr val="tx1">
                    <a:lumMod val="95000"/>
                  </a:schemeClr>
                </a:solidFill>
              </a:rPr>
              <a:t>: All assignment </a:t>
            </a:r>
            <a:r>
              <a:rPr lang="en-US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Fail</a:t>
            </a:r>
          </a:p>
        </p:txBody>
      </p:sp>
    </p:spTree>
    <p:extLst>
      <p:ext uri="{BB962C8B-B14F-4D97-AF65-F5344CB8AC3E}">
        <p14:creationId xmlns:p14="http://schemas.microsoft.com/office/powerpoint/2010/main" val="15316444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C9157-44F6-244C-27F9-069F25976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F0321-3855-EFFE-6637-10BD210E7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1255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Satisfiability (SAT)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18B6D0C-DC2B-EE57-C297-3D4A3666C4AD}"/>
                  </a:ext>
                </a:extLst>
              </p:cNvPr>
              <p:cNvSpPr txBox="1"/>
              <p:nvPr/>
            </p:nvSpPr>
            <p:spPr>
              <a:xfrm>
                <a:off x="2322677" y="3924537"/>
                <a:ext cx="2611461" cy="1200329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i="1" u="sng" dirty="0">
                    <a:solidFill>
                      <a:schemeClr val="bg1"/>
                    </a:solidFill>
                  </a:rPr>
                  <a:t>Solve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Very difficult! Only known algorithms are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18B6D0C-DC2B-EE57-C297-3D4A3666C4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2677" y="3924537"/>
                <a:ext cx="2611461" cy="1200329"/>
              </a:xfrm>
              <a:prstGeom prst="rect">
                <a:avLst/>
              </a:prstGeom>
              <a:blipFill>
                <a:blip r:embed="rId2"/>
                <a:stretch>
                  <a:fillRect l="-1449" t="-2062" r="-1449" b="-6186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C0D7CB7-4A09-BD04-D70E-2F5823344135}"/>
                  </a:ext>
                </a:extLst>
              </p:cNvPr>
              <p:cNvSpPr txBox="1"/>
              <p:nvPr/>
            </p:nvSpPr>
            <p:spPr>
              <a:xfrm>
                <a:off x="7049999" y="3853544"/>
                <a:ext cx="3997411" cy="1754326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i="1" u="sng" dirty="0">
                    <a:solidFill>
                      <a:schemeClr val="bg1"/>
                    </a:solidFill>
                  </a:rPr>
                  <a:t>Verify</a:t>
                </a:r>
                <a:r>
                  <a:rPr lang="en-US" dirty="0">
                    <a:solidFill>
                      <a:schemeClr val="bg1"/>
                    </a:solidFill>
                  </a:rPr>
                  <a:t>:</a:t>
                </a:r>
              </a:p>
              <a:p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Evidence: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br>
                  <a:rPr lang="en-US" dirty="0">
                    <a:solidFill>
                      <a:schemeClr val="bg1"/>
                    </a:solidFill>
                  </a:rPr>
                </a:br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Plug into formula and check solution. Algorithm is polynomial time!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C0D7CB7-4A09-BD04-D70E-2F5823344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9999" y="3853544"/>
                <a:ext cx="3997411" cy="1754326"/>
              </a:xfrm>
              <a:prstGeom prst="rect">
                <a:avLst/>
              </a:prstGeom>
              <a:blipFill>
                <a:blip r:embed="rId3"/>
                <a:stretch>
                  <a:fillRect l="-946" t="-709" b="-425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7132AE7-7081-4F03-29AF-D83E96146C8D}"/>
              </a:ext>
            </a:extLst>
          </p:cNvPr>
          <p:cNvCxnSpPr>
            <a:cxnSpLocks/>
          </p:cNvCxnSpPr>
          <p:nvPr/>
        </p:nvCxnSpPr>
        <p:spPr>
          <a:xfrm flipH="1">
            <a:off x="3739652" y="2507810"/>
            <a:ext cx="850455" cy="129885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944A6F5-B404-20F7-43A6-56B5E43F42E7}"/>
              </a:ext>
            </a:extLst>
          </p:cNvPr>
          <p:cNvCxnSpPr>
            <a:cxnSpLocks/>
          </p:cNvCxnSpPr>
          <p:nvPr/>
        </p:nvCxnSpPr>
        <p:spPr>
          <a:xfrm>
            <a:off x="7686392" y="2779414"/>
            <a:ext cx="1021796" cy="93578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660A0002-B305-061F-107F-C04D166B39F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3" y="1069060"/>
                <a:ext cx="9905997" cy="100818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</m:t>
                      </m:r>
                      <m:d>
                        <m:dPr>
                          <m:ctrlP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¬</m:t>
                          </m:r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4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4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∨</m:t>
                          </m:r>
                          <m:sSub>
                            <m:sSubPr>
                              <m:ctrlP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4000" b="0" i="1" smtClean="0">
                                  <a:solidFill>
                                    <a:schemeClr val="accent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∧(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∨</m:t>
                      </m:r>
                      <m:r>
                        <a:rPr lang="en-US" sz="4000" b="0" i="1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¬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accent4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000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660A0002-B305-061F-107F-C04D166B3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3" y="1069060"/>
                <a:ext cx="9905997" cy="1008188"/>
              </a:xfrm>
              <a:prstGeom prst="rect">
                <a:avLst/>
              </a:prstGeom>
              <a:blipFill>
                <a:blip r:embed="rId4"/>
                <a:stretch>
                  <a:fillRect b="-122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E095F4A8-3AF1-2F19-5C32-44FE8DD6A458}"/>
              </a:ext>
            </a:extLst>
          </p:cNvPr>
          <p:cNvSpPr txBox="1"/>
          <p:nvPr/>
        </p:nvSpPr>
        <p:spPr>
          <a:xfrm>
            <a:off x="7179398" y="2227152"/>
            <a:ext cx="4508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…but imagine this formula could be VERY long!</a:t>
            </a:r>
          </a:p>
        </p:txBody>
      </p:sp>
    </p:spTree>
    <p:extLst>
      <p:ext uri="{BB962C8B-B14F-4D97-AF65-F5344CB8AC3E}">
        <p14:creationId xmlns:p14="http://schemas.microsoft.com/office/powerpoint/2010/main" val="12027577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3B07A-59C1-78E3-5645-FE89C0BE0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C93E219D-928E-75CC-641F-6B0DC0C8CD6C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EE9256F-B981-5F1C-9B7B-B489D7EC1576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FCE7F387-1322-98C0-1C8E-4C67E8281495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328EA7F7-8BED-2313-EE6B-CD4DA20B3E0F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F3B71059-4863-2DD1-ECDA-61D02B4993B7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AEC28E7F-ED78-E2D8-AAC8-16A1EAACAD2E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3733CA58-C83A-EB9D-CDBB-50C32C07F7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2EFC6761-F42C-0FEB-A9B8-14E2BF1863D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07DE9928-D2FB-224B-99C2-9285246B8B2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8EF33FC8-CF4D-608D-78B9-3DD90B1F30EB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1DC4BDC-41DD-D6B1-731E-24B24D211664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EC41AE98-D96D-80D0-AA20-AD6AD572827A}"/>
              </a:ext>
            </a:extLst>
          </p:cNvPr>
          <p:cNvSpPr txBox="1">
            <a:spLocks/>
          </p:cNvSpPr>
          <p:nvPr/>
        </p:nvSpPr>
        <p:spPr>
          <a:xfrm>
            <a:off x="5372475" y="2343904"/>
            <a:ext cx="918778" cy="57634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200" i="1" dirty="0"/>
              <a:t>SAT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B36250E-31B3-36ED-15D7-74492C5ED40D}"/>
              </a:ext>
            </a:extLst>
          </p:cNvPr>
          <p:cNvCxnSpPr>
            <a:cxnSpLocks/>
          </p:cNvCxnSpPr>
          <p:nvPr/>
        </p:nvCxnSpPr>
        <p:spPr>
          <a:xfrm flipV="1">
            <a:off x="6096000" y="2649496"/>
            <a:ext cx="1165307" cy="1150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E37D55C-7CF2-27E3-98B5-285A88263AD7}"/>
              </a:ext>
            </a:extLst>
          </p:cNvPr>
          <p:cNvSpPr txBox="1"/>
          <p:nvPr/>
        </p:nvSpPr>
        <p:spPr>
          <a:xfrm>
            <a:off x="2263275" y="3327765"/>
            <a:ext cx="24082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…but how do we prove it? Need to show that every other problem down here somewhere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98613B6-9246-DA7C-1357-1D69DFFD49ED}"/>
              </a:ext>
            </a:extLst>
          </p:cNvPr>
          <p:cNvCxnSpPr>
            <a:cxnSpLocks/>
          </p:cNvCxnSpPr>
          <p:nvPr/>
        </p:nvCxnSpPr>
        <p:spPr>
          <a:xfrm>
            <a:off x="4494019" y="3967921"/>
            <a:ext cx="2329307" cy="18412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5322BD-D50B-DE4A-5E64-5ED4DCEC8ABF}"/>
              </a:ext>
            </a:extLst>
          </p:cNvPr>
          <p:cNvCxnSpPr>
            <a:cxnSpLocks/>
          </p:cNvCxnSpPr>
          <p:nvPr/>
        </p:nvCxnSpPr>
        <p:spPr>
          <a:xfrm flipV="1">
            <a:off x="3920150" y="4238639"/>
            <a:ext cx="2852396" cy="143432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14FA59C-11E4-0E11-F12F-04102F4047C5}"/>
              </a:ext>
            </a:extLst>
          </p:cNvPr>
          <p:cNvSpPr txBox="1"/>
          <p:nvPr/>
        </p:nvSpPr>
        <p:spPr>
          <a:xfrm>
            <a:off x="6770338" y="3983516"/>
            <a:ext cx="1239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Problem 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27ED115-4866-8E91-0CF8-7937722B7E2E}"/>
                  </a:ext>
                </a:extLst>
              </p:cNvPr>
              <p:cNvSpPr txBox="1"/>
              <p:nvPr/>
            </p:nvSpPr>
            <p:spPr>
              <a:xfrm>
                <a:off x="1677591" y="5297890"/>
                <a:ext cx="240822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US" dirty="0"/>
                  <a:t>Can be reduced to SAT:</a:t>
                </a:r>
                <a:br>
                  <a:rPr lang="en-US" dirty="0"/>
                </a:b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𝑆𝐴𝑇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27ED115-4866-8E91-0CF8-7937722B7E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7591" y="5297890"/>
                <a:ext cx="2408222" cy="923330"/>
              </a:xfrm>
              <a:prstGeom prst="rect">
                <a:avLst/>
              </a:prstGeom>
              <a:blipFill>
                <a:blip r:embed="rId2"/>
                <a:stretch>
                  <a:fillRect l="-2105" t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DB864372-B052-93C2-501F-72814F20B05A}"/>
              </a:ext>
            </a:extLst>
          </p:cNvPr>
          <p:cNvSpPr txBox="1"/>
          <p:nvPr/>
        </p:nvSpPr>
        <p:spPr>
          <a:xfrm>
            <a:off x="1021984" y="983068"/>
            <a:ext cx="4769223" cy="58477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b="1" i="1" u="sng" dirty="0">
                <a:solidFill>
                  <a:schemeClr val="bg1"/>
                </a:solidFill>
              </a:rPr>
              <a:t>Claim</a:t>
            </a:r>
            <a:r>
              <a:rPr lang="en-US" sz="3200" dirty="0">
                <a:solidFill>
                  <a:schemeClr val="bg1"/>
                </a:solidFill>
              </a:rPr>
              <a:t>: SAT is NP-Complete</a:t>
            </a:r>
          </a:p>
        </p:txBody>
      </p:sp>
    </p:spTree>
    <p:extLst>
      <p:ext uri="{BB962C8B-B14F-4D97-AF65-F5344CB8AC3E}">
        <p14:creationId xmlns:p14="http://schemas.microsoft.com/office/powerpoint/2010/main" val="35194357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52B90-E69B-D2B1-3FAD-2BF6F49FD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2C0ED13B-A9C7-1F9E-CC5C-07C28B0B0F37}"/>
              </a:ext>
            </a:extLst>
          </p:cNvPr>
          <p:cNvGrpSpPr/>
          <p:nvPr/>
        </p:nvGrpSpPr>
        <p:grpSpPr>
          <a:xfrm>
            <a:off x="5791207" y="-4553901"/>
            <a:ext cx="4831624" cy="11113993"/>
            <a:chOff x="5791207" y="-4553901"/>
            <a:chExt cx="4831624" cy="1111399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449CB88-AD6A-1985-5F18-9F8148EAEC1C}"/>
                </a:ext>
              </a:extLst>
            </p:cNvPr>
            <p:cNvGrpSpPr/>
            <p:nvPr/>
          </p:nvGrpSpPr>
          <p:grpSpPr>
            <a:xfrm>
              <a:off x="5791207" y="-4553901"/>
              <a:ext cx="4831624" cy="11113993"/>
              <a:chOff x="5791207" y="-4553901"/>
              <a:chExt cx="4831624" cy="1111399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579D315F-1EED-DF45-BC7E-62090A122460}"/>
                  </a:ext>
                </a:extLst>
              </p:cNvPr>
              <p:cNvGrpSpPr/>
              <p:nvPr/>
            </p:nvGrpSpPr>
            <p:grpSpPr>
              <a:xfrm>
                <a:off x="5908350" y="2496096"/>
                <a:ext cx="4714481" cy="4063996"/>
                <a:chOff x="4523051" y="1761068"/>
                <a:chExt cx="4714481" cy="4063996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BEBE23AE-1F5F-9258-97E9-298ECE24475B}"/>
                    </a:ext>
                  </a:extLst>
                </p:cNvPr>
                <p:cNvGrpSpPr/>
                <p:nvPr/>
              </p:nvGrpSpPr>
              <p:grpSpPr>
                <a:xfrm>
                  <a:off x="4523051" y="1854199"/>
                  <a:ext cx="3142722" cy="3970865"/>
                  <a:chOff x="4519612" y="1845732"/>
                  <a:chExt cx="3142722" cy="3970865"/>
                </a:xfrm>
              </p:grpSpPr>
              <p:sp>
                <p:nvSpPr>
                  <p:cNvPr id="2" name="Oval 1">
                    <a:extLst>
                      <a:ext uri="{FF2B5EF4-FFF2-40B4-BE49-F238E27FC236}">
                        <a16:creationId xmlns:a16="http://schemas.microsoft.com/office/drawing/2014/main" id="{E48F9E6F-3410-4DD0-E5C6-90E3903D18DF}"/>
                      </a:ext>
                    </a:extLst>
                  </p:cNvPr>
                  <p:cNvSpPr/>
                  <p:nvPr/>
                </p:nvSpPr>
                <p:spPr>
                  <a:xfrm>
                    <a:off x="4519612" y="1845732"/>
                    <a:ext cx="3142722" cy="3970865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NP</a:t>
                    </a:r>
                  </a:p>
                </p:txBody>
              </p:sp>
              <p:sp>
                <p:nvSpPr>
                  <p:cNvPr id="13" name="Oval 12">
                    <a:extLst>
                      <a:ext uri="{FF2B5EF4-FFF2-40B4-BE49-F238E27FC236}">
                        <a16:creationId xmlns:a16="http://schemas.microsoft.com/office/drawing/2014/main" id="{8E7BC2F3-F0DF-5538-9692-A6CCFC582F0D}"/>
                      </a:ext>
                    </a:extLst>
                  </p:cNvPr>
                  <p:cNvSpPr/>
                  <p:nvPr/>
                </p:nvSpPr>
                <p:spPr>
                  <a:xfrm>
                    <a:off x="4936067" y="3649131"/>
                    <a:ext cx="2269066" cy="2159000"/>
                  </a:xfrm>
                  <a:prstGeom prst="ellips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3000" dirty="0">
                        <a:solidFill>
                          <a:schemeClr val="bg1"/>
                        </a:solidFill>
                      </a:rPr>
                      <a:t>P</a:t>
                    </a:r>
                  </a:p>
                </p:txBody>
              </p:sp>
            </p:grp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B4770643-D66B-CF55-7DE7-E0F10E8107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823200" y="1854199"/>
                  <a:ext cx="0" cy="387773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8" name="Content Placeholder 4">
                  <a:extLst>
                    <a:ext uri="{FF2B5EF4-FFF2-40B4-BE49-F238E27FC236}">
                      <a16:creationId xmlns:a16="http://schemas.microsoft.com/office/drawing/2014/main" id="{0B0F0FF4-CE02-A7AF-1FC3-1362D10B7D0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757715" y="5469457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Easy Problems</a:t>
                  </a:r>
                  <a:endParaRPr lang="en-US" sz="1600" i="1" dirty="0"/>
                </a:p>
              </p:txBody>
            </p:sp>
            <p:sp>
              <p:nvSpPr>
                <p:cNvPr id="19" name="Content Placeholder 4">
                  <a:extLst>
                    <a:ext uri="{FF2B5EF4-FFF2-40B4-BE49-F238E27FC236}">
                      <a16:creationId xmlns:a16="http://schemas.microsoft.com/office/drawing/2014/main" id="{CD6E0880-7CB2-1BEC-0305-33FAF7E44DA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823200" y="1761068"/>
                  <a:ext cx="1414332" cy="355607"/>
                </a:xfrm>
                <a:prstGeom prst="rect">
                  <a:avLst/>
                </a:prstGeom>
                <a:ln>
                  <a:noFill/>
                </a:ln>
              </p:spPr>
              <p:txBody>
                <a:bodyPr vert="horz" lIns="91440" tIns="45720" rIns="91440" bIns="45720" rtlCol="0">
                  <a:normAutofit lnSpcReduction="10000"/>
                </a:bodyPr>
                <a:lstStyle>
                  <a:lvl1pPr marL="228600" indent="-228600" algn="l" defTabSz="914400" rtl="0" eaLnBrk="1" latinLnBrk="0" hangingPunct="1">
                    <a:lnSpc>
                      <a:spcPct val="120000"/>
                    </a:lnSpc>
                    <a:spcBef>
                      <a:spcPts val="1000"/>
                    </a:spcBef>
                    <a:buSzPct val="125000"/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6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120000"/>
                    </a:lnSpc>
                    <a:spcBef>
                      <a:spcPts val="500"/>
                    </a:spcBef>
                    <a:buSzPct val="125000"/>
                    <a:buFont typeface="Arial" panose="020B0604020202020204" pitchFamily="34" charset="0"/>
                    <a:buChar char="•"/>
                    <a:defRPr sz="1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 algn="ctr">
                    <a:buFont typeface="Arial" panose="020B0604020202020204" pitchFamily="34" charset="0"/>
                    <a:buNone/>
                  </a:pPr>
                  <a:r>
                    <a:rPr lang="en-US" sz="1600" b="1" i="1" dirty="0"/>
                    <a:t>Hard Problems</a:t>
                  </a:r>
                  <a:endParaRPr lang="en-US" sz="1600" i="1" dirty="0"/>
                </a:p>
              </p:txBody>
            </p:sp>
          </p:grpSp>
          <p:sp>
            <p:nvSpPr>
              <p:cNvPr id="5" name="Arc 4">
                <a:extLst>
                  <a:ext uri="{FF2B5EF4-FFF2-40B4-BE49-F238E27FC236}">
                    <a16:creationId xmlns:a16="http://schemas.microsoft.com/office/drawing/2014/main" id="{4B43F188-F5EC-0D07-E1C6-4848AD2B6010}"/>
                  </a:ext>
                </a:extLst>
              </p:cNvPr>
              <p:cNvSpPr/>
              <p:nvPr/>
            </p:nvSpPr>
            <p:spPr>
              <a:xfrm>
                <a:off x="5791207" y="-4553901"/>
                <a:ext cx="3336261" cy="7263666"/>
              </a:xfrm>
              <a:prstGeom prst="arc">
                <a:avLst>
                  <a:gd name="adj1" fmla="val 334075"/>
                  <a:gd name="adj2" fmla="val 10164359"/>
                </a:avLst>
              </a:prstGeom>
              <a:solidFill>
                <a:schemeClr val="accent1"/>
              </a:solidFill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bg1"/>
                    </a:solidFill>
                  </a:rPr>
                  <a:t>NP-Hard</a:t>
                </a:r>
              </a:p>
            </p:txBody>
          </p:sp>
        </p:grp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1454EAE-B1EC-7AED-4FAC-168CAE421247}"/>
                </a:ext>
              </a:extLst>
            </p:cNvPr>
            <p:cNvSpPr/>
            <p:nvPr/>
          </p:nvSpPr>
          <p:spPr>
            <a:xfrm>
              <a:off x="7152238" y="2589227"/>
              <a:ext cx="624689" cy="12053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FAA20F94-6262-A43B-D0AF-476925811DD2}"/>
              </a:ext>
            </a:extLst>
          </p:cNvPr>
          <p:cNvSpPr txBox="1">
            <a:spLocks/>
          </p:cNvSpPr>
          <p:nvPr/>
        </p:nvSpPr>
        <p:spPr>
          <a:xfrm>
            <a:off x="5372475" y="2343904"/>
            <a:ext cx="918778" cy="57634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200" i="1" dirty="0"/>
              <a:t>SAT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4E5E726-BA55-D874-46F6-CC2692C2A688}"/>
              </a:ext>
            </a:extLst>
          </p:cNvPr>
          <p:cNvCxnSpPr>
            <a:cxnSpLocks/>
          </p:cNvCxnSpPr>
          <p:nvPr/>
        </p:nvCxnSpPr>
        <p:spPr>
          <a:xfrm flipV="1">
            <a:off x="6096000" y="2649496"/>
            <a:ext cx="1165307" cy="11506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8E9AEC8-6E38-015B-591F-FC01EE431ECD}"/>
              </a:ext>
            </a:extLst>
          </p:cNvPr>
          <p:cNvCxnSpPr>
            <a:cxnSpLocks/>
          </p:cNvCxnSpPr>
          <p:nvPr/>
        </p:nvCxnSpPr>
        <p:spPr>
          <a:xfrm flipV="1">
            <a:off x="4702629" y="4238639"/>
            <a:ext cx="2069917" cy="228858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E3FF810-A3B6-687A-F3D4-64081BA437E7}"/>
              </a:ext>
            </a:extLst>
          </p:cNvPr>
          <p:cNvSpPr txBox="1"/>
          <p:nvPr/>
        </p:nvSpPr>
        <p:spPr>
          <a:xfrm>
            <a:off x="6770338" y="3983516"/>
            <a:ext cx="1239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Problem 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A5F7DE-6E2D-2D8E-E7F6-654613DC493A}"/>
              </a:ext>
            </a:extLst>
          </p:cNvPr>
          <p:cNvSpPr txBox="1"/>
          <p:nvPr/>
        </p:nvSpPr>
        <p:spPr>
          <a:xfrm>
            <a:off x="1021984" y="983068"/>
            <a:ext cx="4769223" cy="584775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b="1" i="1" u="sng" dirty="0">
                <a:solidFill>
                  <a:schemeClr val="bg1"/>
                </a:solidFill>
              </a:rPr>
              <a:t>Claim</a:t>
            </a:r>
            <a:r>
              <a:rPr lang="en-US" sz="3200" dirty="0">
                <a:solidFill>
                  <a:schemeClr val="bg1"/>
                </a:solidFill>
              </a:rPr>
              <a:t>: SAT is NP-Complete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E81B25-357A-7F3C-E130-E83A89BBFF78}"/>
              </a:ext>
            </a:extLst>
          </p:cNvPr>
          <p:cNvSpPr txBox="1"/>
          <p:nvPr/>
        </p:nvSpPr>
        <p:spPr>
          <a:xfrm>
            <a:off x="1389831" y="4159473"/>
            <a:ext cx="3187337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What do we know about any generic problem A: It has a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computer program </a:t>
            </a:r>
            <a:r>
              <a:rPr lang="en-US" dirty="0"/>
              <a:t>that solves it!</a:t>
            </a:r>
          </a:p>
        </p:txBody>
      </p:sp>
    </p:spTree>
    <p:extLst>
      <p:ext uri="{BB962C8B-B14F-4D97-AF65-F5344CB8AC3E}">
        <p14:creationId xmlns:p14="http://schemas.microsoft.com/office/powerpoint/2010/main" val="34220528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DA440-D8FD-86DE-55A6-C8B441127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4BFC-C8BE-2C92-B777-E6608F3A0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Computer Programs!</a:t>
            </a:r>
          </a:p>
        </p:txBody>
      </p:sp>
    </p:spTree>
    <p:extLst>
      <p:ext uri="{BB962C8B-B14F-4D97-AF65-F5344CB8AC3E}">
        <p14:creationId xmlns:p14="http://schemas.microsoft.com/office/powerpoint/2010/main" val="34347996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FFB77-F45F-1D6C-A455-C728DA17D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64874-A7EE-6FE8-99BC-3BDAA5028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91647"/>
            <a:ext cx="9905998" cy="740019"/>
          </a:xfrm>
        </p:spPr>
        <p:txBody>
          <a:bodyPr/>
          <a:lstStyle/>
          <a:p>
            <a:pPr algn="ctr"/>
            <a:r>
              <a:rPr lang="en-US" dirty="0"/>
              <a:t>Quick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899C2-4A97-9482-A77D-E00A7FBFD6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3843" y="1007207"/>
            <a:ext cx="7304313" cy="950560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 anchorCtr="0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All computer programs can be represented with </a:t>
            </a:r>
            <a:r>
              <a:rPr lang="en-US" dirty="0">
                <a:solidFill>
                  <a:schemeClr val="accent3"/>
                </a:solidFill>
              </a:rPr>
              <a:t>computational models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5D9F745-897A-6FDF-D712-D21A373F856E}"/>
              </a:ext>
            </a:extLst>
          </p:cNvPr>
          <p:cNvSpPr txBox="1">
            <a:spLocks/>
          </p:cNvSpPr>
          <p:nvPr/>
        </p:nvSpPr>
        <p:spPr>
          <a:xfrm>
            <a:off x="2443843" y="2326700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A </a:t>
            </a:r>
            <a:r>
              <a:rPr lang="en-US" dirty="0">
                <a:solidFill>
                  <a:schemeClr val="accent3"/>
                </a:solidFill>
              </a:rPr>
              <a:t>computational model </a:t>
            </a:r>
            <a:r>
              <a:rPr lang="en-US" dirty="0">
                <a:solidFill>
                  <a:schemeClr val="bg1"/>
                </a:solidFill>
              </a:rPr>
              <a:t>is a simple reduced version of the program but fully describes how to solve the problem.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9965BA8-99B4-3B62-E9B1-53D868168861}"/>
              </a:ext>
            </a:extLst>
          </p:cNvPr>
          <p:cNvSpPr txBox="1">
            <a:spLocks/>
          </p:cNvSpPr>
          <p:nvPr/>
        </p:nvSpPr>
        <p:spPr>
          <a:xfrm>
            <a:off x="2443843" y="3646193"/>
            <a:ext cx="7304313" cy="95056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bg1"/>
                </a:solidFill>
              </a:rPr>
              <a:t>There is a reduction between a </a:t>
            </a:r>
            <a:r>
              <a:rPr lang="en-US" dirty="0">
                <a:solidFill>
                  <a:schemeClr val="accent3"/>
                </a:solidFill>
              </a:rPr>
              <a:t>computational model</a:t>
            </a:r>
            <a:r>
              <a:rPr lang="en-US" dirty="0">
                <a:solidFill>
                  <a:schemeClr val="bg1"/>
                </a:solidFill>
              </a:rPr>
              <a:t>’s description (“code”) and an equivalent SAT expression!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9E21AE-D9D8-1B8C-EB9A-4D5022423BFE}"/>
              </a:ext>
            </a:extLst>
          </p:cNvPr>
          <p:cNvSpPr txBox="1"/>
          <p:nvPr/>
        </p:nvSpPr>
        <p:spPr>
          <a:xfrm>
            <a:off x="5155474" y="4965686"/>
            <a:ext cx="6035040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Disclaimer</a:t>
            </a:r>
            <a:r>
              <a:rPr lang="en-US" dirty="0"/>
              <a:t>!</a:t>
            </a:r>
            <a:br>
              <a:rPr lang="en-US" dirty="0"/>
            </a:br>
            <a:r>
              <a:rPr lang="en-US" dirty="0"/>
              <a:t>Everything in this section is going to be a bit vague. It is A LOT of material and we don’t have time to go over it thoroughly. This will give you a rough idea of how these things work and you will see it in much more detail in DMT2!</a:t>
            </a:r>
          </a:p>
        </p:txBody>
      </p:sp>
    </p:spTree>
    <p:extLst>
      <p:ext uri="{BB962C8B-B14F-4D97-AF65-F5344CB8AC3E}">
        <p14:creationId xmlns:p14="http://schemas.microsoft.com/office/powerpoint/2010/main" val="17089291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FC23A-C3F3-01CD-25BA-D69D85676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A5EC4-B117-0832-7E62-B92C0E239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651"/>
            <a:ext cx="9905998" cy="740019"/>
          </a:xfrm>
        </p:spPr>
        <p:txBody>
          <a:bodyPr/>
          <a:lstStyle/>
          <a:p>
            <a:pPr algn="ctr"/>
            <a:r>
              <a:rPr lang="en-US" dirty="0"/>
              <a:t>Simple Program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186B0-A970-0B0C-8BDB-E84E19A82E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8886" y="2407966"/>
            <a:ext cx="7794228" cy="639107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 anchorCtr="0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bg1"/>
                </a:solidFill>
              </a:rPr>
              <a:t>Given a </a:t>
            </a:r>
            <a:r>
              <a:rPr lang="en-US" dirty="0">
                <a:solidFill>
                  <a:schemeClr val="accent5"/>
                </a:solidFill>
              </a:rPr>
              <a:t>string</a:t>
            </a:r>
            <a:r>
              <a:rPr lang="en-US" dirty="0">
                <a:solidFill>
                  <a:schemeClr val="bg1"/>
                </a:solidFill>
              </a:rPr>
              <a:t> input: Is this </a:t>
            </a:r>
            <a:r>
              <a:rPr lang="en-US" dirty="0">
                <a:solidFill>
                  <a:schemeClr val="accent5"/>
                </a:solidFill>
              </a:rPr>
              <a:t>string</a:t>
            </a:r>
            <a:r>
              <a:rPr lang="en-US" dirty="0">
                <a:solidFill>
                  <a:schemeClr val="bg1"/>
                </a:solidFill>
              </a:rPr>
              <a:t> a valid UVa Computing ID?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428360-AF9A-9C22-454E-9451575C425A}"/>
              </a:ext>
            </a:extLst>
          </p:cNvPr>
          <p:cNvSpPr txBox="1"/>
          <p:nvPr/>
        </p:nvSpPr>
        <p:spPr>
          <a:xfrm>
            <a:off x="2198886" y="2038634"/>
            <a:ext cx="7794228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Consider the following problem: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B4A210-4AD1-1CC7-3781-B338085EE260}"/>
              </a:ext>
            </a:extLst>
          </p:cNvPr>
          <p:cNvSpPr txBox="1"/>
          <p:nvPr/>
        </p:nvSpPr>
        <p:spPr>
          <a:xfrm>
            <a:off x="1340469" y="4385388"/>
            <a:ext cx="39779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u="sng" dirty="0"/>
              <a:t>Format</a:t>
            </a:r>
            <a:r>
              <a:rPr lang="en-US" dirty="0"/>
              <a:t>:</a:t>
            </a:r>
          </a:p>
          <a:p>
            <a:pPr marL="342900" indent="-342900">
              <a:buAutoNum type="arabicPeriod"/>
            </a:pPr>
            <a:r>
              <a:rPr lang="en-US" dirty="0"/>
              <a:t>Starts with two or three letters (L)</a:t>
            </a:r>
          </a:p>
          <a:p>
            <a:pPr marL="342900" indent="-342900">
              <a:buAutoNum type="arabicPeriod"/>
            </a:pPr>
            <a:r>
              <a:rPr lang="en-US" dirty="0"/>
              <a:t>Optional digit (D)</a:t>
            </a:r>
          </a:p>
          <a:p>
            <a:pPr marL="342900" indent="-342900">
              <a:buAutoNum type="arabicPeriod"/>
            </a:pPr>
            <a:r>
              <a:rPr lang="en-US" dirty="0"/>
              <a:t>1-3 more letters IF there was a digit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1A1BAE-B4F7-5FE6-080D-F194DBA54370}"/>
              </a:ext>
            </a:extLst>
          </p:cNvPr>
          <p:cNvCxnSpPr/>
          <p:nvPr/>
        </p:nvCxnSpPr>
        <p:spPr>
          <a:xfrm flipH="1">
            <a:off x="2198886" y="3163078"/>
            <a:ext cx="1309424" cy="1203649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57F95CB-2AC2-AE63-8427-11C92CFFB6A6}"/>
              </a:ext>
            </a:extLst>
          </p:cNvPr>
          <p:cNvSpPr txBox="1"/>
          <p:nvPr/>
        </p:nvSpPr>
        <p:spPr>
          <a:xfrm>
            <a:off x="6825942" y="5122590"/>
            <a:ext cx="4223057" cy="646331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Valid Formats</a:t>
            </a:r>
            <a:r>
              <a:rPr lang="en-US" dirty="0"/>
              <a:t>:</a:t>
            </a:r>
          </a:p>
          <a:p>
            <a:r>
              <a:rPr lang="en-US" dirty="0"/>
              <a:t>LL, LLL, LLDL, LLDLL, LLLDLL, LLDLLL, LLLDLLL</a:t>
            </a:r>
          </a:p>
        </p:txBody>
      </p:sp>
    </p:spTree>
    <p:extLst>
      <p:ext uri="{BB962C8B-B14F-4D97-AF65-F5344CB8AC3E}">
        <p14:creationId xmlns:p14="http://schemas.microsoft.com/office/powerpoint/2010/main" val="32740914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31168-ADA4-A26C-D7CB-9617C1BB6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Python Code</a:t>
            </a:r>
          </a:p>
        </p:txBody>
      </p:sp>
      <p:pic>
        <p:nvPicPr>
          <p:cNvPr id="5" name="Picture 4" descr="A computer code with red and blue text&#10;&#10;AI-generated content may be incorrect.">
            <a:extLst>
              <a:ext uri="{FF2B5EF4-FFF2-40B4-BE49-F238E27FC236}">
                <a16:creationId xmlns:a16="http://schemas.microsoft.com/office/drawing/2014/main" id="{7AA0EC6F-A4E1-1FF4-6DF9-C786B094B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4477" y="693444"/>
            <a:ext cx="5858014" cy="3575112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CB198824-F6D2-5FAF-59F0-F74D31AC0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154" y="693444"/>
            <a:ext cx="5216849" cy="58922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BEE4BCE-C589-583F-1C6E-DA0DD56DCF1A}"/>
              </a:ext>
            </a:extLst>
          </p:cNvPr>
          <p:cNvSpPr txBox="1"/>
          <p:nvPr/>
        </p:nvSpPr>
        <p:spPr>
          <a:xfrm>
            <a:off x="6490999" y="5038531"/>
            <a:ext cx="4618653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Main Point</a:t>
            </a:r>
            <a:r>
              <a:rPr lang="en-US" dirty="0"/>
              <a:t>: This code works! It uses a bunch of if-statements and is a working computer program for this problem. Great!</a:t>
            </a:r>
          </a:p>
        </p:txBody>
      </p:sp>
    </p:spTree>
    <p:extLst>
      <p:ext uri="{BB962C8B-B14F-4D97-AF65-F5344CB8AC3E}">
        <p14:creationId xmlns:p14="http://schemas.microsoft.com/office/powerpoint/2010/main" val="28371262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1D464-5C2E-86E8-3C39-A61BFBE34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FC6B2-3AF5-4412-398A-69F474D84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 different Way of “Coding” This…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64B991BB-090A-5AA0-6F89-05FAA07A36E8}"/>
              </a:ext>
            </a:extLst>
          </p:cNvPr>
          <p:cNvGrpSpPr/>
          <p:nvPr/>
        </p:nvGrpSpPr>
        <p:grpSpPr>
          <a:xfrm>
            <a:off x="1433806" y="1118514"/>
            <a:ext cx="8941835" cy="3072883"/>
            <a:chOff x="643814" y="2052736"/>
            <a:chExt cx="8941835" cy="3072883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068EDBD0-730B-523F-BC0F-2F85A2DD6453}"/>
                </a:ext>
              </a:extLst>
            </p:cNvPr>
            <p:cNvSpPr/>
            <p:nvPr/>
          </p:nvSpPr>
          <p:spPr>
            <a:xfrm>
              <a:off x="2258010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0EDE0720-CC3D-FF88-43F1-5630D245240F}"/>
                </a:ext>
              </a:extLst>
            </p:cNvPr>
            <p:cNvSpPr/>
            <p:nvPr/>
          </p:nvSpPr>
          <p:spPr>
            <a:xfrm>
              <a:off x="4323185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3B18173-9961-8CDC-7E4A-761433912720}"/>
                </a:ext>
              </a:extLst>
            </p:cNvPr>
            <p:cNvSpPr/>
            <p:nvPr/>
          </p:nvSpPr>
          <p:spPr>
            <a:xfrm>
              <a:off x="6388360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3C307CC-0B7C-F6AB-2DDF-E8C6750E854D}"/>
                </a:ext>
              </a:extLst>
            </p:cNvPr>
            <p:cNvSpPr/>
            <p:nvPr/>
          </p:nvSpPr>
          <p:spPr>
            <a:xfrm>
              <a:off x="8453535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DFE1DDEA-4846-CDFE-46B3-8D620050FB6D}"/>
                </a:ext>
              </a:extLst>
            </p:cNvPr>
            <p:cNvSpPr/>
            <p:nvPr/>
          </p:nvSpPr>
          <p:spPr>
            <a:xfrm>
              <a:off x="2258010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9816CA0-BEE7-11E8-0DFC-DE7CD2110A86}"/>
                </a:ext>
              </a:extLst>
            </p:cNvPr>
            <p:cNvSpPr/>
            <p:nvPr/>
          </p:nvSpPr>
          <p:spPr>
            <a:xfrm>
              <a:off x="4323185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0547576-D203-3E80-A4FC-161B0CAC3B64}"/>
                </a:ext>
              </a:extLst>
            </p:cNvPr>
            <p:cNvSpPr/>
            <p:nvPr/>
          </p:nvSpPr>
          <p:spPr>
            <a:xfrm>
              <a:off x="6388360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9281A55-3416-0DF1-E27D-E4A467DF535A}"/>
                </a:ext>
              </a:extLst>
            </p:cNvPr>
            <p:cNvSpPr/>
            <p:nvPr/>
          </p:nvSpPr>
          <p:spPr>
            <a:xfrm>
              <a:off x="8453535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EC62288-F8F5-67DD-0BAD-D2557657845A}"/>
                </a:ext>
              </a:extLst>
            </p:cNvPr>
            <p:cNvSpPr/>
            <p:nvPr/>
          </p:nvSpPr>
          <p:spPr>
            <a:xfrm>
              <a:off x="6466114" y="2130491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5A446C3-3165-D645-F202-C3AD0815BCFC}"/>
                </a:ext>
              </a:extLst>
            </p:cNvPr>
            <p:cNvSpPr/>
            <p:nvPr/>
          </p:nvSpPr>
          <p:spPr>
            <a:xfrm>
              <a:off x="6466114" y="4268757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04C7D579-176E-6F9B-466D-4853576FC10C}"/>
                </a:ext>
              </a:extLst>
            </p:cNvPr>
            <p:cNvSpPr/>
            <p:nvPr/>
          </p:nvSpPr>
          <p:spPr>
            <a:xfrm>
              <a:off x="4400940" y="4268757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B99755C-1E5F-60F1-AD83-5F95BE59029D}"/>
                </a:ext>
              </a:extLst>
            </p:cNvPr>
            <p:cNvSpPr/>
            <p:nvPr/>
          </p:nvSpPr>
          <p:spPr>
            <a:xfrm>
              <a:off x="2334210" y="4268757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0B88462-A76E-7351-BEFC-8B74D64DC3B6}"/>
                </a:ext>
              </a:extLst>
            </p:cNvPr>
            <p:cNvCxnSpPr>
              <a:cxnSpLocks/>
              <a:endCxn id="3" idx="2"/>
            </p:cNvCxnSpPr>
            <p:nvPr/>
          </p:nvCxnSpPr>
          <p:spPr>
            <a:xfrm>
              <a:off x="1334278" y="2519267"/>
              <a:ext cx="923732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86CFAD9-5C16-AAB9-709E-0DF31535A1B9}"/>
                </a:ext>
              </a:extLst>
            </p:cNvPr>
            <p:cNvCxnSpPr>
              <a:cxnSpLocks/>
              <a:stCxn id="3" idx="6"/>
              <a:endCxn id="4" idx="2"/>
            </p:cNvCxnSpPr>
            <p:nvPr/>
          </p:nvCxnSpPr>
          <p:spPr>
            <a:xfrm>
              <a:off x="3191072" y="2519267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FC85AFB-DD86-3CA2-104B-99F18CCBCD02}"/>
                </a:ext>
              </a:extLst>
            </p:cNvPr>
            <p:cNvCxnSpPr>
              <a:cxnSpLocks/>
              <a:stCxn id="4" idx="6"/>
              <a:endCxn id="6" idx="2"/>
            </p:cNvCxnSpPr>
            <p:nvPr/>
          </p:nvCxnSpPr>
          <p:spPr>
            <a:xfrm>
              <a:off x="5256247" y="2519267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144CD39-3E2E-52ED-B467-AA636A88A210}"/>
                </a:ext>
              </a:extLst>
            </p:cNvPr>
            <p:cNvCxnSpPr>
              <a:cxnSpLocks/>
              <a:stCxn id="6" idx="6"/>
              <a:endCxn id="9" idx="2"/>
            </p:cNvCxnSpPr>
            <p:nvPr/>
          </p:nvCxnSpPr>
          <p:spPr>
            <a:xfrm>
              <a:off x="7321422" y="2519267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0EC7D43B-7FED-B991-2271-7AB2F4DD7835}"/>
                </a:ext>
              </a:extLst>
            </p:cNvPr>
            <p:cNvCxnSpPr>
              <a:cxnSpLocks/>
              <a:stCxn id="6" idx="5"/>
              <a:endCxn id="13" idx="1"/>
            </p:cNvCxnSpPr>
            <p:nvPr/>
          </p:nvCxnSpPr>
          <p:spPr>
            <a:xfrm>
              <a:off x="7184778" y="2849154"/>
              <a:ext cx="1405401" cy="1480047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C571837-F73C-8066-B123-DB96663D1BD8}"/>
                </a:ext>
              </a:extLst>
            </p:cNvPr>
            <p:cNvCxnSpPr>
              <a:cxnSpLocks/>
              <a:stCxn id="9" idx="4"/>
              <a:endCxn id="13" idx="0"/>
            </p:cNvCxnSpPr>
            <p:nvPr/>
          </p:nvCxnSpPr>
          <p:spPr>
            <a:xfrm>
              <a:off x="8920066" y="2985798"/>
              <a:ext cx="0" cy="1206759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03CB26B-ED53-28EF-25EC-6C74CD800EAC}"/>
                </a:ext>
              </a:extLst>
            </p:cNvPr>
            <p:cNvCxnSpPr>
              <a:cxnSpLocks/>
              <a:stCxn id="13" idx="2"/>
              <a:endCxn id="12" idx="6"/>
            </p:cNvCxnSpPr>
            <p:nvPr/>
          </p:nvCxnSpPr>
          <p:spPr>
            <a:xfrm flipH="1">
              <a:off x="7321422" y="4659088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738819C0-65F9-B97F-822F-4485E7822B1B}"/>
                </a:ext>
              </a:extLst>
            </p:cNvPr>
            <p:cNvCxnSpPr>
              <a:cxnSpLocks/>
              <a:stCxn id="12" idx="2"/>
              <a:endCxn id="11" idx="6"/>
            </p:cNvCxnSpPr>
            <p:nvPr/>
          </p:nvCxnSpPr>
          <p:spPr>
            <a:xfrm flipH="1">
              <a:off x="5256247" y="4659088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AF2A9FCB-2FFD-814D-DBFC-778AAA2C53E4}"/>
                </a:ext>
              </a:extLst>
            </p:cNvPr>
            <p:cNvCxnSpPr>
              <a:cxnSpLocks/>
              <a:stCxn id="11" idx="2"/>
              <a:endCxn id="10" idx="6"/>
            </p:cNvCxnSpPr>
            <p:nvPr/>
          </p:nvCxnSpPr>
          <p:spPr>
            <a:xfrm flipH="1">
              <a:off x="3191072" y="4659088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7790CE5C-7C47-4C79-4F37-9298DC2B1A11}"/>
                </a:ext>
              </a:extLst>
            </p:cNvPr>
            <p:cNvSpPr txBox="1"/>
            <p:nvPr/>
          </p:nvSpPr>
          <p:spPr>
            <a:xfrm>
              <a:off x="3349694" y="2101336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447A5DA-2D6A-5C37-3B83-FEE425AB2CCE}"/>
                </a:ext>
              </a:extLst>
            </p:cNvPr>
            <p:cNvSpPr txBox="1"/>
            <p:nvPr/>
          </p:nvSpPr>
          <p:spPr>
            <a:xfrm>
              <a:off x="5464628" y="2060900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2ABF87DC-B90B-D97C-8F74-BCF39F3B9421}"/>
                </a:ext>
              </a:extLst>
            </p:cNvPr>
            <p:cNvSpPr txBox="1"/>
            <p:nvPr/>
          </p:nvSpPr>
          <p:spPr>
            <a:xfrm>
              <a:off x="7504923" y="2060900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48D07C6-38F1-7473-641D-49A75DFC3EDE}"/>
                </a:ext>
              </a:extLst>
            </p:cNvPr>
            <p:cNvSpPr txBox="1"/>
            <p:nvPr/>
          </p:nvSpPr>
          <p:spPr>
            <a:xfrm>
              <a:off x="3349694" y="4268757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EDA8FC6A-763D-D7A3-0972-AD4DF83FE421}"/>
                </a:ext>
              </a:extLst>
            </p:cNvPr>
            <p:cNvSpPr txBox="1"/>
            <p:nvPr/>
          </p:nvSpPr>
          <p:spPr>
            <a:xfrm>
              <a:off x="5439748" y="4241157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FC8F376-9AF8-35CA-76B8-DCB74747E1D3}"/>
                </a:ext>
              </a:extLst>
            </p:cNvPr>
            <p:cNvSpPr txBox="1"/>
            <p:nvPr/>
          </p:nvSpPr>
          <p:spPr>
            <a:xfrm>
              <a:off x="7504923" y="4241157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C118B6E-BD6E-F2EC-DE82-892BF54E9CD4}"/>
                </a:ext>
              </a:extLst>
            </p:cNvPr>
            <p:cNvSpPr txBox="1"/>
            <p:nvPr/>
          </p:nvSpPr>
          <p:spPr>
            <a:xfrm>
              <a:off x="7607458" y="3123412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1-9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B95BFA01-5762-1E11-A7BE-2F5748A06FBB}"/>
                </a:ext>
              </a:extLst>
            </p:cNvPr>
            <p:cNvSpPr txBox="1"/>
            <p:nvPr/>
          </p:nvSpPr>
          <p:spPr>
            <a:xfrm>
              <a:off x="8820539" y="3356694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1-9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73A09CB-2A2D-8291-57CA-467719447171}"/>
                </a:ext>
              </a:extLst>
            </p:cNvPr>
            <p:cNvSpPr txBox="1"/>
            <p:nvPr/>
          </p:nvSpPr>
          <p:spPr>
            <a:xfrm>
              <a:off x="643814" y="2334601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Start</a:t>
              </a:r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0998E107-864B-ECFE-509E-82ACAFE3F8F1}"/>
              </a:ext>
            </a:extLst>
          </p:cNvPr>
          <p:cNvSpPr txBox="1"/>
          <p:nvPr/>
        </p:nvSpPr>
        <p:spPr>
          <a:xfrm>
            <a:off x="1611086" y="4633433"/>
            <a:ext cx="5607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Procedure: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9E10A2E-2584-2CDD-595B-60A23F2FEFC0}"/>
              </a:ext>
            </a:extLst>
          </p:cNvPr>
          <p:cNvSpPr txBox="1"/>
          <p:nvPr/>
        </p:nvSpPr>
        <p:spPr>
          <a:xfrm>
            <a:off x="1611086" y="5023763"/>
            <a:ext cx="7130144" cy="1600438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Start at the start state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each symbol of the computing id: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Go to the next state as per transition labels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finished and state your end in is accepting (double circles):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Return True (Valid ID)</a:t>
            </a:r>
          </a:p>
          <a:p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Else:</a:t>
            </a:r>
            <a:b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Return False (Not Valid ID)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2CD08F2-8AA6-E555-C61F-7034739AB1B1}"/>
              </a:ext>
            </a:extLst>
          </p:cNvPr>
          <p:cNvSpPr txBox="1"/>
          <p:nvPr/>
        </p:nvSpPr>
        <p:spPr>
          <a:xfrm>
            <a:off x="9293186" y="4695249"/>
            <a:ext cx="1315616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Try it out:</a:t>
            </a:r>
          </a:p>
          <a:p>
            <a:endParaRPr lang="en-US" dirty="0"/>
          </a:p>
          <a:p>
            <a:r>
              <a:rPr lang="en-US" dirty="0"/>
              <a:t>  mrf8t</a:t>
            </a:r>
          </a:p>
          <a:p>
            <a:r>
              <a:rPr lang="en-US" dirty="0"/>
              <a:t>  as8f</a:t>
            </a:r>
          </a:p>
          <a:p>
            <a:r>
              <a:rPr lang="en-US" dirty="0"/>
              <a:t>  afde9d</a:t>
            </a:r>
          </a:p>
        </p:txBody>
      </p:sp>
    </p:spTree>
    <p:extLst>
      <p:ext uri="{BB962C8B-B14F-4D97-AF65-F5344CB8AC3E}">
        <p14:creationId xmlns:p14="http://schemas.microsoft.com/office/powerpoint/2010/main" val="26962615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38F02-31E2-9FFB-336D-81434B8E9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0F1EB-6D79-C735-1CFD-7BFFAD1EA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 different Way of “Coding” This…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6F99D950-225F-C14C-731E-5195EA25A5C5}"/>
              </a:ext>
            </a:extLst>
          </p:cNvPr>
          <p:cNvGrpSpPr/>
          <p:nvPr/>
        </p:nvGrpSpPr>
        <p:grpSpPr>
          <a:xfrm>
            <a:off x="1433806" y="1230482"/>
            <a:ext cx="8941835" cy="3072883"/>
            <a:chOff x="643814" y="2052736"/>
            <a:chExt cx="8941835" cy="3072883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BFA637F5-A486-40C6-AB2C-B937C629CB07}"/>
                </a:ext>
              </a:extLst>
            </p:cNvPr>
            <p:cNvSpPr/>
            <p:nvPr/>
          </p:nvSpPr>
          <p:spPr>
            <a:xfrm>
              <a:off x="2258010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B0BD413B-4D05-002D-FCBE-B30E025C2469}"/>
                </a:ext>
              </a:extLst>
            </p:cNvPr>
            <p:cNvSpPr/>
            <p:nvPr/>
          </p:nvSpPr>
          <p:spPr>
            <a:xfrm>
              <a:off x="4323185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BC35632-36DB-6B1C-9CFD-B3C1EDBE454E}"/>
                </a:ext>
              </a:extLst>
            </p:cNvPr>
            <p:cNvSpPr/>
            <p:nvPr/>
          </p:nvSpPr>
          <p:spPr>
            <a:xfrm>
              <a:off x="6388360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9AED82E-84A4-FFFD-7FC4-7AC95B4801FF}"/>
                </a:ext>
              </a:extLst>
            </p:cNvPr>
            <p:cNvSpPr/>
            <p:nvPr/>
          </p:nvSpPr>
          <p:spPr>
            <a:xfrm>
              <a:off x="8453535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59B57856-B819-0CDF-160D-86DEAE3503B4}"/>
                </a:ext>
              </a:extLst>
            </p:cNvPr>
            <p:cNvSpPr/>
            <p:nvPr/>
          </p:nvSpPr>
          <p:spPr>
            <a:xfrm>
              <a:off x="2258010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057F5D2-B065-73DF-C90D-0450528B9249}"/>
                </a:ext>
              </a:extLst>
            </p:cNvPr>
            <p:cNvSpPr/>
            <p:nvPr/>
          </p:nvSpPr>
          <p:spPr>
            <a:xfrm>
              <a:off x="4323185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9472DBC-276E-462B-5E05-C5BD221B4344}"/>
                </a:ext>
              </a:extLst>
            </p:cNvPr>
            <p:cNvSpPr/>
            <p:nvPr/>
          </p:nvSpPr>
          <p:spPr>
            <a:xfrm>
              <a:off x="6388360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ABD015E-301D-5243-2AB3-A936C0361B2C}"/>
                </a:ext>
              </a:extLst>
            </p:cNvPr>
            <p:cNvSpPr/>
            <p:nvPr/>
          </p:nvSpPr>
          <p:spPr>
            <a:xfrm>
              <a:off x="8453535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2CE6A180-7F30-75D5-6654-1F4A5305B9E7}"/>
                </a:ext>
              </a:extLst>
            </p:cNvPr>
            <p:cNvSpPr/>
            <p:nvPr/>
          </p:nvSpPr>
          <p:spPr>
            <a:xfrm>
              <a:off x="6466114" y="2130491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344F3F3-8BBC-3119-56A9-15F998495A97}"/>
                </a:ext>
              </a:extLst>
            </p:cNvPr>
            <p:cNvSpPr/>
            <p:nvPr/>
          </p:nvSpPr>
          <p:spPr>
            <a:xfrm>
              <a:off x="6466114" y="4268757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444E7620-1D81-31CB-7E30-1D080C2BD070}"/>
                </a:ext>
              </a:extLst>
            </p:cNvPr>
            <p:cNvSpPr/>
            <p:nvPr/>
          </p:nvSpPr>
          <p:spPr>
            <a:xfrm>
              <a:off x="4400940" y="4268757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E26C91D-22EB-2AF2-3786-9FCAE21B8D81}"/>
                </a:ext>
              </a:extLst>
            </p:cNvPr>
            <p:cNvSpPr/>
            <p:nvPr/>
          </p:nvSpPr>
          <p:spPr>
            <a:xfrm>
              <a:off x="2334210" y="4268757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6493A0B8-5789-57C6-31AF-31C35F554AD2}"/>
                </a:ext>
              </a:extLst>
            </p:cNvPr>
            <p:cNvCxnSpPr>
              <a:cxnSpLocks/>
              <a:endCxn id="3" idx="2"/>
            </p:cNvCxnSpPr>
            <p:nvPr/>
          </p:nvCxnSpPr>
          <p:spPr>
            <a:xfrm>
              <a:off x="1334278" y="2519267"/>
              <a:ext cx="923732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97DC03C8-00EF-1869-9221-943BA2F42DE4}"/>
                </a:ext>
              </a:extLst>
            </p:cNvPr>
            <p:cNvCxnSpPr>
              <a:cxnSpLocks/>
              <a:stCxn id="3" idx="6"/>
              <a:endCxn id="4" idx="2"/>
            </p:cNvCxnSpPr>
            <p:nvPr/>
          </p:nvCxnSpPr>
          <p:spPr>
            <a:xfrm>
              <a:off x="3191072" y="2519267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39E37C28-B49B-B0A6-E2D4-894F0E494160}"/>
                </a:ext>
              </a:extLst>
            </p:cNvPr>
            <p:cNvCxnSpPr>
              <a:cxnSpLocks/>
              <a:stCxn id="4" idx="6"/>
              <a:endCxn id="6" idx="2"/>
            </p:cNvCxnSpPr>
            <p:nvPr/>
          </p:nvCxnSpPr>
          <p:spPr>
            <a:xfrm>
              <a:off x="5256247" y="2519267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CC5E24C0-D309-D6ED-C739-B9F710677157}"/>
                </a:ext>
              </a:extLst>
            </p:cNvPr>
            <p:cNvCxnSpPr>
              <a:cxnSpLocks/>
              <a:stCxn id="6" idx="6"/>
              <a:endCxn id="9" idx="2"/>
            </p:cNvCxnSpPr>
            <p:nvPr/>
          </p:nvCxnSpPr>
          <p:spPr>
            <a:xfrm>
              <a:off x="7321422" y="2519267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06A86300-8698-325B-392D-E5883F1DF541}"/>
                </a:ext>
              </a:extLst>
            </p:cNvPr>
            <p:cNvCxnSpPr>
              <a:cxnSpLocks/>
              <a:stCxn id="6" idx="5"/>
              <a:endCxn id="13" idx="1"/>
            </p:cNvCxnSpPr>
            <p:nvPr/>
          </p:nvCxnSpPr>
          <p:spPr>
            <a:xfrm>
              <a:off x="7184778" y="2849154"/>
              <a:ext cx="1405401" cy="1480047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2516DEF-A58C-F2F4-F635-7989A1F1FCEC}"/>
                </a:ext>
              </a:extLst>
            </p:cNvPr>
            <p:cNvCxnSpPr>
              <a:cxnSpLocks/>
              <a:stCxn id="9" idx="4"/>
              <a:endCxn id="13" idx="0"/>
            </p:cNvCxnSpPr>
            <p:nvPr/>
          </p:nvCxnSpPr>
          <p:spPr>
            <a:xfrm>
              <a:off x="8920066" y="2985798"/>
              <a:ext cx="0" cy="1206759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0A4EDB28-65A4-3A81-544B-FE2221C271CB}"/>
                </a:ext>
              </a:extLst>
            </p:cNvPr>
            <p:cNvCxnSpPr>
              <a:cxnSpLocks/>
              <a:stCxn id="13" idx="2"/>
              <a:endCxn id="12" idx="6"/>
            </p:cNvCxnSpPr>
            <p:nvPr/>
          </p:nvCxnSpPr>
          <p:spPr>
            <a:xfrm flipH="1">
              <a:off x="7321422" y="4659088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24442ACD-AEC4-7316-B010-10B52AA1442D}"/>
                </a:ext>
              </a:extLst>
            </p:cNvPr>
            <p:cNvCxnSpPr>
              <a:cxnSpLocks/>
              <a:stCxn id="12" idx="2"/>
              <a:endCxn id="11" idx="6"/>
            </p:cNvCxnSpPr>
            <p:nvPr/>
          </p:nvCxnSpPr>
          <p:spPr>
            <a:xfrm flipH="1">
              <a:off x="5256247" y="4659088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17D01004-90F4-BF13-FAE1-158C48392A4E}"/>
                </a:ext>
              </a:extLst>
            </p:cNvPr>
            <p:cNvCxnSpPr>
              <a:cxnSpLocks/>
              <a:stCxn id="11" idx="2"/>
              <a:endCxn id="10" idx="6"/>
            </p:cNvCxnSpPr>
            <p:nvPr/>
          </p:nvCxnSpPr>
          <p:spPr>
            <a:xfrm flipH="1">
              <a:off x="3191072" y="4659088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E2B78FB-35F0-EF48-0F21-99237F89431C}"/>
                </a:ext>
              </a:extLst>
            </p:cNvPr>
            <p:cNvSpPr txBox="1"/>
            <p:nvPr/>
          </p:nvSpPr>
          <p:spPr>
            <a:xfrm>
              <a:off x="3349694" y="2101336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5D3C0DA-6B94-BFEA-A9F3-8603A3E400CC}"/>
                </a:ext>
              </a:extLst>
            </p:cNvPr>
            <p:cNvSpPr txBox="1"/>
            <p:nvPr/>
          </p:nvSpPr>
          <p:spPr>
            <a:xfrm>
              <a:off x="5464628" y="2060900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0715757A-23AE-E95C-A6DF-5CEC5AF549D6}"/>
                </a:ext>
              </a:extLst>
            </p:cNvPr>
            <p:cNvSpPr txBox="1"/>
            <p:nvPr/>
          </p:nvSpPr>
          <p:spPr>
            <a:xfrm>
              <a:off x="7504923" y="2060900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AEF2829-0E25-4DBB-53D3-E781BE47A73A}"/>
                </a:ext>
              </a:extLst>
            </p:cNvPr>
            <p:cNvSpPr txBox="1"/>
            <p:nvPr/>
          </p:nvSpPr>
          <p:spPr>
            <a:xfrm>
              <a:off x="3349694" y="4268757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B7D5E8C5-610C-D5DD-128C-A6B68CC6AC3A}"/>
                </a:ext>
              </a:extLst>
            </p:cNvPr>
            <p:cNvSpPr txBox="1"/>
            <p:nvPr/>
          </p:nvSpPr>
          <p:spPr>
            <a:xfrm>
              <a:off x="5439748" y="4241157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97EFCDD-E6C0-501F-1977-4B0DC5AB214F}"/>
                </a:ext>
              </a:extLst>
            </p:cNvPr>
            <p:cNvSpPr txBox="1"/>
            <p:nvPr/>
          </p:nvSpPr>
          <p:spPr>
            <a:xfrm>
              <a:off x="7504923" y="4241157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223AC633-91CF-1792-7D2C-E77D70DE52B3}"/>
                </a:ext>
              </a:extLst>
            </p:cNvPr>
            <p:cNvSpPr txBox="1"/>
            <p:nvPr/>
          </p:nvSpPr>
          <p:spPr>
            <a:xfrm>
              <a:off x="7607458" y="3123412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1-9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A2C3A2DE-0FBB-57B5-A254-D8C9A9ED7F00}"/>
                </a:ext>
              </a:extLst>
            </p:cNvPr>
            <p:cNvSpPr txBox="1"/>
            <p:nvPr/>
          </p:nvSpPr>
          <p:spPr>
            <a:xfrm>
              <a:off x="8820539" y="3356694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1-9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1553CF3B-1657-974B-2A6F-E15C471F1279}"/>
                </a:ext>
              </a:extLst>
            </p:cNvPr>
            <p:cNvSpPr txBox="1"/>
            <p:nvPr/>
          </p:nvSpPr>
          <p:spPr>
            <a:xfrm>
              <a:off x="643814" y="2334601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Start</a:t>
              </a:r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4185741C-CCF5-0A64-97FB-2FBB08066885}"/>
              </a:ext>
            </a:extLst>
          </p:cNvPr>
          <p:cNvSpPr txBox="1"/>
          <p:nvPr/>
        </p:nvSpPr>
        <p:spPr>
          <a:xfrm>
            <a:off x="2920483" y="4849024"/>
            <a:ext cx="5607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Definition: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12BE394-FF8F-40C2-CB94-5FD272586443}"/>
              </a:ext>
            </a:extLst>
          </p:cNvPr>
          <p:cNvSpPr txBox="1"/>
          <p:nvPr/>
        </p:nvSpPr>
        <p:spPr>
          <a:xfrm>
            <a:off x="2920482" y="5239354"/>
            <a:ext cx="6618515" cy="101566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By the way, this is called a </a:t>
            </a:r>
            <a:r>
              <a:rPr lang="en-US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Deterministic Finite Automata</a:t>
            </a:r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You’ll learn more about these in DMT2! A lot (but not all) programs can be expressed as a </a:t>
            </a:r>
            <a:r>
              <a:rPr lang="en-US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DFA</a:t>
            </a:r>
            <a:r>
              <a:rPr lang="en-US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38556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21B2F-5644-5996-294D-77D14BABE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69530-CD07-010F-8313-4BCF54986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Python Code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79373C-ECE7-47B7-6C45-94B1C05CCA60}"/>
              </a:ext>
            </a:extLst>
          </p:cNvPr>
          <p:cNvSpPr txBox="1"/>
          <p:nvPr/>
        </p:nvSpPr>
        <p:spPr>
          <a:xfrm>
            <a:off x="7766613" y="2505670"/>
            <a:ext cx="4098647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Main Point</a:t>
            </a:r>
            <a:r>
              <a:rPr lang="en-US" dirty="0"/>
              <a:t>: Coding up these machines is easy, very general, and works for a wide array of problems!!</a:t>
            </a:r>
          </a:p>
        </p:txBody>
      </p:sp>
      <p:pic>
        <p:nvPicPr>
          <p:cNvPr id="4" name="Picture 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399AE306-F08E-2AE2-B165-24976653C2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15" y="630150"/>
            <a:ext cx="7275311" cy="3056025"/>
          </a:xfrm>
          <a:prstGeom prst="rect">
            <a:avLst/>
          </a:prstGeom>
        </p:spPr>
      </p:pic>
      <p:pic>
        <p:nvPicPr>
          <p:cNvPr id="9" name="Picture 8" descr="A computer code with red and blue text&#10;&#10;AI-generated content may be incorrect.">
            <a:extLst>
              <a:ext uri="{FF2B5EF4-FFF2-40B4-BE49-F238E27FC236}">
                <a16:creationId xmlns:a16="http://schemas.microsoft.com/office/drawing/2014/main" id="{130D4627-8212-336D-AC77-96ABABFD43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15" y="3677981"/>
            <a:ext cx="7275311" cy="3106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5690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90FE2-5A76-649E-B271-81120CD75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730EC-3BD2-2D4C-7C66-F60BF1367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Aside: More Machine Types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8D24BCD-09DD-308F-F1DF-D2982309BC74}"/>
              </a:ext>
            </a:extLst>
          </p:cNvPr>
          <p:cNvGrpSpPr/>
          <p:nvPr/>
        </p:nvGrpSpPr>
        <p:grpSpPr>
          <a:xfrm>
            <a:off x="1054354" y="1632347"/>
            <a:ext cx="3192643" cy="1218360"/>
            <a:chOff x="1334278" y="2052736"/>
            <a:chExt cx="8052319" cy="3072883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0D286DFE-3919-0121-89D3-F3BE6FB4F3B7}"/>
                </a:ext>
              </a:extLst>
            </p:cNvPr>
            <p:cNvSpPr/>
            <p:nvPr/>
          </p:nvSpPr>
          <p:spPr>
            <a:xfrm>
              <a:off x="2258010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44C625BC-CDCA-C5CD-D406-23CB2BEEEC37}"/>
                </a:ext>
              </a:extLst>
            </p:cNvPr>
            <p:cNvSpPr/>
            <p:nvPr/>
          </p:nvSpPr>
          <p:spPr>
            <a:xfrm>
              <a:off x="4323185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F5E5CFF-0FF5-B264-32EA-A6A9C60F1B0F}"/>
                </a:ext>
              </a:extLst>
            </p:cNvPr>
            <p:cNvSpPr/>
            <p:nvPr/>
          </p:nvSpPr>
          <p:spPr>
            <a:xfrm>
              <a:off x="6388360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5B3D2AC-C713-D145-FA7A-350B3E310121}"/>
                </a:ext>
              </a:extLst>
            </p:cNvPr>
            <p:cNvSpPr/>
            <p:nvPr/>
          </p:nvSpPr>
          <p:spPr>
            <a:xfrm>
              <a:off x="8453535" y="2052736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443DC545-8BB8-46D0-6E6E-3470D7A28027}"/>
                </a:ext>
              </a:extLst>
            </p:cNvPr>
            <p:cNvSpPr/>
            <p:nvPr/>
          </p:nvSpPr>
          <p:spPr>
            <a:xfrm>
              <a:off x="2258010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50AA15F-493B-F4D6-1A48-A7A558FECCC9}"/>
                </a:ext>
              </a:extLst>
            </p:cNvPr>
            <p:cNvSpPr/>
            <p:nvPr/>
          </p:nvSpPr>
          <p:spPr>
            <a:xfrm>
              <a:off x="4323185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86C49AD-A05A-FC71-CEB5-431CD7916C3D}"/>
                </a:ext>
              </a:extLst>
            </p:cNvPr>
            <p:cNvSpPr/>
            <p:nvPr/>
          </p:nvSpPr>
          <p:spPr>
            <a:xfrm>
              <a:off x="6388360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9C8E991-FA0C-0D0E-D3A4-5B944B08A18E}"/>
                </a:ext>
              </a:extLst>
            </p:cNvPr>
            <p:cNvSpPr/>
            <p:nvPr/>
          </p:nvSpPr>
          <p:spPr>
            <a:xfrm>
              <a:off x="8453535" y="4192557"/>
              <a:ext cx="933062" cy="9330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02BDFD3-B06F-0819-E960-DA8B7B1B4B51}"/>
                </a:ext>
              </a:extLst>
            </p:cNvPr>
            <p:cNvSpPr/>
            <p:nvPr/>
          </p:nvSpPr>
          <p:spPr>
            <a:xfrm>
              <a:off x="6466114" y="2130491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FB821B24-ED64-F500-033C-F8EA83038B11}"/>
                </a:ext>
              </a:extLst>
            </p:cNvPr>
            <p:cNvSpPr/>
            <p:nvPr/>
          </p:nvSpPr>
          <p:spPr>
            <a:xfrm>
              <a:off x="6466114" y="4268757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7F239208-2B34-DBBB-9A11-1E247F2603C5}"/>
                </a:ext>
              </a:extLst>
            </p:cNvPr>
            <p:cNvSpPr/>
            <p:nvPr/>
          </p:nvSpPr>
          <p:spPr>
            <a:xfrm>
              <a:off x="4400940" y="4268757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B5CB8D8-6AD3-45B0-8D62-C58D68D00A5B}"/>
                </a:ext>
              </a:extLst>
            </p:cNvPr>
            <p:cNvSpPr/>
            <p:nvPr/>
          </p:nvSpPr>
          <p:spPr>
            <a:xfrm>
              <a:off x="2334210" y="4268757"/>
              <a:ext cx="780662" cy="780662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DE9EE7D-838E-EA5E-1BCB-A9C99EA3EB99}"/>
                </a:ext>
              </a:extLst>
            </p:cNvPr>
            <p:cNvCxnSpPr>
              <a:cxnSpLocks/>
              <a:endCxn id="3" idx="2"/>
            </p:cNvCxnSpPr>
            <p:nvPr/>
          </p:nvCxnSpPr>
          <p:spPr>
            <a:xfrm>
              <a:off x="1334278" y="2519267"/>
              <a:ext cx="923732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AB3B105-95AA-03BC-F574-F638B0AA716B}"/>
                </a:ext>
              </a:extLst>
            </p:cNvPr>
            <p:cNvCxnSpPr>
              <a:cxnSpLocks/>
              <a:stCxn id="3" idx="6"/>
              <a:endCxn id="4" idx="2"/>
            </p:cNvCxnSpPr>
            <p:nvPr/>
          </p:nvCxnSpPr>
          <p:spPr>
            <a:xfrm>
              <a:off x="3191072" y="2519267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B6C2F1D-4E6A-6037-66F5-B403F5B66E1B}"/>
                </a:ext>
              </a:extLst>
            </p:cNvPr>
            <p:cNvCxnSpPr>
              <a:cxnSpLocks/>
              <a:stCxn id="4" idx="6"/>
              <a:endCxn id="6" idx="2"/>
            </p:cNvCxnSpPr>
            <p:nvPr/>
          </p:nvCxnSpPr>
          <p:spPr>
            <a:xfrm>
              <a:off x="5256247" y="2519267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DFB0B23-FE13-6159-FAB8-A0D68F3F527C}"/>
                </a:ext>
              </a:extLst>
            </p:cNvPr>
            <p:cNvCxnSpPr>
              <a:cxnSpLocks/>
              <a:stCxn id="6" idx="6"/>
              <a:endCxn id="9" idx="2"/>
            </p:cNvCxnSpPr>
            <p:nvPr/>
          </p:nvCxnSpPr>
          <p:spPr>
            <a:xfrm>
              <a:off x="7321422" y="2519267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5A9D3E6-1121-866E-D601-4BDE37465309}"/>
                </a:ext>
              </a:extLst>
            </p:cNvPr>
            <p:cNvCxnSpPr>
              <a:cxnSpLocks/>
              <a:stCxn id="6" idx="5"/>
              <a:endCxn id="13" idx="1"/>
            </p:cNvCxnSpPr>
            <p:nvPr/>
          </p:nvCxnSpPr>
          <p:spPr>
            <a:xfrm>
              <a:off x="7184778" y="2849154"/>
              <a:ext cx="1405401" cy="1480047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0B8F940-9746-6D0A-CEB6-E16A35C54C71}"/>
                </a:ext>
              </a:extLst>
            </p:cNvPr>
            <p:cNvCxnSpPr>
              <a:cxnSpLocks/>
              <a:stCxn id="9" idx="4"/>
              <a:endCxn id="13" idx="0"/>
            </p:cNvCxnSpPr>
            <p:nvPr/>
          </p:nvCxnSpPr>
          <p:spPr>
            <a:xfrm>
              <a:off x="8920066" y="2985798"/>
              <a:ext cx="0" cy="1206759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06591B09-F9B9-02E5-48D6-7CC1FC3D0E65}"/>
                </a:ext>
              </a:extLst>
            </p:cNvPr>
            <p:cNvCxnSpPr>
              <a:cxnSpLocks/>
              <a:stCxn id="13" idx="2"/>
              <a:endCxn id="12" idx="6"/>
            </p:cNvCxnSpPr>
            <p:nvPr/>
          </p:nvCxnSpPr>
          <p:spPr>
            <a:xfrm flipH="1">
              <a:off x="7321422" y="4659088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DEB6DA79-F0E1-72E2-D4FE-5AF8F7D59301}"/>
                </a:ext>
              </a:extLst>
            </p:cNvPr>
            <p:cNvCxnSpPr>
              <a:cxnSpLocks/>
              <a:stCxn id="12" idx="2"/>
              <a:endCxn id="11" idx="6"/>
            </p:cNvCxnSpPr>
            <p:nvPr/>
          </p:nvCxnSpPr>
          <p:spPr>
            <a:xfrm flipH="1">
              <a:off x="5256247" y="4659088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6FBF8D3B-0381-F6BA-131D-F97B85DD5695}"/>
                </a:ext>
              </a:extLst>
            </p:cNvPr>
            <p:cNvCxnSpPr>
              <a:cxnSpLocks/>
              <a:stCxn id="11" idx="2"/>
              <a:endCxn id="10" idx="6"/>
            </p:cNvCxnSpPr>
            <p:nvPr/>
          </p:nvCxnSpPr>
          <p:spPr>
            <a:xfrm flipH="1">
              <a:off x="3191072" y="4659088"/>
              <a:ext cx="1132113" cy="0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D8CB4FBB-6E83-C2FD-04D3-757D4D1D5ED9}"/>
              </a:ext>
            </a:extLst>
          </p:cNvPr>
          <p:cNvSpPr txBox="1"/>
          <p:nvPr/>
        </p:nvSpPr>
        <p:spPr>
          <a:xfrm>
            <a:off x="5514683" y="1839805"/>
            <a:ext cx="5771163" cy="646331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Deterministic Finite Automata</a:t>
            </a: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Machine that processes input with no memory (except the current state)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AD04A1C7-130F-3FBC-D7CF-A0026EF7FE09}"/>
              </a:ext>
            </a:extLst>
          </p:cNvPr>
          <p:cNvGrpSpPr/>
          <p:nvPr/>
        </p:nvGrpSpPr>
        <p:grpSpPr>
          <a:xfrm>
            <a:off x="1054358" y="3822319"/>
            <a:ext cx="3192643" cy="1218360"/>
            <a:chOff x="1110337" y="2641816"/>
            <a:chExt cx="3192643" cy="1218360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1528461-A7E4-0385-79AC-5A7751151D4C}"/>
                </a:ext>
              </a:extLst>
            </p:cNvPr>
            <p:cNvSpPr/>
            <p:nvPr/>
          </p:nvSpPr>
          <p:spPr>
            <a:xfrm>
              <a:off x="1476585" y="2641816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0C7AAEC-11C6-54EA-DD82-BF4EBFC444D8}"/>
                </a:ext>
              </a:extLst>
            </p:cNvPr>
            <p:cNvSpPr/>
            <p:nvPr/>
          </p:nvSpPr>
          <p:spPr>
            <a:xfrm>
              <a:off x="2295401" y="2641816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333F8AC-1EE3-819A-FD81-C06384A007EA}"/>
                </a:ext>
              </a:extLst>
            </p:cNvPr>
            <p:cNvSpPr/>
            <p:nvPr/>
          </p:nvSpPr>
          <p:spPr>
            <a:xfrm>
              <a:off x="3114217" y="2641816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B75BC07-75AF-7ED1-3156-696BF72A53D4}"/>
                </a:ext>
              </a:extLst>
            </p:cNvPr>
            <p:cNvSpPr/>
            <p:nvPr/>
          </p:nvSpPr>
          <p:spPr>
            <a:xfrm>
              <a:off x="3933033" y="2641816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A19B7AC0-737C-52C1-786C-C43F21A366E9}"/>
                </a:ext>
              </a:extLst>
            </p:cNvPr>
            <p:cNvSpPr/>
            <p:nvPr/>
          </p:nvSpPr>
          <p:spPr>
            <a:xfrm>
              <a:off x="1476585" y="3490228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6A5484A8-4425-DFD7-065E-C58B782F92D1}"/>
                </a:ext>
              </a:extLst>
            </p:cNvPr>
            <p:cNvSpPr/>
            <p:nvPr/>
          </p:nvSpPr>
          <p:spPr>
            <a:xfrm>
              <a:off x="2295401" y="3490228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16B0D63-5EAA-5D50-53D5-F97E682376E2}"/>
                </a:ext>
              </a:extLst>
            </p:cNvPr>
            <p:cNvSpPr/>
            <p:nvPr/>
          </p:nvSpPr>
          <p:spPr>
            <a:xfrm>
              <a:off x="3114217" y="3490228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603CE8F-E2E5-1193-9AC8-24B60DA9BE40}"/>
                </a:ext>
              </a:extLst>
            </p:cNvPr>
            <p:cNvSpPr/>
            <p:nvPr/>
          </p:nvSpPr>
          <p:spPr>
            <a:xfrm>
              <a:off x="3933033" y="3490228"/>
              <a:ext cx="369947" cy="369948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C70C7ADC-1911-A9D6-A36C-C429E16945C8}"/>
                </a:ext>
              </a:extLst>
            </p:cNvPr>
            <p:cNvSpPr/>
            <p:nvPr/>
          </p:nvSpPr>
          <p:spPr>
            <a:xfrm>
              <a:off x="3145045" y="2672645"/>
              <a:ext cx="309523" cy="309523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4ECF55F3-ACCA-2184-7E02-9A141D262E4D}"/>
                </a:ext>
              </a:extLst>
            </p:cNvPr>
            <p:cNvSpPr/>
            <p:nvPr/>
          </p:nvSpPr>
          <p:spPr>
            <a:xfrm>
              <a:off x="3145045" y="3520441"/>
              <a:ext cx="309523" cy="309523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CCC7723-7EA8-921E-1F0E-394F93F42CB5}"/>
                </a:ext>
              </a:extLst>
            </p:cNvPr>
            <p:cNvSpPr/>
            <p:nvPr/>
          </p:nvSpPr>
          <p:spPr>
            <a:xfrm>
              <a:off x="2326230" y="3520441"/>
              <a:ext cx="309523" cy="309523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492A26D1-CA3E-D9DC-5785-C6EDE6E84866}"/>
                </a:ext>
              </a:extLst>
            </p:cNvPr>
            <p:cNvSpPr/>
            <p:nvPr/>
          </p:nvSpPr>
          <p:spPr>
            <a:xfrm>
              <a:off x="1506797" y="3520441"/>
              <a:ext cx="309523" cy="309523"/>
            </a:xfrm>
            <a:prstGeom prst="ellipse">
              <a:avLst/>
            </a:prstGeom>
            <a:solidFill>
              <a:schemeClr val="accent3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3A9C85F-F1FF-C062-ED67-8EABAE380E4F}"/>
                </a:ext>
              </a:extLst>
            </p:cNvPr>
            <p:cNvCxnSpPr>
              <a:cxnSpLocks/>
              <a:endCxn id="7" idx="2"/>
            </p:cNvCxnSpPr>
            <p:nvPr/>
          </p:nvCxnSpPr>
          <p:spPr>
            <a:xfrm>
              <a:off x="1110337" y="2826790"/>
              <a:ext cx="366248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509EB00B-7D8C-5237-CA27-0E74F33CFE1D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1846532" y="2826790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2A46C6F-DA6B-E85A-C57B-3285520333ED}"/>
                </a:ext>
              </a:extLst>
            </p:cNvPr>
            <p:cNvCxnSpPr>
              <a:cxnSpLocks/>
              <a:stCxn id="8" idx="6"/>
              <a:endCxn id="18" idx="2"/>
            </p:cNvCxnSpPr>
            <p:nvPr/>
          </p:nvCxnSpPr>
          <p:spPr>
            <a:xfrm>
              <a:off x="2665348" y="2826790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A8D0FB16-7D16-FBB9-969F-D1B149563D03}"/>
                </a:ext>
              </a:extLst>
            </p:cNvPr>
            <p:cNvCxnSpPr>
              <a:cxnSpLocks/>
              <a:stCxn id="18" idx="6"/>
              <a:endCxn id="20" idx="2"/>
            </p:cNvCxnSpPr>
            <p:nvPr/>
          </p:nvCxnSpPr>
          <p:spPr>
            <a:xfrm>
              <a:off x="3484164" y="2826790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60ACD7C9-5CE9-EB76-2BE1-F4F50EA07D79}"/>
                </a:ext>
              </a:extLst>
            </p:cNvPr>
            <p:cNvCxnSpPr>
              <a:cxnSpLocks/>
              <a:stCxn id="18" idx="5"/>
              <a:endCxn id="26" idx="1"/>
            </p:cNvCxnSpPr>
            <p:nvPr/>
          </p:nvCxnSpPr>
          <p:spPr>
            <a:xfrm>
              <a:off x="3429987" y="2957586"/>
              <a:ext cx="557224" cy="58682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408D750C-1797-980B-0A69-1D515C065FCA}"/>
                </a:ext>
              </a:extLst>
            </p:cNvPr>
            <p:cNvCxnSpPr>
              <a:cxnSpLocks/>
              <a:stCxn id="20" idx="4"/>
              <a:endCxn id="26" idx="0"/>
            </p:cNvCxnSpPr>
            <p:nvPr/>
          </p:nvCxnSpPr>
          <p:spPr>
            <a:xfrm>
              <a:off x="4118006" y="3011764"/>
              <a:ext cx="0" cy="478465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5D4C9B5-F9AE-35DA-8C15-5C2ABC06FBBA}"/>
                </a:ext>
              </a:extLst>
            </p:cNvPr>
            <p:cNvCxnSpPr>
              <a:cxnSpLocks/>
              <a:stCxn id="26" idx="2"/>
              <a:endCxn id="25" idx="6"/>
            </p:cNvCxnSpPr>
            <p:nvPr/>
          </p:nvCxnSpPr>
          <p:spPr>
            <a:xfrm flipH="1">
              <a:off x="3484164" y="3675202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377B3346-CF95-3DCA-6632-F57335BA3450}"/>
                </a:ext>
              </a:extLst>
            </p:cNvPr>
            <p:cNvCxnSpPr>
              <a:cxnSpLocks/>
              <a:stCxn id="25" idx="2"/>
              <a:endCxn id="23" idx="6"/>
            </p:cNvCxnSpPr>
            <p:nvPr/>
          </p:nvCxnSpPr>
          <p:spPr>
            <a:xfrm flipH="1">
              <a:off x="2665348" y="3675202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2BCA1138-4EDE-2E55-FEDF-6A7A5917C66C}"/>
                </a:ext>
              </a:extLst>
            </p:cNvPr>
            <p:cNvCxnSpPr>
              <a:cxnSpLocks/>
              <a:stCxn id="23" idx="2"/>
              <a:endCxn id="22" idx="6"/>
            </p:cNvCxnSpPr>
            <p:nvPr/>
          </p:nvCxnSpPr>
          <p:spPr>
            <a:xfrm flipH="1">
              <a:off x="1846532" y="3675202"/>
              <a:ext cx="448869" cy="0"/>
            </a:xfrm>
            <a:prstGeom prst="straightConnector1">
              <a:avLst/>
            </a:prstGeom>
            <a:ln w="31750">
              <a:solidFill>
                <a:schemeClr val="accent3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01467553-929B-BA0B-53ED-8DD7F0768118}"/>
              </a:ext>
            </a:extLst>
          </p:cNvPr>
          <p:cNvSpPr txBox="1"/>
          <p:nvPr/>
        </p:nvSpPr>
        <p:spPr>
          <a:xfrm>
            <a:off x="5514687" y="4077556"/>
            <a:ext cx="5771159" cy="646331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Non-deterministic Finite Automata</a:t>
            </a: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DFA that can be in multiple states at once (more in a moment)</a:t>
            </a:r>
          </a:p>
        </p:txBody>
      </p:sp>
    </p:spTree>
    <p:extLst>
      <p:ext uri="{BB962C8B-B14F-4D97-AF65-F5344CB8AC3E}">
        <p14:creationId xmlns:p14="http://schemas.microsoft.com/office/powerpoint/2010/main" val="29087407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DDC2C-1563-84D5-29C9-6ED3AA04E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5E425-C402-F163-9778-D77E02171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Aside: More Machine Types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65104E6-DE96-F46B-42F9-8B3AC8E08BDF}"/>
              </a:ext>
            </a:extLst>
          </p:cNvPr>
          <p:cNvSpPr txBox="1"/>
          <p:nvPr/>
        </p:nvSpPr>
        <p:spPr>
          <a:xfrm>
            <a:off x="5673302" y="1744598"/>
            <a:ext cx="5771148" cy="36933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Pushdown Automata</a:t>
            </a: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An NFA with a </a:t>
            </a:r>
            <a:r>
              <a:rPr lang="en-US" dirty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stack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556DD3B-AFB2-2814-A3F2-E1BC4ADE2FFF}"/>
              </a:ext>
            </a:extLst>
          </p:cNvPr>
          <p:cNvGrpSpPr/>
          <p:nvPr/>
        </p:nvGrpSpPr>
        <p:grpSpPr>
          <a:xfrm>
            <a:off x="1212973" y="1300528"/>
            <a:ext cx="3999463" cy="1522377"/>
            <a:chOff x="1212973" y="1300528"/>
            <a:chExt cx="3999463" cy="1522377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91F609F4-4C50-6860-B5B4-9E10D99868EA}"/>
                </a:ext>
              </a:extLst>
            </p:cNvPr>
            <p:cNvSpPr/>
            <p:nvPr/>
          </p:nvSpPr>
          <p:spPr>
            <a:xfrm>
              <a:off x="1579221" y="1330740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BBAFFAE4-9FA1-525F-433C-73F35D2BDF46}"/>
                </a:ext>
              </a:extLst>
            </p:cNvPr>
            <p:cNvSpPr/>
            <p:nvPr/>
          </p:nvSpPr>
          <p:spPr>
            <a:xfrm>
              <a:off x="2398037" y="1330740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4BDE4E6D-E27C-4BB9-4FAD-51CA70D70E33}"/>
                </a:ext>
              </a:extLst>
            </p:cNvPr>
            <p:cNvSpPr/>
            <p:nvPr/>
          </p:nvSpPr>
          <p:spPr>
            <a:xfrm>
              <a:off x="3216853" y="1330740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31B2AAA6-F745-374E-D019-244B24DDA8E5}"/>
                </a:ext>
              </a:extLst>
            </p:cNvPr>
            <p:cNvSpPr/>
            <p:nvPr/>
          </p:nvSpPr>
          <p:spPr>
            <a:xfrm>
              <a:off x="4035669" y="1330740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6508E5D3-3E8A-79A8-08B6-2EFCD01B8B37}"/>
                </a:ext>
              </a:extLst>
            </p:cNvPr>
            <p:cNvSpPr/>
            <p:nvPr/>
          </p:nvSpPr>
          <p:spPr>
            <a:xfrm>
              <a:off x="1579221" y="2179152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C31DDCD2-5085-94BC-C43D-DDF11573CE5D}"/>
                </a:ext>
              </a:extLst>
            </p:cNvPr>
            <p:cNvSpPr/>
            <p:nvPr/>
          </p:nvSpPr>
          <p:spPr>
            <a:xfrm>
              <a:off x="2398037" y="2179152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3080F373-3AF4-151F-F8A1-9DD677198F22}"/>
                </a:ext>
              </a:extLst>
            </p:cNvPr>
            <p:cNvSpPr/>
            <p:nvPr/>
          </p:nvSpPr>
          <p:spPr>
            <a:xfrm>
              <a:off x="3216853" y="2179152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DC13DA7A-A74F-2A3C-65F7-9C64964A42D6}"/>
                </a:ext>
              </a:extLst>
            </p:cNvPr>
            <p:cNvSpPr/>
            <p:nvPr/>
          </p:nvSpPr>
          <p:spPr>
            <a:xfrm>
              <a:off x="4035669" y="2179152"/>
              <a:ext cx="369947" cy="369948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DFB97CED-F7C0-DC53-4509-2F1DB837ACDD}"/>
                </a:ext>
              </a:extLst>
            </p:cNvPr>
            <p:cNvSpPr/>
            <p:nvPr/>
          </p:nvSpPr>
          <p:spPr>
            <a:xfrm>
              <a:off x="3247681" y="1361569"/>
              <a:ext cx="309523" cy="309523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C4D2DF53-DA22-C120-A685-914E89D13CE6}"/>
                </a:ext>
              </a:extLst>
            </p:cNvPr>
            <p:cNvSpPr/>
            <p:nvPr/>
          </p:nvSpPr>
          <p:spPr>
            <a:xfrm>
              <a:off x="3247681" y="2209365"/>
              <a:ext cx="309523" cy="309523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A367C9F7-D2AD-BB01-BE23-0F3D7FD9EB8C}"/>
                </a:ext>
              </a:extLst>
            </p:cNvPr>
            <p:cNvSpPr/>
            <p:nvPr/>
          </p:nvSpPr>
          <p:spPr>
            <a:xfrm>
              <a:off x="2428866" y="2209365"/>
              <a:ext cx="309523" cy="309523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05993F49-43C4-A20A-0E87-97B5DA342219}"/>
                </a:ext>
              </a:extLst>
            </p:cNvPr>
            <p:cNvSpPr/>
            <p:nvPr/>
          </p:nvSpPr>
          <p:spPr>
            <a:xfrm>
              <a:off x="1609433" y="2209365"/>
              <a:ext cx="309523" cy="309523"/>
            </a:xfrm>
            <a:prstGeom prst="ellipse">
              <a:avLst/>
            </a:prstGeom>
            <a:solidFill>
              <a:schemeClr val="accent4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C30D55EC-FD5E-A1F6-B5FF-DE5E7ADA9C3B}"/>
                </a:ext>
              </a:extLst>
            </p:cNvPr>
            <p:cNvCxnSpPr>
              <a:cxnSpLocks/>
              <a:endCxn id="59" idx="2"/>
            </p:cNvCxnSpPr>
            <p:nvPr/>
          </p:nvCxnSpPr>
          <p:spPr>
            <a:xfrm>
              <a:off x="1212973" y="1515714"/>
              <a:ext cx="366248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71517CDA-B146-2810-5BF1-E12668AC2230}"/>
                </a:ext>
              </a:extLst>
            </p:cNvPr>
            <p:cNvCxnSpPr>
              <a:cxnSpLocks/>
              <a:stCxn id="59" idx="6"/>
              <a:endCxn id="60" idx="2"/>
            </p:cNvCxnSpPr>
            <p:nvPr/>
          </p:nvCxnSpPr>
          <p:spPr>
            <a:xfrm>
              <a:off x="1949168" y="1515714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A1282B21-5DB9-A1E9-56A1-5BF66795051F}"/>
                </a:ext>
              </a:extLst>
            </p:cNvPr>
            <p:cNvCxnSpPr>
              <a:cxnSpLocks/>
              <a:stCxn id="60" idx="6"/>
              <a:endCxn id="61" idx="2"/>
            </p:cNvCxnSpPr>
            <p:nvPr/>
          </p:nvCxnSpPr>
          <p:spPr>
            <a:xfrm>
              <a:off x="2767984" y="1515714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3EA3245B-56AF-14FD-7893-87727F41FAD7}"/>
                </a:ext>
              </a:extLst>
            </p:cNvPr>
            <p:cNvCxnSpPr>
              <a:cxnSpLocks/>
              <a:stCxn id="61" idx="6"/>
              <a:endCxn id="62" idx="2"/>
            </p:cNvCxnSpPr>
            <p:nvPr/>
          </p:nvCxnSpPr>
          <p:spPr>
            <a:xfrm>
              <a:off x="3586800" y="1515714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AAE60CB1-E578-1012-F135-2B63D21B0D63}"/>
                </a:ext>
              </a:extLst>
            </p:cNvPr>
            <p:cNvCxnSpPr>
              <a:cxnSpLocks/>
              <a:stCxn id="61" idx="5"/>
              <a:endCxn id="66" idx="1"/>
            </p:cNvCxnSpPr>
            <p:nvPr/>
          </p:nvCxnSpPr>
          <p:spPr>
            <a:xfrm>
              <a:off x="3532623" y="1646510"/>
              <a:ext cx="557224" cy="58682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8E4F06E-E69E-8EA3-06A3-CD96D318946E}"/>
                </a:ext>
              </a:extLst>
            </p:cNvPr>
            <p:cNvCxnSpPr>
              <a:cxnSpLocks/>
              <a:stCxn id="62" idx="4"/>
              <a:endCxn id="66" idx="0"/>
            </p:cNvCxnSpPr>
            <p:nvPr/>
          </p:nvCxnSpPr>
          <p:spPr>
            <a:xfrm>
              <a:off x="4220642" y="1700688"/>
              <a:ext cx="0" cy="478465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4891D6C6-0AC8-1E70-2058-CD176F0EF348}"/>
                </a:ext>
              </a:extLst>
            </p:cNvPr>
            <p:cNvCxnSpPr>
              <a:cxnSpLocks/>
              <a:stCxn id="66" idx="2"/>
              <a:endCxn id="65" idx="6"/>
            </p:cNvCxnSpPr>
            <p:nvPr/>
          </p:nvCxnSpPr>
          <p:spPr>
            <a:xfrm flipH="1">
              <a:off x="3586800" y="2364126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554A6042-6F5C-9EE3-1AA0-18DF26028CE4}"/>
                </a:ext>
              </a:extLst>
            </p:cNvPr>
            <p:cNvCxnSpPr>
              <a:cxnSpLocks/>
              <a:stCxn id="65" idx="2"/>
              <a:endCxn id="64" idx="6"/>
            </p:cNvCxnSpPr>
            <p:nvPr/>
          </p:nvCxnSpPr>
          <p:spPr>
            <a:xfrm flipH="1">
              <a:off x="2767984" y="2364126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E9A2EB34-9D5D-AACD-C7F5-5FE8C54EAC4F}"/>
                </a:ext>
              </a:extLst>
            </p:cNvPr>
            <p:cNvCxnSpPr>
              <a:cxnSpLocks/>
              <a:stCxn id="64" idx="2"/>
              <a:endCxn id="63" idx="6"/>
            </p:cNvCxnSpPr>
            <p:nvPr/>
          </p:nvCxnSpPr>
          <p:spPr>
            <a:xfrm flipH="1">
              <a:off x="1949168" y="2364126"/>
              <a:ext cx="448869" cy="0"/>
            </a:xfrm>
            <a:prstGeom prst="straightConnector1">
              <a:avLst/>
            </a:prstGeom>
            <a:ln w="31750">
              <a:solidFill>
                <a:schemeClr val="accent4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00676C9E-DACF-F3FD-0476-3A952DEFD347}"/>
                </a:ext>
              </a:extLst>
            </p:cNvPr>
            <p:cNvSpPr/>
            <p:nvPr/>
          </p:nvSpPr>
          <p:spPr>
            <a:xfrm>
              <a:off x="4740879" y="1300528"/>
              <a:ext cx="298580" cy="1218360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10048935-578E-4438-EE33-2C6596BCEB37}"/>
                </a:ext>
              </a:extLst>
            </p:cNvPr>
            <p:cNvSpPr txBox="1"/>
            <p:nvPr/>
          </p:nvSpPr>
          <p:spPr>
            <a:xfrm>
              <a:off x="4567901" y="2453573"/>
              <a:ext cx="6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stack</a:t>
              </a:r>
            </a:p>
          </p:txBody>
        </p: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0F9EEDA5-E410-285A-7B09-7F2696FFA003}"/>
              </a:ext>
            </a:extLst>
          </p:cNvPr>
          <p:cNvSpPr txBox="1"/>
          <p:nvPr/>
        </p:nvSpPr>
        <p:spPr>
          <a:xfrm>
            <a:off x="5673301" y="4058584"/>
            <a:ext cx="5771148" cy="36933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Turing Machine</a:t>
            </a:r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An NFA with a </a:t>
            </a:r>
            <a:r>
              <a:rPr lang="en-US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tape (array)</a:t>
            </a: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E654BED-3A79-C23B-84E6-B0C63B167A26}"/>
              </a:ext>
            </a:extLst>
          </p:cNvPr>
          <p:cNvGrpSpPr/>
          <p:nvPr/>
        </p:nvGrpSpPr>
        <p:grpSpPr>
          <a:xfrm>
            <a:off x="1660842" y="3644726"/>
            <a:ext cx="3192643" cy="2636392"/>
            <a:chOff x="1212972" y="3961968"/>
            <a:chExt cx="3192643" cy="2636392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48D81D8-01CD-E312-358C-70EF31F961C2}"/>
                </a:ext>
              </a:extLst>
            </p:cNvPr>
            <p:cNvSpPr/>
            <p:nvPr/>
          </p:nvSpPr>
          <p:spPr>
            <a:xfrm>
              <a:off x="1579220" y="3961968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4C360322-404E-3CF2-2557-812A9D0F4200}"/>
                </a:ext>
              </a:extLst>
            </p:cNvPr>
            <p:cNvSpPr/>
            <p:nvPr/>
          </p:nvSpPr>
          <p:spPr>
            <a:xfrm>
              <a:off x="2398036" y="3961968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469FA3F8-A3D6-48FB-3AB0-39ACF74929F3}"/>
                </a:ext>
              </a:extLst>
            </p:cNvPr>
            <p:cNvSpPr/>
            <p:nvPr/>
          </p:nvSpPr>
          <p:spPr>
            <a:xfrm>
              <a:off x="3216852" y="3961968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3CAA44FC-1219-059A-29D5-4BDC29BAAB98}"/>
                </a:ext>
              </a:extLst>
            </p:cNvPr>
            <p:cNvSpPr/>
            <p:nvPr/>
          </p:nvSpPr>
          <p:spPr>
            <a:xfrm>
              <a:off x="4035668" y="3961968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246B0DDE-0E95-20DF-1852-260A0F5E0290}"/>
                </a:ext>
              </a:extLst>
            </p:cNvPr>
            <p:cNvSpPr/>
            <p:nvPr/>
          </p:nvSpPr>
          <p:spPr>
            <a:xfrm>
              <a:off x="1579220" y="4810380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EB73E790-FBD4-B03A-9FA4-7A6B4B020C89}"/>
                </a:ext>
              </a:extLst>
            </p:cNvPr>
            <p:cNvSpPr/>
            <p:nvPr/>
          </p:nvSpPr>
          <p:spPr>
            <a:xfrm>
              <a:off x="2398036" y="4810380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55663364-079F-6731-D916-92BB4B7174F2}"/>
                </a:ext>
              </a:extLst>
            </p:cNvPr>
            <p:cNvSpPr/>
            <p:nvPr/>
          </p:nvSpPr>
          <p:spPr>
            <a:xfrm>
              <a:off x="3216852" y="4810380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B8FED0C-5A51-6036-E743-0DE1D89C72D1}"/>
                </a:ext>
              </a:extLst>
            </p:cNvPr>
            <p:cNvSpPr/>
            <p:nvPr/>
          </p:nvSpPr>
          <p:spPr>
            <a:xfrm>
              <a:off x="4035668" y="4810380"/>
              <a:ext cx="369947" cy="369948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EB1784C5-0B41-B27A-1384-25A37262191D}"/>
                </a:ext>
              </a:extLst>
            </p:cNvPr>
            <p:cNvSpPr/>
            <p:nvPr/>
          </p:nvSpPr>
          <p:spPr>
            <a:xfrm>
              <a:off x="3247680" y="3992797"/>
              <a:ext cx="309523" cy="309523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A61E67AD-2112-892D-E407-88A4AA46DC22}"/>
                </a:ext>
              </a:extLst>
            </p:cNvPr>
            <p:cNvSpPr/>
            <p:nvPr/>
          </p:nvSpPr>
          <p:spPr>
            <a:xfrm>
              <a:off x="3247680" y="4840593"/>
              <a:ext cx="309523" cy="309523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A1DB90E2-387D-672F-353A-B0E2790C4D7D}"/>
                </a:ext>
              </a:extLst>
            </p:cNvPr>
            <p:cNvSpPr/>
            <p:nvPr/>
          </p:nvSpPr>
          <p:spPr>
            <a:xfrm>
              <a:off x="2428865" y="4840593"/>
              <a:ext cx="309523" cy="309523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B130C47A-08B2-0460-CB57-F2456F99BB3B}"/>
                </a:ext>
              </a:extLst>
            </p:cNvPr>
            <p:cNvSpPr/>
            <p:nvPr/>
          </p:nvSpPr>
          <p:spPr>
            <a:xfrm>
              <a:off x="1609432" y="4840593"/>
              <a:ext cx="309523" cy="309523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8</a:t>
              </a:r>
            </a:p>
          </p:txBody>
        </p:sp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6268C106-91BC-913E-4393-0E2A37B77800}"/>
                </a:ext>
              </a:extLst>
            </p:cNvPr>
            <p:cNvCxnSpPr>
              <a:cxnSpLocks/>
              <a:endCxn id="5" idx="2"/>
            </p:cNvCxnSpPr>
            <p:nvPr/>
          </p:nvCxnSpPr>
          <p:spPr>
            <a:xfrm>
              <a:off x="1212972" y="4146942"/>
              <a:ext cx="366248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FF65A843-5B76-6198-79F6-753832625245}"/>
                </a:ext>
              </a:extLst>
            </p:cNvPr>
            <p:cNvCxnSpPr>
              <a:cxnSpLocks/>
              <a:stCxn id="5" idx="6"/>
              <a:endCxn id="46" idx="2"/>
            </p:cNvCxnSpPr>
            <p:nvPr/>
          </p:nvCxnSpPr>
          <p:spPr>
            <a:xfrm>
              <a:off x="1949167" y="4146942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02C26872-4A0D-6410-24E8-D96577E20CAE}"/>
                </a:ext>
              </a:extLst>
            </p:cNvPr>
            <p:cNvCxnSpPr>
              <a:cxnSpLocks/>
              <a:stCxn id="46" idx="6"/>
              <a:endCxn id="47" idx="2"/>
            </p:cNvCxnSpPr>
            <p:nvPr/>
          </p:nvCxnSpPr>
          <p:spPr>
            <a:xfrm>
              <a:off x="2767983" y="4146942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Arrow Connector 89">
              <a:extLst>
                <a:ext uri="{FF2B5EF4-FFF2-40B4-BE49-F238E27FC236}">
                  <a16:creationId xmlns:a16="http://schemas.microsoft.com/office/drawing/2014/main" id="{88A3F12A-E478-66CB-CB32-9CE916DC778A}"/>
                </a:ext>
              </a:extLst>
            </p:cNvPr>
            <p:cNvCxnSpPr>
              <a:cxnSpLocks/>
              <a:stCxn id="47" idx="6"/>
              <a:endCxn id="48" idx="2"/>
            </p:cNvCxnSpPr>
            <p:nvPr/>
          </p:nvCxnSpPr>
          <p:spPr>
            <a:xfrm>
              <a:off x="3586799" y="4146942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Arrow Connector 90">
              <a:extLst>
                <a:ext uri="{FF2B5EF4-FFF2-40B4-BE49-F238E27FC236}">
                  <a16:creationId xmlns:a16="http://schemas.microsoft.com/office/drawing/2014/main" id="{39774799-42CC-27CF-4AA3-501209ED8DBA}"/>
                </a:ext>
              </a:extLst>
            </p:cNvPr>
            <p:cNvCxnSpPr>
              <a:cxnSpLocks/>
              <a:stCxn id="47" idx="5"/>
              <a:endCxn id="52" idx="1"/>
            </p:cNvCxnSpPr>
            <p:nvPr/>
          </p:nvCxnSpPr>
          <p:spPr>
            <a:xfrm>
              <a:off x="3532622" y="4277738"/>
              <a:ext cx="557224" cy="58682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4E227D7-D416-BCFC-028D-83714D302ADF}"/>
                </a:ext>
              </a:extLst>
            </p:cNvPr>
            <p:cNvCxnSpPr>
              <a:cxnSpLocks/>
              <a:stCxn id="48" idx="4"/>
              <a:endCxn id="52" idx="0"/>
            </p:cNvCxnSpPr>
            <p:nvPr/>
          </p:nvCxnSpPr>
          <p:spPr>
            <a:xfrm>
              <a:off x="4220641" y="4331916"/>
              <a:ext cx="0" cy="478465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5F8D01-95E4-63EB-0191-718F10F15725}"/>
                </a:ext>
              </a:extLst>
            </p:cNvPr>
            <p:cNvCxnSpPr>
              <a:cxnSpLocks/>
              <a:stCxn id="52" idx="2"/>
              <a:endCxn id="51" idx="6"/>
            </p:cNvCxnSpPr>
            <p:nvPr/>
          </p:nvCxnSpPr>
          <p:spPr>
            <a:xfrm flipH="1">
              <a:off x="3586799" y="4995354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5419317-283B-1782-D81B-78716EC5A839}"/>
                </a:ext>
              </a:extLst>
            </p:cNvPr>
            <p:cNvCxnSpPr>
              <a:cxnSpLocks/>
              <a:stCxn id="51" idx="2"/>
              <a:endCxn id="50" idx="6"/>
            </p:cNvCxnSpPr>
            <p:nvPr/>
          </p:nvCxnSpPr>
          <p:spPr>
            <a:xfrm flipH="1">
              <a:off x="2767983" y="4995354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Arrow Connector 94">
              <a:extLst>
                <a:ext uri="{FF2B5EF4-FFF2-40B4-BE49-F238E27FC236}">
                  <a16:creationId xmlns:a16="http://schemas.microsoft.com/office/drawing/2014/main" id="{B59CD585-A43D-33D3-7FD4-0625E459827D}"/>
                </a:ext>
              </a:extLst>
            </p:cNvPr>
            <p:cNvCxnSpPr>
              <a:cxnSpLocks/>
              <a:stCxn id="50" idx="2"/>
              <a:endCxn id="49" idx="6"/>
            </p:cNvCxnSpPr>
            <p:nvPr/>
          </p:nvCxnSpPr>
          <p:spPr>
            <a:xfrm flipH="1">
              <a:off x="1949167" y="4995354"/>
              <a:ext cx="448869" cy="0"/>
            </a:xfrm>
            <a:prstGeom prst="straightConnector1">
              <a:avLst/>
            </a:prstGeom>
            <a:ln w="3175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12DA111-5884-9BBF-82BD-77A7E5003275}"/>
                </a:ext>
              </a:extLst>
            </p:cNvPr>
            <p:cNvSpPr/>
            <p:nvPr/>
          </p:nvSpPr>
          <p:spPr>
            <a:xfrm rot="5400000">
              <a:off x="2770491" y="4344492"/>
              <a:ext cx="298580" cy="2800584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617F416-6728-E458-CCAD-F06CD64FCE15}"/>
                </a:ext>
              </a:extLst>
            </p:cNvPr>
            <p:cNvSpPr txBox="1"/>
            <p:nvPr/>
          </p:nvSpPr>
          <p:spPr>
            <a:xfrm>
              <a:off x="2428865" y="6229028"/>
              <a:ext cx="6358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Tape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3B212B4-D291-8804-882F-6A6D03EDB9F3}"/>
                </a:ext>
              </a:extLst>
            </p:cNvPr>
            <p:cNvSpPr txBox="1"/>
            <p:nvPr/>
          </p:nvSpPr>
          <p:spPr>
            <a:xfrm>
              <a:off x="3263533" y="5929757"/>
              <a:ext cx="293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^</a:t>
              </a:r>
            </a:p>
          </p:txBody>
        </p:sp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540D90B5-5452-205F-1100-61B9CE936CEB}"/>
              </a:ext>
            </a:extLst>
          </p:cNvPr>
          <p:cNvSpPr txBox="1"/>
          <p:nvPr/>
        </p:nvSpPr>
        <p:spPr>
          <a:xfrm>
            <a:off x="6652726" y="5450121"/>
            <a:ext cx="4478694" cy="92333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You’ll see these in a lot more detail in DMT2. They exist, but we are going to stick with the first two for now (to keep things simple)…</a:t>
            </a:r>
          </a:p>
        </p:txBody>
      </p:sp>
    </p:spTree>
    <p:extLst>
      <p:ext uri="{BB962C8B-B14F-4D97-AF65-F5344CB8AC3E}">
        <p14:creationId xmlns:p14="http://schemas.microsoft.com/office/powerpoint/2010/main" val="6068491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EA92F-C4A8-4D91-623D-92B4E020E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99541-03E0-FD1C-D6E4-22F5AD3CA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23995"/>
            <a:ext cx="9905998" cy="448281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Uva ID Detection with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NFA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B93368-BE6F-59C8-BF6D-04718B4815A7}"/>
              </a:ext>
            </a:extLst>
          </p:cNvPr>
          <p:cNvSpPr txBox="1"/>
          <p:nvPr/>
        </p:nvSpPr>
        <p:spPr>
          <a:xfrm>
            <a:off x="8929293" y="1315728"/>
            <a:ext cx="1315616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Try it out:</a:t>
            </a:r>
          </a:p>
          <a:p>
            <a:endParaRPr lang="en-US" dirty="0"/>
          </a:p>
          <a:p>
            <a:r>
              <a:rPr lang="en-US" dirty="0"/>
              <a:t>  mrf8t</a:t>
            </a:r>
          </a:p>
          <a:p>
            <a:r>
              <a:rPr lang="en-US" dirty="0"/>
              <a:t>  as8f</a:t>
            </a:r>
          </a:p>
          <a:p>
            <a:r>
              <a:rPr lang="en-US" dirty="0"/>
              <a:t>  afde9d</a:t>
            </a: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6A76799-896B-4F61-3697-F97F36F97679}"/>
              </a:ext>
            </a:extLst>
          </p:cNvPr>
          <p:cNvGrpSpPr/>
          <p:nvPr/>
        </p:nvGrpSpPr>
        <p:grpSpPr>
          <a:xfrm>
            <a:off x="1343602" y="908179"/>
            <a:ext cx="6156656" cy="5431207"/>
            <a:chOff x="643807" y="1038807"/>
            <a:chExt cx="6156656" cy="5431207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19506C8F-2B27-6612-0981-50EC97CB3D3E}"/>
                </a:ext>
              </a:extLst>
            </p:cNvPr>
            <p:cNvSpPr/>
            <p:nvPr/>
          </p:nvSpPr>
          <p:spPr>
            <a:xfrm>
              <a:off x="2435288" y="1038807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B62F2518-B160-2FB9-6502-226BBE204B16}"/>
                </a:ext>
              </a:extLst>
            </p:cNvPr>
            <p:cNvSpPr/>
            <p:nvPr/>
          </p:nvSpPr>
          <p:spPr>
            <a:xfrm>
              <a:off x="4264089" y="2185020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D69B662-8028-A7DB-300D-CD29CDB053D0}"/>
                </a:ext>
              </a:extLst>
            </p:cNvPr>
            <p:cNvSpPr/>
            <p:nvPr/>
          </p:nvSpPr>
          <p:spPr>
            <a:xfrm>
              <a:off x="5666791" y="3335881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FD27654-E2BB-77B6-E7C5-9F9098C00F91}"/>
                </a:ext>
              </a:extLst>
            </p:cNvPr>
            <p:cNvSpPr/>
            <p:nvPr/>
          </p:nvSpPr>
          <p:spPr>
            <a:xfrm>
              <a:off x="5725887" y="5070421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B830914-81D9-FB30-29E8-86FE41D9C2F4}"/>
                </a:ext>
              </a:extLst>
            </p:cNvPr>
            <p:cNvSpPr/>
            <p:nvPr/>
          </p:nvSpPr>
          <p:spPr>
            <a:xfrm>
              <a:off x="643807" y="4011380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7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9F1779E-1941-DC79-2373-9D27DB5964A5}"/>
                </a:ext>
              </a:extLst>
            </p:cNvPr>
            <p:cNvSpPr/>
            <p:nvPr/>
          </p:nvSpPr>
          <p:spPr>
            <a:xfrm>
              <a:off x="1862995" y="5536952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881E00A-51AD-97BD-1E23-39841FF44416}"/>
                </a:ext>
              </a:extLst>
            </p:cNvPr>
            <p:cNvSpPr/>
            <p:nvPr/>
          </p:nvSpPr>
          <p:spPr>
            <a:xfrm>
              <a:off x="3778757" y="5493738"/>
              <a:ext cx="933062" cy="933062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5</a:t>
              </a: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4ADF184-27E8-2B1E-069E-EB66BA77D2A5}"/>
                </a:ext>
              </a:extLst>
            </p:cNvPr>
            <p:cNvGrpSpPr/>
            <p:nvPr/>
          </p:nvGrpSpPr>
          <p:grpSpPr>
            <a:xfrm>
              <a:off x="1483667" y="2396944"/>
              <a:ext cx="933062" cy="933062"/>
              <a:chOff x="2161594" y="4032379"/>
              <a:chExt cx="933062" cy="933062"/>
            </a:xfrm>
            <a:solidFill>
              <a:schemeClr val="accent3">
                <a:lumMod val="60000"/>
                <a:lumOff val="40000"/>
              </a:schemeClr>
            </a:solidFill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19EB0F2-982E-CE12-30B9-3DE82D150060}"/>
                  </a:ext>
                </a:extLst>
              </p:cNvPr>
              <p:cNvSpPr/>
              <p:nvPr/>
            </p:nvSpPr>
            <p:spPr>
              <a:xfrm>
                <a:off x="2161594" y="4032379"/>
                <a:ext cx="933062" cy="933062"/>
              </a:xfrm>
              <a:prstGeom prst="ellipse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698DD64D-925B-4EC4-C1FA-B8ACC17C2C99}"/>
                  </a:ext>
                </a:extLst>
              </p:cNvPr>
              <p:cNvSpPr/>
              <p:nvPr/>
            </p:nvSpPr>
            <p:spPr>
              <a:xfrm>
                <a:off x="2237794" y="4108579"/>
                <a:ext cx="780662" cy="780662"/>
              </a:xfrm>
              <a:prstGeom prst="ellipse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8</a:t>
                </a:r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D4D15B4-A0E1-83EB-2048-019EBE234436}"/>
                </a:ext>
              </a:extLst>
            </p:cNvPr>
            <p:cNvCxnSpPr>
              <a:cxnSpLocks/>
              <a:endCxn id="3" idx="2"/>
            </p:cNvCxnSpPr>
            <p:nvPr/>
          </p:nvCxnSpPr>
          <p:spPr>
            <a:xfrm>
              <a:off x="1511556" y="1505338"/>
              <a:ext cx="923732" cy="0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B17266EA-7990-352A-CDA1-9F774B77E285}"/>
                </a:ext>
              </a:extLst>
            </p:cNvPr>
            <p:cNvCxnSpPr>
              <a:cxnSpLocks/>
              <a:stCxn id="3" idx="5"/>
              <a:endCxn id="4" idx="1"/>
            </p:cNvCxnSpPr>
            <p:nvPr/>
          </p:nvCxnSpPr>
          <p:spPr>
            <a:xfrm>
              <a:off x="3231706" y="1835225"/>
              <a:ext cx="1169027" cy="486439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689632E-1490-B956-FA9C-F2D0D3C64777}"/>
                </a:ext>
              </a:extLst>
            </p:cNvPr>
            <p:cNvCxnSpPr>
              <a:cxnSpLocks/>
              <a:stCxn id="4" idx="5"/>
              <a:endCxn id="6" idx="1"/>
            </p:cNvCxnSpPr>
            <p:nvPr/>
          </p:nvCxnSpPr>
          <p:spPr>
            <a:xfrm>
              <a:off x="5060507" y="2981438"/>
              <a:ext cx="742928" cy="491087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F63164F-90E6-364D-690E-A42BAA136969}"/>
                </a:ext>
              </a:extLst>
            </p:cNvPr>
            <p:cNvCxnSpPr>
              <a:cxnSpLocks/>
              <a:stCxn id="6" idx="4"/>
              <a:endCxn id="9" idx="0"/>
            </p:cNvCxnSpPr>
            <p:nvPr/>
          </p:nvCxnSpPr>
          <p:spPr>
            <a:xfrm>
              <a:off x="6133322" y="4268943"/>
              <a:ext cx="59096" cy="801478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C1842EA-B8C4-6065-F1A5-B01143D7EF6C}"/>
                </a:ext>
              </a:extLst>
            </p:cNvPr>
            <p:cNvCxnSpPr>
              <a:cxnSpLocks/>
              <a:stCxn id="4" idx="2"/>
              <a:endCxn id="10" idx="6"/>
            </p:cNvCxnSpPr>
            <p:nvPr/>
          </p:nvCxnSpPr>
          <p:spPr>
            <a:xfrm flipH="1">
              <a:off x="2416729" y="2651551"/>
              <a:ext cx="1847360" cy="211924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7818C76E-594A-5849-5A4B-E826A10EFA21}"/>
                </a:ext>
              </a:extLst>
            </p:cNvPr>
            <p:cNvCxnSpPr>
              <a:cxnSpLocks/>
              <a:stCxn id="9" idx="2"/>
              <a:endCxn id="13" idx="6"/>
            </p:cNvCxnSpPr>
            <p:nvPr/>
          </p:nvCxnSpPr>
          <p:spPr>
            <a:xfrm flipH="1">
              <a:off x="4711819" y="5536952"/>
              <a:ext cx="1014068" cy="423317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13FBF2F2-DE65-2C95-255D-B04F762757ED}"/>
                </a:ext>
              </a:extLst>
            </p:cNvPr>
            <p:cNvCxnSpPr>
              <a:cxnSpLocks/>
              <a:stCxn id="13" idx="2"/>
              <a:endCxn id="12" idx="6"/>
            </p:cNvCxnSpPr>
            <p:nvPr/>
          </p:nvCxnSpPr>
          <p:spPr>
            <a:xfrm flipH="1">
              <a:off x="2796057" y="5960269"/>
              <a:ext cx="982700" cy="43214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79996FEC-F169-E154-C409-3B807035CDEF}"/>
                </a:ext>
              </a:extLst>
            </p:cNvPr>
            <p:cNvCxnSpPr>
              <a:cxnSpLocks/>
              <a:stCxn id="12" idx="1"/>
              <a:endCxn id="11" idx="5"/>
            </p:cNvCxnSpPr>
            <p:nvPr/>
          </p:nvCxnSpPr>
          <p:spPr>
            <a:xfrm flipH="1" flipV="1">
              <a:off x="1440225" y="4807798"/>
              <a:ext cx="559414" cy="865798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CD116A8-0997-9D99-3121-E0705554DDD4}"/>
                </a:ext>
              </a:extLst>
            </p:cNvPr>
            <p:cNvCxnSpPr>
              <a:cxnSpLocks/>
              <a:stCxn id="11" idx="0"/>
              <a:endCxn id="10" idx="3"/>
            </p:cNvCxnSpPr>
            <p:nvPr/>
          </p:nvCxnSpPr>
          <p:spPr>
            <a:xfrm flipV="1">
              <a:off x="1110338" y="3193362"/>
              <a:ext cx="509973" cy="818018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253BCCC-B4AA-78B6-A876-B82B3DA63077}"/>
                </a:ext>
              </a:extLst>
            </p:cNvPr>
            <p:cNvSpPr txBox="1"/>
            <p:nvPr/>
          </p:nvSpPr>
          <p:spPr>
            <a:xfrm>
              <a:off x="3635833" y="1368694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6770791-8EEA-9D8C-A4DB-D18032A934A1}"/>
                </a:ext>
              </a:extLst>
            </p:cNvPr>
            <p:cNvSpPr txBox="1"/>
            <p:nvPr/>
          </p:nvSpPr>
          <p:spPr>
            <a:xfrm>
              <a:off x="2743252" y="2424224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26B1DEAF-5CC8-8DB1-7EB9-A8497B2C6B25}"/>
                </a:ext>
              </a:extLst>
            </p:cNvPr>
            <p:cNvSpPr txBox="1"/>
            <p:nvPr/>
          </p:nvSpPr>
          <p:spPr>
            <a:xfrm>
              <a:off x="3441337" y="3106828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A96D105-B982-7CFC-D225-8250C5A69F65}"/>
                </a:ext>
              </a:extLst>
            </p:cNvPr>
            <p:cNvSpPr txBox="1"/>
            <p:nvPr/>
          </p:nvSpPr>
          <p:spPr>
            <a:xfrm>
              <a:off x="5187768" y="2824030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5D7D395-D2B8-C469-2F73-3699DE851D99}"/>
                </a:ext>
              </a:extLst>
            </p:cNvPr>
            <p:cNvSpPr txBox="1"/>
            <p:nvPr/>
          </p:nvSpPr>
          <p:spPr>
            <a:xfrm>
              <a:off x="6035353" y="4450311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FC6A27B-8709-FC51-00EA-9D17AA7BA2B1}"/>
                </a:ext>
              </a:extLst>
            </p:cNvPr>
            <p:cNvSpPr txBox="1"/>
            <p:nvPr/>
          </p:nvSpPr>
          <p:spPr>
            <a:xfrm>
              <a:off x="3071759" y="4284774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7671BFB-ADFC-991C-17F7-759E39DB3EF6}"/>
                </a:ext>
              </a:extLst>
            </p:cNvPr>
            <p:cNvSpPr txBox="1"/>
            <p:nvPr/>
          </p:nvSpPr>
          <p:spPr>
            <a:xfrm>
              <a:off x="4575175" y="4546264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0-9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37CDEDF-D87C-ED77-DDD5-E9140159A60B}"/>
                </a:ext>
              </a:extLst>
            </p:cNvPr>
            <p:cNvSpPr txBox="1"/>
            <p:nvPr/>
          </p:nvSpPr>
          <p:spPr>
            <a:xfrm>
              <a:off x="4957730" y="5748610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0-9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95C6919-721B-8487-42EC-6C1C12FC59CE}"/>
                </a:ext>
              </a:extLst>
            </p:cNvPr>
            <p:cNvSpPr txBox="1"/>
            <p:nvPr/>
          </p:nvSpPr>
          <p:spPr>
            <a:xfrm>
              <a:off x="1576869" y="1136006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Start</a:t>
              </a:r>
            </a:p>
          </p:txBody>
        </p:sp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AEFAFC3C-B4D1-4212-2275-5C8103C1FB6A}"/>
                </a:ext>
              </a:extLst>
            </p:cNvPr>
            <p:cNvCxnSpPr>
              <a:cxnSpLocks/>
              <a:stCxn id="6" idx="2"/>
              <a:endCxn id="10" idx="5"/>
            </p:cNvCxnSpPr>
            <p:nvPr/>
          </p:nvCxnSpPr>
          <p:spPr>
            <a:xfrm flipH="1" flipV="1">
              <a:off x="2280085" y="3193362"/>
              <a:ext cx="3386706" cy="609050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8EDE5EB5-AE61-6A75-7CAF-ABEB6552F33F}"/>
                </a:ext>
              </a:extLst>
            </p:cNvPr>
            <p:cNvCxnSpPr>
              <a:cxnSpLocks/>
              <a:stCxn id="6" idx="3"/>
              <a:endCxn id="13" idx="7"/>
            </p:cNvCxnSpPr>
            <p:nvPr/>
          </p:nvCxnSpPr>
          <p:spPr>
            <a:xfrm flipH="1">
              <a:off x="4575175" y="4132299"/>
              <a:ext cx="1228260" cy="1498083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D742FB0C-F733-D8E1-6BE0-7200298BAE40}"/>
                </a:ext>
              </a:extLst>
            </p:cNvPr>
            <p:cNvCxnSpPr>
              <a:cxnSpLocks/>
              <a:stCxn id="13" idx="1"/>
              <a:endCxn id="10" idx="5"/>
            </p:cNvCxnSpPr>
            <p:nvPr/>
          </p:nvCxnSpPr>
          <p:spPr>
            <a:xfrm flipH="1" flipV="1">
              <a:off x="2280085" y="3193362"/>
              <a:ext cx="1635316" cy="2437020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3690BA7D-18D6-7D07-FAFC-FA4128ED999D}"/>
                </a:ext>
              </a:extLst>
            </p:cNvPr>
            <p:cNvCxnSpPr>
              <a:cxnSpLocks/>
              <a:stCxn id="12" idx="0"/>
              <a:endCxn id="10" idx="4"/>
            </p:cNvCxnSpPr>
            <p:nvPr/>
          </p:nvCxnSpPr>
          <p:spPr>
            <a:xfrm flipH="1" flipV="1">
              <a:off x="1950198" y="3330006"/>
              <a:ext cx="379328" cy="2206946"/>
            </a:xfrm>
            <a:prstGeom prst="straightConnector1">
              <a:avLst/>
            </a:prstGeom>
            <a:ln w="317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92879B5B-1BE2-B565-08A2-D8449721D493}"/>
                </a:ext>
              </a:extLst>
            </p:cNvPr>
            <p:cNvSpPr txBox="1"/>
            <p:nvPr/>
          </p:nvSpPr>
          <p:spPr>
            <a:xfrm>
              <a:off x="2064813" y="4450329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F125BE70-CC85-0333-C4AB-B448EC6FC9E3}"/>
                </a:ext>
              </a:extLst>
            </p:cNvPr>
            <p:cNvSpPr txBox="1"/>
            <p:nvPr/>
          </p:nvSpPr>
          <p:spPr>
            <a:xfrm>
              <a:off x="2957854" y="6003483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FA531CF5-F735-613B-EBAF-7AB78CAC8879}"/>
                </a:ext>
              </a:extLst>
            </p:cNvPr>
            <p:cNvSpPr txBox="1"/>
            <p:nvPr/>
          </p:nvSpPr>
          <p:spPr>
            <a:xfrm>
              <a:off x="1077452" y="5125900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9FD0FCFA-2B5A-5B16-028A-AF0AB7799DC1}"/>
                </a:ext>
              </a:extLst>
            </p:cNvPr>
            <p:cNvSpPr txBox="1"/>
            <p:nvPr/>
          </p:nvSpPr>
          <p:spPr>
            <a:xfrm>
              <a:off x="713583" y="3336169"/>
              <a:ext cx="765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A-Z</a:t>
              </a:r>
            </a:p>
          </p:txBody>
        </p:sp>
      </p:grpSp>
      <p:sp>
        <p:nvSpPr>
          <p:cNvPr id="135" name="TextBox 134">
            <a:extLst>
              <a:ext uri="{FF2B5EF4-FFF2-40B4-BE49-F238E27FC236}">
                <a16:creationId xmlns:a16="http://schemas.microsoft.com/office/drawing/2014/main" id="{9624B8EC-A770-CD54-8EF8-7F1C0513DCE5}"/>
              </a:ext>
            </a:extLst>
          </p:cNvPr>
          <p:cNvSpPr txBox="1"/>
          <p:nvPr/>
        </p:nvSpPr>
        <p:spPr>
          <a:xfrm>
            <a:off x="8117976" y="3351983"/>
            <a:ext cx="3259596" cy="1477328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i="1" u="sng" dirty="0"/>
              <a:t>Remember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String is a valid Uva user id if there is </a:t>
            </a:r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at least one path </a:t>
            </a:r>
            <a:r>
              <a:rPr lang="en-US" dirty="0"/>
              <a:t>from start to finish on that string.</a:t>
            </a:r>
          </a:p>
        </p:txBody>
      </p:sp>
    </p:spTree>
    <p:extLst>
      <p:ext uri="{BB962C8B-B14F-4D97-AF65-F5344CB8AC3E}">
        <p14:creationId xmlns:p14="http://schemas.microsoft.com/office/powerpoint/2010/main" val="20526901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A22EE-8746-72C1-128A-7567D09FA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8745C-0348-5776-9EAA-FE9968D70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21691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Reduction of NFA to Satisfiability</a:t>
            </a:r>
          </a:p>
        </p:txBody>
      </p:sp>
    </p:spTree>
    <p:extLst>
      <p:ext uri="{BB962C8B-B14F-4D97-AF65-F5344CB8AC3E}">
        <p14:creationId xmlns:p14="http://schemas.microsoft.com/office/powerpoint/2010/main" val="4008021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C2C83-ACD8-5D66-1E73-AD84968259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45293"/>
            <a:ext cx="9905998" cy="5478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All NFA can be reduced to SAT</a:t>
            </a:r>
          </a:p>
        </p:txBody>
      </p:sp>
    </p:spTree>
    <p:extLst>
      <p:ext uri="{BB962C8B-B14F-4D97-AF65-F5344CB8AC3E}">
        <p14:creationId xmlns:p14="http://schemas.microsoft.com/office/powerpoint/2010/main" val="25408300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82A65-7DCF-86EB-BF7D-4FBD4A488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F5817-9EA5-E78F-3541-5038AC84F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Reduction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61FA1D-0F68-A46B-15A2-2CCA86129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768541"/>
          </a:xfrm>
        </p:spPr>
        <p:txBody>
          <a:bodyPr/>
          <a:lstStyle/>
          <a:p>
            <a:r>
              <a:rPr lang="en-US" dirty="0"/>
              <a:t>Any solvable program has a program</a:t>
            </a:r>
          </a:p>
          <a:p>
            <a:r>
              <a:rPr lang="en-US" dirty="0"/>
              <a:t>Looks like a DFA</a:t>
            </a:r>
          </a:p>
          <a:p>
            <a:r>
              <a:rPr lang="en-US" dirty="0"/>
              <a:t>Convert that DFA into a SAT Expression</a:t>
            </a:r>
          </a:p>
          <a:p>
            <a:pPr lvl="1"/>
            <a:r>
              <a:rPr lang="en-US" dirty="0"/>
              <a:t>Thus, instead of running the program to get output we can solve the SAT instance instead</a:t>
            </a:r>
          </a:p>
          <a:p>
            <a:pPr lvl="1"/>
            <a:r>
              <a:rPr lang="en-US" dirty="0"/>
              <a:t>Do example from other slides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52155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0FD944-FC29-E35D-7531-44A9C9E03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CF527-1BAD-42B7-22AE-B055A95EF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Finish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073CF7-586F-BA14-6DE4-4D586DA006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6"/>
            <a:ext cx="9905999" cy="3768541"/>
          </a:xfrm>
        </p:spPr>
        <p:txBody>
          <a:bodyPr/>
          <a:lstStyle/>
          <a:p>
            <a:r>
              <a:rPr lang="en-US" dirty="0"/>
              <a:t>Put names on the complexity classes.</a:t>
            </a:r>
          </a:p>
          <a:p>
            <a:r>
              <a:rPr lang="en-US" dirty="0"/>
              <a:t>Discuss NP-Completeness a little bit</a:t>
            </a:r>
          </a:p>
          <a:p>
            <a:r>
              <a:rPr lang="en-US" dirty="0"/>
              <a:t>Talk a bit about how Turing Machines have similar conversion.</a:t>
            </a:r>
          </a:p>
          <a:p>
            <a:r>
              <a:rPr lang="en-US" dirty="0"/>
              <a:t>Talk a little bit abut how lots of </a:t>
            </a:r>
            <a:r>
              <a:rPr lang="en-US"/>
              <a:t>NP-Complete problems exist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265693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43522</TotalTime>
  <Words>1938</Words>
  <Application>Microsoft Macintosh PowerPoint</Application>
  <PresentationFormat>Widescreen</PresentationFormat>
  <Paragraphs>363</Paragraphs>
  <Slides>38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Arial</vt:lpstr>
      <vt:lpstr>Calibri</vt:lpstr>
      <vt:lpstr>Cambria Math</vt:lpstr>
      <vt:lpstr>Courier New</vt:lpstr>
      <vt:lpstr>Tw Cen MT</vt:lpstr>
      <vt:lpstr>Circuit</vt:lpstr>
      <vt:lpstr>A brief Introduction to NP-Completeness</vt:lpstr>
      <vt:lpstr>Roadmap: Goals for this deck</vt:lpstr>
      <vt:lpstr>Reduction Reminders</vt:lpstr>
      <vt:lpstr>Reminder: Reductions</vt:lpstr>
      <vt:lpstr>Reminder: Reductions</vt:lpstr>
      <vt:lpstr>Complexity Classes</vt:lpstr>
      <vt:lpstr>Finding the Hardest Problems</vt:lpstr>
      <vt:lpstr>The class P</vt:lpstr>
      <vt:lpstr>The class P</vt:lpstr>
      <vt:lpstr>NP</vt:lpstr>
      <vt:lpstr>NP: Quick Verification</vt:lpstr>
      <vt:lpstr>NP: Quick Verification</vt:lpstr>
      <vt:lpstr>NP: Quick Verification</vt:lpstr>
      <vt:lpstr>Back to our Diagram</vt:lpstr>
      <vt:lpstr>NP-Hard</vt:lpstr>
      <vt:lpstr>NP-Hard</vt:lpstr>
      <vt:lpstr>NP-Complete</vt:lpstr>
      <vt:lpstr>NP-Hard</vt:lpstr>
      <vt:lpstr>PowerPoint Presentation</vt:lpstr>
      <vt:lpstr>Satisfiability</vt:lpstr>
      <vt:lpstr>Satisfiability (SAT)</vt:lpstr>
      <vt:lpstr>Satisfiability (SAT)</vt:lpstr>
      <vt:lpstr>PowerPoint Presentation</vt:lpstr>
      <vt:lpstr>PowerPoint Presentation</vt:lpstr>
      <vt:lpstr>Computer Programs!</vt:lpstr>
      <vt:lpstr>Quick Roadmap</vt:lpstr>
      <vt:lpstr>Simple Program Example</vt:lpstr>
      <vt:lpstr>Python Code</vt:lpstr>
      <vt:lpstr>A different Way of “Coding” This…</vt:lpstr>
      <vt:lpstr>A different Way of “Coding” This…</vt:lpstr>
      <vt:lpstr>Python Code</vt:lpstr>
      <vt:lpstr>Aside: More Machine Types</vt:lpstr>
      <vt:lpstr>Aside: More Machine Types</vt:lpstr>
      <vt:lpstr>Uva ID Detection with NFA</vt:lpstr>
      <vt:lpstr>Reduction of NFA to Satisfiability</vt:lpstr>
      <vt:lpstr>All NFA can be reduced to SAT</vt:lpstr>
      <vt:lpstr>Reduction Time</vt:lpstr>
      <vt:lpstr>Finish 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259</cp:revision>
  <dcterms:created xsi:type="dcterms:W3CDTF">2023-02-24T14:15:53Z</dcterms:created>
  <dcterms:modified xsi:type="dcterms:W3CDTF">2025-10-21T22:39:21Z</dcterms:modified>
</cp:coreProperties>
</file>