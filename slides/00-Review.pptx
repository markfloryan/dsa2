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5"/>
  </p:notesMasterIdLst>
  <p:sldIdLst>
    <p:sldId id="257" r:id="rId2"/>
    <p:sldId id="258" r:id="rId3"/>
    <p:sldId id="259" r:id="rId4"/>
    <p:sldId id="260" r:id="rId5"/>
    <p:sldId id="261" r:id="rId6"/>
    <p:sldId id="264" r:id="rId7"/>
    <p:sldId id="265" r:id="rId8"/>
    <p:sldId id="266" r:id="rId9"/>
    <p:sldId id="290" r:id="rId10"/>
    <p:sldId id="291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9" r:id="rId23"/>
    <p:sldId id="280" r:id="rId24"/>
    <p:sldId id="281" r:id="rId25"/>
    <p:sldId id="282" r:id="rId26"/>
    <p:sldId id="283" r:id="rId27"/>
    <p:sldId id="284" r:id="rId28"/>
    <p:sldId id="292" r:id="rId29"/>
    <p:sldId id="285" r:id="rId30"/>
    <p:sldId id="286" r:id="rId31"/>
    <p:sldId id="287" r:id="rId32"/>
    <p:sldId id="289" r:id="rId33"/>
    <p:sldId id="29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74"/>
    <p:restoredTop sz="94739"/>
  </p:normalViewPr>
  <p:slideViewPr>
    <p:cSldViewPr snapToGrid="0" snapToObjects="1">
      <p:cViewPr varScale="1">
        <p:scale>
          <a:sx n="177" d="100"/>
          <a:sy n="177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d7e4ee0aa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g2d7e4ee0aa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2d7e4ee0aa7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A87D8624-4AB3-517D-9A7F-E606CD7B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>
            <a:extLst>
              <a:ext uri="{FF2B5EF4-FFF2-40B4-BE49-F238E27FC236}">
                <a16:creationId xmlns:a16="http://schemas.microsoft.com/office/drawing/2014/main" id="{E7E0AC91-6B1E-6277-8B1A-C2F26A5FA2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9:notes">
            <a:extLst>
              <a:ext uri="{FF2B5EF4-FFF2-40B4-BE49-F238E27FC236}">
                <a16:creationId xmlns:a16="http://schemas.microsoft.com/office/drawing/2014/main" id="{F10B5393-A2DC-9FCA-2097-ABF134B7A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81564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>
          <a:extLst>
            <a:ext uri="{FF2B5EF4-FFF2-40B4-BE49-F238E27FC236}">
              <a16:creationId xmlns:a16="http://schemas.microsoft.com/office/drawing/2014/main" id="{2973C486-E4AF-0C6B-F9CD-8A3A320C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>
            <a:extLst>
              <a:ext uri="{FF2B5EF4-FFF2-40B4-BE49-F238E27FC236}">
                <a16:creationId xmlns:a16="http://schemas.microsoft.com/office/drawing/2014/main" id="{B2083D3F-AAE7-5A7A-B91B-F047CE34B2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9:notes">
            <a:extLst>
              <a:ext uri="{FF2B5EF4-FFF2-40B4-BE49-F238E27FC236}">
                <a16:creationId xmlns:a16="http://schemas.microsoft.com/office/drawing/2014/main" id="{A5B19B00-95C3-CA41-20FE-A46E06C067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4165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BigTheta is like = (same)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BigOh is like &lt;= (same or slower)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 items under each topic are some things related to order class that are mentioned in CLRS, but we want to point them out to students in this lecture.</a:t>
            </a:r>
            <a:endParaRPr/>
          </a:p>
        </p:txBody>
      </p:sp>
      <p:sp>
        <p:nvSpPr>
          <p:cNvPr id="261" name="Google Shape;261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8" name="Google Shape;268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Other than the first one, no one needs to memorize these!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But if they see one in a reading and are puzzled how the sum was reduced to closed form, they can refer back to this slide.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That’s what I’ll tell them.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One useful take-away about polynomial series: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The sum of i^k is BigTheta(n^(k+1))</a:t>
            </a:r>
            <a:endParaRPr/>
          </a:p>
        </p:txBody>
      </p:sp>
      <p:sp>
        <p:nvSpPr>
          <p:cNvPr id="269" name="Google Shape;269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25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3B912184-0BC1-B0BB-9BA2-C0AA1AC4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7:notes">
            <a:extLst>
              <a:ext uri="{FF2B5EF4-FFF2-40B4-BE49-F238E27FC236}">
                <a16:creationId xmlns:a16="http://schemas.microsoft.com/office/drawing/2014/main" id="{84F3536A-2603-1201-D536-73930193B6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27:notes">
            <a:extLst>
              <a:ext uri="{FF2B5EF4-FFF2-40B4-BE49-F238E27FC236}">
                <a16:creationId xmlns:a16="http://schemas.microsoft.com/office/drawing/2014/main" id="{03147F21-2387-0B4B-AEFE-673DAAA1C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683649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>
          <a:extLst>
            <a:ext uri="{FF2B5EF4-FFF2-40B4-BE49-F238E27FC236}">
              <a16:creationId xmlns:a16="http://schemas.microsoft.com/office/drawing/2014/main" id="{608FE069-8F5E-6BD4-E2B4-F6A9228FD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2:notes">
            <a:extLst>
              <a:ext uri="{FF2B5EF4-FFF2-40B4-BE49-F238E27FC236}">
                <a16:creationId xmlns:a16="http://schemas.microsoft.com/office/drawing/2014/main" id="{BAA32642-7A98-06FC-FA9A-4FB2DE1B64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32:notes">
            <a:extLst>
              <a:ext uri="{FF2B5EF4-FFF2-40B4-BE49-F238E27FC236}">
                <a16:creationId xmlns:a16="http://schemas.microsoft.com/office/drawing/2014/main" id="{BDA7358A-42AC-4C45-F17A-C5E7A2C62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32:notes">
            <a:extLst>
              <a:ext uri="{FF2B5EF4-FFF2-40B4-BE49-F238E27FC236}">
                <a16:creationId xmlns:a16="http://schemas.microsoft.com/office/drawing/2014/main" id="{234EB990-AB94-9E94-3B04-FD9E6FEC44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963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26642A91-53FC-A248-B2D7-4BDF09D835F8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9D0B8-C0AD-9842-89E3-FC30CAC82249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4F455-19C7-FE40-A6B8-AD2879ED05AD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61B30-C700-024D-9267-361A6B7DC22C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31207-3A96-3E44-8D0D-FA1D8F609C2F}" type="datetime1">
              <a:rPr lang="en-US" smtClean="0"/>
              <a:t>1/14/26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97E33-B691-904D-8B28-069085BA6222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EDF5B-FC17-6F49-B789-6BCF71F83D72}" type="datetime1">
              <a:rPr lang="en-US" smtClean="0"/>
              <a:t>1/14/26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203A1-54F0-8E46-B3A2-F7E622B1934C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594D6-91F2-4441-8E6C-4E0A3A8283A7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A271B-B4D9-AE45-BB64-271F70A45E29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86012-4C7E-B641-B60E-212967A06467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9B85-F094-654D-B167-186F86221E8A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52B0B-FF8F-C941-9B61-DE6D3E8F4840}" type="datetime1">
              <a:rPr lang="en-US" smtClean="0"/>
              <a:t>1/14/26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3348-E7B9-894D-943F-9C2E88DBCAA9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801DC-1FED-544D-84F2-B84B35C9121A}" type="datetime1">
              <a:rPr lang="en-US" smtClean="0"/>
              <a:t>1/14/26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9A012-E155-4D45-A2C6-D256744D52BE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793959-70FE-D548-A2F6-C563579349DC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4"/>
          <p:cNvSpPr txBox="1">
            <a:spLocks noGrp="1"/>
          </p:cNvSpPr>
          <p:nvPr>
            <p:ph type="ctrTitle"/>
          </p:nvPr>
        </p:nvSpPr>
        <p:spPr>
          <a:xfrm>
            <a:off x="0" y="1779371"/>
            <a:ext cx="12192000" cy="2002440"/>
          </a:xfrm>
          <a:prstGeom prst="rect">
            <a:avLst/>
          </a:prstGeom>
          <a:solidFill>
            <a:srgbClr val="E572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  <a:defRPr sz="60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subTitle" idx="1"/>
          </p:nvPr>
        </p:nvSpPr>
        <p:spPr>
          <a:xfrm>
            <a:off x="1524000" y="3980980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0855E06-9A94-624D-BFDE-0B76EC389D5F}" type="datetime1">
              <a:rPr lang="en-US" smtClean="0"/>
              <a:t>1/14/26</a:t>
            </a:fld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9622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83C672-EABB-2F4E-850E-917D0E501BB0}" type="datetime1">
              <a:rPr lang="en-US" smtClean="0"/>
              <a:t>1/14/26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  <p:sldLayoutId id="2147484024" r:id="rId18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0" y="1177839"/>
            <a:ext cx="12192000" cy="200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Data Structures and Algorithms 2</a:t>
            </a:r>
            <a:br>
              <a:rPr lang="en-US" dirty="0"/>
            </a:br>
            <a:br>
              <a:rPr lang="en-US" sz="1100" dirty="0"/>
            </a:br>
            <a:r>
              <a:rPr lang="en-US" sz="4400" dirty="0"/>
              <a:t>Lecture 2: Review, Reminders, Practice!</a:t>
            </a:r>
            <a:endParaRPr dirty="0"/>
          </a:p>
        </p:txBody>
      </p:sp>
      <p:sp>
        <p:nvSpPr>
          <p:cNvPr id="90" name="Google Shape;90;p1"/>
          <p:cNvSpPr txBox="1">
            <a:spLocks noGrp="1"/>
          </p:cNvSpPr>
          <p:nvPr>
            <p:ph type="subTitle" idx="1"/>
          </p:nvPr>
        </p:nvSpPr>
        <p:spPr>
          <a:xfrm>
            <a:off x="1524000" y="3200400"/>
            <a:ext cx="91440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5100" b="1" dirty="0"/>
              <a:t>Co-instructors:  Aaron Bloomfield and Mark Floryan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5100" b="1" dirty="0"/>
              <a:t>Fall 2025</a:t>
            </a:r>
            <a:endParaRPr sz="5100" b="1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Readings in CLRS 4</a:t>
            </a:r>
            <a:r>
              <a:rPr lang="en-US" baseline="30000" dirty="0"/>
              <a:t>th</a:t>
            </a:r>
            <a:r>
              <a:rPr lang="en-US" dirty="0"/>
              <a:t> edition: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CLRS Chapter 2: insertion sort (if needed), book’s pseudocode conventions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CLRS Chapter 3: info on order-class (more than we cover in lecture), math review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Note: book goes into more depth than we do, and topics we don’t need.  Use it to reinforce what’s taught in lectures.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Announcements</a:t>
            </a:r>
            <a:endParaRPr/>
          </a:p>
        </p:txBody>
      </p:sp>
      <p:sp>
        <p:nvSpPr>
          <p:cNvPr id="96" name="Google Shape;96;p2"/>
          <p:cNvSpPr txBox="1">
            <a:spLocks noGrp="1"/>
          </p:cNvSpPr>
          <p:nvPr>
            <p:ph type="body" idx="1"/>
          </p:nvPr>
        </p:nvSpPr>
        <p:spPr>
          <a:xfrm>
            <a:off x="1747157" y="1743697"/>
            <a:ext cx="8697686" cy="2897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PS0 (out today) due next Wednesday (Sep 3) by 11:59 pm</a:t>
            </a:r>
            <a:endParaRPr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It will be in Canvas’ Assignments</a:t>
            </a:r>
            <a:endParaRPr dirty="0"/>
          </a:p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PS1 out next week, due the following Wednesday</a:t>
            </a:r>
            <a:endParaRPr dirty="0"/>
          </a:p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Course textbook link is on the Canvas landing page</a:t>
            </a:r>
            <a:endParaRPr dirty="0"/>
          </a:p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TA office hours coming soon (we are targeting Sun-Thu, 5pm-9pm)</a:t>
            </a:r>
            <a:endParaRPr dirty="0"/>
          </a:p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Prof. Bloomfield office hours TBA</a:t>
            </a:r>
            <a:endParaRPr dirty="0"/>
          </a:p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-US" dirty="0"/>
              <a:t>Prof. Floryan office hours Wed 12:30-2 and Fri 11-1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d7e4ee0aa7_0_0"/>
          <p:cNvSpPr txBox="1">
            <a:spLocks noGrp="1"/>
          </p:cNvSpPr>
          <p:nvPr>
            <p:ph type="ctrTitle"/>
          </p:nvPr>
        </p:nvSpPr>
        <p:spPr>
          <a:xfrm>
            <a:off x="0" y="838200"/>
            <a:ext cx="12192000" cy="20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/>
              <a:t>Data Structures and Algorithms 2</a:t>
            </a:r>
            <a:br>
              <a:rPr lang="en-US"/>
            </a:br>
            <a:br>
              <a:rPr lang="en-US" sz="1100"/>
            </a:br>
            <a:r>
              <a:rPr lang="en-US" sz="4400"/>
              <a:t>Lecture 2: Review, Reminders, Practice!</a:t>
            </a:r>
            <a:endParaRPr/>
          </a:p>
        </p:txBody>
      </p:sp>
      <p:sp>
        <p:nvSpPr>
          <p:cNvPr id="104" name="Google Shape;104;g2d7e4ee0aa7_0_0"/>
          <p:cNvSpPr txBox="1">
            <a:spLocks noGrp="1"/>
          </p:cNvSpPr>
          <p:nvPr>
            <p:ph type="subTitle" idx="1"/>
          </p:nvPr>
        </p:nvSpPr>
        <p:spPr>
          <a:xfrm>
            <a:off x="1524000" y="3200400"/>
            <a:ext cx="91440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5100" b="1" dirty="0"/>
              <a:t>Co-instructors:  Aaron Bloomfield and Mark Floryan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5100" b="1" dirty="0"/>
              <a:t>Fall 2025</a:t>
            </a:r>
            <a:endParaRPr sz="5100" b="1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Readings in CLRS 4</a:t>
            </a:r>
            <a:r>
              <a:rPr lang="en-US" baseline="30000" dirty="0"/>
              <a:t>th</a:t>
            </a:r>
            <a:r>
              <a:rPr lang="en-US" dirty="0"/>
              <a:t> edition: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CLRS Chapter 2: insertion sort (if needed), book’s pseudocode conventions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CLRS Chapter 3: info on order-class (more than we cover in lecture), math review</a:t>
            </a:r>
            <a:endParaRPr dirty="0"/>
          </a:p>
          <a:p>
            <a:pPr marL="342900" lvl="0" indent="-31242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</a:pPr>
            <a:r>
              <a:rPr lang="en-US" dirty="0"/>
              <a:t>Note: book goes into more depth than we do, and topics we don’t need.  Use it to reinforce what’s taught in lectures.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Measuring Work: Reminders!</a:t>
            </a:r>
            <a:endParaRPr/>
          </a:p>
        </p:txBody>
      </p:sp>
      <p:sp>
        <p:nvSpPr>
          <p:cNvPr id="110" name="Google Shape;110;p3"/>
          <p:cNvSpPr txBox="1">
            <a:spLocks noGrp="1"/>
          </p:cNvSpPr>
          <p:nvPr>
            <p:ph type="body" idx="1"/>
          </p:nvPr>
        </p:nvSpPr>
        <p:spPr>
          <a:xfrm>
            <a:off x="1468483" y="1430188"/>
            <a:ext cx="9255034" cy="46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From your earlier courses, remember…</a:t>
            </a:r>
            <a:endParaRPr dirty="0"/>
          </a:p>
          <a:p>
            <a:pPr marL="457200" lvl="0" indent="-457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We want a measure of an algorithm’s work that is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Independent of hardware, language, programmer, etc.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Doesn’t require us to implement the algorithm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Described in terms of input size(s)</a:t>
            </a:r>
            <a:endParaRPr dirty="0"/>
          </a:p>
          <a:p>
            <a:pPr marL="457200" lvl="0" indent="-457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We count some operation in our algorithm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Some “basic operation” that’s fundamental to the class of problems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Or, something in the innermost nested loop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Or sometimes, an expensive operation</a:t>
            </a:r>
            <a:endParaRPr dirty="0"/>
          </a:p>
          <a:p>
            <a:pPr marL="457200" lvl="0" indent="-457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Font typeface="Arial"/>
              <a:buChar char="•"/>
            </a:pPr>
            <a:r>
              <a:rPr lang="en-US" dirty="0"/>
              <a:t>Often “basic operation” defines a class of algorithms we’re comparing</a:t>
            </a:r>
            <a:endParaRPr dirty="0"/>
          </a:p>
          <a:p>
            <a:pPr marL="1143000" lvl="1" indent="-4572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dirty="0"/>
              <a:t>For example, the sorting of keys only using key-comparisons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Input Sizes: Reminders</a:t>
            </a:r>
            <a:endParaRPr/>
          </a:p>
        </p:txBody>
      </p:sp>
      <p:sp>
        <p:nvSpPr>
          <p:cNvPr id="117" name="Google Shape;117;p4"/>
          <p:cNvSpPr txBox="1">
            <a:spLocks noGrp="1"/>
          </p:cNvSpPr>
          <p:nvPr>
            <p:ph type="body" idx="1"/>
          </p:nvPr>
        </p:nvSpPr>
        <p:spPr>
          <a:xfrm>
            <a:off x="2312880" y="1508223"/>
            <a:ext cx="7566240" cy="4028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Worst-case W(n)</a:t>
            </a:r>
            <a:endParaRPr dirty="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Maximum number of basic operations for any input of size n</a:t>
            </a:r>
            <a:endParaRPr dirty="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We often need this upper-bound on performance</a:t>
            </a:r>
            <a:endParaRPr dirty="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We reason about one or more </a:t>
            </a:r>
            <a:r>
              <a:rPr lang="en-US" i="1" dirty="0"/>
              <a:t>worst-case inputs</a:t>
            </a:r>
            <a:r>
              <a:rPr lang="en-US" dirty="0"/>
              <a:t> </a:t>
            </a:r>
            <a:endParaRPr i="1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endParaRPr lang="en-US" b="1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dirty="0"/>
              <a:t>Average case A(n)</a:t>
            </a:r>
            <a:endParaRPr dirty="0"/>
          </a:p>
          <a:p>
            <a:pPr marL="1143000" lvl="1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Harder to calculate because you need</a:t>
            </a:r>
            <a:endParaRPr dirty="0"/>
          </a:p>
          <a:p>
            <a:pPr marL="1600200" lvl="2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dirty="0"/>
              <a:t>The amount of work 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T</a:t>
            </a:r>
            <a:r>
              <a:rPr lang="en-US" baseline="-25000" dirty="0">
                <a:latin typeface="Tahoma"/>
                <a:ea typeface="Tahoma"/>
                <a:cs typeface="Tahoma"/>
                <a:sym typeface="Tahoma"/>
              </a:rPr>
              <a:t>I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dirty="0"/>
              <a:t>for every input 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I, and</a:t>
            </a:r>
            <a:endParaRPr dirty="0"/>
          </a:p>
          <a:p>
            <a:pPr marL="1600200" lvl="2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dirty="0"/>
              <a:t>The probability it occurs, 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en-US" baseline="-25000" dirty="0">
                <a:latin typeface="Tahoma"/>
                <a:ea typeface="Tahoma"/>
                <a:cs typeface="Tahoma"/>
                <a:sym typeface="Tahoma"/>
              </a:rPr>
              <a:t>I</a:t>
            </a:r>
            <a:r>
              <a:rPr lang="en-US" dirty="0"/>
              <a:t>  (Do we know? Can we assume?)</a:t>
            </a:r>
            <a:endParaRPr dirty="0"/>
          </a:p>
          <a:p>
            <a:pPr marL="1600200" lvl="2" indent="-457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000"/>
              <a:buChar char="•"/>
            </a:pPr>
            <a:r>
              <a:rPr lang="en-US" dirty="0"/>
              <a:t>A(n) = </a:t>
            </a:r>
            <a:r>
              <a:rPr lang="en-US" sz="2800" dirty="0" err="1"/>
              <a:t>Σ</a:t>
            </a:r>
            <a:r>
              <a:rPr lang="en-US" dirty="0"/>
              <a:t> 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T</a:t>
            </a:r>
            <a:r>
              <a:rPr lang="en-US" baseline="-25000" dirty="0">
                <a:latin typeface="Tahoma"/>
                <a:ea typeface="Tahoma"/>
                <a:cs typeface="Tahoma"/>
                <a:sym typeface="Tahoma"/>
              </a:rPr>
              <a:t>I</a:t>
            </a:r>
            <a:r>
              <a:rPr lang="en-US" dirty="0">
                <a:latin typeface="Tahoma"/>
                <a:ea typeface="Tahoma"/>
                <a:cs typeface="Tahoma"/>
                <a:sym typeface="Tahoma"/>
              </a:rPr>
              <a:t> P</a:t>
            </a:r>
            <a:r>
              <a:rPr lang="en-US" baseline="-25000" dirty="0">
                <a:latin typeface="Tahoma"/>
                <a:ea typeface="Tahoma"/>
                <a:cs typeface="Tahoma"/>
                <a:sym typeface="Tahoma"/>
              </a:rPr>
              <a:t>I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Asymptotic Analysis and Order Classes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 graph of some example functions</a:t>
            </a:r>
            <a:endParaRPr/>
          </a:p>
        </p:txBody>
      </p:sp>
      <p:pic>
        <p:nvPicPr>
          <p:cNvPr id="145" name="Google Shape;145;p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3511731" y="1354667"/>
            <a:ext cx="4970145" cy="497014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8"/>
          <p:cNvSpPr txBox="1"/>
          <p:nvPr/>
        </p:nvSpPr>
        <p:spPr>
          <a:xfrm>
            <a:off x="73152" y="6547218"/>
            <a:ext cx="975664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1" u="none" strike="noStrike" cap="none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Image: https://upload.wikimedia.org/wikipedia/commons/thumb/7/7e/Comparison_computational_complexity.svg/330px-Comparison_computational_complexity.svg.png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the Big Picture?</a:t>
            </a:r>
            <a:endParaRPr/>
          </a:p>
        </p:txBody>
      </p:sp>
      <p:sp>
        <p:nvSpPr>
          <p:cNvPr id="152" name="Google Shape;152;p9"/>
          <p:cNvSpPr txBox="1">
            <a:spLocks noGrp="1"/>
          </p:cNvSpPr>
          <p:nvPr>
            <p:ph type="body" idx="1"/>
          </p:nvPr>
        </p:nvSpPr>
        <p:spPr>
          <a:xfrm>
            <a:off x="838200" y="1737800"/>
            <a:ext cx="10515600" cy="15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We use </a:t>
            </a:r>
            <a:r>
              <a:rPr lang="en-US" b="1" dirty="0"/>
              <a:t>order classes </a:t>
            </a:r>
            <a:r>
              <a:rPr lang="en-US" dirty="0"/>
              <a:t>to categorize an algorithm’s complexity.  Examples: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lang="en-US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dirty="0"/>
              <a:t>Insertion sort is </a:t>
            </a:r>
            <a:r>
              <a:rPr lang="en-US" sz="2800" dirty="0" err="1"/>
              <a:t>Θ</a:t>
            </a:r>
            <a:r>
              <a:rPr lang="en-US" sz="2800" dirty="0"/>
              <a:t>(n</a:t>
            </a:r>
            <a:r>
              <a:rPr lang="en-US" baseline="30000" dirty="0"/>
              <a:t>2</a:t>
            </a:r>
            <a:r>
              <a:rPr lang="en-US" sz="2800" dirty="0"/>
              <a:t>) in the worst-case, but it’s </a:t>
            </a:r>
            <a:r>
              <a:rPr lang="en-US" sz="2800" dirty="0" err="1"/>
              <a:t>Θ</a:t>
            </a:r>
            <a:r>
              <a:rPr lang="en-US" sz="2800" dirty="0"/>
              <a:t>(n) </a:t>
            </a:r>
            <a:r>
              <a:rPr lang="en-US" dirty="0"/>
              <a:t>in the best-case</a:t>
            </a:r>
            <a:endParaRPr dirty="0"/>
          </a:p>
        </p:txBody>
      </p:sp>
      <p:pic>
        <p:nvPicPr>
          <p:cNvPr id="5" name="Picture 4" descr="A black and white image of a number&#10;&#10;AI-generated content may be incorrect.">
            <a:extLst>
              <a:ext uri="{FF2B5EF4-FFF2-40B4-BE49-F238E27FC236}">
                <a16:creationId xmlns:a16="http://schemas.microsoft.com/office/drawing/2014/main" id="{866F5EAB-DABF-BD3F-1ABD-52E264B2EB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512"/>
          <a:stretch>
            <a:fillRect/>
          </a:stretch>
        </p:blipFill>
        <p:spPr>
          <a:xfrm>
            <a:off x="1974640" y="3717822"/>
            <a:ext cx="8242720" cy="1351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794E9AFA-310D-CD13-F1E6-A6BF7DE06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>
            <a:extLst>
              <a:ext uri="{FF2B5EF4-FFF2-40B4-BE49-F238E27FC236}">
                <a16:creationId xmlns:a16="http://schemas.microsoft.com/office/drawing/2014/main" id="{162E0601-8971-FE0A-FE23-452EFA614A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the Big Picture?</a:t>
            </a:r>
            <a:endParaRPr/>
          </a:p>
        </p:txBody>
      </p:sp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8F6D4B6C-807C-32D6-0E46-F9306D3C03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10515600" cy="19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We use </a:t>
            </a:r>
            <a:r>
              <a:rPr lang="en-US" b="1" dirty="0"/>
              <a:t>order classes </a:t>
            </a:r>
            <a:r>
              <a:rPr lang="en-US" dirty="0"/>
              <a:t>to categorize an algorithm’s complexity.  Examples: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lang="en-US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dirty="0"/>
              <a:t>Quicksort is </a:t>
            </a:r>
            <a:r>
              <a:rPr lang="en-US" sz="2800" dirty="0" err="1"/>
              <a:t>Θ</a:t>
            </a:r>
            <a:r>
              <a:rPr lang="en-US" sz="2800" dirty="0"/>
              <a:t>(n</a:t>
            </a:r>
            <a:r>
              <a:rPr lang="en-US" baseline="30000" dirty="0"/>
              <a:t>2</a:t>
            </a:r>
            <a:r>
              <a:rPr lang="en-US" sz="2800" dirty="0"/>
              <a:t>) in worst-case, but </a:t>
            </a:r>
            <a:r>
              <a:rPr lang="en-US" sz="2800" dirty="0" err="1"/>
              <a:t>m</a:t>
            </a:r>
            <a:r>
              <a:rPr lang="en-US" dirty="0" err="1"/>
              <a:t>ergesort</a:t>
            </a:r>
            <a:r>
              <a:rPr lang="en-US" dirty="0"/>
              <a:t> is </a:t>
            </a:r>
            <a:r>
              <a:rPr lang="en-US" sz="2800" dirty="0" err="1"/>
              <a:t>Θ</a:t>
            </a:r>
            <a:r>
              <a:rPr lang="en-US" sz="2800" dirty="0"/>
              <a:t>(n log n) in the worst-case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B7B885D-D970-8D2B-EBE9-A7E119F199D3}"/>
              </a:ext>
            </a:extLst>
          </p:cNvPr>
          <p:cNvGrpSpPr/>
          <p:nvPr/>
        </p:nvGrpSpPr>
        <p:grpSpPr>
          <a:xfrm>
            <a:off x="2894462" y="3883200"/>
            <a:ext cx="6403076" cy="533400"/>
            <a:chOff x="2894462" y="2133600"/>
            <a:chExt cx="6403076" cy="5334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3E7DED8-519F-01AE-AB04-4BB559685370}"/>
                </a:ext>
              </a:extLst>
            </p:cNvPr>
            <p:cNvSpPr/>
            <p:nvPr/>
          </p:nvSpPr>
          <p:spPr>
            <a:xfrm>
              <a:off x="2894462" y="2133600"/>
              <a:ext cx="533400" cy="53340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461E8BF-3C7F-4831-83EC-6F443685BAE6}"/>
                </a:ext>
              </a:extLst>
            </p:cNvPr>
            <p:cNvSpPr/>
            <p:nvPr/>
          </p:nvSpPr>
          <p:spPr>
            <a:xfrm>
              <a:off x="3427862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8EC89A3-A8A1-BE01-EF33-B7E5C0C4B145}"/>
                </a:ext>
              </a:extLst>
            </p:cNvPr>
            <p:cNvSpPr/>
            <p:nvPr/>
          </p:nvSpPr>
          <p:spPr>
            <a:xfrm>
              <a:off x="3961831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DC66E1-263A-164D-39D8-1B9089A7DCB7}"/>
                </a:ext>
              </a:extLst>
            </p:cNvPr>
            <p:cNvSpPr/>
            <p:nvPr/>
          </p:nvSpPr>
          <p:spPr>
            <a:xfrm>
              <a:off x="4495231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D097703-6388-60E2-1A94-5B867BBA7B9A}"/>
                </a:ext>
              </a:extLst>
            </p:cNvPr>
            <p:cNvSpPr/>
            <p:nvPr/>
          </p:nvSpPr>
          <p:spPr>
            <a:xfrm>
              <a:off x="5028631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28919B9-5387-B421-EA5D-BAA1ADA3A5DE}"/>
                </a:ext>
              </a:extLst>
            </p:cNvPr>
            <p:cNvSpPr/>
            <p:nvPr/>
          </p:nvSpPr>
          <p:spPr>
            <a:xfrm>
              <a:off x="5562600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B8AEF5-E799-8DDE-B461-45590C8D3BE0}"/>
                </a:ext>
              </a:extLst>
            </p:cNvPr>
            <p:cNvSpPr/>
            <p:nvPr/>
          </p:nvSpPr>
          <p:spPr>
            <a:xfrm>
              <a:off x="6096000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CE997D7-A522-130C-BDC4-F8881C84DB32}"/>
                </a:ext>
              </a:extLst>
            </p:cNvPr>
            <p:cNvSpPr/>
            <p:nvPr/>
          </p:nvSpPr>
          <p:spPr>
            <a:xfrm>
              <a:off x="6629400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2BFE4BE-ABF6-A1BD-1F1D-97208799C0EB}"/>
                </a:ext>
              </a:extLst>
            </p:cNvPr>
            <p:cNvSpPr/>
            <p:nvPr/>
          </p:nvSpPr>
          <p:spPr>
            <a:xfrm>
              <a:off x="7163369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792F59-7149-6A06-4F36-D7B8B4B28F2E}"/>
                </a:ext>
              </a:extLst>
            </p:cNvPr>
            <p:cNvSpPr/>
            <p:nvPr/>
          </p:nvSpPr>
          <p:spPr>
            <a:xfrm>
              <a:off x="7696769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8BAEB1-6B1C-3720-BE38-0D3D59EBF35B}"/>
                </a:ext>
              </a:extLst>
            </p:cNvPr>
            <p:cNvSpPr/>
            <p:nvPr/>
          </p:nvSpPr>
          <p:spPr>
            <a:xfrm>
              <a:off x="8230169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AD25B0-B585-12AF-90E4-F46FC53A7CBA}"/>
                </a:ext>
              </a:extLst>
            </p:cNvPr>
            <p:cNvSpPr/>
            <p:nvPr/>
          </p:nvSpPr>
          <p:spPr>
            <a:xfrm>
              <a:off x="8764138" y="2133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3F567F3-5A11-B817-91F1-92B662CFE758}"/>
              </a:ext>
            </a:extLst>
          </p:cNvPr>
          <p:cNvGrpSpPr/>
          <p:nvPr/>
        </p:nvGrpSpPr>
        <p:grpSpPr>
          <a:xfrm>
            <a:off x="2894462" y="4918624"/>
            <a:ext cx="6403076" cy="533400"/>
            <a:chOff x="2894462" y="3276600"/>
            <a:chExt cx="6403076" cy="533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45E3836-2D8C-5252-8B30-1F325BED9367}"/>
                </a:ext>
              </a:extLst>
            </p:cNvPr>
            <p:cNvSpPr/>
            <p:nvPr/>
          </p:nvSpPr>
          <p:spPr>
            <a:xfrm>
              <a:off x="2894462" y="3276600"/>
              <a:ext cx="533400" cy="5334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9F34D61-2E64-B248-3089-1D18C99E4481}"/>
                </a:ext>
              </a:extLst>
            </p:cNvPr>
            <p:cNvSpPr/>
            <p:nvPr/>
          </p:nvSpPr>
          <p:spPr>
            <a:xfrm>
              <a:off x="3427862" y="3276600"/>
              <a:ext cx="533400" cy="53340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8B16AC-9672-B2A5-E1FB-F86C53EE33C1}"/>
                </a:ext>
              </a:extLst>
            </p:cNvPr>
            <p:cNvSpPr/>
            <p:nvPr/>
          </p:nvSpPr>
          <p:spPr>
            <a:xfrm>
              <a:off x="3961831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F9C1C45-FC8C-2287-6337-BC89543E392B}"/>
                </a:ext>
              </a:extLst>
            </p:cNvPr>
            <p:cNvSpPr/>
            <p:nvPr/>
          </p:nvSpPr>
          <p:spPr>
            <a:xfrm>
              <a:off x="4495231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00CCEE9-F97C-37F6-F3B0-26A1A64A0561}"/>
                </a:ext>
              </a:extLst>
            </p:cNvPr>
            <p:cNvSpPr/>
            <p:nvPr/>
          </p:nvSpPr>
          <p:spPr>
            <a:xfrm>
              <a:off x="5028631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876D110-EBAC-0975-F644-6A0B37BE9B0B}"/>
                </a:ext>
              </a:extLst>
            </p:cNvPr>
            <p:cNvSpPr/>
            <p:nvPr/>
          </p:nvSpPr>
          <p:spPr>
            <a:xfrm>
              <a:off x="5562600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D9A64F9-5F57-35C8-B7D0-9E179C7CF453}"/>
                </a:ext>
              </a:extLst>
            </p:cNvPr>
            <p:cNvSpPr/>
            <p:nvPr/>
          </p:nvSpPr>
          <p:spPr>
            <a:xfrm>
              <a:off x="6096000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047EA84-E5AC-D26C-E65B-B9A35A621BD4}"/>
                </a:ext>
              </a:extLst>
            </p:cNvPr>
            <p:cNvSpPr/>
            <p:nvPr/>
          </p:nvSpPr>
          <p:spPr>
            <a:xfrm>
              <a:off x="6629400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6F7BF2-9E23-3552-46A2-2E26B2DB2185}"/>
                </a:ext>
              </a:extLst>
            </p:cNvPr>
            <p:cNvSpPr/>
            <p:nvPr/>
          </p:nvSpPr>
          <p:spPr>
            <a:xfrm>
              <a:off x="7163369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D95DF51-9A05-C5F2-F18C-85D86838E42C}"/>
                </a:ext>
              </a:extLst>
            </p:cNvPr>
            <p:cNvSpPr/>
            <p:nvPr/>
          </p:nvSpPr>
          <p:spPr>
            <a:xfrm>
              <a:off x="7696769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CF01E5-A186-299C-5A3D-54901375C6E0}"/>
                </a:ext>
              </a:extLst>
            </p:cNvPr>
            <p:cNvSpPr/>
            <p:nvPr/>
          </p:nvSpPr>
          <p:spPr>
            <a:xfrm>
              <a:off x="8230169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3A50590-29AB-CB0F-C1E8-329B037BA730}"/>
                </a:ext>
              </a:extLst>
            </p:cNvPr>
            <p:cNvSpPr/>
            <p:nvPr/>
          </p:nvSpPr>
          <p:spPr>
            <a:xfrm>
              <a:off x="8764138" y="3276600"/>
              <a:ext cx="533400" cy="533400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1D2ED031-1B90-9DD7-1364-B473051A8592}"/>
              </a:ext>
            </a:extLst>
          </p:cNvPr>
          <p:cNvSpPr txBox="1"/>
          <p:nvPr/>
        </p:nvSpPr>
        <p:spPr>
          <a:xfrm>
            <a:off x="2549195" y="5570316"/>
            <a:ext cx="7093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Quicksort can be slow if the pivot is the smallest or largest element in the list</a:t>
            </a:r>
          </a:p>
        </p:txBody>
      </p:sp>
    </p:spTree>
    <p:extLst>
      <p:ext uri="{BB962C8B-B14F-4D97-AF65-F5344CB8AC3E}">
        <p14:creationId xmlns:p14="http://schemas.microsoft.com/office/powerpoint/2010/main" val="3164919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>
          <a:extLst>
            <a:ext uri="{FF2B5EF4-FFF2-40B4-BE49-F238E27FC236}">
              <a16:creationId xmlns:a16="http://schemas.microsoft.com/office/drawing/2014/main" id="{47DE555D-6DBC-CFCA-577D-36C49AFD8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>
            <a:extLst>
              <a:ext uri="{FF2B5EF4-FFF2-40B4-BE49-F238E27FC236}">
                <a16:creationId xmlns:a16="http://schemas.microsoft.com/office/drawing/2014/main" id="{0D301576-8AD6-4E14-96E4-E1A2F8095B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the Big Picture?</a:t>
            </a:r>
            <a:endParaRPr/>
          </a:p>
        </p:txBody>
      </p:sp>
      <p:sp>
        <p:nvSpPr>
          <p:cNvPr id="152" name="Google Shape;152;p9">
            <a:extLst>
              <a:ext uri="{FF2B5EF4-FFF2-40B4-BE49-F238E27FC236}">
                <a16:creationId xmlns:a16="http://schemas.microsoft.com/office/drawing/2014/main" id="{FAD6A92F-CAF8-FF4D-FF9E-B666D58426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197911"/>
            <a:ext cx="10515600" cy="1424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dirty="0"/>
              <a:t>We use </a:t>
            </a:r>
            <a:r>
              <a:rPr lang="en-US" b="1" dirty="0"/>
              <a:t>order classes </a:t>
            </a:r>
            <a:r>
              <a:rPr lang="en-US" dirty="0"/>
              <a:t>to categorize an algorithm’s complexity.  Examples: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lang="en-US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r>
              <a:rPr lang="en-US" dirty="0"/>
              <a:t>Searching a balanced search tree is </a:t>
            </a:r>
            <a:r>
              <a:rPr lang="en-US" sz="2800" dirty="0" err="1"/>
              <a:t>Θ</a:t>
            </a:r>
            <a:r>
              <a:rPr lang="en-US" sz="2800" dirty="0"/>
              <a:t>(log n) in the worst-case</a:t>
            </a:r>
            <a:endParaRPr dirty="0"/>
          </a:p>
        </p:txBody>
      </p:sp>
      <p:pic>
        <p:nvPicPr>
          <p:cNvPr id="4" name="Picture 3" descr="A diagram of a tree&#10;&#10;AI-generated content may be incorrect.">
            <a:extLst>
              <a:ext uri="{FF2B5EF4-FFF2-40B4-BE49-F238E27FC236}">
                <a16:creationId xmlns:a16="http://schemas.microsoft.com/office/drawing/2014/main" id="{520BA6A4-9FC9-4A6F-C4F1-F1C0535B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955"/>
          <a:stretch>
            <a:fillRect/>
          </a:stretch>
        </p:blipFill>
        <p:spPr>
          <a:xfrm>
            <a:off x="2357346" y="2715384"/>
            <a:ext cx="7477307" cy="3608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011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Asymptotic Bounds</a:t>
            </a:r>
            <a:endParaRPr/>
          </a:p>
        </p:txBody>
      </p:sp>
      <p:sp>
        <p:nvSpPr>
          <p:cNvPr id="159" name="Google Shape;159;p10"/>
          <p:cNvSpPr txBox="1">
            <a:spLocks noGrp="1"/>
          </p:cNvSpPr>
          <p:nvPr>
            <p:ph type="body" idx="1"/>
          </p:nvPr>
        </p:nvSpPr>
        <p:spPr>
          <a:xfrm>
            <a:off x="1245326" y="1398210"/>
            <a:ext cx="9919063" cy="4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3200" dirty="0"/>
              <a:t>The sets “big oh” O(g), “big theta” </a:t>
            </a:r>
            <a:r>
              <a:rPr lang="en-US" sz="3200" dirty="0" err="1"/>
              <a:t>Θ</a:t>
            </a:r>
            <a:r>
              <a:rPr lang="en-US" sz="3200" dirty="0"/>
              <a:t>(g), “big omega” </a:t>
            </a:r>
            <a:r>
              <a:rPr lang="en-US" sz="3200" dirty="0" err="1"/>
              <a:t>Ω</a:t>
            </a:r>
            <a:r>
              <a:rPr lang="en-US" sz="3200" dirty="0"/>
              <a:t>(g) – </a:t>
            </a:r>
            <a:r>
              <a:rPr lang="en-US" sz="3200" b="1" dirty="0"/>
              <a:t>Remember these meanings!</a:t>
            </a:r>
            <a:br>
              <a:rPr lang="en-US" dirty="0"/>
            </a:b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O(g)</a:t>
            </a:r>
            <a:r>
              <a:rPr lang="en-US" sz="3200" dirty="0"/>
              <a:t>: set of all functions that grow </a:t>
            </a:r>
            <a:r>
              <a:rPr lang="en-US" sz="3200" b="1" u="sng" dirty="0"/>
              <a:t>no faster</a:t>
            </a:r>
            <a:r>
              <a:rPr lang="en-US" sz="3200" u="sng" dirty="0"/>
              <a:t> </a:t>
            </a:r>
            <a:r>
              <a:rPr lang="en-US" sz="3200" dirty="0"/>
              <a:t>than g,</a:t>
            </a:r>
            <a:br>
              <a:rPr lang="en-US" sz="3200" dirty="0"/>
            </a:br>
            <a:r>
              <a:rPr lang="en-US" sz="3200" dirty="0"/>
              <a:t>or </a:t>
            </a: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g is an asymptotic upper bound</a:t>
            </a:r>
            <a:endParaRPr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pPr marL="685800" lvl="1" indent="-5588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sz="3200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Ω</a:t>
            </a: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(g)</a:t>
            </a:r>
            <a:r>
              <a:rPr lang="en-US" sz="3200" dirty="0"/>
              <a:t>: set of all functions that grow </a:t>
            </a:r>
            <a:r>
              <a:rPr lang="en-US" sz="3200" b="1" u="sng" dirty="0"/>
              <a:t>at least as fast</a:t>
            </a:r>
            <a:r>
              <a:rPr lang="en-US" sz="3200" u="sng" dirty="0"/>
              <a:t> </a:t>
            </a:r>
            <a:r>
              <a:rPr lang="en-US" sz="3200" dirty="0"/>
              <a:t>as g,</a:t>
            </a:r>
            <a:br>
              <a:rPr lang="en-US" sz="3200" dirty="0"/>
            </a:br>
            <a:r>
              <a:rPr lang="en-US" sz="3200" dirty="0"/>
              <a:t>or </a:t>
            </a: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g is an asymptotic lower bound</a:t>
            </a:r>
            <a:endParaRPr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pPr marL="685800" lvl="1" indent="-5588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sz="3200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Char char="•"/>
            </a:pPr>
            <a:r>
              <a:rPr lang="en-US" sz="32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Θ</a:t>
            </a: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(g)</a:t>
            </a:r>
            <a:r>
              <a:rPr lang="en-US" sz="3200" dirty="0"/>
              <a:t>: set of all functions that grow </a:t>
            </a:r>
            <a:r>
              <a:rPr lang="en-US" sz="3200" b="1" u="sng" dirty="0"/>
              <a:t>at the same rate</a:t>
            </a:r>
            <a:r>
              <a:rPr lang="en-US" sz="3200" u="sng" dirty="0"/>
              <a:t> </a:t>
            </a:r>
            <a:r>
              <a:rPr lang="en-US" sz="3200" dirty="0"/>
              <a:t>as g,</a:t>
            </a:r>
            <a:br>
              <a:rPr lang="en-US" sz="3200" dirty="0"/>
            </a:br>
            <a:r>
              <a:rPr lang="en-US" sz="3200" dirty="0"/>
              <a:t>or </a:t>
            </a:r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g is an asymptotic tight bound</a:t>
            </a:r>
            <a:endParaRPr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ct val="100000"/>
              <a:buNone/>
            </a:pPr>
            <a:endParaRPr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1"/>
          <p:cNvPicPr preferRelativeResize="0"/>
          <p:nvPr/>
        </p:nvPicPr>
        <p:blipFill rotWithShape="1">
          <a:blip r:embed="rId3">
            <a:alphaModFix/>
          </a:blip>
          <a:srcRect r="25990"/>
          <a:stretch/>
        </p:blipFill>
        <p:spPr>
          <a:xfrm>
            <a:off x="1773356" y="696685"/>
            <a:ext cx="5798836" cy="4751356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1"/>
          <p:cNvSpPr txBox="1"/>
          <p:nvPr/>
        </p:nvSpPr>
        <p:spPr>
          <a:xfrm>
            <a:off x="2619103" y="5771770"/>
            <a:ext cx="6953794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Again, we’ll see two mathematical approaches to show some f(n) belongs to one of these sets</a:t>
            </a:r>
            <a:endParaRPr sz="2800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68;p11">
                <a:extLst>
                  <a:ext uri="{FF2B5EF4-FFF2-40B4-BE49-F238E27FC236}">
                    <a16:creationId xmlns:a16="http://schemas.microsoft.com/office/drawing/2014/main" id="{9864D8E9-DAA0-7896-6DBD-34D1EB71CF98}"/>
                  </a:ext>
                </a:extLst>
              </p:cNvPr>
              <p:cNvSpPr txBox="1"/>
              <p:nvPr/>
            </p:nvSpPr>
            <p:spPr>
              <a:xfrm>
                <a:off x="7692930" y="2061421"/>
                <a:ext cx="3254829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𝑂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)</m:t>
                      </m:r>
                    </m:oMath>
                  </m:oMathPara>
                </a14:m>
                <a:endParaRPr sz="2800" dirty="0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2" name="Google Shape;168;p11">
                <a:extLst>
                  <a:ext uri="{FF2B5EF4-FFF2-40B4-BE49-F238E27FC236}">
                    <a16:creationId xmlns:a16="http://schemas.microsoft.com/office/drawing/2014/main" id="{9864D8E9-DAA0-7896-6DBD-34D1EB71C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930" y="2061421"/>
                <a:ext cx="3254829" cy="523180"/>
              </a:xfrm>
              <a:prstGeom prst="rect">
                <a:avLst/>
              </a:prstGeom>
              <a:blipFill>
                <a:blip r:embed="rId4"/>
                <a:stretch>
                  <a:fillRect b="-190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68;p11">
                <a:extLst>
                  <a:ext uri="{FF2B5EF4-FFF2-40B4-BE49-F238E27FC236}">
                    <a16:creationId xmlns:a16="http://schemas.microsoft.com/office/drawing/2014/main" id="{6FF17B58-EE7D-1948-F0FD-828D63FEA000}"/>
                  </a:ext>
                </a:extLst>
              </p:cNvPr>
              <p:cNvSpPr txBox="1"/>
              <p:nvPr/>
            </p:nvSpPr>
            <p:spPr>
              <a:xfrm>
                <a:off x="7668556" y="2787240"/>
                <a:ext cx="3254829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Θ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)</m:t>
                      </m:r>
                    </m:oMath>
                  </m:oMathPara>
                </a14:m>
                <a:endParaRPr sz="2800" dirty="0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3" name="Google Shape;168;p11">
                <a:extLst>
                  <a:ext uri="{FF2B5EF4-FFF2-40B4-BE49-F238E27FC236}">
                    <a16:creationId xmlns:a16="http://schemas.microsoft.com/office/drawing/2014/main" id="{6FF17B58-EE7D-1948-F0FD-828D63FEA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56" y="2787240"/>
                <a:ext cx="3254829" cy="523180"/>
              </a:xfrm>
              <a:prstGeom prst="rect">
                <a:avLst/>
              </a:prstGeom>
              <a:blipFill>
                <a:blip r:embed="rId5"/>
                <a:stretch>
                  <a:fillRect b="-190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168;p11">
                <a:extLst>
                  <a:ext uri="{FF2B5EF4-FFF2-40B4-BE49-F238E27FC236}">
                    <a16:creationId xmlns:a16="http://schemas.microsoft.com/office/drawing/2014/main" id="{9226CA14-DB60-C4C0-029E-776111922F0C}"/>
                  </a:ext>
                </a:extLst>
              </p:cNvPr>
              <p:cNvSpPr txBox="1"/>
              <p:nvPr/>
            </p:nvSpPr>
            <p:spPr>
              <a:xfrm>
                <a:off x="7668555" y="3513059"/>
                <a:ext cx="3254829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Ω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libri"/>
                              <a:cs typeface="Calibri"/>
                              <a:sym typeface="Calibri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  <a:ea typeface="Calibri"/>
                          <a:cs typeface="Calibri"/>
                          <a:sym typeface="Calibri"/>
                        </a:rPr>
                        <m:t>)</m:t>
                      </m:r>
                    </m:oMath>
                  </m:oMathPara>
                </a14:m>
                <a:endParaRPr sz="2800" dirty="0">
                  <a:solidFill>
                    <a:schemeClr val="tx1">
                      <a:lumMod val="95000"/>
                    </a:schemeClr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4" name="Google Shape;168;p11">
                <a:extLst>
                  <a:ext uri="{FF2B5EF4-FFF2-40B4-BE49-F238E27FC236}">
                    <a16:creationId xmlns:a16="http://schemas.microsoft.com/office/drawing/2014/main" id="{9226CA14-DB60-C4C0-029E-776111922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55" y="3513059"/>
                <a:ext cx="3254829" cy="523180"/>
              </a:xfrm>
              <a:prstGeom prst="rect">
                <a:avLst/>
              </a:prstGeom>
              <a:blipFill>
                <a:blip r:embed="rId6"/>
                <a:stretch>
                  <a:fillRect b="-190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Asymptotic Notation*</a:t>
            </a:r>
            <a:endParaRPr dirty="0"/>
          </a:p>
        </p:txBody>
      </p:sp>
      <p:sp>
        <p:nvSpPr>
          <p:cNvPr id="175" name="Google Shape;175;p12"/>
          <p:cNvSpPr txBox="1"/>
          <p:nvPr/>
        </p:nvSpPr>
        <p:spPr>
          <a:xfrm>
            <a:off x="7924800" y="6488668"/>
            <a:ext cx="27432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*CLRS Chapter 3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EAE80E04-9C6A-E792-E457-7260668E46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52602" y="1261274"/>
                <a:ext cx="7886795" cy="5320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Here’s our first way to mathematically define these order classes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3200" b="0" i="1" dirty="0">
                  <a:solidFill>
                    <a:schemeClr val="accent3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for some constant c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:endParaRPr lang="en-US" sz="3200" b="0" i="0" dirty="0">
                  <a:solidFill>
                    <a:schemeClr val="accent3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FontTx/>
                  <a:buChar char="-"/>
                </a:pP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for some constant c and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800" dirty="0"/>
              </a:p>
              <a:p>
                <a:pPr marL="457200" lvl="1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200" i="1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FontTx/>
                  <a:buChar char="-"/>
                </a:pPr>
                <a:r>
                  <a:rPr lang="en-US" sz="2800" b="1" dirty="0"/>
                  <a:t>“Tightly” </a:t>
                </a:r>
                <a:r>
                  <a:rPr lang="en-US" sz="2800" dirty="0"/>
                  <a:t>within a constant of g for large n</a:t>
                </a: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FontTx/>
                  <a:buChar char="-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FontTx/>
                  <a:buChar char="-"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</p:txBody>
          </p:sp>
        </mc:Choice>
        <mc:Fallback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EAE80E04-9C6A-E792-E457-7260668E4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2602" y="1261274"/>
                <a:ext cx="7886795" cy="5320788"/>
              </a:xfrm>
              <a:prstGeom prst="rect">
                <a:avLst/>
              </a:prstGeom>
              <a:blipFill>
                <a:blip r:embed="rId3"/>
                <a:stretch>
                  <a:fillRect l="-1929" t="-238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Asymptotic Notation Example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D29FB158-495F-3F2E-0B31-106B4F1F78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57105" y="2246960"/>
                <a:ext cx="4077789" cy="67911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Show: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D29FB158-495F-3F2E-0B31-106B4F1F7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105" y="2246960"/>
                <a:ext cx="4077789" cy="679119"/>
              </a:xfrm>
              <a:prstGeom prst="rect">
                <a:avLst/>
              </a:prstGeom>
              <a:blipFill>
                <a:blip r:embed="rId3"/>
                <a:stretch>
                  <a:fillRect l="-3727" t="-16667" b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Asymptotic Notation Example</a:t>
            </a:r>
            <a:endParaRPr/>
          </a:p>
        </p:txBody>
      </p:sp>
      <p:sp>
        <p:nvSpPr>
          <p:cNvPr id="189" name="Google Shape;189;p14"/>
          <p:cNvSpPr txBox="1"/>
          <p:nvPr/>
        </p:nvSpPr>
        <p:spPr>
          <a:xfrm>
            <a:off x="9601200" y="1981200"/>
            <a:ext cx="2286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Direct Proof!</a:t>
            </a:r>
            <a:endParaRPr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159;p10">
                <a:extLst>
                  <a:ext uri="{FF2B5EF4-FFF2-40B4-BE49-F238E27FC236}">
                    <a16:creationId xmlns:a16="http://schemas.microsoft.com/office/drawing/2014/main" id="{764BB8F9-1247-0AEA-76AE-138638701D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12868" y="1389503"/>
                <a:ext cx="6566263" cy="51119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b="1" i="1" u="sng" dirty="0"/>
                  <a:t>Show</a:t>
                </a:r>
                <a:r>
                  <a:rPr lang="en-US" sz="3200" dirty="0"/>
                  <a:t>: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2800" b="1" i="1" u="sng" dirty="0"/>
                  <a:t>Technique</a:t>
                </a:r>
                <a:r>
                  <a:rPr lang="en-US" sz="2800" dirty="0"/>
                  <a:t>: Find c,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r>
                  <a:rPr lang="en-US" sz="2800" dirty="0" err="1"/>
                  <a:t>s.t.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2800" b="1" i="1" u="sng" dirty="0"/>
                  <a:t>Proof</a:t>
                </a:r>
                <a:r>
                  <a:rPr lang="en-US" sz="2800" dirty="0"/>
                  <a:t>: Let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1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func>
                      <m:r>
                        <m:rPr>
                          <m:aln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1(1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m:rPr>
                          <m:aln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&gt;1</m:t>
                        </m:r>
                      </m:sub>
                    </m:sSub>
                  </m:oMath>
                </a14:m>
                <a:r>
                  <a:rPr lang="en-US" sz="3200" dirty="0"/>
                  <a:t>: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Google Shape;159;p10">
                <a:extLst>
                  <a:ext uri="{FF2B5EF4-FFF2-40B4-BE49-F238E27FC236}">
                    <a16:creationId xmlns:a16="http://schemas.microsoft.com/office/drawing/2014/main" id="{764BB8F9-1247-0AEA-76AE-138638701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868" y="1389503"/>
                <a:ext cx="6566263" cy="5111931"/>
              </a:xfrm>
              <a:prstGeom prst="rect">
                <a:avLst/>
              </a:prstGeom>
              <a:blipFill>
                <a:blip r:embed="rId3"/>
                <a:stretch>
                  <a:fillRect l="-2317" t="-22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Asymptotic Notation Example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99863DC5-09CD-EC3B-5C9E-AD060467388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45874" y="2380827"/>
                <a:ext cx="3100252" cy="6570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</p:txBody>
          </p:sp>
        </mc:Choice>
        <mc:Fallback xmlns="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99863DC5-09CD-EC3B-5C9E-AD0604673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5874" y="2380827"/>
                <a:ext cx="3100252" cy="657011"/>
              </a:xfrm>
              <a:prstGeom prst="rect">
                <a:avLst/>
              </a:prstGeom>
              <a:blipFill>
                <a:blip r:embed="rId3"/>
                <a:stretch>
                  <a:fillRect l="-4918" t="-16981" r="-410" b="-1132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Asymptotic Notation Example</a:t>
            </a:r>
            <a:endParaRPr/>
          </a:p>
        </p:txBody>
      </p:sp>
      <p:sp>
        <p:nvSpPr>
          <p:cNvPr id="203" name="Google Shape;203;p16"/>
          <p:cNvSpPr txBox="1"/>
          <p:nvPr/>
        </p:nvSpPr>
        <p:spPr>
          <a:xfrm>
            <a:off x="9448800" y="877613"/>
            <a:ext cx="2743200" cy="954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Proof by Contradiction!</a:t>
            </a:r>
            <a:endParaRPr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17D12B8E-1A57-8659-5F5C-D9A8DF78DD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12868" y="1354666"/>
                <a:ext cx="6566263" cy="51119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b="1" i="1" u="sng" dirty="0"/>
                  <a:t>Show</a:t>
                </a:r>
                <a:r>
                  <a:rPr lang="en-US" sz="3200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2800" b="1" i="1" u="sng" dirty="0"/>
                  <a:t>Technique</a:t>
                </a:r>
                <a:r>
                  <a:rPr lang="en-US" sz="2800" dirty="0"/>
                  <a:t>: Contradiction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2800" b="1" i="1" u="sng" dirty="0"/>
                  <a:t>Proof</a:t>
                </a:r>
                <a:r>
                  <a:rPr lang="en-US" sz="2800" dirty="0"/>
                  <a:t>: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2800" dirty="0"/>
                  <a:t>Assume CLAIM. Then we know we can choose a c such that: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28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m:rPr>
                          <m:aln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m:rPr>
                          <m:aln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Since n is increasing variable and c is constant, this is impossible!</a:t>
                </a:r>
              </a:p>
            </p:txBody>
          </p:sp>
        </mc:Choice>
        <mc:Fallback xmlns="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17D12B8E-1A57-8659-5F5C-D9A8DF78D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868" y="1354666"/>
                <a:ext cx="6566263" cy="5111931"/>
              </a:xfrm>
              <a:prstGeom prst="rect">
                <a:avLst/>
              </a:prstGeom>
              <a:blipFill>
                <a:blip r:embed="rId3"/>
                <a:stretch>
                  <a:fillRect l="-2317" t="-2228" r="-2703" b="-9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Proof Techniques</a:t>
            </a:r>
            <a:endParaRPr/>
          </a:p>
        </p:txBody>
      </p:sp>
      <p:sp>
        <p:nvSpPr>
          <p:cNvPr id="210" name="Google Shape;210;p17"/>
          <p:cNvSpPr txBox="1">
            <a:spLocks noGrp="1"/>
          </p:cNvSpPr>
          <p:nvPr>
            <p:ph type="body" idx="1"/>
          </p:nvPr>
        </p:nvSpPr>
        <p:spPr>
          <a:xfrm>
            <a:off x="2257697" y="1891742"/>
            <a:ext cx="7530737" cy="2601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Direct Proof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From the assumptions and definitions, directly derive the statement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dirty="0"/>
              <a:t>Proof by Contradiction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400"/>
              <a:buChar char="•"/>
            </a:pPr>
            <a:r>
              <a:rPr lang="en-US" dirty="0"/>
              <a:t>Assume the statement is true, then find a contradiction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Proof by Induction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Proof by Cases</a:t>
            </a:r>
            <a:endParaRPr dirty="0"/>
          </a:p>
        </p:txBody>
      </p:sp>
      <p:pic>
        <p:nvPicPr>
          <p:cNvPr id="211" name="Google Shape;211;p17" descr="Image result for check mark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7497" y="1703009"/>
            <a:ext cx="657842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 result for check mark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39097" y="2634342"/>
            <a:ext cx="657842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05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More Asymptotic Notation</a:t>
            </a:r>
            <a:endParaRPr dirty="0"/>
          </a:p>
        </p:txBody>
      </p:sp>
      <p:sp>
        <p:nvSpPr>
          <p:cNvPr id="219" name="Google Shape;219;p18"/>
          <p:cNvSpPr/>
          <p:nvPr/>
        </p:nvSpPr>
        <p:spPr>
          <a:xfrm>
            <a:off x="838200" y="2773117"/>
            <a:ext cx="10665372" cy="1893483"/>
          </a:xfrm>
          <a:prstGeom prst="roundRect">
            <a:avLst>
              <a:gd name="adj" fmla="val 16667"/>
            </a:avLst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</p:txBody>
      </p:sp>
      <p:sp>
        <p:nvSpPr>
          <p:cNvPr id="220" name="Google Shape;220;p18"/>
          <p:cNvSpPr/>
          <p:nvPr/>
        </p:nvSpPr>
        <p:spPr>
          <a:xfrm>
            <a:off x="1371600" y="5210754"/>
            <a:ext cx="9448800" cy="587379"/>
          </a:xfrm>
          <a:prstGeom prst="wedgeRoundRectCallout">
            <a:avLst>
              <a:gd name="adj1" fmla="val 13531"/>
              <a:gd name="adj2" fmla="val -138432"/>
              <a:gd name="adj3" fmla="val 16667"/>
            </a:avLst>
          </a:prstGeom>
          <a:solidFill>
            <a:srgbClr val="8296B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2nd way to mathematically define these classes, with a limit of a ratio</a:t>
            </a:r>
            <a:endParaRPr sz="24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9A9B4A1B-2086-6499-8FAF-4A3D03A5843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301080"/>
                <a:ext cx="9400854" cy="1218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3200" dirty="0"/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Set of functions that always grow more slowly than g(n)</a:t>
                </a:r>
              </a:p>
            </p:txBody>
          </p:sp>
        </mc:Choice>
        <mc:Fallback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9A9B4A1B-2086-6499-8FAF-4A3D03A584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301080"/>
                <a:ext cx="9400854" cy="1218920"/>
              </a:xfrm>
              <a:prstGeom prst="rect">
                <a:avLst/>
              </a:prstGeom>
              <a:blipFill>
                <a:blip r:embed="rId4"/>
                <a:stretch>
                  <a:fillRect l="-1619" r="-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More Asymptotic Notation</a:t>
            </a:r>
            <a:endParaRPr/>
          </a:p>
        </p:txBody>
      </p:sp>
      <p:sp>
        <p:nvSpPr>
          <p:cNvPr id="227" name="Google Shape;227;p19"/>
          <p:cNvSpPr/>
          <p:nvPr/>
        </p:nvSpPr>
        <p:spPr>
          <a:xfrm>
            <a:off x="1002000" y="3307222"/>
            <a:ext cx="10058400" cy="1083377"/>
          </a:xfrm>
          <a:prstGeom prst="roundRect">
            <a:avLst>
              <a:gd name="adj" fmla="val 16667"/>
            </a:avLst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D10FF01E-53B5-2CCC-83A5-6F642D72AC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24567" y="1274503"/>
                <a:ext cx="9542865" cy="18142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𝜔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3200" dirty="0"/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Set of functions that always grow more quickly than g(n)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  <a:buNone/>
                </a:pPr>
                <a:endParaRPr lang="en-US" sz="3200" dirty="0"/>
              </a:p>
            </p:txBody>
          </p:sp>
        </mc:Choice>
        <mc:Fallback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D10FF01E-53B5-2CCC-83A5-6F642D72A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567" y="1274503"/>
                <a:ext cx="9542865" cy="1814298"/>
              </a:xfrm>
              <a:prstGeom prst="rect">
                <a:avLst/>
              </a:prstGeom>
              <a:blipFill>
                <a:blip r:embed="rId4"/>
                <a:stretch>
                  <a:fillRect l="-1463" r="-7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A Way to Think about Order Classes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8158D920-8556-E814-92EA-16EF347002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05693" y="1735364"/>
                <a:ext cx="8071206" cy="41059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For “</a:t>
                </a:r>
                <a:r>
                  <a:rPr lang="en-US" sz="3200" dirty="0" err="1"/>
                  <a:t>comparables</a:t>
                </a:r>
                <a:r>
                  <a:rPr lang="en-US" sz="3200" dirty="0"/>
                  <a:t>” we have 5 logical operators:</a:t>
                </a:r>
                <a:br>
                  <a:rPr lang="en-US" sz="32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&lt; &gt; ≤ ≥</m:t>
                      </m:r>
                    </m:oMath>
                  </m:oMathPara>
                </a14:m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For order classes we have: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 →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	Big Theta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 →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	Little oh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 →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	Little omega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 →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	Big Oh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None/>
                </a:pP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 →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	Big Omega</a:t>
                </a:r>
              </a:p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8158D920-8556-E814-92EA-16EF347002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693" y="1735364"/>
                <a:ext cx="8071206" cy="4105987"/>
              </a:xfrm>
              <a:prstGeom prst="rect">
                <a:avLst/>
              </a:prstGeom>
              <a:blipFill>
                <a:blip r:embed="rId3"/>
                <a:stretch>
                  <a:fillRect l="-1887" t="-3086" r="-629" b="-33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Summary: Using Limit Definition</a:t>
            </a:r>
            <a:endParaRPr dirty="0"/>
          </a:p>
        </p:txBody>
      </p:sp>
      <p:sp>
        <p:nvSpPr>
          <p:cNvPr id="249" name="Google Shape;249;p22"/>
          <p:cNvSpPr txBox="1">
            <a:spLocks noGrp="1"/>
          </p:cNvSpPr>
          <p:nvPr>
            <p:ph type="body" idx="1"/>
          </p:nvPr>
        </p:nvSpPr>
        <p:spPr>
          <a:xfrm>
            <a:off x="1532990" y="1440092"/>
            <a:ext cx="9126020" cy="4830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Want to prove f(n) belongs to some order class of g(n)?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Calculate this: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8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If the result is….</a:t>
            </a:r>
            <a:endParaRPr dirty="0"/>
          </a:p>
          <a:p>
            <a:pPr marL="3429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&lt; </a:t>
            </a:r>
            <a:r>
              <a:rPr lang="en-US" sz="2800" dirty="0">
                <a:latin typeface="MS PGothic"/>
                <a:ea typeface="MS PGothic"/>
                <a:cs typeface="MS PGothic"/>
                <a:sym typeface="MS PGothic"/>
              </a:rPr>
              <a:t>∞</a:t>
            </a:r>
            <a:r>
              <a:rPr lang="en-US" sz="2800" dirty="0"/>
              <a:t>, including the case in which the limit is 0, then  f ∈ O(g)</a:t>
            </a:r>
            <a:endParaRPr dirty="0"/>
          </a:p>
          <a:p>
            <a:pPr marL="3429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&gt; 0, including the case in which the limit is ∞, then  f ∈ </a:t>
            </a:r>
            <a:r>
              <a:rPr lang="en-US" sz="2800" dirty="0" err="1"/>
              <a:t>Ω</a:t>
            </a:r>
            <a:r>
              <a:rPr lang="en-US" sz="2800" dirty="0"/>
              <a:t>(g)</a:t>
            </a:r>
            <a:endParaRPr dirty="0"/>
          </a:p>
          <a:p>
            <a:pPr marL="3429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= c and 0 &lt; c &lt; ∞ then f ∈ </a:t>
            </a:r>
            <a:r>
              <a:rPr lang="en-US" sz="2800" dirty="0" err="1"/>
              <a:t>Θ</a:t>
            </a:r>
            <a:r>
              <a:rPr lang="en-US" sz="2800" dirty="0"/>
              <a:t>(g)</a:t>
            </a:r>
            <a:endParaRPr dirty="0"/>
          </a:p>
          <a:p>
            <a:pPr marL="3429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= 0  then f ∈ o(g)</a:t>
            </a:r>
            <a:endParaRPr sz="2800" dirty="0"/>
          </a:p>
          <a:p>
            <a:pPr marL="3429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= ∞  then f ∈ </a:t>
            </a:r>
            <a:r>
              <a:rPr lang="en-US" sz="2800" dirty="0" err="1"/>
              <a:t>ω</a:t>
            </a:r>
            <a:r>
              <a:rPr lang="en-US" sz="2800" dirty="0"/>
              <a:t>(g)</a:t>
            </a:r>
            <a:endParaRPr dirty="0"/>
          </a:p>
        </p:txBody>
      </p:sp>
      <p:pic>
        <p:nvPicPr>
          <p:cNvPr id="250" name="Google Shape;250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46288" y="2417852"/>
            <a:ext cx="1121953" cy="6858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3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Math Reminders</a:t>
            </a:r>
            <a:endParaRPr dirty="0"/>
          </a:p>
        </p:txBody>
      </p:sp>
      <p:sp>
        <p:nvSpPr>
          <p:cNvPr id="256" name="Google Shape;256;p23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4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Math you may need to review: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31C87234-266F-4A49-C045-6B0BE8DBD5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64404" y="1440681"/>
                <a:ext cx="9863191" cy="460052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vert="horz" wrap="square" lIns="91425" tIns="45700" rIns="91425" bIns="45700" rtlCol="0" anchor="t" anchorCtr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spcBef>
                    <a:spcPts val="0"/>
                  </a:spcBef>
                  <a:buClr>
                    <a:schemeClr val="dk1"/>
                  </a:buClr>
                  <a:buSzPct val="100000"/>
                  <a:buFont typeface="Arial" panose="020B0604020202020204" pitchFamily="34" charset="0"/>
                  <a:buNone/>
                </a:pPr>
                <a:r>
                  <a:rPr lang="en-US" sz="3200" dirty="0"/>
                  <a:t>Review section 3.3 in CLRS (3.2 in 3</a:t>
                </a:r>
                <a:r>
                  <a:rPr lang="en-US" sz="3200" baseline="30000" dirty="0"/>
                  <a:t>rd</a:t>
                </a:r>
                <a:r>
                  <a:rPr lang="en-US" sz="3200" dirty="0"/>
                  <a:t> edition) for some math we’ll use:</a:t>
                </a:r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Polynomials</a:t>
                </a:r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Exponentials</a:t>
                </a: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for any constant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800" dirty="0"/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Logarithms</a:t>
                </a: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2800" dirty="0"/>
                  <a:t>Changing base means multiplying by a constant so bases are in same order class</a:t>
                </a: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800" dirty="0"/>
                  <a:t> for any constant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2800" dirty="0"/>
              </a:p>
              <a:p>
                <a:pPr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3200" dirty="0"/>
                  <a:t>Factorials</a:t>
                </a:r>
              </a:p>
              <a:p>
                <a:pPr lvl="1">
                  <a:lnSpc>
                    <a:spcPct val="90000"/>
                  </a:lnSpc>
                  <a:spcBef>
                    <a:spcPts val="0"/>
                  </a:spcBef>
                  <a:buClr>
                    <a:schemeClr val="tx1">
                      <a:lumMod val="95000"/>
                    </a:schemeClr>
                  </a:buClr>
                  <a:buSzPct val="100000"/>
                </a:pPr>
                <a:r>
                  <a:rPr lang="en-US" sz="2800" dirty="0"/>
                  <a:t>Note: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!∈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	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!∈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	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Google Shape;159;p10">
                <a:extLst>
                  <a:ext uri="{FF2B5EF4-FFF2-40B4-BE49-F238E27FC236}">
                    <a16:creationId xmlns:a16="http://schemas.microsoft.com/office/drawing/2014/main" id="{31C87234-266F-4A49-C045-6B0BE8DBD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4404" y="1440681"/>
                <a:ext cx="9863191" cy="4600523"/>
              </a:xfrm>
              <a:prstGeom prst="rect">
                <a:avLst/>
              </a:prstGeom>
              <a:blipFill>
                <a:blip r:embed="rId3"/>
                <a:stretch>
                  <a:fillRect l="-1542" t="-3581" r="-10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If You Ever See A Series Like These…</a:t>
            </a:r>
            <a:endParaRPr/>
          </a:p>
        </p:txBody>
      </p:sp>
      <p:sp>
        <p:nvSpPr>
          <p:cNvPr id="272" name="Google Shape;272;p25"/>
          <p:cNvSpPr txBox="1">
            <a:spLocks noGrp="1"/>
          </p:cNvSpPr>
          <p:nvPr>
            <p:ph type="body" idx="1"/>
          </p:nvPr>
        </p:nvSpPr>
        <p:spPr>
          <a:xfrm>
            <a:off x="838200" y="1543400"/>
            <a:ext cx="3352800" cy="4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Arithmetic series 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The sum of consecutive integers: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Geometric series: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/>
              <a:t>For real x ≠ 1</a:t>
            </a:r>
            <a:endParaRPr/>
          </a:p>
        </p:txBody>
      </p:sp>
      <p:pic>
        <p:nvPicPr>
          <p:cNvPr id="273" name="Google Shape;273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05600" y="2516798"/>
            <a:ext cx="2209800" cy="10588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pic>
        <p:nvPicPr>
          <p:cNvPr id="274" name="Google Shape;274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6300" y="1822348"/>
            <a:ext cx="3352800" cy="9175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pic>
        <p:nvPicPr>
          <p:cNvPr id="275" name="Google Shape;275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00" y="2800815"/>
            <a:ext cx="1622425" cy="9906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pic>
        <p:nvPicPr>
          <p:cNvPr id="276" name="Google Shape;276;p2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10155" y="3889749"/>
            <a:ext cx="1905000" cy="97155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pic>
        <p:nvPicPr>
          <p:cNvPr id="277" name="Google Shape;277;p2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10155" y="5426355"/>
            <a:ext cx="3321050" cy="10668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pic>
        <p:nvPicPr>
          <p:cNvPr id="278" name="Google Shape;278;p2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825374" y="4796508"/>
            <a:ext cx="1905000" cy="96678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</p:pic>
      <p:sp>
        <p:nvSpPr>
          <p:cNvPr id="2" name="Google Shape;279;p25">
            <a:extLst>
              <a:ext uri="{FF2B5EF4-FFF2-40B4-BE49-F238E27FC236}">
                <a16:creationId xmlns:a16="http://schemas.microsoft.com/office/drawing/2014/main" id="{A5043077-DB8D-ED07-E6E7-82667E5282BA}"/>
              </a:ext>
            </a:extLst>
          </p:cNvPr>
          <p:cNvSpPr txBox="1"/>
          <p:nvPr/>
        </p:nvSpPr>
        <p:spPr>
          <a:xfrm>
            <a:off x="5526280" y="1683710"/>
            <a:ext cx="3967041" cy="3946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Polynomial Series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  <a:p>
            <a: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sum of squares:</a:t>
            </a:r>
            <a:br>
              <a:rPr lang="en-US" sz="2000" b="0" i="0" u="none" strike="noStrike" cap="none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b="0" i="0" u="none" strike="noStrike" cap="none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 general case is:</a:t>
            </a:r>
            <a:br>
              <a:rPr lang="en-US" sz="2000" b="0" i="0" u="none" strike="noStrike" cap="none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b="0" i="0" u="none" strike="noStrike" cap="none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marR="0" lvl="1" indent="-101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b="0" i="0" u="none" strike="noStrike" cap="none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Powers of 2: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dirty="0">
              <a:solidFill>
                <a:schemeClr val="tx1">
                  <a:lumMod val="95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Arithmetic- Geometric Series: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6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Algorithms You’ve Studied</a:t>
            </a:r>
            <a:endParaRPr dirty="0"/>
          </a:p>
        </p:txBody>
      </p:sp>
      <p:sp>
        <p:nvSpPr>
          <p:cNvPr id="285" name="Google Shape;285;p26"/>
          <p:cNvSpPr txBox="1">
            <a:spLocks noGrp="1"/>
          </p:cNvSpPr>
          <p:nvPr>
            <p:ph type="body" idx="1"/>
          </p:nvPr>
        </p:nvSpPr>
        <p:spPr>
          <a:xfrm>
            <a:off x="831850" y="4959178"/>
            <a:ext cx="10515600" cy="11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7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Searching?</a:t>
            </a:r>
            <a:endParaRPr/>
          </a:p>
        </p:txBody>
      </p:sp>
      <p:sp>
        <p:nvSpPr>
          <p:cNvPr id="292" name="Google Shape;292;p27"/>
          <p:cNvSpPr txBox="1">
            <a:spLocks noGrp="1"/>
          </p:cNvSpPr>
          <p:nvPr>
            <p:ph type="body" idx="1"/>
          </p:nvPr>
        </p:nvSpPr>
        <p:spPr>
          <a:xfrm>
            <a:off x="951411" y="1354667"/>
            <a:ext cx="10515600" cy="223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Problem: </a:t>
            </a:r>
            <a:r>
              <a:rPr lang="en-US" dirty="0"/>
              <a:t>Given a list and a target, return the location of the target in the list, or a sentinel value if not found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Sequential or Linear Search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dirty="0"/>
              <a:t>Always </a:t>
            </a:r>
            <a:r>
              <a:rPr lang="en-US" sz="2800" dirty="0" err="1"/>
              <a:t>Θ</a:t>
            </a:r>
            <a:r>
              <a:rPr lang="en-US" sz="2800" dirty="0"/>
              <a:t>(n). In the worst-case, </a:t>
            </a:r>
            <a:r>
              <a:rPr lang="en-US" sz="2800" i="1" dirty="0"/>
              <a:t>n</a:t>
            </a:r>
            <a:r>
              <a:rPr lang="en-US" sz="2800" dirty="0"/>
              <a:t> comparisons. On average, </a:t>
            </a:r>
            <a:r>
              <a:rPr lang="en-US" sz="2800" i="1" dirty="0"/>
              <a:t>n/2</a:t>
            </a:r>
            <a:endParaRPr i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34B9C3F-ED0B-C43A-818B-05B2ABB82803}"/>
              </a:ext>
            </a:extLst>
          </p:cNvPr>
          <p:cNvGrpSpPr/>
          <p:nvPr/>
        </p:nvGrpSpPr>
        <p:grpSpPr>
          <a:xfrm>
            <a:off x="1300800" y="4233600"/>
            <a:ext cx="9590400" cy="799200"/>
            <a:chOff x="1300800" y="4233600"/>
            <a:chExt cx="9590400" cy="799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1F81531-D768-4A8B-A896-227C015C98B0}"/>
                </a:ext>
              </a:extLst>
            </p:cNvPr>
            <p:cNvSpPr/>
            <p:nvPr/>
          </p:nvSpPr>
          <p:spPr>
            <a:xfrm>
              <a:off x="1300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D3E4BF6-64C8-47E1-6C27-17D81E677F4E}"/>
                </a:ext>
              </a:extLst>
            </p:cNvPr>
            <p:cNvSpPr/>
            <p:nvPr/>
          </p:nvSpPr>
          <p:spPr>
            <a:xfrm>
              <a:off x="2100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32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4D369D5-8769-5BB4-5226-E53073190271}"/>
                </a:ext>
              </a:extLst>
            </p:cNvPr>
            <p:cNvSpPr/>
            <p:nvPr/>
          </p:nvSpPr>
          <p:spPr>
            <a:xfrm>
              <a:off x="28992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96D714F-036E-764C-A778-DF439434DE2C}"/>
                </a:ext>
              </a:extLst>
            </p:cNvPr>
            <p:cNvSpPr/>
            <p:nvPr/>
          </p:nvSpPr>
          <p:spPr>
            <a:xfrm>
              <a:off x="36984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105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071907-B164-C2E5-BC92-BB6F9F362D51}"/>
                </a:ext>
              </a:extLst>
            </p:cNvPr>
            <p:cNvSpPr/>
            <p:nvPr/>
          </p:nvSpPr>
          <p:spPr>
            <a:xfrm>
              <a:off x="44976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87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6D2983-B942-47FB-401F-E72C2165678B}"/>
                </a:ext>
              </a:extLst>
            </p:cNvPr>
            <p:cNvSpPr/>
            <p:nvPr/>
          </p:nvSpPr>
          <p:spPr>
            <a:xfrm>
              <a:off x="5296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682941-BD37-1B25-EBAA-02DBF21CB15B}"/>
                </a:ext>
              </a:extLst>
            </p:cNvPr>
            <p:cNvSpPr/>
            <p:nvPr/>
          </p:nvSpPr>
          <p:spPr>
            <a:xfrm>
              <a:off x="6096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21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EDF4592-6AB7-E4CA-32A9-579386A3948D}"/>
                </a:ext>
              </a:extLst>
            </p:cNvPr>
            <p:cNvSpPr/>
            <p:nvPr/>
          </p:nvSpPr>
          <p:spPr>
            <a:xfrm>
              <a:off x="68952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221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D098E1-03D5-F687-D189-2AB8669325D5}"/>
                </a:ext>
              </a:extLst>
            </p:cNvPr>
            <p:cNvSpPr/>
            <p:nvPr/>
          </p:nvSpPr>
          <p:spPr>
            <a:xfrm>
              <a:off x="76944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155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1DE851F-F519-AC6A-D6DC-0D6CCC7DD4A5}"/>
                </a:ext>
              </a:extLst>
            </p:cNvPr>
            <p:cNvSpPr/>
            <p:nvPr/>
          </p:nvSpPr>
          <p:spPr>
            <a:xfrm>
              <a:off x="84936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D1CFB48-AEAF-A31D-D0EA-C931E9F33553}"/>
                </a:ext>
              </a:extLst>
            </p:cNvPr>
            <p:cNvSpPr/>
            <p:nvPr/>
          </p:nvSpPr>
          <p:spPr>
            <a:xfrm>
              <a:off x="9292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99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85D775-9B57-9EAF-5021-EE9912717C01}"/>
                </a:ext>
              </a:extLst>
            </p:cNvPr>
            <p:cNvSpPr/>
            <p:nvPr/>
          </p:nvSpPr>
          <p:spPr>
            <a:xfrm>
              <a:off x="10092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98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9055C7F-C791-8996-AF1D-16A4DE0917BA}"/>
              </a:ext>
            </a:extLst>
          </p:cNvPr>
          <p:cNvSpPr txBox="1"/>
          <p:nvPr/>
        </p:nvSpPr>
        <p:spPr>
          <a:xfrm>
            <a:off x="7694400" y="5134001"/>
            <a:ext cx="1824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find(12)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>
          <a:extLst>
            <a:ext uri="{FF2B5EF4-FFF2-40B4-BE49-F238E27FC236}">
              <a16:creationId xmlns:a16="http://schemas.microsoft.com/office/drawing/2014/main" id="{07D05A70-FEDB-2BE7-B01F-C5C428500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7">
            <a:extLst>
              <a:ext uri="{FF2B5EF4-FFF2-40B4-BE49-F238E27FC236}">
                <a16:creationId xmlns:a16="http://schemas.microsoft.com/office/drawing/2014/main" id="{DD5D9793-7689-29E2-14F3-D13BCD77AB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Searching?</a:t>
            </a:r>
            <a:endParaRPr/>
          </a:p>
        </p:txBody>
      </p:sp>
      <p:sp>
        <p:nvSpPr>
          <p:cNvPr id="292" name="Google Shape;292;p27">
            <a:extLst>
              <a:ext uri="{FF2B5EF4-FFF2-40B4-BE49-F238E27FC236}">
                <a16:creationId xmlns:a16="http://schemas.microsoft.com/office/drawing/2014/main" id="{86D8E655-E1FF-668A-55E0-67DAB140AD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820505" y="1312534"/>
            <a:ext cx="6550989" cy="2338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Problem: </a:t>
            </a:r>
            <a:r>
              <a:rPr lang="en-US" dirty="0"/>
              <a:t>Given a list and a target, return the location of the target in the list, or a sentinel value if not found</a:t>
            </a:r>
            <a:endParaRPr i="1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endParaRPr lang="en-US" b="1" dirty="0"/>
          </a:p>
          <a:p>
            <a:pPr marL="0" lvl="0" indent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None/>
            </a:pPr>
            <a:r>
              <a:rPr lang="en-US" b="1" dirty="0"/>
              <a:t>Binary Search</a:t>
            </a:r>
            <a:endParaRPr dirty="0"/>
          </a:p>
          <a:p>
            <a:pPr marL="457200" lvl="0" indent="-4572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dirty="0"/>
              <a:t>List must be sorted</a:t>
            </a:r>
            <a:endParaRPr dirty="0"/>
          </a:p>
          <a:p>
            <a:pPr marL="457200" lvl="0" indent="-45720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>
                  <a:lumMod val="95000"/>
                </a:schemeClr>
              </a:buClr>
              <a:buSzPts val="2800"/>
              <a:buFont typeface="Arial"/>
              <a:buChar char="•"/>
            </a:pPr>
            <a:r>
              <a:rPr lang="en-US" sz="2800" dirty="0" err="1"/>
              <a:t>Θ</a:t>
            </a:r>
            <a:r>
              <a:rPr lang="en-US" sz="2800" dirty="0"/>
              <a:t>(log n) in the worst-case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99F55EA-D845-C03E-6E17-95EE7F75F20D}"/>
              </a:ext>
            </a:extLst>
          </p:cNvPr>
          <p:cNvGrpSpPr/>
          <p:nvPr/>
        </p:nvGrpSpPr>
        <p:grpSpPr>
          <a:xfrm>
            <a:off x="1300800" y="4233600"/>
            <a:ext cx="9590400" cy="799200"/>
            <a:chOff x="1300800" y="4233600"/>
            <a:chExt cx="9590400" cy="799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4EBCD4-2957-734A-4187-9840330C5066}"/>
                </a:ext>
              </a:extLst>
            </p:cNvPr>
            <p:cNvSpPr/>
            <p:nvPr/>
          </p:nvSpPr>
          <p:spPr>
            <a:xfrm>
              <a:off x="1300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5392E21-BE68-38B3-F3CD-853724F74FD4}"/>
                </a:ext>
              </a:extLst>
            </p:cNvPr>
            <p:cNvSpPr/>
            <p:nvPr/>
          </p:nvSpPr>
          <p:spPr>
            <a:xfrm>
              <a:off x="2100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9E17BAC-653B-DB9D-5CEE-055A51AE2AF1}"/>
                </a:ext>
              </a:extLst>
            </p:cNvPr>
            <p:cNvSpPr/>
            <p:nvPr/>
          </p:nvSpPr>
          <p:spPr>
            <a:xfrm>
              <a:off x="28992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14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E0B4EE4-C629-E479-4CD5-A6EFC83EEC06}"/>
                </a:ext>
              </a:extLst>
            </p:cNvPr>
            <p:cNvSpPr/>
            <p:nvPr/>
          </p:nvSpPr>
          <p:spPr>
            <a:xfrm>
              <a:off x="36984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25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43B25C7-0A8D-46B8-D6C0-AFB51631560C}"/>
                </a:ext>
              </a:extLst>
            </p:cNvPr>
            <p:cNvSpPr/>
            <p:nvPr/>
          </p:nvSpPr>
          <p:spPr>
            <a:xfrm>
              <a:off x="44976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47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24D7A2A-EEAB-B012-2CE2-2B9D59E23219}"/>
                </a:ext>
              </a:extLst>
            </p:cNvPr>
            <p:cNvSpPr/>
            <p:nvPr/>
          </p:nvSpPr>
          <p:spPr>
            <a:xfrm>
              <a:off x="5296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73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D566F8-4D35-A8BA-6FE2-E0A9B0DE759E}"/>
                </a:ext>
              </a:extLst>
            </p:cNvPr>
            <p:cNvSpPr/>
            <p:nvPr/>
          </p:nvSpPr>
          <p:spPr>
            <a:xfrm>
              <a:off x="6096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81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97C73B-3F02-FB4F-C691-8C44AA5F9AE3}"/>
                </a:ext>
              </a:extLst>
            </p:cNvPr>
            <p:cNvSpPr/>
            <p:nvPr/>
          </p:nvSpPr>
          <p:spPr>
            <a:xfrm>
              <a:off x="68952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85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78F54-E4F8-D43E-E64C-06CA6B40B2E5}"/>
                </a:ext>
              </a:extLst>
            </p:cNvPr>
            <p:cNvSpPr/>
            <p:nvPr/>
          </p:nvSpPr>
          <p:spPr>
            <a:xfrm>
              <a:off x="76944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86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E181D3-557B-8777-5877-5CEAE4BA9907}"/>
                </a:ext>
              </a:extLst>
            </p:cNvPr>
            <p:cNvSpPr/>
            <p:nvPr/>
          </p:nvSpPr>
          <p:spPr>
            <a:xfrm>
              <a:off x="84936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99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5922562-4600-C41B-76C2-962B44B04E75}"/>
                </a:ext>
              </a:extLst>
            </p:cNvPr>
            <p:cNvSpPr/>
            <p:nvPr/>
          </p:nvSpPr>
          <p:spPr>
            <a:xfrm>
              <a:off x="92928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110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81C2FC-5E41-8DC9-9DCD-A15C9FEBD92A}"/>
                </a:ext>
              </a:extLst>
            </p:cNvPr>
            <p:cNvSpPr/>
            <p:nvPr/>
          </p:nvSpPr>
          <p:spPr>
            <a:xfrm>
              <a:off x="10092000" y="4233600"/>
              <a:ext cx="799200" cy="799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225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A5E8AB2-738C-3AD9-482F-648B3B13CD68}"/>
              </a:ext>
            </a:extLst>
          </p:cNvPr>
          <p:cNvSpPr txBox="1"/>
          <p:nvPr/>
        </p:nvSpPr>
        <p:spPr>
          <a:xfrm>
            <a:off x="7694400" y="5134001"/>
            <a:ext cx="1824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find(86)</a:t>
            </a:r>
          </a:p>
        </p:txBody>
      </p:sp>
    </p:spTree>
    <p:extLst>
      <p:ext uri="{BB962C8B-B14F-4D97-AF65-F5344CB8AC3E}">
        <p14:creationId xmlns:p14="http://schemas.microsoft.com/office/powerpoint/2010/main" val="12029267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Remember Quadratic Sorts?</a:t>
            </a:r>
            <a:endParaRPr/>
          </a:p>
        </p:txBody>
      </p:sp>
      <p:sp>
        <p:nvSpPr>
          <p:cNvPr id="299" name="Google Shape;299;p28"/>
          <p:cNvSpPr txBox="1">
            <a:spLocks noGrp="1"/>
          </p:cNvSpPr>
          <p:nvPr>
            <p:ph type="body" idx="1"/>
          </p:nvPr>
        </p:nvSpPr>
        <p:spPr>
          <a:xfrm>
            <a:off x="1538151" y="1124478"/>
            <a:ext cx="9115697" cy="1899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There are a number of comparison sorts that are </a:t>
            </a:r>
            <a:r>
              <a:rPr lang="en-US" sz="2800" dirty="0" err="1"/>
              <a:t>Θ</a:t>
            </a:r>
            <a:r>
              <a:rPr lang="en-US" sz="2800" dirty="0"/>
              <a:t>(n</a:t>
            </a:r>
            <a:r>
              <a:rPr lang="en-US" baseline="30000" dirty="0"/>
              <a:t>2</a:t>
            </a:r>
            <a:r>
              <a:rPr lang="en-US" sz="2800" dirty="0"/>
              <a:t>) </a:t>
            </a:r>
            <a:r>
              <a:rPr lang="en-US" dirty="0"/>
              <a:t>in the worst-case: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/>
              <a:t>     Insertion sort, Selection sort, Bubble sort,…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Insertion sort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6294757-BDF1-2624-E154-CD15EBA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8038" y="3024000"/>
            <a:ext cx="6555921" cy="3719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9"/>
          <p:cNvSpPr txBox="1">
            <a:spLocks noGrp="1"/>
          </p:cNvSpPr>
          <p:nvPr>
            <p:ph type="title"/>
          </p:nvPr>
        </p:nvSpPr>
        <p:spPr>
          <a:xfrm>
            <a:off x="0" y="113214"/>
            <a:ext cx="12192000" cy="952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Remember </a:t>
            </a:r>
            <a:r>
              <a:rPr lang="en-US" dirty="0" err="1"/>
              <a:t>Mergesort</a:t>
            </a:r>
            <a:r>
              <a:rPr lang="en-US" dirty="0"/>
              <a:t>?</a:t>
            </a:r>
            <a:endParaRPr dirty="0"/>
          </a:p>
        </p:txBody>
      </p:sp>
      <p:pic>
        <p:nvPicPr>
          <p:cNvPr id="3074" name="Picture 2" descr="merge sort example">
            <a:extLst>
              <a:ext uri="{FF2B5EF4-FFF2-40B4-BE49-F238E27FC236}">
                <a16:creationId xmlns:a16="http://schemas.microsoft.com/office/drawing/2014/main" id="{D51780BB-3309-CAE4-5208-3604D6A31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333" y="952158"/>
            <a:ext cx="5707334" cy="580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35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Remember Quicksort?</a:t>
            </a:r>
            <a:endParaRPr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A3319-0E93-5605-9880-832B6B83FE60}"/>
              </a:ext>
            </a:extLst>
          </p:cNvPr>
          <p:cNvSpPr/>
          <p:nvPr/>
        </p:nvSpPr>
        <p:spPr>
          <a:xfrm>
            <a:off x="2628193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AEC478-CCAA-EB04-A78E-608965BA1436}"/>
              </a:ext>
            </a:extLst>
          </p:cNvPr>
          <p:cNvSpPr/>
          <p:nvPr/>
        </p:nvSpPr>
        <p:spPr>
          <a:xfrm>
            <a:off x="3161593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14AB1C-31E6-92BC-8A7B-C66B4564DAEC}"/>
              </a:ext>
            </a:extLst>
          </p:cNvPr>
          <p:cNvSpPr/>
          <p:nvPr/>
        </p:nvSpPr>
        <p:spPr>
          <a:xfrm>
            <a:off x="3695562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99B7FF-081B-D56D-24FA-55C417E26E10}"/>
              </a:ext>
            </a:extLst>
          </p:cNvPr>
          <p:cNvSpPr/>
          <p:nvPr/>
        </p:nvSpPr>
        <p:spPr>
          <a:xfrm>
            <a:off x="4228962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2DB13D-6136-0028-6E7C-E0AA4ED4BA68}"/>
              </a:ext>
            </a:extLst>
          </p:cNvPr>
          <p:cNvSpPr/>
          <p:nvPr/>
        </p:nvSpPr>
        <p:spPr>
          <a:xfrm>
            <a:off x="4762362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DBD25A-310E-08A4-33D3-579F7E5FC164}"/>
              </a:ext>
            </a:extLst>
          </p:cNvPr>
          <p:cNvSpPr/>
          <p:nvPr/>
        </p:nvSpPr>
        <p:spPr>
          <a:xfrm>
            <a:off x="5296331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323475-02AD-3EB5-657C-E06249C0BDF6}"/>
              </a:ext>
            </a:extLst>
          </p:cNvPr>
          <p:cNvSpPr/>
          <p:nvPr/>
        </p:nvSpPr>
        <p:spPr>
          <a:xfrm>
            <a:off x="5829731" y="1943099"/>
            <a:ext cx="533400" cy="533400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7C549D-44CA-ADED-CB80-797AAAB9635A}"/>
              </a:ext>
            </a:extLst>
          </p:cNvPr>
          <p:cNvSpPr/>
          <p:nvPr/>
        </p:nvSpPr>
        <p:spPr>
          <a:xfrm>
            <a:off x="6363131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9EED41-D38C-1E7B-E588-48A6A860CCAF}"/>
              </a:ext>
            </a:extLst>
          </p:cNvPr>
          <p:cNvSpPr/>
          <p:nvPr/>
        </p:nvSpPr>
        <p:spPr>
          <a:xfrm>
            <a:off x="6897100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57D96C-DD46-3EF6-0B7E-AD81CC5DC24D}"/>
              </a:ext>
            </a:extLst>
          </p:cNvPr>
          <p:cNvSpPr/>
          <p:nvPr/>
        </p:nvSpPr>
        <p:spPr>
          <a:xfrm>
            <a:off x="7430500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89BB48-35B5-9D22-CB3B-8E5AD2B38BA5}"/>
              </a:ext>
            </a:extLst>
          </p:cNvPr>
          <p:cNvSpPr/>
          <p:nvPr/>
        </p:nvSpPr>
        <p:spPr>
          <a:xfrm>
            <a:off x="7963900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31DADD-979C-B5ED-C68B-020BF5A70138}"/>
              </a:ext>
            </a:extLst>
          </p:cNvPr>
          <p:cNvSpPr/>
          <p:nvPr/>
        </p:nvSpPr>
        <p:spPr>
          <a:xfrm>
            <a:off x="8497869" y="1943099"/>
            <a:ext cx="533400" cy="5334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A399A983-6C64-FCF0-0DC4-B09149298528}"/>
              </a:ext>
            </a:extLst>
          </p:cNvPr>
          <p:cNvSpPr txBox="1">
            <a:spLocks/>
          </p:cNvSpPr>
          <p:nvPr/>
        </p:nvSpPr>
        <p:spPr>
          <a:xfrm>
            <a:off x="2628193" y="1409701"/>
            <a:ext cx="4801447" cy="53339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Choose an item to </a:t>
            </a:r>
            <a:r>
              <a:rPr lang="en-US" dirty="0">
                <a:solidFill>
                  <a:schemeClr val="accent2"/>
                </a:solidFill>
              </a:rPr>
              <a:t>pivot</a:t>
            </a:r>
            <a:r>
              <a:rPr lang="en-US" dirty="0"/>
              <a:t> around: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80D7D5-2DBF-9645-DC3F-82A0C36B60DD}"/>
              </a:ext>
            </a:extLst>
          </p:cNvPr>
          <p:cNvSpPr/>
          <p:nvPr/>
        </p:nvSpPr>
        <p:spPr>
          <a:xfrm>
            <a:off x="2628193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18052E-977F-1059-8E94-00872F59EDCA}"/>
              </a:ext>
            </a:extLst>
          </p:cNvPr>
          <p:cNvSpPr/>
          <p:nvPr/>
        </p:nvSpPr>
        <p:spPr>
          <a:xfrm>
            <a:off x="3161593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9F85E5-C50B-9B47-222F-2616A1C8E215}"/>
              </a:ext>
            </a:extLst>
          </p:cNvPr>
          <p:cNvSpPr/>
          <p:nvPr/>
        </p:nvSpPr>
        <p:spPr>
          <a:xfrm>
            <a:off x="3695562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7BB6F72-CE83-C9FA-7325-5AD1B8E7C815}"/>
              </a:ext>
            </a:extLst>
          </p:cNvPr>
          <p:cNvSpPr/>
          <p:nvPr/>
        </p:nvSpPr>
        <p:spPr>
          <a:xfrm>
            <a:off x="4228962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FA13566-F0F2-0771-ECA4-448505FB9220}"/>
              </a:ext>
            </a:extLst>
          </p:cNvPr>
          <p:cNvSpPr/>
          <p:nvPr/>
        </p:nvSpPr>
        <p:spPr>
          <a:xfrm>
            <a:off x="4762362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00B5D8-8418-AC22-3B5C-94A84A9CDF72}"/>
              </a:ext>
            </a:extLst>
          </p:cNvPr>
          <p:cNvSpPr/>
          <p:nvPr/>
        </p:nvSpPr>
        <p:spPr>
          <a:xfrm>
            <a:off x="5296331" y="3543295"/>
            <a:ext cx="533400" cy="533400"/>
          </a:xfrm>
          <a:prstGeom prst="rect">
            <a:avLst/>
          </a:prstGeom>
          <a:solidFill>
            <a:schemeClr val="accent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7F523A9-1592-7529-FB28-CB63E5D9252A}"/>
              </a:ext>
            </a:extLst>
          </p:cNvPr>
          <p:cNvSpPr/>
          <p:nvPr/>
        </p:nvSpPr>
        <p:spPr>
          <a:xfrm>
            <a:off x="5829731" y="3543295"/>
            <a:ext cx="533400" cy="533400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FF64F4-8392-03AA-56CC-4039CCA1E023}"/>
              </a:ext>
            </a:extLst>
          </p:cNvPr>
          <p:cNvSpPr/>
          <p:nvPr/>
        </p:nvSpPr>
        <p:spPr>
          <a:xfrm>
            <a:off x="6363131" y="3543295"/>
            <a:ext cx="533400" cy="53340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8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32C79ED-9EE7-4D65-CAE0-2F662D1EBBFC}"/>
              </a:ext>
            </a:extLst>
          </p:cNvPr>
          <p:cNvSpPr/>
          <p:nvPr/>
        </p:nvSpPr>
        <p:spPr>
          <a:xfrm>
            <a:off x="6897100" y="3543295"/>
            <a:ext cx="533400" cy="53340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CC354E-1B8F-CADC-E91A-01BF8B69FBCF}"/>
              </a:ext>
            </a:extLst>
          </p:cNvPr>
          <p:cNvSpPr/>
          <p:nvPr/>
        </p:nvSpPr>
        <p:spPr>
          <a:xfrm>
            <a:off x="7430500" y="3543295"/>
            <a:ext cx="533400" cy="53340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5C074F-14E3-D346-E7D2-421FB1ECD011}"/>
              </a:ext>
            </a:extLst>
          </p:cNvPr>
          <p:cNvSpPr/>
          <p:nvPr/>
        </p:nvSpPr>
        <p:spPr>
          <a:xfrm>
            <a:off x="7963900" y="3543295"/>
            <a:ext cx="533400" cy="53340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F4018A8-20B7-CD74-0DAD-C3ECBF6276D4}"/>
              </a:ext>
            </a:extLst>
          </p:cNvPr>
          <p:cNvSpPr/>
          <p:nvPr/>
        </p:nvSpPr>
        <p:spPr>
          <a:xfrm>
            <a:off x="8497869" y="3543295"/>
            <a:ext cx="533400" cy="53340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D1F75D59-6F75-5FAB-119B-AACD823ECB05}"/>
              </a:ext>
            </a:extLst>
          </p:cNvPr>
          <p:cNvSpPr txBox="1">
            <a:spLocks/>
          </p:cNvSpPr>
          <p:nvPr/>
        </p:nvSpPr>
        <p:spPr>
          <a:xfrm>
            <a:off x="2628193" y="3009897"/>
            <a:ext cx="4801447" cy="53339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Recursively </a:t>
            </a: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sort both</a:t>
            </a:r>
            <a:r>
              <a:rPr lang="en-US" dirty="0"/>
              <a:t>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halves</a:t>
            </a:r>
            <a:r>
              <a:rPr lang="en-US" dirty="0"/>
              <a:t>:</a:t>
            </a: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751E3833-BC2C-41E0-1A65-20E64CC36238}"/>
              </a:ext>
            </a:extLst>
          </p:cNvPr>
          <p:cNvSpPr txBox="1">
            <a:spLocks/>
          </p:cNvSpPr>
          <p:nvPr/>
        </p:nvSpPr>
        <p:spPr>
          <a:xfrm>
            <a:off x="2628194" y="4610093"/>
            <a:ext cx="6403076" cy="53339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And you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are</a:t>
            </a:r>
            <a:r>
              <a:rPr lang="en-US" dirty="0"/>
              <a:t>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done</a:t>
            </a:r>
            <a:r>
              <a:rPr lang="en-US" dirty="0"/>
              <a:t>: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2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Remember Lower Bounds Proof For Sorting?</a:t>
            </a:r>
            <a:endParaRPr dirty="0"/>
          </a:p>
        </p:txBody>
      </p:sp>
      <p:sp>
        <p:nvSpPr>
          <p:cNvPr id="328" name="Google Shape;328;p32"/>
          <p:cNvSpPr txBox="1">
            <a:spLocks noGrp="1"/>
          </p:cNvSpPr>
          <p:nvPr>
            <p:ph type="body" idx="1"/>
          </p:nvPr>
        </p:nvSpPr>
        <p:spPr>
          <a:xfrm>
            <a:off x="1216227" y="976633"/>
            <a:ext cx="7062310" cy="1097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Worst case run time is the longest execution path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 dirty="0"/>
              <a:t>i.e., “height” of the decision tree</a:t>
            </a:r>
            <a:endParaRPr dirty="0"/>
          </a:p>
        </p:txBody>
      </p:sp>
      <p:sp>
        <p:nvSpPr>
          <p:cNvPr id="396" name="Google Shape;396;p32"/>
          <p:cNvSpPr txBox="1"/>
          <p:nvPr/>
        </p:nvSpPr>
        <p:spPr>
          <a:xfrm>
            <a:off x="8330788" y="1103590"/>
            <a:ext cx="2980249" cy="707886"/>
          </a:xfrm>
          <a:prstGeom prst="rect">
            <a:avLst/>
          </a:prstGeom>
          <a:noFill/>
          <a:ln w="635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CLRS Section 8.1 describes this in more detail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1D224F-9151-B40D-FB93-2B736F2A1996}"/>
              </a:ext>
            </a:extLst>
          </p:cNvPr>
          <p:cNvGrpSpPr/>
          <p:nvPr/>
        </p:nvGrpSpPr>
        <p:grpSpPr>
          <a:xfrm>
            <a:off x="1332411" y="2185851"/>
            <a:ext cx="9384814" cy="4584281"/>
            <a:chOff x="1332411" y="2185851"/>
            <a:chExt cx="9384814" cy="458428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88D7D7-277B-71B1-3F96-C017650796E7}"/>
                </a:ext>
              </a:extLst>
            </p:cNvPr>
            <p:cNvSpPr/>
            <p:nvPr/>
          </p:nvSpPr>
          <p:spPr>
            <a:xfrm>
              <a:off x="1332411" y="2185851"/>
              <a:ext cx="9384814" cy="458428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0" name="Google Shape;330;p32"/>
            <p:cNvGrpSpPr/>
            <p:nvPr/>
          </p:nvGrpSpPr>
          <p:grpSpPr>
            <a:xfrm>
              <a:off x="2804159" y="3130296"/>
              <a:ext cx="6492240" cy="2813304"/>
              <a:chOff x="0" y="1371600"/>
              <a:chExt cx="9144000" cy="3962400"/>
            </a:xfrm>
          </p:grpSpPr>
          <p:sp>
            <p:nvSpPr>
              <p:cNvPr id="331" name="Google Shape;331;p32"/>
              <p:cNvSpPr/>
              <p:nvPr/>
            </p:nvSpPr>
            <p:spPr>
              <a:xfrm>
                <a:off x="3877670" y="1371600"/>
                <a:ext cx="99913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32" name="Google Shape;332;p32"/>
              <p:cNvSpPr/>
              <p:nvPr/>
            </p:nvSpPr>
            <p:spPr>
              <a:xfrm>
                <a:off x="1676400" y="2057400"/>
                <a:ext cx="10668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33" name="Google Shape;333;p32"/>
              <p:cNvSpPr/>
              <p:nvPr/>
            </p:nvSpPr>
            <p:spPr>
              <a:xfrm>
                <a:off x="6382034" y="2057400"/>
                <a:ext cx="1009366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34" name="Google Shape;334;p32"/>
              <p:cNvSpPr/>
              <p:nvPr/>
            </p:nvSpPr>
            <p:spPr>
              <a:xfrm>
                <a:off x="609600" y="27432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35" name="Google Shape;335;p32"/>
              <p:cNvSpPr/>
              <p:nvPr/>
            </p:nvSpPr>
            <p:spPr>
              <a:xfrm>
                <a:off x="2895600" y="2743200"/>
                <a:ext cx="9906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cxnSp>
            <p:nvCxnSpPr>
              <p:cNvPr id="336" name="Google Shape;336;p32"/>
              <p:cNvCxnSpPr>
                <a:stCxn id="331" idx="1"/>
                <a:endCxn id="332" idx="0"/>
              </p:cNvCxnSpPr>
              <p:nvPr/>
            </p:nvCxnSpPr>
            <p:spPr>
              <a:xfrm flipH="1">
                <a:off x="2209670" y="1600200"/>
                <a:ext cx="16680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37" name="Google Shape;337;p32"/>
              <p:cNvCxnSpPr>
                <a:stCxn id="331" idx="3"/>
                <a:endCxn id="333" idx="0"/>
              </p:cNvCxnSpPr>
              <p:nvPr/>
            </p:nvCxnSpPr>
            <p:spPr>
              <a:xfrm>
                <a:off x="4876800" y="1600200"/>
                <a:ext cx="20100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38" name="Google Shape;338;p32"/>
              <p:cNvCxnSpPr>
                <a:stCxn id="332" idx="1"/>
                <a:endCxn id="334" idx="0"/>
              </p:cNvCxnSpPr>
              <p:nvPr/>
            </p:nvCxnSpPr>
            <p:spPr>
              <a:xfrm flipH="1">
                <a:off x="1133400" y="2286000"/>
                <a:ext cx="5430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39" name="Google Shape;339;p32"/>
              <p:cNvCxnSpPr>
                <a:stCxn id="332" idx="3"/>
                <a:endCxn id="335" idx="0"/>
              </p:cNvCxnSpPr>
              <p:nvPr/>
            </p:nvCxnSpPr>
            <p:spPr>
              <a:xfrm>
                <a:off x="2743200" y="2286000"/>
                <a:ext cx="6477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sp>
            <p:nvSpPr>
              <p:cNvPr id="340" name="Google Shape;340;p32"/>
              <p:cNvSpPr/>
              <p:nvPr/>
            </p:nvSpPr>
            <p:spPr>
              <a:xfrm>
                <a:off x="5181600" y="2743200"/>
                <a:ext cx="1038367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1" name="Google Shape;341;p32"/>
              <p:cNvSpPr/>
              <p:nvPr/>
            </p:nvSpPr>
            <p:spPr>
              <a:xfrm>
                <a:off x="7467600" y="2743200"/>
                <a:ext cx="10668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cxnSp>
            <p:nvCxnSpPr>
              <p:cNvPr id="342" name="Google Shape;342;p32"/>
              <p:cNvCxnSpPr>
                <a:stCxn id="333" idx="1"/>
                <a:endCxn id="340" idx="0"/>
              </p:cNvCxnSpPr>
              <p:nvPr/>
            </p:nvCxnSpPr>
            <p:spPr>
              <a:xfrm flipH="1">
                <a:off x="5700734" y="2286000"/>
                <a:ext cx="6813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43" name="Google Shape;343;p32"/>
              <p:cNvCxnSpPr>
                <a:stCxn id="333" idx="3"/>
                <a:endCxn id="341" idx="0"/>
              </p:cNvCxnSpPr>
              <p:nvPr/>
            </p:nvCxnSpPr>
            <p:spPr>
              <a:xfrm>
                <a:off x="7391400" y="2286000"/>
                <a:ext cx="6096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sp>
            <p:nvSpPr>
              <p:cNvPr id="344" name="Google Shape;344;p32"/>
              <p:cNvSpPr/>
              <p:nvPr/>
            </p:nvSpPr>
            <p:spPr>
              <a:xfrm>
                <a:off x="8096250" y="3447197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5" name="Google Shape;345;p32"/>
              <p:cNvSpPr/>
              <p:nvPr/>
            </p:nvSpPr>
            <p:spPr>
              <a:xfrm>
                <a:off x="6877050" y="34290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6" name="Google Shape;346;p32"/>
              <p:cNvSpPr/>
              <p:nvPr/>
            </p:nvSpPr>
            <p:spPr>
              <a:xfrm>
                <a:off x="5715000" y="34290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7" name="Google Shape;347;p32"/>
              <p:cNvSpPr/>
              <p:nvPr/>
            </p:nvSpPr>
            <p:spPr>
              <a:xfrm>
                <a:off x="4572000" y="34290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8" name="Google Shape;348;p32"/>
              <p:cNvSpPr/>
              <p:nvPr/>
            </p:nvSpPr>
            <p:spPr>
              <a:xfrm>
                <a:off x="3429000" y="3434687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49" name="Google Shape;349;p32"/>
              <p:cNvSpPr/>
              <p:nvPr/>
            </p:nvSpPr>
            <p:spPr>
              <a:xfrm>
                <a:off x="2286000" y="3434687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50" name="Google Shape;350;p32"/>
              <p:cNvSpPr/>
              <p:nvPr/>
            </p:nvSpPr>
            <p:spPr>
              <a:xfrm>
                <a:off x="1162050" y="34290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sp>
            <p:nvSpPr>
              <p:cNvPr id="351" name="Google Shape;351;p32"/>
              <p:cNvSpPr/>
              <p:nvPr/>
            </p:nvSpPr>
            <p:spPr>
              <a:xfrm>
                <a:off x="0" y="3429000"/>
                <a:ext cx="104775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00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&gt;or&lt;?</a:t>
                </a:r>
                <a:endParaRPr/>
              </a:p>
            </p:txBody>
          </p:sp>
          <p:cxnSp>
            <p:nvCxnSpPr>
              <p:cNvPr id="352" name="Google Shape;352;p32"/>
              <p:cNvCxnSpPr>
                <a:stCxn id="334" idx="1"/>
                <a:endCxn id="351" idx="0"/>
              </p:cNvCxnSpPr>
              <p:nvPr/>
            </p:nvCxnSpPr>
            <p:spPr>
              <a:xfrm flipH="1">
                <a:off x="523800" y="2971800"/>
                <a:ext cx="858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3" name="Google Shape;353;p32"/>
              <p:cNvCxnSpPr>
                <a:stCxn id="334" idx="3"/>
                <a:endCxn id="350" idx="0"/>
              </p:cNvCxnSpPr>
              <p:nvPr/>
            </p:nvCxnSpPr>
            <p:spPr>
              <a:xfrm>
                <a:off x="1657350" y="2971800"/>
                <a:ext cx="285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4" name="Google Shape;354;p32"/>
              <p:cNvCxnSpPr>
                <a:stCxn id="335" idx="1"/>
                <a:endCxn id="349" idx="0"/>
              </p:cNvCxnSpPr>
              <p:nvPr/>
            </p:nvCxnSpPr>
            <p:spPr>
              <a:xfrm flipH="1">
                <a:off x="2809800" y="2971800"/>
                <a:ext cx="85800" cy="462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5" name="Google Shape;355;p32"/>
              <p:cNvCxnSpPr>
                <a:stCxn id="335" idx="3"/>
                <a:endCxn id="348" idx="0"/>
              </p:cNvCxnSpPr>
              <p:nvPr/>
            </p:nvCxnSpPr>
            <p:spPr>
              <a:xfrm>
                <a:off x="3886200" y="2971800"/>
                <a:ext cx="66600" cy="4629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6" name="Google Shape;356;p32"/>
              <p:cNvCxnSpPr>
                <a:stCxn id="340" idx="1"/>
                <a:endCxn id="347" idx="0"/>
              </p:cNvCxnSpPr>
              <p:nvPr/>
            </p:nvCxnSpPr>
            <p:spPr>
              <a:xfrm flipH="1">
                <a:off x="5095800" y="2971800"/>
                <a:ext cx="858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7" name="Google Shape;357;p32"/>
              <p:cNvCxnSpPr>
                <a:stCxn id="340" idx="3"/>
                <a:endCxn id="346" idx="0"/>
              </p:cNvCxnSpPr>
              <p:nvPr/>
            </p:nvCxnSpPr>
            <p:spPr>
              <a:xfrm>
                <a:off x="6219967" y="2971800"/>
                <a:ext cx="189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8" name="Google Shape;358;p32"/>
              <p:cNvCxnSpPr>
                <a:stCxn id="341" idx="1"/>
                <a:endCxn id="345" idx="0"/>
              </p:cNvCxnSpPr>
              <p:nvPr/>
            </p:nvCxnSpPr>
            <p:spPr>
              <a:xfrm flipH="1">
                <a:off x="7401000" y="2971800"/>
                <a:ext cx="66600" cy="457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cxnSp>
            <p:nvCxnSpPr>
              <p:cNvPr id="359" name="Google Shape;359;p32"/>
              <p:cNvCxnSpPr>
                <a:stCxn id="341" idx="3"/>
                <a:endCxn id="344" idx="0"/>
              </p:cNvCxnSpPr>
              <p:nvPr/>
            </p:nvCxnSpPr>
            <p:spPr>
              <a:xfrm>
                <a:off x="8534400" y="2971800"/>
                <a:ext cx="85800" cy="4755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stealth" w="med" len="med"/>
              </a:ln>
            </p:spPr>
          </p:cxnSp>
          <p:sp>
            <p:nvSpPr>
              <p:cNvPr id="360" name="Google Shape;360;p32"/>
              <p:cNvSpPr/>
              <p:nvPr/>
            </p:nvSpPr>
            <p:spPr>
              <a:xfrm>
                <a:off x="76200" y="4876800"/>
                <a:ext cx="1793117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99FF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[1,2,3,4,5]</a:t>
                </a:r>
                <a:endParaRPr/>
              </a:p>
            </p:txBody>
          </p:sp>
          <p:sp>
            <p:nvSpPr>
              <p:cNvPr id="361" name="Google Shape;361;p32"/>
              <p:cNvSpPr/>
              <p:nvPr/>
            </p:nvSpPr>
            <p:spPr>
              <a:xfrm>
                <a:off x="2204967" y="4876800"/>
                <a:ext cx="1793117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99FF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[2,1,3,4,5]</a:t>
                </a:r>
                <a:endParaRPr/>
              </a:p>
            </p:txBody>
          </p:sp>
          <p:sp>
            <p:nvSpPr>
              <p:cNvPr id="362" name="Google Shape;362;p32"/>
              <p:cNvSpPr/>
              <p:nvPr/>
            </p:nvSpPr>
            <p:spPr>
              <a:xfrm>
                <a:off x="4719566" y="4864290"/>
                <a:ext cx="1793117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99FF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[5,2,4,1,3]</a:t>
                </a:r>
                <a:endParaRPr/>
              </a:p>
            </p:txBody>
          </p:sp>
          <p:sp>
            <p:nvSpPr>
              <p:cNvPr id="363" name="Google Shape;363;p32"/>
              <p:cNvSpPr/>
              <p:nvPr/>
            </p:nvSpPr>
            <p:spPr>
              <a:xfrm>
                <a:off x="7274683" y="4864290"/>
                <a:ext cx="1793117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99FF"/>
              </a:solidFill>
              <a:ln w="19050" cap="flat" cmpd="sng">
                <a:solidFill>
                  <a:schemeClr val="dk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[5,4,3,2,1]</a:t>
                </a:r>
                <a:endParaRPr/>
              </a:p>
            </p:txBody>
          </p:sp>
          <p:sp>
            <p:nvSpPr>
              <p:cNvPr id="364" name="Google Shape;364;p32"/>
              <p:cNvSpPr txBox="1"/>
              <p:nvPr/>
            </p:nvSpPr>
            <p:spPr>
              <a:xfrm>
                <a:off x="4114800" y="4724400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  <p:sp>
            <p:nvSpPr>
              <p:cNvPr id="365" name="Google Shape;365;p32"/>
              <p:cNvSpPr txBox="1"/>
              <p:nvPr/>
            </p:nvSpPr>
            <p:spPr>
              <a:xfrm>
                <a:off x="6653468" y="4724400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  <p:sp>
            <p:nvSpPr>
              <p:cNvPr id="366" name="Google Shape;366;p32"/>
              <p:cNvSpPr txBox="1"/>
              <p:nvPr/>
            </p:nvSpPr>
            <p:spPr>
              <a:xfrm>
                <a:off x="469234" y="4201180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  <p:sp>
            <p:nvSpPr>
              <p:cNvPr id="367" name="Google Shape;367;p32"/>
              <p:cNvSpPr txBox="1"/>
              <p:nvPr/>
            </p:nvSpPr>
            <p:spPr>
              <a:xfrm>
                <a:off x="3174334" y="4201180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  <p:sp>
            <p:nvSpPr>
              <p:cNvPr id="368" name="Google Shape;368;p32"/>
              <p:cNvSpPr txBox="1"/>
              <p:nvPr/>
            </p:nvSpPr>
            <p:spPr>
              <a:xfrm>
                <a:off x="5278170" y="4121541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  <p:sp>
            <p:nvSpPr>
              <p:cNvPr id="369" name="Google Shape;369;p32"/>
              <p:cNvSpPr txBox="1"/>
              <p:nvPr/>
            </p:nvSpPr>
            <p:spPr>
              <a:xfrm>
                <a:off x="8096249" y="4121541"/>
                <a:ext cx="483611" cy="5201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80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…</a:t>
                </a:r>
                <a:endParaRPr/>
              </a:p>
            </p:txBody>
          </p:sp>
        </p:grpSp>
        <p:sp>
          <p:nvSpPr>
            <p:cNvPr id="370" name="Google Shape;370;p32"/>
            <p:cNvSpPr txBox="1"/>
            <p:nvPr/>
          </p:nvSpPr>
          <p:spPr>
            <a:xfrm>
              <a:off x="6794182" y="3130296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1" name="Google Shape;371;p32"/>
            <p:cNvSpPr txBox="1"/>
            <p:nvPr/>
          </p:nvSpPr>
          <p:spPr>
            <a:xfrm>
              <a:off x="4871040" y="3117900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72" name="Google Shape;372;p32"/>
            <p:cNvSpPr txBox="1"/>
            <p:nvPr/>
          </p:nvSpPr>
          <p:spPr>
            <a:xfrm>
              <a:off x="3553965" y="3639632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73" name="Google Shape;373;p32"/>
            <p:cNvSpPr txBox="1"/>
            <p:nvPr/>
          </p:nvSpPr>
          <p:spPr>
            <a:xfrm>
              <a:off x="4928549" y="3658900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4" name="Google Shape;374;p32"/>
            <p:cNvSpPr txBox="1"/>
            <p:nvPr/>
          </p:nvSpPr>
          <p:spPr>
            <a:xfrm>
              <a:off x="2959615" y="4221718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75" name="Google Shape;375;p32"/>
            <p:cNvSpPr txBox="1"/>
            <p:nvPr/>
          </p:nvSpPr>
          <p:spPr>
            <a:xfrm>
              <a:off x="3958874" y="4234638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6" name="Google Shape;376;p32"/>
            <p:cNvSpPr txBox="1"/>
            <p:nvPr/>
          </p:nvSpPr>
          <p:spPr>
            <a:xfrm>
              <a:off x="7304674" y="4199712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7" name="Google Shape;377;p32"/>
            <p:cNvSpPr txBox="1"/>
            <p:nvPr/>
          </p:nvSpPr>
          <p:spPr>
            <a:xfrm>
              <a:off x="5651598" y="4250538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8" name="Google Shape;378;p32"/>
            <p:cNvSpPr txBox="1"/>
            <p:nvPr/>
          </p:nvSpPr>
          <p:spPr>
            <a:xfrm>
              <a:off x="8942215" y="4214213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79" name="Google Shape;379;p32"/>
            <p:cNvSpPr txBox="1"/>
            <p:nvPr/>
          </p:nvSpPr>
          <p:spPr>
            <a:xfrm>
              <a:off x="6851716" y="3639632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80" name="Google Shape;380;p32"/>
            <p:cNvSpPr txBox="1"/>
            <p:nvPr/>
          </p:nvSpPr>
          <p:spPr>
            <a:xfrm>
              <a:off x="6183013" y="4161364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81" name="Google Shape;381;p32"/>
            <p:cNvSpPr txBox="1"/>
            <p:nvPr/>
          </p:nvSpPr>
          <p:spPr>
            <a:xfrm>
              <a:off x="7782403" y="4216080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82" name="Google Shape;382;p32"/>
            <p:cNvSpPr txBox="1"/>
            <p:nvPr/>
          </p:nvSpPr>
          <p:spPr>
            <a:xfrm>
              <a:off x="4561864" y="4161364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&lt;</a:t>
              </a:r>
              <a:endParaRPr/>
            </a:p>
          </p:txBody>
        </p:sp>
        <p:sp>
          <p:nvSpPr>
            <p:cNvPr id="383" name="Google Shape;383;p32"/>
            <p:cNvSpPr txBox="1"/>
            <p:nvPr/>
          </p:nvSpPr>
          <p:spPr>
            <a:xfrm>
              <a:off x="8219074" y="3639632"/>
              <a:ext cx="30008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&gt;</a:t>
              </a:r>
              <a:endParaRPr/>
            </a:p>
          </p:txBody>
        </p:sp>
        <p:sp>
          <p:nvSpPr>
            <p:cNvPr id="384" name="Google Shape;384;p32"/>
            <p:cNvSpPr txBox="1"/>
            <p:nvPr/>
          </p:nvSpPr>
          <p:spPr>
            <a:xfrm>
              <a:off x="5266847" y="2286001"/>
              <a:ext cx="1286353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C000"/>
                  </a:solidFill>
                  <a:latin typeface="Calibri"/>
                  <a:ea typeface="Calibri"/>
                  <a:cs typeface="Calibri"/>
                  <a:sym typeface="Calibri"/>
                </a:rPr>
                <a:t>One comparison</a:t>
              </a:r>
              <a:endParaRPr/>
            </a:p>
          </p:txBody>
        </p:sp>
        <p:sp>
          <p:nvSpPr>
            <p:cNvPr id="385" name="Google Shape;385;p32"/>
            <p:cNvSpPr txBox="1"/>
            <p:nvPr/>
          </p:nvSpPr>
          <p:spPr>
            <a:xfrm>
              <a:off x="6842757" y="2590801"/>
              <a:ext cx="1286353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Result of comparison</a:t>
              </a:r>
              <a:endParaRPr/>
            </a:p>
          </p:txBody>
        </p:sp>
        <p:sp>
          <p:nvSpPr>
            <p:cNvPr id="386" name="Google Shape;386;p32"/>
            <p:cNvSpPr txBox="1"/>
            <p:nvPr/>
          </p:nvSpPr>
          <p:spPr>
            <a:xfrm>
              <a:off x="9296400" y="5449247"/>
              <a:ext cx="1371600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rgbClr val="FF33CC"/>
                  </a:solidFill>
                  <a:latin typeface="Calibri"/>
                  <a:ea typeface="Calibri"/>
                  <a:cs typeface="Calibri"/>
                  <a:sym typeface="Calibri"/>
                </a:rPr>
                <a:t>Permutation of sorted list</a:t>
              </a:r>
              <a:endParaRPr dirty="0"/>
            </a:p>
          </p:txBody>
        </p:sp>
        <p:sp>
          <p:nvSpPr>
            <p:cNvPr id="387" name="Google Shape;387;p32"/>
            <p:cNvSpPr/>
            <p:nvPr/>
          </p:nvSpPr>
          <p:spPr>
            <a:xfrm rot="-5400000">
              <a:off x="5767605" y="2631213"/>
              <a:ext cx="288782" cy="709382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19050" cap="flat" cmpd="sng">
              <a:solidFill>
                <a:srgbClr val="FFC00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32"/>
            <p:cNvSpPr/>
            <p:nvPr/>
          </p:nvSpPr>
          <p:spPr>
            <a:xfrm>
              <a:off x="6807036" y="3164680"/>
              <a:ext cx="264320" cy="264320"/>
            </a:xfrm>
            <a:prstGeom prst="ellipse">
              <a:avLst/>
            </a:prstGeom>
            <a:noFill/>
            <a:ln w="1270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32"/>
            <p:cNvSpPr/>
            <p:nvPr/>
          </p:nvSpPr>
          <p:spPr>
            <a:xfrm>
              <a:off x="4335704" y="3314700"/>
              <a:ext cx="1630753" cy="2419350"/>
            </a:xfrm>
            <a:custGeom>
              <a:avLst/>
              <a:gdLst/>
              <a:ahLst/>
              <a:cxnLst/>
              <a:rect l="l" t="t" r="r" b="b"/>
              <a:pathLst>
                <a:path w="1630753" h="2419350" extrusionOk="0">
                  <a:moveTo>
                    <a:pt x="1630753" y="0"/>
                  </a:moveTo>
                  <a:cubicBezTo>
                    <a:pt x="879865" y="149225"/>
                    <a:pt x="128978" y="298450"/>
                    <a:pt x="11503" y="457200"/>
                  </a:cubicBezTo>
                  <a:cubicBezTo>
                    <a:pt x="-105972" y="615950"/>
                    <a:pt x="710003" y="781050"/>
                    <a:pt x="925903" y="952500"/>
                  </a:cubicBezTo>
                  <a:cubicBezTo>
                    <a:pt x="1141803" y="1123950"/>
                    <a:pt x="1332303" y="1341437"/>
                    <a:pt x="1306903" y="1485900"/>
                  </a:cubicBezTo>
                  <a:cubicBezTo>
                    <a:pt x="1281503" y="1630363"/>
                    <a:pt x="738578" y="1752600"/>
                    <a:pt x="773503" y="1819275"/>
                  </a:cubicBezTo>
                  <a:cubicBezTo>
                    <a:pt x="808428" y="1885950"/>
                    <a:pt x="1437078" y="1844675"/>
                    <a:pt x="1516453" y="1885950"/>
                  </a:cubicBezTo>
                  <a:cubicBezTo>
                    <a:pt x="1595828" y="1927225"/>
                    <a:pt x="1386278" y="1978025"/>
                    <a:pt x="1249753" y="2066925"/>
                  </a:cubicBezTo>
                  <a:cubicBezTo>
                    <a:pt x="1113228" y="2155825"/>
                    <a:pt x="228990" y="2316163"/>
                    <a:pt x="697303" y="2419350"/>
                  </a:cubicBezTo>
                </a:path>
              </a:pathLst>
            </a:custGeom>
            <a:noFill/>
            <a:ln w="76200" cap="flat" cmpd="sng">
              <a:solidFill>
                <a:srgbClr val="FF000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p32"/>
            <p:cNvSpPr txBox="1"/>
            <p:nvPr/>
          </p:nvSpPr>
          <p:spPr>
            <a:xfrm>
              <a:off x="3305222" y="2656236"/>
              <a:ext cx="1773368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FF0000"/>
                  </a:solidFill>
                  <a:latin typeface="Calibri"/>
                  <a:ea typeface="Calibri"/>
                  <a:cs typeface="Calibri"/>
                  <a:sym typeface="Calibri"/>
                </a:rPr>
                <a:t>Possible execution path</a:t>
              </a:r>
              <a:endParaRPr/>
            </a:p>
          </p:txBody>
        </p:sp>
        <p:sp>
          <p:nvSpPr>
            <p:cNvPr id="391" name="Google Shape;391;p32"/>
            <p:cNvSpPr/>
            <p:nvPr/>
          </p:nvSpPr>
          <p:spPr>
            <a:xfrm rot="5400000">
              <a:off x="5897880" y="3002281"/>
              <a:ext cx="304799" cy="649224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p32"/>
            <p:cNvSpPr txBox="1"/>
            <p:nvPr/>
          </p:nvSpPr>
          <p:spPr>
            <a:xfrm>
              <a:off x="4604488" y="6400800"/>
              <a:ext cx="2924068" cy="369332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t="-8196" b="-2458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Calibri"/>
                  <a:ea typeface="Calibri"/>
                  <a:cs typeface="Calibri"/>
                  <a:sym typeface="Calibri"/>
                </a:rPr>
                <a:t> </a:t>
              </a:r>
              <a:endParaRPr/>
            </a:p>
          </p:txBody>
        </p:sp>
        <p:sp>
          <p:nvSpPr>
            <p:cNvPr id="393" name="Google Shape;393;p32"/>
            <p:cNvSpPr/>
            <p:nvPr/>
          </p:nvSpPr>
          <p:spPr>
            <a:xfrm rot="10800000">
              <a:off x="2575558" y="3096026"/>
              <a:ext cx="304799" cy="286934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" name="Google Shape;394;p32"/>
            <p:cNvSpPr txBox="1"/>
            <p:nvPr/>
          </p:nvSpPr>
          <p:spPr>
            <a:xfrm>
              <a:off x="1676401" y="4355068"/>
              <a:ext cx="986031" cy="40011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l="-3702" b="-13635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Calibri"/>
                  <a:ea typeface="Calibri"/>
                  <a:cs typeface="Calibri"/>
                  <a:sym typeface="Calibri"/>
                </a:rPr>
                <a:t> </a:t>
              </a:r>
              <a:endParaRPr/>
            </a:p>
          </p:txBody>
        </p:sp>
        <p:sp>
          <p:nvSpPr>
            <p:cNvPr id="395" name="Google Shape;395;p32"/>
            <p:cNvSpPr txBox="1"/>
            <p:nvPr/>
          </p:nvSpPr>
          <p:spPr>
            <a:xfrm>
              <a:off x="1716490" y="4800600"/>
              <a:ext cx="950580" cy="400200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l="-17900" r="-14813" b="-15384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latin typeface="Calibri"/>
                  <a:ea typeface="Calibri"/>
                  <a:cs typeface="Calibri"/>
                  <a:sym typeface="Calibri"/>
                </a:rPr>
                <a:t> </a:t>
              </a:r>
              <a:endParaRPr/>
            </a:p>
          </p:txBody>
        </p:sp>
        <p:sp>
          <p:nvSpPr>
            <p:cNvPr id="397" name="Google Shape;397;p32"/>
            <p:cNvSpPr txBox="1"/>
            <p:nvPr/>
          </p:nvSpPr>
          <p:spPr>
            <a:xfrm>
              <a:off x="1509610" y="4642835"/>
              <a:ext cx="441900" cy="48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-US" sz="2200" dirty="0" err="1">
                  <a:solidFill>
                    <a:srgbClr val="FF99FF"/>
                  </a:solidFill>
                  <a:latin typeface="Calibri"/>
                  <a:ea typeface="Calibri"/>
                  <a:cs typeface="Calibri"/>
                  <a:sym typeface="Calibri"/>
                </a:rPr>
                <a:t>Θ</a:t>
              </a:r>
              <a:endParaRPr sz="2200" dirty="0">
                <a:solidFill>
                  <a:srgbClr val="FF99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>
          <a:extLst>
            <a:ext uri="{FF2B5EF4-FFF2-40B4-BE49-F238E27FC236}">
              <a16:creationId xmlns:a16="http://schemas.microsoft.com/office/drawing/2014/main" id="{75A1F6B1-0ADB-89AD-1AA5-DA2B1493F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2">
            <a:extLst>
              <a:ext uri="{FF2B5EF4-FFF2-40B4-BE49-F238E27FC236}">
                <a16:creationId xmlns:a16="http://schemas.microsoft.com/office/drawing/2014/main" id="{AC26B9F3-B655-D2FF-9459-349D6D2E21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Review your Data Structure Runtimes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7F7EFA-0708-C6EE-B710-2C89CC89AA3C}"/>
              </a:ext>
            </a:extLst>
          </p:cNvPr>
          <p:cNvSpPr txBox="1"/>
          <p:nvPr/>
        </p:nvSpPr>
        <p:spPr>
          <a:xfrm>
            <a:off x="1245600" y="1303200"/>
            <a:ext cx="272880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 Structure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65C7B-7DE7-5FC6-99C0-524FAFC7DFF3}"/>
              </a:ext>
            </a:extLst>
          </p:cNvPr>
          <p:cNvSpPr txBox="1"/>
          <p:nvPr/>
        </p:nvSpPr>
        <p:spPr>
          <a:xfrm>
            <a:off x="4458000" y="1303200"/>
            <a:ext cx="6694800" cy="3693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824858-CFFB-E2BB-0D2A-DEA4EAD69F35}"/>
              </a:ext>
            </a:extLst>
          </p:cNvPr>
          <p:cNvSpPr txBox="1"/>
          <p:nvPr/>
        </p:nvSpPr>
        <p:spPr>
          <a:xfrm>
            <a:off x="1245600" y="19740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Array[]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7630DC-5EE4-6343-04C1-67DEF226503F}"/>
              </a:ext>
            </a:extLst>
          </p:cNvPr>
          <p:cNvSpPr txBox="1"/>
          <p:nvPr/>
        </p:nvSpPr>
        <p:spPr>
          <a:xfrm>
            <a:off x="4458000" y="19740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 at end, middle, front;  get(index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update(index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2F44B7-00E2-1D08-4D0A-E70FAE88CE18}"/>
              </a:ext>
            </a:extLst>
          </p:cNvPr>
          <p:cNvSpPr txBox="1"/>
          <p:nvPr/>
        </p:nvSpPr>
        <p:spPr>
          <a:xfrm>
            <a:off x="1245600" y="25656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Vector[]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D7535D-C70F-3FE6-C8B8-40221957CC18}"/>
              </a:ext>
            </a:extLst>
          </p:cNvPr>
          <p:cNvSpPr txBox="1"/>
          <p:nvPr/>
        </p:nvSpPr>
        <p:spPr>
          <a:xfrm>
            <a:off x="4458000" y="25656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 at end, middle, front;  get(index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update(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delete(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 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5E47AE-784E-642F-8DD3-D05E2BE2B747}"/>
              </a:ext>
            </a:extLst>
          </p:cNvPr>
          <p:cNvSpPr txBox="1"/>
          <p:nvPr/>
        </p:nvSpPr>
        <p:spPr>
          <a:xfrm>
            <a:off x="1245600" y="31572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Linked List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F6FF4D-CF5C-489F-8A49-2A60553D9B9C}"/>
              </a:ext>
            </a:extLst>
          </p:cNvPr>
          <p:cNvSpPr txBox="1"/>
          <p:nvPr/>
        </p:nvSpPr>
        <p:spPr>
          <a:xfrm>
            <a:off x="4458000" y="31572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 at end, middle, front; get(index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update(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delete(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7E3684-BD45-FBCC-6BBA-299866D53D98}"/>
              </a:ext>
            </a:extLst>
          </p:cNvPr>
          <p:cNvSpPr txBox="1"/>
          <p:nvPr/>
        </p:nvSpPr>
        <p:spPr>
          <a:xfrm>
            <a:off x="1245600" y="43404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Balanced Search Tree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A67CEA-8ADD-28CC-2B52-00EEA2A781D0}"/>
              </a:ext>
            </a:extLst>
          </p:cNvPr>
          <p:cNvSpPr txBox="1"/>
          <p:nvPr/>
        </p:nvSpPr>
        <p:spPr>
          <a:xfrm>
            <a:off x="4458000" y="43404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Insert(element);  find(element);  delete(element) 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482E5E-0DA8-F933-6B2B-6E4E5FB0A79D}"/>
              </a:ext>
            </a:extLst>
          </p:cNvPr>
          <p:cNvSpPr txBox="1"/>
          <p:nvPr/>
        </p:nvSpPr>
        <p:spPr>
          <a:xfrm>
            <a:off x="1245600" y="49320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Hash 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B28CBA-26E5-3975-4627-04CDF2FE5BB0}"/>
              </a:ext>
            </a:extLst>
          </p:cNvPr>
          <p:cNvSpPr txBox="1"/>
          <p:nvPr/>
        </p:nvSpPr>
        <p:spPr>
          <a:xfrm>
            <a:off x="4458000" y="49320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Insert(element);  find(element);  delete(element) 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B8E86E-3ECF-3946-E5C5-6CE2F628C3B1}"/>
              </a:ext>
            </a:extLst>
          </p:cNvPr>
          <p:cNvSpPr txBox="1"/>
          <p:nvPr/>
        </p:nvSpPr>
        <p:spPr>
          <a:xfrm>
            <a:off x="1245600" y="55236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Priority Queue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E884ED-3BB9-6C72-196B-6953C856A1C9}"/>
              </a:ext>
            </a:extLst>
          </p:cNvPr>
          <p:cNvSpPr txBox="1"/>
          <p:nvPr/>
        </p:nvSpPr>
        <p:spPr>
          <a:xfrm>
            <a:off x="4458000" y="55236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Insert(element, priority);  Peek();  </a:t>
            </a:r>
            <a:r>
              <a:rPr lang="en-US" dirty="0" err="1">
                <a:solidFill>
                  <a:schemeClr val="bg1"/>
                </a:solidFill>
              </a:rPr>
              <a:t>deleteMin</a:t>
            </a:r>
            <a:r>
              <a:rPr lang="en-US" dirty="0">
                <a:solidFill>
                  <a:schemeClr val="bg1"/>
                </a:solidFill>
              </a:rPr>
              <a:t>() …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D1E393-486C-7492-FA84-2AF399270D56}"/>
              </a:ext>
            </a:extLst>
          </p:cNvPr>
          <p:cNvSpPr txBox="1"/>
          <p:nvPr/>
        </p:nvSpPr>
        <p:spPr>
          <a:xfrm>
            <a:off x="1245600" y="3748800"/>
            <a:ext cx="2728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Stacks / Queues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1A5F45-8D0B-EF7C-D82E-79C9FCD501A0}"/>
              </a:ext>
            </a:extLst>
          </p:cNvPr>
          <p:cNvSpPr txBox="1"/>
          <p:nvPr/>
        </p:nvSpPr>
        <p:spPr>
          <a:xfrm>
            <a:off x="4458000" y="3748800"/>
            <a:ext cx="6694800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Enqueue / Push;  Dequeue / Pop;  Peek</a:t>
            </a:r>
          </a:p>
        </p:txBody>
      </p:sp>
    </p:spTree>
    <p:extLst>
      <p:ext uri="{BB962C8B-B14F-4D97-AF65-F5344CB8AC3E}">
        <p14:creationId xmlns:p14="http://schemas.microsoft.com/office/powerpoint/2010/main" val="11446628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39359</TotalTime>
  <Words>1996</Words>
  <Application>Microsoft Macintosh PowerPoint</Application>
  <PresentationFormat>Widescreen</PresentationFormat>
  <Paragraphs>361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MS PGothic</vt:lpstr>
      <vt:lpstr>Arial</vt:lpstr>
      <vt:lpstr>Calibri</vt:lpstr>
      <vt:lpstr>Cambria Math</vt:lpstr>
      <vt:lpstr>Tahoma</vt:lpstr>
      <vt:lpstr>Times New Roman</vt:lpstr>
      <vt:lpstr>Tw Cen MT</vt:lpstr>
      <vt:lpstr>Circuit</vt:lpstr>
      <vt:lpstr>Data Structures and Algorithms 2  Lecture 2: Review, Reminders, Practice!</vt:lpstr>
      <vt:lpstr>Announcements</vt:lpstr>
      <vt:lpstr>Data Structures and Algorithms 2  Lecture 2: Review, Reminders, Practice!</vt:lpstr>
      <vt:lpstr>Measuring Work: Reminders!</vt:lpstr>
      <vt:lpstr>Input Sizes: Reminders</vt:lpstr>
      <vt:lpstr>Asymptotic Analysis and Order Classes</vt:lpstr>
      <vt:lpstr>A graph of some example functions</vt:lpstr>
      <vt:lpstr>Remember the Big Picture?</vt:lpstr>
      <vt:lpstr>Remember the Big Picture?</vt:lpstr>
      <vt:lpstr>Remember the Big Picture?</vt:lpstr>
      <vt:lpstr>Asymptotic Bounds</vt:lpstr>
      <vt:lpstr>PowerPoint Presentation</vt:lpstr>
      <vt:lpstr>Asymptotic Notation*</vt:lpstr>
      <vt:lpstr>Asymptotic Notation Example</vt:lpstr>
      <vt:lpstr>Asymptotic Notation Example</vt:lpstr>
      <vt:lpstr>Asymptotic Notation Example</vt:lpstr>
      <vt:lpstr>Asymptotic Notation Example</vt:lpstr>
      <vt:lpstr>Proof Techniques</vt:lpstr>
      <vt:lpstr>More Asymptotic Notation</vt:lpstr>
      <vt:lpstr>More Asymptotic Notation</vt:lpstr>
      <vt:lpstr>A Way to Think about Order Classes</vt:lpstr>
      <vt:lpstr>Summary: Using Limit Definition</vt:lpstr>
      <vt:lpstr>Math Reminders</vt:lpstr>
      <vt:lpstr>Math you may need to review:</vt:lpstr>
      <vt:lpstr>If You Ever See A Series Like These…</vt:lpstr>
      <vt:lpstr>Algorithms You’ve Studied</vt:lpstr>
      <vt:lpstr>Remember Searching?</vt:lpstr>
      <vt:lpstr>Remember Searching?</vt:lpstr>
      <vt:lpstr>Remember Quadratic Sorts?</vt:lpstr>
      <vt:lpstr>Remember Mergesort?</vt:lpstr>
      <vt:lpstr>Remember Quicksort?</vt:lpstr>
      <vt:lpstr>Remember Lower Bounds Proof For Sorting?</vt:lpstr>
      <vt:lpstr>Review your Data Structure Runtimes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242</cp:revision>
  <dcterms:created xsi:type="dcterms:W3CDTF">2023-02-24T14:15:53Z</dcterms:created>
  <dcterms:modified xsi:type="dcterms:W3CDTF">2026-01-14T15:54:46Z</dcterms:modified>
</cp:coreProperties>
</file>