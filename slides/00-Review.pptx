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06" r:id="rId1"/>
  </p:sldMasterIdLst>
  <p:notesMasterIdLst>
    <p:notesMasterId r:id="rId3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21"/>
    <p:restoredTop sz="94707"/>
  </p:normalViewPr>
  <p:slideViewPr>
    <p:cSldViewPr snapToGrid="0" snapToObjects="1">
      <p:cViewPr varScale="1">
        <p:scale>
          <a:sx n="145" d="100"/>
          <a:sy n="145" d="100"/>
        </p:scale>
        <p:origin x="90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45307-6ED4-B142-BD64-10F739779302}" type="datetimeFigureOut">
              <a:rPr lang="en-US" smtClean="0"/>
              <a:t>8/26/25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BDE956-AECE-4A49-8BC2-51A8C013B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78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d7e4ee0aa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2d7e4ee0aa7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2d7e4ee0aa7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BigTheta is like = (same)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BigOh is like &lt;= (same or slower)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 items under each topic are some things related to order class that are mentioned in CLRS, but we want to point them out to students in this lecture.</a:t>
            </a:r>
            <a:endParaRPr/>
          </a:p>
        </p:txBody>
      </p:sp>
      <p:sp>
        <p:nvSpPr>
          <p:cNvPr id="261" name="Google Shape;261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8" name="Google Shape;268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Other than the first one, no one needs to memorize these!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But if they see one in a reading and are puzzled how the sum was reduced to closed form, they can refer back to this slide.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That’s what I’ll tell them.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One useful take-away about polynomial series: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sum of i^k is BigTheta(n^(k+1))</a:t>
            </a:r>
            <a:endParaRPr/>
          </a:p>
        </p:txBody>
      </p:sp>
      <p:sp>
        <p:nvSpPr>
          <p:cNvPr id="269" name="Google Shape;269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26642A91-53FC-A248-B2D7-4BDF09D835F8}" type="datetime1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44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D0B8-C0AD-9842-89E3-FC30CAC82249}" type="datetime1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400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4F455-19C7-FE40-A6B8-AD2879ED05AD}" type="datetime1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9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61B30-C700-024D-9267-361A6B7DC22C}" type="datetime1">
              <a:rPr lang="en-US" smtClean="0"/>
              <a:t>8/26/25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307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31207-3A96-3E44-8D0D-FA1D8F609C2F}" type="datetime1">
              <a:rPr lang="en-US" smtClean="0"/>
              <a:t>8/26/25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207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97E33-B691-904D-8B28-069085BA6222}" type="datetime1">
              <a:rPr lang="en-US" smtClean="0"/>
              <a:t>8/26/25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116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EDF5B-FC17-6F49-B789-6BCF71F83D72}" type="datetime1">
              <a:rPr lang="en-US" smtClean="0"/>
              <a:t>8/26/25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01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203A1-54F0-8E46-B3A2-F7E622B1934C}" type="datetime1">
              <a:rPr lang="en-US" smtClean="0"/>
              <a:t>8/26/25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03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594D6-91F2-4441-8E6C-4E0A3A8283A7}" type="datetime1">
              <a:rPr lang="en-US" smtClean="0"/>
              <a:t>8/26/25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55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A271B-B4D9-AE45-BB64-271F70A45E29}" type="datetime1">
              <a:rPr lang="en-US" smtClean="0"/>
              <a:t>8/26/25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79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86012-4C7E-B641-B60E-212967A06467}" type="datetime1">
              <a:rPr lang="en-US" smtClean="0"/>
              <a:t>8/26/25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180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69B85-F094-654D-B167-186F86221E8A}" type="datetime1">
              <a:rPr lang="en-US" smtClean="0"/>
              <a:t>8/26/25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3387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52B0B-FF8F-C941-9B61-DE6D3E8F4840}" type="datetime1">
              <a:rPr lang="en-US" smtClean="0"/>
              <a:t>8/26/25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695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3348-E7B9-894D-943F-9C2E88DBCAA9}" type="datetime1">
              <a:rPr lang="en-US" smtClean="0"/>
              <a:t>8/26/25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9669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801DC-1FED-544D-84F2-B84B35C9121A}" type="datetime1">
              <a:rPr lang="en-US" smtClean="0"/>
              <a:t>8/26/25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7445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9A012-E155-4D45-A2C6-D256744D52BE}" type="datetime1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678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3959-70FE-D548-A2F6-C563579349DC}" type="datetime1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532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4"/>
          <p:cNvSpPr txBox="1">
            <a:spLocks noGrp="1"/>
          </p:cNvSpPr>
          <p:nvPr>
            <p:ph type="ctrTitle"/>
          </p:nvPr>
        </p:nvSpPr>
        <p:spPr>
          <a:xfrm>
            <a:off x="0" y="1779371"/>
            <a:ext cx="12192000" cy="2002440"/>
          </a:xfrm>
          <a:prstGeom prst="rect">
            <a:avLst/>
          </a:prstGeom>
          <a:solidFill>
            <a:srgbClr val="E5720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4"/>
          <p:cNvSpPr txBox="1">
            <a:spLocks noGrp="1"/>
          </p:cNvSpPr>
          <p:nvPr>
            <p:ph type="subTitle" idx="1"/>
          </p:nvPr>
        </p:nvSpPr>
        <p:spPr>
          <a:xfrm>
            <a:off x="1524000" y="3980980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0855E06-9A94-624D-BFDE-0B76EC389D5F}" type="datetime1">
              <a:rPr lang="en-US" smtClean="0"/>
              <a:t>8/26/25</a:t>
            </a:fld>
            <a:endParaRPr/>
          </a:p>
        </p:txBody>
      </p:sp>
      <p:sp>
        <p:nvSpPr>
          <p:cNvPr id="19" name="Google Shape;19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9622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83C672-EABB-2F4E-850E-917D0E501BB0}" type="datetime1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601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  <p:sldLayoutId id="2147484020" r:id="rId14"/>
    <p:sldLayoutId id="2147484021" r:id="rId15"/>
    <p:sldLayoutId id="2147484022" r:id="rId16"/>
    <p:sldLayoutId id="2147484023" r:id="rId17"/>
    <p:sldLayoutId id="2147484024" r:id="rId1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ctrTitle"/>
          </p:nvPr>
        </p:nvSpPr>
        <p:spPr>
          <a:xfrm>
            <a:off x="0" y="1177839"/>
            <a:ext cx="12192000" cy="200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 dirty="0"/>
              <a:t>Data Structures and Algorithms 2</a:t>
            </a:r>
            <a:br>
              <a:rPr lang="en-US" dirty="0"/>
            </a:br>
            <a:br>
              <a:rPr lang="en-US" sz="1100" dirty="0"/>
            </a:br>
            <a:r>
              <a:rPr lang="en-US" sz="4400" dirty="0"/>
              <a:t>Lecture 2: Review, Reminders, Practice!</a:t>
            </a:r>
            <a:endParaRPr dirty="0"/>
          </a:p>
        </p:txBody>
      </p:sp>
      <p:sp>
        <p:nvSpPr>
          <p:cNvPr id="90" name="Google Shape;90;p1"/>
          <p:cNvSpPr txBox="1">
            <a:spLocks noGrp="1"/>
          </p:cNvSpPr>
          <p:nvPr>
            <p:ph type="subTitle" idx="1"/>
          </p:nvPr>
        </p:nvSpPr>
        <p:spPr>
          <a:xfrm>
            <a:off x="1524000" y="3200400"/>
            <a:ext cx="9144000" cy="28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5100" b="1" dirty="0"/>
              <a:t>Co-instructors:  Aaron Bloomfield and Mark Floryan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5100" b="1" dirty="0"/>
              <a:t>Fall 2025</a:t>
            </a:r>
            <a:endParaRPr sz="5100" b="1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/>
              <a:t>Readings in CLRS 4</a:t>
            </a:r>
            <a:r>
              <a:rPr lang="en-US" baseline="30000" dirty="0"/>
              <a:t>th</a:t>
            </a:r>
            <a:r>
              <a:rPr lang="en-US" dirty="0"/>
              <a:t> edition:</a:t>
            </a:r>
            <a:endParaRPr dirty="0"/>
          </a:p>
          <a:p>
            <a:pPr marL="342900" lvl="0" indent="-31242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dirty="0"/>
              <a:t>CLRS Chapter 2: insertion sort (if needed), book’s pseudocode conventions</a:t>
            </a:r>
            <a:endParaRPr dirty="0"/>
          </a:p>
          <a:p>
            <a:pPr marL="342900" lvl="0" indent="-31242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dirty="0"/>
              <a:t>CLRS Chapter 3: info on order-class (more than we cover in lecture), math review</a:t>
            </a:r>
            <a:endParaRPr dirty="0"/>
          </a:p>
          <a:p>
            <a:pPr marL="342900" lvl="0" indent="-31242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dirty="0"/>
              <a:t>Note: book goes into more depth than we do, and topics we don’t need.  Use it to reinforce what’s taught in lectures.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Announcements</a:t>
            </a:r>
            <a:endParaRPr/>
          </a:p>
        </p:txBody>
      </p:sp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1747157" y="1743697"/>
            <a:ext cx="8697686" cy="2897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●"/>
            </a:pPr>
            <a:r>
              <a:rPr lang="en-US" dirty="0"/>
              <a:t>PS0 (out today) due next Wednesday (Sep 3) by 11:59 pm</a:t>
            </a:r>
            <a:endParaRPr dirty="0"/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dirty="0"/>
              <a:t>It will be in Canvas’ Assignments</a:t>
            </a:r>
            <a:endParaRPr dirty="0"/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dirty="0"/>
              <a:t>PS1 out next week, due the following Wednesday</a:t>
            </a:r>
            <a:endParaRPr dirty="0"/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dirty="0"/>
              <a:t>Course textbook link is on the Canvas landing page</a:t>
            </a:r>
            <a:endParaRPr dirty="0"/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dirty="0"/>
              <a:t>TA office hours coming soon (we are targeting Sun-Thu, 5pm-9pm)</a:t>
            </a:r>
            <a:endParaRPr dirty="0"/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dirty="0"/>
              <a:t>Prof. Bloomfield office hours TBA</a:t>
            </a:r>
            <a:endParaRPr dirty="0"/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dirty="0"/>
              <a:t>Prof. Floryan office hours Wed 12:30-2 and Fri 11-1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d7e4ee0aa7_0_0"/>
          <p:cNvSpPr txBox="1">
            <a:spLocks noGrp="1"/>
          </p:cNvSpPr>
          <p:nvPr>
            <p:ph type="ctrTitle"/>
          </p:nvPr>
        </p:nvSpPr>
        <p:spPr>
          <a:xfrm>
            <a:off x="0" y="838200"/>
            <a:ext cx="12192000" cy="20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/>
              <a:t>Data Structures and Algorithms 2</a:t>
            </a:r>
            <a:br>
              <a:rPr lang="en-US"/>
            </a:br>
            <a:br>
              <a:rPr lang="en-US" sz="1100"/>
            </a:br>
            <a:r>
              <a:rPr lang="en-US" sz="4400"/>
              <a:t>Lecture 2: Review, Reminders, Practice!</a:t>
            </a:r>
            <a:endParaRPr/>
          </a:p>
        </p:txBody>
      </p:sp>
      <p:sp>
        <p:nvSpPr>
          <p:cNvPr id="104" name="Google Shape;104;g2d7e4ee0aa7_0_0"/>
          <p:cNvSpPr txBox="1">
            <a:spLocks noGrp="1"/>
          </p:cNvSpPr>
          <p:nvPr>
            <p:ph type="subTitle" idx="1"/>
          </p:nvPr>
        </p:nvSpPr>
        <p:spPr>
          <a:xfrm>
            <a:off x="1524000" y="3200400"/>
            <a:ext cx="9144000" cy="28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5100" b="1" dirty="0"/>
              <a:t>Co-instructors:  Aaron Bloomfield and Mark Floryan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5100" b="1" dirty="0"/>
              <a:t>Fall 2025</a:t>
            </a:r>
            <a:endParaRPr sz="5100" b="1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/>
              <a:t>Readings in CLRS 4</a:t>
            </a:r>
            <a:r>
              <a:rPr lang="en-US" baseline="30000" dirty="0"/>
              <a:t>th</a:t>
            </a:r>
            <a:r>
              <a:rPr lang="en-US" dirty="0"/>
              <a:t> edition:</a:t>
            </a:r>
            <a:endParaRPr dirty="0"/>
          </a:p>
          <a:p>
            <a:pPr marL="342900" lvl="0" indent="-31242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dirty="0"/>
              <a:t>CLRS Chapter 2: insertion sort (if needed), book’s pseudocode conventions</a:t>
            </a:r>
            <a:endParaRPr dirty="0"/>
          </a:p>
          <a:p>
            <a:pPr marL="342900" lvl="0" indent="-31242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dirty="0"/>
              <a:t>CLRS Chapter 3: info on order-class (more than we cover in lecture), math review</a:t>
            </a:r>
            <a:endParaRPr dirty="0"/>
          </a:p>
          <a:p>
            <a:pPr marL="342900" lvl="0" indent="-31242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dirty="0"/>
              <a:t>Note: book goes into more depth than we do, and topics we don’t need.  Use it to reinforce what’s taught in lectures.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Measuring Work: Reminders!</a:t>
            </a:r>
            <a:endParaRPr/>
          </a:p>
        </p:txBody>
      </p:sp>
      <p:sp>
        <p:nvSpPr>
          <p:cNvPr id="110" name="Google Shape;110;p3"/>
          <p:cNvSpPr txBox="1">
            <a:spLocks noGrp="1"/>
          </p:cNvSpPr>
          <p:nvPr>
            <p:ph type="body" idx="1"/>
          </p:nvPr>
        </p:nvSpPr>
        <p:spPr>
          <a:xfrm>
            <a:off x="1468483" y="1430188"/>
            <a:ext cx="9255034" cy="46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/>
              <a:t>From your earlier courses, remember…</a:t>
            </a:r>
            <a:endParaRPr dirty="0"/>
          </a:p>
          <a:p>
            <a:pPr marL="457200" lvl="0" indent="-457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Font typeface="Arial"/>
              <a:buChar char="•"/>
            </a:pPr>
            <a:r>
              <a:rPr lang="en-US" dirty="0"/>
              <a:t>We want a measure of an algorithm’s work that is</a:t>
            </a:r>
            <a:endParaRPr dirty="0"/>
          </a:p>
          <a:p>
            <a:pPr marL="1143000" lvl="1" indent="-4572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Char char="•"/>
            </a:pPr>
            <a:r>
              <a:rPr lang="en-US" dirty="0"/>
              <a:t>Independent of hardware, language, programmer, etc.</a:t>
            </a:r>
            <a:endParaRPr dirty="0"/>
          </a:p>
          <a:p>
            <a:pPr marL="1143000" lvl="1" indent="-4572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Char char="•"/>
            </a:pPr>
            <a:r>
              <a:rPr lang="en-US" dirty="0"/>
              <a:t>Doesn’t require us to implement the algorithm</a:t>
            </a:r>
            <a:endParaRPr dirty="0"/>
          </a:p>
          <a:p>
            <a:pPr marL="1143000" lvl="1" indent="-4572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Char char="•"/>
            </a:pPr>
            <a:r>
              <a:rPr lang="en-US" dirty="0"/>
              <a:t>Described in terms of input size(s)</a:t>
            </a:r>
            <a:endParaRPr dirty="0"/>
          </a:p>
          <a:p>
            <a:pPr marL="457200" lvl="0" indent="-457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Font typeface="Arial"/>
              <a:buChar char="•"/>
            </a:pPr>
            <a:r>
              <a:rPr lang="en-US" dirty="0"/>
              <a:t>We count some operation in our algorithm</a:t>
            </a:r>
            <a:endParaRPr dirty="0"/>
          </a:p>
          <a:p>
            <a:pPr marL="1143000" lvl="1" indent="-4572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Char char="•"/>
            </a:pPr>
            <a:r>
              <a:rPr lang="en-US" dirty="0"/>
              <a:t>Some “basic operation” that’s fundamental to the class of problems</a:t>
            </a:r>
            <a:endParaRPr dirty="0"/>
          </a:p>
          <a:p>
            <a:pPr marL="1143000" lvl="1" indent="-4572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Char char="•"/>
            </a:pPr>
            <a:r>
              <a:rPr lang="en-US" dirty="0"/>
              <a:t>Or, something in the innermost nested loop</a:t>
            </a:r>
            <a:endParaRPr dirty="0"/>
          </a:p>
          <a:p>
            <a:pPr marL="1143000" lvl="1" indent="-4572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Char char="•"/>
            </a:pPr>
            <a:r>
              <a:rPr lang="en-US" dirty="0"/>
              <a:t>Or sometimes, an expensive operation</a:t>
            </a:r>
            <a:endParaRPr dirty="0"/>
          </a:p>
          <a:p>
            <a:pPr marL="457200" lvl="0" indent="-457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Font typeface="Arial"/>
              <a:buChar char="•"/>
            </a:pPr>
            <a:r>
              <a:rPr lang="en-US" dirty="0"/>
              <a:t>Often “basic operation” defines a class of algorithms we’re comparing</a:t>
            </a:r>
            <a:endParaRPr dirty="0"/>
          </a:p>
          <a:p>
            <a:pPr marL="1143000" lvl="1" indent="-4572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Char char="•"/>
            </a:pPr>
            <a:r>
              <a:rPr lang="en-US" dirty="0"/>
              <a:t>For example, the sorting of keys only using key-comparisons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Input Sizes: Reminders</a:t>
            </a:r>
            <a:endParaRPr/>
          </a:p>
        </p:txBody>
      </p:sp>
      <p:sp>
        <p:nvSpPr>
          <p:cNvPr id="117" name="Google Shape;117;p4"/>
          <p:cNvSpPr txBox="1">
            <a:spLocks noGrp="1"/>
          </p:cNvSpPr>
          <p:nvPr>
            <p:ph type="body" idx="1"/>
          </p:nvPr>
        </p:nvSpPr>
        <p:spPr>
          <a:xfrm>
            <a:off x="2191294" y="1465023"/>
            <a:ext cx="7809411" cy="481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The nature of an input affects how much work we do, so….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/>
              <a:t>Worst-case W(n)</a:t>
            </a:r>
            <a:endParaRPr dirty="0"/>
          </a:p>
          <a:p>
            <a:pPr marL="114300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400"/>
              <a:buChar char="•"/>
            </a:pPr>
            <a:r>
              <a:rPr lang="en-US" dirty="0"/>
              <a:t>Maximum number of basic operations for any input of size n</a:t>
            </a:r>
            <a:endParaRPr dirty="0"/>
          </a:p>
          <a:p>
            <a:pPr marL="114300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400"/>
              <a:buChar char="•"/>
            </a:pPr>
            <a:r>
              <a:rPr lang="en-US" dirty="0"/>
              <a:t>We often need this upper-bound on performance</a:t>
            </a:r>
            <a:endParaRPr dirty="0"/>
          </a:p>
          <a:p>
            <a:pPr marL="114300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400"/>
              <a:buChar char="•"/>
            </a:pPr>
            <a:r>
              <a:rPr lang="en-US" dirty="0"/>
              <a:t>We reason about one or more </a:t>
            </a:r>
            <a:r>
              <a:rPr lang="en-US" i="1" dirty="0"/>
              <a:t>worst-case inputs</a:t>
            </a:r>
            <a:r>
              <a:rPr lang="en-US" dirty="0"/>
              <a:t> </a:t>
            </a:r>
            <a:endParaRPr i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  <a:buNone/>
            </a:pPr>
            <a:r>
              <a:rPr lang="en-US" b="1" dirty="0"/>
              <a:t>Average case A(n)</a:t>
            </a:r>
            <a:endParaRPr dirty="0"/>
          </a:p>
          <a:p>
            <a:pPr marL="114300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400"/>
              <a:buChar char="•"/>
            </a:pPr>
            <a:r>
              <a:rPr lang="en-US" dirty="0"/>
              <a:t>Harder to calculate because you need</a:t>
            </a:r>
            <a:endParaRPr dirty="0"/>
          </a:p>
          <a:p>
            <a:pPr marL="1600200" lvl="2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000"/>
              <a:buChar char="•"/>
            </a:pPr>
            <a:r>
              <a:rPr lang="en-US" dirty="0"/>
              <a:t>The amount of work </a:t>
            </a:r>
            <a:r>
              <a:rPr lang="en-US" dirty="0">
                <a:latin typeface="Tahoma"/>
                <a:ea typeface="Tahoma"/>
                <a:cs typeface="Tahoma"/>
                <a:sym typeface="Tahoma"/>
              </a:rPr>
              <a:t>T</a:t>
            </a:r>
            <a:r>
              <a:rPr lang="en-US" baseline="-25000" dirty="0">
                <a:latin typeface="Tahoma"/>
                <a:ea typeface="Tahoma"/>
                <a:cs typeface="Tahoma"/>
                <a:sym typeface="Tahoma"/>
              </a:rPr>
              <a:t>I</a:t>
            </a:r>
            <a:r>
              <a:rPr lang="en-US" dirty="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dirty="0"/>
              <a:t>for every input </a:t>
            </a:r>
            <a:r>
              <a:rPr lang="en-US" dirty="0">
                <a:latin typeface="Tahoma"/>
                <a:ea typeface="Tahoma"/>
                <a:cs typeface="Tahoma"/>
                <a:sym typeface="Tahoma"/>
              </a:rPr>
              <a:t>I, and</a:t>
            </a:r>
            <a:endParaRPr dirty="0"/>
          </a:p>
          <a:p>
            <a:pPr marL="1600200" lvl="2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000"/>
              <a:buChar char="•"/>
            </a:pPr>
            <a:r>
              <a:rPr lang="en-US" dirty="0"/>
              <a:t>The probability it occurs, </a:t>
            </a:r>
            <a:r>
              <a:rPr lang="en-US" dirty="0">
                <a:latin typeface="Tahoma"/>
                <a:ea typeface="Tahoma"/>
                <a:cs typeface="Tahoma"/>
                <a:sym typeface="Tahoma"/>
              </a:rPr>
              <a:t>P</a:t>
            </a:r>
            <a:r>
              <a:rPr lang="en-US" baseline="-25000" dirty="0">
                <a:latin typeface="Tahoma"/>
                <a:ea typeface="Tahoma"/>
                <a:cs typeface="Tahoma"/>
                <a:sym typeface="Tahoma"/>
              </a:rPr>
              <a:t>I</a:t>
            </a:r>
            <a:r>
              <a:rPr lang="en-US" dirty="0"/>
              <a:t>  (Do we know? Can we assume?)</a:t>
            </a:r>
            <a:endParaRPr dirty="0"/>
          </a:p>
          <a:p>
            <a:pPr marL="1600200" lvl="2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000"/>
              <a:buChar char="•"/>
            </a:pPr>
            <a:r>
              <a:rPr lang="en-US" dirty="0"/>
              <a:t>A(n) = </a:t>
            </a:r>
            <a:r>
              <a:rPr lang="en-US" sz="2800" dirty="0" err="1"/>
              <a:t>Σ</a:t>
            </a:r>
            <a:r>
              <a:rPr lang="en-US" dirty="0"/>
              <a:t> </a:t>
            </a:r>
            <a:r>
              <a:rPr lang="en-US" dirty="0">
                <a:latin typeface="Tahoma"/>
                <a:ea typeface="Tahoma"/>
                <a:cs typeface="Tahoma"/>
                <a:sym typeface="Tahoma"/>
              </a:rPr>
              <a:t>T</a:t>
            </a:r>
            <a:r>
              <a:rPr lang="en-US" baseline="-25000" dirty="0">
                <a:latin typeface="Tahoma"/>
                <a:ea typeface="Tahoma"/>
                <a:cs typeface="Tahoma"/>
                <a:sym typeface="Tahoma"/>
              </a:rPr>
              <a:t>I</a:t>
            </a:r>
            <a:r>
              <a:rPr lang="en-US" dirty="0">
                <a:latin typeface="Tahoma"/>
                <a:ea typeface="Tahoma"/>
                <a:cs typeface="Tahoma"/>
                <a:sym typeface="Tahoma"/>
              </a:rPr>
              <a:t> P</a:t>
            </a:r>
            <a:r>
              <a:rPr lang="en-US" baseline="-25000" dirty="0">
                <a:latin typeface="Tahoma"/>
                <a:ea typeface="Tahoma"/>
                <a:cs typeface="Tahoma"/>
                <a:sym typeface="Tahoma"/>
              </a:rPr>
              <a:t>I</a:t>
            </a:r>
            <a:endParaRPr dirty="0"/>
          </a:p>
          <a:p>
            <a:pPr marL="114300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400"/>
              <a:buChar char="•"/>
            </a:pPr>
            <a:r>
              <a:rPr lang="en-US" dirty="0"/>
              <a:t>We probably won’t do this kind of calculation in CS3100. But sometimes we may talk about </a:t>
            </a:r>
            <a:r>
              <a:rPr lang="en-US" i="1" dirty="0"/>
              <a:t>average</a:t>
            </a:r>
            <a:r>
              <a:rPr lang="en-US" dirty="0"/>
              <a:t> or </a:t>
            </a:r>
            <a:r>
              <a:rPr lang="en-US" i="1" dirty="0"/>
              <a:t>expected</a:t>
            </a:r>
            <a:r>
              <a:rPr lang="en-US" dirty="0"/>
              <a:t> complexity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Input Sizes: Reminders</a:t>
            </a:r>
            <a:endParaRPr/>
          </a:p>
        </p:txBody>
      </p:sp>
      <p:sp>
        <p:nvSpPr>
          <p:cNvPr id="124" name="Google Shape;124;p5"/>
          <p:cNvSpPr txBox="1">
            <a:spLocks noGrp="1"/>
          </p:cNvSpPr>
          <p:nvPr>
            <p:ph type="body" idx="1"/>
          </p:nvPr>
        </p:nvSpPr>
        <p:spPr>
          <a:xfrm>
            <a:off x="2752997" y="2307770"/>
            <a:ext cx="6686006" cy="2463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Quick Example – Hash Tables (search, insert, delete).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/>
              <a:t>Worst-case W(n)</a:t>
            </a:r>
            <a:endParaRPr b="1" dirty="0"/>
          </a:p>
          <a:p>
            <a:pPr marL="6858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 </a:t>
            </a:r>
            <a:endParaRPr i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/>
              <a:t>Average case A(n) </a:t>
            </a:r>
            <a:endParaRPr b="1" dirty="0"/>
          </a:p>
          <a:p>
            <a:pPr marL="114300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114300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35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/>
              <a:t>Analyzing Algorithms </a:t>
            </a:r>
            <a:r>
              <a:rPr lang="en-US" sz="4000" u="sng"/>
              <a:t>and Problems</a:t>
            </a:r>
            <a:endParaRPr/>
          </a:p>
        </p:txBody>
      </p:sp>
      <p:sp>
        <p:nvSpPr>
          <p:cNvPr id="131" name="Google Shape;131;p6"/>
          <p:cNvSpPr txBox="1">
            <a:spLocks noGrp="1"/>
          </p:cNvSpPr>
          <p:nvPr>
            <p:ph type="body" idx="1"/>
          </p:nvPr>
        </p:nvSpPr>
        <p:spPr>
          <a:xfrm>
            <a:off x="838200" y="1543400"/>
            <a:ext cx="10515600" cy="47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200" dirty="0"/>
              <a:t>Sometimes we talk about </a:t>
            </a:r>
            <a:r>
              <a:rPr lang="en-US" sz="3200" b="1" dirty="0"/>
              <a:t>problems </a:t>
            </a:r>
            <a:r>
              <a:rPr lang="en-US" sz="3200" dirty="0"/>
              <a:t>and their properties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Font typeface="Arial"/>
              <a:buChar char="•"/>
            </a:pPr>
            <a:r>
              <a:rPr lang="en-US" sz="3200" dirty="0"/>
              <a:t>Feasible or tractable problems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Font typeface="Arial"/>
              <a:buChar char="•"/>
            </a:pPr>
            <a:r>
              <a:rPr lang="en-US" sz="3200" dirty="0"/>
              <a:t>Intractable problems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Char char="•"/>
            </a:pPr>
            <a:r>
              <a:rPr lang="en-US" sz="3200" dirty="0"/>
              <a:t>Problems that seem to need exponential time complexity, </a:t>
            </a:r>
            <a:r>
              <a:rPr lang="en-US" sz="3200" dirty="0" err="1"/>
              <a:t>Θ</a:t>
            </a:r>
            <a:r>
              <a:rPr lang="en-US" sz="3200" dirty="0"/>
              <a:t>(</a:t>
            </a:r>
            <a:r>
              <a:rPr lang="en-US" sz="3200" dirty="0" err="1"/>
              <a:t>k</a:t>
            </a:r>
            <a:r>
              <a:rPr lang="en-US" sz="3200" baseline="30000" dirty="0" err="1"/>
              <a:t>n</a:t>
            </a:r>
            <a:r>
              <a:rPr lang="en-US" sz="3200" dirty="0"/>
              <a:t>) where k is a constant &gt; 1.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Char char="•"/>
            </a:pPr>
            <a:r>
              <a:rPr lang="en-US" sz="3200" dirty="0"/>
              <a:t>Examples: the classes of NP-hard problems, NP-Complete problems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Font typeface="Arial"/>
              <a:buChar char="•"/>
            </a:pPr>
            <a:r>
              <a:rPr lang="en-US" sz="3200" dirty="0"/>
              <a:t>Unsolvable problems (e.g. the Halting Problem)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Font typeface="Arial"/>
              <a:buChar char="•"/>
            </a:pPr>
            <a:r>
              <a:rPr lang="en-US" sz="3200" b="1" dirty="0"/>
              <a:t>Lower bound </a:t>
            </a:r>
            <a:r>
              <a:rPr lang="en-US" sz="3200" dirty="0"/>
              <a:t>for the number of operations needed to solve a problem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Char char="•"/>
            </a:pPr>
            <a:r>
              <a:rPr lang="en-US" sz="2800" dirty="0"/>
              <a:t>In other words, can we prove that it’s </a:t>
            </a:r>
            <a:r>
              <a:rPr lang="en-US" sz="2800" b="1" dirty="0"/>
              <a:t>impossible for </a:t>
            </a:r>
            <a:r>
              <a:rPr lang="en-US" sz="2800" b="1" u="sng" dirty="0"/>
              <a:t>any</a:t>
            </a:r>
            <a:r>
              <a:rPr lang="en-US" sz="2800" b="1" dirty="0"/>
              <a:t> algorithm </a:t>
            </a:r>
            <a:r>
              <a:rPr lang="en-US" sz="2800" dirty="0"/>
              <a:t>to solve this problem in fewer than some number of operations?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3200" dirty="0"/>
          </a:p>
          <a:p>
            <a:pPr marL="1143000" lvl="2" indent="-11112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685800" lvl="1" indent="-8763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 txBox="1">
            <a:spLocks noGrp="1"/>
          </p:cNvSpPr>
          <p:nvPr>
            <p:ph type="title"/>
          </p:nvPr>
        </p:nvSpPr>
        <p:spPr>
          <a:xfrm>
            <a:off x="0" y="3064476"/>
            <a:ext cx="12192000" cy="1778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 dirty="0"/>
              <a:t>Asymptotic Analysis and Order Classes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A graph of some example functions</a:t>
            </a:r>
            <a:endParaRPr/>
          </a:p>
        </p:txBody>
      </p:sp>
      <p:pic>
        <p:nvPicPr>
          <p:cNvPr id="145" name="Google Shape;145;p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511731" y="1354667"/>
            <a:ext cx="4970145" cy="497014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8"/>
          <p:cNvSpPr txBox="1"/>
          <p:nvPr/>
        </p:nvSpPr>
        <p:spPr>
          <a:xfrm>
            <a:off x="73152" y="6547218"/>
            <a:ext cx="9756648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1" u="none" strike="noStrike" cap="non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Image: https://upload.wikimedia.org/wikipedia/commons/thumb/7/7e/Comparison_computational_complexity.svg/330px-Comparison_computational_complexity.svg.png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Remember the Big Picture?</a:t>
            </a:r>
            <a:endParaRPr/>
          </a:p>
        </p:txBody>
      </p:sp>
      <p:sp>
        <p:nvSpPr>
          <p:cNvPr id="152" name="Google Shape;152;p9"/>
          <p:cNvSpPr txBox="1">
            <a:spLocks noGrp="1"/>
          </p:cNvSpPr>
          <p:nvPr>
            <p:ph type="body" idx="1"/>
          </p:nvPr>
        </p:nvSpPr>
        <p:spPr>
          <a:xfrm>
            <a:off x="838200" y="1543400"/>
            <a:ext cx="10515600" cy="4609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/>
              <a:t>We use </a:t>
            </a:r>
            <a:r>
              <a:rPr lang="en-US" b="1" dirty="0"/>
              <a:t>order classes </a:t>
            </a:r>
            <a:r>
              <a:rPr lang="en-US" dirty="0"/>
              <a:t>to categorize an algorithm’s complexity.  Examples: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Font typeface="Arial"/>
              <a:buChar char="•"/>
            </a:pPr>
            <a:r>
              <a:rPr lang="en-US" dirty="0"/>
              <a:t>Insertion sort is </a:t>
            </a:r>
            <a:r>
              <a:rPr lang="en-US" sz="2800" dirty="0" err="1"/>
              <a:t>Θ</a:t>
            </a:r>
            <a:r>
              <a:rPr lang="en-US" sz="2800" dirty="0"/>
              <a:t>(n</a:t>
            </a:r>
            <a:r>
              <a:rPr lang="en-US" baseline="30000" dirty="0"/>
              <a:t>2</a:t>
            </a:r>
            <a:r>
              <a:rPr lang="en-US" sz="2800" dirty="0"/>
              <a:t>) in the worst-case, but it’s </a:t>
            </a:r>
            <a:r>
              <a:rPr lang="en-US" sz="2800" dirty="0" err="1"/>
              <a:t>Θ</a:t>
            </a:r>
            <a:r>
              <a:rPr lang="en-US" sz="2800" dirty="0"/>
              <a:t>(n) </a:t>
            </a:r>
            <a:r>
              <a:rPr lang="en-US" dirty="0"/>
              <a:t>in the best-case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Font typeface="Arial"/>
              <a:buChar char="•"/>
            </a:pPr>
            <a:r>
              <a:rPr lang="en-US" dirty="0"/>
              <a:t>Quicksort is </a:t>
            </a:r>
            <a:r>
              <a:rPr lang="en-US" sz="2800" dirty="0" err="1"/>
              <a:t>Θ</a:t>
            </a:r>
            <a:r>
              <a:rPr lang="en-US" sz="2800" dirty="0"/>
              <a:t>(n</a:t>
            </a:r>
            <a:r>
              <a:rPr lang="en-US" baseline="30000" dirty="0"/>
              <a:t>2</a:t>
            </a:r>
            <a:r>
              <a:rPr lang="en-US" sz="2800" dirty="0"/>
              <a:t>) in the worst-case, but </a:t>
            </a:r>
            <a:r>
              <a:rPr lang="en-US" sz="2800" dirty="0" err="1"/>
              <a:t>m</a:t>
            </a:r>
            <a:r>
              <a:rPr lang="en-US" dirty="0" err="1"/>
              <a:t>ergesort</a:t>
            </a:r>
            <a:r>
              <a:rPr lang="en-US" dirty="0"/>
              <a:t> is </a:t>
            </a:r>
            <a:r>
              <a:rPr lang="en-US" sz="2800" dirty="0" err="1"/>
              <a:t>Θ</a:t>
            </a:r>
            <a:r>
              <a:rPr lang="en-US" sz="2800" dirty="0"/>
              <a:t>(n log n) in the worst-case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Font typeface="Arial"/>
              <a:buChar char="•"/>
            </a:pPr>
            <a:r>
              <a:rPr lang="en-US" dirty="0"/>
              <a:t>Searching a balanced search tree is </a:t>
            </a:r>
            <a:r>
              <a:rPr lang="en-US" sz="2800" dirty="0" err="1"/>
              <a:t>Θ</a:t>
            </a:r>
            <a:r>
              <a:rPr lang="en-US" sz="2800" dirty="0"/>
              <a:t>(log n) in the worst-case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None/>
            </a:pPr>
            <a:r>
              <a:rPr lang="en-US" dirty="0"/>
              <a:t>An order-class like </a:t>
            </a:r>
            <a:r>
              <a:rPr lang="en-US" sz="2800" dirty="0" err="1"/>
              <a:t>Θ</a:t>
            </a:r>
            <a:r>
              <a:rPr lang="en-US" sz="2800" dirty="0"/>
              <a:t>(n</a:t>
            </a:r>
            <a:r>
              <a:rPr lang="en-US" baseline="30000" dirty="0"/>
              <a:t>2</a:t>
            </a:r>
            <a:r>
              <a:rPr lang="en-US" sz="2800" dirty="0"/>
              <a:t>) is a set of functions that grow at the same rate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Font typeface="Arial"/>
              <a:buChar char="•"/>
            </a:pPr>
            <a:r>
              <a:rPr lang="en-US" dirty="0"/>
              <a:t>Why is this a useful “label” to identify an algorithm’s complexity?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Font typeface="Arial"/>
              <a:buChar char="•"/>
            </a:pPr>
            <a:r>
              <a:rPr lang="en-US" dirty="0"/>
              <a:t>An analogy: Travel time – about how long does it take me to get from one location to another by car (minutes vs. hours vs. days)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Font typeface="Arial"/>
              <a:buChar char="•"/>
            </a:pPr>
            <a:r>
              <a:rPr lang="en-US" dirty="0"/>
              <a:t>In studying algorithms, being “equivalent” is about </a:t>
            </a:r>
            <a:r>
              <a:rPr lang="en-US" b="1" dirty="0"/>
              <a:t>asymptotic growth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Asymptotic Bounds</a:t>
            </a:r>
            <a:endParaRPr/>
          </a:p>
        </p:txBody>
      </p:sp>
      <p:sp>
        <p:nvSpPr>
          <p:cNvPr id="159" name="Google Shape;159;p10"/>
          <p:cNvSpPr txBox="1">
            <a:spLocks noGrp="1"/>
          </p:cNvSpPr>
          <p:nvPr>
            <p:ph type="body" idx="1"/>
          </p:nvPr>
        </p:nvSpPr>
        <p:spPr>
          <a:xfrm>
            <a:off x="1655717" y="1398210"/>
            <a:ext cx="8880566" cy="4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200" dirty="0"/>
              <a:t>The sets “big oh” O(g), “big theta” </a:t>
            </a:r>
            <a:r>
              <a:rPr lang="en-US" sz="3200" dirty="0" err="1"/>
              <a:t>Θ</a:t>
            </a:r>
            <a:r>
              <a:rPr lang="en-US" sz="3200" dirty="0"/>
              <a:t>(g), “big omega” </a:t>
            </a:r>
            <a:r>
              <a:rPr lang="en-US" sz="3200" dirty="0" err="1"/>
              <a:t>Ω</a:t>
            </a:r>
            <a:r>
              <a:rPr lang="en-US" sz="3200" dirty="0"/>
              <a:t>(g) – </a:t>
            </a:r>
            <a:r>
              <a:rPr lang="en-US" sz="3200" b="1" dirty="0"/>
              <a:t>Remember these meanings!</a:t>
            </a:r>
            <a:br>
              <a:rPr lang="en-US" dirty="0"/>
            </a:b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Char char="•"/>
            </a:pPr>
            <a:r>
              <a:rPr lang="en-US" sz="3200" dirty="0"/>
              <a:t>O(g): set of all functions that grow </a:t>
            </a:r>
            <a:r>
              <a:rPr lang="en-US" sz="3200" b="1" u="sng" dirty="0"/>
              <a:t>no faster</a:t>
            </a:r>
            <a:r>
              <a:rPr lang="en-US" sz="3200" u="sng" dirty="0"/>
              <a:t> </a:t>
            </a:r>
            <a:r>
              <a:rPr lang="en-US" sz="3200" dirty="0"/>
              <a:t>than g,</a:t>
            </a:r>
            <a:br>
              <a:rPr lang="en-US" sz="3200" dirty="0"/>
            </a:br>
            <a:r>
              <a:rPr lang="en-US" sz="3200" dirty="0"/>
              <a:t>or </a:t>
            </a:r>
            <a:r>
              <a:rPr lang="en-US" sz="3200" b="1" dirty="0">
                <a:solidFill>
                  <a:schemeClr val="accent3"/>
                </a:solidFill>
              </a:rPr>
              <a:t>g is an asymptotic upper bound</a:t>
            </a:r>
            <a:endParaRPr dirty="0">
              <a:solidFill>
                <a:schemeClr val="accent3"/>
              </a:solidFill>
            </a:endParaRPr>
          </a:p>
          <a:p>
            <a:pPr marL="685800" lvl="1" indent="-5588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None/>
            </a:pPr>
            <a:endParaRPr sz="3200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Char char="•"/>
            </a:pPr>
            <a:r>
              <a:rPr lang="en-US" sz="3200" dirty="0" err="1"/>
              <a:t>Ω</a:t>
            </a:r>
            <a:r>
              <a:rPr lang="en-US" sz="3200" dirty="0"/>
              <a:t>(g): set of all functions that grow </a:t>
            </a:r>
            <a:r>
              <a:rPr lang="en-US" sz="3200" b="1" u="sng" dirty="0"/>
              <a:t>at least as fast</a:t>
            </a:r>
            <a:r>
              <a:rPr lang="en-US" sz="3200" u="sng" dirty="0"/>
              <a:t> </a:t>
            </a:r>
            <a:r>
              <a:rPr lang="en-US" sz="3200" dirty="0"/>
              <a:t>as g,</a:t>
            </a:r>
            <a:br>
              <a:rPr lang="en-US" sz="3200" dirty="0"/>
            </a:br>
            <a:r>
              <a:rPr lang="en-US" sz="3200" dirty="0"/>
              <a:t>or </a:t>
            </a:r>
            <a:r>
              <a:rPr lang="en-US" sz="3200" b="1" dirty="0">
                <a:solidFill>
                  <a:schemeClr val="accent3"/>
                </a:solidFill>
              </a:rPr>
              <a:t>g is an asymptotic lower bound</a:t>
            </a:r>
            <a:endParaRPr dirty="0">
              <a:solidFill>
                <a:schemeClr val="accent3"/>
              </a:solidFill>
            </a:endParaRPr>
          </a:p>
          <a:p>
            <a:pPr marL="685800" lvl="1" indent="-5588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None/>
            </a:pPr>
            <a:endParaRPr sz="3200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Char char="•"/>
            </a:pPr>
            <a:r>
              <a:rPr lang="en-US" sz="3200" dirty="0" err="1"/>
              <a:t>Θ</a:t>
            </a:r>
            <a:r>
              <a:rPr lang="en-US" sz="3200" dirty="0"/>
              <a:t>(g): set of all functions that grow </a:t>
            </a:r>
            <a:r>
              <a:rPr lang="en-US" sz="3200" b="1" u="sng" dirty="0"/>
              <a:t>at the same rate</a:t>
            </a:r>
            <a:r>
              <a:rPr lang="en-US" sz="3200" u="sng" dirty="0"/>
              <a:t> </a:t>
            </a:r>
            <a:r>
              <a:rPr lang="en-US" sz="3200" dirty="0"/>
              <a:t>as g,</a:t>
            </a:r>
            <a:br>
              <a:rPr lang="en-US" sz="3200" dirty="0"/>
            </a:br>
            <a:r>
              <a:rPr lang="en-US" sz="3200" dirty="0"/>
              <a:t>or </a:t>
            </a:r>
            <a:r>
              <a:rPr lang="en-US" sz="3200" b="1" dirty="0">
                <a:solidFill>
                  <a:schemeClr val="accent3"/>
                </a:solidFill>
              </a:rPr>
              <a:t>g is an asymptotic tight bound</a:t>
            </a:r>
            <a:endParaRPr dirty="0">
              <a:solidFill>
                <a:schemeClr val="accent3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None/>
            </a:pPr>
            <a:endParaRPr sz="36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200" dirty="0"/>
              <a:t>We’ll see two mathematical ways to show some f(n) belongs to one of these sets</a:t>
            </a:r>
            <a:endParaRPr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1"/>
          <p:cNvPicPr preferRelativeResize="0"/>
          <p:nvPr/>
        </p:nvPicPr>
        <p:blipFill rotWithShape="1">
          <a:blip r:embed="rId3">
            <a:alphaModFix/>
          </a:blip>
          <a:srcRect r="25990"/>
          <a:stretch/>
        </p:blipFill>
        <p:spPr>
          <a:xfrm>
            <a:off x="1773356" y="696685"/>
            <a:ext cx="5798836" cy="4751356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1"/>
          <p:cNvSpPr txBox="1"/>
          <p:nvPr/>
        </p:nvSpPr>
        <p:spPr>
          <a:xfrm>
            <a:off x="2619103" y="5771770"/>
            <a:ext cx="6953794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Again, we’ll see two mathematical approaches to show some f(n) belongs to one of these sets</a:t>
            </a:r>
            <a:endParaRPr sz="2800" dirty="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168;p11">
                <a:extLst>
                  <a:ext uri="{FF2B5EF4-FFF2-40B4-BE49-F238E27FC236}">
                    <a16:creationId xmlns:a16="http://schemas.microsoft.com/office/drawing/2014/main" id="{9864D8E9-DAA0-7896-6DBD-34D1EB71CF98}"/>
                  </a:ext>
                </a:extLst>
              </p:cNvPr>
              <p:cNvSpPr txBox="1"/>
              <p:nvPr/>
            </p:nvSpPr>
            <p:spPr>
              <a:xfrm>
                <a:off x="7692930" y="2061421"/>
                <a:ext cx="3254829" cy="523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  <a:sym typeface="Calibri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  <a:sym typeface="Calibri"/>
                            </a:rPr>
                            <m:t>𝑛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𝑂</m:t>
                      </m:r>
                      <m:r>
                        <a:rPr lang="en-US" sz="28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(</m:t>
                      </m:r>
                      <m:r>
                        <a:rPr lang="en-US" sz="28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𝑔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  <a:sym typeface="Calibri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  <a:sym typeface="Calibri"/>
                            </a:rPr>
                            <m:t>𝑛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)</m:t>
                      </m:r>
                    </m:oMath>
                  </m:oMathPara>
                </a14:m>
                <a:endParaRPr sz="2800" dirty="0">
                  <a:solidFill>
                    <a:schemeClr val="tx1">
                      <a:lumMod val="95000"/>
                    </a:schemeClr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 xmlns="">
          <p:sp>
            <p:nvSpPr>
              <p:cNvPr id="2" name="Google Shape;168;p11">
                <a:extLst>
                  <a:ext uri="{FF2B5EF4-FFF2-40B4-BE49-F238E27FC236}">
                    <a16:creationId xmlns:a16="http://schemas.microsoft.com/office/drawing/2014/main" id="{9864D8E9-DAA0-7896-6DBD-34D1EB71CF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2930" y="2061421"/>
                <a:ext cx="3254829" cy="523180"/>
              </a:xfrm>
              <a:prstGeom prst="rect">
                <a:avLst/>
              </a:prstGeom>
              <a:blipFill>
                <a:blip r:embed="rId4"/>
                <a:stretch>
                  <a:fillRect b="-1904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168;p11">
                <a:extLst>
                  <a:ext uri="{FF2B5EF4-FFF2-40B4-BE49-F238E27FC236}">
                    <a16:creationId xmlns:a16="http://schemas.microsoft.com/office/drawing/2014/main" id="{6FF17B58-EE7D-1948-F0FD-828D63FEA000}"/>
                  </a:ext>
                </a:extLst>
              </p:cNvPr>
              <p:cNvSpPr txBox="1"/>
              <p:nvPr/>
            </p:nvSpPr>
            <p:spPr>
              <a:xfrm>
                <a:off x="7668556" y="2787240"/>
                <a:ext cx="3254829" cy="523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  <a:sym typeface="Calibri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  <a:sym typeface="Calibri"/>
                            </a:rPr>
                            <m:t>𝑛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Θ</m:t>
                      </m:r>
                      <m:r>
                        <a:rPr lang="en-US" sz="28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(</m:t>
                      </m:r>
                      <m:r>
                        <a:rPr lang="en-US" sz="28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𝑔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  <a:sym typeface="Calibri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  <a:sym typeface="Calibri"/>
                            </a:rPr>
                            <m:t>𝑛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)</m:t>
                      </m:r>
                    </m:oMath>
                  </m:oMathPara>
                </a14:m>
                <a:endParaRPr sz="2800" dirty="0">
                  <a:solidFill>
                    <a:schemeClr val="tx1">
                      <a:lumMod val="95000"/>
                    </a:schemeClr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 xmlns="">
          <p:sp>
            <p:nvSpPr>
              <p:cNvPr id="3" name="Google Shape;168;p11">
                <a:extLst>
                  <a:ext uri="{FF2B5EF4-FFF2-40B4-BE49-F238E27FC236}">
                    <a16:creationId xmlns:a16="http://schemas.microsoft.com/office/drawing/2014/main" id="{6FF17B58-EE7D-1948-F0FD-828D63FEA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8556" y="2787240"/>
                <a:ext cx="3254829" cy="523180"/>
              </a:xfrm>
              <a:prstGeom prst="rect">
                <a:avLst/>
              </a:prstGeom>
              <a:blipFill>
                <a:blip r:embed="rId5"/>
                <a:stretch>
                  <a:fillRect b="-1904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168;p11">
                <a:extLst>
                  <a:ext uri="{FF2B5EF4-FFF2-40B4-BE49-F238E27FC236}">
                    <a16:creationId xmlns:a16="http://schemas.microsoft.com/office/drawing/2014/main" id="{9226CA14-DB60-C4C0-029E-776111922F0C}"/>
                  </a:ext>
                </a:extLst>
              </p:cNvPr>
              <p:cNvSpPr txBox="1"/>
              <p:nvPr/>
            </p:nvSpPr>
            <p:spPr>
              <a:xfrm>
                <a:off x="7668555" y="3513059"/>
                <a:ext cx="3254829" cy="523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  <a:sym typeface="Calibri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  <a:sym typeface="Calibri"/>
                            </a:rPr>
                            <m:t>𝑛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Ω</m:t>
                      </m:r>
                      <m:r>
                        <a:rPr lang="en-US" sz="28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(</m:t>
                      </m:r>
                      <m:r>
                        <a:rPr lang="en-US" sz="28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𝑔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  <a:sym typeface="Calibri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  <a:sym typeface="Calibri"/>
                            </a:rPr>
                            <m:t>𝑛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)</m:t>
                      </m:r>
                    </m:oMath>
                  </m:oMathPara>
                </a14:m>
                <a:endParaRPr sz="2800" dirty="0">
                  <a:solidFill>
                    <a:schemeClr val="tx1">
                      <a:lumMod val="95000"/>
                    </a:schemeClr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 xmlns="">
          <p:sp>
            <p:nvSpPr>
              <p:cNvPr id="4" name="Google Shape;168;p11">
                <a:extLst>
                  <a:ext uri="{FF2B5EF4-FFF2-40B4-BE49-F238E27FC236}">
                    <a16:creationId xmlns:a16="http://schemas.microsoft.com/office/drawing/2014/main" id="{9226CA14-DB60-C4C0-029E-776111922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8555" y="3513059"/>
                <a:ext cx="3254829" cy="523180"/>
              </a:xfrm>
              <a:prstGeom prst="rect">
                <a:avLst/>
              </a:prstGeom>
              <a:blipFill>
                <a:blip r:embed="rId6"/>
                <a:stretch>
                  <a:fillRect b="-1904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 dirty="0"/>
              <a:t>Asymptotic Notation*</a:t>
            </a:r>
            <a:endParaRPr dirty="0"/>
          </a:p>
        </p:txBody>
      </p:sp>
      <p:sp>
        <p:nvSpPr>
          <p:cNvPr id="175" name="Google Shape;175;p12"/>
          <p:cNvSpPr txBox="1"/>
          <p:nvPr/>
        </p:nvSpPr>
        <p:spPr>
          <a:xfrm>
            <a:off x="7924800" y="6488668"/>
            <a:ext cx="2743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*CLRS Chapter 3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159;p10">
                <a:extLst>
                  <a:ext uri="{FF2B5EF4-FFF2-40B4-BE49-F238E27FC236}">
                    <a16:creationId xmlns:a16="http://schemas.microsoft.com/office/drawing/2014/main" id="{EAE80E04-9C6A-E792-E457-7260668E467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99605" y="1262892"/>
                <a:ext cx="10426337" cy="53207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vert="horz" wrap="square" lIns="91425" tIns="45700" rIns="91425" bIns="45700" rtlCol="0" anchor="t" anchorCtr="0"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Clr>
                    <a:schemeClr val="dk1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US" sz="3200" dirty="0"/>
                  <a:t>Here’s our first way to mathematically define these order classes</a:t>
                </a:r>
              </a:p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Clr>
                    <a:schemeClr val="dk1"/>
                  </a:buClr>
                  <a:buSzPct val="100000"/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32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32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>
                  <a:solidFill>
                    <a:schemeClr val="accent3"/>
                  </a:solidFill>
                </a:endParaRPr>
              </a:p>
              <a:p>
                <a:pPr lvl="1">
                  <a:lnSpc>
                    <a:spcPct val="90000"/>
                  </a:lnSpc>
                  <a:spcBef>
                    <a:spcPts val="0"/>
                  </a:spcBef>
                  <a:buClr>
                    <a:schemeClr val="tx1">
                      <a:lumMod val="95000"/>
                    </a:schemeClr>
                  </a:buClr>
                  <a:buSzPct val="100000"/>
                  <a:buFontTx/>
                  <a:buChar char="-"/>
                </a:pPr>
                <a:r>
                  <a:rPr lang="en-US" sz="2800" b="1" dirty="0"/>
                  <a:t>At most </a:t>
                </a:r>
                <a:r>
                  <a:rPr lang="en-US" sz="2800" dirty="0"/>
                  <a:t>within a constant of g for large n</a:t>
                </a:r>
              </a:p>
              <a:p>
                <a:pPr lvl="1">
                  <a:lnSpc>
                    <a:spcPct val="90000"/>
                  </a:lnSpc>
                  <a:spcBef>
                    <a:spcPts val="0"/>
                  </a:spcBef>
                  <a:buClr>
                    <a:schemeClr val="tx1">
                      <a:lumMod val="95000"/>
                    </a:schemeClr>
                  </a:buClr>
                  <a:buSzPct val="100000"/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for some constant c and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800" dirty="0"/>
              </a:p>
              <a:p>
                <a:pPr lvl="1">
                  <a:lnSpc>
                    <a:spcPct val="90000"/>
                  </a:lnSpc>
                  <a:spcBef>
                    <a:spcPts val="0"/>
                  </a:spcBef>
                  <a:buClr>
                    <a:schemeClr val="tx1">
                      <a:lumMod val="95000"/>
                    </a:schemeClr>
                  </a:buClr>
                  <a:buSzPct val="100000"/>
                  <a:buFontTx/>
                  <a:buChar char="-"/>
                </a:pPr>
                <a:r>
                  <a:rPr lang="en-US" sz="2800" dirty="0"/>
                  <a:t>Set of functions that grow ”in the same way” as or more slowly than g(n)</a:t>
                </a:r>
              </a:p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Clr>
                    <a:schemeClr val="dk1"/>
                  </a:buClr>
                  <a:buSzPct val="10000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200" b="0" i="0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sz="32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3200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32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>
                  <a:solidFill>
                    <a:schemeClr val="accent3"/>
                  </a:solidFill>
                </a:endParaRPr>
              </a:p>
              <a:p>
                <a:pPr lvl="1">
                  <a:lnSpc>
                    <a:spcPct val="90000"/>
                  </a:lnSpc>
                  <a:spcBef>
                    <a:spcPts val="0"/>
                  </a:spcBef>
                  <a:buClr>
                    <a:schemeClr val="tx1">
                      <a:lumMod val="95000"/>
                    </a:schemeClr>
                  </a:buClr>
                  <a:buSzPct val="100000"/>
                  <a:buFontTx/>
                  <a:buChar char="-"/>
                </a:pPr>
                <a:r>
                  <a:rPr lang="en-US" sz="2800" b="1" dirty="0"/>
                  <a:t>At least </a:t>
                </a:r>
                <a:r>
                  <a:rPr lang="en-US" sz="2800" dirty="0"/>
                  <a:t>within a constant of g for large n</a:t>
                </a:r>
              </a:p>
              <a:p>
                <a:pPr lvl="1">
                  <a:lnSpc>
                    <a:spcPct val="90000"/>
                  </a:lnSpc>
                  <a:spcBef>
                    <a:spcPts val="0"/>
                  </a:spcBef>
                  <a:buClr>
                    <a:schemeClr val="tx1">
                      <a:lumMod val="95000"/>
                    </a:schemeClr>
                  </a:buClr>
                  <a:buSzPct val="100000"/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for some constant c and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800" dirty="0"/>
              </a:p>
              <a:p>
                <a:pPr lvl="1">
                  <a:lnSpc>
                    <a:spcPct val="90000"/>
                  </a:lnSpc>
                  <a:spcBef>
                    <a:spcPts val="0"/>
                  </a:spcBef>
                  <a:buClr>
                    <a:schemeClr val="tx1">
                      <a:lumMod val="95000"/>
                    </a:schemeClr>
                  </a:buClr>
                  <a:buSzPct val="100000"/>
                  <a:buFontTx/>
                  <a:buChar char="-"/>
                </a:pPr>
                <a:r>
                  <a:rPr lang="en-US" sz="2800" dirty="0"/>
                  <a:t>Set of functions that grow ”in the same way” as or more quickly than g(n)</a:t>
                </a:r>
              </a:p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Clr>
                    <a:schemeClr val="dk1"/>
                  </a:buClr>
                  <a:buSzPct val="10000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200" b="0" i="0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32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3200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32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>
                  <a:solidFill>
                    <a:schemeClr val="accent3"/>
                  </a:solidFill>
                </a:endParaRPr>
              </a:p>
              <a:p>
                <a:pPr lvl="1">
                  <a:lnSpc>
                    <a:spcPct val="90000"/>
                  </a:lnSpc>
                  <a:spcBef>
                    <a:spcPts val="0"/>
                  </a:spcBef>
                  <a:buClr>
                    <a:schemeClr val="tx1">
                      <a:lumMod val="95000"/>
                    </a:schemeClr>
                  </a:buClr>
                  <a:buSzPct val="100000"/>
                  <a:buFontTx/>
                  <a:buChar char="-"/>
                </a:pPr>
                <a:r>
                  <a:rPr lang="en-US" sz="2800" b="1" dirty="0"/>
                  <a:t>“Tightly” </a:t>
                </a:r>
                <a:r>
                  <a:rPr lang="en-US" sz="2800" dirty="0"/>
                  <a:t>within a constant of g for large n</a:t>
                </a:r>
              </a:p>
              <a:p>
                <a:pPr lvl="1">
                  <a:lnSpc>
                    <a:spcPct val="90000"/>
                  </a:lnSpc>
                  <a:spcBef>
                    <a:spcPts val="0"/>
                  </a:spcBef>
                  <a:buClr>
                    <a:schemeClr val="tx1">
                      <a:lumMod val="95000"/>
                    </a:schemeClr>
                  </a:buClr>
                  <a:buSzPct val="100000"/>
                  <a:buFontTx/>
                  <a:buChar char="-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  <a:p>
                <a:pPr lvl="1">
                  <a:lnSpc>
                    <a:spcPct val="90000"/>
                  </a:lnSpc>
                  <a:spcBef>
                    <a:spcPts val="0"/>
                  </a:spcBef>
                  <a:buClr>
                    <a:schemeClr val="tx1">
                      <a:lumMod val="95000"/>
                    </a:schemeClr>
                  </a:buClr>
                  <a:buSzPct val="100000"/>
                  <a:buFontTx/>
                  <a:buChar char="-"/>
                </a:pPr>
                <a:r>
                  <a:rPr lang="en-US" sz="2800" dirty="0"/>
                  <a:t>Set of functions that grow ”in the same way” as g(n)</a:t>
                </a:r>
              </a:p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Clr>
                    <a:schemeClr val="tx1">
                      <a:lumMod val="95000"/>
                    </a:schemeClr>
                  </a:buClr>
                  <a:buSzPct val="100000"/>
                  <a:buNone/>
                </a:pPr>
                <a:endParaRPr lang="en-US" sz="3200" dirty="0"/>
              </a:p>
            </p:txBody>
          </p:sp>
        </mc:Choice>
        <mc:Fallback xmlns="">
          <p:sp>
            <p:nvSpPr>
              <p:cNvPr id="2" name="Google Shape;159;p10">
                <a:extLst>
                  <a:ext uri="{FF2B5EF4-FFF2-40B4-BE49-F238E27FC236}">
                    <a16:creationId xmlns:a16="http://schemas.microsoft.com/office/drawing/2014/main" id="{EAE80E04-9C6A-E792-E457-7260668E4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605" y="1262892"/>
                <a:ext cx="10426337" cy="5320788"/>
              </a:xfrm>
              <a:prstGeom prst="rect">
                <a:avLst/>
              </a:prstGeom>
              <a:blipFill>
                <a:blip r:embed="rId3"/>
                <a:stretch>
                  <a:fillRect l="-1338" t="-2857" r="-9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Asymptotic Notation Example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159;p10">
                <a:extLst>
                  <a:ext uri="{FF2B5EF4-FFF2-40B4-BE49-F238E27FC236}">
                    <a16:creationId xmlns:a16="http://schemas.microsoft.com/office/drawing/2014/main" id="{D29FB158-495F-3F2E-0B31-106B4F1F78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57105" y="2246960"/>
                <a:ext cx="4077789" cy="6791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vert="horz" wrap="square" lIns="91425" tIns="45700" rIns="91425" bIns="45700" rtlCol="0" anchor="t" anchorCtr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Clr>
                    <a:schemeClr val="dk1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US" sz="3200" dirty="0"/>
                  <a:t>Show: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32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Clr>
                    <a:schemeClr val="tx1">
                      <a:lumMod val="95000"/>
                    </a:schemeClr>
                  </a:buClr>
                  <a:buSzPct val="100000"/>
                  <a:buNone/>
                </a:pPr>
                <a:endParaRPr lang="en-US" sz="3200" dirty="0"/>
              </a:p>
            </p:txBody>
          </p:sp>
        </mc:Choice>
        <mc:Fallback xmlns="">
          <p:sp>
            <p:nvSpPr>
              <p:cNvPr id="2" name="Google Shape;159;p10">
                <a:extLst>
                  <a:ext uri="{FF2B5EF4-FFF2-40B4-BE49-F238E27FC236}">
                    <a16:creationId xmlns:a16="http://schemas.microsoft.com/office/drawing/2014/main" id="{D29FB158-495F-3F2E-0B31-106B4F1F7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7105" y="2246960"/>
                <a:ext cx="4077789" cy="679119"/>
              </a:xfrm>
              <a:prstGeom prst="rect">
                <a:avLst/>
              </a:prstGeom>
              <a:blipFill>
                <a:blip r:embed="rId3"/>
                <a:stretch>
                  <a:fillRect l="-3727" t="-16667" b="-74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Asymptotic Notation Example</a:t>
            </a:r>
            <a:endParaRPr/>
          </a:p>
        </p:txBody>
      </p:sp>
      <p:sp>
        <p:nvSpPr>
          <p:cNvPr id="189" name="Google Shape;189;p14"/>
          <p:cNvSpPr txBox="1"/>
          <p:nvPr/>
        </p:nvSpPr>
        <p:spPr>
          <a:xfrm>
            <a:off x="9601200" y="1981200"/>
            <a:ext cx="22860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Direct Proof!</a:t>
            </a:r>
            <a:endParaRPr dirty="0">
              <a:solidFill>
                <a:schemeClr val="accent3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159;p10">
                <a:extLst>
                  <a:ext uri="{FF2B5EF4-FFF2-40B4-BE49-F238E27FC236}">
                    <a16:creationId xmlns:a16="http://schemas.microsoft.com/office/drawing/2014/main" id="{764BB8F9-1247-0AEA-76AE-138638701D9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12868" y="1389503"/>
                <a:ext cx="6566263" cy="51119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vert="horz" wrap="square" lIns="91425" tIns="45700" rIns="91425" bIns="45700" rtlCol="0" anchor="t" anchorCtr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Clr>
                    <a:schemeClr val="dk1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US" sz="3200" b="1" i="1" u="sng" dirty="0"/>
                  <a:t>Show</a:t>
                </a:r>
                <a:r>
                  <a:rPr lang="en-US" sz="3200" dirty="0"/>
                  <a:t>: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32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Clr>
                    <a:schemeClr val="dk1"/>
                  </a:buClr>
                  <a:buSzPct val="100000"/>
                  <a:buFont typeface="Arial" panose="020B0604020202020204" pitchFamily="34" charset="0"/>
                  <a:buNone/>
                </a:pPr>
                <a:endParaRPr lang="en-US" sz="2800" dirty="0"/>
              </a:p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Clr>
                    <a:schemeClr val="dk1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US" sz="2800" b="1" i="1" u="sng" dirty="0"/>
                  <a:t>Technique</a:t>
                </a:r>
                <a:r>
                  <a:rPr lang="en-US" sz="2800" dirty="0"/>
                  <a:t>: Find c,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r>
                  <a:rPr lang="en-US" sz="2800" dirty="0" err="1"/>
                  <a:t>s.t.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800" dirty="0"/>
              </a:p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Clr>
                    <a:schemeClr val="dk1"/>
                  </a:buClr>
                  <a:buSzPct val="100000"/>
                  <a:buFont typeface="Arial" panose="020B0604020202020204" pitchFamily="34" charset="0"/>
                  <a:buNone/>
                </a:pPr>
                <a:endParaRPr lang="en-US" sz="2800" dirty="0"/>
              </a:p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Clr>
                    <a:schemeClr val="dk1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US" sz="2800" b="1" i="1" u="sng" dirty="0"/>
                  <a:t>Proof</a:t>
                </a:r>
                <a:r>
                  <a:rPr lang="en-US" sz="2800" dirty="0"/>
                  <a:t>: Let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sz="28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800" dirty="0"/>
              </a:p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Clr>
                    <a:schemeClr val="tx1">
                      <a:lumMod val="95000"/>
                    </a:schemeClr>
                  </a:buClr>
                  <a:buSzPct val="100000"/>
                  <a:buNone/>
                </a:pPr>
                <a:endParaRPr lang="en-US" sz="3200" dirty="0"/>
              </a:p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Clr>
                    <a:schemeClr val="tx1">
                      <a:lumMod val="95000"/>
                    </a:schemeClr>
                  </a:buClr>
                  <a:buSzPct val="10000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1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func>
                      <m:r>
                        <m:rPr>
                          <m:aln/>
                        </m:rPr>
                        <a:rPr lang="en-US" sz="3200" b="0" i="1" smtClean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1(1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aln/>
                        </m:rPr>
                        <a:rPr lang="en-US" sz="32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3200" dirty="0"/>
              </a:p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Clr>
                    <a:schemeClr val="tx1">
                      <a:lumMod val="95000"/>
                    </a:schemeClr>
                  </a:buClr>
                  <a:buSzPct val="100000"/>
                  <a:buNone/>
                </a:pPr>
                <a:endParaRPr lang="en-US" sz="3200" dirty="0"/>
              </a:p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Clr>
                    <a:schemeClr val="tx1">
                      <a:lumMod val="95000"/>
                    </a:schemeClr>
                  </a:buClr>
                  <a:buSzPct val="10000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∀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&gt;1</m:t>
                        </m:r>
                      </m:sub>
                    </m:sSub>
                  </m:oMath>
                </a14:m>
                <a:r>
                  <a:rPr lang="en-US" sz="3200" dirty="0"/>
                  <a:t>:</a:t>
                </a:r>
              </a:p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Clr>
                    <a:schemeClr val="tx1">
                      <a:lumMod val="95000"/>
                    </a:schemeClr>
                  </a:buClr>
                  <a:buSzPct val="10000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Google Shape;159;p10">
                <a:extLst>
                  <a:ext uri="{FF2B5EF4-FFF2-40B4-BE49-F238E27FC236}">
                    <a16:creationId xmlns:a16="http://schemas.microsoft.com/office/drawing/2014/main" id="{764BB8F9-1247-0AEA-76AE-138638701D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2868" y="1389503"/>
                <a:ext cx="6566263" cy="5111931"/>
              </a:xfrm>
              <a:prstGeom prst="rect">
                <a:avLst/>
              </a:prstGeom>
              <a:blipFill>
                <a:blip r:embed="rId3"/>
                <a:stretch>
                  <a:fillRect l="-2317" t="-222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Asymptotic Notation Example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159;p10">
                <a:extLst>
                  <a:ext uri="{FF2B5EF4-FFF2-40B4-BE49-F238E27FC236}">
                    <a16:creationId xmlns:a16="http://schemas.microsoft.com/office/drawing/2014/main" id="{99863DC5-09CD-EC3B-5C9E-AD06046738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45874" y="2380827"/>
                <a:ext cx="3100252" cy="6570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vert="horz" wrap="square" lIns="91425" tIns="45700" rIns="91425" bIns="45700" rtlCol="0" anchor="t" anchorCtr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Clr>
                    <a:schemeClr val="dk1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US" sz="3200" dirty="0"/>
                  <a:t>Show: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Clr>
                    <a:schemeClr val="dk1"/>
                  </a:buClr>
                  <a:buSzPct val="100000"/>
                  <a:buFont typeface="Arial" panose="020B0604020202020204" pitchFamily="34" charset="0"/>
                  <a:buNone/>
                </a:pPr>
                <a:endParaRPr lang="en-US" sz="2800" dirty="0"/>
              </a:p>
            </p:txBody>
          </p:sp>
        </mc:Choice>
        <mc:Fallback xmlns="">
          <p:sp>
            <p:nvSpPr>
              <p:cNvPr id="2" name="Google Shape;159;p10">
                <a:extLst>
                  <a:ext uri="{FF2B5EF4-FFF2-40B4-BE49-F238E27FC236}">
                    <a16:creationId xmlns:a16="http://schemas.microsoft.com/office/drawing/2014/main" id="{99863DC5-09CD-EC3B-5C9E-AD06046738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5874" y="2380827"/>
                <a:ext cx="3100252" cy="657011"/>
              </a:xfrm>
              <a:prstGeom prst="rect">
                <a:avLst/>
              </a:prstGeom>
              <a:blipFill>
                <a:blip r:embed="rId3"/>
                <a:stretch>
                  <a:fillRect l="-4918" t="-16981" r="-410" b="-1132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6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Asymptotic Notation Example</a:t>
            </a:r>
            <a:endParaRPr/>
          </a:p>
        </p:txBody>
      </p:sp>
      <p:sp>
        <p:nvSpPr>
          <p:cNvPr id="203" name="Google Shape;203;p16"/>
          <p:cNvSpPr txBox="1"/>
          <p:nvPr/>
        </p:nvSpPr>
        <p:spPr>
          <a:xfrm>
            <a:off x="9448800" y="877613"/>
            <a:ext cx="2743200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Proof by Contradiction!</a:t>
            </a:r>
            <a:endParaRPr dirty="0">
              <a:solidFill>
                <a:schemeClr val="accent3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159;p10">
                <a:extLst>
                  <a:ext uri="{FF2B5EF4-FFF2-40B4-BE49-F238E27FC236}">
                    <a16:creationId xmlns:a16="http://schemas.microsoft.com/office/drawing/2014/main" id="{17D12B8E-1A57-8659-5F5C-D9A8DF78DD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12868" y="1354666"/>
                <a:ext cx="6566263" cy="51119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vert="horz" wrap="square" lIns="91425" tIns="45700" rIns="91425" bIns="45700" rtlCol="0" anchor="t" anchorCtr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Clr>
                    <a:schemeClr val="dk1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US" sz="3200" b="1" i="1" u="sng" dirty="0"/>
                  <a:t>Show</a:t>
                </a:r>
                <a:r>
                  <a:rPr lang="en-US" sz="3200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Clr>
                    <a:schemeClr val="dk1"/>
                  </a:buClr>
                  <a:buSzPct val="100000"/>
                  <a:buFont typeface="Arial" panose="020B0604020202020204" pitchFamily="34" charset="0"/>
                  <a:buNone/>
                </a:pPr>
                <a:endParaRPr lang="en-US" sz="2800" dirty="0"/>
              </a:p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Clr>
                    <a:schemeClr val="dk1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US" sz="2800" b="1" i="1" u="sng" dirty="0"/>
                  <a:t>Technique</a:t>
                </a:r>
                <a:r>
                  <a:rPr lang="en-US" sz="2800" dirty="0"/>
                  <a:t>: Contradiction</a:t>
                </a:r>
              </a:p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Clr>
                    <a:schemeClr val="dk1"/>
                  </a:buClr>
                  <a:buSzPct val="100000"/>
                  <a:buFont typeface="Arial" panose="020B0604020202020204" pitchFamily="34" charset="0"/>
                  <a:buNone/>
                </a:pPr>
                <a:endParaRPr lang="en-US" sz="2800" dirty="0"/>
              </a:p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Clr>
                    <a:schemeClr val="dk1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US" sz="2800" b="1" i="1" u="sng" dirty="0"/>
                  <a:t>Proof</a:t>
                </a:r>
                <a:r>
                  <a:rPr lang="en-US" sz="2800" dirty="0"/>
                  <a:t>:</a:t>
                </a:r>
              </a:p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Clr>
                    <a:schemeClr val="dk1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US" sz="2800" dirty="0"/>
                  <a:t>Assume CLAIM. Then we know we can choose a c such that:</a:t>
                </a:r>
              </a:p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Clr>
                    <a:schemeClr val="dk1"/>
                  </a:buClr>
                  <a:buSzPct val="100000"/>
                  <a:buFont typeface="Arial" panose="020B0604020202020204" pitchFamily="34" charset="0"/>
                  <a:buNone/>
                </a:pPr>
                <a:endParaRPr lang="en-US" sz="2800" dirty="0"/>
              </a:p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Clr>
                    <a:schemeClr val="dk1"/>
                  </a:buClr>
                  <a:buSzPct val="100000"/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𝑐𝑛</m:t>
                      </m:r>
                      <m:r>
                        <m:rPr>
                          <m:aln/>
                        </m:rPr>
                        <a:rPr lang="en-US" sz="3200" b="0" i="1" smtClean="0">
                          <a:latin typeface="Cambria Math" panose="02040503050406030204" pitchFamily="18" charset="0"/>
                        </a:rPr>
                        <m:t>≥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m:rPr>
                          <m:aln/>
                        </m:rPr>
                        <a:rPr lang="en-US" sz="3200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3200" dirty="0"/>
              </a:p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Clr>
                    <a:schemeClr val="dk1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US" sz="3200" dirty="0"/>
                  <a:t>Since n is increasing variable and c is constant, this is impossible!</a:t>
                </a:r>
              </a:p>
            </p:txBody>
          </p:sp>
        </mc:Choice>
        <mc:Fallback xmlns="">
          <p:sp>
            <p:nvSpPr>
              <p:cNvPr id="2" name="Google Shape;159;p10">
                <a:extLst>
                  <a:ext uri="{FF2B5EF4-FFF2-40B4-BE49-F238E27FC236}">
                    <a16:creationId xmlns:a16="http://schemas.microsoft.com/office/drawing/2014/main" id="{17D12B8E-1A57-8659-5F5C-D9A8DF78D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2868" y="1354666"/>
                <a:ext cx="6566263" cy="5111931"/>
              </a:xfrm>
              <a:prstGeom prst="rect">
                <a:avLst/>
              </a:prstGeom>
              <a:blipFill>
                <a:blip r:embed="rId3"/>
                <a:stretch>
                  <a:fillRect l="-2317" t="-2228" r="-2703" b="-9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7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Proof Techniques</a:t>
            </a:r>
            <a:endParaRPr/>
          </a:p>
        </p:txBody>
      </p:sp>
      <p:sp>
        <p:nvSpPr>
          <p:cNvPr id="210" name="Google Shape;210;p17"/>
          <p:cNvSpPr txBox="1">
            <a:spLocks noGrp="1"/>
          </p:cNvSpPr>
          <p:nvPr>
            <p:ph type="body" idx="1"/>
          </p:nvPr>
        </p:nvSpPr>
        <p:spPr>
          <a:xfrm>
            <a:off x="2257697" y="1891742"/>
            <a:ext cx="7530737" cy="2601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Direct Proof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400"/>
              <a:buChar char="•"/>
            </a:pPr>
            <a:r>
              <a:rPr lang="en-US" dirty="0"/>
              <a:t>From the assumptions and definitions, directly derive the statement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  <a:buNone/>
            </a:pPr>
            <a:r>
              <a:rPr lang="en-US" dirty="0"/>
              <a:t>Proof by Contradiction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400"/>
              <a:buChar char="•"/>
            </a:pPr>
            <a:r>
              <a:rPr lang="en-US" dirty="0"/>
              <a:t>Assume the statement is true, then find a contradiction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Proof by Induction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Proof by Cases</a:t>
            </a:r>
            <a:endParaRPr dirty="0"/>
          </a:p>
        </p:txBody>
      </p:sp>
      <p:pic>
        <p:nvPicPr>
          <p:cNvPr id="211" name="Google Shape;211;p17" descr="Image result for check mar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67497" y="1703009"/>
            <a:ext cx="657842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7" descr="Image result for check mar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39097" y="2634342"/>
            <a:ext cx="657842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05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 dirty="0"/>
              <a:t>More Asymptotic Notation</a:t>
            </a:r>
            <a:endParaRPr dirty="0"/>
          </a:p>
        </p:txBody>
      </p:sp>
      <p:sp>
        <p:nvSpPr>
          <p:cNvPr id="219" name="Google Shape;219;p18"/>
          <p:cNvSpPr/>
          <p:nvPr/>
        </p:nvSpPr>
        <p:spPr>
          <a:xfrm>
            <a:off x="838200" y="3421117"/>
            <a:ext cx="10665372" cy="1893483"/>
          </a:xfrm>
          <a:prstGeom prst="roundRect">
            <a:avLst>
              <a:gd name="adj" fmla="val 16667"/>
            </a:avLst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 </a:t>
            </a:r>
            <a:endParaRPr dirty="0"/>
          </a:p>
        </p:txBody>
      </p:sp>
      <p:sp>
        <p:nvSpPr>
          <p:cNvPr id="220" name="Google Shape;220;p18"/>
          <p:cNvSpPr/>
          <p:nvPr/>
        </p:nvSpPr>
        <p:spPr>
          <a:xfrm>
            <a:off x="1371600" y="5858754"/>
            <a:ext cx="9448800" cy="587379"/>
          </a:xfrm>
          <a:prstGeom prst="wedgeRoundRectCallout">
            <a:avLst>
              <a:gd name="adj1" fmla="val 13531"/>
              <a:gd name="adj2" fmla="val -138432"/>
              <a:gd name="adj3" fmla="val 16667"/>
            </a:avLst>
          </a:prstGeom>
          <a:solidFill>
            <a:srgbClr val="8296B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Our 2nd way to mathematically define these classes, with a limit of a ratio</a:t>
            </a:r>
            <a:endParaRPr sz="24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159;p10">
                <a:extLst>
                  <a:ext uri="{FF2B5EF4-FFF2-40B4-BE49-F238E27FC236}">
                    <a16:creationId xmlns:a16="http://schemas.microsoft.com/office/drawing/2014/main" id="{9A9B4A1B-2086-6499-8FAF-4A3D03A584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71600" y="1301080"/>
                <a:ext cx="9400854" cy="20725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vert="horz" wrap="square" lIns="91425" tIns="45700" rIns="91425" bIns="45700" rtlCol="0" anchor="t" anchorCtr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Clr>
                    <a:schemeClr val="dk1"/>
                  </a:buClr>
                  <a:buSzPct val="100000"/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𝑜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3200" b="0" dirty="0"/>
              </a:p>
              <a:p>
                <a:pPr>
                  <a:lnSpc>
                    <a:spcPct val="90000"/>
                  </a:lnSpc>
                  <a:spcBef>
                    <a:spcPts val="0"/>
                  </a:spcBef>
                  <a:buClr>
                    <a:schemeClr val="tx1">
                      <a:lumMod val="95000"/>
                    </a:schemeClr>
                  </a:buClr>
                  <a:buSzPct val="100000"/>
                </a:pPr>
                <a:r>
                  <a:rPr lang="en-US" sz="3200" dirty="0"/>
                  <a:t>Smaller than any constant factor of g for large n</a:t>
                </a:r>
              </a:p>
              <a:p>
                <a:pPr>
                  <a:lnSpc>
                    <a:spcPct val="90000"/>
                  </a:lnSpc>
                  <a:spcBef>
                    <a:spcPts val="0"/>
                  </a:spcBef>
                  <a:buClr>
                    <a:schemeClr val="tx1">
                      <a:lumMod val="95000"/>
                    </a:schemeClr>
                  </a:buClr>
                  <a:buSzPct val="100000"/>
                </a:pPr>
                <a:r>
                  <a:rPr lang="en-US" sz="3200" dirty="0"/>
                  <a:t>For any constant c,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𝑐𝑔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dirty="0"/>
              </a:p>
              <a:p>
                <a:pPr>
                  <a:lnSpc>
                    <a:spcPct val="90000"/>
                  </a:lnSpc>
                  <a:spcBef>
                    <a:spcPts val="0"/>
                  </a:spcBef>
                  <a:buClr>
                    <a:schemeClr val="tx1">
                      <a:lumMod val="95000"/>
                    </a:schemeClr>
                  </a:buClr>
                  <a:buSzPct val="100000"/>
                </a:pPr>
                <a:r>
                  <a:rPr lang="en-US" sz="3200" dirty="0"/>
                  <a:t>Set of functions that always grow more slowly than g(n)</a:t>
                </a:r>
              </a:p>
            </p:txBody>
          </p:sp>
        </mc:Choice>
        <mc:Fallback xmlns="">
          <p:sp>
            <p:nvSpPr>
              <p:cNvPr id="2" name="Google Shape;159;p10">
                <a:extLst>
                  <a:ext uri="{FF2B5EF4-FFF2-40B4-BE49-F238E27FC236}">
                    <a16:creationId xmlns:a16="http://schemas.microsoft.com/office/drawing/2014/main" id="{9A9B4A1B-2086-6499-8FAF-4A3D03A584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1301080"/>
                <a:ext cx="9400854" cy="2072558"/>
              </a:xfrm>
              <a:prstGeom prst="rect">
                <a:avLst/>
              </a:prstGeom>
              <a:blipFill>
                <a:blip r:embed="rId4"/>
                <a:stretch>
                  <a:fillRect l="-1619" r="-540" b="-122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More Asymptotic Notation</a:t>
            </a:r>
            <a:endParaRPr/>
          </a:p>
        </p:txBody>
      </p:sp>
      <p:sp>
        <p:nvSpPr>
          <p:cNvPr id="227" name="Google Shape;227;p19"/>
          <p:cNvSpPr/>
          <p:nvPr/>
        </p:nvSpPr>
        <p:spPr>
          <a:xfrm>
            <a:off x="914400" y="5257800"/>
            <a:ext cx="10058400" cy="1083377"/>
          </a:xfrm>
          <a:prstGeom prst="roundRect">
            <a:avLst>
              <a:gd name="adj" fmla="val 16667"/>
            </a:avLst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159;p10">
                <a:extLst>
                  <a:ext uri="{FF2B5EF4-FFF2-40B4-BE49-F238E27FC236}">
                    <a16:creationId xmlns:a16="http://schemas.microsoft.com/office/drawing/2014/main" id="{D10FF01E-53B5-2CCC-83A5-6F642D72AC6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80335" y="1242205"/>
                <a:ext cx="9400854" cy="41059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vert="horz" wrap="square" lIns="91425" tIns="45700" rIns="91425" bIns="45700" rtlCol="0" anchor="t" anchorCtr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Clr>
                    <a:schemeClr val="dk1"/>
                  </a:buClr>
                  <a:buSzPct val="100000"/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𝑜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3200" b="0" dirty="0"/>
              </a:p>
              <a:p>
                <a:pPr>
                  <a:lnSpc>
                    <a:spcPct val="90000"/>
                  </a:lnSpc>
                  <a:spcBef>
                    <a:spcPts val="0"/>
                  </a:spcBef>
                  <a:buClr>
                    <a:schemeClr val="tx1">
                      <a:lumMod val="95000"/>
                    </a:schemeClr>
                  </a:buClr>
                  <a:buSzPct val="100000"/>
                </a:pPr>
                <a:r>
                  <a:rPr lang="en-US" sz="3200" dirty="0"/>
                  <a:t>Smaller than any constant factor of g for large n</a:t>
                </a:r>
              </a:p>
              <a:p>
                <a:pPr>
                  <a:lnSpc>
                    <a:spcPct val="90000"/>
                  </a:lnSpc>
                  <a:spcBef>
                    <a:spcPts val="0"/>
                  </a:spcBef>
                  <a:buClr>
                    <a:schemeClr val="tx1">
                      <a:lumMod val="95000"/>
                    </a:schemeClr>
                  </a:buClr>
                  <a:buSzPct val="100000"/>
                </a:pPr>
                <a:r>
                  <a:rPr lang="en-US" sz="3200" dirty="0"/>
                  <a:t>For any constant c,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𝑐𝑔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dirty="0"/>
              </a:p>
              <a:p>
                <a:pPr>
                  <a:lnSpc>
                    <a:spcPct val="90000"/>
                  </a:lnSpc>
                  <a:spcBef>
                    <a:spcPts val="0"/>
                  </a:spcBef>
                  <a:buClr>
                    <a:schemeClr val="tx1">
                      <a:lumMod val="95000"/>
                    </a:schemeClr>
                  </a:buClr>
                  <a:buSzPct val="100000"/>
                </a:pPr>
                <a:r>
                  <a:rPr lang="en-US" sz="3200" dirty="0"/>
                  <a:t>Set of functions that always grow more slowly than g(n)</a:t>
                </a:r>
              </a:p>
              <a:p>
                <a:pPr>
                  <a:lnSpc>
                    <a:spcPct val="90000"/>
                  </a:lnSpc>
                  <a:spcBef>
                    <a:spcPts val="0"/>
                  </a:spcBef>
                  <a:buClr>
                    <a:schemeClr val="tx1">
                      <a:lumMod val="95000"/>
                    </a:schemeClr>
                  </a:buClr>
                  <a:buSzPct val="100000"/>
                </a:pPr>
                <a:endParaRPr lang="en-US" sz="3200" dirty="0"/>
              </a:p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Clr>
                    <a:schemeClr val="dk1"/>
                  </a:buClr>
                  <a:buSzPct val="1000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3200" dirty="0"/>
              </a:p>
              <a:p>
                <a:pPr>
                  <a:lnSpc>
                    <a:spcPct val="90000"/>
                  </a:lnSpc>
                  <a:spcBef>
                    <a:spcPts val="0"/>
                  </a:spcBef>
                  <a:buClr>
                    <a:schemeClr val="tx1">
                      <a:lumMod val="95000"/>
                    </a:schemeClr>
                  </a:buClr>
                  <a:buSzPct val="100000"/>
                </a:pPr>
                <a:r>
                  <a:rPr lang="en-US" sz="3200" dirty="0"/>
                  <a:t>Greater than any constant factor of g for large n</a:t>
                </a:r>
              </a:p>
              <a:p>
                <a:pPr>
                  <a:lnSpc>
                    <a:spcPct val="90000"/>
                  </a:lnSpc>
                  <a:spcBef>
                    <a:spcPts val="0"/>
                  </a:spcBef>
                  <a:buClr>
                    <a:schemeClr val="tx1">
                      <a:lumMod val="95000"/>
                    </a:schemeClr>
                  </a:buClr>
                  <a:buSzPct val="100000"/>
                </a:pPr>
                <a:r>
                  <a:rPr lang="en-US" sz="3200" dirty="0"/>
                  <a:t>For any constant c,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𝑐𝑔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dirty="0"/>
              </a:p>
              <a:p>
                <a:pPr>
                  <a:lnSpc>
                    <a:spcPct val="90000"/>
                  </a:lnSpc>
                  <a:spcBef>
                    <a:spcPts val="0"/>
                  </a:spcBef>
                  <a:buClr>
                    <a:schemeClr val="tx1">
                      <a:lumMod val="95000"/>
                    </a:schemeClr>
                  </a:buClr>
                  <a:buSzPct val="100000"/>
                </a:pPr>
                <a:r>
                  <a:rPr lang="en-US" sz="3200" dirty="0"/>
                  <a:t>Set of functions that always grow more quickly than g(n)</a:t>
                </a:r>
              </a:p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Clr>
                    <a:schemeClr val="tx1">
                      <a:lumMod val="95000"/>
                    </a:schemeClr>
                  </a:buClr>
                  <a:buSzPct val="100000"/>
                  <a:buNone/>
                </a:pPr>
                <a:endParaRPr lang="en-US" sz="3200" dirty="0"/>
              </a:p>
            </p:txBody>
          </p:sp>
        </mc:Choice>
        <mc:Fallback xmlns="">
          <p:sp>
            <p:nvSpPr>
              <p:cNvPr id="2" name="Google Shape;159;p10">
                <a:extLst>
                  <a:ext uri="{FF2B5EF4-FFF2-40B4-BE49-F238E27FC236}">
                    <a16:creationId xmlns:a16="http://schemas.microsoft.com/office/drawing/2014/main" id="{D10FF01E-53B5-2CCC-83A5-6F642D72A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0335" y="1242205"/>
                <a:ext cx="9400854" cy="4105987"/>
              </a:xfrm>
              <a:prstGeom prst="rect">
                <a:avLst/>
              </a:prstGeom>
              <a:blipFill>
                <a:blip r:embed="rId4"/>
                <a:stretch>
                  <a:fillRect l="-135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0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 dirty="0"/>
              <a:t>A Way to Think about Order Classes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159;p10">
                <a:extLst>
                  <a:ext uri="{FF2B5EF4-FFF2-40B4-BE49-F238E27FC236}">
                    <a16:creationId xmlns:a16="http://schemas.microsoft.com/office/drawing/2014/main" id="{8158D920-8556-E814-92EA-16EF3470024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05693" y="1735364"/>
                <a:ext cx="8071206" cy="41059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vert="horz" wrap="square" lIns="91425" tIns="45700" rIns="91425" bIns="45700" rtlCol="0" anchor="t" anchorCtr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Clr>
                    <a:schemeClr val="dk1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US" sz="3200" dirty="0"/>
                  <a:t>For “</a:t>
                </a:r>
                <a:r>
                  <a:rPr lang="en-US" sz="3200" dirty="0" err="1"/>
                  <a:t>comparables</a:t>
                </a:r>
                <a:r>
                  <a:rPr lang="en-US" sz="3200" dirty="0"/>
                  <a:t>” we have 5 logical operators:</a:t>
                </a:r>
                <a:br>
                  <a:rPr lang="en-US" sz="32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 &lt; &gt; ≤ ≥</m:t>
                      </m:r>
                    </m:oMath>
                  </m:oMathPara>
                </a14:m>
                <a:endParaRPr lang="en-US" sz="3200" dirty="0"/>
              </a:p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Clr>
                    <a:schemeClr val="dk1"/>
                  </a:buClr>
                  <a:buSzPct val="100000"/>
                  <a:buFont typeface="Arial" panose="020B0604020202020204" pitchFamily="34" charset="0"/>
                  <a:buNone/>
                </a:pPr>
                <a:endParaRPr lang="en-US" sz="3200" dirty="0"/>
              </a:p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Clr>
                    <a:schemeClr val="dk1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US" sz="3200" dirty="0"/>
                  <a:t>For order classes we have:</a:t>
                </a:r>
              </a:p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Clr>
                    <a:schemeClr val="dk1"/>
                  </a:buClr>
                  <a:buSzPct val="100000"/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 →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	Big Theta</a:t>
                </a:r>
              </a:p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Clr>
                    <a:schemeClr val="dk1"/>
                  </a:buClr>
                  <a:buSzPct val="100000"/>
                  <a:buNone/>
                </a:pP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 →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3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	Little oh</a:t>
                </a:r>
              </a:p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Clr>
                    <a:schemeClr val="dk1"/>
                  </a:buClr>
                  <a:buSzPct val="100000"/>
                  <a:buNone/>
                </a:pP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3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	Little omega</a:t>
                </a:r>
              </a:p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Clr>
                    <a:schemeClr val="dk1"/>
                  </a:buClr>
                  <a:buSzPct val="100000"/>
                  <a:buNone/>
                </a:pP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 →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3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	Big Oh</a:t>
                </a:r>
              </a:p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Clr>
                    <a:schemeClr val="dk1"/>
                  </a:buClr>
                  <a:buSzPct val="100000"/>
                  <a:buNone/>
                </a:pP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 →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3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	Big Omega</a:t>
                </a:r>
              </a:p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Clr>
                    <a:schemeClr val="dk1"/>
                  </a:buClr>
                  <a:buSzPct val="100000"/>
                  <a:buFont typeface="Arial" panose="020B0604020202020204" pitchFamily="34" charset="0"/>
                  <a:buNone/>
                </a:pPr>
                <a:endParaRPr lang="en-US" sz="3200" dirty="0"/>
              </a:p>
            </p:txBody>
          </p:sp>
        </mc:Choice>
        <mc:Fallback xmlns="">
          <p:sp>
            <p:nvSpPr>
              <p:cNvPr id="2" name="Google Shape;159;p10">
                <a:extLst>
                  <a:ext uri="{FF2B5EF4-FFF2-40B4-BE49-F238E27FC236}">
                    <a16:creationId xmlns:a16="http://schemas.microsoft.com/office/drawing/2014/main" id="{8158D920-8556-E814-92EA-16EF34700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5693" y="1735364"/>
                <a:ext cx="8071206" cy="4105987"/>
              </a:xfrm>
              <a:prstGeom prst="rect">
                <a:avLst/>
              </a:prstGeom>
              <a:blipFill>
                <a:blip r:embed="rId3"/>
                <a:stretch>
                  <a:fillRect l="-1887" t="-3086" r="-629" b="-339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2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 dirty="0"/>
              <a:t>Summary: Using Limit Definition</a:t>
            </a:r>
            <a:endParaRPr dirty="0"/>
          </a:p>
        </p:txBody>
      </p:sp>
      <p:sp>
        <p:nvSpPr>
          <p:cNvPr id="249" name="Google Shape;249;p22"/>
          <p:cNvSpPr txBox="1">
            <a:spLocks noGrp="1"/>
          </p:cNvSpPr>
          <p:nvPr>
            <p:ph type="body" idx="1"/>
          </p:nvPr>
        </p:nvSpPr>
        <p:spPr>
          <a:xfrm>
            <a:off x="1532990" y="1440092"/>
            <a:ext cx="9126020" cy="4830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dirty="0"/>
              <a:t>Want to prove f(n) belongs to some order class of g(n)?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dirty="0"/>
              <a:t>Calculate this: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dirty="0"/>
              <a:t>If the result is….</a:t>
            </a:r>
            <a:endParaRPr dirty="0"/>
          </a:p>
          <a:p>
            <a:pPr marL="3429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dirty="0"/>
              <a:t>&lt; </a:t>
            </a:r>
            <a:r>
              <a:rPr lang="en-US" sz="2800" dirty="0">
                <a:latin typeface="MS PGothic"/>
                <a:ea typeface="MS PGothic"/>
                <a:cs typeface="MS PGothic"/>
                <a:sym typeface="MS PGothic"/>
              </a:rPr>
              <a:t>∞</a:t>
            </a:r>
            <a:r>
              <a:rPr lang="en-US" sz="2800" dirty="0"/>
              <a:t>, including the case in which the limit is 0, then  f ∈ O(g)</a:t>
            </a:r>
            <a:endParaRPr dirty="0"/>
          </a:p>
          <a:p>
            <a:pPr marL="3429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dirty="0"/>
              <a:t>&gt; 0, including the case in which the limit is ∞, then  f ∈ </a:t>
            </a:r>
            <a:r>
              <a:rPr lang="en-US" sz="2800" dirty="0" err="1"/>
              <a:t>Ω</a:t>
            </a:r>
            <a:r>
              <a:rPr lang="en-US" sz="2800" dirty="0"/>
              <a:t>(g)</a:t>
            </a:r>
            <a:endParaRPr dirty="0"/>
          </a:p>
          <a:p>
            <a:pPr marL="3429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dirty="0"/>
              <a:t>= c and 0 &lt; c &lt; ∞ then f ∈ </a:t>
            </a:r>
            <a:r>
              <a:rPr lang="en-US" sz="2800" dirty="0" err="1"/>
              <a:t>Θ</a:t>
            </a:r>
            <a:r>
              <a:rPr lang="en-US" sz="2800" dirty="0"/>
              <a:t>(g)</a:t>
            </a:r>
            <a:endParaRPr dirty="0"/>
          </a:p>
          <a:p>
            <a:pPr marL="3429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dirty="0"/>
              <a:t>= 0  then f ∈ o(g)</a:t>
            </a:r>
            <a:endParaRPr sz="2800" dirty="0"/>
          </a:p>
          <a:p>
            <a:pPr marL="3429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dirty="0"/>
              <a:t>= ∞  then f ∈ </a:t>
            </a:r>
            <a:r>
              <a:rPr lang="en-US" sz="2800" dirty="0" err="1"/>
              <a:t>ω</a:t>
            </a:r>
            <a:r>
              <a:rPr lang="en-US" sz="2800" dirty="0"/>
              <a:t>(g)</a:t>
            </a:r>
            <a:endParaRPr dirty="0"/>
          </a:p>
        </p:txBody>
      </p:sp>
      <p:pic>
        <p:nvPicPr>
          <p:cNvPr id="250" name="Google Shape;250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6288" y="2417852"/>
            <a:ext cx="1121953" cy="68580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3"/>
          <p:cNvSpPr txBox="1">
            <a:spLocks noGrp="1"/>
          </p:cNvSpPr>
          <p:nvPr>
            <p:ph type="title"/>
          </p:nvPr>
        </p:nvSpPr>
        <p:spPr>
          <a:xfrm>
            <a:off x="0" y="3064476"/>
            <a:ext cx="12192000" cy="1778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 dirty="0"/>
              <a:t>Math Reminders</a:t>
            </a:r>
            <a:endParaRPr dirty="0"/>
          </a:p>
        </p:txBody>
      </p:sp>
      <p:sp>
        <p:nvSpPr>
          <p:cNvPr id="256" name="Google Shape;256;p23"/>
          <p:cNvSpPr txBox="1">
            <a:spLocks noGrp="1"/>
          </p:cNvSpPr>
          <p:nvPr>
            <p:ph type="body" idx="1"/>
          </p:nvPr>
        </p:nvSpPr>
        <p:spPr>
          <a:xfrm>
            <a:off x="831850" y="4959178"/>
            <a:ext cx="10515600" cy="113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4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Math you may need to review: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159;p10">
                <a:extLst>
                  <a:ext uri="{FF2B5EF4-FFF2-40B4-BE49-F238E27FC236}">
                    <a16:creationId xmlns:a16="http://schemas.microsoft.com/office/drawing/2014/main" id="{31C87234-266F-4A49-C045-6B0BE8DBD56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4404" y="1440681"/>
                <a:ext cx="9863191" cy="46005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vert="horz" wrap="square" lIns="91425" tIns="45700" rIns="91425" bIns="45700" rtlCol="0" anchor="t" anchorCtr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Clr>
                    <a:schemeClr val="dk1"/>
                  </a:buClr>
                  <a:buSzPct val="100000"/>
                  <a:buFont typeface="Arial" panose="020B0604020202020204" pitchFamily="34" charset="0"/>
                  <a:buNone/>
                </a:pPr>
                <a:r>
                  <a:rPr lang="en-US" sz="3200" dirty="0"/>
                  <a:t>Review section 3.3 in CLRS (3.2 in 3</a:t>
                </a:r>
                <a:r>
                  <a:rPr lang="en-US" sz="3200" baseline="30000" dirty="0"/>
                  <a:t>rd</a:t>
                </a:r>
                <a:r>
                  <a:rPr lang="en-US" sz="3200" dirty="0"/>
                  <a:t> edition) for some math we’ll use:</a:t>
                </a:r>
              </a:p>
              <a:p>
                <a:pPr>
                  <a:lnSpc>
                    <a:spcPct val="90000"/>
                  </a:lnSpc>
                  <a:spcBef>
                    <a:spcPts val="0"/>
                  </a:spcBef>
                  <a:buClr>
                    <a:schemeClr val="tx1">
                      <a:lumMod val="95000"/>
                    </a:schemeClr>
                  </a:buClr>
                  <a:buSzPct val="100000"/>
                </a:pPr>
                <a:r>
                  <a:rPr lang="en-US" sz="3200" dirty="0"/>
                  <a:t>Polynomials</a:t>
                </a:r>
              </a:p>
              <a:p>
                <a:pPr>
                  <a:lnSpc>
                    <a:spcPct val="90000"/>
                  </a:lnSpc>
                  <a:spcBef>
                    <a:spcPts val="0"/>
                  </a:spcBef>
                  <a:buClr>
                    <a:schemeClr val="tx1">
                      <a:lumMod val="95000"/>
                    </a:schemeClr>
                  </a:buClr>
                  <a:buSzPct val="100000"/>
                </a:pPr>
                <a:r>
                  <a:rPr lang="en-US" sz="3200" dirty="0"/>
                  <a:t>Exponentials</a:t>
                </a:r>
              </a:p>
              <a:p>
                <a:pPr lvl="1">
                  <a:lnSpc>
                    <a:spcPct val="90000"/>
                  </a:lnSpc>
                  <a:spcBef>
                    <a:spcPts val="0"/>
                  </a:spcBef>
                  <a:buClr>
                    <a:schemeClr val="tx1">
                      <a:lumMod val="95000"/>
                    </a:schemeClr>
                  </a:buClr>
                  <a:buSzPct val="100000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for any constant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endParaRPr lang="en-US" sz="2800" dirty="0"/>
              </a:p>
              <a:p>
                <a:pPr>
                  <a:lnSpc>
                    <a:spcPct val="90000"/>
                  </a:lnSpc>
                  <a:spcBef>
                    <a:spcPts val="0"/>
                  </a:spcBef>
                  <a:buClr>
                    <a:schemeClr val="tx1">
                      <a:lumMod val="95000"/>
                    </a:schemeClr>
                  </a:buClr>
                  <a:buSzPct val="100000"/>
                </a:pPr>
                <a:r>
                  <a:rPr lang="en-US" sz="3200" dirty="0"/>
                  <a:t>Logarithms</a:t>
                </a:r>
              </a:p>
              <a:p>
                <a:pPr lvl="1">
                  <a:lnSpc>
                    <a:spcPct val="90000"/>
                  </a:lnSpc>
                  <a:spcBef>
                    <a:spcPts val="0"/>
                  </a:spcBef>
                  <a:buClr>
                    <a:schemeClr val="tx1">
                      <a:lumMod val="95000"/>
                    </a:schemeClr>
                  </a:buClr>
                  <a:buSzPct val="100000"/>
                </a:pPr>
                <a:r>
                  <a:rPr lang="en-US" sz="2800" dirty="0"/>
                  <a:t>Changing base means multiplying by a constant so bases are in same order class</a:t>
                </a:r>
              </a:p>
              <a:p>
                <a:pPr lvl="1">
                  <a:lnSpc>
                    <a:spcPct val="90000"/>
                  </a:lnSpc>
                  <a:spcBef>
                    <a:spcPts val="0"/>
                  </a:spcBef>
                  <a:buClr>
                    <a:schemeClr val="tx1">
                      <a:lumMod val="95000"/>
                    </a:schemeClr>
                  </a:buClr>
                  <a:buSzPct val="100000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sz="2800" dirty="0"/>
                  <a:t> for any constant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sz="2800" dirty="0"/>
              </a:p>
              <a:p>
                <a:pPr>
                  <a:lnSpc>
                    <a:spcPct val="90000"/>
                  </a:lnSpc>
                  <a:spcBef>
                    <a:spcPts val="0"/>
                  </a:spcBef>
                  <a:buClr>
                    <a:schemeClr val="tx1">
                      <a:lumMod val="95000"/>
                    </a:schemeClr>
                  </a:buClr>
                  <a:buSzPct val="100000"/>
                </a:pPr>
                <a:r>
                  <a:rPr lang="en-US" sz="3200" dirty="0"/>
                  <a:t>Factorials</a:t>
                </a:r>
              </a:p>
              <a:p>
                <a:pPr lvl="1">
                  <a:lnSpc>
                    <a:spcPct val="90000"/>
                  </a:lnSpc>
                  <a:spcBef>
                    <a:spcPts val="0"/>
                  </a:spcBef>
                  <a:buClr>
                    <a:schemeClr val="tx1">
                      <a:lumMod val="95000"/>
                    </a:schemeClr>
                  </a:buClr>
                  <a:buSzPct val="100000"/>
                </a:pPr>
                <a:r>
                  <a:rPr lang="en-US" sz="2800" dirty="0"/>
                  <a:t>Note: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!∈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	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!∈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	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e>
                    </m:func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Google Shape;159;p10">
                <a:extLst>
                  <a:ext uri="{FF2B5EF4-FFF2-40B4-BE49-F238E27FC236}">
                    <a16:creationId xmlns:a16="http://schemas.microsoft.com/office/drawing/2014/main" id="{31C87234-266F-4A49-C045-6B0BE8DBD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404" y="1440681"/>
                <a:ext cx="9863191" cy="4600523"/>
              </a:xfrm>
              <a:prstGeom prst="rect">
                <a:avLst/>
              </a:prstGeom>
              <a:blipFill>
                <a:blip r:embed="rId3"/>
                <a:stretch>
                  <a:fillRect l="-1542" t="-3581" r="-102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5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If You Ever See A Series Like These…</a:t>
            </a:r>
            <a:endParaRPr/>
          </a:p>
        </p:txBody>
      </p:sp>
      <p:sp>
        <p:nvSpPr>
          <p:cNvPr id="272" name="Google Shape;272;p25"/>
          <p:cNvSpPr txBox="1">
            <a:spLocks noGrp="1"/>
          </p:cNvSpPr>
          <p:nvPr>
            <p:ph type="body" idx="1"/>
          </p:nvPr>
        </p:nvSpPr>
        <p:spPr>
          <a:xfrm>
            <a:off x="838200" y="1543400"/>
            <a:ext cx="3352800" cy="4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Arithmetic series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The sum of consecutive integers: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Geometric series: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For real x ≠ 1</a:t>
            </a:r>
            <a:endParaRPr/>
          </a:p>
        </p:txBody>
      </p:sp>
      <p:pic>
        <p:nvPicPr>
          <p:cNvPr id="273" name="Google Shape;273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5600" y="2516798"/>
            <a:ext cx="2209800" cy="1058863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</p:pic>
      <p:pic>
        <p:nvPicPr>
          <p:cNvPr id="274" name="Google Shape;274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96300" y="1822348"/>
            <a:ext cx="3352800" cy="917575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</p:pic>
      <p:pic>
        <p:nvPicPr>
          <p:cNvPr id="275" name="Google Shape;275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99400" y="2800815"/>
            <a:ext cx="1622425" cy="99060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</p:pic>
      <p:pic>
        <p:nvPicPr>
          <p:cNvPr id="276" name="Google Shape;276;p2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10155" y="3889749"/>
            <a:ext cx="1905000" cy="97155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</p:pic>
      <p:pic>
        <p:nvPicPr>
          <p:cNvPr id="277" name="Google Shape;277;p2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10155" y="5426355"/>
            <a:ext cx="3321050" cy="106680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</p:pic>
      <p:pic>
        <p:nvPicPr>
          <p:cNvPr id="278" name="Google Shape;278;p2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825374" y="4796508"/>
            <a:ext cx="1905000" cy="966787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</p:pic>
      <p:sp>
        <p:nvSpPr>
          <p:cNvPr id="2" name="Google Shape;279;p25">
            <a:extLst>
              <a:ext uri="{FF2B5EF4-FFF2-40B4-BE49-F238E27FC236}">
                <a16:creationId xmlns:a16="http://schemas.microsoft.com/office/drawing/2014/main" id="{A5043077-DB8D-ED07-E6E7-82667E5282BA}"/>
              </a:ext>
            </a:extLst>
          </p:cNvPr>
          <p:cNvSpPr txBox="1"/>
          <p:nvPr/>
        </p:nvSpPr>
        <p:spPr>
          <a:xfrm>
            <a:off x="5526280" y="1683710"/>
            <a:ext cx="3967041" cy="3946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Polynomial Series</a:t>
            </a:r>
            <a:endParaRPr dirty="0">
              <a:solidFill>
                <a:schemeClr val="tx1">
                  <a:lumMod val="95000"/>
                </a:schemeClr>
              </a:solidFill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The sum of squares:</a:t>
            </a:r>
            <a:br>
              <a:rPr lang="en-US" sz="2000" b="0" i="0" u="none" strike="noStrike" cap="none" dirty="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b="0" i="0" u="none" strike="noStrike" cap="none" dirty="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The general case is:</a:t>
            </a:r>
            <a:br>
              <a:rPr lang="en-US" sz="2000" b="0" i="0" u="none" strike="noStrike" cap="none" dirty="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b="0" i="0" u="none" strike="noStrike" cap="none" dirty="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marR="0" lvl="1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Powers of 2:</a:t>
            </a:r>
            <a:endParaRPr dirty="0">
              <a:solidFill>
                <a:schemeClr val="tx1">
                  <a:lumMod val="95000"/>
                </a:schemeClr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Arithmetic- Geometric Series:</a:t>
            </a:r>
            <a:endParaRPr dirty="0">
              <a:solidFill>
                <a:schemeClr val="tx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6"/>
          <p:cNvSpPr txBox="1">
            <a:spLocks noGrp="1"/>
          </p:cNvSpPr>
          <p:nvPr>
            <p:ph type="title"/>
          </p:nvPr>
        </p:nvSpPr>
        <p:spPr>
          <a:xfrm>
            <a:off x="0" y="3064476"/>
            <a:ext cx="12192000" cy="1778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 dirty="0"/>
              <a:t>Algorithms You’ve Studied</a:t>
            </a:r>
            <a:endParaRPr dirty="0"/>
          </a:p>
        </p:txBody>
      </p:sp>
      <p:sp>
        <p:nvSpPr>
          <p:cNvPr id="285" name="Google Shape;285;p26"/>
          <p:cNvSpPr txBox="1">
            <a:spLocks noGrp="1"/>
          </p:cNvSpPr>
          <p:nvPr>
            <p:ph type="body" idx="1"/>
          </p:nvPr>
        </p:nvSpPr>
        <p:spPr>
          <a:xfrm>
            <a:off x="831850" y="4959178"/>
            <a:ext cx="10515600" cy="113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7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Remember Searching?</a:t>
            </a:r>
            <a:endParaRPr/>
          </a:p>
        </p:txBody>
      </p:sp>
      <p:sp>
        <p:nvSpPr>
          <p:cNvPr id="292" name="Google Shape;292;p27"/>
          <p:cNvSpPr txBox="1">
            <a:spLocks noGrp="1"/>
          </p:cNvSpPr>
          <p:nvPr>
            <p:ph type="body" idx="1"/>
          </p:nvPr>
        </p:nvSpPr>
        <p:spPr>
          <a:xfrm>
            <a:off x="951411" y="1354667"/>
            <a:ext cx="10515600" cy="4609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/>
              <a:t>Problem: </a:t>
            </a:r>
            <a:r>
              <a:rPr lang="en-US" dirty="0"/>
              <a:t>Given a list and a target, return the location of the target in the list, or a sentinel value if not found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/>
              <a:t>Sequential or Linear Search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  <a:buFont typeface="Arial"/>
              <a:buChar char="•"/>
            </a:pPr>
            <a:r>
              <a:rPr lang="en-US" dirty="0"/>
              <a:t>No assumptions on the order of values in the list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  <a:buFont typeface="Arial"/>
              <a:buChar char="•"/>
            </a:pPr>
            <a:r>
              <a:rPr lang="en-US" dirty="0"/>
              <a:t>Compares the target to keys of the list-items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  <a:buFont typeface="Arial"/>
              <a:buChar char="•"/>
            </a:pPr>
            <a:r>
              <a:rPr lang="en-US" dirty="0"/>
              <a:t>Always </a:t>
            </a:r>
            <a:r>
              <a:rPr lang="en-US" sz="2800" dirty="0" err="1"/>
              <a:t>Θ</a:t>
            </a:r>
            <a:r>
              <a:rPr lang="en-US" sz="2800" dirty="0"/>
              <a:t>(n). In the worst-case, </a:t>
            </a:r>
            <a:r>
              <a:rPr lang="en-US" sz="2800" i="1" dirty="0"/>
              <a:t>n</a:t>
            </a:r>
            <a:r>
              <a:rPr lang="en-US" sz="2800" dirty="0"/>
              <a:t> comparisons. On average, </a:t>
            </a:r>
            <a:r>
              <a:rPr lang="en-US" sz="2800" i="1" dirty="0"/>
              <a:t>n/2</a:t>
            </a:r>
            <a:endParaRPr i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  <a:buNone/>
            </a:pPr>
            <a:r>
              <a:rPr lang="en-US" b="1" dirty="0"/>
              <a:t>Binary Search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  <a:buFont typeface="Arial"/>
              <a:buChar char="•"/>
            </a:pPr>
            <a:r>
              <a:rPr lang="en-US" dirty="0"/>
              <a:t>List must be sorted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  <a:buFont typeface="Arial"/>
              <a:buChar char="•"/>
            </a:pPr>
            <a:r>
              <a:rPr lang="en-US" sz="2800" dirty="0" err="1"/>
              <a:t>Θ</a:t>
            </a:r>
            <a:r>
              <a:rPr lang="en-US" sz="2800" dirty="0"/>
              <a:t>(log n) in the worst-case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  <a:buNone/>
            </a:pPr>
            <a:r>
              <a:rPr lang="en-US" i="1" dirty="0"/>
              <a:t>Reminder:  </a:t>
            </a:r>
            <a:r>
              <a:rPr lang="en-US" dirty="0"/>
              <a:t>balanced search trees are also </a:t>
            </a:r>
            <a:r>
              <a:rPr lang="en-US" sz="2800" dirty="0" err="1"/>
              <a:t>Θ</a:t>
            </a:r>
            <a:r>
              <a:rPr lang="en-US" sz="2800" dirty="0"/>
              <a:t>(log n) in the worst-case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457200" lvl="0" indent="-279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8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Remember Quadratic Sorts?</a:t>
            </a:r>
            <a:endParaRPr/>
          </a:p>
        </p:txBody>
      </p:sp>
      <p:sp>
        <p:nvSpPr>
          <p:cNvPr id="299" name="Google Shape;299;p28"/>
          <p:cNvSpPr txBox="1">
            <a:spLocks noGrp="1"/>
          </p:cNvSpPr>
          <p:nvPr>
            <p:ph type="body" idx="1"/>
          </p:nvPr>
        </p:nvSpPr>
        <p:spPr>
          <a:xfrm>
            <a:off x="1538151" y="1491148"/>
            <a:ext cx="9115697" cy="4609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There are a number of comparison sorts that are </a:t>
            </a:r>
            <a:r>
              <a:rPr lang="en-US" sz="2800" dirty="0" err="1"/>
              <a:t>Θ</a:t>
            </a:r>
            <a:r>
              <a:rPr lang="en-US" sz="2800" dirty="0"/>
              <a:t>(n</a:t>
            </a:r>
            <a:r>
              <a:rPr lang="en-US" baseline="30000" dirty="0"/>
              <a:t>2</a:t>
            </a:r>
            <a:r>
              <a:rPr lang="en-US" sz="2800" dirty="0"/>
              <a:t>) </a:t>
            </a:r>
            <a:r>
              <a:rPr lang="en-US" dirty="0"/>
              <a:t>in the worst-case: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     Insertion sort, Selection sort, Bubble sort,…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/>
              <a:t>Insertion sort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  <a:buFont typeface="Arial"/>
              <a:buChar char="•"/>
            </a:pPr>
            <a:r>
              <a:rPr lang="en-US" sz="2800" dirty="0" err="1"/>
              <a:t>Θ</a:t>
            </a:r>
            <a:r>
              <a:rPr lang="en-US" sz="2800" dirty="0"/>
              <a:t>(n</a:t>
            </a:r>
            <a:r>
              <a:rPr lang="en-US" baseline="30000" dirty="0"/>
              <a:t>2</a:t>
            </a:r>
            <a:r>
              <a:rPr lang="en-US" sz="2800" dirty="0"/>
              <a:t>) in the worst-case, but it’s </a:t>
            </a:r>
            <a:r>
              <a:rPr lang="en-US" sz="2800" dirty="0" err="1"/>
              <a:t>Θ</a:t>
            </a:r>
            <a:r>
              <a:rPr lang="en-US" sz="2800" dirty="0"/>
              <a:t>(n) </a:t>
            </a:r>
            <a:r>
              <a:rPr lang="en-US" dirty="0"/>
              <a:t>in the best-case</a:t>
            </a:r>
            <a:endParaRPr dirty="0"/>
          </a:p>
          <a:p>
            <a:pPr marL="114300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400"/>
              <a:buChar char="•"/>
            </a:pPr>
            <a:r>
              <a:rPr lang="en-US" dirty="0"/>
              <a:t>If list is almost sorted, performance is close to linear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  <a:buFont typeface="Arial"/>
              <a:buChar char="•"/>
            </a:pPr>
            <a:r>
              <a:rPr lang="en-US" dirty="0"/>
              <a:t>It’s </a:t>
            </a:r>
            <a:r>
              <a:rPr lang="en-US" i="1" dirty="0"/>
              <a:t>in-place </a:t>
            </a:r>
            <a:r>
              <a:rPr lang="en-US" dirty="0"/>
              <a:t>(extra storage is constant in size)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  <a:buFont typeface="Arial"/>
              <a:buChar char="•"/>
            </a:pPr>
            <a:r>
              <a:rPr lang="en-US" dirty="0"/>
              <a:t>For more info, CLRS Section 2.1 or other sources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9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Remember Mergesort?</a:t>
            </a:r>
            <a:endParaRPr/>
          </a:p>
        </p:txBody>
      </p:sp>
      <p:sp>
        <p:nvSpPr>
          <p:cNvPr id="306" name="Google Shape;306;p29"/>
          <p:cNvSpPr txBox="1">
            <a:spLocks noGrp="1"/>
          </p:cNvSpPr>
          <p:nvPr>
            <p:ph type="body" idx="1"/>
          </p:nvPr>
        </p:nvSpPr>
        <p:spPr>
          <a:xfrm>
            <a:off x="1372688" y="1473731"/>
            <a:ext cx="9446623" cy="4609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/>
              <a:t>A divide and conquer algorithm, usually implemented recursively on smaller </a:t>
            </a:r>
            <a:r>
              <a:rPr lang="en-US" dirty="0" err="1"/>
              <a:t>sublists</a:t>
            </a:r>
            <a:r>
              <a:rPr lang="en-US" dirty="0"/>
              <a:t>: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Font typeface="Calibri"/>
              <a:buAutoNum type="arabicPeriod"/>
            </a:pPr>
            <a:r>
              <a:rPr lang="en-US" dirty="0"/>
              <a:t>If a </a:t>
            </a:r>
            <a:r>
              <a:rPr lang="en-US" dirty="0" err="1"/>
              <a:t>sublist</a:t>
            </a:r>
            <a:r>
              <a:rPr lang="en-US" dirty="0"/>
              <a:t> is size 0 or 1, do nothing (it’s already sorted)</a:t>
            </a:r>
            <a:br>
              <a:rPr lang="en-US" dirty="0"/>
            </a:br>
            <a:r>
              <a:rPr lang="en-US" dirty="0"/>
              <a:t>Otherwise: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Font typeface="Calibri"/>
              <a:buAutoNum type="arabicPeriod"/>
            </a:pPr>
            <a:r>
              <a:rPr lang="en-US" dirty="0"/>
              <a:t>Divide the (sub)list into two equal smaller </a:t>
            </a:r>
            <a:r>
              <a:rPr lang="en-US" dirty="0" err="1"/>
              <a:t>sublists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Font typeface="Calibri"/>
              <a:buAutoNum type="arabicPeriod"/>
            </a:pPr>
            <a:r>
              <a:rPr lang="en-US" dirty="0"/>
              <a:t>Sort each of those recursively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Font typeface="Calibri"/>
              <a:buAutoNum type="arabicPeriod"/>
            </a:pPr>
            <a:r>
              <a:rPr lang="en-US" dirty="0"/>
              <a:t>Use a merge algorithm to combine the two sorted </a:t>
            </a:r>
            <a:r>
              <a:rPr lang="en-US" dirty="0" err="1"/>
              <a:t>sublists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None/>
            </a:pPr>
            <a:r>
              <a:rPr lang="en-US" b="1" dirty="0"/>
              <a:t>Note: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Font typeface="Arial"/>
              <a:buChar char="•"/>
            </a:pPr>
            <a:r>
              <a:rPr lang="en-US" dirty="0" err="1"/>
              <a:t>Mergesort</a:t>
            </a:r>
            <a:r>
              <a:rPr lang="en-US" dirty="0"/>
              <a:t> is </a:t>
            </a:r>
            <a:r>
              <a:rPr lang="en-US" sz="2800" dirty="0" err="1"/>
              <a:t>Θ</a:t>
            </a:r>
            <a:r>
              <a:rPr lang="en-US" sz="2800" dirty="0"/>
              <a:t>(n log n) in the worst-case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Font typeface="Arial"/>
              <a:buChar char="•"/>
            </a:pPr>
            <a:r>
              <a:rPr lang="en-US" dirty="0"/>
              <a:t>It’s not in-place  (we need </a:t>
            </a:r>
            <a:r>
              <a:rPr lang="en-US" sz="2800" dirty="0" err="1"/>
              <a:t>Θ</a:t>
            </a:r>
            <a:r>
              <a:rPr lang="en-US" sz="2800" dirty="0"/>
              <a:t>(n) extra storage for the merge)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Font typeface="Arial"/>
              <a:buChar char="•"/>
            </a:pPr>
            <a:r>
              <a:rPr lang="en-US" dirty="0"/>
              <a:t>CLRS Section 2.3.1 is about </a:t>
            </a:r>
            <a:r>
              <a:rPr lang="en-US" dirty="0" err="1"/>
              <a:t>mergesort</a:t>
            </a:r>
            <a:r>
              <a:rPr lang="en-US" dirty="0"/>
              <a:t>, and there are other good sources</a:t>
            </a: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0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Remember Quicksort?</a:t>
            </a:r>
            <a:endParaRPr/>
          </a:p>
        </p:txBody>
      </p:sp>
      <p:sp>
        <p:nvSpPr>
          <p:cNvPr id="313" name="Google Shape;313;p30"/>
          <p:cNvSpPr txBox="1">
            <a:spLocks noGrp="1"/>
          </p:cNvSpPr>
          <p:nvPr>
            <p:ph type="body" idx="1"/>
          </p:nvPr>
        </p:nvSpPr>
        <p:spPr>
          <a:xfrm>
            <a:off x="1581694" y="1525983"/>
            <a:ext cx="9028611" cy="4609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/>
              <a:t>Also a divide and conquer algorithm, usually implemented recursively on smaller </a:t>
            </a:r>
            <a:r>
              <a:rPr lang="en-US" dirty="0" err="1"/>
              <a:t>sublists</a:t>
            </a:r>
            <a:r>
              <a:rPr lang="en-US" dirty="0"/>
              <a:t>: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Font typeface="Calibri"/>
              <a:buAutoNum type="arabicPeriod"/>
            </a:pPr>
            <a:r>
              <a:rPr lang="en-US" dirty="0"/>
              <a:t>If a </a:t>
            </a:r>
            <a:r>
              <a:rPr lang="en-US" dirty="0" err="1"/>
              <a:t>sublist</a:t>
            </a:r>
            <a:r>
              <a:rPr lang="en-US" dirty="0"/>
              <a:t> is size 0 or 1, do nothing (it’s already sorted)</a:t>
            </a:r>
            <a:br>
              <a:rPr lang="en-US" dirty="0"/>
            </a:br>
            <a:r>
              <a:rPr lang="en-US" dirty="0"/>
              <a:t>Otherwise: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Font typeface="Calibri"/>
              <a:buAutoNum type="arabicPeriod"/>
            </a:pPr>
            <a:r>
              <a:rPr lang="en-US" dirty="0"/>
              <a:t>Use a </a:t>
            </a:r>
            <a:r>
              <a:rPr lang="en-US" b="1" dirty="0"/>
              <a:t>partition algorithm </a:t>
            </a:r>
            <a:r>
              <a:rPr lang="en-US" dirty="0"/>
              <a:t>to place some “pivot” value into it’s correct position, that also makes sure items found before the pivot are smaller, and those after the pivot are larger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Font typeface="Calibri"/>
              <a:buAutoNum type="arabicPeriod"/>
            </a:pPr>
            <a:r>
              <a:rPr lang="en-US" dirty="0"/>
              <a:t>Sort the </a:t>
            </a:r>
            <a:r>
              <a:rPr lang="en-US" dirty="0" err="1"/>
              <a:t>sublists</a:t>
            </a:r>
            <a:r>
              <a:rPr lang="en-US" dirty="0"/>
              <a:t> on either side of the pivot recursively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None/>
            </a:pPr>
            <a:r>
              <a:rPr lang="en-US" b="1" dirty="0"/>
              <a:t>Note: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Font typeface="Arial"/>
              <a:buChar char="•"/>
            </a:pPr>
            <a:r>
              <a:rPr lang="en-US" dirty="0"/>
              <a:t>Quicksort is </a:t>
            </a:r>
            <a:r>
              <a:rPr lang="en-US" dirty="0" err="1"/>
              <a:t>Θ</a:t>
            </a:r>
            <a:r>
              <a:rPr lang="en-US" dirty="0"/>
              <a:t>(n log n) in the best- and average-cases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Font typeface="Arial"/>
              <a:buChar char="•"/>
            </a:pPr>
            <a:r>
              <a:rPr lang="en-US" dirty="0"/>
              <a:t>Could be </a:t>
            </a:r>
            <a:r>
              <a:rPr lang="en-US" dirty="0" err="1"/>
              <a:t>Θ</a:t>
            </a:r>
            <a:r>
              <a:rPr lang="en-US" dirty="0"/>
              <a:t>(n</a:t>
            </a:r>
            <a:r>
              <a:rPr lang="en-US" baseline="30000" dirty="0"/>
              <a:t>2</a:t>
            </a:r>
            <a:r>
              <a:rPr lang="en-US" dirty="0"/>
              <a:t>) in the worst-case but this can be avoided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Font typeface="Arial"/>
              <a:buChar char="•"/>
            </a:pPr>
            <a:r>
              <a:rPr lang="en-US" dirty="0"/>
              <a:t>It’s in-place (except for the stack needed for recursive calls)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Font typeface="Arial"/>
              <a:buChar char="•"/>
            </a:pPr>
            <a:r>
              <a:rPr lang="en-US" dirty="0"/>
              <a:t>CLRS Chapter 7 is about quicksort, and there are other good sources</a:t>
            </a:r>
            <a:endParaRPr dirty="0"/>
          </a:p>
          <a:p>
            <a:pPr marL="457200" lvl="0" indent="-30607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1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 dirty="0"/>
              <a:t>Remember Lower Bounds Proof for Sorting?</a:t>
            </a:r>
            <a:endParaRPr dirty="0"/>
          </a:p>
        </p:txBody>
      </p:sp>
      <p:sp>
        <p:nvSpPr>
          <p:cNvPr id="320" name="Google Shape;320;p31"/>
          <p:cNvSpPr txBox="1">
            <a:spLocks noGrp="1"/>
          </p:cNvSpPr>
          <p:nvPr>
            <p:ph type="body" idx="1"/>
          </p:nvPr>
        </p:nvSpPr>
        <p:spPr>
          <a:xfrm>
            <a:off x="1638300" y="1354667"/>
            <a:ext cx="8915400" cy="4915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/>
              <a:t>In CS2100, you saw a lower bounds proof that showed:</a:t>
            </a:r>
            <a:br>
              <a:rPr lang="en-US" dirty="0"/>
            </a:br>
            <a:r>
              <a:rPr lang="en-US" dirty="0"/>
              <a:t>      Any comparison sort has time-complexity of Ω(n log n)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/>
              <a:t>Recall for a lower-bound proof, we make a logical argument about the problem itself, one that holds for </a:t>
            </a:r>
            <a:r>
              <a:rPr lang="en-US" u="sng" dirty="0"/>
              <a:t>any</a:t>
            </a:r>
            <a:r>
              <a:rPr lang="en-US" dirty="0"/>
              <a:t> algorithm that solves the problem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/>
              <a:t>Proof used a decision tree (next slide), which models how any sort must work: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Font typeface="Arial"/>
              <a:buChar char="•"/>
            </a:pPr>
            <a:r>
              <a:rPr lang="en-US" dirty="0"/>
              <a:t>Internal nodes represented a comparison between two keys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Font typeface="Arial"/>
              <a:buChar char="•"/>
            </a:pPr>
            <a:r>
              <a:rPr lang="en-US" dirty="0"/>
              <a:t>Leaf nodes were permutations of list items  (n! leaves)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Font typeface="Arial"/>
              <a:buChar char="•"/>
            </a:pPr>
            <a:r>
              <a:rPr lang="en-US" dirty="0"/>
              <a:t>A correct sorting algorithm must trace a path through the tree to each of the leaves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Font typeface="Arial"/>
              <a:buChar char="•"/>
            </a:pPr>
            <a:r>
              <a:rPr lang="en-US" dirty="0"/>
              <a:t>What’s the longest path?  The height of the tree.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Font typeface="Arial"/>
              <a:buChar char="•"/>
            </a:pPr>
            <a:r>
              <a:rPr lang="en-US" dirty="0"/>
              <a:t>So how short can a tree be with n! leaves?</a:t>
            </a: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2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951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 dirty="0"/>
              <a:t>Decision Tree Argument</a:t>
            </a:r>
            <a:endParaRPr dirty="0"/>
          </a:p>
        </p:txBody>
      </p:sp>
      <p:sp>
        <p:nvSpPr>
          <p:cNvPr id="328" name="Google Shape;328;p32"/>
          <p:cNvSpPr txBox="1">
            <a:spLocks noGrp="1"/>
          </p:cNvSpPr>
          <p:nvPr>
            <p:ph type="body" idx="1"/>
          </p:nvPr>
        </p:nvSpPr>
        <p:spPr>
          <a:xfrm>
            <a:off x="1216227" y="976633"/>
            <a:ext cx="7062310" cy="1097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dirty="0"/>
              <a:t>Worst case run time is the longest execution path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dirty="0"/>
              <a:t>i.e., “height” of the decision tree</a:t>
            </a:r>
            <a:endParaRPr dirty="0"/>
          </a:p>
        </p:txBody>
      </p:sp>
      <p:sp>
        <p:nvSpPr>
          <p:cNvPr id="396" name="Google Shape;396;p32"/>
          <p:cNvSpPr txBox="1"/>
          <p:nvPr/>
        </p:nvSpPr>
        <p:spPr>
          <a:xfrm>
            <a:off x="8330788" y="1103590"/>
            <a:ext cx="2980249" cy="707886"/>
          </a:xfrm>
          <a:prstGeom prst="rect">
            <a:avLst/>
          </a:prstGeom>
          <a:noFill/>
          <a:ln w="635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CLRS Section 8.1 describes this in more detail</a:t>
            </a:r>
            <a:endParaRPr dirty="0">
              <a:solidFill>
                <a:schemeClr val="tx1">
                  <a:lumMod val="95000"/>
                </a:schemeClr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81D224F-9151-B40D-FB93-2B736F2A1996}"/>
              </a:ext>
            </a:extLst>
          </p:cNvPr>
          <p:cNvGrpSpPr/>
          <p:nvPr/>
        </p:nvGrpSpPr>
        <p:grpSpPr>
          <a:xfrm>
            <a:off x="1332411" y="2185851"/>
            <a:ext cx="9384814" cy="4584281"/>
            <a:chOff x="1332411" y="2185851"/>
            <a:chExt cx="9384814" cy="4584281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688D7D7-277B-71B1-3F96-C017650796E7}"/>
                </a:ext>
              </a:extLst>
            </p:cNvPr>
            <p:cNvSpPr/>
            <p:nvPr/>
          </p:nvSpPr>
          <p:spPr>
            <a:xfrm>
              <a:off x="1332411" y="2185851"/>
              <a:ext cx="9384814" cy="4584281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30" name="Google Shape;330;p32"/>
            <p:cNvGrpSpPr/>
            <p:nvPr/>
          </p:nvGrpSpPr>
          <p:grpSpPr>
            <a:xfrm>
              <a:off x="2804159" y="3130296"/>
              <a:ext cx="6492240" cy="2813304"/>
              <a:chOff x="0" y="1371600"/>
              <a:chExt cx="9144000" cy="3962400"/>
            </a:xfrm>
          </p:grpSpPr>
          <p:sp>
            <p:nvSpPr>
              <p:cNvPr id="331" name="Google Shape;331;p32"/>
              <p:cNvSpPr/>
              <p:nvPr/>
            </p:nvSpPr>
            <p:spPr>
              <a:xfrm>
                <a:off x="3877670" y="1371600"/>
                <a:ext cx="99913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FFF00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&gt;or&lt;?</a:t>
                </a:r>
                <a:endParaRPr/>
              </a:p>
            </p:txBody>
          </p:sp>
          <p:sp>
            <p:nvSpPr>
              <p:cNvPr id="332" name="Google Shape;332;p32"/>
              <p:cNvSpPr/>
              <p:nvPr/>
            </p:nvSpPr>
            <p:spPr>
              <a:xfrm>
                <a:off x="1676400" y="2057400"/>
                <a:ext cx="10668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FFF00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&gt;or&lt;?</a:t>
                </a:r>
                <a:endParaRPr/>
              </a:p>
            </p:txBody>
          </p:sp>
          <p:sp>
            <p:nvSpPr>
              <p:cNvPr id="333" name="Google Shape;333;p32"/>
              <p:cNvSpPr/>
              <p:nvPr/>
            </p:nvSpPr>
            <p:spPr>
              <a:xfrm>
                <a:off x="6382034" y="2057400"/>
                <a:ext cx="1009366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FFF00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&gt;or&lt;?</a:t>
                </a:r>
                <a:endParaRPr/>
              </a:p>
            </p:txBody>
          </p:sp>
          <p:sp>
            <p:nvSpPr>
              <p:cNvPr id="334" name="Google Shape;334;p32"/>
              <p:cNvSpPr/>
              <p:nvPr/>
            </p:nvSpPr>
            <p:spPr>
              <a:xfrm>
                <a:off x="609600" y="2743200"/>
                <a:ext cx="104775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FFF00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&gt;or&lt;?</a:t>
                </a:r>
                <a:endParaRPr/>
              </a:p>
            </p:txBody>
          </p:sp>
          <p:sp>
            <p:nvSpPr>
              <p:cNvPr id="335" name="Google Shape;335;p32"/>
              <p:cNvSpPr/>
              <p:nvPr/>
            </p:nvSpPr>
            <p:spPr>
              <a:xfrm>
                <a:off x="2895600" y="2743200"/>
                <a:ext cx="9906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FFF00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&gt;or&lt;?</a:t>
                </a:r>
                <a:endParaRPr/>
              </a:p>
            </p:txBody>
          </p:sp>
          <p:cxnSp>
            <p:nvCxnSpPr>
              <p:cNvPr id="336" name="Google Shape;336;p32"/>
              <p:cNvCxnSpPr>
                <a:stCxn id="331" idx="1"/>
                <a:endCxn id="332" idx="0"/>
              </p:cNvCxnSpPr>
              <p:nvPr/>
            </p:nvCxnSpPr>
            <p:spPr>
              <a:xfrm flipH="1">
                <a:off x="2209670" y="1600200"/>
                <a:ext cx="1668000" cy="457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stealth" w="med" len="med"/>
              </a:ln>
            </p:spPr>
          </p:cxnSp>
          <p:cxnSp>
            <p:nvCxnSpPr>
              <p:cNvPr id="337" name="Google Shape;337;p32"/>
              <p:cNvCxnSpPr>
                <a:stCxn id="331" idx="3"/>
                <a:endCxn id="333" idx="0"/>
              </p:cNvCxnSpPr>
              <p:nvPr/>
            </p:nvCxnSpPr>
            <p:spPr>
              <a:xfrm>
                <a:off x="4876800" y="1600200"/>
                <a:ext cx="2010000" cy="457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stealth" w="med" len="med"/>
              </a:ln>
            </p:spPr>
          </p:cxnSp>
          <p:cxnSp>
            <p:nvCxnSpPr>
              <p:cNvPr id="338" name="Google Shape;338;p32"/>
              <p:cNvCxnSpPr>
                <a:stCxn id="332" idx="1"/>
                <a:endCxn id="334" idx="0"/>
              </p:cNvCxnSpPr>
              <p:nvPr/>
            </p:nvCxnSpPr>
            <p:spPr>
              <a:xfrm flipH="1">
                <a:off x="1133400" y="2286000"/>
                <a:ext cx="543000" cy="457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stealth" w="med" len="med"/>
              </a:ln>
            </p:spPr>
          </p:cxnSp>
          <p:cxnSp>
            <p:nvCxnSpPr>
              <p:cNvPr id="339" name="Google Shape;339;p32"/>
              <p:cNvCxnSpPr>
                <a:stCxn id="332" idx="3"/>
                <a:endCxn id="335" idx="0"/>
              </p:cNvCxnSpPr>
              <p:nvPr/>
            </p:nvCxnSpPr>
            <p:spPr>
              <a:xfrm>
                <a:off x="2743200" y="2286000"/>
                <a:ext cx="647700" cy="457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stealth" w="med" len="med"/>
              </a:ln>
            </p:spPr>
          </p:cxnSp>
          <p:sp>
            <p:nvSpPr>
              <p:cNvPr id="340" name="Google Shape;340;p32"/>
              <p:cNvSpPr/>
              <p:nvPr/>
            </p:nvSpPr>
            <p:spPr>
              <a:xfrm>
                <a:off x="5181600" y="2743200"/>
                <a:ext cx="1038367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FFF00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&gt;or&lt;?</a:t>
                </a:r>
                <a:endParaRPr/>
              </a:p>
            </p:txBody>
          </p:sp>
          <p:sp>
            <p:nvSpPr>
              <p:cNvPr id="341" name="Google Shape;341;p32"/>
              <p:cNvSpPr/>
              <p:nvPr/>
            </p:nvSpPr>
            <p:spPr>
              <a:xfrm>
                <a:off x="7467600" y="2743200"/>
                <a:ext cx="10668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FFF00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&gt;or&lt;?</a:t>
                </a:r>
                <a:endParaRPr/>
              </a:p>
            </p:txBody>
          </p:sp>
          <p:cxnSp>
            <p:nvCxnSpPr>
              <p:cNvPr id="342" name="Google Shape;342;p32"/>
              <p:cNvCxnSpPr>
                <a:stCxn id="333" idx="1"/>
                <a:endCxn id="340" idx="0"/>
              </p:cNvCxnSpPr>
              <p:nvPr/>
            </p:nvCxnSpPr>
            <p:spPr>
              <a:xfrm flipH="1">
                <a:off x="5700734" y="2286000"/>
                <a:ext cx="681300" cy="457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stealth" w="med" len="med"/>
              </a:ln>
            </p:spPr>
          </p:cxnSp>
          <p:cxnSp>
            <p:nvCxnSpPr>
              <p:cNvPr id="343" name="Google Shape;343;p32"/>
              <p:cNvCxnSpPr>
                <a:stCxn id="333" idx="3"/>
                <a:endCxn id="341" idx="0"/>
              </p:cNvCxnSpPr>
              <p:nvPr/>
            </p:nvCxnSpPr>
            <p:spPr>
              <a:xfrm>
                <a:off x="7391400" y="2286000"/>
                <a:ext cx="609600" cy="457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stealth" w="med" len="med"/>
              </a:ln>
            </p:spPr>
          </p:cxnSp>
          <p:sp>
            <p:nvSpPr>
              <p:cNvPr id="344" name="Google Shape;344;p32"/>
              <p:cNvSpPr/>
              <p:nvPr/>
            </p:nvSpPr>
            <p:spPr>
              <a:xfrm>
                <a:off x="8096250" y="3447197"/>
                <a:ext cx="104775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FFF00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&gt;or&lt;?</a:t>
                </a:r>
                <a:endParaRPr/>
              </a:p>
            </p:txBody>
          </p:sp>
          <p:sp>
            <p:nvSpPr>
              <p:cNvPr id="345" name="Google Shape;345;p32"/>
              <p:cNvSpPr/>
              <p:nvPr/>
            </p:nvSpPr>
            <p:spPr>
              <a:xfrm>
                <a:off x="6877050" y="3429000"/>
                <a:ext cx="104775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FFF00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&gt;or&lt;?</a:t>
                </a:r>
                <a:endParaRPr/>
              </a:p>
            </p:txBody>
          </p:sp>
          <p:sp>
            <p:nvSpPr>
              <p:cNvPr id="346" name="Google Shape;346;p32"/>
              <p:cNvSpPr/>
              <p:nvPr/>
            </p:nvSpPr>
            <p:spPr>
              <a:xfrm>
                <a:off x="5715000" y="3429000"/>
                <a:ext cx="104775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FFF00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&gt;or&lt;?</a:t>
                </a:r>
                <a:endParaRPr/>
              </a:p>
            </p:txBody>
          </p:sp>
          <p:sp>
            <p:nvSpPr>
              <p:cNvPr id="347" name="Google Shape;347;p32"/>
              <p:cNvSpPr/>
              <p:nvPr/>
            </p:nvSpPr>
            <p:spPr>
              <a:xfrm>
                <a:off x="4572000" y="3429000"/>
                <a:ext cx="104775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FFF00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&gt;or&lt;?</a:t>
                </a:r>
                <a:endParaRPr/>
              </a:p>
            </p:txBody>
          </p:sp>
          <p:sp>
            <p:nvSpPr>
              <p:cNvPr id="348" name="Google Shape;348;p32"/>
              <p:cNvSpPr/>
              <p:nvPr/>
            </p:nvSpPr>
            <p:spPr>
              <a:xfrm>
                <a:off x="3429000" y="3434687"/>
                <a:ext cx="104775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FFF00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&gt;or&lt;?</a:t>
                </a:r>
                <a:endParaRPr/>
              </a:p>
            </p:txBody>
          </p:sp>
          <p:sp>
            <p:nvSpPr>
              <p:cNvPr id="349" name="Google Shape;349;p32"/>
              <p:cNvSpPr/>
              <p:nvPr/>
            </p:nvSpPr>
            <p:spPr>
              <a:xfrm>
                <a:off x="2286000" y="3434687"/>
                <a:ext cx="104775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FFF00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&gt;or&lt;?</a:t>
                </a:r>
                <a:endParaRPr/>
              </a:p>
            </p:txBody>
          </p:sp>
          <p:sp>
            <p:nvSpPr>
              <p:cNvPr id="350" name="Google Shape;350;p32"/>
              <p:cNvSpPr/>
              <p:nvPr/>
            </p:nvSpPr>
            <p:spPr>
              <a:xfrm>
                <a:off x="1162050" y="3429000"/>
                <a:ext cx="104775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FFF00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&gt;or&lt;?</a:t>
                </a:r>
                <a:endParaRPr/>
              </a:p>
            </p:txBody>
          </p:sp>
          <p:sp>
            <p:nvSpPr>
              <p:cNvPr id="351" name="Google Shape;351;p32"/>
              <p:cNvSpPr/>
              <p:nvPr/>
            </p:nvSpPr>
            <p:spPr>
              <a:xfrm>
                <a:off x="0" y="3429000"/>
                <a:ext cx="104775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FFF00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&gt;or&lt;?</a:t>
                </a:r>
                <a:endParaRPr/>
              </a:p>
            </p:txBody>
          </p:sp>
          <p:cxnSp>
            <p:nvCxnSpPr>
              <p:cNvPr id="352" name="Google Shape;352;p32"/>
              <p:cNvCxnSpPr>
                <a:stCxn id="334" idx="1"/>
                <a:endCxn id="351" idx="0"/>
              </p:cNvCxnSpPr>
              <p:nvPr/>
            </p:nvCxnSpPr>
            <p:spPr>
              <a:xfrm flipH="1">
                <a:off x="523800" y="2971800"/>
                <a:ext cx="85800" cy="457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stealth" w="med" len="med"/>
              </a:ln>
            </p:spPr>
          </p:cxnSp>
          <p:cxnSp>
            <p:nvCxnSpPr>
              <p:cNvPr id="353" name="Google Shape;353;p32"/>
              <p:cNvCxnSpPr>
                <a:stCxn id="334" idx="3"/>
                <a:endCxn id="350" idx="0"/>
              </p:cNvCxnSpPr>
              <p:nvPr/>
            </p:nvCxnSpPr>
            <p:spPr>
              <a:xfrm>
                <a:off x="1657350" y="2971800"/>
                <a:ext cx="28500" cy="457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stealth" w="med" len="med"/>
              </a:ln>
            </p:spPr>
          </p:cxnSp>
          <p:cxnSp>
            <p:nvCxnSpPr>
              <p:cNvPr id="354" name="Google Shape;354;p32"/>
              <p:cNvCxnSpPr>
                <a:stCxn id="335" idx="1"/>
                <a:endCxn id="349" idx="0"/>
              </p:cNvCxnSpPr>
              <p:nvPr/>
            </p:nvCxnSpPr>
            <p:spPr>
              <a:xfrm flipH="1">
                <a:off x="2809800" y="2971800"/>
                <a:ext cx="85800" cy="462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stealth" w="med" len="med"/>
              </a:ln>
            </p:spPr>
          </p:cxnSp>
          <p:cxnSp>
            <p:nvCxnSpPr>
              <p:cNvPr id="355" name="Google Shape;355;p32"/>
              <p:cNvCxnSpPr>
                <a:stCxn id="335" idx="3"/>
                <a:endCxn id="348" idx="0"/>
              </p:cNvCxnSpPr>
              <p:nvPr/>
            </p:nvCxnSpPr>
            <p:spPr>
              <a:xfrm>
                <a:off x="3886200" y="2971800"/>
                <a:ext cx="66600" cy="462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stealth" w="med" len="med"/>
              </a:ln>
            </p:spPr>
          </p:cxnSp>
          <p:cxnSp>
            <p:nvCxnSpPr>
              <p:cNvPr id="356" name="Google Shape;356;p32"/>
              <p:cNvCxnSpPr>
                <a:stCxn id="340" idx="1"/>
                <a:endCxn id="347" idx="0"/>
              </p:cNvCxnSpPr>
              <p:nvPr/>
            </p:nvCxnSpPr>
            <p:spPr>
              <a:xfrm flipH="1">
                <a:off x="5095800" y="2971800"/>
                <a:ext cx="85800" cy="457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stealth" w="med" len="med"/>
              </a:ln>
            </p:spPr>
          </p:cxnSp>
          <p:cxnSp>
            <p:nvCxnSpPr>
              <p:cNvPr id="357" name="Google Shape;357;p32"/>
              <p:cNvCxnSpPr>
                <a:stCxn id="340" idx="3"/>
                <a:endCxn id="346" idx="0"/>
              </p:cNvCxnSpPr>
              <p:nvPr/>
            </p:nvCxnSpPr>
            <p:spPr>
              <a:xfrm>
                <a:off x="6219967" y="2971800"/>
                <a:ext cx="18900" cy="457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stealth" w="med" len="med"/>
              </a:ln>
            </p:spPr>
          </p:cxnSp>
          <p:cxnSp>
            <p:nvCxnSpPr>
              <p:cNvPr id="358" name="Google Shape;358;p32"/>
              <p:cNvCxnSpPr>
                <a:stCxn id="341" idx="1"/>
                <a:endCxn id="345" idx="0"/>
              </p:cNvCxnSpPr>
              <p:nvPr/>
            </p:nvCxnSpPr>
            <p:spPr>
              <a:xfrm flipH="1">
                <a:off x="7401000" y="2971800"/>
                <a:ext cx="66600" cy="457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stealth" w="med" len="med"/>
              </a:ln>
            </p:spPr>
          </p:cxnSp>
          <p:cxnSp>
            <p:nvCxnSpPr>
              <p:cNvPr id="359" name="Google Shape;359;p32"/>
              <p:cNvCxnSpPr>
                <a:stCxn id="341" idx="3"/>
                <a:endCxn id="344" idx="0"/>
              </p:cNvCxnSpPr>
              <p:nvPr/>
            </p:nvCxnSpPr>
            <p:spPr>
              <a:xfrm>
                <a:off x="8534400" y="2971800"/>
                <a:ext cx="85800" cy="475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stealth" w="med" len="med"/>
              </a:ln>
            </p:spPr>
          </p:cxnSp>
          <p:sp>
            <p:nvSpPr>
              <p:cNvPr id="360" name="Google Shape;360;p32"/>
              <p:cNvSpPr/>
              <p:nvPr/>
            </p:nvSpPr>
            <p:spPr>
              <a:xfrm>
                <a:off x="76200" y="4876800"/>
                <a:ext cx="1793117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F99FF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[1,2,3,4,5]</a:t>
                </a:r>
                <a:endParaRPr/>
              </a:p>
            </p:txBody>
          </p:sp>
          <p:sp>
            <p:nvSpPr>
              <p:cNvPr id="361" name="Google Shape;361;p32"/>
              <p:cNvSpPr/>
              <p:nvPr/>
            </p:nvSpPr>
            <p:spPr>
              <a:xfrm>
                <a:off x="2204967" y="4876800"/>
                <a:ext cx="1793117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F99FF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[2,1,3,4,5]</a:t>
                </a:r>
                <a:endParaRPr/>
              </a:p>
            </p:txBody>
          </p:sp>
          <p:sp>
            <p:nvSpPr>
              <p:cNvPr id="362" name="Google Shape;362;p32"/>
              <p:cNvSpPr/>
              <p:nvPr/>
            </p:nvSpPr>
            <p:spPr>
              <a:xfrm>
                <a:off x="4719566" y="4864290"/>
                <a:ext cx="1793117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F99FF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[5,2,4,1,3]</a:t>
                </a:r>
                <a:endParaRPr/>
              </a:p>
            </p:txBody>
          </p:sp>
          <p:sp>
            <p:nvSpPr>
              <p:cNvPr id="363" name="Google Shape;363;p32"/>
              <p:cNvSpPr/>
              <p:nvPr/>
            </p:nvSpPr>
            <p:spPr>
              <a:xfrm>
                <a:off x="7274683" y="4864290"/>
                <a:ext cx="1793117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F99FF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[5,4,3,2,1]</a:t>
                </a:r>
                <a:endParaRPr/>
              </a:p>
            </p:txBody>
          </p:sp>
          <p:sp>
            <p:nvSpPr>
              <p:cNvPr id="364" name="Google Shape;364;p32"/>
              <p:cNvSpPr txBox="1"/>
              <p:nvPr/>
            </p:nvSpPr>
            <p:spPr>
              <a:xfrm>
                <a:off x="4114800" y="4724400"/>
                <a:ext cx="483611" cy="5201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/>
              </a:p>
            </p:txBody>
          </p:sp>
          <p:sp>
            <p:nvSpPr>
              <p:cNvPr id="365" name="Google Shape;365;p32"/>
              <p:cNvSpPr txBox="1"/>
              <p:nvPr/>
            </p:nvSpPr>
            <p:spPr>
              <a:xfrm>
                <a:off x="6653468" y="4724400"/>
                <a:ext cx="483611" cy="5201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/>
              </a:p>
            </p:txBody>
          </p:sp>
          <p:sp>
            <p:nvSpPr>
              <p:cNvPr id="366" name="Google Shape;366;p32"/>
              <p:cNvSpPr txBox="1"/>
              <p:nvPr/>
            </p:nvSpPr>
            <p:spPr>
              <a:xfrm>
                <a:off x="469234" y="4201180"/>
                <a:ext cx="483611" cy="5201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/>
              </a:p>
            </p:txBody>
          </p:sp>
          <p:sp>
            <p:nvSpPr>
              <p:cNvPr id="367" name="Google Shape;367;p32"/>
              <p:cNvSpPr txBox="1"/>
              <p:nvPr/>
            </p:nvSpPr>
            <p:spPr>
              <a:xfrm>
                <a:off x="3174334" y="4201180"/>
                <a:ext cx="483611" cy="5201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/>
              </a:p>
            </p:txBody>
          </p:sp>
          <p:sp>
            <p:nvSpPr>
              <p:cNvPr id="368" name="Google Shape;368;p32"/>
              <p:cNvSpPr txBox="1"/>
              <p:nvPr/>
            </p:nvSpPr>
            <p:spPr>
              <a:xfrm>
                <a:off x="5278170" y="4121541"/>
                <a:ext cx="483611" cy="5201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/>
              </a:p>
            </p:txBody>
          </p:sp>
          <p:sp>
            <p:nvSpPr>
              <p:cNvPr id="369" name="Google Shape;369;p32"/>
              <p:cNvSpPr txBox="1"/>
              <p:nvPr/>
            </p:nvSpPr>
            <p:spPr>
              <a:xfrm>
                <a:off x="8096249" y="4121541"/>
                <a:ext cx="483611" cy="5201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/>
              </a:p>
            </p:txBody>
          </p:sp>
        </p:grpSp>
        <p:sp>
          <p:nvSpPr>
            <p:cNvPr id="370" name="Google Shape;370;p32"/>
            <p:cNvSpPr txBox="1"/>
            <p:nvPr/>
          </p:nvSpPr>
          <p:spPr>
            <a:xfrm>
              <a:off x="6794182" y="3130296"/>
              <a:ext cx="30008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&gt;</a:t>
              </a:r>
              <a:endParaRPr/>
            </a:p>
          </p:txBody>
        </p:sp>
        <p:sp>
          <p:nvSpPr>
            <p:cNvPr id="371" name="Google Shape;371;p32"/>
            <p:cNvSpPr txBox="1"/>
            <p:nvPr/>
          </p:nvSpPr>
          <p:spPr>
            <a:xfrm>
              <a:off x="4871040" y="3117900"/>
              <a:ext cx="30008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</a:t>
              </a:r>
              <a:endParaRPr/>
            </a:p>
          </p:txBody>
        </p:sp>
        <p:sp>
          <p:nvSpPr>
            <p:cNvPr id="372" name="Google Shape;372;p32"/>
            <p:cNvSpPr txBox="1"/>
            <p:nvPr/>
          </p:nvSpPr>
          <p:spPr>
            <a:xfrm>
              <a:off x="3553965" y="3639632"/>
              <a:ext cx="30008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</a:t>
              </a:r>
              <a:endParaRPr/>
            </a:p>
          </p:txBody>
        </p:sp>
        <p:sp>
          <p:nvSpPr>
            <p:cNvPr id="373" name="Google Shape;373;p32"/>
            <p:cNvSpPr txBox="1"/>
            <p:nvPr/>
          </p:nvSpPr>
          <p:spPr>
            <a:xfrm>
              <a:off x="4928549" y="3658900"/>
              <a:ext cx="30008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&gt;</a:t>
              </a:r>
              <a:endParaRPr/>
            </a:p>
          </p:txBody>
        </p:sp>
        <p:sp>
          <p:nvSpPr>
            <p:cNvPr id="374" name="Google Shape;374;p32"/>
            <p:cNvSpPr txBox="1"/>
            <p:nvPr/>
          </p:nvSpPr>
          <p:spPr>
            <a:xfrm>
              <a:off x="2959615" y="4221718"/>
              <a:ext cx="30008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</a:t>
              </a:r>
              <a:endParaRPr/>
            </a:p>
          </p:txBody>
        </p:sp>
        <p:sp>
          <p:nvSpPr>
            <p:cNvPr id="375" name="Google Shape;375;p32"/>
            <p:cNvSpPr txBox="1"/>
            <p:nvPr/>
          </p:nvSpPr>
          <p:spPr>
            <a:xfrm>
              <a:off x="3958874" y="4234638"/>
              <a:ext cx="30008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&gt;</a:t>
              </a:r>
              <a:endParaRPr/>
            </a:p>
          </p:txBody>
        </p:sp>
        <p:sp>
          <p:nvSpPr>
            <p:cNvPr id="376" name="Google Shape;376;p32"/>
            <p:cNvSpPr txBox="1"/>
            <p:nvPr/>
          </p:nvSpPr>
          <p:spPr>
            <a:xfrm>
              <a:off x="7304674" y="4199712"/>
              <a:ext cx="30008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&gt;</a:t>
              </a:r>
              <a:endParaRPr/>
            </a:p>
          </p:txBody>
        </p:sp>
        <p:sp>
          <p:nvSpPr>
            <p:cNvPr id="377" name="Google Shape;377;p32"/>
            <p:cNvSpPr txBox="1"/>
            <p:nvPr/>
          </p:nvSpPr>
          <p:spPr>
            <a:xfrm>
              <a:off x="5651598" y="4250538"/>
              <a:ext cx="30008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&gt;</a:t>
              </a:r>
              <a:endParaRPr/>
            </a:p>
          </p:txBody>
        </p:sp>
        <p:sp>
          <p:nvSpPr>
            <p:cNvPr id="378" name="Google Shape;378;p32"/>
            <p:cNvSpPr txBox="1"/>
            <p:nvPr/>
          </p:nvSpPr>
          <p:spPr>
            <a:xfrm>
              <a:off x="8942215" y="4214213"/>
              <a:ext cx="30008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&gt;</a:t>
              </a:r>
              <a:endParaRPr/>
            </a:p>
          </p:txBody>
        </p:sp>
        <p:sp>
          <p:nvSpPr>
            <p:cNvPr id="379" name="Google Shape;379;p32"/>
            <p:cNvSpPr txBox="1"/>
            <p:nvPr/>
          </p:nvSpPr>
          <p:spPr>
            <a:xfrm>
              <a:off x="6851716" y="3639632"/>
              <a:ext cx="30008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</a:t>
              </a:r>
              <a:endParaRPr/>
            </a:p>
          </p:txBody>
        </p:sp>
        <p:sp>
          <p:nvSpPr>
            <p:cNvPr id="380" name="Google Shape;380;p32"/>
            <p:cNvSpPr txBox="1"/>
            <p:nvPr/>
          </p:nvSpPr>
          <p:spPr>
            <a:xfrm>
              <a:off x="6183013" y="4161364"/>
              <a:ext cx="30008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</a:t>
              </a:r>
              <a:endParaRPr/>
            </a:p>
          </p:txBody>
        </p:sp>
        <p:sp>
          <p:nvSpPr>
            <p:cNvPr id="381" name="Google Shape;381;p32"/>
            <p:cNvSpPr txBox="1"/>
            <p:nvPr/>
          </p:nvSpPr>
          <p:spPr>
            <a:xfrm>
              <a:off x="7782403" y="4216080"/>
              <a:ext cx="30008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</a:t>
              </a:r>
              <a:endParaRPr/>
            </a:p>
          </p:txBody>
        </p:sp>
        <p:sp>
          <p:nvSpPr>
            <p:cNvPr id="382" name="Google Shape;382;p32"/>
            <p:cNvSpPr txBox="1"/>
            <p:nvPr/>
          </p:nvSpPr>
          <p:spPr>
            <a:xfrm>
              <a:off x="4561864" y="4161364"/>
              <a:ext cx="30008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</a:t>
              </a:r>
              <a:endParaRPr/>
            </a:p>
          </p:txBody>
        </p:sp>
        <p:sp>
          <p:nvSpPr>
            <p:cNvPr id="383" name="Google Shape;383;p32"/>
            <p:cNvSpPr txBox="1"/>
            <p:nvPr/>
          </p:nvSpPr>
          <p:spPr>
            <a:xfrm>
              <a:off x="8219074" y="3639632"/>
              <a:ext cx="30008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&gt;</a:t>
              </a:r>
              <a:endParaRPr/>
            </a:p>
          </p:txBody>
        </p:sp>
        <p:sp>
          <p:nvSpPr>
            <p:cNvPr id="384" name="Google Shape;384;p32"/>
            <p:cNvSpPr txBox="1"/>
            <p:nvPr/>
          </p:nvSpPr>
          <p:spPr>
            <a:xfrm>
              <a:off x="5266847" y="2286001"/>
              <a:ext cx="1286353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C000"/>
                  </a:solidFill>
                  <a:latin typeface="Calibri"/>
                  <a:ea typeface="Calibri"/>
                  <a:cs typeface="Calibri"/>
                  <a:sym typeface="Calibri"/>
                </a:rPr>
                <a:t>One comparison</a:t>
              </a:r>
              <a:endParaRPr/>
            </a:p>
          </p:txBody>
        </p:sp>
        <p:sp>
          <p:nvSpPr>
            <p:cNvPr id="385" name="Google Shape;385;p32"/>
            <p:cNvSpPr txBox="1"/>
            <p:nvPr/>
          </p:nvSpPr>
          <p:spPr>
            <a:xfrm>
              <a:off x="6842757" y="2590801"/>
              <a:ext cx="1286353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Result of comparison</a:t>
              </a:r>
              <a:endParaRPr/>
            </a:p>
          </p:txBody>
        </p:sp>
        <p:sp>
          <p:nvSpPr>
            <p:cNvPr id="386" name="Google Shape;386;p32"/>
            <p:cNvSpPr txBox="1"/>
            <p:nvPr/>
          </p:nvSpPr>
          <p:spPr>
            <a:xfrm>
              <a:off x="9296400" y="5449247"/>
              <a:ext cx="1371600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rgbClr val="FF33CC"/>
                  </a:solidFill>
                  <a:latin typeface="Calibri"/>
                  <a:ea typeface="Calibri"/>
                  <a:cs typeface="Calibri"/>
                  <a:sym typeface="Calibri"/>
                </a:rPr>
                <a:t>Permutation of sorted list</a:t>
              </a:r>
              <a:endParaRPr dirty="0"/>
            </a:p>
          </p:txBody>
        </p:sp>
        <p:sp>
          <p:nvSpPr>
            <p:cNvPr id="387" name="Google Shape;387;p32"/>
            <p:cNvSpPr/>
            <p:nvPr/>
          </p:nvSpPr>
          <p:spPr>
            <a:xfrm rot="-5400000">
              <a:off x="5767605" y="2631213"/>
              <a:ext cx="288782" cy="709382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19050" cap="flat" cmpd="sng">
              <a:solidFill>
                <a:srgbClr val="FFC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32"/>
            <p:cNvSpPr/>
            <p:nvPr/>
          </p:nvSpPr>
          <p:spPr>
            <a:xfrm>
              <a:off x="6807036" y="3164680"/>
              <a:ext cx="264320" cy="264320"/>
            </a:xfrm>
            <a:prstGeom prst="ellipse">
              <a:avLst/>
            </a:prstGeom>
            <a:noFill/>
            <a:ln w="1270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32"/>
            <p:cNvSpPr/>
            <p:nvPr/>
          </p:nvSpPr>
          <p:spPr>
            <a:xfrm>
              <a:off x="4335704" y="3314700"/>
              <a:ext cx="1630753" cy="2419350"/>
            </a:xfrm>
            <a:custGeom>
              <a:avLst/>
              <a:gdLst/>
              <a:ahLst/>
              <a:cxnLst/>
              <a:rect l="l" t="t" r="r" b="b"/>
              <a:pathLst>
                <a:path w="1630753" h="2419350" extrusionOk="0">
                  <a:moveTo>
                    <a:pt x="1630753" y="0"/>
                  </a:moveTo>
                  <a:cubicBezTo>
                    <a:pt x="879865" y="149225"/>
                    <a:pt x="128978" y="298450"/>
                    <a:pt x="11503" y="457200"/>
                  </a:cubicBezTo>
                  <a:cubicBezTo>
                    <a:pt x="-105972" y="615950"/>
                    <a:pt x="710003" y="781050"/>
                    <a:pt x="925903" y="952500"/>
                  </a:cubicBezTo>
                  <a:cubicBezTo>
                    <a:pt x="1141803" y="1123950"/>
                    <a:pt x="1332303" y="1341437"/>
                    <a:pt x="1306903" y="1485900"/>
                  </a:cubicBezTo>
                  <a:cubicBezTo>
                    <a:pt x="1281503" y="1630363"/>
                    <a:pt x="738578" y="1752600"/>
                    <a:pt x="773503" y="1819275"/>
                  </a:cubicBezTo>
                  <a:cubicBezTo>
                    <a:pt x="808428" y="1885950"/>
                    <a:pt x="1437078" y="1844675"/>
                    <a:pt x="1516453" y="1885950"/>
                  </a:cubicBezTo>
                  <a:cubicBezTo>
                    <a:pt x="1595828" y="1927225"/>
                    <a:pt x="1386278" y="1978025"/>
                    <a:pt x="1249753" y="2066925"/>
                  </a:cubicBezTo>
                  <a:cubicBezTo>
                    <a:pt x="1113228" y="2155825"/>
                    <a:pt x="228990" y="2316163"/>
                    <a:pt x="697303" y="2419350"/>
                  </a:cubicBezTo>
                </a:path>
              </a:pathLst>
            </a:custGeom>
            <a:noFill/>
            <a:ln w="762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32"/>
            <p:cNvSpPr txBox="1"/>
            <p:nvPr/>
          </p:nvSpPr>
          <p:spPr>
            <a:xfrm>
              <a:off x="3305222" y="2656236"/>
              <a:ext cx="1773368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Possible execution path</a:t>
              </a:r>
              <a:endParaRPr/>
            </a:p>
          </p:txBody>
        </p:sp>
        <p:sp>
          <p:nvSpPr>
            <p:cNvPr id="391" name="Google Shape;391;p32"/>
            <p:cNvSpPr/>
            <p:nvPr/>
          </p:nvSpPr>
          <p:spPr>
            <a:xfrm rot="5400000">
              <a:off x="5897880" y="3002281"/>
              <a:ext cx="304799" cy="6492241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32"/>
            <p:cNvSpPr txBox="1"/>
            <p:nvPr/>
          </p:nvSpPr>
          <p:spPr>
            <a:xfrm>
              <a:off x="4604488" y="6400800"/>
              <a:ext cx="2924068" cy="36933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t="-8196" b="-24589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393" name="Google Shape;393;p32"/>
            <p:cNvSpPr/>
            <p:nvPr/>
          </p:nvSpPr>
          <p:spPr>
            <a:xfrm rot="10800000">
              <a:off x="2575558" y="3096026"/>
              <a:ext cx="304799" cy="2869341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32"/>
            <p:cNvSpPr txBox="1"/>
            <p:nvPr/>
          </p:nvSpPr>
          <p:spPr>
            <a:xfrm>
              <a:off x="1676401" y="4355068"/>
              <a:ext cx="986031" cy="40011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l="-3702" b="-13635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395" name="Google Shape;395;p32"/>
            <p:cNvSpPr txBox="1"/>
            <p:nvPr/>
          </p:nvSpPr>
          <p:spPr>
            <a:xfrm>
              <a:off x="1716490" y="4800600"/>
              <a:ext cx="950580" cy="4002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l="-17900" r="-14813" b="-15384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397" name="Google Shape;397;p32"/>
            <p:cNvSpPr txBox="1"/>
            <p:nvPr/>
          </p:nvSpPr>
          <p:spPr>
            <a:xfrm>
              <a:off x="1509610" y="4642835"/>
              <a:ext cx="441900" cy="48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2200" dirty="0" err="1">
                  <a:solidFill>
                    <a:srgbClr val="FF99FF"/>
                  </a:solidFill>
                  <a:latin typeface="Calibri"/>
                  <a:ea typeface="Calibri"/>
                  <a:cs typeface="Calibri"/>
                  <a:sym typeface="Calibri"/>
                </a:rPr>
                <a:t>Θ</a:t>
              </a:r>
              <a:endParaRPr sz="2200" dirty="0">
                <a:solidFill>
                  <a:srgbClr val="FF99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{78731ABC-CB82-E74D-A429-13D3326A7E5D}tf10001122</Template>
  <TotalTime>39281</TotalTime>
  <Words>2537</Words>
  <Application>Microsoft Macintosh PowerPoint</Application>
  <PresentationFormat>Widescreen</PresentationFormat>
  <Paragraphs>323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MS PGothic</vt:lpstr>
      <vt:lpstr>Arial</vt:lpstr>
      <vt:lpstr>Calibri</vt:lpstr>
      <vt:lpstr>Cambria Math</vt:lpstr>
      <vt:lpstr>Tahoma</vt:lpstr>
      <vt:lpstr>Times New Roman</vt:lpstr>
      <vt:lpstr>Tw Cen MT</vt:lpstr>
      <vt:lpstr>Circuit</vt:lpstr>
      <vt:lpstr>Data Structures and Algorithms 2  Lecture 2: Review, Reminders, Practice!</vt:lpstr>
      <vt:lpstr>Announcements</vt:lpstr>
      <vt:lpstr>Data Structures and Algorithms 2  Lecture 2: Review, Reminders, Practice!</vt:lpstr>
      <vt:lpstr>Measuring Work: Reminders!</vt:lpstr>
      <vt:lpstr>Input Sizes: Reminders</vt:lpstr>
      <vt:lpstr>Input Sizes: Reminders</vt:lpstr>
      <vt:lpstr>Analyzing Algorithms and Problems</vt:lpstr>
      <vt:lpstr>Asymptotic Analysis and Order Classes</vt:lpstr>
      <vt:lpstr>A graph of some example functions</vt:lpstr>
      <vt:lpstr>Remember the Big Picture?</vt:lpstr>
      <vt:lpstr>Asymptotic Bounds</vt:lpstr>
      <vt:lpstr>PowerPoint Presentation</vt:lpstr>
      <vt:lpstr>Asymptotic Notation*</vt:lpstr>
      <vt:lpstr>Asymptotic Notation Example</vt:lpstr>
      <vt:lpstr>Asymptotic Notation Example</vt:lpstr>
      <vt:lpstr>Asymptotic Notation Example</vt:lpstr>
      <vt:lpstr>Asymptotic Notation Example</vt:lpstr>
      <vt:lpstr>Proof Techniques</vt:lpstr>
      <vt:lpstr>More Asymptotic Notation</vt:lpstr>
      <vt:lpstr>More Asymptotic Notation</vt:lpstr>
      <vt:lpstr>A Way to Think about Order Classes</vt:lpstr>
      <vt:lpstr>Summary: Using Limit Definition</vt:lpstr>
      <vt:lpstr>Math Reminders</vt:lpstr>
      <vt:lpstr>Math you may need to review:</vt:lpstr>
      <vt:lpstr>If You Ever See A Series Like These…</vt:lpstr>
      <vt:lpstr>Algorithms You’ve Studied</vt:lpstr>
      <vt:lpstr>Remember Searching?</vt:lpstr>
      <vt:lpstr>Remember Quadratic Sorts?</vt:lpstr>
      <vt:lpstr>Remember Mergesort?</vt:lpstr>
      <vt:lpstr>Remember Quicksort?</vt:lpstr>
      <vt:lpstr>Remember Lower Bounds Proof for Sorting?</vt:lpstr>
      <vt:lpstr>Decision Tree Argument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</dc:title>
  <dc:creator>Mark Floryan</dc:creator>
  <cp:lastModifiedBy>Floryan, Mark Richard (mrf8t)</cp:lastModifiedBy>
  <cp:revision>238</cp:revision>
  <dcterms:created xsi:type="dcterms:W3CDTF">2023-02-24T14:15:53Z</dcterms:created>
  <dcterms:modified xsi:type="dcterms:W3CDTF">2025-08-26T16:46:16Z</dcterms:modified>
</cp:coreProperties>
</file>