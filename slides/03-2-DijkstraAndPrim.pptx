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2.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3.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4.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51"/>
  </p:notesMasterIdLst>
  <p:sldIdLst>
    <p:sldId id="256" r:id="rId2"/>
    <p:sldId id="272" r:id="rId3"/>
    <p:sldId id="457" r:id="rId4"/>
    <p:sldId id="428" r:id="rId5"/>
    <p:sldId id="543" r:id="rId6"/>
    <p:sldId id="544" r:id="rId7"/>
    <p:sldId id="545" r:id="rId8"/>
    <p:sldId id="546" r:id="rId9"/>
    <p:sldId id="547" r:id="rId10"/>
    <p:sldId id="542" r:id="rId11"/>
    <p:sldId id="538" r:id="rId12"/>
    <p:sldId id="539" r:id="rId13"/>
    <p:sldId id="429" r:id="rId14"/>
    <p:sldId id="430" r:id="rId15"/>
    <p:sldId id="432" r:id="rId16"/>
    <p:sldId id="328" r:id="rId17"/>
    <p:sldId id="530" r:id="rId18"/>
    <p:sldId id="531" r:id="rId19"/>
    <p:sldId id="532" r:id="rId20"/>
    <p:sldId id="534" r:id="rId21"/>
    <p:sldId id="535" r:id="rId22"/>
    <p:sldId id="533" r:id="rId23"/>
    <p:sldId id="537" r:id="rId24"/>
    <p:sldId id="510" r:id="rId25"/>
    <p:sldId id="511" r:id="rId26"/>
    <p:sldId id="512" r:id="rId27"/>
    <p:sldId id="513" r:id="rId28"/>
    <p:sldId id="514" r:id="rId29"/>
    <p:sldId id="548" r:id="rId30"/>
    <p:sldId id="549" r:id="rId31"/>
    <p:sldId id="550" r:id="rId32"/>
    <p:sldId id="551" r:id="rId33"/>
    <p:sldId id="552" r:id="rId34"/>
    <p:sldId id="540" r:id="rId35"/>
    <p:sldId id="415" r:id="rId36"/>
    <p:sldId id="416" r:id="rId37"/>
    <p:sldId id="417" r:id="rId38"/>
    <p:sldId id="452" r:id="rId39"/>
    <p:sldId id="541" r:id="rId40"/>
    <p:sldId id="553" r:id="rId41"/>
    <p:sldId id="519" r:id="rId42"/>
    <p:sldId id="443" r:id="rId43"/>
    <p:sldId id="520" r:id="rId44"/>
    <p:sldId id="524" r:id="rId45"/>
    <p:sldId id="458" r:id="rId46"/>
    <p:sldId id="410" r:id="rId47"/>
    <p:sldId id="529" r:id="rId48"/>
    <p:sldId id="525" r:id="rId49"/>
    <p:sldId id="526"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54"/>
    <p:restoredTop sz="94739"/>
  </p:normalViewPr>
  <p:slideViewPr>
    <p:cSldViewPr snapToGrid="0" snapToObjects="1">
      <p:cViewPr varScale="1">
        <p:scale>
          <a:sx n="164" d="100"/>
          <a:sy n="164" d="100"/>
        </p:scale>
        <p:origin x="18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2/11/26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a:t>
            </a:fld>
            <a:endParaRPr lang="en-US"/>
          </a:p>
        </p:txBody>
      </p:sp>
    </p:spTree>
    <p:extLst>
      <p:ext uri="{BB962C8B-B14F-4D97-AF65-F5344CB8AC3E}">
        <p14:creationId xmlns:p14="http://schemas.microsoft.com/office/powerpoint/2010/main" val="92945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4E1D0E06-6B38-402A-80F4-A70DBD984D0C}" type="slidenum">
              <a:rPr lang="en-US" smtClean="0"/>
              <a:pPr/>
              <a:t>15</a:t>
            </a:fld>
            <a:endParaRPr lang="en-US"/>
          </a:p>
        </p:txBody>
      </p:sp>
      <p:sp>
        <p:nvSpPr>
          <p:cNvPr id="88067" name="Rectangle 2"/>
          <p:cNvSpPr>
            <a:spLocks noGrp="1" noRot="1" noChangeAspect="1" noChangeArrowheads="1" noTextEdit="1"/>
          </p:cNvSpPr>
          <p:nvPr>
            <p:ph type="sldImg"/>
          </p:nvPr>
        </p:nvSpPr>
        <p:spPr>
          <a:xfrm>
            <a:off x="458788" y="719138"/>
            <a:ext cx="6400800" cy="3600450"/>
          </a:xfrm>
          <a:ln/>
        </p:spPr>
      </p:sp>
      <p:sp>
        <p:nvSpPr>
          <p:cNvPr id="88068" name="Rectangle 3"/>
          <p:cNvSpPr>
            <a:spLocks noGrp="1" noChangeArrowheads="1"/>
          </p:cNvSpPr>
          <p:nvPr>
            <p:ph type="body" idx="1"/>
          </p:nvPr>
        </p:nvSpPr>
        <p:spPr>
          <a:xfrm>
            <a:off x="974144" y="4560899"/>
            <a:ext cx="5366914" cy="4321196"/>
          </a:xfrm>
          <a:noFill/>
          <a:ln/>
        </p:spPr>
        <p:txBody>
          <a:bodyPr/>
          <a:lstStyle/>
          <a:p>
            <a:pPr eaLnBrk="1" hangingPunct="1"/>
            <a:endParaRPr lang="en-US" b="1">
              <a:solidFill>
                <a:srgbClr val="FF0000"/>
              </a:solidFill>
            </a:endParaRPr>
          </a:p>
        </p:txBody>
      </p:sp>
    </p:spTree>
    <p:extLst>
      <p:ext uri="{BB962C8B-B14F-4D97-AF65-F5344CB8AC3E}">
        <p14:creationId xmlns:p14="http://schemas.microsoft.com/office/powerpoint/2010/main" val="167371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01579B5F-A22B-4049-B456-587BD3D5757E}" type="slidenum">
              <a:rPr lang="en-US" smtClean="0"/>
              <a:pPr/>
              <a:t>35</a:t>
            </a:fld>
            <a:endParaRPr lang="en-US"/>
          </a:p>
        </p:txBody>
      </p:sp>
      <p:sp>
        <p:nvSpPr>
          <p:cNvPr id="89091" name="Rectangle 2"/>
          <p:cNvSpPr>
            <a:spLocks noGrp="1" noRot="1" noChangeAspect="1" noChangeArrowheads="1" noTextEdit="1"/>
          </p:cNvSpPr>
          <p:nvPr>
            <p:ph type="sldImg"/>
          </p:nvPr>
        </p:nvSpPr>
        <p:spPr>
          <a:xfrm>
            <a:off x="457200" y="720725"/>
            <a:ext cx="6400800" cy="3600450"/>
          </a:xfrm>
          <a:ln/>
        </p:spPr>
      </p:sp>
      <p:sp>
        <p:nvSpPr>
          <p:cNvPr id="89092" name="Rectangle 3"/>
          <p:cNvSpPr>
            <a:spLocks noGrp="1" noChangeArrowheads="1"/>
          </p:cNvSpPr>
          <p:nvPr>
            <p:ph type="body" idx="1"/>
          </p:nvPr>
        </p:nvSpPr>
        <p:spPr>
          <a:noFill/>
          <a:ln/>
        </p:spPr>
        <p:txBody>
          <a:bodyPr/>
          <a:lstStyle/>
          <a:p>
            <a:pPr eaLnBrk="1" hangingPunct="1"/>
            <a:r>
              <a:rPr lang="en-US"/>
              <a:t>Pick one node as the root,</a:t>
            </a:r>
          </a:p>
          <a:p>
            <a:pPr eaLnBrk="1" hangingPunct="1"/>
            <a:r>
              <a:rPr lang="en-US"/>
              <a:t>Incrementally add edges that connect a “new” vertex to the tree.</a:t>
            </a:r>
          </a:p>
          <a:p>
            <a:pPr eaLnBrk="1" hangingPunct="1"/>
            <a:r>
              <a:rPr lang="en-US"/>
              <a:t>Pick the edge (u,v) where u is in the tree, v is not AND </a:t>
            </a:r>
          </a:p>
          <a:p>
            <a:pPr eaLnBrk="1" hangingPunct="1"/>
            <a:r>
              <a:rPr lang="en-US"/>
              <a:t>	where the edge weight is the smallest of all edges (where u is in the tree and v is not).</a:t>
            </a:r>
          </a:p>
        </p:txBody>
      </p:sp>
    </p:spTree>
    <p:extLst>
      <p:ext uri="{BB962C8B-B14F-4D97-AF65-F5344CB8AC3E}">
        <p14:creationId xmlns:p14="http://schemas.microsoft.com/office/powerpoint/2010/main" val="3321558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3E7D7-E626-C8FE-270E-9EBDE47CB88C}"/>
            </a:ext>
          </a:extLst>
        </p:cNvPr>
        <p:cNvGrpSpPr/>
        <p:nvPr/>
      </p:nvGrpSpPr>
      <p:grpSpPr>
        <a:xfrm>
          <a:off x="0" y="0"/>
          <a:ext cx="0" cy="0"/>
          <a:chOff x="0" y="0"/>
          <a:chExt cx="0" cy="0"/>
        </a:xfrm>
      </p:grpSpPr>
      <p:sp>
        <p:nvSpPr>
          <p:cNvPr id="89090" name="Rectangle 7">
            <a:extLst>
              <a:ext uri="{FF2B5EF4-FFF2-40B4-BE49-F238E27FC236}">
                <a16:creationId xmlns:a16="http://schemas.microsoft.com/office/drawing/2014/main" id="{7D29F822-7ABE-7A48-DBB8-F5E46284A3AA}"/>
              </a:ext>
            </a:extLst>
          </p:cNvPr>
          <p:cNvSpPr>
            <a:spLocks noGrp="1" noChangeArrowheads="1"/>
          </p:cNvSpPr>
          <p:nvPr>
            <p:ph type="sldNum" sz="quarter" idx="5"/>
          </p:nvPr>
        </p:nvSpPr>
        <p:spPr>
          <a:noFill/>
        </p:spPr>
        <p:txBody>
          <a:bodyPr/>
          <a:lstStyle/>
          <a:p>
            <a:fld id="{01579B5F-A22B-4049-B456-587BD3D5757E}" type="slidenum">
              <a:rPr lang="en-US" smtClean="0"/>
              <a:pPr/>
              <a:t>40</a:t>
            </a:fld>
            <a:endParaRPr lang="en-US"/>
          </a:p>
        </p:txBody>
      </p:sp>
      <p:sp>
        <p:nvSpPr>
          <p:cNvPr id="89091" name="Rectangle 2">
            <a:extLst>
              <a:ext uri="{FF2B5EF4-FFF2-40B4-BE49-F238E27FC236}">
                <a16:creationId xmlns:a16="http://schemas.microsoft.com/office/drawing/2014/main" id="{3B29C94B-1139-1559-E1EF-9EA8E018583F}"/>
              </a:ext>
            </a:extLst>
          </p:cNvPr>
          <p:cNvSpPr>
            <a:spLocks noGrp="1" noRot="1" noChangeAspect="1" noChangeArrowheads="1" noTextEdit="1"/>
          </p:cNvSpPr>
          <p:nvPr>
            <p:ph type="sldImg"/>
          </p:nvPr>
        </p:nvSpPr>
        <p:spPr>
          <a:xfrm>
            <a:off x="457200" y="720725"/>
            <a:ext cx="6400800" cy="3600450"/>
          </a:xfrm>
          <a:ln/>
        </p:spPr>
      </p:sp>
      <p:sp>
        <p:nvSpPr>
          <p:cNvPr id="89092" name="Rectangle 3">
            <a:extLst>
              <a:ext uri="{FF2B5EF4-FFF2-40B4-BE49-F238E27FC236}">
                <a16:creationId xmlns:a16="http://schemas.microsoft.com/office/drawing/2014/main" id="{8C75632F-FA07-AEC7-6C1F-16A74955E669}"/>
              </a:ext>
            </a:extLst>
          </p:cNvPr>
          <p:cNvSpPr>
            <a:spLocks noGrp="1" noChangeArrowheads="1"/>
          </p:cNvSpPr>
          <p:nvPr>
            <p:ph type="body" idx="1"/>
          </p:nvPr>
        </p:nvSpPr>
        <p:spPr>
          <a:noFill/>
          <a:ln/>
        </p:spPr>
        <p:txBody>
          <a:bodyPr/>
          <a:lstStyle/>
          <a:p>
            <a:pPr eaLnBrk="1" hangingPunct="1"/>
            <a:r>
              <a:rPr lang="en-US"/>
              <a:t>Pick one node as the root,</a:t>
            </a:r>
          </a:p>
          <a:p>
            <a:pPr eaLnBrk="1" hangingPunct="1"/>
            <a:r>
              <a:rPr lang="en-US"/>
              <a:t>Incrementally add edges that connect a “new” vertex to the tree.</a:t>
            </a:r>
          </a:p>
          <a:p>
            <a:pPr eaLnBrk="1" hangingPunct="1"/>
            <a:r>
              <a:rPr lang="en-US"/>
              <a:t>Pick the edge (u,v) where u is in the tree, v is not AND </a:t>
            </a:r>
          </a:p>
          <a:p>
            <a:pPr eaLnBrk="1" hangingPunct="1"/>
            <a:r>
              <a:rPr lang="en-US"/>
              <a:t>	where the edge weight is the smallest of all edges (where u is in the tree and v is not).</a:t>
            </a:r>
          </a:p>
        </p:txBody>
      </p:sp>
    </p:spTree>
    <p:extLst>
      <p:ext uri="{BB962C8B-B14F-4D97-AF65-F5344CB8AC3E}">
        <p14:creationId xmlns:p14="http://schemas.microsoft.com/office/powerpoint/2010/main" val="3573380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0D43E4E-9DCA-464D-9606-5931EF0F1F2A}" type="datetime1">
              <a:rPr lang="en-US" smtClean="0"/>
              <a:t>2/11/26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6DCB54-4F93-3C40-9589-59AE00DA8CFB}" type="datetime1">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5F1051E-8876-1549-A86E-F88CCBB2F5D7}" type="datetime1">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6DB06C-41E2-DD4C-84B0-6646A8AEDB39}" type="datetime1">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6F63D8-C80B-5043-9D49-B40CB00CE9CF}" type="datetime1">
              <a:rPr lang="en-US" smtClean="0"/>
              <a:t>2/11/26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EAB3A5-D670-D546-8080-5723E6784B77}" type="datetime1">
              <a:rPr lang="en-US" smtClean="0"/>
              <a:t>2/11/26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FD6FC2-0142-1B4F-BEE4-ACF41109B835}" type="datetime1">
              <a:rPr lang="en-US" smtClean="0"/>
              <a:t>2/11/26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F168ABB-24DA-464F-91EA-B770337C2767}" type="datetime1">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6951F8-91C3-0C4C-AB15-6D421860A270}" type="datetime1">
              <a:rPr lang="en-US" smtClean="0"/>
              <a:t>2/11/26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C8B702-FBC5-AE41-90CD-BC93BA09C9D9}" type="datetime1">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C7BBF89-ED22-3141-BDF0-857A50681DCF}" type="datetime1">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D8D06C5-6141-394F-AD88-CB45E2C3EF6B}" type="datetime1">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0935B32-CD10-D344-BEA3-F2DCE1B46392}" type="datetime1">
              <a:rPr lang="en-US" smtClean="0"/>
              <a:t>2/11/26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BDFAC12-4865-7B47-9D86-73BC62015676}" type="datetime1">
              <a:rPr lang="en-US" smtClean="0"/>
              <a:t>2/11/26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14F7D7E-6A59-C94E-99D5-CCA91DA40277}" type="datetime1">
              <a:rPr lang="en-US" smtClean="0"/>
              <a:t>2/11/26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D2AF2A-3141-274B-B612-A3014A027B93}" type="datetime1">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A1DF78-CC39-4441-9255-781D561D0B59}" type="datetime1">
              <a:rPr lang="en-US" smtClean="0"/>
              <a:t>2/11/26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able Placeholder 2"/>
          <p:cNvSpPr>
            <a:spLocks noGrp="1"/>
          </p:cNvSpPr>
          <p:nvPr>
            <p:ph type="tbl" idx="1"/>
          </p:nvPr>
        </p:nvSpPr>
        <p:spPr>
          <a:xfrm>
            <a:off x="609600" y="1600201"/>
            <a:ext cx="10972800" cy="4525963"/>
          </a:xfrm>
        </p:spPr>
        <p:txBody>
          <a:bodyPr/>
          <a:lstStyle/>
          <a:p>
            <a:pPr lvl="0"/>
            <a:r>
              <a:rPr lang="en-US" noProof="0"/>
              <a:t>Click icon to add table</a:t>
            </a:r>
          </a:p>
        </p:txBody>
      </p:sp>
    </p:spTree>
    <p:extLst>
      <p:ext uri="{BB962C8B-B14F-4D97-AF65-F5344CB8AC3E}">
        <p14:creationId xmlns:p14="http://schemas.microsoft.com/office/powerpoint/2010/main" val="2643219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CF67D6D-F259-F443-9BC4-D5F83653ECB1}" type="datetime1">
              <a:rPr lang="en-US" smtClean="0"/>
              <a:t>2/11/26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 id="2147484024" r:id="rId18"/>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5.png"/><Relationship Id="rId3" Type="http://schemas.openxmlformats.org/officeDocument/2006/relationships/tags" Target="../tags/tag3.xml"/><Relationship Id="rId21" Type="http://schemas.openxmlformats.org/officeDocument/2006/relationships/image" Target="../media/image8.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4.png"/><Relationship Id="rId2" Type="http://schemas.openxmlformats.org/officeDocument/2006/relationships/tags" Target="../tags/tag2.xml"/><Relationship Id="rId16" Type="http://schemas.openxmlformats.org/officeDocument/2006/relationships/image" Target="../media/image3.png"/><Relationship Id="rId20"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2.xml"/><Relationship Id="rId10" Type="http://schemas.openxmlformats.org/officeDocument/2006/relationships/tags" Target="../tags/tag10.xml"/><Relationship Id="rId19" Type="http://schemas.openxmlformats.org/officeDocument/2006/relationships/image" Target="../media/image6.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9.png"/></Relationships>
</file>

<file path=ppt/slides/_rels/slide5.xml.rels><?xml version="1.0" encoding="UTF-8" standalone="yes"?>
<Relationships xmlns="http://schemas.openxmlformats.org/package/2006/relationships"><Relationship Id="rId13" Type="http://schemas.openxmlformats.org/officeDocument/2006/relationships/tags" Target="../tags/tag27.xml"/><Relationship Id="rId18" Type="http://schemas.openxmlformats.org/officeDocument/2006/relationships/image" Target="../media/image11.png"/><Relationship Id="rId26" Type="http://schemas.openxmlformats.org/officeDocument/2006/relationships/image" Target="../media/image18.png"/><Relationship Id="rId39" Type="http://schemas.openxmlformats.org/officeDocument/2006/relationships/image" Target="../media/image26.png"/><Relationship Id="rId21" Type="http://schemas.openxmlformats.org/officeDocument/2006/relationships/image" Target="../media/image13.png"/><Relationship Id="rId34" Type="http://schemas.openxmlformats.org/officeDocument/2006/relationships/tags" Target="../tags/tag27.xml"/><Relationship Id="rId42" Type="http://schemas.openxmlformats.org/officeDocument/2006/relationships/image" Target="../media/image28.png"/><Relationship Id="rId47" Type="http://schemas.openxmlformats.org/officeDocument/2006/relationships/image" Target="../media/image33.png"/><Relationship Id="rId50" Type="http://schemas.openxmlformats.org/officeDocument/2006/relationships/tags" Target="../tags/tag19.xml"/><Relationship Id="rId55" Type="http://schemas.openxmlformats.org/officeDocument/2006/relationships/image" Target="../media/image37.png"/><Relationship Id="rId7" Type="http://schemas.openxmlformats.org/officeDocument/2006/relationships/tags" Target="../tags/tag21.xml"/><Relationship Id="rId2" Type="http://schemas.openxmlformats.org/officeDocument/2006/relationships/tags" Target="../tags/tag16.xml"/><Relationship Id="rId16" Type="http://schemas.openxmlformats.org/officeDocument/2006/relationships/tags" Target="../tags/tag16.xml"/><Relationship Id="rId29" Type="http://schemas.openxmlformats.org/officeDocument/2006/relationships/image" Target="../media/image20.png"/><Relationship Id="rId11" Type="http://schemas.openxmlformats.org/officeDocument/2006/relationships/tags" Target="../tags/tag25.xml"/><Relationship Id="rId24" Type="http://schemas.openxmlformats.org/officeDocument/2006/relationships/image" Target="../media/image16.png"/><Relationship Id="rId32" Type="http://schemas.openxmlformats.org/officeDocument/2006/relationships/tags" Target="../tags/tag26.xml"/><Relationship Id="rId37" Type="http://schemas.openxmlformats.org/officeDocument/2006/relationships/image" Target="../media/image24.png"/><Relationship Id="rId40" Type="http://schemas.openxmlformats.org/officeDocument/2006/relationships/tags" Target="../tags/tag17.xml"/><Relationship Id="rId45" Type="http://schemas.openxmlformats.org/officeDocument/2006/relationships/image" Target="../media/image31.png"/><Relationship Id="rId53" Type="http://schemas.openxmlformats.org/officeDocument/2006/relationships/image" Target="../media/image36.png"/><Relationship Id="rId5" Type="http://schemas.openxmlformats.org/officeDocument/2006/relationships/tags" Target="../tags/tag19.xml"/><Relationship Id="rId19" Type="http://schemas.openxmlformats.org/officeDocument/2006/relationships/image" Target="../media/image12.png"/><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 Id="rId22" Type="http://schemas.openxmlformats.org/officeDocument/2006/relationships/image" Target="../media/image14.png"/><Relationship Id="rId27" Type="http://schemas.openxmlformats.org/officeDocument/2006/relationships/image" Target="../media/image19.png"/><Relationship Id="rId30" Type="http://schemas.openxmlformats.org/officeDocument/2006/relationships/tags" Target="../tags/tag25.xml"/><Relationship Id="rId35" Type="http://schemas.openxmlformats.org/officeDocument/2006/relationships/image" Target="../media/image23.png"/><Relationship Id="rId43" Type="http://schemas.openxmlformats.org/officeDocument/2006/relationships/image" Target="../media/image29.png"/><Relationship Id="rId48" Type="http://schemas.openxmlformats.org/officeDocument/2006/relationships/tags" Target="../tags/tag18.xml"/><Relationship Id="rId56" Type="http://schemas.openxmlformats.org/officeDocument/2006/relationships/tags" Target="../tags/tag22.xml"/><Relationship Id="rId8" Type="http://schemas.openxmlformats.org/officeDocument/2006/relationships/tags" Target="../tags/tag22.xml"/><Relationship Id="rId51" Type="http://schemas.openxmlformats.org/officeDocument/2006/relationships/image" Target="../media/image35.png"/><Relationship Id="rId3" Type="http://schemas.openxmlformats.org/officeDocument/2006/relationships/tags" Target="../tags/tag17.xml"/><Relationship Id="rId12" Type="http://schemas.openxmlformats.org/officeDocument/2006/relationships/tags" Target="../tags/tag26.xml"/><Relationship Id="rId17" Type="http://schemas.openxmlformats.org/officeDocument/2006/relationships/image" Target="../media/image10.png"/><Relationship Id="rId25" Type="http://schemas.openxmlformats.org/officeDocument/2006/relationships/image" Target="../media/image17.png"/><Relationship Id="rId33" Type="http://schemas.openxmlformats.org/officeDocument/2006/relationships/image" Target="../media/image22.png"/><Relationship Id="rId38" Type="http://schemas.openxmlformats.org/officeDocument/2006/relationships/image" Target="../media/image25.png"/><Relationship Id="rId46" Type="http://schemas.openxmlformats.org/officeDocument/2006/relationships/image" Target="../media/image32.png"/><Relationship Id="rId20" Type="http://schemas.openxmlformats.org/officeDocument/2006/relationships/tags" Target="../tags/tag23.xml"/><Relationship Id="rId41" Type="http://schemas.openxmlformats.org/officeDocument/2006/relationships/image" Target="../media/image27.png"/><Relationship Id="rId54" Type="http://schemas.openxmlformats.org/officeDocument/2006/relationships/tags" Target="../tags/tag21.xml"/><Relationship Id="rId1" Type="http://schemas.openxmlformats.org/officeDocument/2006/relationships/tags" Target="../tags/tag15.xml"/><Relationship Id="rId6" Type="http://schemas.openxmlformats.org/officeDocument/2006/relationships/tags" Target="../tags/tag20.xml"/><Relationship Id="rId15" Type="http://schemas.openxmlformats.org/officeDocument/2006/relationships/slideLayout" Target="../slideLayouts/slideLayout2.xml"/><Relationship Id="rId23" Type="http://schemas.openxmlformats.org/officeDocument/2006/relationships/image" Target="../media/image15.png"/><Relationship Id="rId28" Type="http://schemas.openxmlformats.org/officeDocument/2006/relationships/tags" Target="../tags/tag24.xml"/><Relationship Id="rId36" Type="http://schemas.openxmlformats.org/officeDocument/2006/relationships/tags" Target="../tags/tag28.xml"/><Relationship Id="rId49" Type="http://schemas.openxmlformats.org/officeDocument/2006/relationships/image" Target="../media/image34.png"/><Relationship Id="rId57" Type="http://schemas.openxmlformats.org/officeDocument/2006/relationships/image" Target="../media/image38.png"/><Relationship Id="rId10" Type="http://schemas.openxmlformats.org/officeDocument/2006/relationships/tags" Target="../tags/tag24.xml"/><Relationship Id="rId31" Type="http://schemas.openxmlformats.org/officeDocument/2006/relationships/image" Target="../media/image21.png"/><Relationship Id="rId44" Type="http://schemas.openxmlformats.org/officeDocument/2006/relationships/image" Target="../media/image30.png"/><Relationship Id="rId52" Type="http://schemas.openxmlformats.org/officeDocument/2006/relationships/tags" Target="../tags/tag20.xml"/></Relationships>
</file>

<file path=ppt/slides/_rels/slide6.xml.rels><?xml version="1.0" encoding="UTF-8" standalone="yes"?>
<Relationships xmlns="http://schemas.openxmlformats.org/package/2006/relationships"><Relationship Id="rId13" Type="http://schemas.openxmlformats.org/officeDocument/2006/relationships/tags" Target="../tags/tag41.xml"/><Relationship Id="rId18" Type="http://schemas.openxmlformats.org/officeDocument/2006/relationships/tags" Target="../tags/tag37.xml"/><Relationship Id="rId26" Type="http://schemas.openxmlformats.org/officeDocument/2006/relationships/tags" Target="../tags/tag38.xml"/><Relationship Id="rId39" Type="http://schemas.openxmlformats.org/officeDocument/2006/relationships/image" Target="../media/image55.png"/><Relationship Id="rId21" Type="http://schemas.openxmlformats.org/officeDocument/2006/relationships/image" Target="../media/image43.png"/><Relationship Id="rId34" Type="http://schemas.openxmlformats.org/officeDocument/2006/relationships/tags" Target="../tags/tag42.xml"/><Relationship Id="rId42" Type="http://schemas.openxmlformats.org/officeDocument/2006/relationships/image" Target="../media/image58.png"/><Relationship Id="rId47" Type="http://schemas.openxmlformats.org/officeDocument/2006/relationships/tags" Target="../tags/tag33.xml"/><Relationship Id="rId50" Type="http://schemas.openxmlformats.org/officeDocument/2006/relationships/image" Target="../media/image63.png"/><Relationship Id="rId7" Type="http://schemas.openxmlformats.org/officeDocument/2006/relationships/tags" Target="../tags/tag35.xml"/><Relationship Id="rId2" Type="http://schemas.openxmlformats.org/officeDocument/2006/relationships/tags" Target="../tags/tag30.xml"/><Relationship Id="rId16" Type="http://schemas.openxmlformats.org/officeDocument/2006/relationships/image" Target="../media/image39.png"/><Relationship Id="rId29" Type="http://schemas.openxmlformats.org/officeDocument/2006/relationships/image" Target="../media/image49.png"/><Relationship Id="rId11" Type="http://schemas.openxmlformats.org/officeDocument/2006/relationships/tags" Target="../tags/tag39.xml"/><Relationship Id="rId24" Type="http://schemas.openxmlformats.org/officeDocument/2006/relationships/image" Target="../media/image46.png"/><Relationship Id="rId32" Type="http://schemas.openxmlformats.org/officeDocument/2006/relationships/tags" Target="../tags/tag41.xml"/><Relationship Id="rId37" Type="http://schemas.openxmlformats.org/officeDocument/2006/relationships/tags" Target="../tags/tag31.xml"/><Relationship Id="rId40" Type="http://schemas.openxmlformats.org/officeDocument/2006/relationships/image" Target="../media/image56.png"/><Relationship Id="rId45" Type="http://schemas.openxmlformats.org/officeDocument/2006/relationships/tags" Target="../tags/tag32.xml"/><Relationship Id="rId53" Type="http://schemas.openxmlformats.org/officeDocument/2006/relationships/tags" Target="../tags/tag36.xml"/><Relationship Id="rId5" Type="http://schemas.openxmlformats.org/officeDocument/2006/relationships/tags" Target="../tags/tag33.xml"/><Relationship Id="rId10" Type="http://schemas.openxmlformats.org/officeDocument/2006/relationships/tags" Target="../tags/tag38.xml"/><Relationship Id="rId19" Type="http://schemas.openxmlformats.org/officeDocument/2006/relationships/image" Target="../media/image41.png"/><Relationship Id="rId31" Type="http://schemas.openxmlformats.org/officeDocument/2006/relationships/image" Target="../media/image50.png"/><Relationship Id="rId44" Type="http://schemas.openxmlformats.org/officeDocument/2006/relationships/image" Target="../media/image60.png"/><Relationship Id="rId52" Type="http://schemas.openxmlformats.org/officeDocument/2006/relationships/image" Target="../media/image64.png"/><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image" Target="../media/image44.png"/><Relationship Id="rId27" Type="http://schemas.openxmlformats.org/officeDocument/2006/relationships/image" Target="../media/image48.png"/><Relationship Id="rId30" Type="http://schemas.openxmlformats.org/officeDocument/2006/relationships/tags" Target="../tags/tag40.xml"/><Relationship Id="rId35" Type="http://schemas.openxmlformats.org/officeDocument/2006/relationships/image" Target="../media/image52.png"/><Relationship Id="rId43" Type="http://schemas.openxmlformats.org/officeDocument/2006/relationships/image" Target="../media/image59.png"/><Relationship Id="rId48" Type="http://schemas.openxmlformats.org/officeDocument/2006/relationships/image" Target="../media/image62.png"/><Relationship Id="rId8" Type="http://schemas.openxmlformats.org/officeDocument/2006/relationships/tags" Target="../tags/tag36.xml"/><Relationship Id="rId51" Type="http://schemas.openxmlformats.org/officeDocument/2006/relationships/tags" Target="../tags/tag35.xml"/><Relationship Id="rId3" Type="http://schemas.openxmlformats.org/officeDocument/2006/relationships/tags" Target="../tags/tag31.xml"/><Relationship Id="rId12" Type="http://schemas.openxmlformats.org/officeDocument/2006/relationships/tags" Target="../tags/tag40.xml"/><Relationship Id="rId17" Type="http://schemas.openxmlformats.org/officeDocument/2006/relationships/image" Target="../media/image40.png"/><Relationship Id="rId25" Type="http://schemas.openxmlformats.org/officeDocument/2006/relationships/image" Target="../media/image47.png"/><Relationship Id="rId33" Type="http://schemas.openxmlformats.org/officeDocument/2006/relationships/image" Target="../media/image51.png"/><Relationship Id="rId38" Type="http://schemas.openxmlformats.org/officeDocument/2006/relationships/image" Target="../media/image54.png"/><Relationship Id="rId46" Type="http://schemas.openxmlformats.org/officeDocument/2006/relationships/image" Target="../media/image61.png"/><Relationship Id="rId20" Type="http://schemas.openxmlformats.org/officeDocument/2006/relationships/image" Target="../media/image42.png"/><Relationship Id="rId41" Type="http://schemas.openxmlformats.org/officeDocument/2006/relationships/image" Target="../media/image57.png"/><Relationship Id="rId54" Type="http://schemas.openxmlformats.org/officeDocument/2006/relationships/image" Target="../media/image65.png"/><Relationship Id="rId1" Type="http://schemas.openxmlformats.org/officeDocument/2006/relationships/tags" Target="../tags/tag29.xml"/><Relationship Id="rId6" Type="http://schemas.openxmlformats.org/officeDocument/2006/relationships/tags" Target="../tags/tag34.xml"/><Relationship Id="rId15" Type="http://schemas.openxmlformats.org/officeDocument/2006/relationships/slideLayout" Target="../slideLayouts/slideLayout2.xml"/><Relationship Id="rId23" Type="http://schemas.openxmlformats.org/officeDocument/2006/relationships/image" Target="../media/image45.png"/><Relationship Id="rId28" Type="http://schemas.openxmlformats.org/officeDocument/2006/relationships/tags" Target="../tags/tag39.xml"/><Relationship Id="rId36" Type="http://schemas.openxmlformats.org/officeDocument/2006/relationships/image" Target="../media/image53.png"/><Relationship Id="rId49" Type="http://schemas.openxmlformats.org/officeDocument/2006/relationships/tags" Target="../tags/tag34.xml"/></Relationships>
</file>

<file path=ppt/slides/_rels/slide7.xml.rels><?xml version="1.0" encoding="UTF-8" standalone="yes"?>
<Relationships xmlns="http://schemas.openxmlformats.org/package/2006/relationships"><Relationship Id="rId13" Type="http://schemas.openxmlformats.org/officeDocument/2006/relationships/tags" Target="../tags/tag55.xml"/><Relationship Id="rId18" Type="http://schemas.openxmlformats.org/officeDocument/2006/relationships/image" Target="../media/image67.png"/><Relationship Id="rId26" Type="http://schemas.openxmlformats.org/officeDocument/2006/relationships/image" Target="../media/image74.png"/><Relationship Id="rId39" Type="http://schemas.openxmlformats.org/officeDocument/2006/relationships/image" Target="../media/image81.png"/><Relationship Id="rId21" Type="http://schemas.openxmlformats.org/officeDocument/2006/relationships/image" Target="../media/image69.png"/><Relationship Id="rId34" Type="http://schemas.openxmlformats.org/officeDocument/2006/relationships/image" Target="../media/image78.png"/><Relationship Id="rId42" Type="http://schemas.openxmlformats.org/officeDocument/2006/relationships/image" Target="../media/image84.png"/><Relationship Id="rId47" Type="http://schemas.openxmlformats.org/officeDocument/2006/relationships/tags" Target="../tags/tag55.xml"/><Relationship Id="rId50" Type="http://schemas.openxmlformats.org/officeDocument/2006/relationships/image" Target="../media/image88.png"/><Relationship Id="rId7" Type="http://schemas.openxmlformats.org/officeDocument/2006/relationships/tags" Target="../tags/tag49.xml"/><Relationship Id="rId2" Type="http://schemas.openxmlformats.org/officeDocument/2006/relationships/tags" Target="../tags/tag44.xml"/><Relationship Id="rId16" Type="http://schemas.openxmlformats.org/officeDocument/2006/relationships/tags" Target="../tags/tag45.xml"/><Relationship Id="rId29" Type="http://schemas.openxmlformats.org/officeDocument/2006/relationships/tags" Target="../tags/tag48.xml"/><Relationship Id="rId11" Type="http://schemas.openxmlformats.org/officeDocument/2006/relationships/tags" Target="../tags/tag53.xml"/><Relationship Id="rId24" Type="http://schemas.openxmlformats.org/officeDocument/2006/relationships/image" Target="../media/image72.png"/><Relationship Id="rId32" Type="http://schemas.openxmlformats.org/officeDocument/2006/relationships/image" Target="../media/image77.png"/><Relationship Id="rId37" Type="http://schemas.openxmlformats.org/officeDocument/2006/relationships/tags" Target="../tags/tag52.xml"/><Relationship Id="rId40" Type="http://schemas.openxmlformats.org/officeDocument/2006/relationships/image" Target="../media/image82.png"/><Relationship Id="rId45" Type="http://schemas.openxmlformats.org/officeDocument/2006/relationships/tags" Target="../tags/tag54.xml"/><Relationship Id="rId5" Type="http://schemas.openxmlformats.org/officeDocument/2006/relationships/tags" Target="../tags/tag47.xml"/><Relationship Id="rId15" Type="http://schemas.openxmlformats.org/officeDocument/2006/relationships/slideLayout" Target="../slideLayouts/slideLayout2.xml"/><Relationship Id="rId23" Type="http://schemas.openxmlformats.org/officeDocument/2006/relationships/image" Target="../media/image71.png"/><Relationship Id="rId28" Type="http://schemas.openxmlformats.org/officeDocument/2006/relationships/image" Target="../media/image75.png"/><Relationship Id="rId36" Type="http://schemas.openxmlformats.org/officeDocument/2006/relationships/image" Target="../media/image79.png"/><Relationship Id="rId49" Type="http://schemas.openxmlformats.org/officeDocument/2006/relationships/tags" Target="../tags/tag56.xml"/><Relationship Id="rId10" Type="http://schemas.openxmlformats.org/officeDocument/2006/relationships/tags" Target="../tags/tag52.xml"/><Relationship Id="rId19" Type="http://schemas.openxmlformats.org/officeDocument/2006/relationships/tags" Target="../tags/tag46.xml"/><Relationship Id="rId31" Type="http://schemas.openxmlformats.org/officeDocument/2006/relationships/tags" Target="../tags/tag49.xml"/><Relationship Id="rId44" Type="http://schemas.openxmlformats.org/officeDocument/2006/relationships/image" Target="../media/image85.pn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image" Target="../media/image70.png"/><Relationship Id="rId27" Type="http://schemas.openxmlformats.org/officeDocument/2006/relationships/tags" Target="../tags/tag47.xml"/><Relationship Id="rId30" Type="http://schemas.openxmlformats.org/officeDocument/2006/relationships/image" Target="../media/image76.png"/><Relationship Id="rId35" Type="http://schemas.openxmlformats.org/officeDocument/2006/relationships/tags" Target="../tags/tag51.xml"/><Relationship Id="rId43" Type="http://schemas.openxmlformats.org/officeDocument/2006/relationships/tags" Target="../tags/tag53.xml"/><Relationship Id="rId48" Type="http://schemas.openxmlformats.org/officeDocument/2006/relationships/image" Target="../media/image87.png"/><Relationship Id="rId8" Type="http://schemas.openxmlformats.org/officeDocument/2006/relationships/tags" Target="../tags/tag50.xml"/><Relationship Id="rId51" Type="http://schemas.openxmlformats.org/officeDocument/2006/relationships/image" Target="../media/image89.png"/><Relationship Id="rId3" Type="http://schemas.openxmlformats.org/officeDocument/2006/relationships/tags" Target="../tags/tag45.xml"/><Relationship Id="rId12" Type="http://schemas.openxmlformats.org/officeDocument/2006/relationships/tags" Target="../tags/tag54.xml"/><Relationship Id="rId17" Type="http://schemas.openxmlformats.org/officeDocument/2006/relationships/image" Target="../media/image66.png"/><Relationship Id="rId25" Type="http://schemas.openxmlformats.org/officeDocument/2006/relationships/image" Target="../media/image73.png"/><Relationship Id="rId33" Type="http://schemas.openxmlformats.org/officeDocument/2006/relationships/tags" Target="../tags/tag50.xml"/><Relationship Id="rId38" Type="http://schemas.openxmlformats.org/officeDocument/2006/relationships/image" Target="../media/image80.png"/><Relationship Id="rId46" Type="http://schemas.openxmlformats.org/officeDocument/2006/relationships/image" Target="../media/image86.png"/><Relationship Id="rId20" Type="http://schemas.openxmlformats.org/officeDocument/2006/relationships/image" Target="../media/image68.png"/><Relationship Id="rId41" Type="http://schemas.openxmlformats.org/officeDocument/2006/relationships/image" Target="../media/image83.png"/><Relationship Id="rId1" Type="http://schemas.openxmlformats.org/officeDocument/2006/relationships/tags" Target="../tags/tag43.xml"/><Relationship Id="rId6" Type="http://schemas.openxmlformats.org/officeDocument/2006/relationships/tags" Target="../tags/tag48.xml"/></Relationships>
</file>

<file path=ppt/slides/_rels/slide8.xml.rels><?xml version="1.0" encoding="UTF-8" standalone="yes"?>
<Relationships xmlns="http://schemas.openxmlformats.org/package/2006/relationships"><Relationship Id="rId13" Type="http://schemas.openxmlformats.org/officeDocument/2006/relationships/tags" Target="../tags/tag69.xml"/><Relationship Id="rId18" Type="http://schemas.openxmlformats.org/officeDocument/2006/relationships/image" Target="../media/image66.png"/><Relationship Id="rId26" Type="http://schemas.openxmlformats.org/officeDocument/2006/relationships/image" Target="../media/image96.png"/><Relationship Id="rId39" Type="http://schemas.openxmlformats.org/officeDocument/2006/relationships/image" Target="../media/image103.png"/><Relationship Id="rId21" Type="http://schemas.openxmlformats.org/officeDocument/2006/relationships/image" Target="../media/image91.png"/><Relationship Id="rId34" Type="http://schemas.openxmlformats.org/officeDocument/2006/relationships/tags" Target="../tags/tag65.xml"/><Relationship Id="rId42" Type="http://schemas.openxmlformats.org/officeDocument/2006/relationships/image" Target="../media/image106.png"/><Relationship Id="rId47" Type="http://schemas.openxmlformats.org/officeDocument/2006/relationships/image" Target="../media/image109.png"/><Relationship Id="rId50" Type="http://schemas.openxmlformats.org/officeDocument/2006/relationships/tags" Target="../tags/tag71.xml"/><Relationship Id="rId7" Type="http://schemas.openxmlformats.org/officeDocument/2006/relationships/tags" Target="../tags/tag63.xml"/><Relationship Id="rId2" Type="http://schemas.openxmlformats.org/officeDocument/2006/relationships/tags" Target="../tags/tag58.xml"/><Relationship Id="rId16" Type="http://schemas.openxmlformats.org/officeDocument/2006/relationships/slideLayout" Target="../slideLayouts/slideLayout2.xml"/><Relationship Id="rId29" Type="http://schemas.openxmlformats.org/officeDocument/2006/relationships/image" Target="../media/image98.png"/><Relationship Id="rId11" Type="http://schemas.openxmlformats.org/officeDocument/2006/relationships/tags" Target="../tags/tag67.xml"/><Relationship Id="rId24" Type="http://schemas.openxmlformats.org/officeDocument/2006/relationships/image" Target="../media/image94.png"/><Relationship Id="rId32" Type="http://schemas.openxmlformats.org/officeDocument/2006/relationships/tags" Target="../tags/tag64.xml"/><Relationship Id="rId37" Type="http://schemas.openxmlformats.org/officeDocument/2006/relationships/image" Target="../media/image102.png"/><Relationship Id="rId40" Type="http://schemas.openxmlformats.org/officeDocument/2006/relationships/image" Target="../media/image104.png"/><Relationship Id="rId45" Type="http://schemas.openxmlformats.org/officeDocument/2006/relationships/image" Target="../media/image108.png"/><Relationship Id="rId53" Type="http://schemas.openxmlformats.org/officeDocument/2006/relationships/tags" Target="../tags/tag60.xml"/><Relationship Id="rId5" Type="http://schemas.openxmlformats.org/officeDocument/2006/relationships/tags" Target="../tags/tag61.xml"/><Relationship Id="rId10" Type="http://schemas.openxmlformats.org/officeDocument/2006/relationships/tags" Target="../tags/tag66.xml"/><Relationship Id="rId19" Type="http://schemas.openxmlformats.org/officeDocument/2006/relationships/image" Target="../media/image90.png"/><Relationship Id="rId31" Type="http://schemas.openxmlformats.org/officeDocument/2006/relationships/image" Target="../media/image99.png"/><Relationship Id="rId44" Type="http://schemas.openxmlformats.org/officeDocument/2006/relationships/tags" Target="../tags/tag68.xml"/><Relationship Id="rId52" Type="http://schemas.openxmlformats.org/officeDocument/2006/relationships/image" Target="../media/image112.png"/><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 Id="rId22" Type="http://schemas.openxmlformats.org/officeDocument/2006/relationships/image" Target="../media/image92.png"/><Relationship Id="rId27" Type="http://schemas.openxmlformats.org/officeDocument/2006/relationships/image" Target="../media/image97.png"/><Relationship Id="rId30" Type="http://schemas.openxmlformats.org/officeDocument/2006/relationships/tags" Target="../tags/tag63.xml"/><Relationship Id="rId35" Type="http://schemas.openxmlformats.org/officeDocument/2006/relationships/image" Target="../media/image101.png"/><Relationship Id="rId43" Type="http://schemas.openxmlformats.org/officeDocument/2006/relationships/image" Target="../media/image107.png"/><Relationship Id="rId48" Type="http://schemas.openxmlformats.org/officeDocument/2006/relationships/tags" Target="../tags/tag70.xml"/><Relationship Id="rId8" Type="http://schemas.openxmlformats.org/officeDocument/2006/relationships/tags" Target="../tags/tag64.xml"/><Relationship Id="rId51" Type="http://schemas.openxmlformats.org/officeDocument/2006/relationships/image" Target="../media/image111.png"/><Relationship Id="rId3" Type="http://schemas.openxmlformats.org/officeDocument/2006/relationships/tags" Target="../tags/tag59.xml"/><Relationship Id="rId12" Type="http://schemas.openxmlformats.org/officeDocument/2006/relationships/tags" Target="../tags/tag68.xml"/><Relationship Id="rId17" Type="http://schemas.openxmlformats.org/officeDocument/2006/relationships/tags" Target="../tags/tag59.xml"/><Relationship Id="rId25" Type="http://schemas.openxmlformats.org/officeDocument/2006/relationships/image" Target="../media/image95.png"/><Relationship Id="rId33" Type="http://schemas.openxmlformats.org/officeDocument/2006/relationships/image" Target="../media/image100.png"/><Relationship Id="rId38" Type="http://schemas.openxmlformats.org/officeDocument/2006/relationships/tags" Target="../tags/tag67.xml"/><Relationship Id="rId46" Type="http://schemas.openxmlformats.org/officeDocument/2006/relationships/tags" Target="../tags/tag69.xml"/><Relationship Id="rId20" Type="http://schemas.openxmlformats.org/officeDocument/2006/relationships/tags" Target="../tags/tag61.xml"/><Relationship Id="rId41" Type="http://schemas.openxmlformats.org/officeDocument/2006/relationships/image" Target="../media/image105.png"/><Relationship Id="rId54" Type="http://schemas.openxmlformats.org/officeDocument/2006/relationships/image" Target="../media/image113.png"/><Relationship Id="rId1" Type="http://schemas.openxmlformats.org/officeDocument/2006/relationships/tags" Target="../tags/tag57.xml"/><Relationship Id="rId6" Type="http://schemas.openxmlformats.org/officeDocument/2006/relationships/tags" Target="../tags/tag62.xml"/><Relationship Id="rId15" Type="http://schemas.openxmlformats.org/officeDocument/2006/relationships/tags" Target="../tags/tag71.xml"/><Relationship Id="rId23" Type="http://schemas.openxmlformats.org/officeDocument/2006/relationships/image" Target="../media/image93.png"/><Relationship Id="rId28" Type="http://schemas.openxmlformats.org/officeDocument/2006/relationships/tags" Target="../tags/tag62.xml"/><Relationship Id="rId36" Type="http://schemas.openxmlformats.org/officeDocument/2006/relationships/tags" Target="../tags/tag66.xml"/><Relationship Id="rId49" Type="http://schemas.openxmlformats.org/officeDocument/2006/relationships/image" Target="../media/image110.png"/></Relationships>
</file>

<file path=ppt/slides/_rels/slide9.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115.png"/><Relationship Id="rId3" Type="http://schemas.openxmlformats.org/officeDocument/2006/relationships/tags" Target="../tags/tag74.xml"/><Relationship Id="rId7" Type="http://schemas.openxmlformats.org/officeDocument/2006/relationships/tags" Target="../tags/tag74.xml"/><Relationship Id="rId12" Type="http://schemas.openxmlformats.org/officeDocument/2006/relationships/tags" Target="../tags/tag76.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slideLayout" Target="../slideLayouts/slideLayout2.xml"/><Relationship Id="rId11" Type="http://schemas.openxmlformats.org/officeDocument/2006/relationships/image" Target="../media/image113.png"/><Relationship Id="rId5" Type="http://schemas.openxmlformats.org/officeDocument/2006/relationships/tags" Target="../tags/tag76.xml"/><Relationship Id="rId10" Type="http://schemas.openxmlformats.org/officeDocument/2006/relationships/tags" Target="../tags/tag75.xml"/><Relationship Id="rId4" Type="http://schemas.openxmlformats.org/officeDocument/2006/relationships/tags" Target="../tags/tag75.xml"/><Relationship Id="rId9" Type="http://schemas.openxmlformats.org/officeDocument/2006/relationships/image" Target="../media/image1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87.xml"/><Relationship Id="rId13" Type="http://schemas.openxmlformats.org/officeDocument/2006/relationships/tags" Target="../tags/tag92.xml"/><Relationship Id="rId18" Type="http://schemas.openxmlformats.org/officeDocument/2006/relationships/image" Target="../media/image119.png"/><Relationship Id="rId3" Type="http://schemas.openxmlformats.org/officeDocument/2006/relationships/tags" Target="../tags/tag82.xml"/><Relationship Id="rId21" Type="http://schemas.openxmlformats.org/officeDocument/2006/relationships/image" Target="../media/image122.png"/><Relationship Id="rId7" Type="http://schemas.openxmlformats.org/officeDocument/2006/relationships/tags" Target="../tags/tag86.xml"/><Relationship Id="rId12" Type="http://schemas.openxmlformats.org/officeDocument/2006/relationships/tags" Target="../tags/tag91.xml"/><Relationship Id="rId17" Type="http://schemas.openxmlformats.org/officeDocument/2006/relationships/image" Target="../media/image118.png"/><Relationship Id="rId2" Type="http://schemas.openxmlformats.org/officeDocument/2006/relationships/tags" Target="../tags/tag81.xml"/><Relationship Id="rId16" Type="http://schemas.openxmlformats.org/officeDocument/2006/relationships/image" Target="../media/image117.png"/><Relationship Id="rId20" Type="http://schemas.openxmlformats.org/officeDocument/2006/relationships/image" Target="../media/image121.png"/><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tags" Target="../tags/tag90.xml"/><Relationship Id="rId5" Type="http://schemas.openxmlformats.org/officeDocument/2006/relationships/tags" Target="../tags/tag84.xml"/><Relationship Id="rId15" Type="http://schemas.openxmlformats.org/officeDocument/2006/relationships/image" Target="../media/image116.png"/><Relationship Id="rId10" Type="http://schemas.openxmlformats.org/officeDocument/2006/relationships/tags" Target="../tags/tag89.xml"/><Relationship Id="rId19" Type="http://schemas.openxmlformats.org/officeDocument/2006/relationships/image" Target="../media/image120.png"/><Relationship Id="rId4" Type="http://schemas.openxmlformats.org/officeDocument/2006/relationships/tags" Target="../tags/tag83.xml"/><Relationship Id="rId9" Type="http://schemas.openxmlformats.org/officeDocument/2006/relationships/tags" Target="../tags/tag88.xml"/><Relationship Id="rId14"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93.xml"/><Relationship Id="rId4" Type="http://schemas.openxmlformats.org/officeDocument/2006/relationships/image" Target="../media/image17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image" Target="../media/image18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tags" Target="../tags/tag98.xml"/><Relationship Id="rId7" Type="http://schemas.openxmlformats.org/officeDocument/2006/relationships/tags" Target="../tags/tag99.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slideLayout" Target="../slideLayouts/slideLayout2.xml"/><Relationship Id="rId5" Type="http://schemas.openxmlformats.org/officeDocument/2006/relationships/tags" Target="../tags/tag100.xml"/><Relationship Id="rId10" Type="http://schemas.openxmlformats.org/officeDocument/2006/relationships/image" Target="../media/image200.png"/><Relationship Id="rId4" Type="http://schemas.openxmlformats.org/officeDocument/2006/relationships/tags" Target="../tags/tag99.xml"/><Relationship Id="rId9" Type="http://schemas.openxmlformats.org/officeDocument/2006/relationships/tags" Target="../tags/tag100.xml"/></Relationships>
</file>

<file path=ppt/slides/_rels/slide19.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103.xml"/><Relationship Id="rId7"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9" Type="http://schemas.openxmlformats.org/officeDocument/2006/relationships/image" Target="../media/image210.png"/></Relationships>
</file>

<file path=ppt/slides/_rels/slide20.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slideLayout" Target="../slideLayouts/slideLayout2.xml"/><Relationship Id="rId1" Type="http://schemas.openxmlformats.org/officeDocument/2006/relationships/tags" Target="../tags/tag107.xml"/><Relationship Id="rId5" Type="http://schemas.openxmlformats.org/officeDocument/2006/relationships/image" Target="../media/image240.png"/><Relationship Id="rId4" Type="http://schemas.openxmlformats.org/officeDocument/2006/relationships/image" Target="../media/image230.png"/></Relationships>
</file>

<file path=ppt/slides/_rels/slide21.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123.png"/><Relationship Id="rId7" Type="http://schemas.openxmlformats.org/officeDocument/2006/relationships/image" Target="../media/image290.png"/><Relationship Id="rId2" Type="http://schemas.openxmlformats.org/officeDocument/2006/relationships/slideLayout" Target="../slideLayouts/slideLayout2.xml"/><Relationship Id="rId1" Type="http://schemas.openxmlformats.org/officeDocument/2006/relationships/tags" Target="../tags/tag108.xml"/><Relationship Id="rId6" Type="http://schemas.openxmlformats.org/officeDocument/2006/relationships/image" Target="../media/image280.png"/><Relationship Id="rId5" Type="http://schemas.openxmlformats.org/officeDocument/2006/relationships/image" Target="../media/image270.png"/><Relationship Id="rId4" Type="http://schemas.openxmlformats.org/officeDocument/2006/relationships/image" Target="../media/image260.png"/></Relationships>
</file>

<file path=ppt/slides/_rels/slide22.xml.rels><?xml version="1.0" encoding="UTF-8" standalone="yes"?>
<Relationships xmlns="http://schemas.openxmlformats.org/package/2006/relationships"><Relationship Id="rId8" Type="http://schemas.openxmlformats.org/officeDocument/2006/relationships/image" Target="../media/image310.png"/><Relationship Id="rId3" Type="http://schemas.openxmlformats.org/officeDocument/2006/relationships/tags" Target="../tags/tag111.xml"/><Relationship Id="rId7" Type="http://schemas.openxmlformats.org/officeDocument/2006/relationships/tags" Target="../tags/tag110.xml"/><Relationship Id="rId12" Type="http://schemas.openxmlformats.org/officeDocument/2006/relationships/image" Target="../media/image330.pn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slideLayout" Target="../slideLayouts/slideLayout2.xml"/><Relationship Id="rId11" Type="http://schemas.openxmlformats.org/officeDocument/2006/relationships/tags" Target="../tags/tag113.xml"/><Relationship Id="rId5" Type="http://schemas.openxmlformats.org/officeDocument/2006/relationships/tags" Target="../tags/tag113.xml"/><Relationship Id="rId10" Type="http://schemas.openxmlformats.org/officeDocument/2006/relationships/image" Target="../media/image320.png"/><Relationship Id="rId4" Type="http://schemas.openxmlformats.org/officeDocument/2006/relationships/tags" Target="../tags/tag112.xml"/><Relationship Id="rId9" Type="http://schemas.openxmlformats.org/officeDocument/2006/relationships/tags" Target="../tags/tag112.xml"/></Relationships>
</file>

<file path=ppt/slides/_rels/slide23.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tags" Target="../tags/tag116.xml"/><Relationship Id="rId7" Type="http://schemas.openxmlformats.org/officeDocument/2006/relationships/tags" Target="../tags/tag116.xml"/><Relationship Id="rId12" Type="http://schemas.openxmlformats.org/officeDocument/2006/relationships/image" Target="../media/image360.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slideLayout" Target="../slideLayouts/slideLayout2.xml"/><Relationship Id="rId11" Type="http://schemas.openxmlformats.org/officeDocument/2006/relationships/tags" Target="../tags/tag118.xml"/><Relationship Id="rId5" Type="http://schemas.openxmlformats.org/officeDocument/2006/relationships/tags" Target="../tags/tag118.xml"/><Relationship Id="rId10" Type="http://schemas.openxmlformats.org/officeDocument/2006/relationships/image" Target="../media/image350.png"/><Relationship Id="rId4" Type="http://schemas.openxmlformats.org/officeDocument/2006/relationships/tags" Target="../tags/tag117.xml"/><Relationship Id="rId9" Type="http://schemas.openxmlformats.org/officeDocument/2006/relationships/tags" Target="../tags/tag1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0.xml"/><Relationship Id="rId1" Type="http://schemas.openxmlformats.org/officeDocument/2006/relationships/tags" Target="../tags/tag119.xml"/></Relationships>
</file>

<file path=ppt/slides/_rels/slide26.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28.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5" Type="http://schemas.openxmlformats.org/officeDocument/2006/relationships/slideLayout" Target="../slideLayouts/slideLayout2.xml"/><Relationship Id="rId4" Type="http://schemas.openxmlformats.org/officeDocument/2006/relationships/tags" Target="../tags/tag128.xml"/></Relationships>
</file>

<file path=ppt/slides/_rels/slide29.xml.rels><?xml version="1.0" encoding="UTF-8" standalone="yes"?>
<Relationships xmlns="http://schemas.openxmlformats.org/package/2006/relationships"><Relationship Id="rId3" Type="http://schemas.openxmlformats.org/officeDocument/2006/relationships/tags" Target="../tags/tag131.xml"/><Relationship Id="rId7" Type="http://schemas.openxmlformats.org/officeDocument/2006/relationships/image" Target="../media/image125.png"/><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0.xml"/><Relationship Id="rId5" Type="http://schemas.openxmlformats.org/officeDocument/2006/relationships/slideLayout" Target="../slideLayouts/slideLayout2.xml"/><Relationship Id="rId4" Type="http://schemas.openxmlformats.org/officeDocument/2006/relationships/tags" Target="../tags/tag13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image" Target="../media/image126.png"/></Relationships>
</file>

<file path=ppt/slides/_rels/slide31.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5" Type="http://schemas.openxmlformats.org/officeDocument/2006/relationships/slideLayout" Target="../slideLayouts/slideLayout2.xml"/><Relationship Id="rId4" Type="http://schemas.openxmlformats.org/officeDocument/2006/relationships/tags" Target="../tags/tag14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tags" Target="../tags/tag154.xml"/><Relationship Id="rId18" Type="http://schemas.openxmlformats.org/officeDocument/2006/relationships/image" Target="../media/image132.png"/><Relationship Id="rId3" Type="http://schemas.openxmlformats.org/officeDocument/2006/relationships/tags" Target="../tags/tag144.xml"/><Relationship Id="rId21" Type="http://schemas.openxmlformats.org/officeDocument/2006/relationships/image" Target="../media/image135.png"/><Relationship Id="rId7" Type="http://schemas.openxmlformats.org/officeDocument/2006/relationships/tags" Target="../tags/tag148.xml"/><Relationship Id="rId12" Type="http://schemas.openxmlformats.org/officeDocument/2006/relationships/tags" Target="../tags/tag153.xml"/><Relationship Id="rId17" Type="http://schemas.openxmlformats.org/officeDocument/2006/relationships/image" Target="../media/image131.png"/><Relationship Id="rId2" Type="http://schemas.openxmlformats.org/officeDocument/2006/relationships/tags" Target="../tags/tag143.xml"/><Relationship Id="rId16" Type="http://schemas.openxmlformats.org/officeDocument/2006/relationships/image" Target="../media/image130.png"/><Relationship Id="rId20" Type="http://schemas.openxmlformats.org/officeDocument/2006/relationships/image" Target="../media/image134.png"/><Relationship Id="rId1" Type="http://schemas.openxmlformats.org/officeDocument/2006/relationships/tags" Target="../tags/tag142.xml"/><Relationship Id="rId6" Type="http://schemas.openxmlformats.org/officeDocument/2006/relationships/tags" Target="../tags/tag147.xml"/><Relationship Id="rId11" Type="http://schemas.openxmlformats.org/officeDocument/2006/relationships/tags" Target="../tags/tag152.xml"/><Relationship Id="rId5" Type="http://schemas.openxmlformats.org/officeDocument/2006/relationships/tags" Target="../tags/tag146.xml"/><Relationship Id="rId15" Type="http://schemas.openxmlformats.org/officeDocument/2006/relationships/image" Target="../media/image129.png"/><Relationship Id="rId10" Type="http://schemas.openxmlformats.org/officeDocument/2006/relationships/tags" Target="../tags/tag151.xml"/><Relationship Id="rId19" Type="http://schemas.openxmlformats.org/officeDocument/2006/relationships/image" Target="../media/image133.png"/><Relationship Id="rId4" Type="http://schemas.openxmlformats.org/officeDocument/2006/relationships/tags" Target="../tags/tag145.xml"/><Relationship Id="rId9" Type="http://schemas.openxmlformats.org/officeDocument/2006/relationships/tags" Target="../tags/tag150.xml"/><Relationship Id="rId14"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6.xml"/><Relationship Id="rId1" Type="http://schemas.openxmlformats.org/officeDocument/2006/relationships/tags" Target="../tags/tag155.xml"/><Relationship Id="rId4" Type="http://schemas.openxmlformats.org/officeDocument/2006/relationships/notesSlide" Target="../notesSlides/notesSlide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8.xml"/><Relationship Id="rId1" Type="http://schemas.openxmlformats.org/officeDocument/2006/relationships/tags" Target="../tags/tag157.xml"/></Relationships>
</file>

<file path=ppt/slides/_rels/slide37.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18" Type="http://schemas.openxmlformats.org/officeDocument/2006/relationships/image" Target="../media/image139.png"/><Relationship Id="rId3" Type="http://schemas.openxmlformats.org/officeDocument/2006/relationships/tags" Target="../tags/tag161.xml"/><Relationship Id="rId21" Type="http://schemas.openxmlformats.org/officeDocument/2006/relationships/image" Target="../media/image142.png"/><Relationship Id="rId7" Type="http://schemas.openxmlformats.org/officeDocument/2006/relationships/tags" Target="../tags/tag165.xml"/><Relationship Id="rId12" Type="http://schemas.openxmlformats.org/officeDocument/2006/relationships/tags" Target="../tags/tag170.xml"/><Relationship Id="rId17" Type="http://schemas.openxmlformats.org/officeDocument/2006/relationships/image" Target="../media/image138.png"/><Relationship Id="rId2" Type="http://schemas.openxmlformats.org/officeDocument/2006/relationships/tags" Target="../tags/tag160.xml"/><Relationship Id="rId16" Type="http://schemas.openxmlformats.org/officeDocument/2006/relationships/image" Target="../media/image137.png"/><Relationship Id="rId20" Type="http://schemas.openxmlformats.org/officeDocument/2006/relationships/image" Target="../media/image141.png"/><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image" Target="../media/image136.png"/><Relationship Id="rId10" Type="http://schemas.openxmlformats.org/officeDocument/2006/relationships/tags" Target="../tags/tag168.xml"/><Relationship Id="rId19" Type="http://schemas.openxmlformats.org/officeDocument/2006/relationships/image" Target="../media/image140.png"/><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3.xml"/><Relationship Id="rId1" Type="http://schemas.openxmlformats.org/officeDocument/2006/relationships/tags" Target="../tags/tag17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5.xml"/><Relationship Id="rId1" Type="http://schemas.openxmlformats.org/officeDocument/2006/relationships/tags" Target="../tags/tag174.xml"/><Relationship Id="rId4" Type="http://schemas.openxmlformats.org/officeDocument/2006/relationships/image" Target="../media/image510.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7.xml"/><Relationship Id="rId1" Type="http://schemas.openxmlformats.org/officeDocument/2006/relationships/tags" Target="../tags/tag176.xml"/><Relationship Id="rId4" Type="http://schemas.openxmlformats.org/officeDocument/2006/relationships/notesSlide" Target="../notesSlides/notes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 Id="rId5" Type="http://schemas.openxmlformats.org/officeDocument/2006/relationships/slideLayout" Target="../slideLayouts/slideLayout2.xml"/><Relationship Id="rId4" Type="http://schemas.openxmlformats.org/officeDocument/2006/relationships/tags" Target="../tags/tag181.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3.xml"/><Relationship Id="rId1" Type="http://schemas.openxmlformats.org/officeDocument/2006/relationships/tags" Target="../tags/tag18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5.xml"/><Relationship Id="rId1" Type="http://schemas.openxmlformats.org/officeDocument/2006/relationships/tags" Target="../tags/tag18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7A2C-CECB-EA45-9A8F-28914F6ACB98}"/>
              </a:ext>
            </a:extLst>
          </p:cNvPr>
          <p:cNvSpPr>
            <a:spLocks noGrp="1"/>
          </p:cNvSpPr>
          <p:nvPr>
            <p:ph type="ctrTitle"/>
          </p:nvPr>
        </p:nvSpPr>
        <p:spPr/>
        <p:txBody>
          <a:bodyPr/>
          <a:lstStyle/>
          <a:p>
            <a:pPr algn="ctr"/>
            <a:r>
              <a:rPr lang="en-US" dirty="0"/>
              <a:t>Graphs: Dijkstra’s Algorithm And Prim’s Algorithm</a:t>
            </a:r>
          </a:p>
        </p:txBody>
      </p:sp>
      <p:sp>
        <p:nvSpPr>
          <p:cNvPr id="3" name="Subtitle 2">
            <a:extLst>
              <a:ext uri="{FF2B5EF4-FFF2-40B4-BE49-F238E27FC236}">
                <a16:creationId xmlns:a16="http://schemas.microsoft.com/office/drawing/2014/main" id="{4CC3BA16-EE93-B74E-A27C-2B68B596BB53}"/>
              </a:ext>
            </a:extLst>
          </p:cNvPr>
          <p:cNvSpPr>
            <a:spLocks noGrp="1"/>
          </p:cNvSpPr>
          <p:nvPr>
            <p:ph type="subTitle" idx="1"/>
          </p:nvPr>
        </p:nvSpPr>
        <p:spPr/>
        <p:txBody>
          <a:bodyPr/>
          <a:lstStyle/>
          <a:p>
            <a:pPr algn="ctr"/>
            <a:r>
              <a:rPr lang="en-US" dirty="0"/>
              <a:t>Data Structures and Algorithms 2</a:t>
            </a:r>
            <a:br>
              <a:rPr lang="en-US" dirty="0"/>
            </a:br>
            <a:r>
              <a:rPr lang="en-US" dirty="0"/>
              <a:t>Mark Floryan</a:t>
            </a:r>
            <a:br>
              <a:rPr lang="en-US" dirty="0"/>
            </a:br>
            <a:br>
              <a:rPr lang="en-US" dirty="0"/>
            </a:br>
            <a:endParaRPr lang="en-US" dirty="0"/>
          </a:p>
        </p:txBody>
      </p:sp>
    </p:spTree>
    <p:extLst>
      <p:ext uri="{BB962C8B-B14F-4D97-AF65-F5344CB8AC3E}">
        <p14:creationId xmlns:p14="http://schemas.microsoft.com/office/powerpoint/2010/main" val="44373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3" y="125537"/>
            <a:ext cx="9905998" cy="860425"/>
          </a:xfrm>
        </p:spPr>
        <p:txBody>
          <a:bodyPr/>
          <a:lstStyle/>
          <a:p>
            <a:pPr algn="ctr"/>
            <a:r>
              <a:rPr lang="en-US" dirty="0"/>
              <a:t>Topics!</a:t>
            </a:r>
          </a:p>
        </p:txBody>
      </p:sp>
      <p:sp>
        <p:nvSpPr>
          <p:cNvPr id="3" name="Content Placeholder 2">
            <a:extLst>
              <a:ext uri="{FF2B5EF4-FFF2-40B4-BE49-F238E27FC236}">
                <a16:creationId xmlns:a16="http://schemas.microsoft.com/office/drawing/2014/main" id="{14278F5F-F936-6145-9FF8-704886F1A386}"/>
              </a:ext>
            </a:extLst>
          </p:cNvPr>
          <p:cNvSpPr>
            <a:spLocks noGrp="1"/>
          </p:cNvSpPr>
          <p:nvPr>
            <p:ph idx="1"/>
          </p:nvPr>
        </p:nvSpPr>
        <p:spPr>
          <a:xfrm>
            <a:off x="1141412" y="1559371"/>
            <a:ext cx="9905999" cy="1089328"/>
          </a:xfrm>
          <a:solidFill>
            <a:schemeClr val="tx1">
              <a:lumMod val="95000"/>
            </a:schemeClr>
          </a:solidFill>
        </p:spPr>
        <p:txBody>
          <a:bodyPr anchor="ctr"/>
          <a:lstStyle/>
          <a:p>
            <a:pPr marL="0" indent="0" algn="ctr">
              <a:buNone/>
            </a:pPr>
            <a:r>
              <a:rPr lang="en-US" b="1" i="1" u="sng" dirty="0">
                <a:solidFill>
                  <a:schemeClr val="bg1"/>
                </a:solidFill>
              </a:rPr>
              <a:t>Dijkstra’s Algorithm</a:t>
            </a:r>
            <a:r>
              <a:rPr lang="en-US" dirty="0">
                <a:solidFill>
                  <a:schemeClr val="bg1"/>
                </a:solidFill>
              </a:rPr>
              <a:t>: Finding the shortest path in a graph</a:t>
            </a:r>
          </a:p>
        </p:txBody>
      </p:sp>
      <p:sp>
        <p:nvSpPr>
          <p:cNvPr id="4" name="Content Placeholder 2">
            <a:extLst>
              <a:ext uri="{FF2B5EF4-FFF2-40B4-BE49-F238E27FC236}">
                <a16:creationId xmlns:a16="http://schemas.microsoft.com/office/drawing/2014/main" id="{C3CBD30C-EB51-C249-A8FC-E343315276A6}"/>
              </a:ext>
            </a:extLst>
          </p:cNvPr>
          <p:cNvSpPr txBox="1">
            <a:spLocks/>
          </p:cNvSpPr>
          <p:nvPr/>
        </p:nvSpPr>
        <p:spPr>
          <a:xfrm>
            <a:off x="1141412" y="2848808"/>
            <a:ext cx="9905999" cy="1089328"/>
          </a:xfrm>
          <a:prstGeom prst="rect">
            <a:avLst/>
          </a:prstGeom>
          <a:solidFill>
            <a:schemeClr val="tx1">
              <a:lumMod val="95000"/>
            </a:schemeClr>
          </a:solid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b="1" i="1" u="sng" dirty="0">
                <a:solidFill>
                  <a:schemeClr val="bg1"/>
                </a:solidFill>
              </a:rPr>
              <a:t>Prim’s Algorithm</a:t>
            </a:r>
            <a:r>
              <a:rPr lang="en-US" dirty="0">
                <a:solidFill>
                  <a:schemeClr val="bg1"/>
                </a:solidFill>
              </a:rPr>
              <a:t>: Finding a minimum spanning tree</a:t>
            </a:r>
          </a:p>
        </p:txBody>
      </p:sp>
      <p:sp>
        <p:nvSpPr>
          <p:cNvPr id="5" name="Content Placeholder 2">
            <a:extLst>
              <a:ext uri="{FF2B5EF4-FFF2-40B4-BE49-F238E27FC236}">
                <a16:creationId xmlns:a16="http://schemas.microsoft.com/office/drawing/2014/main" id="{B98087DF-8BCB-3D46-8C8D-7FA120BFB404}"/>
              </a:ext>
            </a:extLst>
          </p:cNvPr>
          <p:cNvSpPr txBox="1">
            <a:spLocks/>
          </p:cNvSpPr>
          <p:nvPr/>
        </p:nvSpPr>
        <p:spPr>
          <a:xfrm>
            <a:off x="1141412" y="4138245"/>
            <a:ext cx="9905999" cy="1089328"/>
          </a:xfrm>
          <a:prstGeom prst="rect">
            <a:avLst/>
          </a:prstGeom>
          <a:solidFill>
            <a:schemeClr val="tx1">
              <a:lumMod val="95000"/>
            </a:schemeClr>
          </a:solidFill>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b="1" i="1" u="sng" dirty="0">
                <a:solidFill>
                  <a:schemeClr val="bg1"/>
                </a:solidFill>
              </a:rPr>
              <a:t>Comparison</a:t>
            </a:r>
            <a:r>
              <a:rPr lang="en-US" dirty="0">
                <a:solidFill>
                  <a:schemeClr val="bg1"/>
                </a:solidFill>
              </a:rPr>
              <a:t>: These algorithms solve very different problems but are somehow VERY similar to one another. Interesting comparison.</a:t>
            </a:r>
          </a:p>
        </p:txBody>
      </p:sp>
    </p:spTree>
    <p:extLst>
      <p:ext uri="{BB962C8B-B14F-4D97-AF65-F5344CB8AC3E}">
        <p14:creationId xmlns:p14="http://schemas.microsoft.com/office/powerpoint/2010/main" val="2987249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Shortest Path Problems</a:t>
            </a:r>
          </a:p>
        </p:txBody>
      </p:sp>
    </p:spTree>
    <p:extLst>
      <p:ext uri="{BB962C8B-B14F-4D97-AF65-F5344CB8AC3E}">
        <p14:creationId xmlns:p14="http://schemas.microsoft.com/office/powerpoint/2010/main" val="871031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custDataLst>
              <p:tags r:id="rId1"/>
            </p:custDataLst>
          </p:nvPr>
        </p:nvSpPr>
        <p:spPr>
          <a:xfrm>
            <a:off x="1141413" y="238124"/>
            <a:ext cx="9905998" cy="713893"/>
          </a:xfrm>
        </p:spPr>
        <p:txBody>
          <a:bodyPr/>
          <a:lstStyle/>
          <a:p>
            <a:pPr algn="ctr" eaLnBrk="1" hangingPunct="1"/>
            <a:r>
              <a:rPr lang="en-US" dirty="0"/>
              <a:t>Weighted Shortest Path</a:t>
            </a:r>
          </a:p>
        </p:txBody>
      </p:sp>
      <p:sp>
        <p:nvSpPr>
          <p:cNvPr id="34819" name="Rectangle 3"/>
          <p:cNvSpPr>
            <a:spLocks noGrp="1" noChangeArrowheads="1"/>
          </p:cNvSpPr>
          <p:nvPr>
            <p:ph sz="quarter" idx="1"/>
            <p:custDataLst>
              <p:tags r:id="rId2"/>
            </p:custDataLst>
          </p:nvPr>
        </p:nvSpPr>
        <p:spPr>
          <a:xfrm>
            <a:off x="1082673" y="1141323"/>
            <a:ext cx="9905999" cy="1041401"/>
          </a:xfrm>
          <a:solidFill>
            <a:schemeClr val="tx1">
              <a:lumMod val="95000"/>
            </a:schemeClr>
          </a:solidFill>
          <a:ln>
            <a:solidFill>
              <a:schemeClr val="bg1"/>
            </a:solidFill>
          </a:ln>
        </p:spPr>
        <p:txBody>
          <a:bodyPr anchor="ctr">
            <a:normAutofit fontScale="92500"/>
          </a:bodyPr>
          <a:lstStyle/>
          <a:p>
            <a:pPr marL="0" indent="0" algn="ctr" eaLnBrk="1" hangingPunct="1">
              <a:buNone/>
            </a:pPr>
            <a:r>
              <a:rPr lang="en-US" b="1" i="1" u="sng" dirty="0">
                <a:solidFill>
                  <a:schemeClr val="bg1"/>
                </a:solidFill>
              </a:rPr>
              <a:t>Problem Statement</a:t>
            </a:r>
            <a:r>
              <a:rPr lang="en-US" b="1" dirty="0">
                <a:solidFill>
                  <a:schemeClr val="bg1"/>
                </a:solidFill>
              </a:rPr>
              <a:t>: </a:t>
            </a:r>
            <a:r>
              <a:rPr lang="en-US" dirty="0">
                <a:solidFill>
                  <a:schemeClr val="bg1"/>
                </a:solidFill>
              </a:rPr>
              <a:t>Given a weighted graph with </a:t>
            </a:r>
            <a:r>
              <a:rPr lang="en-US" b="1" i="1" dirty="0">
                <a:solidFill>
                  <a:schemeClr val="bg1"/>
                </a:solidFill>
              </a:rPr>
              <a:t>no negative edge weights</a:t>
            </a:r>
            <a:r>
              <a:rPr lang="en-US" dirty="0">
                <a:solidFill>
                  <a:schemeClr val="bg1"/>
                </a:solidFill>
              </a:rPr>
              <a:t> and a start node s, find the shortest weighted path from s to every other node in the graph.</a:t>
            </a:r>
          </a:p>
        </p:txBody>
      </p:sp>
      <p:grpSp>
        <p:nvGrpSpPr>
          <p:cNvPr id="34861" name="Group 34860">
            <a:extLst>
              <a:ext uri="{FF2B5EF4-FFF2-40B4-BE49-F238E27FC236}">
                <a16:creationId xmlns:a16="http://schemas.microsoft.com/office/drawing/2014/main" id="{AB3C17CC-5346-CC05-D510-D638D2E01582}"/>
              </a:ext>
            </a:extLst>
          </p:cNvPr>
          <p:cNvGrpSpPr/>
          <p:nvPr/>
        </p:nvGrpSpPr>
        <p:grpSpPr>
          <a:xfrm>
            <a:off x="2879898" y="2632562"/>
            <a:ext cx="3665154" cy="3084115"/>
            <a:chOff x="694046" y="2790509"/>
            <a:chExt cx="3665154" cy="3084115"/>
          </a:xfrm>
        </p:grpSpPr>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233BF43B-C31B-43BD-2489-B9DD8CCB1D25}"/>
                    </a:ext>
                  </a:extLst>
                </p:cNvPr>
                <p:cNvSpPr/>
                <p:nvPr/>
              </p:nvSpPr>
              <p:spPr>
                <a:xfrm>
                  <a:off x="1273881" y="2911555"/>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0</m:t>
                            </m:r>
                          </m:sub>
                        </m:sSub>
                      </m:oMath>
                    </m:oMathPara>
                  </a14:m>
                  <a:endParaRPr lang="en-US" dirty="0">
                    <a:solidFill>
                      <a:schemeClr val="bg1"/>
                    </a:solidFill>
                  </a:endParaRPr>
                </a:p>
              </p:txBody>
            </p:sp>
          </mc:Choice>
          <mc:Fallback xmlns="">
            <p:sp>
              <p:nvSpPr>
                <p:cNvPr id="35" name="Oval 34">
                  <a:extLst>
                    <a:ext uri="{FF2B5EF4-FFF2-40B4-BE49-F238E27FC236}">
                      <a16:creationId xmlns:a16="http://schemas.microsoft.com/office/drawing/2014/main" id="{233BF43B-C31B-43BD-2489-B9DD8CCB1D25}"/>
                    </a:ext>
                  </a:extLst>
                </p:cNvPr>
                <p:cNvSpPr>
                  <a:spLocks noRot="1" noChangeAspect="1" noMove="1" noResize="1" noEditPoints="1" noAdjustHandles="1" noChangeArrowheads="1" noChangeShapeType="1" noTextEdit="1"/>
                </p:cNvSpPr>
                <p:nvPr/>
              </p:nvSpPr>
              <p:spPr>
                <a:xfrm>
                  <a:off x="1273881" y="2911555"/>
                  <a:ext cx="465931" cy="465931"/>
                </a:xfrm>
                <a:prstGeom prst="ellipse">
                  <a:avLst/>
                </a:prstGeom>
                <a:blipFill>
                  <a:blip r:embed="rId1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93972355-873A-89FB-EB40-AD35A0252711}"/>
                    </a:ext>
                  </a:extLst>
                </p:cNvPr>
                <p:cNvSpPr/>
                <p:nvPr/>
              </p:nvSpPr>
              <p:spPr>
                <a:xfrm>
                  <a:off x="694046" y="4034294"/>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36" name="Oval 35">
                  <a:extLst>
                    <a:ext uri="{FF2B5EF4-FFF2-40B4-BE49-F238E27FC236}">
                      <a16:creationId xmlns:a16="http://schemas.microsoft.com/office/drawing/2014/main" id="{93972355-873A-89FB-EB40-AD35A0252711}"/>
                    </a:ext>
                  </a:extLst>
                </p:cNvPr>
                <p:cNvSpPr>
                  <a:spLocks noRot="1" noChangeAspect="1" noMove="1" noResize="1" noEditPoints="1" noAdjustHandles="1" noChangeArrowheads="1" noChangeShapeType="1" noTextEdit="1"/>
                </p:cNvSpPr>
                <p:nvPr/>
              </p:nvSpPr>
              <p:spPr>
                <a:xfrm>
                  <a:off x="694046" y="4034294"/>
                  <a:ext cx="465931" cy="465931"/>
                </a:xfrm>
                <a:prstGeom prst="ellipse">
                  <a:avLst/>
                </a:prstGeom>
                <a:blipFill>
                  <a:blip r:embed="rId1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0EA6A8B2-7E00-4DFA-DEC0-A644FBE54CAB}"/>
                    </a:ext>
                  </a:extLst>
                </p:cNvPr>
                <p:cNvSpPr/>
                <p:nvPr/>
              </p:nvSpPr>
              <p:spPr>
                <a:xfrm>
                  <a:off x="2315109" y="403429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37" name="Oval 36">
                  <a:extLst>
                    <a:ext uri="{FF2B5EF4-FFF2-40B4-BE49-F238E27FC236}">
                      <a16:creationId xmlns:a16="http://schemas.microsoft.com/office/drawing/2014/main" id="{0EA6A8B2-7E00-4DFA-DEC0-A644FBE54CAB}"/>
                    </a:ext>
                  </a:extLst>
                </p:cNvPr>
                <p:cNvSpPr>
                  <a:spLocks noRot="1" noChangeAspect="1" noMove="1" noResize="1" noEditPoints="1" noAdjustHandles="1" noChangeArrowheads="1" noChangeShapeType="1" noTextEdit="1"/>
                </p:cNvSpPr>
                <p:nvPr/>
              </p:nvSpPr>
              <p:spPr>
                <a:xfrm>
                  <a:off x="2315109" y="4034293"/>
                  <a:ext cx="465931" cy="465931"/>
                </a:xfrm>
                <a:prstGeom prst="ellipse">
                  <a:avLst/>
                </a:prstGeom>
                <a:blipFill>
                  <a:blip r:embed="rId1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a:extLst>
                    <a:ext uri="{FF2B5EF4-FFF2-40B4-BE49-F238E27FC236}">
                      <a16:creationId xmlns:a16="http://schemas.microsoft.com/office/drawing/2014/main" id="{1C6A1A69-E45B-8209-04DC-BE2F726BB2D1}"/>
                    </a:ext>
                  </a:extLst>
                </p:cNvPr>
                <p:cNvSpPr/>
                <p:nvPr/>
              </p:nvSpPr>
              <p:spPr>
                <a:xfrm>
                  <a:off x="3335462" y="287554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38" name="Oval 37">
                  <a:extLst>
                    <a:ext uri="{FF2B5EF4-FFF2-40B4-BE49-F238E27FC236}">
                      <a16:creationId xmlns:a16="http://schemas.microsoft.com/office/drawing/2014/main" id="{1C6A1A69-E45B-8209-04DC-BE2F726BB2D1}"/>
                    </a:ext>
                  </a:extLst>
                </p:cNvPr>
                <p:cNvSpPr>
                  <a:spLocks noRot="1" noChangeAspect="1" noMove="1" noResize="1" noEditPoints="1" noAdjustHandles="1" noChangeArrowheads="1" noChangeShapeType="1" noTextEdit="1"/>
                </p:cNvSpPr>
                <p:nvPr/>
              </p:nvSpPr>
              <p:spPr>
                <a:xfrm>
                  <a:off x="3335462" y="2875543"/>
                  <a:ext cx="465931" cy="465931"/>
                </a:xfrm>
                <a:prstGeom prst="ellipse">
                  <a:avLst/>
                </a:prstGeom>
                <a:blipFill>
                  <a:blip r:embed="rId1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359F3023-F346-A753-83CB-0BFA202F3AA6}"/>
                    </a:ext>
                  </a:extLst>
                </p:cNvPr>
                <p:cNvSpPr/>
                <p:nvPr/>
              </p:nvSpPr>
              <p:spPr>
                <a:xfrm>
                  <a:off x="3893269" y="4023407"/>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39" name="Oval 38">
                  <a:extLst>
                    <a:ext uri="{FF2B5EF4-FFF2-40B4-BE49-F238E27FC236}">
                      <a16:creationId xmlns:a16="http://schemas.microsoft.com/office/drawing/2014/main" id="{359F3023-F346-A753-83CB-0BFA202F3AA6}"/>
                    </a:ext>
                  </a:extLst>
                </p:cNvPr>
                <p:cNvSpPr>
                  <a:spLocks noRot="1" noChangeAspect="1" noMove="1" noResize="1" noEditPoints="1" noAdjustHandles="1" noChangeArrowheads="1" noChangeShapeType="1" noTextEdit="1"/>
                </p:cNvSpPr>
                <p:nvPr/>
              </p:nvSpPr>
              <p:spPr>
                <a:xfrm>
                  <a:off x="3893269" y="4023407"/>
                  <a:ext cx="465931" cy="465931"/>
                </a:xfrm>
                <a:prstGeom prst="ellipse">
                  <a:avLst/>
                </a:prstGeom>
                <a:blipFill>
                  <a:blip r:embed="rId2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8BBBE503-8726-FB03-0775-6A141CDCDCCB}"/>
                    </a:ext>
                  </a:extLst>
                </p:cNvPr>
                <p:cNvSpPr/>
                <p:nvPr/>
              </p:nvSpPr>
              <p:spPr>
                <a:xfrm>
                  <a:off x="1739812" y="5378928"/>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40" name="Oval 39">
                  <a:extLst>
                    <a:ext uri="{FF2B5EF4-FFF2-40B4-BE49-F238E27FC236}">
                      <a16:creationId xmlns:a16="http://schemas.microsoft.com/office/drawing/2014/main" id="{8BBBE503-8726-FB03-0775-6A141CDCDCCB}"/>
                    </a:ext>
                  </a:extLst>
                </p:cNvPr>
                <p:cNvSpPr>
                  <a:spLocks noRot="1" noChangeAspect="1" noMove="1" noResize="1" noEditPoints="1" noAdjustHandles="1" noChangeArrowheads="1" noChangeShapeType="1" noTextEdit="1"/>
                </p:cNvSpPr>
                <p:nvPr/>
              </p:nvSpPr>
              <p:spPr>
                <a:xfrm>
                  <a:off x="1739812" y="5378928"/>
                  <a:ext cx="465931" cy="465931"/>
                </a:xfrm>
                <a:prstGeom prst="ellipse">
                  <a:avLst/>
                </a:prstGeom>
                <a:blipFill>
                  <a:blip r:embed="rId2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val 40">
                  <a:extLst>
                    <a:ext uri="{FF2B5EF4-FFF2-40B4-BE49-F238E27FC236}">
                      <a16:creationId xmlns:a16="http://schemas.microsoft.com/office/drawing/2014/main" id="{F8EA2353-20D9-ADAE-7588-BB7366C90250}"/>
                    </a:ext>
                  </a:extLst>
                </p:cNvPr>
                <p:cNvSpPr/>
                <p:nvPr/>
              </p:nvSpPr>
              <p:spPr>
                <a:xfrm>
                  <a:off x="3429719" y="540869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6</m:t>
                            </m:r>
                          </m:sub>
                        </m:sSub>
                      </m:oMath>
                    </m:oMathPara>
                  </a14:m>
                  <a:endParaRPr lang="en-US" dirty="0">
                    <a:solidFill>
                      <a:schemeClr val="bg1"/>
                    </a:solidFill>
                  </a:endParaRPr>
                </a:p>
              </p:txBody>
            </p:sp>
          </mc:Choice>
          <mc:Fallback xmlns="">
            <p:sp>
              <p:nvSpPr>
                <p:cNvPr id="41" name="Oval 40">
                  <a:extLst>
                    <a:ext uri="{FF2B5EF4-FFF2-40B4-BE49-F238E27FC236}">
                      <a16:creationId xmlns:a16="http://schemas.microsoft.com/office/drawing/2014/main" id="{F8EA2353-20D9-ADAE-7588-BB7366C90250}"/>
                    </a:ext>
                  </a:extLst>
                </p:cNvPr>
                <p:cNvSpPr>
                  <a:spLocks noRot="1" noChangeAspect="1" noMove="1" noResize="1" noEditPoints="1" noAdjustHandles="1" noChangeArrowheads="1" noChangeShapeType="1" noTextEdit="1"/>
                </p:cNvSpPr>
                <p:nvPr/>
              </p:nvSpPr>
              <p:spPr>
                <a:xfrm>
                  <a:off x="3429719" y="5408693"/>
                  <a:ext cx="465931" cy="465931"/>
                </a:xfrm>
                <a:prstGeom prst="ellipse">
                  <a:avLst/>
                </a:prstGeom>
                <a:blipFill>
                  <a:blip r:embed="rId22"/>
                  <a:stretch>
                    <a:fillRect/>
                  </a:stretch>
                </a:blipFill>
                <a:ln>
                  <a:solidFill>
                    <a:schemeClr val="bg1"/>
                  </a:solidFill>
                </a:ln>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FA390D2B-4110-A6F7-1448-28527997C7D9}"/>
                </a:ext>
              </a:extLst>
            </p:cNvPr>
            <p:cNvCxnSpPr>
              <a:stCxn id="35" idx="3"/>
              <a:endCxn id="36" idx="0"/>
            </p:cNvCxnSpPr>
            <p:nvPr/>
          </p:nvCxnSpPr>
          <p:spPr>
            <a:xfrm flipH="1">
              <a:off x="927012" y="3309252"/>
              <a:ext cx="415103" cy="725042"/>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1AD6860-760E-06AA-9157-9C5FDF456E00}"/>
                </a:ext>
              </a:extLst>
            </p:cNvPr>
            <p:cNvCxnSpPr>
              <a:cxnSpLocks/>
              <a:stCxn id="36" idx="6"/>
              <a:endCxn id="37" idx="2"/>
            </p:cNvCxnSpPr>
            <p:nvPr/>
          </p:nvCxnSpPr>
          <p:spPr>
            <a:xfrm flipV="1">
              <a:off x="1159977" y="4267259"/>
              <a:ext cx="1155132" cy="1"/>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A283135-5FD3-19E2-07A6-B0FAB7C3C27F}"/>
                </a:ext>
              </a:extLst>
            </p:cNvPr>
            <p:cNvCxnSpPr>
              <a:cxnSpLocks/>
              <a:stCxn id="35" idx="5"/>
              <a:endCxn id="37" idx="1"/>
            </p:cNvCxnSpPr>
            <p:nvPr/>
          </p:nvCxnSpPr>
          <p:spPr>
            <a:xfrm>
              <a:off x="1671578" y="3309252"/>
              <a:ext cx="711765" cy="793275"/>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C047CF0-E5E0-069D-30BA-D858B0B5DD45}"/>
                </a:ext>
              </a:extLst>
            </p:cNvPr>
            <p:cNvCxnSpPr>
              <a:cxnSpLocks/>
              <a:stCxn id="38" idx="2"/>
              <a:endCxn id="35" idx="6"/>
            </p:cNvCxnSpPr>
            <p:nvPr/>
          </p:nvCxnSpPr>
          <p:spPr>
            <a:xfrm flipH="1">
              <a:off x="1739812" y="3108509"/>
              <a:ext cx="1595650" cy="36012"/>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5DC540B-8B7F-85C9-1688-2E631FC61CE2}"/>
                </a:ext>
              </a:extLst>
            </p:cNvPr>
            <p:cNvCxnSpPr>
              <a:cxnSpLocks/>
              <a:stCxn id="37" idx="7"/>
              <a:endCxn id="38" idx="3"/>
            </p:cNvCxnSpPr>
            <p:nvPr/>
          </p:nvCxnSpPr>
          <p:spPr>
            <a:xfrm flipV="1">
              <a:off x="2712806" y="3273240"/>
              <a:ext cx="690890" cy="82928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8CF1CDA-6F78-62E9-91E9-2A2E36AD1645}"/>
                </a:ext>
              </a:extLst>
            </p:cNvPr>
            <p:cNvCxnSpPr>
              <a:cxnSpLocks/>
              <a:stCxn id="37" idx="6"/>
              <a:endCxn id="39" idx="2"/>
            </p:cNvCxnSpPr>
            <p:nvPr/>
          </p:nvCxnSpPr>
          <p:spPr>
            <a:xfrm flipV="1">
              <a:off x="2781040" y="4256373"/>
              <a:ext cx="1112229" cy="10886"/>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875DBB10-1AB8-F63E-EC15-2B2DD04CA4BD}"/>
                </a:ext>
              </a:extLst>
            </p:cNvPr>
            <p:cNvCxnSpPr>
              <a:cxnSpLocks/>
              <a:stCxn id="39" idx="0"/>
              <a:endCxn id="38" idx="5"/>
            </p:cNvCxnSpPr>
            <p:nvPr/>
          </p:nvCxnSpPr>
          <p:spPr>
            <a:xfrm flipH="1" flipV="1">
              <a:off x="3733159" y="3273240"/>
              <a:ext cx="393076" cy="75016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B5ABF42-CF99-2A67-A9FA-C82E19F28681}"/>
                </a:ext>
              </a:extLst>
            </p:cNvPr>
            <p:cNvCxnSpPr>
              <a:cxnSpLocks/>
              <a:stCxn id="41" idx="7"/>
              <a:endCxn id="39" idx="4"/>
            </p:cNvCxnSpPr>
            <p:nvPr/>
          </p:nvCxnSpPr>
          <p:spPr>
            <a:xfrm flipV="1">
              <a:off x="3827416" y="4489338"/>
              <a:ext cx="298819" cy="987589"/>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36" name="Straight Arrow Connector 34835">
              <a:extLst>
                <a:ext uri="{FF2B5EF4-FFF2-40B4-BE49-F238E27FC236}">
                  <a16:creationId xmlns:a16="http://schemas.microsoft.com/office/drawing/2014/main" id="{F3A472B0-91BB-716C-FB26-DA79054D8C07}"/>
                </a:ext>
              </a:extLst>
            </p:cNvPr>
            <p:cNvCxnSpPr>
              <a:cxnSpLocks/>
              <a:stCxn id="36" idx="5"/>
              <a:endCxn id="40" idx="1"/>
            </p:cNvCxnSpPr>
            <p:nvPr/>
          </p:nvCxnSpPr>
          <p:spPr>
            <a:xfrm>
              <a:off x="1091743" y="4431991"/>
              <a:ext cx="716303" cy="1015171"/>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39" name="Straight Arrow Connector 34838">
              <a:extLst>
                <a:ext uri="{FF2B5EF4-FFF2-40B4-BE49-F238E27FC236}">
                  <a16:creationId xmlns:a16="http://schemas.microsoft.com/office/drawing/2014/main" id="{BCEA4537-4F0B-55D2-223D-87A6D3BC1416}"/>
                </a:ext>
              </a:extLst>
            </p:cNvPr>
            <p:cNvCxnSpPr>
              <a:cxnSpLocks/>
              <a:stCxn id="37" idx="3"/>
              <a:endCxn id="40" idx="0"/>
            </p:cNvCxnSpPr>
            <p:nvPr/>
          </p:nvCxnSpPr>
          <p:spPr>
            <a:xfrm flipH="1">
              <a:off x="1972778" y="4431990"/>
              <a:ext cx="410565" cy="946938"/>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42" name="Straight Arrow Connector 34841">
              <a:extLst>
                <a:ext uri="{FF2B5EF4-FFF2-40B4-BE49-F238E27FC236}">
                  <a16:creationId xmlns:a16="http://schemas.microsoft.com/office/drawing/2014/main" id="{0711DD89-10E6-A022-A8CC-E36615A3E329}"/>
                </a:ext>
              </a:extLst>
            </p:cNvPr>
            <p:cNvCxnSpPr>
              <a:cxnSpLocks/>
              <a:stCxn id="37" idx="5"/>
              <a:endCxn id="41" idx="1"/>
            </p:cNvCxnSpPr>
            <p:nvPr/>
          </p:nvCxnSpPr>
          <p:spPr>
            <a:xfrm>
              <a:off x="2712806" y="4431990"/>
              <a:ext cx="785147" cy="104493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45" name="Straight Arrow Connector 34844">
              <a:extLst>
                <a:ext uri="{FF2B5EF4-FFF2-40B4-BE49-F238E27FC236}">
                  <a16:creationId xmlns:a16="http://schemas.microsoft.com/office/drawing/2014/main" id="{1A656D24-6667-E815-6C9E-735F630474A0}"/>
                </a:ext>
              </a:extLst>
            </p:cNvPr>
            <p:cNvCxnSpPr>
              <a:cxnSpLocks/>
              <a:stCxn id="40" idx="6"/>
              <a:endCxn id="41" idx="2"/>
            </p:cNvCxnSpPr>
            <p:nvPr/>
          </p:nvCxnSpPr>
          <p:spPr>
            <a:xfrm>
              <a:off x="2205743" y="5611894"/>
              <a:ext cx="1223976" cy="29765"/>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848" name="Text Box 27">
              <a:extLst>
                <a:ext uri="{FF2B5EF4-FFF2-40B4-BE49-F238E27FC236}">
                  <a16:creationId xmlns:a16="http://schemas.microsoft.com/office/drawing/2014/main" id="{F8FD2491-CF1F-3BD3-5AD0-E3751C17FFF6}"/>
                </a:ext>
              </a:extLst>
            </p:cNvPr>
            <p:cNvSpPr txBox="1">
              <a:spLocks noChangeArrowheads="1"/>
            </p:cNvSpPr>
            <p:nvPr>
              <p:custDataLst>
                <p:tags r:id="rId3"/>
              </p:custDataLst>
            </p:nvPr>
          </p:nvSpPr>
          <p:spPr bwMode="auto">
            <a:xfrm>
              <a:off x="805260" y="3358040"/>
              <a:ext cx="336550" cy="457200"/>
            </a:xfrm>
            <a:prstGeom prst="rect">
              <a:avLst/>
            </a:prstGeom>
            <a:noFill/>
            <a:ln w="9525">
              <a:noFill/>
              <a:miter lim="800000"/>
              <a:headEnd/>
              <a:tailEnd/>
            </a:ln>
          </p:spPr>
          <p:txBody>
            <a:bodyPr wrap="none">
              <a:spAutoFit/>
            </a:bodyPr>
            <a:lstStyle/>
            <a:p>
              <a:r>
                <a:rPr lang="en-US" b="1" dirty="0"/>
                <a:t>2</a:t>
              </a:r>
            </a:p>
          </p:txBody>
        </p:sp>
        <p:sp>
          <p:nvSpPr>
            <p:cNvPr id="34849" name="Text Box 27">
              <a:extLst>
                <a:ext uri="{FF2B5EF4-FFF2-40B4-BE49-F238E27FC236}">
                  <a16:creationId xmlns:a16="http://schemas.microsoft.com/office/drawing/2014/main" id="{91DE7477-7FF9-11A6-B571-1B043EFA3CC2}"/>
                </a:ext>
              </a:extLst>
            </p:cNvPr>
            <p:cNvSpPr txBox="1">
              <a:spLocks noChangeArrowheads="1"/>
            </p:cNvSpPr>
            <p:nvPr>
              <p:custDataLst>
                <p:tags r:id="rId4"/>
              </p:custDataLst>
            </p:nvPr>
          </p:nvSpPr>
          <p:spPr bwMode="auto">
            <a:xfrm>
              <a:off x="1995001" y="3407085"/>
              <a:ext cx="306494" cy="369332"/>
            </a:xfrm>
            <a:prstGeom prst="rect">
              <a:avLst/>
            </a:prstGeom>
            <a:noFill/>
            <a:ln w="9525">
              <a:noFill/>
              <a:miter lim="800000"/>
              <a:headEnd/>
              <a:tailEnd/>
            </a:ln>
          </p:spPr>
          <p:txBody>
            <a:bodyPr wrap="none">
              <a:spAutoFit/>
            </a:bodyPr>
            <a:lstStyle/>
            <a:p>
              <a:r>
                <a:rPr lang="en-US" b="1" dirty="0"/>
                <a:t>1</a:t>
              </a:r>
            </a:p>
          </p:txBody>
        </p:sp>
        <p:sp>
          <p:nvSpPr>
            <p:cNvPr id="34850" name="Text Box 27">
              <a:extLst>
                <a:ext uri="{FF2B5EF4-FFF2-40B4-BE49-F238E27FC236}">
                  <a16:creationId xmlns:a16="http://schemas.microsoft.com/office/drawing/2014/main" id="{555A2DCF-5762-7446-16E3-C0A8D949EBC9}"/>
                </a:ext>
              </a:extLst>
            </p:cNvPr>
            <p:cNvSpPr txBox="1">
              <a:spLocks noChangeArrowheads="1"/>
            </p:cNvSpPr>
            <p:nvPr>
              <p:custDataLst>
                <p:tags r:id="rId5"/>
              </p:custDataLst>
            </p:nvPr>
          </p:nvSpPr>
          <p:spPr bwMode="auto">
            <a:xfrm>
              <a:off x="2347480" y="2790509"/>
              <a:ext cx="336550" cy="457200"/>
            </a:xfrm>
            <a:prstGeom prst="rect">
              <a:avLst/>
            </a:prstGeom>
            <a:noFill/>
            <a:ln w="9525">
              <a:noFill/>
              <a:miter lim="800000"/>
              <a:headEnd/>
              <a:tailEnd/>
            </a:ln>
          </p:spPr>
          <p:txBody>
            <a:bodyPr wrap="none">
              <a:spAutoFit/>
            </a:bodyPr>
            <a:lstStyle/>
            <a:p>
              <a:r>
                <a:rPr lang="en-US" b="1" dirty="0"/>
                <a:t>2</a:t>
              </a:r>
            </a:p>
          </p:txBody>
        </p:sp>
        <p:sp>
          <p:nvSpPr>
            <p:cNvPr id="34851" name="Text Box 27">
              <a:extLst>
                <a:ext uri="{FF2B5EF4-FFF2-40B4-BE49-F238E27FC236}">
                  <a16:creationId xmlns:a16="http://schemas.microsoft.com/office/drawing/2014/main" id="{A64102C1-9617-49C1-E6C0-DB962C8FFDF1}"/>
                </a:ext>
              </a:extLst>
            </p:cNvPr>
            <p:cNvSpPr txBox="1">
              <a:spLocks noChangeArrowheads="1"/>
            </p:cNvSpPr>
            <p:nvPr>
              <p:custDataLst>
                <p:tags r:id="rId6"/>
              </p:custDataLst>
            </p:nvPr>
          </p:nvSpPr>
          <p:spPr bwMode="auto">
            <a:xfrm>
              <a:off x="1506846" y="3918859"/>
              <a:ext cx="306494" cy="369332"/>
            </a:xfrm>
            <a:prstGeom prst="rect">
              <a:avLst/>
            </a:prstGeom>
            <a:noFill/>
            <a:ln w="9525">
              <a:noFill/>
              <a:miter lim="800000"/>
              <a:headEnd/>
              <a:tailEnd/>
            </a:ln>
          </p:spPr>
          <p:txBody>
            <a:bodyPr wrap="none">
              <a:spAutoFit/>
            </a:bodyPr>
            <a:lstStyle/>
            <a:p>
              <a:r>
                <a:rPr lang="en-US" b="1" dirty="0"/>
                <a:t>1</a:t>
              </a:r>
            </a:p>
          </p:txBody>
        </p:sp>
        <p:sp>
          <p:nvSpPr>
            <p:cNvPr id="34852" name="Text Box 27">
              <a:extLst>
                <a:ext uri="{FF2B5EF4-FFF2-40B4-BE49-F238E27FC236}">
                  <a16:creationId xmlns:a16="http://schemas.microsoft.com/office/drawing/2014/main" id="{8606BD8A-0578-A48B-4D1A-5D452D370D6B}"/>
                </a:ext>
              </a:extLst>
            </p:cNvPr>
            <p:cNvSpPr txBox="1">
              <a:spLocks noChangeArrowheads="1"/>
            </p:cNvSpPr>
            <p:nvPr>
              <p:custDataLst>
                <p:tags r:id="rId7"/>
              </p:custDataLst>
            </p:nvPr>
          </p:nvSpPr>
          <p:spPr bwMode="auto">
            <a:xfrm>
              <a:off x="3965197" y="3390405"/>
              <a:ext cx="306494" cy="369332"/>
            </a:xfrm>
            <a:prstGeom prst="rect">
              <a:avLst/>
            </a:prstGeom>
            <a:noFill/>
            <a:ln w="9525">
              <a:noFill/>
              <a:miter lim="800000"/>
              <a:headEnd/>
              <a:tailEnd/>
            </a:ln>
          </p:spPr>
          <p:txBody>
            <a:bodyPr wrap="none">
              <a:spAutoFit/>
            </a:bodyPr>
            <a:lstStyle/>
            <a:p>
              <a:r>
                <a:rPr lang="en-US" b="1" dirty="0"/>
                <a:t>1</a:t>
              </a:r>
            </a:p>
          </p:txBody>
        </p:sp>
        <p:sp>
          <p:nvSpPr>
            <p:cNvPr id="34853" name="Text Box 27">
              <a:extLst>
                <a:ext uri="{FF2B5EF4-FFF2-40B4-BE49-F238E27FC236}">
                  <a16:creationId xmlns:a16="http://schemas.microsoft.com/office/drawing/2014/main" id="{649113F6-2FFD-64B0-8880-C1CBE4EDF3B7}"/>
                </a:ext>
              </a:extLst>
            </p:cNvPr>
            <p:cNvSpPr txBox="1">
              <a:spLocks noChangeArrowheads="1"/>
            </p:cNvSpPr>
            <p:nvPr>
              <p:custDataLst>
                <p:tags r:id="rId8"/>
              </p:custDataLst>
            </p:nvPr>
          </p:nvSpPr>
          <p:spPr bwMode="auto">
            <a:xfrm>
              <a:off x="3265700" y="3893270"/>
              <a:ext cx="306494" cy="369332"/>
            </a:xfrm>
            <a:prstGeom prst="rect">
              <a:avLst/>
            </a:prstGeom>
            <a:noFill/>
            <a:ln w="9525">
              <a:noFill/>
              <a:miter lim="800000"/>
              <a:headEnd/>
              <a:tailEnd/>
            </a:ln>
          </p:spPr>
          <p:txBody>
            <a:bodyPr wrap="none">
              <a:spAutoFit/>
            </a:bodyPr>
            <a:lstStyle/>
            <a:p>
              <a:r>
                <a:rPr lang="en-US" b="1" dirty="0"/>
                <a:t>1</a:t>
              </a:r>
            </a:p>
          </p:txBody>
        </p:sp>
        <p:sp>
          <p:nvSpPr>
            <p:cNvPr id="34854" name="Text Box 27">
              <a:extLst>
                <a:ext uri="{FF2B5EF4-FFF2-40B4-BE49-F238E27FC236}">
                  <a16:creationId xmlns:a16="http://schemas.microsoft.com/office/drawing/2014/main" id="{00D0EEEE-BE24-80D3-1985-2C9AB6C9E133}"/>
                </a:ext>
              </a:extLst>
            </p:cNvPr>
            <p:cNvSpPr txBox="1">
              <a:spLocks noChangeArrowheads="1"/>
            </p:cNvSpPr>
            <p:nvPr>
              <p:custDataLst>
                <p:tags r:id="rId9"/>
              </p:custDataLst>
            </p:nvPr>
          </p:nvSpPr>
          <p:spPr bwMode="auto">
            <a:xfrm>
              <a:off x="1061553" y="4762184"/>
              <a:ext cx="336550" cy="457200"/>
            </a:xfrm>
            <a:prstGeom prst="rect">
              <a:avLst/>
            </a:prstGeom>
            <a:noFill/>
            <a:ln w="9525">
              <a:noFill/>
              <a:miter lim="800000"/>
              <a:headEnd/>
              <a:tailEnd/>
            </a:ln>
          </p:spPr>
          <p:txBody>
            <a:bodyPr wrap="none">
              <a:spAutoFit/>
            </a:bodyPr>
            <a:lstStyle/>
            <a:p>
              <a:r>
                <a:rPr lang="en-US" b="1" dirty="0"/>
                <a:t>2</a:t>
              </a:r>
            </a:p>
          </p:txBody>
        </p:sp>
        <p:sp>
          <p:nvSpPr>
            <p:cNvPr id="34855" name="Text Box 27">
              <a:extLst>
                <a:ext uri="{FF2B5EF4-FFF2-40B4-BE49-F238E27FC236}">
                  <a16:creationId xmlns:a16="http://schemas.microsoft.com/office/drawing/2014/main" id="{769E1536-A596-0487-86B5-BE074566BAB4}"/>
                </a:ext>
              </a:extLst>
            </p:cNvPr>
            <p:cNvSpPr txBox="1">
              <a:spLocks noChangeArrowheads="1"/>
            </p:cNvSpPr>
            <p:nvPr>
              <p:custDataLst>
                <p:tags r:id="rId10"/>
              </p:custDataLst>
            </p:nvPr>
          </p:nvSpPr>
          <p:spPr bwMode="auto">
            <a:xfrm>
              <a:off x="1862021" y="4552634"/>
              <a:ext cx="306494" cy="369332"/>
            </a:xfrm>
            <a:prstGeom prst="rect">
              <a:avLst/>
            </a:prstGeom>
            <a:noFill/>
            <a:ln w="9525">
              <a:noFill/>
              <a:miter lim="800000"/>
              <a:headEnd/>
              <a:tailEnd/>
            </a:ln>
          </p:spPr>
          <p:txBody>
            <a:bodyPr wrap="none">
              <a:spAutoFit/>
            </a:bodyPr>
            <a:lstStyle/>
            <a:p>
              <a:r>
                <a:rPr lang="en-US" b="1" dirty="0"/>
                <a:t>6</a:t>
              </a:r>
            </a:p>
          </p:txBody>
        </p:sp>
        <p:sp>
          <p:nvSpPr>
            <p:cNvPr id="34856" name="Text Box 27">
              <a:extLst>
                <a:ext uri="{FF2B5EF4-FFF2-40B4-BE49-F238E27FC236}">
                  <a16:creationId xmlns:a16="http://schemas.microsoft.com/office/drawing/2014/main" id="{D54F3050-60AD-CCEE-8112-9F6C1E5D25CB}"/>
                </a:ext>
              </a:extLst>
            </p:cNvPr>
            <p:cNvSpPr txBox="1">
              <a:spLocks noChangeArrowheads="1"/>
            </p:cNvSpPr>
            <p:nvPr>
              <p:custDataLst>
                <p:tags r:id="rId11"/>
              </p:custDataLst>
            </p:nvPr>
          </p:nvSpPr>
          <p:spPr bwMode="auto">
            <a:xfrm>
              <a:off x="3040016" y="4565174"/>
              <a:ext cx="306494" cy="369332"/>
            </a:xfrm>
            <a:prstGeom prst="rect">
              <a:avLst/>
            </a:prstGeom>
            <a:noFill/>
            <a:ln w="9525">
              <a:noFill/>
              <a:miter lim="800000"/>
              <a:headEnd/>
              <a:tailEnd/>
            </a:ln>
          </p:spPr>
          <p:txBody>
            <a:bodyPr wrap="none">
              <a:spAutoFit/>
            </a:bodyPr>
            <a:lstStyle/>
            <a:p>
              <a:r>
                <a:rPr lang="en-US" b="1" dirty="0"/>
                <a:t>5</a:t>
              </a:r>
            </a:p>
          </p:txBody>
        </p:sp>
        <p:sp>
          <p:nvSpPr>
            <p:cNvPr id="34857" name="Text Box 27">
              <a:extLst>
                <a:ext uri="{FF2B5EF4-FFF2-40B4-BE49-F238E27FC236}">
                  <a16:creationId xmlns:a16="http://schemas.microsoft.com/office/drawing/2014/main" id="{7A50F844-A6D7-D5AD-0FCD-EA870418658F}"/>
                </a:ext>
              </a:extLst>
            </p:cNvPr>
            <p:cNvSpPr txBox="1">
              <a:spLocks noChangeArrowheads="1"/>
            </p:cNvSpPr>
            <p:nvPr>
              <p:custDataLst>
                <p:tags r:id="rId12"/>
              </p:custDataLst>
            </p:nvPr>
          </p:nvSpPr>
          <p:spPr bwMode="auto">
            <a:xfrm>
              <a:off x="4015110" y="4879659"/>
              <a:ext cx="306494" cy="369332"/>
            </a:xfrm>
            <a:prstGeom prst="rect">
              <a:avLst/>
            </a:prstGeom>
            <a:noFill/>
            <a:ln w="9525">
              <a:noFill/>
              <a:miter lim="800000"/>
              <a:headEnd/>
              <a:tailEnd/>
            </a:ln>
          </p:spPr>
          <p:txBody>
            <a:bodyPr wrap="none">
              <a:spAutoFit/>
            </a:bodyPr>
            <a:lstStyle/>
            <a:p>
              <a:r>
                <a:rPr lang="en-US" b="1" dirty="0"/>
                <a:t>3</a:t>
              </a:r>
            </a:p>
          </p:txBody>
        </p:sp>
        <p:sp>
          <p:nvSpPr>
            <p:cNvPr id="34858" name="Text Box 27">
              <a:extLst>
                <a:ext uri="{FF2B5EF4-FFF2-40B4-BE49-F238E27FC236}">
                  <a16:creationId xmlns:a16="http://schemas.microsoft.com/office/drawing/2014/main" id="{3B7D973A-6F6B-6C1F-5CAF-1DFB9C63630C}"/>
                </a:ext>
              </a:extLst>
            </p:cNvPr>
            <p:cNvSpPr txBox="1">
              <a:spLocks noChangeArrowheads="1"/>
            </p:cNvSpPr>
            <p:nvPr>
              <p:custDataLst>
                <p:tags r:id="rId13"/>
              </p:custDataLst>
            </p:nvPr>
          </p:nvSpPr>
          <p:spPr bwMode="auto">
            <a:xfrm>
              <a:off x="2567493" y="5248327"/>
              <a:ext cx="428322" cy="369332"/>
            </a:xfrm>
            <a:prstGeom prst="rect">
              <a:avLst/>
            </a:prstGeom>
            <a:noFill/>
            <a:ln w="9525">
              <a:noFill/>
              <a:miter lim="800000"/>
              <a:headEnd/>
              <a:tailEnd/>
            </a:ln>
          </p:spPr>
          <p:txBody>
            <a:bodyPr wrap="none">
              <a:spAutoFit/>
            </a:bodyPr>
            <a:lstStyle/>
            <a:p>
              <a:r>
                <a:rPr lang="en-US" b="1" dirty="0"/>
                <a:t>10</a:t>
              </a:r>
            </a:p>
          </p:txBody>
        </p:sp>
        <p:sp>
          <p:nvSpPr>
            <p:cNvPr id="34859" name="Text Box 27">
              <a:extLst>
                <a:ext uri="{FF2B5EF4-FFF2-40B4-BE49-F238E27FC236}">
                  <a16:creationId xmlns:a16="http://schemas.microsoft.com/office/drawing/2014/main" id="{CA529678-4BEC-AB64-337F-659625479C0E}"/>
                </a:ext>
              </a:extLst>
            </p:cNvPr>
            <p:cNvSpPr txBox="1">
              <a:spLocks noChangeArrowheads="1"/>
            </p:cNvSpPr>
            <p:nvPr>
              <p:custDataLst>
                <p:tags r:id="rId14"/>
              </p:custDataLst>
            </p:nvPr>
          </p:nvSpPr>
          <p:spPr bwMode="auto">
            <a:xfrm>
              <a:off x="2731071" y="3390405"/>
              <a:ext cx="306494" cy="369332"/>
            </a:xfrm>
            <a:prstGeom prst="rect">
              <a:avLst/>
            </a:prstGeom>
            <a:noFill/>
            <a:ln w="9525">
              <a:noFill/>
              <a:miter lim="800000"/>
              <a:headEnd/>
              <a:tailEnd/>
            </a:ln>
          </p:spPr>
          <p:txBody>
            <a:bodyPr wrap="square">
              <a:spAutoFit/>
            </a:bodyPr>
            <a:lstStyle/>
            <a:p>
              <a:r>
                <a:rPr lang="en-US" b="1" dirty="0"/>
                <a:t>5</a:t>
              </a:r>
            </a:p>
          </p:txBody>
        </p:sp>
      </p:grpSp>
      <p:cxnSp>
        <p:nvCxnSpPr>
          <p:cNvPr id="34863" name="Straight Connector 34862">
            <a:extLst>
              <a:ext uri="{FF2B5EF4-FFF2-40B4-BE49-F238E27FC236}">
                <a16:creationId xmlns:a16="http://schemas.microsoft.com/office/drawing/2014/main" id="{9B321360-852A-67A2-A66A-1902A1A6C76E}"/>
              </a:ext>
            </a:extLst>
          </p:cNvPr>
          <p:cNvCxnSpPr/>
          <p:nvPr/>
        </p:nvCxnSpPr>
        <p:spPr>
          <a:xfrm>
            <a:off x="7351743" y="4361768"/>
            <a:ext cx="1384663" cy="62701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34864" name="TextBox 34863">
            <a:extLst>
              <a:ext uri="{FF2B5EF4-FFF2-40B4-BE49-F238E27FC236}">
                <a16:creationId xmlns:a16="http://schemas.microsoft.com/office/drawing/2014/main" id="{67BC3BEA-401A-5CBE-6B5A-7BD7380974F8}"/>
              </a:ext>
            </a:extLst>
          </p:cNvPr>
          <p:cNvSpPr txBox="1"/>
          <p:nvPr/>
        </p:nvSpPr>
        <p:spPr>
          <a:xfrm>
            <a:off x="8813075" y="4807615"/>
            <a:ext cx="2534194" cy="923330"/>
          </a:xfrm>
          <a:prstGeom prst="rect">
            <a:avLst/>
          </a:prstGeom>
          <a:noFill/>
        </p:spPr>
        <p:txBody>
          <a:bodyPr wrap="square" rtlCol="0">
            <a:spAutoFit/>
          </a:bodyPr>
          <a:lstStyle/>
          <a:p>
            <a:r>
              <a:rPr lang="en-US" dirty="0"/>
              <a:t>What is the shortest path from node 0 to node 6 in this graph?</a:t>
            </a:r>
          </a:p>
        </p:txBody>
      </p:sp>
    </p:spTree>
    <p:extLst>
      <p:ext uri="{BB962C8B-B14F-4D97-AF65-F5344CB8AC3E}">
        <p14:creationId xmlns:p14="http://schemas.microsoft.com/office/powerpoint/2010/main" val="1366866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AC5D4-0C9F-A6AD-BF5A-9EBEDC5B985E}"/>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092F29E0-DD0F-9D7F-9016-A526405D3CE9}"/>
              </a:ext>
            </a:extLst>
          </p:cNvPr>
          <p:cNvSpPr>
            <a:spLocks noGrp="1" noChangeArrowheads="1"/>
          </p:cNvSpPr>
          <p:nvPr>
            <p:ph type="title"/>
            <p:custDataLst>
              <p:tags r:id="rId1"/>
            </p:custDataLst>
          </p:nvPr>
        </p:nvSpPr>
        <p:spPr>
          <a:xfrm>
            <a:off x="1141413" y="238124"/>
            <a:ext cx="9905998" cy="713893"/>
          </a:xfrm>
        </p:spPr>
        <p:txBody>
          <a:bodyPr/>
          <a:lstStyle/>
          <a:p>
            <a:pPr algn="ctr" eaLnBrk="1" hangingPunct="1"/>
            <a:r>
              <a:rPr lang="en-US" dirty="0"/>
              <a:t>Optimal Substructure</a:t>
            </a:r>
          </a:p>
        </p:txBody>
      </p:sp>
      <mc:AlternateContent xmlns:mc="http://schemas.openxmlformats.org/markup-compatibility/2006" xmlns:a14="http://schemas.microsoft.com/office/drawing/2010/main">
        <mc:Choice Requires="a14">
          <p:sp>
            <p:nvSpPr>
              <p:cNvPr id="34819" name="Rectangle 3">
                <a:extLst>
                  <a:ext uri="{FF2B5EF4-FFF2-40B4-BE49-F238E27FC236}">
                    <a16:creationId xmlns:a16="http://schemas.microsoft.com/office/drawing/2014/main" id="{C3600174-3649-1FB9-7E39-4B64614A0221}"/>
                  </a:ext>
                </a:extLst>
              </p:cNvPr>
              <p:cNvSpPr>
                <a:spLocks noGrp="1" noChangeArrowheads="1"/>
              </p:cNvSpPr>
              <p:nvPr>
                <p:ph sz="quarter" idx="1"/>
                <p:custDataLst>
                  <p:tags r:id="rId2"/>
                </p:custDataLst>
              </p:nvPr>
            </p:nvSpPr>
            <p:spPr>
              <a:xfrm>
                <a:off x="1082673" y="1141323"/>
                <a:ext cx="9905999" cy="1041401"/>
              </a:xfrm>
              <a:solidFill>
                <a:schemeClr val="tx1">
                  <a:lumMod val="95000"/>
                </a:schemeClr>
              </a:solidFill>
              <a:ln>
                <a:solidFill>
                  <a:schemeClr val="bg1"/>
                </a:solidFill>
              </a:ln>
            </p:spPr>
            <p:txBody>
              <a:bodyPr anchor="ctr">
                <a:normAutofit fontScale="85000" lnSpcReduction="20000"/>
              </a:bodyPr>
              <a:lstStyle/>
              <a:p>
                <a:pPr marL="0" indent="0" algn="ctr" eaLnBrk="1" hangingPunct="1">
                  <a:buNone/>
                </a:pPr>
                <a:r>
                  <a:rPr lang="en-US" b="1" i="1" u="sng" dirty="0">
                    <a:solidFill>
                      <a:schemeClr val="bg1"/>
                    </a:solidFill>
                  </a:rPr>
                  <a:t>Optimal Substructure for Shortest Paths</a:t>
                </a:r>
                <a:r>
                  <a:rPr lang="en-US" b="1" dirty="0">
                    <a:solidFill>
                      <a:schemeClr val="bg1"/>
                    </a:solidFill>
                  </a:rPr>
                  <a:t>: </a:t>
                </a:r>
                <a:r>
                  <a:rPr lang="en-US" dirty="0">
                    <a:solidFill>
                      <a:schemeClr val="bg1"/>
                    </a:solidFill>
                  </a:rPr>
                  <a:t>Suppose path </a:t>
                </a:r>
                <a14:m>
                  <m:oMath xmlns:m="http://schemas.openxmlformats.org/officeDocument/2006/math">
                    <m:r>
                      <a:rPr lang="en-US" b="0" i="1" smtClean="0">
                        <a:solidFill>
                          <a:schemeClr val="bg1"/>
                        </a:solidFill>
                        <a:latin typeface="Cambria Math" panose="02040503050406030204" pitchFamily="18" charset="0"/>
                      </a:rPr>
                      <m:t>𝑃</m:t>
                    </m:r>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r>
                      <a:rPr lang="en-US" b="0" i="1" smtClean="0">
                        <a:solidFill>
                          <a:schemeClr val="bg1"/>
                        </a:solidFill>
                        <a:latin typeface="Cambria Math" panose="02040503050406030204" pitchFamily="18" charset="0"/>
                      </a:rPr>
                      <m:t>}</m:t>
                    </m:r>
                  </m:oMath>
                </a14:m>
                <a:r>
                  <a:rPr lang="en-US" dirty="0">
                    <a:solidFill>
                      <a:schemeClr val="bg1"/>
                    </a:solidFill>
                  </a:rPr>
                  <a:t> is the least cost weighted path from </a:t>
                </a:r>
                <a14:m>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a14:m>
                <a:r>
                  <a:rPr lang="en-US" dirty="0">
                    <a:solidFill>
                      <a:schemeClr val="bg1"/>
                    </a:solidFill>
                  </a:rPr>
                  <a:t> to </a:t>
                </a:r>
                <a14:m>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a14:m>
                <a:r>
                  <a:rPr lang="en-US" dirty="0">
                    <a:solidFill>
                      <a:schemeClr val="bg1"/>
                    </a:solidFill>
                  </a:rPr>
                  <a:t>, then it must be the case that </a:t>
                </a:r>
                <a14:m>
                  <m:oMath xmlns:m="http://schemas.openxmlformats.org/officeDocument/2006/math">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𝑃</m:t>
                        </m:r>
                      </m:e>
                      <m:sup>
                        <m:r>
                          <a:rPr lang="en-US" b="0" i="1" smtClean="0">
                            <a:solidFill>
                              <a:schemeClr val="bg1"/>
                            </a:solidFill>
                            <a:latin typeface="Cambria Math" panose="02040503050406030204" pitchFamily="18" charset="0"/>
                          </a:rPr>
                          <m:t>′</m:t>
                        </m:r>
                      </m:sup>
                    </m:sSup>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r>
                      <a:rPr lang="en-US" b="0" i="1" smtClean="0">
                        <a:solidFill>
                          <a:schemeClr val="bg1"/>
                        </a:solidFill>
                        <a:latin typeface="Cambria Math" panose="02040503050406030204" pitchFamily="18" charset="0"/>
                      </a:rPr>
                      <m:t>}</m:t>
                    </m:r>
                  </m:oMath>
                </a14:m>
                <a:r>
                  <a:rPr lang="en-US" dirty="0">
                    <a:solidFill>
                      <a:schemeClr val="bg1"/>
                    </a:solidFill>
                  </a:rPr>
                  <a:t> is the least cost path to node </a:t>
                </a:r>
                <a14:m>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oMath>
                </a14:m>
                <a:r>
                  <a:rPr lang="en-US" dirty="0">
                    <a:solidFill>
                      <a:schemeClr val="bg1"/>
                    </a:solidFill>
                  </a:rPr>
                  <a:t>.</a:t>
                </a:r>
              </a:p>
            </p:txBody>
          </p:sp>
        </mc:Choice>
        <mc:Fallback xmlns="">
          <p:sp>
            <p:nvSpPr>
              <p:cNvPr id="34819" name="Rectangle 3">
                <a:extLst>
                  <a:ext uri="{FF2B5EF4-FFF2-40B4-BE49-F238E27FC236}">
                    <a16:creationId xmlns:a16="http://schemas.microsoft.com/office/drawing/2014/main" id="{C3600174-3649-1FB9-7E39-4B64614A0221}"/>
                  </a:ext>
                </a:extLst>
              </p:cNvPr>
              <p:cNvSpPr>
                <a:spLocks noGrp="1" noRot="1" noChangeAspect="1" noMove="1" noResize="1" noEditPoints="1" noAdjustHandles="1" noChangeArrowheads="1" noChangeShapeType="1" noTextEdit="1"/>
              </p:cNvSpPr>
              <p:nvPr>
                <p:ph sz="quarter" idx="1"/>
                <p:custDataLst>
                  <p:tags r:id="rId16"/>
                </p:custDataLst>
              </p:nvPr>
            </p:nvSpPr>
            <p:spPr>
              <a:xfrm>
                <a:off x="1082673" y="1141323"/>
                <a:ext cx="9905999" cy="1041401"/>
              </a:xfrm>
              <a:blipFill>
                <a:blip r:embed="rId17"/>
                <a:stretch>
                  <a:fillRect l="-384" t="-1190" r="-1151" b="-833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64" name="TextBox 34863">
                <a:extLst>
                  <a:ext uri="{FF2B5EF4-FFF2-40B4-BE49-F238E27FC236}">
                    <a16:creationId xmlns:a16="http://schemas.microsoft.com/office/drawing/2014/main" id="{E1E8BA7B-CD44-717A-6D59-330146F21117}"/>
                  </a:ext>
                </a:extLst>
              </p:cNvPr>
              <p:cNvSpPr txBox="1"/>
              <p:nvPr/>
            </p:nvSpPr>
            <p:spPr>
              <a:xfrm>
                <a:off x="2320604" y="2572437"/>
                <a:ext cx="7547615" cy="369332"/>
              </a:xfrm>
              <a:prstGeom prst="rect">
                <a:avLst/>
              </a:prstGeom>
              <a:noFill/>
              <a:ln>
                <a:solidFill>
                  <a:schemeClr val="tx1">
                    <a:lumMod val="95000"/>
                  </a:schemeClr>
                </a:solidFill>
              </a:ln>
            </p:spPr>
            <p:txBody>
              <a:bodyPr wrap="square" rtlCol="0">
                <a:spAutoFit/>
              </a:bodyPr>
              <a:lstStyle/>
              <a:p>
                <a:r>
                  <a:rPr lang="en-US" dirty="0"/>
                  <a:t>IF this is </a:t>
                </a:r>
                <a:r>
                  <a:rPr lang="en-US" dirty="0">
                    <a:solidFill>
                      <a:schemeClr val="accent1">
                        <a:lumMod val="60000"/>
                        <a:lumOff val="40000"/>
                      </a:schemeClr>
                    </a:solidFill>
                  </a:rPr>
                  <a:t>optimal path </a:t>
                </a:r>
                <a:r>
                  <a:rPr lang="en-US" dirty="0"/>
                  <a:t>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𝑛</m:t>
                        </m:r>
                      </m:sub>
                    </m:sSub>
                  </m:oMath>
                </a14:m>
                <a:r>
                  <a:rPr lang="en-US" dirty="0"/>
                  <a:t>. Cost is </a:t>
                </a:r>
                <a14:m>
                  <m:oMath xmlns:m="http://schemas.openxmlformats.org/officeDocument/2006/math">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1</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2</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3</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4</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𝑛</m:t>
                        </m:r>
                        <m:r>
                          <a:rPr lang="en-US" b="0" i="1" smtClean="0">
                            <a:solidFill>
                              <a:schemeClr val="accent1">
                                <a:lumMod val="60000"/>
                                <a:lumOff val="40000"/>
                              </a:schemeClr>
                            </a:solidFill>
                            <a:latin typeface="Cambria Math" panose="02040503050406030204" pitchFamily="18" charset="0"/>
                          </a:rPr>
                          <m:t>−1</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𝑛</m:t>
                        </m:r>
                      </m:sub>
                    </m:sSub>
                  </m:oMath>
                </a14:m>
                <a:endParaRPr lang="en-US" dirty="0"/>
              </a:p>
            </p:txBody>
          </p:sp>
        </mc:Choice>
        <mc:Fallback xmlns="">
          <p:sp>
            <p:nvSpPr>
              <p:cNvPr id="34864" name="TextBox 34863">
                <a:extLst>
                  <a:ext uri="{FF2B5EF4-FFF2-40B4-BE49-F238E27FC236}">
                    <a16:creationId xmlns:a16="http://schemas.microsoft.com/office/drawing/2014/main" id="{E1E8BA7B-CD44-717A-6D59-330146F21117}"/>
                  </a:ext>
                </a:extLst>
              </p:cNvPr>
              <p:cNvSpPr txBox="1">
                <a:spLocks noRot="1" noChangeAspect="1" noMove="1" noResize="1" noEditPoints="1" noAdjustHandles="1" noChangeArrowheads="1" noChangeShapeType="1" noTextEdit="1"/>
              </p:cNvSpPr>
              <p:nvPr/>
            </p:nvSpPr>
            <p:spPr>
              <a:xfrm>
                <a:off x="2320604" y="2572437"/>
                <a:ext cx="7547615" cy="369332"/>
              </a:xfrm>
              <a:prstGeom prst="rect">
                <a:avLst/>
              </a:prstGeom>
              <a:blipFill>
                <a:blip r:embed="rId18"/>
                <a:stretch>
                  <a:fillRect l="-671" t="-6452" b="-22581"/>
                </a:stretch>
              </a:blipFill>
              <a:ln>
                <a:solidFill>
                  <a:schemeClr val="tx1">
                    <a:lumMod val="95000"/>
                  </a:schemeClr>
                </a:solidFill>
              </a:ln>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C86AF695-2795-DE69-48BB-4C655E6D227A}"/>
              </a:ext>
            </a:extLst>
          </p:cNvPr>
          <p:cNvGrpSpPr/>
          <p:nvPr/>
        </p:nvGrpSpPr>
        <p:grpSpPr>
          <a:xfrm>
            <a:off x="1562722" y="3144647"/>
            <a:ext cx="8945899" cy="682358"/>
            <a:chOff x="1508502" y="2746642"/>
            <a:chExt cx="8945899" cy="682358"/>
          </a:xfrm>
        </p:grpSpPr>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185E65E9-B2F5-CC29-50EC-598ECCBAA064}"/>
                    </a:ext>
                  </a:extLst>
                </p:cNvPr>
                <p:cNvSpPr/>
                <p:nvPr/>
              </p:nvSpPr>
              <p:spPr>
                <a:xfrm>
                  <a:off x="1508502" y="296306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35" name="Oval 34">
                  <a:extLst>
                    <a:ext uri="{FF2B5EF4-FFF2-40B4-BE49-F238E27FC236}">
                      <a16:creationId xmlns:a16="http://schemas.microsoft.com/office/drawing/2014/main" id="{185E65E9-B2F5-CC29-50EC-598ECCBAA064}"/>
                    </a:ext>
                  </a:extLst>
                </p:cNvPr>
                <p:cNvSpPr>
                  <a:spLocks noRot="1" noChangeAspect="1" noMove="1" noResize="1" noEditPoints="1" noAdjustHandles="1" noChangeArrowheads="1" noChangeShapeType="1" noTextEdit="1"/>
                </p:cNvSpPr>
                <p:nvPr/>
              </p:nvSpPr>
              <p:spPr>
                <a:xfrm>
                  <a:off x="1508502" y="2963069"/>
                  <a:ext cx="465931" cy="465931"/>
                </a:xfrm>
                <a:prstGeom prst="ellipse">
                  <a:avLst/>
                </a:prstGeom>
                <a:blipFill>
                  <a:blip r:embed="rId19"/>
                  <a:stretch>
                    <a:fillRect/>
                  </a:stretch>
                </a:blipFill>
                <a:ln>
                  <a:solidFill>
                    <a:schemeClr val="bg1"/>
                  </a:solidFill>
                </a:ln>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E822D2E1-5300-609F-2C05-F5A9386C9438}"/>
                </a:ext>
              </a:extLst>
            </p:cNvPr>
            <p:cNvCxnSpPr>
              <a:cxnSpLocks/>
              <a:stCxn id="35" idx="6"/>
              <a:endCxn id="7" idx="2"/>
            </p:cNvCxnSpPr>
            <p:nvPr/>
          </p:nvCxnSpPr>
          <p:spPr>
            <a:xfrm flipV="1">
              <a:off x="1974433" y="3184159"/>
              <a:ext cx="950135" cy="11876"/>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849" name="Text Box 27">
                  <a:extLst>
                    <a:ext uri="{FF2B5EF4-FFF2-40B4-BE49-F238E27FC236}">
                      <a16:creationId xmlns:a16="http://schemas.microsoft.com/office/drawing/2014/main" id="{73AF81C5-A17C-F575-2C1C-FF8B79FA55F9}"/>
                    </a:ext>
                  </a:extLst>
                </p:cNvPr>
                <p:cNvSpPr txBox="1">
                  <a:spLocks noChangeArrowheads="1"/>
                </p:cNvSpPr>
                <p:nvPr>
                  <p:custDataLst>
                    <p:tags r:id="rId9"/>
                  </p:custDataLst>
                </p:nvPr>
              </p:nvSpPr>
              <p:spPr bwMode="auto">
                <a:xfrm>
                  <a:off x="2203530" y="2778403"/>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𝟏</m:t>
                            </m:r>
                          </m:sub>
                        </m:sSub>
                      </m:oMath>
                    </m:oMathPara>
                  </a14:m>
                  <a:endParaRPr lang="en-US" b="1" dirty="0">
                    <a:solidFill>
                      <a:schemeClr val="accent1">
                        <a:lumMod val="60000"/>
                        <a:lumOff val="40000"/>
                      </a:schemeClr>
                    </a:solidFill>
                  </a:endParaRPr>
                </a:p>
              </p:txBody>
            </p:sp>
          </mc:Choice>
          <mc:Fallback xmlns="">
            <p:sp>
              <p:nvSpPr>
                <p:cNvPr id="34849" name="Text Box 27">
                  <a:extLst>
                    <a:ext uri="{FF2B5EF4-FFF2-40B4-BE49-F238E27FC236}">
                      <a16:creationId xmlns:a16="http://schemas.microsoft.com/office/drawing/2014/main" id="{73AF81C5-A17C-F575-2C1C-FF8B79FA55F9}"/>
                    </a:ext>
                  </a:extLst>
                </p:cNvPr>
                <p:cNvSpPr txBox="1">
                  <a:spLocks noRot="1" noChangeAspect="1" noMove="1" noResize="1" noEditPoints="1" noAdjustHandles="1" noChangeArrowheads="1" noChangeShapeType="1" noTextEdit="1"/>
                </p:cNvSpPr>
                <p:nvPr>
                  <p:custDataLst>
                    <p:tags r:id="rId20"/>
                  </p:custDataLst>
                </p:nvPr>
              </p:nvSpPr>
              <p:spPr bwMode="auto">
                <a:xfrm>
                  <a:off x="2203530" y="2778403"/>
                  <a:ext cx="473143" cy="369332"/>
                </a:xfrm>
                <a:prstGeom prst="rect">
                  <a:avLst/>
                </a:prstGeom>
                <a:blipFill>
                  <a:blip r:embed="rId2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818A366E-64E9-DA77-ABEF-6E53A5FE472A}"/>
                    </a:ext>
                  </a:extLst>
                </p:cNvPr>
                <p:cNvSpPr/>
                <p:nvPr/>
              </p:nvSpPr>
              <p:spPr>
                <a:xfrm>
                  <a:off x="2924568" y="295119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7" name="Oval 6">
                  <a:extLst>
                    <a:ext uri="{FF2B5EF4-FFF2-40B4-BE49-F238E27FC236}">
                      <a16:creationId xmlns:a16="http://schemas.microsoft.com/office/drawing/2014/main" id="{818A366E-64E9-DA77-ABEF-6E53A5FE472A}"/>
                    </a:ext>
                  </a:extLst>
                </p:cNvPr>
                <p:cNvSpPr>
                  <a:spLocks noRot="1" noChangeAspect="1" noMove="1" noResize="1" noEditPoints="1" noAdjustHandles="1" noChangeArrowheads="1" noChangeShapeType="1" noTextEdit="1"/>
                </p:cNvSpPr>
                <p:nvPr/>
              </p:nvSpPr>
              <p:spPr>
                <a:xfrm>
                  <a:off x="2924568" y="2951193"/>
                  <a:ext cx="465931" cy="465931"/>
                </a:xfrm>
                <a:prstGeom prst="ellipse">
                  <a:avLst/>
                </a:prstGeom>
                <a:blipFill>
                  <a:blip r:embed="rId2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35ED4283-B89B-AABA-7FB9-B627E67308F2}"/>
                    </a:ext>
                  </a:extLst>
                </p:cNvPr>
                <p:cNvSpPr/>
                <p:nvPr/>
              </p:nvSpPr>
              <p:spPr>
                <a:xfrm>
                  <a:off x="4340634" y="296306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0" name="Oval 9">
                  <a:extLst>
                    <a:ext uri="{FF2B5EF4-FFF2-40B4-BE49-F238E27FC236}">
                      <a16:creationId xmlns:a16="http://schemas.microsoft.com/office/drawing/2014/main" id="{35ED4283-B89B-AABA-7FB9-B627E67308F2}"/>
                    </a:ext>
                  </a:extLst>
                </p:cNvPr>
                <p:cNvSpPr>
                  <a:spLocks noRot="1" noChangeAspect="1" noMove="1" noResize="1" noEditPoints="1" noAdjustHandles="1" noChangeArrowheads="1" noChangeShapeType="1" noTextEdit="1"/>
                </p:cNvSpPr>
                <p:nvPr/>
              </p:nvSpPr>
              <p:spPr>
                <a:xfrm>
                  <a:off x="4340634" y="2963069"/>
                  <a:ext cx="465931" cy="465931"/>
                </a:xfrm>
                <a:prstGeom prst="ellipse">
                  <a:avLst/>
                </a:prstGeom>
                <a:blipFill>
                  <a:blip r:embed="rId2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E6E4C4EB-2614-3695-B365-591988260A90}"/>
                    </a:ext>
                  </a:extLst>
                </p:cNvPr>
                <p:cNvSpPr/>
                <p:nvPr/>
              </p:nvSpPr>
              <p:spPr>
                <a:xfrm>
                  <a:off x="5752593" y="2951192"/>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11" name="Oval 10">
                  <a:extLst>
                    <a:ext uri="{FF2B5EF4-FFF2-40B4-BE49-F238E27FC236}">
                      <a16:creationId xmlns:a16="http://schemas.microsoft.com/office/drawing/2014/main" id="{E6E4C4EB-2614-3695-B365-591988260A90}"/>
                    </a:ext>
                  </a:extLst>
                </p:cNvPr>
                <p:cNvSpPr>
                  <a:spLocks noRot="1" noChangeAspect="1" noMove="1" noResize="1" noEditPoints="1" noAdjustHandles="1" noChangeArrowheads="1" noChangeShapeType="1" noTextEdit="1"/>
                </p:cNvSpPr>
                <p:nvPr/>
              </p:nvSpPr>
              <p:spPr>
                <a:xfrm>
                  <a:off x="5752593" y="2951192"/>
                  <a:ext cx="465931" cy="465931"/>
                </a:xfrm>
                <a:prstGeom prst="ellipse">
                  <a:avLst/>
                </a:prstGeom>
                <a:blipFill>
                  <a:blip r:embed="rId2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BCE2C5B6-8EC0-B30D-C51C-15C296CD8470}"/>
                    </a:ext>
                  </a:extLst>
                </p:cNvPr>
                <p:cNvSpPr/>
                <p:nvPr/>
              </p:nvSpPr>
              <p:spPr>
                <a:xfrm>
                  <a:off x="7164552" y="2951191"/>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12" name="Oval 11">
                  <a:extLst>
                    <a:ext uri="{FF2B5EF4-FFF2-40B4-BE49-F238E27FC236}">
                      <a16:creationId xmlns:a16="http://schemas.microsoft.com/office/drawing/2014/main" id="{BCE2C5B6-8EC0-B30D-C51C-15C296CD8470}"/>
                    </a:ext>
                  </a:extLst>
                </p:cNvPr>
                <p:cNvSpPr>
                  <a:spLocks noRot="1" noChangeAspect="1" noMove="1" noResize="1" noEditPoints="1" noAdjustHandles="1" noChangeArrowheads="1" noChangeShapeType="1" noTextEdit="1"/>
                </p:cNvSpPr>
                <p:nvPr/>
              </p:nvSpPr>
              <p:spPr>
                <a:xfrm>
                  <a:off x="7164552" y="2951191"/>
                  <a:ext cx="465931" cy="465931"/>
                </a:xfrm>
                <a:prstGeom prst="ellipse">
                  <a:avLst/>
                </a:prstGeom>
                <a:blipFill>
                  <a:blip r:embed="rId2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C9CF79EF-104D-EA41-C82B-986B78A9AAFD}"/>
                    </a:ext>
                  </a:extLst>
                </p:cNvPr>
                <p:cNvSpPr/>
                <p:nvPr/>
              </p:nvSpPr>
              <p:spPr>
                <a:xfrm>
                  <a:off x="8576511" y="2963069"/>
                  <a:ext cx="69092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13" name="Oval 12">
                  <a:extLst>
                    <a:ext uri="{FF2B5EF4-FFF2-40B4-BE49-F238E27FC236}">
                      <a16:creationId xmlns:a16="http://schemas.microsoft.com/office/drawing/2014/main" id="{C9CF79EF-104D-EA41-C82B-986B78A9AAFD}"/>
                    </a:ext>
                  </a:extLst>
                </p:cNvPr>
                <p:cNvSpPr>
                  <a:spLocks noRot="1" noChangeAspect="1" noMove="1" noResize="1" noEditPoints="1" noAdjustHandles="1" noChangeArrowheads="1" noChangeShapeType="1" noTextEdit="1"/>
                </p:cNvSpPr>
                <p:nvPr/>
              </p:nvSpPr>
              <p:spPr>
                <a:xfrm>
                  <a:off x="8576511" y="2963069"/>
                  <a:ext cx="690921" cy="465931"/>
                </a:xfrm>
                <a:prstGeom prst="ellipse">
                  <a:avLst/>
                </a:prstGeom>
                <a:blipFill>
                  <a:blip r:embed="rId2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A093FE94-01A8-B92A-0FD8-F5D29584DA71}"/>
                    </a:ext>
                  </a:extLst>
                </p:cNvPr>
                <p:cNvSpPr/>
                <p:nvPr/>
              </p:nvSpPr>
              <p:spPr>
                <a:xfrm>
                  <a:off x="9988470" y="2951190"/>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5" name="Oval 14">
                  <a:extLst>
                    <a:ext uri="{FF2B5EF4-FFF2-40B4-BE49-F238E27FC236}">
                      <a16:creationId xmlns:a16="http://schemas.microsoft.com/office/drawing/2014/main" id="{A093FE94-01A8-B92A-0FD8-F5D29584DA71}"/>
                    </a:ext>
                  </a:extLst>
                </p:cNvPr>
                <p:cNvSpPr>
                  <a:spLocks noRot="1" noChangeAspect="1" noMove="1" noResize="1" noEditPoints="1" noAdjustHandles="1" noChangeArrowheads="1" noChangeShapeType="1" noTextEdit="1"/>
                </p:cNvSpPr>
                <p:nvPr/>
              </p:nvSpPr>
              <p:spPr>
                <a:xfrm>
                  <a:off x="9988470" y="2951190"/>
                  <a:ext cx="465931" cy="465931"/>
                </a:xfrm>
                <a:prstGeom prst="ellipse">
                  <a:avLst/>
                </a:prstGeom>
                <a:blipFill>
                  <a:blip r:embed="rId27"/>
                  <a:stretch>
                    <a:fillRect/>
                  </a:stretch>
                </a:blipFill>
                <a:ln>
                  <a:solidFill>
                    <a:schemeClr val="bg1"/>
                  </a:solidFill>
                </a:ln>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A426D701-793E-CF0E-0CFE-47A177150AE5}"/>
                </a:ext>
              </a:extLst>
            </p:cNvPr>
            <p:cNvCxnSpPr>
              <a:cxnSpLocks/>
              <a:stCxn id="7" idx="6"/>
              <a:endCxn id="10" idx="2"/>
            </p:cNvCxnSpPr>
            <p:nvPr/>
          </p:nvCxnSpPr>
          <p:spPr>
            <a:xfrm>
              <a:off x="3390499" y="3184159"/>
              <a:ext cx="950135" cy="11876"/>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6E97E6C-063A-294C-9B62-84DBBCB5485F}"/>
                </a:ext>
              </a:extLst>
            </p:cNvPr>
            <p:cNvCxnSpPr>
              <a:cxnSpLocks/>
              <a:stCxn id="10" idx="6"/>
              <a:endCxn id="11" idx="2"/>
            </p:cNvCxnSpPr>
            <p:nvPr/>
          </p:nvCxnSpPr>
          <p:spPr>
            <a:xfrm flipV="1">
              <a:off x="4806565" y="3184158"/>
              <a:ext cx="946028" cy="1187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5B0DBBC-1F79-E9FB-0389-91EB587094E6}"/>
                </a:ext>
              </a:extLst>
            </p:cNvPr>
            <p:cNvCxnSpPr>
              <a:cxnSpLocks/>
              <a:stCxn id="11" idx="6"/>
              <a:endCxn id="12" idx="2"/>
            </p:cNvCxnSpPr>
            <p:nvPr/>
          </p:nvCxnSpPr>
          <p:spPr>
            <a:xfrm flipV="1">
              <a:off x="6218524" y="3184157"/>
              <a:ext cx="946028" cy="1"/>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398F133-22D4-E222-9243-773834FB9CFC}"/>
                </a:ext>
              </a:extLst>
            </p:cNvPr>
            <p:cNvCxnSpPr>
              <a:cxnSpLocks/>
              <a:stCxn id="12" idx="6"/>
              <a:endCxn id="13" idx="2"/>
            </p:cNvCxnSpPr>
            <p:nvPr/>
          </p:nvCxnSpPr>
          <p:spPr>
            <a:xfrm>
              <a:off x="7630483" y="3184157"/>
              <a:ext cx="946028" cy="11878"/>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899E381-C089-E8C7-12C7-168C408FFFC7}"/>
                </a:ext>
              </a:extLst>
            </p:cNvPr>
            <p:cNvCxnSpPr>
              <a:cxnSpLocks/>
              <a:stCxn id="13" idx="6"/>
              <a:endCxn id="15" idx="2"/>
            </p:cNvCxnSpPr>
            <p:nvPr/>
          </p:nvCxnSpPr>
          <p:spPr>
            <a:xfrm flipV="1">
              <a:off x="9267432" y="3184156"/>
              <a:ext cx="721038" cy="11879"/>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 Box 27">
                  <a:extLst>
                    <a:ext uri="{FF2B5EF4-FFF2-40B4-BE49-F238E27FC236}">
                      <a16:creationId xmlns:a16="http://schemas.microsoft.com/office/drawing/2014/main" id="{3DE6C8D9-5577-2C57-9F34-E4F9C88D4EA8}"/>
                    </a:ext>
                  </a:extLst>
                </p:cNvPr>
                <p:cNvSpPr txBox="1">
                  <a:spLocks noChangeArrowheads="1"/>
                </p:cNvSpPr>
                <p:nvPr>
                  <p:custDataLst>
                    <p:tags r:id="rId10"/>
                  </p:custDataLst>
                </p:nvPr>
              </p:nvSpPr>
              <p:spPr bwMode="auto">
                <a:xfrm>
                  <a:off x="3590353" y="275258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𝟐</m:t>
                            </m:r>
                          </m:sub>
                        </m:sSub>
                      </m:oMath>
                    </m:oMathPara>
                  </a14:m>
                  <a:endParaRPr lang="en-US" b="1" dirty="0">
                    <a:solidFill>
                      <a:schemeClr val="accent1">
                        <a:lumMod val="60000"/>
                        <a:lumOff val="40000"/>
                      </a:schemeClr>
                    </a:solidFill>
                  </a:endParaRPr>
                </a:p>
              </p:txBody>
            </p:sp>
          </mc:Choice>
          <mc:Fallback xmlns="">
            <p:sp>
              <p:nvSpPr>
                <p:cNvPr id="31" name="Text Box 27">
                  <a:extLst>
                    <a:ext uri="{FF2B5EF4-FFF2-40B4-BE49-F238E27FC236}">
                      <a16:creationId xmlns:a16="http://schemas.microsoft.com/office/drawing/2014/main" id="{3DE6C8D9-5577-2C57-9F34-E4F9C88D4EA8}"/>
                    </a:ext>
                  </a:extLst>
                </p:cNvPr>
                <p:cNvSpPr txBox="1">
                  <a:spLocks noRot="1" noChangeAspect="1" noMove="1" noResize="1" noEditPoints="1" noAdjustHandles="1" noChangeArrowheads="1" noChangeShapeType="1" noTextEdit="1"/>
                </p:cNvSpPr>
                <p:nvPr>
                  <p:custDataLst>
                    <p:tags r:id="rId28"/>
                  </p:custDataLst>
                </p:nvPr>
              </p:nvSpPr>
              <p:spPr bwMode="auto">
                <a:xfrm>
                  <a:off x="3590353" y="2752582"/>
                  <a:ext cx="473143" cy="369332"/>
                </a:xfrm>
                <a:prstGeom prst="rect">
                  <a:avLst/>
                </a:prstGeom>
                <a:blipFill>
                  <a:blip r:embed="rId29"/>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 Box 27">
                  <a:extLst>
                    <a:ext uri="{FF2B5EF4-FFF2-40B4-BE49-F238E27FC236}">
                      <a16:creationId xmlns:a16="http://schemas.microsoft.com/office/drawing/2014/main" id="{AF382F5B-AF34-0831-F67B-8A0C2DD981F3}"/>
                    </a:ext>
                  </a:extLst>
                </p:cNvPr>
                <p:cNvSpPr txBox="1">
                  <a:spLocks noChangeArrowheads="1"/>
                </p:cNvSpPr>
                <p:nvPr>
                  <p:custDataLst>
                    <p:tags r:id="rId11"/>
                  </p:custDataLst>
                </p:nvPr>
              </p:nvSpPr>
              <p:spPr bwMode="auto">
                <a:xfrm>
                  <a:off x="5002595" y="275258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𝟑</m:t>
                            </m:r>
                          </m:sub>
                        </m:sSub>
                      </m:oMath>
                    </m:oMathPara>
                  </a14:m>
                  <a:endParaRPr lang="en-US" b="1" dirty="0"/>
                </a:p>
              </p:txBody>
            </p:sp>
          </mc:Choice>
          <mc:Fallback xmlns="">
            <p:sp>
              <p:nvSpPr>
                <p:cNvPr id="32" name="Text Box 27">
                  <a:extLst>
                    <a:ext uri="{FF2B5EF4-FFF2-40B4-BE49-F238E27FC236}">
                      <a16:creationId xmlns:a16="http://schemas.microsoft.com/office/drawing/2014/main" id="{AF382F5B-AF34-0831-F67B-8A0C2DD981F3}"/>
                    </a:ext>
                  </a:extLst>
                </p:cNvPr>
                <p:cNvSpPr txBox="1">
                  <a:spLocks noRot="1" noChangeAspect="1" noMove="1" noResize="1" noEditPoints="1" noAdjustHandles="1" noChangeArrowheads="1" noChangeShapeType="1" noTextEdit="1"/>
                </p:cNvSpPr>
                <p:nvPr>
                  <p:custDataLst>
                    <p:tags r:id="rId30"/>
                  </p:custDataLst>
                </p:nvPr>
              </p:nvSpPr>
              <p:spPr bwMode="auto">
                <a:xfrm>
                  <a:off x="5002595" y="2752582"/>
                  <a:ext cx="473143" cy="369332"/>
                </a:xfrm>
                <a:prstGeom prst="rect">
                  <a:avLst/>
                </a:prstGeom>
                <a:blipFill>
                  <a:blip r:embed="rId3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 Box 27">
                  <a:extLst>
                    <a:ext uri="{FF2B5EF4-FFF2-40B4-BE49-F238E27FC236}">
                      <a16:creationId xmlns:a16="http://schemas.microsoft.com/office/drawing/2014/main" id="{29DF075F-182A-4A56-7F5F-A791284BF6A0}"/>
                    </a:ext>
                  </a:extLst>
                </p:cNvPr>
                <p:cNvSpPr txBox="1">
                  <a:spLocks noChangeArrowheads="1"/>
                </p:cNvSpPr>
                <p:nvPr>
                  <p:custDataLst>
                    <p:tags r:id="rId12"/>
                  </p:custDataLst>
                </p:nvPr>
              </p:nvSpPr>
              <p:spPr bwMode="auto">
                <a:xfrm>
                  <a:off x="6429697" y="274664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𝟒</m:t>
                            </m:r>
                          </m:sub>
                        </m:sSub>
                      </m:oMath>
                    </m:oMathPara>
                  </a14:m>
                  <a:endParaRPr lang="en-US" b="1" dirty="0"/>
                </a:p>
              </p:txBody>
            </p:sp>
          </mc:Choice>
          <mc:Fallback xmlns="">
            <p:sp>
              <p:nvSpPr>
                <p:cNvPr id="33" name="Text Box 27">
                  <a:extLst>
                    <a:ext uri="{FF2B5EF4-FFF2-40B4-BE49-F238E27FC236}">
                      <a16:creationId xmlns:a16="http://schemas.microsoft.com/office/drawing/2014/main" id="{29DF075F-182A-4A56-7F5F-A791284BF6A0}"/>
                    </a:ext>
                  </a:extLst>
                </p:cNvPr>
                <p:cNvSpPr txBox="1">
                  <a:spLocks noRot="1" noChangeAspect="1" noMove="1" noResize="1" noEditPoints="1" noAdjustHandles="1" noChangeArrowheads="1" noChangeShapeType="1" noTextEdit="1"/>
                </p:cNvSpPr>
                <p:nvPr>
                  <p:custDataLst>
                    <p:tags r:id="rId32"/>
                  </p:custDataLst>
                </p:nvPr>
              </p:nvSpPr>
              <p:spPr bwMode="auto">
                <a:xfrm>
                  <a:off x="6429697" y="2746642"/>
                  <a:ext cx="473143" cy="369332"/>
                </a:xfrm>
                <a:prstGeom prst="rect">
                  <a:avLst/>
                </a:prstGeom>
                <a:blipFill>
                  <a:blip r:embed="rId33"/>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 Box 27">
                  <a:extLst>
                    <a:ext uri="{FF2B5EF4-FFF2-40B4-BE49-F238E27FC236}">
                      <a16:creationId xmlns:a16="http://schemas.microsoft.com/office/drawing/2014/main" id="{6BAB184E-A258-C7FC-FDF1-CCF08B75074F}"/>
                    </a:ext>
                  </a:extLst>
                </p:cNvPr>
                <p:cNvSpPr txBox="1">
                  <a:spLocks noChangeArrowheads="1"/>
                </p:cNvSpPr>
                <p:nvPr>
                  <p:custDataLst>
                    <p:tags r:id="rId13"/>
                  </p:custDataLst>
                </p:nvPr>
              </p:nvSpPr>
              <p:spPr bwMode="auto">
                <a:xfrm>
                  <a:off x="7841939" y="2746642"/>
                  <a:ext cx="703975"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𝒏</m:t>
                            </m:r>
                            <m:r>
                              <a:rPr lang="en-US" b="1" i="1" smtClean="0">
                                <a:solidFill>
                                  <a:schemeClr val="accent1">
                                    <a:lumMod val="60000"/>
                                    <a:lumOff val="40000"/>
                                  </a:schemeClr>
                                </a:solidFill>
                                <a:latin typeface="Cambria Math" panose="02040503050406030204" pitchFamily="18" charset="0"/>
                              </a:rPr>
                              <m:t>−</m:t>
                            </m:r>
                            <m:r>
                              <a:rPr lang="en-US" b="1" i="1" smtClean="0">
                                <a:solidFill>
                                  <a:schemeClr val="accent1">
                                    <a:lumMod val="60000"/>
                                    <a:lumOff val="40000"/>
                                  </a:schemeClr>
                                </a:solidFill>
                                <a:latin typeface="Cambria Math" panose="02040503050406030204" pitchFamily="18" charset="0"/>
                              </a:rPr>
                              <m:t>𝟏</m:t>
                            </m:r>
                          </m:sub>
                        </m:sSub>
                      </m:oMath>
                    </m:oMathPara>
                  </a14:m>
                  <a:endParaRPr lang="en-US" b="1" dirty="0">
                    <a:solidFill>
                      <a:schemeClr val="accent1">
                        <a:lumMod val="60000"/>
                        <a:lumOff val="40000"/>
                      </a:schemeClr>
                    </a:solidFill>
                  </a:endParaRPr>
                </a:p>
              </p:txBody>
            </p:sp>
          </mc:Choice>
          <mc:Fallback xmlns="">
            <p:sp>
              <p:nvSpPr>
                <p:cNvPr id="34" name="Text Box 27">
                  <a:extLst>
                    <a:ext uri="{FF2B5EF4-FFF2-40B4-BE49-F238E27FC236}">
                      <a16:creationId xmlns:a16="http://schemas.microsoft.com/office/drawing/2014/main" id="{6BAB184E-A258-C7FC-FDF1-CCF08B75074F}"/>
                    </a:ext>
                  </a:extLst>
                </p:cNvPr>
                <p:cNvSpPr txBox="1">
                  <a:spLocks noRot="1" noChangeAspect="1" noMove="1" noResize="1" noEditPoints="1" noAdjustHandles="1" noChangeArrowheads="1" noChangeShapeType="1" noTextEdit="1"/>
                </p:cNvSpPr>
                <p:nvPr>
                  <p:custDataLst>
                    <p:tags r:id="rId34"/>
                  </p:custDataLst>
                </p:nvPr>
              </p:nvSpPr>
              <p:spPr bwMode="auto">
                <a:xfrm>
                  <a:off x="7841939" y="2746642"/>
                  <a:ext cx="703975" cy="369332"/>
                </a:xfrm>
                <a:prstGeom prst="rect">
                  <a:avLst/>
                </a:prstGeom>
                <a:blipFill>
                  <a:blip r:embed="rId3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 Box 27">
                  <a:extLst>
                    <a:ext uri="{FF2B5EF4-FFF2-40B4-BE49-F238E27FC236}">
                      <a16:creationId xmlns:a16="http://schemas.microsoft.com/office/drawing/2014/main" id="{27754015-413B-15E7-D44F-5FDF74A220D4}"/>
                    </a:ext>
                  </a:extLst>
                </p:cNvPr>
                <p:cNvSpPr txBox="1">
                  <a:spLocks noChangeArrowheads="1"/>
                </p:cNvSpPr>
                <p:nvPr>
                  <p:custDataLst>
                    <p:tags r:id="rId14"/>
                  </p:custDataLst>
                </p:nvPr>
              </p:nvSpPr>
              <p:spPr bwMode="auto">
                <a:xfrm>
                  <a:off x="9391379" y="2746642"/>
                  <a:ext cx="481157"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𝒏</m:t>
                            </m:r>
                          </m:sub>
                        </m:sSub>
                      </m:oMath>
                    </m:oMathPara>
                  </a14:m>
                  <a:endParaRPr lang="en-US" b="1" dirty="0"/>
                </a:p>
              </p:txBody>
            </p:sp>
          </mc:Choice>
          <mc:Fallback xmlns="">
            <p:sp>
              <p:nvSpPr>
                <p:cNvPr id="42" name="Text Box 27">
                  <a:extLst>
                    <a:ext uri="{FF2B5EF4-FFF2-40B4-BE49-F238E27FC236}">
                      <a16:creationId xmlns:a16="http://schemas.microsoft.com/office/drawing/2014/main" id="{27754015-413B-15E7-D44F-5FDF74A220D4}"/>
                    </a:ext>
                  </a:extLst>
                </p:cNvPr>
                <p:cNvSpPr txBox="1">
                  <a:spLocks noRot="1" noChangeAspect="1" noMove="1" noResize="1" noEditPoints="1" noAdjustHandles="1" noChangeArrowheads="1" noChangeShapeType="1" noTextEdit="1"/>
                </p:cNvSpPr>
                <p:nvPr>
                  <p:custDataLst>
                    <p:tags r:id="rId36"/>
                  </p:custDataLst>
                </p:nvPr>
              </p:nvSpPr>
              <p:spPr bwMode="auto">
                <a:xfrm>
                  <a:off x="9391379" y="2746642"/>
                  <a:ext cx="481157" cy="369332"/>
                </a:xfrm>
                <a:prstGeom prst="rect">
                  <a:avLst/>
                </a:prstGeom>
                <a:blipFill>
                  <a:blip r:embed="rId37"/>
                  <a:stretch>
                    <a:fillRect/>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F81B428-CFF2-330F-026A-486737B6A7E9}"/>
                  </a:ext>
                </a:extLst>
              </p:cNvPr>
              <p:cNvSpPr txBox="1"/>
              <p:nvPr/>
            </p:nvSpPr>
            <p:spPr>
              <a:xfrm>
                <a:off x="2320604" y="4613461"/>
                <a:ext cx="7547615" cy="369332"/>
              </a:xfrm>
              <a:prstGeom prst="rect">
                <a:avLst/>
              </a:prstGeom>
              <a:noFill/>
              <a:ln>
                <a:solidFill>
                  <a:schemeClr val="tx1">
                    <a:lumMod val="95000"/>
                  </a:schemeClr>
                </a:solidFill>
              </a:ln>
            </p:spPr>
            <p:txBody>
              <a:bodyPr wrap="square" rtlCol="0">
                <a:spAutoFit/>
              </a:bodyPr>
              <a:lstStyle/>
              <a:p>
                <a:r>
                  <a:rPr lang="en-US" dirty="0"/>
                  <a:t>THEN this is </a:t>
                </a:r>
                <a:r>
                  <a:rPr lang="en-US" dirty="0">
                    <a:solidFill>
                      <a:schemeClr val="accent5">
                        <a:lumMod val="60000"/>
                        <a:lumOff val="40000"/>
                      </a:schemeClr>
                    </a:solidFill>
                  </a:rPr>
                  <a:t>optimal path </a:t>
                </a:r>
                <a:r>
                  <a:rPr lang="en-US" dirty="0"/>
                  <a:t>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𝑛</m:t>
                        </m:r>
                        <m:r>
                          <a:rPr lang="en-US" b="0" i="1" smtClean="0">
                            <a:latin typeface="Cambria Math" panose="02040503050406030204" pitchFamily="18" charset="0"/>
                          </a:rPr>
                          <m:t>−1</m:t>
                        </m:r>
                      </m:sub>
                    </m:sSub>
                  </m:oMath>
                </a14:m>
                <a:r>
                  <a:rPr lang="en-US" dirty="0"/>
                  <a:t>. Cost is </a:t>
                </a:r>
                <a14:m>
                  <m:oMath xmlns:m="http://schemas.openxmlformats.org/officeDocument/2006/math">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1</m:t>
                        </m:r>
                      </m:sub>
                    </m:sSub>
                    <m:r>
                      <a:rPr lang="en-US" b="0" i="1" smtClean="0">
                        <a:solidFill>
                          <a:schemeClr val="accent5">
                            <a:lumMod val="60000"/>
                            <a:lumOff val="40000"/>
                          </a:schemeClr>
                        </a:solidFill>
                        <a:latin typeface="Cambria Math" panose="02040503050406030204" pitchFamily="18" charset="0"/>
                      </a:rPr>
                      <m: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2</m:t>
                        </m:r>
                      </m:sub>
                    </m:sSub>
                    <m:r>
                      <a:rPr lang="en-US" b="0" i="1" smtClean="0">
                        <a:solidFill>
                          <a:schemeClr val="accent5">
                            <a:lumMod val="60000"/>
                            <a:lumOff val="40000"/>
                          </a:schemeClr>
                        </a:solidFill>
                        <a:latin typeface="Cambria Math" panose="02040503050406030204" pitchFamily="18" charset="0"/>
                      </a:rPr>
                      <m: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3</m:t>
                        </m:r>
                      </m:sub>
                    </m:sSub>
                    <m:r>
                      <a:rPr lang="en-US" b="0" i="1" smtClean="0">
                        <a:solidFill>
                          <a:schemeClr val="accent5">
                            <a:lumMod val="60000"/>
                            <a:lumOff val="40000"/>
                          </a:schemeClr>
                        </a:solidFill>
                        <a:latin typeface="Cambria Math" panose="02040503050406030204" pitchFamily="18" charset="0"/>
                      </a:rPr>
                      <m: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4</m:t>
                        </m:r>
                      </m:sub>
                    </m:sSub>
                    <m:r>
                      <a:rPr lang="en-US" b="0" i="1" smtClean="0">
                        <a:solidFill>
                          <a:schemeClr val="accent5">
                            <a:lumMod val="60000"/>
                            <a:lumOff val="40000"/>
                          </a:schemeClr>
                        </a:solidFill>
                        <a:latin typeface="Cambria Math" panose="02040503050406030204" pitchFamily="18" charset="0"/>
                      </a:rPr>
                      <m: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𝑛</m:t>
                        </m:r>
                        <m:r>
                          <a:rPr lang="en-US" b="0" i="1" smtClean="0">
                            <a:solidFill>
                              <a:schemeClr val="accent5">
                                <a:lumMod val="60000"/>
                                <a:lumOff val="40000"/>
                              </a:schemeClr>
                            </a:solidFill>
                            <a:latin typeface="Cambria Math" panose="02040503050406030204" pitchFamily="18" charset="0"/>
                          </a:rPr>
                          <m:t>−1</m:t>
                        </m:r>
                      </m:sub>
                    </m:sSub>
                  </m:oMath>
                </a14:m>
                <a:endParaRPr lang="en-US" dirty="0"/>
              </a:p>
            </p:txBody>
          </p:sp>
        </mc:Choice>
        <mc:Fallback xmlns="">
          <p:sp>
            <p:nvSpPr>
              <p:cNvPr id="46" name="TextBox 45">
                <a:extLst>
                  <a:ext uri="{FF2B5EF4-FFF2-40B4-BE49-F238E27FC236}">
                    <a16:creationId xmlns:a16="http://schemas.microsoft.com/office/drawing/2014/main" id="{1F81B428-CFF2-330F-026A-486737B6A7E9}"/>
                  </a:ext>
                </a:extLst>
              </p:cNvPr>
              <p:cNvSpPr txBox="1">
                <a:spLocks noRot="1" noChangeAspect="1" noMove="1" noResize="1" noEditPoints="1" noAdjustHandles="1" noChangeArrowheads="1" noChangeShapeType="1" noTextEdit="1"/>
              </p:cNvSpPr>
              <p:nvPr/>
            </p:nvSpPr>
            <p:spPr>
              <a:xfrm>
                <a:off x="2320604" y="4613461"/>
                <a:ext cx="7547615" cy="369332"/>
              </a:xfrm>
              <a:prstGeom prst="rect">
                <a:avLst/>
              </a:prstGeom>
              <a:blipFill>
                <a:blip r:embed="rId38"/>
                <a:stretch>
                  <a:fillRect l="-671" t="-6452" b="-25806"/>
                </a:stretch>
              </a:blipFill>
              <a:ln>
                <a:solidFill>
                  <a:schemeClr val="tx1">
                    <a:lumMod val="95000"/>
                  </a:schemeClr>
                </a:solidFill>
              </a:ln>
            </p:spPr>
            <p:txBody>
              <a:bodyPr/>
              <a:lstStyle/>
              <a:p>
                <a:r>
                  <a:rPr lang="en-US">
                    <a:noFill/>
                  </a:rPr>
                  <a:t> </a:t>
                </a:r>
              </a:p>
            </p:txBody>
          </p:sp>
        </mc:Fallback>
      </mc:AlternateContent>
      <p:grpSp>
        <p:nvGrpSpPr>
          <p:cNvPr id="34827" name="Group 34826">
            <a:extLst>
              <a:ext uri="{FF2B5EF4-FFF2-40B4-BE49-F238E27FC236}">
                <a16:creationId xmlns:a16="http://schemas.microsoft.com/office/drawing/2014/main" id="{C0C586D4-C93D-D6FA-86F8-221ED8829289}"/>
              </a:ext>
            </a:extLst>
          </p:cNvPr>
          <p:cNvGrpSpPr/>
          <p:nvPr/>
        </p:nvGrpSpPr>
        <p:grpSpPr>
          <a:xfrm>
            <a:off x="1562722" y="5185671"/>
            <a:ext cx="8945899" cy="682358"/>
            <a:chOff x="1562722" y="5185671"/>
            <a:chExt cx="8945899" cy="682358"/>
          </a:xfrm>
        </p:grpSpPr>
        <mc:AlternateContent xmlns:mc="http://schemas.openxmlformats.org/markup-compatibility/2006" xmlns:a14="http://schemas.microsoft.com/office/drawing/2010/main">
          <mc:Choice Requires="a14">
            <p:sp>
              <p:nvSpPr>
                <p:cNvPr id="49" name="Oval 48">
                  <a:extLst>
                    <a:ext uri="{FF2B5EF4-FFF2-40B4-BE49-F238E27FC236}">
                      <a16:creationId xmlns:a16="http://schemas.microsoft.com/office/drawing/2014/main" id="{40512433-08F4-A2D8-FB12-8C025F2B7188}"/>
                    </a:ext>
                  </a:extLst>
                </p:cNvPr>
                <p:cNvSpPr/>
                <p:nvPr/>
              </p:nvSpPr>
              <p:spPr>
                <a:xfrm>
                  <a:off x="1562722" y="5402098"/>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49" name="Oval 48">
                  <a:extLst>
                    <a:ext uri="{FF2B5EF4-FFF2-40B4-BE49-F238E27FC236}">
                      <a16:creationId xmlns:a16="http://schemas.microsoft.com/office/drawing/2014/main" id="{40512433-08F4-A2D8-FB12-8C025F2B7188}"/>
                    </a:ext>
                  </a:extLst>
                </p:cNvPr>
                <p:cNvSpPr>
                  <a:spLocks noRot="1" noChangeAspect="1" noMove="1" noResize="1" noEditPoints="1" noAdjustHandles="1" noChangeArrowheads="1" noChangeShapeType="1" noTextEdit="1"/>
                </p:cNvSpPr>
                <p:nvPr/>
              </p:nvSpPr>
              <p:spPr>
                <a:xfrm>
                  <a:off x="1562722" y="5402098"/>
                  <a:ext cx="465931" cy="465931"/>
                </a:xfrm>
                <a:prstGeom prst="ellipse">
                  <a:avLst/>
                </a:prstGeom>
                <a:blipFill>
                  <a:blip r:embed="rId39"/>
                  <a:stretch>
                    <a:fillRect/>
                  </a:stretch>
                </a:blipFill>
                <a:ln>
                  <a:solidFill>
                    <a:schemeClr val="bg1"/>
                  </a:solidFill>
                </a:ln>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4A614400-4D56-1D02-0750-7BD9B5CA7A7C}"/>
                </a:ext>
              </a:extLst>
            </p:cNvPr>
            <p:cNvCxnSpPr>
              <a:cxnSpLocks/>
              <a:stCxn id="49" idx="6"/>
              <a:endCxn id="53" idx="2"/>
            </p:cNvCxnSpPr>
            <p:nvPr/>
          </p:nvCxnSpPr>
          <p:spPr>
            <a:xfrm flipV="1">
              <a:off x="2028653" y="5623188"/>
              <a:ext cx="950135" cy="11876"/>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 Box 27">
                  <a:extLst>
                    <a:ext uri="{FF2B5EF4-FFF2-40B4-BE49-F238E27FC236}">
                      <a16:creationId xmlns:a16="http://schemas.microsoft.com/office/drawing/2014/main" id="{B3E106FC-38B0-D72D-D957-30EC73F90265}"/>
                    </a:ext>
                  </a:extLst>
                </p:cNvPr>
                <p:cNvSpPr txBox="1">
                  <a:spLocks noChangeArrowheads="1"/>
                </p:cNvSpPr>
                <p:nvPr>
                  <p:custDataLst>
                    <p:tags r:id="rId3"/>
                  </p:custDataLst>
                </p:nvPr>
              </p:nvSpPr>
              <p:spPr bwMode="auto">
                <a:xfrm>
                  <a:off x="2257750" y="521743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𝟏</m:t>
                            </m:r>
                          </m:sub>
                        </m:sSub>
                      </m:oMath>
                    </m:oMathPara>
                  </a14:m>
                  <a:endParaRPr lang="en-US" b="1" dirty="0">
                    <a:solidFill>
                      <a:schemeClr val="accent5">
                        <a:lumMod val="60000"/>
                        <a:lumOff val="40000"/>
                      </a:schemeClr>
                    </a:solidFill>
                  </a:endParaRPr>
                </a:p>
              </p:txBody>
            </p:sp>
          </mc:Choice>
          <mc:Fallback xmlns="">
            <p:sp>
              <p:nvSpPr>
                <p:cNvPr id="52" name="Text Box 27">
                  <a:extLst>
                    <a:ext uri="{FF2B5EF4-FFF2-40B4-BE49-F238E27FC236}">
                      <a16:creationId xmlns:a16="http://schemas.microsoft.com/office/drawing/2014/main" id="{B3E106FC-38B0-D72D-D957-30EC73F90265}"/>
                    </a:ext>
                  </a:extLst>
                </p:cNvPr>
                <p:cNvSpPr txBox="1">
                  <a:spLocks noRot="1" noChangeAspect="1" noMove="1" noResize="1" noEditPoints="1" noAdjustHandles="1" noChangeArrowheads="1" noChangeShapeType="1" noTextEdit="1"/>
                </p:cNvSpPr>
                <p:nvPr>
                  <p:custDataLst>
                    <p:tags r:id="rId40"/>
                  </p:custDataLst>
                </p:nvPr>
              </p:nvSpPr>
              <p:spPr bwMode="auto">
                <a:xfrm>
                  <a:off x="2257750" y="5217432"/>
                  <a:ext cx="473143" cy="369332"/>
                </a:xfrm>
                <a:prstGeom prst="rect">
                  <a:avLst/>
                </a:prstGeom>
                <a:blipFill>
                  <a:blip r:embed="rId4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0D9808C6-4792-A101-2027-AB205A320C4E}"/>
                    </a:ext>
                  </a:extLst>
                </p:cNvPr>
                <p:cNvSpPr/>
                <p:nvPr/>
              </p:nvSpPr>
              <p:spPr>
                <a:xfrm>
                  <a:off x="2978788" y="5390222"/>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53" name="Oval 52">
                  <a:extLst>
                    <a:ext uri="{FF2B5EF4-FFF2-40B4-BE49-F238E27FC236}">
                      <a16:creationId xmlns:a16="http://schemas.microsoft.com/office/drawing/2014/main" id="{0D9808C6-4792-A101-2027-AB205A320C4E}"/>
                    </a:ext>
                  </a:extLst>
                </p:cNvPr>
                <p:cNvSpPr>
                  <a:spLocks noRot="1" noChangeAspect="1" noMove="1" noResize="1" noEditPoints="1" noAdjustHandles="1" noChangeArrowheads="1" noChangeShapeType="1" noTextEdit="1"/>
                </p:cNvSpPr>
                <p:nvPr/>
              </p:nvSpPr>
              <p:spPr>
                <a:xfrm>
                  <a:off x="2978788" y="5390222"/>
                  <a:ext cx="465931" cy="465931"/>
                </a:xfrm>
                <a:prstGeom prst="ellipse">
                  <a:avLst/>
                </a:prstGeom>
                <a:blipFill>
                  <a:blip r:embed="rId4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Oval 54">
                  <a:extLst>
                    <a:ext uri="{FF2B5EF4-FFF2-40B4-BE49-F238E27FC236}">
                      <a16:creationId xmlns:a16="http://schemas.microsoft.com/office/drawing/2014/main" id="{C9598B03-9D54-1E61-EC0F-C0AD569A6EDC}"/>
                    </a:ext>
                  </a:extLst>
                </p:cNvPr>
                <p:cNvSpPr/>
                <p:nvPr/>
              </p:nvSpPr>
              <p:spPr>
                <a:xfrm>
                  <a:off x="4394854" y="5402098"/>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55" name="Oval 54">
                  <a:extLst>
                    <a:ext uri="{FF2B5EF4-FFF2-40B4-BE49-F238E27FC236}">
                      <a16:creationId xmlns:a16="http://schemas.microsoft.com/office/drawing/2014/main" id="{C9598B03-9D54-1E61-EC0F-C0AD569A6EDC}"/>
                    </a:ext>
                  </a:extLst>
                </p:cNvPr>
                <p:cNvSpPr>
                  <a:spLocks noRot="1" noChangeAspect="1" noMove="1" noResize="1" noEditPoints="1" noAdjustHandles="1" noChangeArrowheads="1" noChangeShapeType="1" noTextEdit="1"/>
                </p:cNvSpPr>
                <p:nvPr/>
              </p:nvSpPr>
              <p:spPr>
                <a:xfrm>
                  <a:off x="4394854" y="5402098"/>
                  <a:ext cx="465931" cy="465931"/>
                </a:xfrm>
                <a:prstGeom prst="ellipse">
                  <a:avLst/>
                </a:prstGeom>
                <a:blipFill>
                  <a:blip r:embed="rId4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E433AAEC-71D8-2DC1-1116-2C02C2097775}"/>
                    </a:ext>
                  </a:extLst>
                </p:cNvPr>
                <p:cNvSpPr/>
                <p:nvPr/>
              </p:nvSpPr>
              <p:spPr>
                <a:xfrm>
                  <a:off x="5806813" y="5390221"/>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56" name="Oval 55">
                  <a:extLst>
                    <a:ext uri="{FF2B5EF4-FFF2-40B4-BE49-F238E27FC236}">
                      <a16:creationId xmlns:a16="http://schemas.microsoft.com/office/drawing/2014/main" id="{E433AAEC-71D8-2DC1-1116-2C02C2097775}"/>
                    </a:ext>
                  </a:extLst>
                </p:cNvPr>
                <p:cNvSpPr>
                  <a:spLocks noRot="1" noChangeAspect="1" noMove="1" noResize="1" noEditPoints="1" noAdjustHandles="1" noChangeArrowheads="1" noChangeShapeType="1" noTextEdit="1"/>
                </p:cNvSpPr>
                <p:nvPr/>
              </p:nvSpPr>
              <p:spPr>
                <a:xfrm>
                  <a:off x="5806813" y="5390221"/>
                  <a:ext cx="465931" cy="465931"/>
                </a:xfrm>
                <a:prstGeom prst="ellipse">
                  <a:avLst/>
                </a:prstGeom>
                <a:blipFill>
                  <a:blip r:embed="rId4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FFFB90DA-442D-B60E-EFD4-61D5AA640D2D}"/>
                    </a:ext>
                  </a:extLst>
                </p:cNvPr>
                <p:cNvSpPr/>
                <p:nvPr/>
              </p:nvSpPr>
              <p:spPr>
                <a:xfrm>
                  <a:off x="7218772" y="5390220"/>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58" name="Oval 57">
                  <a:extLst>
                    <a:ext uri="{FF2B5EF4-FFF2-40B4-BE49-F238E27FC236}">
                      <a16:creationId xmlns:a16="http://schemas.microsoft.com/office/drawing/2014/main" id="{FFFB90DA-442D-B60E-EFD4-61D5AA640D2D}"/>
                    </a:ext>
                  </a:extLst>
                </p:cNvPr>
                <p:cNvSpPr>
                  <a:spLocks noRot="1" noChangeAspect="1" noMove="1" noResize="1" noEditPoints="1" noAdjustHandles="1" noChangeArrowheads="1" noChangeShapeType="1" noTextEdit="1"/>
                </p:cNvSpPr>
                <p:nvPr/>
              </p:nvSpPr>
              <p:spPr>
                <a:xfrm>
                  <a:off x="7218772" y="5390220"/>
                  <a:ext cx="465931" cy="465931"/>
                </a:xfrm>
                <a:prstGeom prst="ellipse">
                  <a:avLst/>
                </a:prstGeom>
                <a:blipFill>
                  <a:blip r:embed="rId4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6BC64348-1DBC-5087-A68E-03798DE4ED6E}"/>
                    </a:ext>
                  </a:extLst>
                </p:cNvPr>
                <p:cNvSpPr/>
                <p:nvPr/>
              </p:nvSpPr>
              <p:spPr>
                <a:xfrm>
                  <a:off x="8630731" y="5402098"/>
                  <a:ext cx="69092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59" name="Oval 58">
                  <a:extLst>
                    <a:ext uri="{FF2B5EF4-FFF2-40B4-BE49-F238E27FC236}">
                      <a16:creationId xmlns:a16="http://schemas.microsoft.com/office/drawing/2014/main" id="{6BC64348-1DBC-5087-A68E-03798DE4ED6E}"/>
                    </a:ext>
                  </a:extLst>
                </p:cNvPr>
                <p:cNvSpPr>
                  <a:spLocks noRot="1" noChangeAspect="1" noMove="1" noResize="1" noEditPoints="1" noAdjustHandles="1" noChangeArrowheads="1" noChangeShapeType="1" noTextEdit="1"/>
                </p:cNvSpPr>
                <p:nvPr/>
              </p:nvSpPr>
              <p:spPr>
                <a:xfrm>
                  <a:off x="8630731" y="5402098"/>
                  <a:ext cx="690921" cy="465931"/>
                </a:xfrm>
                <a:prstGeom prst="ellipse">
                  <a:avLst/>
                </a:prstGeom>
                <a:blipFill>
                  <a:blip r:embed="rId4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Oval 60">
                  <a:extLst>
                    <a:ext uri="{FF2B5EF4-FFF2-40B4-BE49-F238E27FC236}">
                      <a16:creationId xmlns:a16="http://schemas.microsoft.com/office/drawing/2014/main" id="{F8AB38A3-502E-BA1E-617E-212BBBB53CF4}"/>
                    </a:ext>
                  </a:extLst>
                </p:cNvPr>
                <p:cNvSpPr/>
                <p:nvPr/>
              </p:nvSpPr>
              <p:spPr>
                <a:xfrm>
                  <a:off x="10042690" y="5390219"/>
                  <a:ext cx="465931" cy="465931"/>
                </a:xfrm>
                <a:prstGeom prst="ellipse">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61" name="Oval 60">
                  <a:extLst>
                    <a:ext uri="{FF2B5EF4-FFF2-40B4-BE49-F238E27FC236}">
                      <a16:creationId xmlns:a16="http://schemas.microsoft.com/office/drawing/2014/main" id="{F8AB38A3-502E-BA1E-617E-212BBBB53CF4}"/>
                    </a:ext>
                  </a:extLst>
                </p:cNvPr>
                <p:cNvSpPr>
                  <a:spLocks noRot="1" noChangeAspect="1" noMove="1" noResize="1" noEditPoints="1" noAdjustHandles="1" noChangeArrowheads="1" noChangeShapeType="1" noTextEdit="1"/>
                </p:cNvSpPr>
                <p:nvPr/>
              </p:nvSpPr>
              <p:spPr>
                <a:xfrm>
                  <a:off x="10042690" y="5390219"/>
                  <a:ext cx="465931" cy="465931"/>
                </a:xfrm>
                <a:prstGeom prst="ellipse">
                  <a:avLst/>
                </a:prstGeom>
                <a:blipFill>
                  <a:blip r:embed="rId47"/>
                  <a:stretch>
                    <a:fillRect/>
                  </a:stretch>
                </a:blipFill>
                <a:ln>
                  <a:solidFill>
                    <a:schemeClr val="bg1"/>
                  </a:solidFill>
                </a:ln>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CFF6B17C-B1BE-B3D2-5F13-B29935FA0AEC}"/>
                </a:ext>
              </a:extLst>
            </p:cNvPr>
            <p:cNvCxnSpPr>
              <a:cxnSpLocks/>
              <a:stCxn id="53" idx="6"/>
              <a:endCxn id="55" idx="2"/>
            </p:cNvCxnSpPr>
            <p:nvPr/>
          </p:nvCxnSpPr>
          <p:spPr>
            <a:xfrm>
              <a:off x="3444719" y="5623188"/>
              <a:ext cx="950135" cy="11876"/>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16" name="Straight Arrow Connector 34815">
              <a:extLst>
                <a:ext uri="{FF2B5EF4-FFF2-40B4-BE49-F238E27FC236}">
                  <a16:creationId xmlns:a16="http://schemas.microsoft.com/office/drawing/2014/main" id="{BC68B3EB-156F-997F-EF15-683AB670C954}"/>
                </a:ext>
              </a:extLst>
            </p:cNvPr>
            <p:cNvCxnSpPr>
              <a:cxnSpLocks/>
              <a:stCxn id="55" idx="6"/>
              <a:endCxn id="56" idx="2"/>
            </p:cNvCxnSpPr>
            <p:nvPr/>
          </p:nvCxnSpPr>
          <p:spPr>
            <a:xfrm flipV="1">
              <a:off x="4860785" y="5623187"/>
              <a:ext cx="946028" cy="11877"/>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17" name="Straight Arrow Connector 34816">
              <a:extLst>
                <a:ext uri="{FF2B5EF4-FFF2-40B4-BE49-F238E27FC236}">
                  <a16:creationId xmlns:a16="http://schemas.microsoft.com/office/drawing/2014/main" id="{2EFB8966-4EEB-39FF-8108-4F6D4BD4ED55}"/>
                </a:ext>
              </a:extLst>
            </p:cNvPr>
            <p:cNvCxnSpPr>
              <a:cxnSpLocks/>
              <a:stCxn id="56" idx="6"/>
              <a:endCxn id="58" idx="2"/>
            </p:cNvCxnSpPr>
            <p:nvPr/>
          </p:nvCxnSpPr>
          <p:spPr>
            <a:xfrm flipV="1">
              <a:off x="6272744" y="5623186"/>
              <a:ext cx="946028" cy="1"/>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20" name="Straight Arrow Connector 34819">
              <a:extLst>
                <a:ext uri="{FF2B5EF4-FFF2-40B4-BE49-F238E27FC236}">
                  <a16:creationId xmlns:a16="http://schemas.microsoft.com/office/drawing/2014/main" id="{689553C1-82D8-BFEB-AA6D-4B1549AD3120}"/>
                </a:ext>
              </a:extLst>
            </p:cNvPr>
            <p:cNvCxnSpPr>
              <a:cxnSpLocks/>
              <a:stCxn id="58" idx="6"/>
              <a:endCxn id="59" idx="2"/>
            </p:cNvCxnSpPr>
            <p:nvPr/>
          </p:nvCxnSpPr>
          <p:spPr>
            <a:xfrm>
              <a:off x="7684703" y="5623186"/>
              <a:ext cx="946028" cy="11878"/>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21" name="Straight Arrow Connector 34820">
              <a:extLst>
                <a:ext uri="{FF2B5EF4-FFF2-40B4-BE49-F238E27FC236}">
                  <a16:creationId xmlns:a16="http://schemas.microsoft.com/office/drawing/2014/main" id="{21B56690-99F4-0095-35A4-25FF37AB2E77}"/>
                </a:ext>
              </a:extLst>
            </p:cNvPr>
            <p:cNvCxnSpPr>
              <a:cxnSpLocks/>
              <a:stCxn id="59" idx="6"/>
              <a:endCxn id="61" idx="2"/>
            </p:cNvCxnSpPr>
            <p:nvPr/>
          </p:nvCxnSpPr>
          <p:spPr>
            <a:xfrm flipV="1">
              <a:off x="9321652" y="5623185"/>
              <a:ext cx="721038" cy="118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822" name="Text Box 27">
                  <a:extLst>
                    <a:ext uri="{FF2B5EF4-FFF2-40B4-BE49-F238E27FC236}">
                      <a16:creationId xmlns:a16="http://schemas.microsoft.com/office/drawing/2014/main" id="{679B36D2-FFAC-2CFE-E964-3AF2609A420E}"/>
                    </a:ext>
                  </a:extLst>
                </p:cNvPr>
                <p:cNvSpPr txBox="1">
                  <a:spLocks noChangeArrowheads="1"/>
                </p:cNvSpPr>
                <p:nvPr>
                  <p:custDataLst>
                    <p:tags r:id="rId4"/>
                  </p:custDataLst>
                </p:nvPr>
              </p:nvSpPr>
              <p:spPr bwMode="auto">
                <a:xfrm>
                  <a:off x="3644573" y="519161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𝟐</m:t>
                            </m:r>
                          </m:sub>
                        </m:sSub>
                      </m:oMath>
                    </m:oMathPara>
                  </a14:m>
                  <a:endParaRPr lang="en-US" b="1" dirty="0">
                    <a:solidFill>
                      <a:schemeClr val="accent5">
                        <a:lumMod val="60000"/>
                        <a:lumOff val="40000"/>
                      </a:schemeClr>
                    </a:solidFill>
                  </a:endParaRPr>
                </a:p>
              </p:txBody>
            </p:sp>
          </mc:Choice>
          <mc:Fallback xmlns="">
            <p:sp>
              <p:nvSpPr>
                <p:cNvPr id="34822" name="Text Box 27">
                  <a:extLst>
                    <a:ext uri="{FF2B5EF4-FFF2-40B4-BE49-F238E27FC236}">
                      <a16:creationId xmlns:a16="http://schemas.microsoft.com/office/drawing/2014/main" id="{679B36D2-FFAC-2CFE-E964-3AF2609A420E}"/>
                    </a:ext>
                  </a:extLst>
                </p:cNvPr>
                <p:cNvSpPr txBox="1">
                  <a:spLocks noRot="1" noChangeAspect="1" noMove="1" noResize="1" noEditPoints="1" noAdjustHandles="1" noChangeArrowheads="1" noChangeShapeType="1" noTextEdit="1"/>
                </p:cNvSpPr>
                <p:nvPr>
                  <p:custDataLst>
                    <p:tags r:id="rId48"/>
                  </p:custDataLst>
                </p:nvPr>
              </p:nvSpPr>
              <p:spPr bwMode="auto">
                <a:xfrm>
                  <a:off x="3644573" y="5191611"/>
                  <a:ext cx="473143" cy="369332"/>
                </a:xfrm>
                <a:prstGeom prst="rect">
                  <a:avLst/>
                </a:prstGeom>
                <a:blipFill>
                  <a:blip r:embed="rId49"/>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3" name="Text Box 27">
                  <a:extLst>
                    <a:ext uri="{FF2B5EF4-FFF2-40B4-BE49-F238E27FC236}">
                      <a16:creationId xmlns:a16="http://schemas.microsoft.com/office/drawing/2014/main" id="{5BBA5788-94F5-2A8A-E20A-926E68C92586}"/>
                    </a:ext>
                  </a:extLst>
                </p:cNvPr>
                <p:cNvSpPr txBox="1">
                  <a:spLocks noChangeArrowheads="1"/>
                </p:cNvSpPr>
                <p:nvPr>
                  <p:custDataLst>
                    <p:tags r:id="rId5"/>
                  </p:custDataLst>
                </p:nvPr>
              </p:nvSpPr>
              <p:spPr bwMode="auto">
                <a:xfrm>
                  <a:off x="5056815" y="519161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𝟑</m:t>
                            </m:r>
                          </m:sub>
                        </m:sSub>
                      </m:oMath>
                    </m:oMathPara>
                  </a14:m>
                  <a:endParaRPr lang="en-US" b="1" dirty="0">
                    <a:solidFill>
                      <a:schemeClr val="accent5">
                        <a:lumMod val="60000"/>
                        <a:lumOff val="40000"/>
                      </a:schemeClr>
                    </a:solidFill>
                  </a:endParaRPr>
                </a:p>
              </p:txBody>
            </p:sp>
          </mc:Choice>
          <mc:Fallback xmlns="">
            <p:sp>
              <p:nvSpPr>
                <p:cNvPr id="34823" name="Text Box 27">
                  <a:extLst>
                    <a:ext uri="{FF2B5EF4-FFF2-40B4-BE49-F238E27FC236}">
                      <a16:creationId xmlns:a16="http://schemas.microsoft.com/office/drawing/2014/main" id="{5BBA5788-94F5-2A8A-E20A-926E68C92586}"/>
                    </a:ext>
                  </a:extLst>
                </p:cNvPr>
                <p:cNvSpPr txBox="1">
                  <a:spLocks noRot="1" noChangeAspect="1" noMove="1" noResize="1" noEditPoints="1" noAdjustHandles="1" noChangeArrowheads="1" noChangeShapeType="1" noTextEdit="1"/>
                </p:cNvSpPr>
                <p:nvPr>
                  <p:custDataLst>
                    <p:tags r:id="rId50"/>
                  </p:custDataLst>
                </p:nvPr>
              </p:nvSpPr>
              <p:spPr bwMode="auto">
                <a:xfrm>
                  <a:off x="5056815" y="5191611"/>
                  <a:ext cx="473143" cy="369332"/>
                </a:xfrm>
                <a:prstGeom prst="rect">
                  <a:avLst/>
                </a:prstGeom>
                <a:blipFill>
                  <a:blip r:embed="rId5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4" name="Text Box 27">
                  <a:extLst>
                    <a:ext uri="{FF2B5EF4-FFF2-40B4-BE49-F238E27FC236}">
                      <a16:creationId xmlns:a16="http://schemas.microsoft.com/office/drawing/2014/main" id="{B2B003E4-9E67-38F4-4F8F-04D2B38E3838}"/>
                    </a:ext>
                  </a:extLst>
                </p:cNvPr>
                <p:cNvSpPr txBox="1">
                  <a:spLocks noChangeArrowheads="1"/>
                </p:cNvSpPr>
                <p:nvPr>
                  <p:custDataLst>
                    <p:tags r:id="rId6"/>
                  </p:custDataLst>
                </p:nvPr>
              </p:nvSpPr>
              <p:spPr bwMode="auto">
                <a:xfrm>
                  <a:off x="6483917" y="518567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𝟒</m:t>
                            </m:r>
                          </m:sub>
                        </m:sSub>
                      </m:oMath>
                    </m:oMathPara>
                  </a14:m>
                  <a:endParaRPr lang="en-US" b="1" dirty="0">
                    <a:solidFill>
                      <a:schemeClr val="accent5">
                        <a:lumMod val="60000"/>
                        <a:lumOff val="40000"/>
                      </a:schemeClr>
                    </a:solidFill>
                  </a:endParaRPr>
                </a:p>
              </p:txBody>
            </p:sp>
          </mc:Choice>
          <mc:Fallback xmlns="">
            <p:sp>
              <p:nvSpPr>
                <p:cNvPr id="34824" name="Text Box 27">
                  <a:extLst>
                    <a:ext uri="{FF2B5EF4-FFF2-40B4-BE49-F238E27FC236}">
                      <a16:creationId xmlns:a16="http://schemas.microsoft.com/office/drawing/2014/main" id="{B2B003E4-9E67-38F4-4F8F-04D2B38E3838}"/>
                    </a:ext>
                  </a:extLst>
                </p:cNvPr>
                <p:cNvSpPr txBox="1">
                  <a:spLocks noRot="1" noChangeAspect="1" noMove="1" noResize="1" noEditPoints="1" noAdjustHandles="1" noChangeArrowheads="1" noChangeShapeType="1" noTextEdit="1"/>
                </p:cNvSpPr>
                <p:nvPr>
                  <p:custDataLst>
                    <p:tags r:id="rId52"/>
                  </p:custDataLst>
                </p:nvPr>
              </p:nvSpPr>
              <p:spPr bwMode="auto">
                <a:xfrm>
                  <a:off x="6483917" y="5185671"/>
                  <a:ext cx="473143" cy="369332"/>
                </a:xfrm>
                <a:prstGeom prst="rect">
                  <a:avLst/>
                </a:prstGeom>
                <a:blipFill>
                  <a:blip r:embed="rId53"/>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5" name="Text Box 27">
                  <a:extLst>
                    <a:ext uri="{FF2B5EF4-FFF2-40B4-BE49-F238E27FC236}">
                      <a16:creationId xmlns:a16="http://schemas.microsoft.com/office/drawing/2014/main" id="{2D0F593A-EC6D-733F-F848-8F91311A680D}"/>
                    </a:ext>
                  </a:extLst>
                </p:cNvPr>
                <p:cNvSpPr txBox="1">
                  <a:spLocks noChangeArrowheads="1"/>
                </p:cNvSpPr>
                <p:nvPr>
                  <p:custDataLst>
                    <p:tags r:id="rId7"/>
                  </p:custDataLst>
                </p:nvPr>
              </p:nvSpPr>
              <p:spPr bwMode="auto">
                <a:xfrm>
                  <a:off x="7896159" y="5185671"/>
                  <a:ext cx="703975"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𝒏</m:t>
                            </m:r>
                            <m:r>
                              <a:rPr lang="en-US" b="1" i="1" smtClean="0">
                                <a:solidFill>
                                  <a:schemeClr val="accent5">
                                    <a:lumMod val="60000"/>
                                    <a:lumOff val="40000"/>
                                  </a:schemeClr>
                                </a:solidFill>
                                <a:latin typeface="Cambria Math" panose="02040503050406030204" pitchFamily="18" charset="0"/>
                              </a:rPr>
                              <m:t>−</m:t>
                            </m:r>
                            <m:r>
                              <a:rPr lang="en-US" b="1" i="1" smtClean="0">
                                <a:solidFill>
                                  <a:schemeClr val="accent5">
                                    <a:lumMod val="60000"/>
                                    <a:lumOff val="40000"/>
                                  </a:schemeClr>
                                </a:solidFill>
                                <a:latin typeface="Cambria Math" panose="02040503050406030204" pitchFamily="18" charset="0"/>
                              </a:rPr>
                              <m:t>𝟏</m:t>
                            </m:r>
                          </m:sub>
                        </m:sSub>
                      </m:oMath>
                    </m:oMathPara>
                  </a14:m>
                  <a:endParaRPr lang="en-US" b="1" dirty="0">
                    <a:solidFill>
                      <a:schemeClr val="accent5">
                        <a:lumMod val="60000"/>
                        <a:lumOff val="40000"/>
                      </a:schemeClr>
                    </a:solidFill>
                  </a:endParaRPr>
                </a:p>
              </p:txBody>
            </p:sp>
          </mc:Choice>
          <mc:Fallback xmlns="">
            <p:sp>
              <p:nvSpPr>
                <p:cNvPr id="34825" name="Text Box 27">
                  <a:extLst>
                    <a:ext uri="{FF2B5EF4-FFF2-40B4-BE49-F238E27FC236}">
                      <a16:creationId xmlns:a16="http://schemas.microsoft.com/office/drawing/2014/main" id="{2D0F593A-EC6D-733F-F848-8F91311A680D}"/>
                    </a:ext>
                  </a:extLst>
                </p:cNvPr>
                <p:cNvSpPr txBox="1">
                  <a:spLocks noRot="1" noChangeAspect="1" noMove="1" noResize="1" noEditPoints="1" noAdjustHandles="1" noChangeArrowheads="1" noChangeShapeType="1" noTextEdit="1"/>
                </p:cNvSpPr>
                <p:nvPr>
                  <p:custDataLst>
                    <p:tags r:id="rId54"/>
                  </p:custDataLst>
                </p:nvPr>
              </p:nvSpPr>
              <p:spPr bwMode="auto">
                <a:xfrm>
                  <a:off x="7896159" y="5185671"/>
                  <a:ext cx="703975" cy="369332"/>
                </a:xfrm>
                <a:prstGeom prst="rect">
                  <a:avLst/>
                </a:prstGeom>
                <a:blipFill>
                  <a:blip r:embed="rId5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6" name="Text Box 27">
                  <a:extLst>
                    <a:ext uri="{FF2B5EF4-FFF2-40B4-BE49-F238E27FC236}">
                      <a16:creationId xmlns:a16="http://schemas.microsoft.com/office/drawing/2014/main" id="{DDA06A6F-94CC-D564-4F69-F9F25231D70F}"/>
                    </a:ext>
                  </a:extLst>
                </p:cNvPr>
                <p:cNvSpPr txBox="1">
                  <a:spLocks noChangeArrowheads="1"/>
                </p:cNvSpPr>
                <p:nvPr>
                  <p:custDataLst>
                    <p:tags r:id="rId8"/>
                  </p:custDataLst>
                </p:nvPr>
              </p:nvSpPr>
              <p:spPr bwMode="auto">
                <a:xfrm>
                  <a:off x="9445599" y="5185671"/>
                  <a:ext cx="481157"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lumMod val="95000"/>
                                  </a:schemeClr>
                                </a:solidFill>
                                <a:latin typeface="Cambria Math" panose="02040503050406030204" pitchFamily="18" charset="0"/>
                              </a:rPr>
                            </m:ctrlPr>
                          </m:sSubPr>
                          <m:e>
                            <m:r>
                              <a:rPr lang="en-US" b="1" i="1" smtClean="0">
                                <a:solidFill>
                                  <a:schemeClr val="tx1">
                                    <a:lumMod val="95000"/>
                                  </a:schemeClr>
                                </a:solidFill>
                                <a:latin typeface="Cambria Math" panose="02040503050406030204" pitchFamily="18" charset="0"/>
                              </a:rPr>
                              <m:t>𝒄</m:t>
                            </m:r>
                          </m:e>
                          <m:sub>
                            <m:r>
                              <a:rPr lang="en-US" b="1" i="1" smtClean="0">
                                <a:solidFill>
                                  <a:schemeClr val="tx1">
                                    <a:lumMod val="95000"/>
                                  </a:schemeClr>
                                </a:solidFill>
                                <a:latin typeface="Cambria Math" panose="02040503050406030204" pitchFamily="18" charset="0"/>
                              </a:rPr>
                              <m:t>𝒏</m:t>
                            </m:r>
                          </m:sub>
                        </m:sSub>
                      </m:oMath>
                    </m:oMathPara>
                  </a14:m>
                  <a:endParaRPr lang="en-US" b="1" dirty="0">
                    <a:solidFill>
                      <a:schemeClr val="tx1">
                        <a:lumMod val="95000"/>
                      </a:schemeClr>
                    </a:solidFill>
                  </a:endParaRPr>
                </a:p>
              </p:txBody>
            </p:sp>
          </mc:Choice>
          <mc:Fallback xmlns="">
            <p:sp>
              <p:nvSpPr>
                <p:cNvPr id="34826" name="Text Box 27">
                  <a:extLst>
                    <a:ext uri="{FF2B5EF4-FFF2-40B4-BE49-F238E27FC236}">
                      <a16:creationId xmlns:a16="http://schemas.microsoft.com/office/drawing/2014/main" id="{DDA06A6F-94CC-D564-4F69-F9F25231D70F}"/>
                    </a:ext>
                  </a:extLst>
                </p:cNvPr>
                <p:cNvSpPr txBox="1">
                  <a:spLocks noRot="1" noChangeAspect="1" noMove="1" noResize="1" noEditPoints="1" noAdjustHandles="1" noChangeArrowheads="1" noChangeShapeType="1" noTextEdit="1"/>
                </p:cNvSpPr>
                <p:nvPr>
                  <p:custDataLst>
                    <p:tags r:id="rId56"/>
                  </p:custDataLst>
                </p:nvPr>
              </p:nvSpPr>
              <p:spPr bwMode="auto">
                <a:xfrm>
                  <a:off x="9445599" y="5185671"/>
                  <a:ext cx="481157" cy="369332"/>
                </a:xfrm>
                <a:prstGeom prst="rect">
                  <a:avLst/>
                </a:prstGeom>
                <a:blipFill>
                  <a:blip r:embed="rId57"/>
                  <a:stretch>
                    <a:fillRect/>
                  </a:stretch>
                </a:blipFill>
                <a:ln w="9525">
                  <a:noFill/>
                  <a:miter lim="800000"/>
                  <a:headEnd/>
                  <a:tailEnd/>
                </a:ln>
              </p:spPr>
              <p:txBody>
                <a:bodyPr/>
                <a:lstStyle/>
                <a:p>
                  <a:r>
                    <a:rPr lang="en-US">
                      <a:noFill/>
                    </a:rPr>
                    <a:t> </a:t>
                  </a:r>
                </a:p>
              </p:txBody>
            </p:sp>
          </mc:Fallback>
        </mc:AlternateContent>
      </p:grpSp>
    </p:spTree>
    <p:extLst>
      <p:ext uri="{BB962C8B-B14F-4D97-AF65-F5344CB8AC3E}">
        <p14:creationId xmlns:p14="http://schemas.microsoft.com/office/powerpoint/2010/main" val="2621751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64D1E-40C3-E004-5689-D9FEBDA41A4E}"/>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16C761D6-0A9B-47B4-C0FE-8FDA848800A5}"/>
              </a:ext>
            </a:extLst>
          </p:cNvPr>
          <p:cNvSpPr>
            <a:spLocks noGrp="1" noChangeArrowheads="1"/>
          </p:cNvSpPr>
          <p:nvPr>
            <p:ph type="title"/>
            <p:custDataLst>
              <p:tags r:id="rId1"/>
            </p:custDataLst>
          </p:nvPr>
        </p:nvSpPr>
        <p:spPr>
          <a:xfrm>
            <a:off x="1141413" y="238124"/>
            <a:ext cx="9905998" cy="713893"/>
          </a:xfrm>
        </p:spPr>
        <p:txBody>
          <a:bodyPr/>
          <a:lstStyle/>
          <a:p>
            <a:pPr algn="ctr" eaLnBrk="1" hangingPunct="1"/>
            <a:r>
              <a:rPr lang="en-US" dirty="0"/>
              <a:t>Optimal Substructure Proof</a:t>
            </a:r>
          </a:p>
        </p:txBody>
      </p:sp>
      <p:sp>
        <p:nvSpPr>
          <p:cNvPr id="34819" name="Rectangle 3">
            <a:extLst>
              <a:ext uri="{FF2B5EF4-FFF2-40B4-BE49-F238E27FC236}">
                <a16:creationId xmlns:a16="http://schemas.microsoft.com/office/drawing/2014/main" id="{65BCFD7B-DD54-1B2D-B9AF-B12DFDEDBC5D}"/>
              </a:ext>
            </a:extLst>
          </p:cNvPr>
          <p:cNvSpPr>
            <a:spLocks noGrp="1" noChangeArrowheads="1"/>
          </p:cNvSpPr>
          <p:nvPr>
            <p:ph sz="quarter" idx="1"/>
            <p:custDataLst>
              <p:tags r:id="rId2"/>
            </p:custDataLst>
          </p:nvPr>
        </p:nvSpPr>
        <p:spPr>
          <a:xfrm>
            <a:off x="1082673" y="1080868"/>
            <a:ext cx="9905999" cy="443454"/>
          </a:xfrm>
          <a:solidFill>
            <a:schemeClr val="tx1">
              <a:lumMod val="95000"/>
            </a:schemeClr>
          </a:solidFill>
          <a:ln>
            <a:solidFill>
              <a:schemeClr val="bg1"/>
            </a:solidFill>
          </a:ln>
        </p:spPr>
        <p:txBody>
          <a:bodyPr anchor="ctr">
            <a:normAutofit/>
          </a:bodyPr>
          <a:lstStyle/>
          <a:p>
            <a:pPr marL="0" indent="0" eaLnBrk="1" hangingPunct="1">
              <a:buNone/>
            </a:pPr>
            <a:r>
              <a:rPr lang="en-US" sz="1800" dirty="0">
                <a:solidFill>
                  <a:schemeClr val="bg1"/>
                </a:solidFill>
              </a:rPr>
              <a:t>Step 1) Assume, for the sake of contradiction, that </a:t>
            </a:r>
            <a:r>
              <a:rPr lang="en-US" sz="1800" dirty="0">
                <a:solidFill>
                  <a:schemeClr val="accent1"/>
                </a:solidFill>
              </a:rPr>
              <a:t>path P is optimal</a:t>
            </a:r>
            <a:r>
              <a:rPr lang="en-US" sz="1800" dirty="0">
                <a:solidFill>
                  <a:schemeClr val="bg1"/>
                </a:solidFill>
              </a:rPr>
              <a:t>, but </a:t>
            </a:r>
            <a:r>
              <a:rPr lang="en-US" sz="1800" dirty="0">
                <a:solidFill>
                  <a:schemeClr val="accent5"/>
                </a:solidFill>
              </a:rPr>
              <a:t>path P’ is NOT optimal</a:t>
            </a:r>
            <a:r>
              <a:rPr lang="en-US" sz="1800" dirty="0">
                <a:solidFill>
                  <a:schemeClr val="bg1"/>
                </a:solidFill>
              </a:rPr>
              <a:t>. </a:t>
            </a:r>
          </a:p>
        </p:txBody>
      </p:sp>
      <mc:AlternateContent xmlns:mc="http://schemas.openxmlformats.org/markup-compatibility/2006" xmlns:a14="http://schemas.microsoft.com/office/drawing/2010/main">
        <mc:Choice Requires="a14">
          <p:sp>
            <p:nvSpPr>
              <p:cNvPr id="34864" name="TextBox 34863">
                <a:extLst>
                  <a:ext uri="{FF2B5EF4-FFF2-40B4-BE49-F238E27FC236}">
                    <a16:creationId xmlns:a16="http://schemas.microsoft.com/office/drawing/2014/main" id="{7EE23406-3583-2A97-9080-D856F2A1DF43}"/>
                  </a:ext>
                </a:extLst>
              </p:cNvPr>
              <p:cNvSpPr txBox="1"/>
              <p:nvPr/>
            </p:nvSpPr>
            <p:spPr>
              <a:xfrm>
                <a:off x="2211471" y="1831928"/>
                <a:ext cx="6955200" cy="369332"/>
              </a:xfrm>
              <a:prstGeom prst="rect">
                <a:avLst/>
              </a:prstGeom>
              <a:noFill/>
              <a:ln>
                <a:solidFill>
                  <a:schemeClr val="tx1">
                    <a:lumMod val="95000"/>
                  </a:schemeClr>
                </a:solidFill>
              </a:ln>
            </p:spPr>
            <p:txBody>
              <a:bodyPr wrap="square" rtlCol="0">
                <a:spAutoFit/>
              </a:bodyPr>
              <a:lstStyle/>
              <a:p>
                <a:pPr algn="ctr"/>
                <a:r>
                  <a:rPr lang="en-US" dirty="0"/>
                  <a:t>This </a:t>
                </a:r>
                <a:r>
                  <a:rPr lang="en-US" dirty="0">
                    <a:solidFill>
                      <a:schemeClr val="accent1">
                        <a:lumMod val="60000"/>
                        <a:lumOff val="40000"/>
                      </a:schemeClr>
                    </a:solidFill>
                  </a:rPr>
                  <a:t>path IS optimal 	</a:t>
                </a:r>
                <a:r>
                  <a:rPr lang="en-US" dirty="0"/>
                  <a:t>Cost is </a:t>
                </a:r>
                <a14:m>
                  <m:oMath xmlns:m="http://schemas.openxmlformats.org/officeDocument/2006/math">
                    <m:sSub>
                      <m:sSubPr>
                        <m:ctrlPr>
                          <a:rPr lang="en-US" i="1">
                            <a:solidFill>
                              <a:schemeClr val="accent1">
                                <a:lumMod val="60000"/>
                                <a:lumOff val="40000"/>
                              </a:schemeClr>
                            </a:solidFill>
                            <a:latin typeface="Cambria Math" panose="02040503050406030204" pitchFamily="18" charset="0"/>
                          </a:rPr>
                        </m:ctrlPr>
                      </m:sSubPr>
                      <m:e>
                        <m:r>
                          <a:rPr lang="en-US" i="1">
                            <a:solidFill>
                              <a:schemeClr val="accent1">
                                <a:lumMod val="60000"/>
                                <a:lumOff val="40000"/>
                              </a:schemeClr>
                            </a:solidFill>
                            <a:latin typeface="Cambria Math" panose="02040503050406030204" pitchFamily="18" charset="0"/>
                          </a:rPr>
                          <m:t>𝑐</m:t>
                        </m:r>
                      </m:e>
                      <m:sub>
                        <m:r>
                          <a:rPr lang="en-US" i="1">
                            <a:solidFill>
                              <a:schemeClr val="accent1">
                                <a:lumMod val="60000"/>
                                <a:lumOff val="40000"/>
                              </a:schemeClr>
                            </a:solidFill>
                            <a:latin typeface="Cambria Math" panose="02040503050406030204" pitchFamily="18" charset="0"/>
                          </a:rPr>
                          <m:t>1</m:t>
                        </m:r>
                      </m:sub>
                    </m:sSub>
                    <m:r>
                      <a:rPr lang="en-US" i="1">
                        <a:solidFill>
                          <a:schemeClr val="accent1">
                            <a:lumMod val="60000"/>
                            <a:lumOff val="40000"/>
                          </a:schemeClr>
                        </a:solidFill>
                        <a:latin typeface="Cambria Math" panose="02040503050406030204" pitchFamily="18" charset="0"/>
                      </a:rPr>
                      <m:t>+</m:t>
                    </m:r>
                    <m:sSub>
                      <m:sSubPr>
                        <m:ctrlPr>
                          <a:rPr lang="en-US" i="1">
                            <a:solidFill>
                              <a:schemeClr val="accent1">
                                <a:lumMod val="60000"/>
                                <a:lumOff val="40000"/>
                              </a:schemeClr>
                            </a:solidFill>
                            <a:latin typeface="Cambria Math" panose="02040503050406030204" pitchFamily="18" charset="0"/>
                          </a:rPr>
                        </m:ctrlPr>
                      </m:sSubPr>
                      <m:e>
                        <m:r>
                          <a:rPr lang="en-US" i="1">
                            <a:solidFill>
                              <a:schemeClr val="accent1">
                                <a:lumMod val="60000"/>
                                <a:lumOff val="40000"/>
                              </a:schemeClr>
                            </a:solidFill>
                            <a:latin typeface="Cambria Math" panose="02040503050406030204" pitchFamily="18" charset="0"/>
                          </a:rPr>
                          <m:t>𝑐</m:t>
                        </m:r>
                      </m:e>
                      <m:sub>
                        <m:r>
                          <a:rPr lang="en-US" i="1">
                            <a:solidFill>
                              <a:schemeClr val="accent1">
                                <a:lumMod val="60000"/>
                                <a:lumOff val="40000"/>
                              </a:schemeClr>
                            </a:solidFill>
                            <a:latin typeface="Cambria Math" panose="02040503050406030204" pitchFamily="18" charset="0"/>
                          </a:rPr>
                          <m:t>2</m:t>
                        </m:r>
                      </m:sub>
                    </m:sSub>
                    <m:r>
                      <a:rPr lang="en-US" i="1">
                        <a:solidFill>
                          <a:schemeClr val="accent1">
                            <a:lumMod val="60000"/>
                            <a:lumOff val="40000"/>
                          </a:schemeClr>
                        </a:solidFill>
                        <a:latin typeface="Cambria Math" panose="02040503050406030204" pitchFamily="18" charset="0"/>
                      </a:rPr>
                      <m:t>+</m:t>
                    </m:r>
                    <m:sSub>
                      <m:sSubPr>
                        <m:ctrlPr>
                          <a:rPr lang="en-US" i="1">
                            <a:solidFill>
                              <a:schemeClr val="accent1">
                                <a:lumMod val="60000"/>
                                <a:lumOff val="40000"/>
                              </a:schemeClr>
                            </a:solidFill>
                            <a:latin typeface="Cambria Math" panose="02040503050406030204" pitchFamily="18" charset="0"/>
                          </a:rPr>
                        </m:ctrlPr>
                      </m:sSubPr>
                      <m:e>
                        <m:r>
                          <a:rPr lang="en-US" i="1">
                            <a:solidFill>
                              <a:schemeClr val="accent1">
                                <a:lumMod val="60000"/>
                                <a:lumOff val="40000"/>
                              </a:schemeClr>
                            </a:solidFill>
                            <a:latin typeface="Cambria Math" panose="02040503050406030204" pitchFamily="18" charset="0"/>
                          </a:rPr>
                          <m:t>𝑐</m:t>
                        </m:r>
                      </m:e>
                      <m:sub>
                        <m:r>
                          <a:rPr lang="en-US" i="1">
                            <a:solidFill>
                              <a:schemeClr val="accent1">
                                <a:lumMod val="60000"/>
                                <a:lumOff val="40000"/>
                              </a:schemeClr>
                            </a:solidFill>
                            <a:latin typeface="Cambria Math" panose="02040503050406030204" pitchFamily="18" charset="0"/>
                          </a:rPr>
                          <m:t>3</m:t>
                        </m:r>
                      </m:sub>
                    </m:sSub>
                    <m:r>
                      <a:rPr lang="en-US" i="1">
                        <a:solidFill>
                          <a:schemeClr val="accent1">
                            <a:lumMod val="60000"/>
                            <a:lumOff val="40000"/>
                          </a:schemeClr>
                        </a:solidFill>
                        <a:latin typeface="Cambria Math" panose="02040503050406030204" pitchFamily="18" charset="0"/>
                      </a:rPr>
                      <m:t>+</m:t>
                    </m:r>
                    <m:sSub>
                      <m:sSubPr>
                        <m:ctrlPr>
                          <a:rPr lang="en-US" i="1">
                            <a:solidFill>
                              <a:schemeClr val="accent1">
                                <a:lumMod val="60000"/>
                                <a:lumOff val="40000"/>
                              </a:schemeClr>
                            </a:solidFill>
                            <a:latin typeface="Cambria Math" panose="02040503050406030204" pitchFamily="18" charset="0"/>
                          </a:rPr>
                        </m:ctrlPr>
                      </m:sSubPr>
                      <m:e>
                        <m:r>
                          <a:rPr lang="en-US" i="1">
                            <a:solidFill>
                              <a:schemeClr val="accent1">
                                <a:lumMod val="60000"/>
                                <a:lumOff val="40000"/>
                              </a:schemeClr>
                            </a:solidFill>
                            <a:latin typeface="Cambria Math" panose="02040503050406030204" pitchFamily="18" charset="0"/>
                          </a:rPr>
                          <m:t>𝑐</m:t>
                        </m:r>
                      </m:e>
                      <m:sub>
                        <m:r>
                          <a:rPr lang="en-US" i="1">
                            <a:solidFill>
                              <a:schemeClr val="accent1">
                                <a:lumMod val="60000"/>
                                <a:lumOff val="40000"/>
                              </a:schemeClr>
                            </a:solidFill>
                            <a:latin typeface="Cambria Math" panose="02040503050406030204" pitchFamily="18" charset="0"/>
                          </a:rPr>
                          <m:t>4</m:t>
                        </m:r>
                      </m:sub>
                    </m:sSub>
                    <m:r>
                      <a:rPr lang="en-US" i="1">
                        <a:solidFill>
                          <a:schemeClr val="accent1">
                            <a:lumMod val="60000"/>
                            <a:lumOff val="40000"/>
                          </a:schemeClr>
                        </a:solidFill>
                        <a:latin typeface="Cambria Math" panose="02040503050406030204" pitchFamily="18" charset="0"/>
                      </a:rPr>
                      <m:t>+…+</m:t>
                    </m:r>
                    <m:sSub>
                      <m:sSubPr>
                        <m:ctrlPr>
                          <a:rPr lang="en-US" i="1">
                            <a:solidFill>
                              <a:schemeClr val="accent1">
                                <a:lumMod val="60000"/>
                                <a:lumOff val="40000"/>
                              </a:schemeClr>
                            </a:solidFill>
                            <a:latin typeface="Cambria Math" panose="02040503050406030204" pitchFamily="18" charset="0"/>
                          </a:rPr>
                        </m:ctrlPr>
                      </m:sSubPr>
                      <m:e>
                        <m:r>
                          <a:rPr lang="en-US" i="1">
                            <a:solidFill>
                              <a:schemeClr val="accent1">
                                <a:lumMod val="60000"/>
                                <a:lumOff val="40000"/>
                              </a:schemeClr>
                            </a:solidFill>
                            <a:latin typeface="Cambria Math" panose="02040503050406030204" pitchFamily="18" charset="0"/>
                          </a:rPr>
                          <m:t>𝑐</m:t>
                        </m:r>
                      </m:e>
                      <m:sub>
                        <m:r>
                          <a:rPr lang="en-US" i="1">
                            <a:solidFill>
                              <a:schemeClr val="accent1">
                                <a:lumMod val="60000"/>
                                <a:lumOff val="40000"/>
                              </a:schemeClr>
                            </a:solidFill>
                            <a:latin typeface="Cambria Math" panose="02040503050406030204" pitchFamily="18" charset="0"/>
                          </a:rPr>
                          <m:t>𝑛</m:t>
                        </m:r>
                        <m:r>
                          <a:rPr lang="en-US" i="1">
                            <a:solidFill>
                              <a:schemeClr val="accent1">
                                <a:lumMod val="60000"/>
                                <a:lumOff val="40000"/>
                              </a:schemeClr>
                            </a:solidFill>
                            <a:latin typeface="Cambria Math" panose="02040503050406030204" pitchFamily="18" charset="0"/>
                          </a:rPr>
                          <m:t>−1</m:t>
                        </m:r>
                      </m:sub>
                    </m:sSub>
                    <m:r>
                      <a:rPr lang="en-US" i="1">
                        <a:solidFill>
                          <a:schemeClr val="accent1">
                            <a:lumMod val="60000"/>
                            <a:lumOff val="40000"/>
                          </a:schemeClr>
                        </a:solidFill>
                        <a:latin typeface="Cambria Math" panose="02040503050406030204" pitchFamily="18" charset="0"/>
                      </a:rPr>
                      <m:t>+</m:t>
                    </m:r>
                    <m:sSub>
                      <m:sSubPr>
                        <m:ctrlPr>
                          <a:rPr lang="en-US" i="1">
                            <a:solidFill>
                              <a:schemeClr val="accent1">
                                <a:lumMod val="60000"/>
                                <a:lumOff val="40000"/>
                              </a:schemeClr>
                            </a:solidFill>
                            <a:latin typeface="Cambria Math" panose="02040503050406030204" pitchFamily="18" charset="0"/>
                          </a:rPr>
                        </m:ctrlPr>
                      </m:sSubPr>
                      <m:e>
                        <m:r>
                          <a:rPr lang="en-US" i="1">
                            <a:solidFill>
                              <a:schemeClr val="accent1">
                                <a:lumMod val="60000"/>
                                <a:lumOff val="40000"/>
                              </a:schemeClr>
                            </a:solidFill>
                            <a:latin typeface="Cambria Math" panose="02040503050406030204" pitchFamily="18" charset="0"/>
                          </a:rPr>
                          <m:t>𝑐</m:t>
                        </m:r>
                      </m:e>
                      <m:sub>
                        <m:r>
                          <a:rPr lang="en-US" i="1">
                            <a:solidFill>
                              <a:schemeClr val="accent1">
                                <a:lumMod val="60000"/>
                                <a:lumOff val="40000"/>
                              </a:schemeClr>
                            </a:solidFill>
                            <a:latin typeface="Cambria Math" panose="02040503050406030204" pitchFamily="18" charset="0"/>
                          </a:rPr>
                          <m:t>𝑛</m:t>
                        </m:r>
                      </m:sub>
                    </m:sSub>
                  </m:oMath>
                </a14:m>
                <a:endParaRPr lang="en-US" dirty="0"/>
              </a:p>
            </p:txBody>
          </p:sp>
        </mc:Choice>
        <mc:Fallback xmlns="">
          <p:sp>
            <p:nvSpPr>
              <p:cNvPr id="34864" name="TextBox 34863">
                <a:extLst>
                  <a:ext uri="{FF2B5EF4-FFF2-40B4-BE49-F238E27FC236}">
                    <a16:creationId xmlns:a16="http://schemas.microsoft.com/office/drawing/2014/main" id="{7EE23406-3583-2A97-9080-D856F2A1DF43}"/>
                  </a:ext>
                </a:extLst>
              </p:cNvPr>
              <p:cNvSpPr txBox="1">
                <a:spLocks noRot="1" noChangeAspect="1" noMove="1" noResize="1" noEditPoints="1" noAdjustHandles="1" noChangeArrowheads="1" noChangeShapeType="1" noTextEdit="1"/>
              </p:cNvSpPr>
              <p:nvPr/>
            </p:nvSpPr>
            <p:spPr>
              <a:xfrm>
                <a:off x="2211471" y="1831928"/>
                <a:ext cx="6955200" cy="369332"/>
              </a:xfrm>
              <a:prstGeom prst="rect">
                <a:avLst/>
              </a:prstGeom>
              <a:blipFill>
                <a:blip r:embed="rId16"/>
                <a:stretch>
                  <a:fillRect t="-6667" b="-23333"/>
                </a:stretch>
              </a:blipFill>
              <a:ln>
                <a:solidFill>
                  <a:schemeClr val="tx1">
                    <a:lumMod val="95000"/>
                  </a:schemeClr>
                </a:solidFill>
              </a:ln>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2E88E821-C9D6-2BB1-2503-27BC92118F4D}"/>
              </a:ext>
            </a:extLst>
          </p:cNvPr>
          <p:cNvGrpSpPr/>
          <p:nvPr/>
        </p:nvGrpSpPr>
        <p:grpSpPr>
          <a:xfrm>
            <a:off x="1562722" y="2336048"/>
            <a:ext cx="8945899" cy="682358"/>
            <a:chOff x="1508502" y="2746642"/>
            <a:chExt cx="8945899" cy="682358"/>
          </a:xfrm>
        </p:grpSpPr>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A3FD9171-CF2F-A672-51C4-EE78E49772EF}"/>
                    </a:ext>
                  </a:extLst>
                </p:cNvPr>
                <p:cNvSpPr/>
                <p:nvPr/>
              </p:nvSpPr>
              <p:spPr>
                <a:xfrm>
                  <a:off x="1508502" y="296306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35" name="Oval 34">
                  <a:extLst>
                    <a:ext uri="{FF2B5EF4-FFF2-40B4-BE49-F238E27FC236}">
                      <a16:creationId xmlns:a16="http://schemas.microsoft.com/office/drawing/2014/main" id="{A3FD9171-CF2F-A672-51C4-EE78E49772EF}"/>
                    </a:ext>
                  </a:extLst>
                </p:cNvPr>
                <p:cNvSpPr>
                  <a:spLocks noRot="1" noChangeAspect="1" noMove="1" noResize="1" noEditPoints="1" noAdjustHandles="1" noChangeArrowheads="1" noChangeShapeType="1" noTextEdit="1"/>
                </p:cNvSpPr>
                <p:nvPr/>
              </p:nvSpPr>
              <p:spPr>
                <a:xfrm>
                  <a:off x="1508502" y="2963069"/>
                  <a:ext cx="465931" cy="465931"/>
                </a:xfrm>
                <a:prstGeom prst="ellipse">
                  <a:avLst/>
                </a:prstGeom>
                <a:blipFill>
                  <a:blip r:embed="rId17"/>
                  <a:stretch>
                    <a:fillRect/>
                  </a:stretch>
                </a:blipFill>
                <a:ln>
                  <a:solidFill>
                    <a:schemeClr val="bg1"/>
                  </a:solidFill>
                </a:ln>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77FEC01F-39A4-A67D-8FA6-922B5CB275D2}"/>
                </a:ext>
              </a:extLst>
            </p:cNvPr>
            <p:cNvCxnSpPr>
              <a:cxnSpLocks/>
              <a:stCxn id="35" idx="6"/>
              <a:endCxn id="7" idx="2"/>
            </p:cNvCxnSpPr>
            <p:nvPr/>
          </p:nvCxnSpPr>
          <p:spPr>
            <a:xfrm flipV="1">
              <a:off x="1974433" y="3184159"/>
              <a:ext cx="950135" cy="11876"/>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849" name="Text Box 27">
                  <a:extLst>
                    <a:ext uri="{FF2B5EF4-FFF2-40B4-BE49-F238E27FC236}">
                      <a16:creationId xmlns:a16="http://schemas.microsoft.com/office/drawing/2014/main" id="{E3D71B61-EABF-5A37-B1FE-EB21A68869F9}"/>
                    </a:ext>
                  </a:extLst>
                </p:cNvPr>
                <p:cNvSpPr txBox="1">
                  <a:spLocks noChangeArrowheads="1"/>
                </p:cNvSpPr>
                <p:nvPr>
                  <p:custDataLst>
                    <p:tags r:id="rId9"/>
                  </p:custDataLst>
                </p:nvPr>
              </p:nvSpPr>
              <p:spPr bwMode="auto">
                <a:xfrm>
                  <a:off x="2203530" y="2778403"/>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𝟏</m:t>
                            </m:r>
                          </m:sub>
                        </m:sSub>
                      </m:oMath>
                    </m:oMathPara>
                  </a14:m>
                  <a:endParaRPr lang="en-US" b="1" dirty="0">
                    <a:solidFill>
                      <a:schemeClr val="accent1">
                        <a:lumMod val="60000"/>
                        <a:lumOff val="40000"/>
                      </a:schemeClr>
                    </a:solidFill>
                  </a:endParaRPr>
                </a:p>
              </p:txBody>
            </p:sp>
          </mc:Choice>
          <mc:Fallback xmlns="">
            <p:sp>
              <p:nvSpPr>
                <p:cNvPr id="34849" name="Text Box 27">
                  <a:extLst>
                    <a:ext uri="{FF2B5EF4-FFF2-40B4-BE49-F238E27FC236}">
                      <a16:creationId xmlns:a16="http://schemas.microsoft.com/office/drawing/2014/main" id="{E3D71B61-EABF-5A37-B1FE-EB21A68869F9}"/>
                    </a:ext>
                  </a:extLst>
                </p:cNvPr>
                <p:cNvSpPr txBox="1">
                  <a:spLocks noRot="1" noChangeAspect="1" noMove="1" noResize="1" noEditPoints="1" noAdjustHandles="1" noChangeArrowheads="1" noChangeShapeType="1" noTextEdit="1"/>
                </p:cNvSpPr>
                <p:nvPr>
                  <p:custDataLst>
                    <p:tags r:id="rId18"/>
                  </p:custDataLst>
                </p:nvPr>
              </p:nvSpPr>
              <p:spPr bwMode="auto">
                <a:xfrm>
                  <a:off x="2203530" y="2778403"/>
                  <a:ext cx="473143" cy="369332"/>
                </a:xfrm>
                <a:prstGeom prst="rect">
                  <a:avLst/>
                </a:prstGeom>
                <a:blipFill>
                  <a:blip r:embed="rId19"/>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81BFC628-6806-61BA-93B6-3F2EF7286153}"/>
                    </a:ext>
                  </a:extLst>
                </p:cNvPr>
                <p:cNvSpPr/>
                <p:nvPr/>
              </p:nvSpPr>
              <p:spPr>
                <a:xfrm>
                  <a:off x="2924568" y="295119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7" name="Oval 6">
                  <a:extLst>
                    <a:ext uri="{FF2B5EF4-FFF2-40B4-BE49-F238E27FC236}">
                      <a16:creationId xmlns:a16="http://schemas.microsoft.com/office/drawing/2014/main" id="{81BFC628-6806-61BA-93B6-3F2EF7286153}"/>
                    </a:ext>
                  </a:extLst>
                </p:cNvPr>
                <p:cNvSpPr>
                  <a:spLocks noRot="1" noChangeAspect="1" noMove="1" noResize="1" noEditPoints="1" noAdjustHandles="1" noChangeArrowheads="1" noChangeShapeType="1" noTextEdit="1"/>
                </p:cNvSpPr>
                <p:nvPr/>
              </p:nvSpPr>
              <p:spPr>
                <a:xfrm>
                  <a:off x="2924568" y="2951193"/>
                  <a:ext cx="465931" cy="465931"/>
                </a:xfrm>
                <a:prstGeom prst="ellipse">
                  <a:avLst/>
                </a:prstGeom>
                <a:blipFill>
                  <a:blip r:embed="rId2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BECF130D-8B61-DC2F-2A64-90B31A6EF0A8}"/>
                    </a:ext>
                  </a:extLst>
                </p:cNvPr>
                <p:cNvSpPr/>
                <p:nvPr/>
              </p:nvSpPr>
              <p:spPr>
                <a:xfrm>
                  <a:off x="4340634" y="296306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0" name="Oval 9">
                  <a:extLst>
                    <a:ext uri="{FF2B5EF4-FFF2-40B4-BE49-F238E27FC236}">
                      <a16:creationId xmlns:a16="http://schemas.microsoft.com/office/drawing/2014/main" id="{BECF130D-8B61-DC2F-2A64-90B31A6EF0A8}"/>
                    </a:ext>
                  </a:extLst>
                </p:cNvPr>
                <p:cNvSpPr>
                  <a:spLocks noRot="1" noChangeAspect="1" noMove="1" noResize="1" noEditPoints="1" noAdjustHandles="1" noChangeArrowheads="1" noChangeShapeType="1" noTextEdit="1"/>
                </p:cNvSpPr>
                <p:nvPr/>
              </p:nvSpPr>
              <p:spPr>
                <a:xfrm>
                  <a:off x="4340634" y="2963069"/>
                  <a:ext cx="465931" cy="465931"/>
                </a:xfrm>
                <a:prstGeom prst="ellipse">
                  <a:avLst/>
                </a:prstGeom>
                <a:blipFill>
                  <a:blip r:embed="rId2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25CBD190-39E0-25C5-09B0-0C71063287D3}"/>
                    </a:ext>
                  </a:extLst>
                </p:cNvPr>
                <p:cNvSpPr/>
                <p:nvPr/>
              </p:nvSpPr>
              <p:spPr>
                <a:xfrm>
                  <a:off x="5752593" y="2951192"/>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11" name="Oval 10">
                  <a:extLst>
                    <a:ext uri="{FF2B5EF4-FFF2-40B4-BE49-F238E27FC236}">
                      <a16:creationId xmlns:a16="http://schemas.microsoft.com/office/drawing/2014/main" id="{25CBD190-39E0-25C5-09B0-0C71063287D3}"/>
                    </a:ext>
                  </a:extLst>
                </p:cNvPr>
                <p:cNvSpPr>
                  <a:spLocks noRot="1" noChangeAspect="1" noMove="1" noResize="1" noEditPoints="1" noAdjustHandles="1" noChangeArrowheads="1" noChangeShapeType="1" noTextEdit="1"/>
                </p:cNvSpPr>
                <p:nvPr/>
              </p:nvSpPr>
              <p:spPr>
                <a:xfrm>
                  <a:off x="5752593" y="2951192"/>
                  <a:ext cx="465931" cy="465931"/>
                </a:xfrm>
                <a:prstGeom prst="ellipse">
                  <a:avLst/>
                </a:prstGeom>
                <a:blipFill>
                  <a:blip r:embed="rId2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899D289A-0929-2232-C5DB-7CD1844FCA8F}"/>
                    </a:ext>
                  </a:extLst>
                </p:cNvPr>
                <p:cNvSpPr/>
                <p:nvPr/>
              </p:nvSpPr>
              <p:spPr>
                <a:xfrm>
                  <a:off x="7164552" y="2951191"/>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12" name="Oval 11">
                  <a:extLst>
                    <a:ext uri="{FF2B5EF4-FFF2-40B4-BE49-F238E27FC236}">
                      <a16:creationId xmlns:a16="http://schemas.microsoft.com/office/drawing/2014/main" id="{899D289A-0929-2232-C5DB-7CD1844FCA8F}"/>
                    </a:ext>
                  </a:extLst>
                </p:cNvPr>
                <p:cNvSpPr>
                  <a:spLocks noRot="1" noChangeAspect="1" noMove="1" noResize="1" noEditPoints="1" noAdjustHandles="1" noChangeArrowheads="1" noChangeShapeType="1" noTextEdit="1"/>
                </p:cNvSpPr>
                <p:nvPr/>
              </p:nvSpPr>
              <p:spPr>
                <a:xfrm>
                  <a:off x="7164552" y="2951191"/>
                  <a:ext cx="465931" cy="465931"/>
                </a:xfrm>
                <a:prstGeom prst="ellipse">
                  <a:avLst/>
                </a:prstGeom>
                <a:blipFill>
                  <a:blip r:embed="rId2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F369ABEB-9A19-DE52-CCA1-86C6FC1DF033}"/>
                    </a:ext>
                  </a:extLst>
                </p:cNvPr>
                <p:cNvSpPr/>
                <p:nvPr/>
              </p:nvSpPr>
              <p:spPr>
                <a:xfrm>
                  <a:off x="8576511" y="2963069"/>
                  <a:ext cx="69092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13" name="Oval 12">
                  <a:extLst>
                    <a:ext uri="{FF2B5EF4-FFF2-40B4-BE49-F238E27FC236}">
                      <a16:creationId xmlns:a16="http://schemas.microsoft.com/office/drawing/2014/main" id="{F369ABEB-9A19-DE52-CCA1-86C6FC1DF033}"/>
                    </a:ext>
                  </a:extLst>
                </p:cNvPr>
                <p:cNvSpPr>
                  <a:spLocks noRot="1" noChangeAspect="1" noMove="1" noResize="1" noEditPoints="1" noAdjustHandles="1" noChangeArrowheads="1" noChangeShapeType="1" noTextEdit="1"/>
                </p:cNvSpPr>
                <p:nvPr/>
              </p:nvSpPr>
              <p:spPr>
                <a:xfrm>
                  <a:off x="8576511" y="2963069"/>
                  <a:ext cx="690921" cy="465931"/>
                </a:xfrm>
                <a:prstGeom prst="ellipse">
                  <a:avLst/>
                </a:prstGeom>
                <a:blipFill>
                  <a:blip r:embed="rId2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D8400940-EFCA-AA1E-C60A-C9F0849D08F2}"/>
                    </a:ext>
                  </a:extLst>
                </p:cNvPr>
                <p:cNvSpPr/>
                <p:nvPr/>
              </p:nvSpPr>
              <p:spPr>
                <a:xfrm>
                  <a:off x="9988470" y="2951190"/>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5" name="Oval 14">
                  <a:extLst>
                    <a:ext uri="{FF2B5EF4-FFF2-40B4-BE49-F238E27FC236}">
                      <a16:creationId xmlns:a16="http://schemas.microsoft.com/office/drawing/2014/main" id="{D8400940-EFCA-AA1E-C60A-C9F0849D08F2}"/>
                    </a:ext>
                  </a:extLst>
                </p:cNvPr>
                <p:cNvSpPr>
                  <a:spLocks noRot="1" noChangeAspect="1" noMove="1" noResize="1" noEditPoints="1" noAdjustHandles="1" noChangeArrowheads="1" noChangeShapeType="1" noTextEdit="1"/>
                </p:cNvSpPr>
                <p:nvPr/>
              </p:nvSpPr>
              <p:spPr>
                <a:xfrm>
                  <a:off x="9988470" y="2951190"/>
                  <a:ext cx="465931" cy="465931"/>
                </a:xfrm>
                <a:prstGeom prst="ellipse">
                  <a:avLst/>
                </a:prstGeom>
                <a:blipFill>
                  <a:blip r:embed="rId25"/>
                  <a:stretch>
                    <a:fillRect/>
                  </a:stretch>
                </a:blipFill>
                <a:ln>
                  <a:solidFill>
                    <a:schemeClr val="bg1"/>
                  </a:solidFill>
                </a:ln>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268D256E-4A1C-0A1C-0911-9105659F028A}"/>
                </a:ext>
              </a:extLst>
            </p:cNvPr>
            <p:cNvCxnSpPr>
              <a:cxnSpLocks/>
              <a:stCxn id="7" idx="6"/>
              <a:endCxn id="10" idx="2"/>
            </p:cNvCxnSpPr>
            <p:nvPr/>
          </p:nvCxnSpPr>
          <p:spPr>
            <a:xfrm>
              <a:off x="3390499" y="3184159"/>
              <a:ext cx="950135" cy="11876"/>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B51E358-B034-EA64-8B61-195F1576D062}"/>
                </a:ext>
              </a:extLst>
            </p:cNvPr>
            <p:cNvCxnSpPr>
              <a:cxnSpLocks/>
              <a:stCxn id="10" idx="6"/>
              <a:endCxn id="11" idx="2"/>
            </p:cNvCxnSpPr>
            <p:nvPr/>
          </p:nvCxnSpPr>
          <p:spPr>
            <a:xfrm flipV="1">
              <a:off x="4806565" y="3184158"/>
              <a:ext cx="946028" cy="1187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8992956-B330-3B89-F315-A9F0226D8C79}"/>
                </a:ext>
              </a:extLst>
            </p:cNvPr>
            <p:cNvCxnSpPr>
              <a:cxnSpLocks/>
              <a:stCxn id="11" idx="6"/>
              <a:endCxn id="12" idx="2"/>
            </p:cNvCxnSpPr>
            <p:nvPr/>
          </p:nvCxnSpPr>
          <p:spPr>
            <a:xfrm flipV="1">
              <a:off x="6218524" y="3184157"/>
              <a:ext cx="946028" cy="1"/>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D713DF0-F602-B4C2-3D7E-FA5DAC31DDAC}"/>
                </a:ext>
              </a:extLst>
            </p:cNvPr>
            <p:cNvCxnSpPr>
              <a:cxnSpLocks/>
              <a:stCxn id="12" idx="6"/>
              <a:endCxn id="13" idx="2"/>
            </p:cNvCxnSpPr>
            <p:nvPr/>
          </p:nvCxnSpPr>
          <p:spPr>
            <a:xfrm>
              <a:off x="7630483" y="3184157"/>
              <a:ext cx="946028" cy="11878"/>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5ADCD50-6C4F-A58C-2FA0-BDFD5001A11D}"/>
                </a:ext>
              </a:extLst>
            </p:cNvPr>
            <p:cNvCxnSpPr>
              <a:cxnSpLocks/>
              <a:stCxn id="13" idx="6"/>
              <a:endCxn id="15" idx="2"/>
            </p:cNvCxnSpPr>
            <p:nvPr/>
          </p:nvCxnSpPr>
          <p:spPr>
            <a:xfrm flipV="1">
              <a:off x="9267432" y="3184156"/>
              <a:ext cx="721038" cy="11879"/>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 Box 27">
                  <a:extLst>
                    <a:ext uri="{FF2B5EF4-FFF2-40B4-BE49-F238E27FC236}">
                      <a16:creationId xmlns:a16="http://schemas.microsoft.com/office/drawing/2014/main" id="{1765A612-1309-9D2F-A58E-94ACEFC3EADF}"/>
                    </a:ext>
                  </a:extLst>
                </p:cNvPr>
                <p:cNvSpPr txBox="1">
                  <a:spLocks noChangeArrowheads="1"/>
                </p:cNvSpPr>
                <p:nvPr>
                  <p:custDataLst>
                    <p:tags r:id="rId10"/>
                  </p:custDataLst>
                </p:nvPr>
              </p:nvSpPr>
              <p:spPr bwMode="auto">
                <a:xfrm>
                  <a:off x="3590353" y="275258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𝟐</m:t>
                            </m:r>
                          </m:sub>
                        </m:sSub>
                      </m:oMath>
                    </m:oMathPara>
                  </a14:m>
                  <a:endParaRPr lang="en-US" b="1" dirty="0">
                    <a:solidFill>
                      <a:schemeClr val="accent1">
                        <a:lumMod val="60000"/>
                        <a:lumOff val="40000"/>
                      </a:schemeClr>
                    </a:solidFill>
                  </a:endParaRPr>
                </a:p>
              </p:txBody>
            </p:sp>
          </mc:Choice>
          <mc:Fallback xmlns="">
            <p:sp>
              <p:nvSpPr>
                <p:cNvPr id="31" name="Text Box 27">
                  <a:extLst>
                    <a:ext uri="{FF2B5EF4-FFF2-40B4-BE49-F238E27FC236}">
                      <a16:creationId xmlns:a16="http://schemas.microsoft.com/office/drawing/2014/main" id="{1765A612-1309-9D2F-A58E-94ACEFC3EADF}"/>
                    </a:ext>
                  </a:extLst>
                </p:cNvPr>
                <p:cNvSpPr txBox="1">
                  <a:spLocks noRot="1" noChangeAspect="1" noMove="1" noResize="1" noEditPoints="1" noAdjustHandles="1" noChangeArrowheads="1" noChangeShapeType="1" noTextEdit="1"/>
                </p:cNvSpPr>
                <p:nvPr>
                  <p:custDataLst>
                    <p:tags r:id="rId26"/>
                  </p:custDataLst>
                </p:nvPr>
              </p:nvSpPr>
              <p:spPr bwMode="auto">
                <a:xfrm>
                  <a:off x="3590353" y="2752582"/>
                  <a:ext cx="473143" cy="369332"/>
                </a:xfrm>
                <a:prstGeom prst="rect">
                  <a:avLst/>
                </a:prstGeom>
                <a:blipFill>
                  <a:blip r:embed="rId27"/>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 Box 27">
                  <a:extLst>
                    <a:ext uri="{FF2B5EF4-FFF2-40B4-BE49-F238E27FC236}">
                      <a16:creationId xmlns:a16="http://schemas.microsoft.com/office/drawing/2014/main" id="{6783E622-95B7-2678-C6B0-648E2363951D}"/>
                    </a:ext>
                  </a:extLst>
                </p:cNvPr>
                <p:cNvSpPr txBox="1">
                  <a:spLocks noChangeArrowheads="1"/>
                </p:cNvSpPr>
                <p:nvPr>
                  <p:custDataLst>
                    <p:tags r:id="rId11"/>
                  </p:custDataLst>
                </p:nvPr>
              </p:nvSpPr>
              <p:spPr bwMode="auto">
                <a:xfrm>
                  <a:off x="5002595" y="275258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𝟑</m:t>
                            </m:r>
                          </m:sub>
                        </m:sSub>
                      </m:oMath>
                    </m:oMathPara>
                  </a14:m>
                  <a:endParaRPr lang="en-US" b="1" dirty="0">
                    <a:solidFill>
                      <a:schemeClr val="accent1">
                        <a:lumMod val="60000"/>
                        <a:lumOff val="40000"/>
                      </a:schemeClr>
                    </a:solidFill>
                  </a:endParaRPr>
                </a:p>
              </p:txBody>
            </p:sp>
          </mc:Choice>
          <mc:Fallback xmlns="">
            <p:sp>
              <p:nvSpPr>
                <p:cNvPr id="32" name="Text Box 27">
                  <a:extLst>
                    <a:ext uri="{FF2B5EF4-FFF2-40B4-BE49-F238E27FC236}">
                      <a16:creationId xmlns:a16="http://schemas.microsoft.com/office/drawing/2014/main" id="{6783E622-95B7-2678-C6B0-648E2363951D}"/>
                    </a:ext>
                  </a:extLst>
                </p:cNvPr>
                <p:cNvSpPr txBox="1">
                  <a:spLocks noRot="1" noChangeAspect="1" noMove="1" noResize="1" noEditPoints="1" noAdjustHandles="1" noChangeArrowheads="1" noChangeShapeType="1" noTextEdit="1"/>
                </p:cNvSpPr>
                <p:nvPr>
                  <p:custDataLst>
                    <p:tags r:id="rId28"/>
                  </p:custDataLst>
                </p:nvPr>
              </p:nvSpPr>
              <p:spPr bwMode="auto">
                <a:xfrm>
                  <a:off x="5002595" y="2752582"/>
                  <a:ext cx="473143" cy="369332"/>
                </a:xfrm>
                <a:prstGeom prst="rect">
                  <a:avLst/>
                </a:prstGeom>
                <a:blipFill>
                  <a:blip r:embed="rId29"/>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 Box 27">
                  <a:extLst>
                    <a:ext uri="{FF2B5EF4-FFF2-40B4-BE49-F238E27FC236}">
                      <a16:creationId xmlns:a16="http://schemas.microsoft.com/office/drawing/2014/main" id="{A07689D9-D30D-600E-8DF7-C16DBF3302BF}"/>
                    </a:ext>
                  </a:extLst>
                </p:cNvPr>
                <p:cNvSpPr txBox="1">
                  <a:spLocks noChangeArrowheads="1"/>
                </p:cNvSpPr>
                <p:nvPr>
                  <p:custDataLst>
                    <p:tags r:id="rId12"/>
                  </p:custDataLst>
                </p:nvPr>
              </p:nvSpPr>
              <p:spPr bwMode="auto">
                <a:xfrm>
                  <a:off x="6429697" y="274664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𝟒</m:t>
                            </m:r>
                          </m:sub>
                        </m:sSub>
                      </m:oMath>
                    </m:oMathPara>
                  </a14:m>
                  <a:endParaRPr lang="en-US" b="1" dirty="0">
                    <a:solidFill>
                      <a:schemeClr val="accent1">
                        <a:lumMod val="60000"/>
                        <a:lumOff val="40000"/>
                      </a:schemeClr>
                    </a:solidFill>
                  </a:endParaRPr>
                </a:p>
              </p:txBody>
            </p:sp>
          </mc:Choice>
          <mc:Fallback xmlns="">
            <p:sp>
              <p:nvSpPr>
                <p:cNvPr id="33" name="Text Box 27">
                  <a:extLst>
                    <a:ext uri="{FF2B5EF4-FFF2-40B4-BE49-F238E27FC236}">
                      <a16:creationId xmlns:a16="http://schemas.microsoft.com/office/drawing/2014/main" id="{A07689D9-D30D-600E-8DF7-C16DBF3302BF}"/>
                    </a:ext>
                  </a:extLst>
                </p:cNvPr>
                <p:cNvSpPr txBox="1">
                  <a:spLocks noRot="1" noChangeAspect="1" noMove="1" noResize="1" noEditPoints="1" noAdjustHandles="1" noChangeArrowheads="1" noChangeShapeType="1" noTextEdit="1"/>
                </p:cNvSpPr>
                <p:nvPr>
                  <p:custDataLst>
                    <p:tags r:id="rId30"/>
                  </p:custDataLst>
                </p:nvPr>
              </p:nvSpPr>
              <p:spPr bwMode="auto">
                <a:xfrm>
                  <a:off x="6429697" y="2746642"/>
                  <a:ext cx="473143" cy="369332"/>
                </a:xfrm>
                <a:prstGeom prst="rect">
                  <a:avLst/>
                </a:prstGeom>
                <a:blipFill>
                  <a:blip r:embed="rId3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 Box 27">
                  <a:extLst>
                    <a:ext uri="{FF2B5EF4-FFF2-40B4-BE49-F238E27FC236}">
                      <a16:creationId xmlns:a16="http://schemas.microsoft.com/office/drawing/2014/main" id="{3965C7F3-C1A8-1F12-2846-9EFF21FC91A3}"/>
                    </a:ext>
                  </a:extLst>
                </p:cNvPr>
                <p:cNvSpPr txBox="1">
                  <a:spLocks noChangeArrowheads="1"/>
                </p:cNvSpPr>
                <p:nvPr>
                  <p:custDataLst>
                    <p:tags r:id="rId13"/>
                  </p:custDataLst>
                </p:nvPr>
              </p:nvSpPr>
              <p:spPr bwMode="auto">
                <a:xfrm>
                  <a:off x="7841939" y="2746642"/>
                  <a:ext cx="703975"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𝒏</m:t>
                            </m:r>
                            <m:r>
                              <a:rPr lang="en-US" b="1" i="1" smtClean="0">
                                <a:solidFill>
                                  <a:schemeClr val="accent1">
                                    <a:lumMod val="60000"/>
                                    <a:lumOff val="40000"/>
                                  </a:schemeClr>
                                </a:solidFill>
                                <a:latin typeface="Cambria Math" panose="02040503050406030204" pitchFamily="18" charset="0"/>
                              </a:rPr>
                              <m:t>−</m:t>
                            </m:r>
                            <m:r>
                              <a:rPr lang="en-US" b="1" i="1" smtClean="0">
                                <a:solidFill>
                                  <a:schemeClr val="accent1">
                                    <a:lumMod val="60000"/>
                                    <a:lumOff val="40000"/>
                                  </a:schemeClr>
                                </a:solidFill>
                                <a:latin typeface="Cambria Math" panose="02040503050406030204" pitchFamily="18" charset="0"/>
                              </a:rPr>
                              <m:t>𝟏</m:t>
                            </m:r>
                          </m:sub>
                        </m:sSub>
                      </m:oMath>
                    </m:oMathPara>
                  </a14:m>
                  <a:endParaRPr lang="en-US" b="1" dirty="0">
                    <a:solidFill>
                      <a:schemeClr val="accent1">
                        <a:lumMod val="60000"/>
                        <a:lumOff val="40000"/>
                      </a:schemeClr>
                    </a:solidFill>
                  </a:endParaRPr>
                </a:p>
              </p:txBody>
            </p:sp>
          </mc:Choice>
          <mc:Fallback xmlns="">
            <p:sp>
              <p:nvSpPr>
                <p:cNvPr id="34" name="Text Box 27">
                  <a:extLst>
                    <a:ext uri="{FF2B5EF4-FFF2-40B4-BE49-F238E27FC236}">
                      <a16:creationId xmlns:a16="http://schemas.microsoft.com/office/drawing/2014/main" id="{3965C7F3-C1A8-1F12-2846-9EFF21FC91A3}"/>
                    </a:ext>
                  </a:extLst>
                </p:cNvPr>
                <p:cNvSpPr txBox="1">
                  <a:spLocks noRot="1" noChangeAspect="1" noMove="1" noResize="1" noEditPoints="1" noAdjustHandles="1" noChangeArrowheads="1" noChangeShapeType="1" noTextEdit="1"/>
                </p:cNvSpPr>
                <p:nvPr>
                  <p:custDataLst>
                    <p:tags r:id="rId32"/>
                  </p:custDataLst>
                </p:nvPr>
              </p:nvSpPr>
              <p:spPr bwMode="auto">
                <a:xfrm>
                  <a:off x="7841939" y="2746642"/>
                  <a:ext cx="703975" cy="369332"/>
                </a:xfrm>
                <a:prstGeom prst="rect">
                  <a:avLst/>
                </a:prstGeom>
                <a:blipFill>
                  <a:blip r:embed="rId33"/>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 Box 27">
                  <a:extLst>
                    <a:ext uri="{FF2B5EF4-FFF2-40B4-BE49-F238E27FC236}">
                      <a16:creationId xmlns:a16="http://schemas.microsoft.com/office/drawing/2014/main" id="{E4571432-B3C2-B3C8-BAEB-1C252D13F132}"/>
                    </a:ext>
                  </a:extLst>
                </p:cNvPr>
                <p:cNvSpPr txBox="1">
                  <a:spLocks noChangeArrowheads="1"/>
                </p:cNvSpPr>
                <p:nvPr>
                  <p:custDataLst>
                    <p:tags r:id="rId14"/>
                  </p:custDataLst>
                </p:nvPr>
              </p:nvSpPr>
              <p:spPr bwMode="auto">
                <a:xfrm>
                  <a:off x="9391379" y="2746642"/>
                  <a:ext cx="481157"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𝒏</m:t>
                            </m:r>
                          </m:sub>
                        </m:sSub>
                      </m:oMath>
                    </m:oMathPara>
                  </a14:m>
                  <a:endParaRPr lang="en-US" b="1" dirty="0">
                    <a:solidFill>
                      <a:schemeClr val="accent1">
                        <a:lumMod val="60000"/>
                        <a:lumOff val="40000"/>
                      </a:schemeClr>
                    </a:solidFill>
                  </a:endParaRPr>
                </a:p>
              </p:txBody>
            </p:sp>
          </mc:Choice>
          <mc:Fallback xmlns="">
            <p:sp>
              <p:nvSpPr>
                <p:cNvPr id="42" name="Text Box 27">
                  <a:extLst>
                    <a:ext uri="{FF2B5EF4-FFF2-40B4-BE49-F238E27FC236}">
                      <a16:creationId xmlns:a16="http://schemas.microsoft.com/office/drawing/2014/main" id="{E4571432-B3C2-B3C8-BAEB-1C252D13F132}"/>
                    </a:ext>
                  </a:extLst>
                </p:cNvPr>
                <p:cNvSpPr txBox="1">
                  <a:spLocks noRot="1" noChangeAspect="1" noMove="1" noResize="1" noEditPoints="1" noAdjustHandles="1" noChangeArrowheads="1" noChangeShapeType="1" noTextEdit="1"/>
                </p:cNvSpPr>
                <p:nvPr>
                  <p:custDataLst>
                    <p:tags r:id="rId34"/>
                  </p:custDataLst>
                </p:nvPr>
              </p:nvSpPr>
              <p:spPr bwMode="auto">
                <a:xfrm>
                  <a:off x="9391379" y="2746642"/>
                  <a:ext cx="481157" cy="369332"/>
                </a:xfrm>
                <a:prstGeom prst="rect">
                  <a:avLst/>
                </a:prstGeom>
                <a:blipFill>
                  <a:blip r:embed="rId35"/>
                  <a:stretch>
                    <a:fillRect/>
                  </a:stretch>
                </a:blipFill>
                <a:ln w="9525">
                  <a:noFill/>
                  <a:miter lim="800000"/>
                  <a:headEnd/>
                  <a:tailEnd/>
                </a:ln>
              </p:spPr>
              <p:txBody>
                <a:bodyPr/>
                <a:lstStyle/>
                <a:p>
                  <a:r>
                    <a:rPr lang="en-US">
                      <a:noFill/>
                    </a:rPr>
                    <a:t> </a:t>
                  </a:r>
                </a:p>
              </p:txBody>
            </p:sp>
          </mc:Fallback>
        </mc:AlternateContent>
      </p:grpSp>
      <p:sp>
        <p:nvSpPr>
          <p:cNvPr id="46" name="TextBox 45">
            <a:extLst>
              <a:ext uri="{FF2B5EF4-FFF2-40B4-BE49-F238E27FC236}">
                <a16:creationId xmlns:a16="http://schemas.microsoft.com/office/drawing/2014/main" id="{EA82896E-433A-3AC6-B23D-95D07E6C6C8E}"/>
              </a:ext>
            </a:extLst>
          </p:cNvPr>
          <p:cNvSpPr txBox="1"/>
          <p:nvPr/>
        </p:nvSpPr>
        <p:spPr>
          <a:xfrm>
            <a:off x="2320605" y="3948445"/>
            <a:ext cx="3090226" cy="369332"/>
          </a:xfrm>
          <a:prstGeom prst="rect">
            <a:avLst/>
          </a:prstGeom>
          <a:noFill/>
          <a:ln>
            <a:solidFill>
              <a:schemeClr val="tx1">
                <a:lumMod val="95000"/>
              </a:schemeClr>
            </a:solidFill>
          </a:ln>
        </p:spPr>
        <p:txBody>
          <a:bodyPr wrap="square" rtlCol="0">
            <a:spAutoFit/>
          </a:bodyPr>
          <a:lstStyle/>
          <a:p>
            <a:r>
              <a:rPr lang="en-US" dirty="0"/>
              <a:t>…but this</a:t>
            </a:r>
            <a:r>
              <a:rPr lang="en-US" dirty="0">
                <a:solidFill>
                  <a:schemeClr val="accent5">
                    <a:lumMod val="60000"/>
                    <a:lumOff val="40000"/>
                  </a:schemeClr>
                </a:solidFill>
              </a:rPr>
              <a:t> path IS NOT optimal</a:t>
            </a:r>
            <a:endParaRPr lang="en-US" dirty="0"/>
          </a:p>
        </p:txBody>
      </p:sp>
      <p:grpSp>
        <p:nvGrpSpPr>
          <p:cNvPr id="2" name="Group 1">
            <a:extLst>
              <a:ext uri="{FF2B5EF4-FFF2-40B4-BE49-F238E27FC236}">
                <a16:creationId xmlns:a16="http://schemas.microsoft.com/office/drawing/2014/main" id="{89B995F9-D4FC-691B-D730-3EB4B0A49E3E}"/>
              </a:ext>
            </a:extLst>
          </p:cNvPr>
          <p:cNvGrpSpPr/>
          <p:nvPr/>
        </p:nvGrpSpPr>
        <p:grpSpPr>
          <a:xfrm>
            <a:off x="1562722" y="4520655"/>
            <a:ext cx="8945899" cy="682358"/>
            <a:chOff x="1562722" y="4520655"/>
            <a:chExt cx="8945899" cy="682358"/>
          </a:xfrm>
        </p:grpSpPr>
        <mc:AlternateContent xmlns:mc="http://schemas.openxmlformats.org/markup-compatibility/2006" xmlns:a14="http://schemas.microsoft.com/office/drawing/2010/main">
          <mc:Choice Requires="a14">
            <p:sp>
              <p:nvSpPr>
                <p:cNvPr id="49" name="Oval 48">
                  <a:extLst>
                    <a:ext uri="{FF2B5EF4-FFF2-40B4-BE49-F238E27FC236}">
                      <a16:creationId xmlns:a16="http://schemas.microsoft.com/office/drawing/2014/main" id="{31D2AF7C-8BE9-6C71-A01B-F5964E2A7A51}"/>
                    </a:ext>
                  </a:extLst>
                </p:cNvPr>
                <p:cNvSpPr/>
                <p:nvPr/>
              </p:nvSpPr>
              <p:spPr>
                <a:xfrm>
                  <a:off x="1562722" y="4737082"/>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49" name="Oval 48">
                  <a:extLst>
                    <a:ext uri="{FF2B5EF4-FFF2-40B4-BE49-F238E27FC236}">
                      <a16:creationId xmlns:a16="http://schemas.microsoft.com/office/drawing/2014/main" id="{31D2AF7C-8BE9-6C71-A01B-F5964E2A7A51}"/>
                    </a:ext>
                  </a:extLst>
                </p:cNvPr>
                <p:cNvSpPr>
                  <a:spLocks noRot="1" noChangeAspect="1" noMove="1" noResize="1" noEditPoints="1" noAdjustHandles="1" noChangeArrowheads="1" noChangeShapeType="1" noTextEdit="1"/>
                </p:cNvSpPr>
                <p:nvPr/>
              </p:nvSpPr>
              <p:spPr>
                <a:xfrm>
                  <a:off x="1562722" y="4737082"/>
                  <a:ext cx="465931" cy="465931"/>
                </a:xfrm>
                <a:prstGeom prst="ellipse">
                  <a:avLst/>
                </a:prstGeom>
                <a:blipFill>
                  <a:blip r:embed="rId36"/>
                  <a:stretch>
                    <a:fillRect/>
                  </a:stretch>
                </a:blipFill>
                <a:ln>
                  <a:solidFill>
                    <a:schemeClr val="bg1"/>
                  </a:solidFill>
                </a:ln>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2D98AB6A-C720-1758-E08A-17D8DEF19BD4}"/>
                </a:ext>
              </a:extLst>
            </p:cNvPr>
            <p:cNvCxnSpPr>
              <a:cxnSpLocks/>
              <a:stCxn id="49" idx="6"/>
              <a:endCxn id="53" idx="2"/>
            </p:cNvCxnSpPr>
            <p:nvPr/>
          </p:nvCxnSpPr>
          <p:spPr>
            <a:xfrm flipV="1">
              <a:off x="2028653" y="4958172"/>
              <a:ext cx="950135" cy="11876"/>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 Box 27">
                  <a:extLst>
                    <a:ext uri="{FF2B5EF4-FFF2-40B4-BE49-F238E27FC236}">
                      <a16:creationId xmlns:a16="http://schemas.microsoft.com/office/drawing/2014/main" id="{E69AC2D3-80D9-C2E3-C880-3C0ABFC83459}"/>
                    </a:ext>
                  </a:extLst>
                </p:cNvPr>
                <p:cNvSpPr txBox="1">
                  <a:spLocks noChangeArrowheads="1"/>
                </p:cNvSpPr>
                <p:nvPr>
                  <p:custDataLst>
                    <p:tags r:id="rId3"/>
                  </p:custDataLst>
                </p:nvPr>
              </p:nvSpPr>
              <p:spPr bwMode="auto">
                <a:xfrm>
                  <a:off x="2257750" y="4552416"/>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𝟏</m:t>
                            </m:r>
                          </m:sub>
                        </m:sSub>
                      </m:oMath>
                    </m:oMathPara>
                  </a14:m>
                  <a:endParaRPr lang="en-US" b="1" dirty="0">
                    <a:solidFill>
                      <a:schemeClr val="accent5">
                        <a:lumMod val="60000"/>
                        <a:lumOff val="40000"/>
                      </a:schemeClr>
                    </a:solidFill>
                  </a:endParaRPr>
                </a:p>
              </p:txBody>
            </p:sp>
          </mc:Choice>
          <mc:Fallback xmlns="">
            <p:sp>
              <p:nvSpPr>
                <p:cNvPr id="52" name="Text Box 27">
                  <a:extLst>
                    <a:ext uri="{FF2B5EF4-FFF2-40B4-BE49-F238E27FC236}">
                      <a16:creationId xmlns:a16="http://schemas.microsoft.com/office/drawing/2014/main" id="{E69AC2D3-80D9-C2E3-C880-3C0ABFC83459}"/>
                    </a:ext>
                  </a:extLst>
                </p:cNvPr>
                <p:cNvSpPr txBox="1">
                  <a:spLocks noRot="1" noChangeAspect="1" noMove="1" noResize="1" noEditPoints="1" noAdjustHandles="1" noChangeArrowheads="1" noChangeShapeType="1" noTextEdit="1"/>
                </p:cNvSpPr>
                <p:nvPr>
                  <p:custDataLst>
                    <p:tags r:id="rId37"/>
                  </p:custDataLst>
                </p:nvPr>
              </p:nvSpPr>
              <p:spPr bwMode="auto">
                <a:xfrm>
                  <a:off x="2257750" y="4552416"/>
                  <a:ext cx="473143" cy="369332"/>
                </a:xfrm>
                <a:prstGeom prst="rect">
                  <a:avLst/>
                </a:prstGeom>
                <a:blipFill>
                  <a:blip r:embed="rId38"/>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F5B0D598-1791-E5E0-7544-C118700DDDD8}"/>
                    </a:ext>
                  </a:extLst>
                </p:cNvPr>
                <p:cNvSpPr/>
                <p:nvPr/>
              </p:nvSpPr>
              <p:spPr>
                <a:xfrm>
                  <a:off x="2978788" y="4725206"/>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53" name="Oval 52">
                  <a:extLst>
                    <a:ext uri="{FF2B5EF4-FFF2-40B4-BE49-F238E27FC236}">
                      <a16:creationId xmlns:a16="http://schemas.microsoft.com/office/drawing/2014/main" id="{F5B0D598-1791-E5E0-7544-C118700DDDD8}"/>
                    </a:ext>
                  </a:extLst>
                </p:cNvPr>
                <p:cNvSpPr>
                  <a:spLocks noRot="1" noChangeAspect="1" noMove="1" noResize="1" noEditPoints="1" noAdjustHandles="1" noChangeArrowheads="1" noChangeShapeType="1" noTextEdit="1"/>
                </p:cNvSpPr>
                <p:nvPr/>
              </p:nvSpPr>
              <p:spPr>
                <a:xfrm>
                  <a:off x="2978788" y="4725206"/>
                  <a:ext cx="465931" cy="465931"/>
                </a:xfrm>
                <a:prstGeom prst="ellipse">
                  <a:avLst/>
                </a:prstGeom>
                <a:blipFill>
                  <a:blip r:embed="rId3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Oval 54">
                  <a:extLst>
                    <a:ext uri="{FF2B5EF4-FFF2-40B4-BE49-F238E27FC236}">
                      <a16:creationId xmlns:a16="http://schemas.microsoft.com/office/drawing/2014/main" id="{FAA426A5-3D07-65EC-89EF-D5BCB9EAA699}"/>
                    </a:ext>
                  </a:extLst>
                </p:cNvPr>
                <p:cNvSpPr/>
                <p:nvPr/>
              </p:nvSpPr>
              <p:spPr>
                <a:xfrm>
                  <a:off x="4394854" y="4737082"/>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55" name="Oval 54">
                  <a:extLst>
                    <a:ext uri="{FF2B5EF4-FFF2-40B4-BE49-F238E27FC236}">
                      <a16:creationId xmlns:a16="http://schemas.microsoft.com/office/drawing/2014/main" id="{FAA426A5-3D07-65EC-89EF-D5BCB9EAA699}"/>
                    </a:ext>
                  </a:extLst>
                </p:cNvPr>
                <p:cNvSpPr>
                  <a:spLocks noRot="1" noChangeAspect="1" noMove="1" noResize="1" noEditPoints="1" noAdjustHandles="1" noChangeArrowheads="1" noChangeShapeType="1" noTextEdit="1"/>
                </p:cNvSpPr>
                <p:nvPr/>
              </p:nvSpPr>
              <p:spPr>
                <a:xfrm>
                  <a:off x="4394854" y="4737082"/>
                  <a:ext cx="465931" cy="465931"/>
                </a:xfrm>
                <a:prstGeom prst="ellipse">
                  <a:avLst/>
                </a:prstGeom>
                <a:blipFill>
                  <a:blip r:embed="rId4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198F7B68-3F62-B1FA-8F88-359AAB7524C3}"/>
                    </a:ext>
                  </a:extLst>
                </p:cNvPr>
                <p:cNvSpPr/>
                <p:nvPr/>
              </p:nvSpPr>
              <p:spPr>
                <a:xfrm>
                  <a:off x="5806813" y="4725205"/>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56" name="Oval 55">
                  <a:extLst>
                    <a:ext uri="{FF2B5EF4-FFF2-40B4-BE49-F238E27FC236}">
                      <a16:creationId xmlns:a16="http://schemas.microsoft.com/office/drawing/2014/main" id="{198F7B68-3F62-B1FA-8F88-359AAB7524C3}"/>
                    </a:ext>
                  </a:extLst>
                </p:cNvPr>
                <p:cNvSpPr>
                  <a:spLocks noRot="1" noChangeAspect="1" noMove="1" noResize="1" noEditPoints="1" noAdjustHandles="1" noChangeArrowheads="1" noChangeShapeType="1" noTextEdit="1"/>
                </p:cNvSpPr>
                <p:nvPr/>
              </p:nvSpPr>
              <p:spPr>
                <a:xfrm>
                  <a:off x="5806813" y="4725205"/>
                  <a:ext cx="465931" cy="465931"/>
                </a:xfrm>
                <a:prstGeom prst="ellipse">
                  <a:avLst/>
                </a:prstGeom>
                <a:blipFill>
                  <a:blip r:embed="rId4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0F252092-A89F-BCCC-CECD-A95EF0B5AE60}"/>
                    </a:ext>
                  </a:extLst>
                </p:cNvPr>
                <p:cNvSpPr/>
                <p:nvPr/>
              </p:nvSpPr>
              <p:spPr>
                <a:xfrm>
                  <a:off x="7218772" y="4725204"/>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58" name="Oval 57">
                  <a:extLst>
                    <a:ext uri="{FF2B5EF4-FFF2-40B4-BE49-F238E27FC236}">
                      <a16:creationId xmlns:a16="http://schemas.microsoft.com/office/drawing/2014/main" id="{0F252092-A89F-BCCC-CECD-A95EF0B5AE60}"/>
                    </a:ext>
                  </a:extLst>
                </p:cNvPr>
                <p:cNvSpPr>
                  <a:spLocks noRot="1" noChangeAspect="1" noMove="1" noResize="1" noEditPoints="1" noAdjustHandles="1" noChangeArrowheads="1" noChangeShapeType="1" noTextEdit="1"/>
                </p:cNvSpPr>
                <p:nvPr/>
              </p:nvSpPr>
              <p:spPr>
                <a:xfrm>
                  <a:off x="7218772" y="4725204"/>
                  <a:ext cx="465931" cy="465931"/>
                </a:xfrm>
                <a:prstGeom prst="ellipse">
                  <a:avLst/>
                </a:prstGeom>
                <a:blipFill>
                  <a:blip r:embed="rId4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66DA9631-65E1-AD0D-7123-A021AAC55394}"/>
                    </a:ext>
                  </a:extLst>
                </p:cNvPr>
                <p:cNvSpPr/>
                <p:nvPr/>
              </p:nvSpPr>
              <p:spPr>
                <a:xfrm>
                  <a:off x="8630731" y="4737082"/>
                  <a:ext cx="69092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59" name="Oval 58">
                  <a:extLst>
                    <a:ext uri="{FF2B5EF4-FFF2-40B4-BE49-F238E27FC236}">
                      <a16:creationId xmlns:a16="http://schemas.microsoft.com/office/drawing/2014/main" id="{66DA9631-65E1-AD0D-7123-A021AAC55394}"/>
                    </a:ext>
                  </a:extLst>
                </p:cNvPr>
                <p:cNvSpPr>
                  <a:spLocks noRot="1" noChangeAspect="1" noMove="1" noResize="1" noEditPoints="1" noAdjustHandles="1" noChangeArrowheads="1" noChangeShapeType="1" noTextEdit="1"/>
                </p:cNvSpPr>
                <p:nvPr/>
              </p:nvSpPr>
              <p:spPr>
                <a:xfrm>
                  <a:off x="8630731" y="4737082"/>
                  <a:ext cx="690921" cy="465931"/>
                </a:xfrm>
                <a:prstGeom prst="ellipse">
                  <a:avLst/>
                </a:prstGeom>
                <a:blipFill>
                  <a:blip r:embed="rId4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Oval 60">
                  <a:extLst>
                    <a:ext uri="{FF2B5EF4-FFF2-40B4-BE49-F238E27FC236}">
                      <a16:creationId xmlns:a16="http://schemas.microsoft.com/office/drawing/2014/main" id="{594FB47A-FCA2-616C-2668-EABE37D627D6}"/>
                    </a:ext>
                  </a:extLst>
                </p:cNvPr>
                <p:cNvSpPr/>
                <p:nvPr/>
              </p:nvSpPr>
              <p:spPr>
                <a:xfrm>
                  <a:off x="10042690" y="4725203"/>
                  <a:ext cx="465931" cy="465931"/>
                </a:xfrm>
                <a:prstGeom prst="ellipse">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61" name="Oval 60">
                  <a:extLst>
                    <a:ext uri="{FF2B5EF4-FFF2-40B4-BE49-F238E27FC236}">
                      <a16:creationId xmlns:a16="http://schemas.microsoft.com/office/drawing/2014/main" id="{594FB47A-FCA2-616C-2668-EABE37D627D6}"/>
                    </a:ext>
                  </a:extLst>
                </p:cNvPr>
                <p:cNvSpPr>
                  <a:spLocks noRot="1" noChangeAspect="1" noMove="1" noResize="1" noEditPoints="1" noAdjustHandles="1" noChangeArrowheads="1" noChangeShapeType="1" noTextEdit="1"/>
                </p:cNvSpPr>
                <p:nvPr/>
              </p:nvSpPr>
              <p:spPr>
                <a:xfrm>
                  <a:off x="10042690" y="4725203"/>
                  <a:ext cx="465931" cy="465931"/>
                </a:xfrm>
                <a:prstGeom prst="ellipse">
                  <a:avLst/>
                </a:prstGeom>
                <a:blipFill>
                  <a:blip r:embed="rId44"/>
                  <a:stretch>
                    <a:fillRect/>
                  </a:stretch>
                </a:blipFill>
                <a:ln>
                  <a:solidFill>
                    <a:schemeClr val="bg1"/>
                  </a:solidFill>
                </a:ln>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917F3EA8-B90E-83A1-4804-5DB853C4B320}"/>
                </a:ext>
              </a:extLst>
            </p:cNvPr>
            <p:cNvCxnSpPr>
              <a:cxnSpLocks/>
              <a:stCxn id="53" idx="6"/>
              <a:endCxn id="55" idx="2"/>
            </p:cNvCxnSpPr>
            <p:nvPr/>
          </p:nvCxnSpPr>
          <p:spPr>
            <a:xfrm>
              <a:off x="3444719" y="4958172"/>
              <a:ext cx="950135" cy="11876"/>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16" name="Straight Arrow Connector 34815">
              <a:extLst>
                <a:ext uri="{FF2B5EF4-FFF2-40B4-BE49-F238E27FC236}">
                  <a16:creationId xmlns:a16="http://schemas.microsoft.com/office/drawing/2014/main" id="{0B14A239-90BE-5C9E-B9A6-D28DCCEAD69E}"/>
                </a:ext>
              </a:extLst>
            </p:cNvPr>
            <p:cNvCxnSpPr>
              <a:cxnSpLocks/>
              <a:stCxn id="55" idx="6"/>
              <a:endCxn id="56" idx="2"/>
            </p:cNvCxnSpPr>
            <p:nvPr/>
          </p:nvCxnSpPr>
          <p:spPr>
            <a:xfrm flipV="1">
              <a:off x="4860785" y="4958171"/>
              <a:ext cx="946028" cy="11877"/>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17" name="Straight Arrow Connector 34816">
              <a:extLst>
                <a:ext uri="{FF2B5EF4-FFF2-40B4-BE49-F238E27FC236}">
                  <a16:creationId xmlns:a16="http://schemas.microsoft.com/office/drawing/2014/main" id="{3D8E4266-D87F-32EC-87F1-AC492E4030CE}"/>
                </a:ext>
              </a:extLst>
            </p:cNvPr>
            <p:cNvCxnSpPr>
              <a:cxnSpLocks/>
              <a:stCxn id="56" idx="6"/>
              <a:endCxn id="58" idx="2"/>
            </p:cNvCxnSpPr>
            <p:nvPr/>
          </p:nvCxnSpPr>
          <p:spPr>
            <a:xfrm flipV="1">
              <a:off x="6272744" y="4958170"/>
              <a:ext cx="946028" cy="1"/>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20" name="Straight Arrow Connector 34819">
              <a:extLst>
                <a:ext uri="{FF2B5EF4-FFF2-40B4-BE49-F238E27FC236}">
                  <a16:creationId xmlns:a16="http://schemas.microsoft.com/office/drawing/2014/main" id="{C2FD26AA-973A-E17A-5223-7D4E1BB2776E}"/>
                </a:ext>
              </a:extLst>
            </p:cNvPr>
            <p:cNvCxnSpPr>
              <a:cxnSpLocks/>
              <a:stCxn id="58" idx="6"/>
              <a:endCxn id="59" idx="2"/>
            </p:cNvCxnSpPr>
            <p:nvPr/>
          </p:nvCxnSpPr>
          <p:spPr>
            <a:xfrm>
              <a:off x="7684703" y="4958170"/>
              <a:ext cx="946028" cy="11878"/>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21" name="Straight Arrow Connector 34820">
              <a:extLst>
                <a:ext uri="{FF2B5EF4-FFF2-40B4-BE49-F238E27FC236}">
                  <a16:creationId xmlns:a16="http://schemas.microsoft.com/office/drawing/2014/main" id="{3ABCEF8D-D3DB-C6D4-5017-4C7263040383}"/>
                </a:ext>
              </a:extLst>
            </p:cNvPr>
            <p:cNvCxnSpPr>
              <a:cxnSpLocks/>
              <a:stCxn id="59" idx="6"/>
              <a:endCxn id="61" idx="2"/>
            </p:cNvCxnSpPr>
            <p:nvPr/>
          </p:nvCxnSpPr>
          <p:spPr>
            <a:xfrm flipV="1">
              <a:off x="9321652" y="4958169"/>
              <a:ext cx="721038" cy="118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822" name="Text Box 27">
                  <a:extLst>
                    <a:ext uri="{FF2B5EF4-FFF2-40B4-BE49-F238E27FC236}">
                      <a16:creationId xmlns:a16="http://schemas.microsoft.com/office/drawing/2014/main" id="{59C82781-4CA2-9246-9AE2-B64AAD9C0ADF}"/>
                    </a:ext>
                  </a:extLst>
                </p:cNvPr>
                <p:cNvSpPr txBox="1">
                  <a:spLocks noChangeArrowheads="1"/>
                </p:cNvSpPr>
                <p:nvPr>
                  <p:custDataLst>
                    <p:tags r:id="rId4"/>
                  </p:custDataLst>
                </p:nvPr>
              </p:nvSpPr>
              <p:spPr bwMode="auto">
                <a:xfrm>
                  <a:off x="3644573" y="4526595"/>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𝟐</m:t>
                            </m:r>
                          </m:sub>
                        </m:sSub>
                      </m:oMath>
                    </m:oMathPara>
                  </a14:m>
                  <a:endParaRPr lang="en-US" b="1" dirty="0">
                    <a:solidFill>
                      <a:schemeClr val="accent5">
                        <a:lumMod val="60000"/>
                        <a:lumOff val="40000"/>
                      </a:schemeClr>
                    </a:solidFill>
                  </a:endParaRPr>
                </a:p>
              </p:txBody>
            </p:sp>
          </mc:Choice>
          <mc:Fallback xmlns="">
            <p:sp>
              <p:nvSpPr>
                <p:cNvPr id="34822" name="Text Box 27">
                  <a:extLst>
                    <a:ext uri="{FF2B5EF4-FFF2-40B4-BE49-F238E27FC236}">
                      <a16:creationId xmlns:a16="http://schemas.microsoft.com/office/drawing/2014/main" id="{59C82781-4CA2-9246-9AE2-B64AAD9C0ADF}"/>
                    </a:ext>
                  </a:extLst>
                </p:cNvPr>
                <p:cNvSpPr txBox="1">
                  <a:spLocks noRot="1" noChangeAspect="1" noMove="1" noResize="1" noEditPoints="1" noAdjustHandles="1" noChangeArrowheads="1" noChangeShapeType="1" noTextEdit="1"/>
                </p:cNvSpPr>
                <p:nvPr>
                  <p:custDataLst>
                    <p:tags r:id="rId45"/>
                  </p:custDataLst>
                </p:nvPr>
              </p:nvSpPr>
              <p:spPr bwMode="auto">
                <a:xfrm>
                  <a:off x="3644573" y="4526595"/>
                  <a:ext cx="473143" cy="369332"/>
                </a:xfrm>
                <a:prstGeom prst="rect">
                  <a:avLst/>
                </a:prstGeom>
                <a:blipFill>
                  <a:blip r:embed="rId46"/>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3" name="Text Box 27">
                  <a:extLst>
                    <a:ext uri="{FF2B5EF4-FFF2-40B4-BE49-F238E27FC236}">
                      <a16:creationId xmlns:a16="http://schemas.microsoft.com/office/drawing/2014/main" id="{9535804E-38C6-C618-4803-2188C90AEDFE}"/>
                    </a:ext>
                  </a:extLst>
                </p:cNvPr>
                <p:cNvSpPr txBox="1">
                  <a:spLocks noChangeArrowheads="1"/>
                </p:cNvSpPr>
                <p:nvPr>
                  <p:custDataLst>
                    <p:tags r:id="rId5"/>
                  </p:custDataLst>
                </p:nvPr>
              </p:nvSpPr>
              <p:spPr bwMode="auto">
                <a:xfrm>
                  <a:off x="5056815" y="4526595"/>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𝟑</m:t>
                            </m:r>
                          </m:sub>
                        </m:sSub>
                      </m:oMath>
                    </m:oMathPara>
                  </a14:m>
                  <a:endParaRPr lang="en-US" b="1" dirty="0">
                    <a:solidFill>
                      <a:schemeClr val="accent5">
                        <a:lumMod val="60000"/>
                        <a:lumOff val="40000"/>
                      </a:schemeClr>
                    </a:solidFill>
                  </a:endParaRPr>
                </a:p>
              </p:txBody>
            </p:sp>
          </mc:Choice>
          <mc:Fallback xmlns="">
            <p:sp>
              <p:nvSpPr>
                <p:cNvPr id="34823" name="Text Box 27">
                  <a:extLst>
                    <a:ext uri="{FF2B5EF4-FFF2-40B4-BE49-F238E27FC236}">
                      <a16:creationId xmlns:a16="http://schemas.microsoft.com/office/drawing/2014/main" id="{9535804E-38C6-C618-4803-2188C90AEDFE}"/>
                    </a:ext>
                  </a:extLst>
                </p:cNvPr>
                <p:cNvSpPr txBox="1">
                  <a:spLocks noRot="1" noChangeAspect="1" noMove="1" noResize="1" noEditPoints="1" noAdjustHandles="1" noChangeArrowheads="1" noChangeShapeType="1" noTextEdit="1"/>
                </p:cNvSpPr>
                <p:nvPr>
                  <p:custDataLst>
                    <p:tags r:id="rId47"/>
                  </p:custDataLst>
                </p:nvPr>
              </p:nvSpPr>
              <p:spPr bwMode="auto">
                <a:xfrm>
                  <a:off x="5056815" y="4526595"/>
                  <a:ext cx="473143" cy="369332"/>
                </a:xfrm>
                <a:prstGeom prst="rect">
                  <a:avLst/>
                </a:prstGeom>
                <a:blipFill>
                  <a:blip r:embed="rId48"/>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4" name="Text Box 27">
                  <a:extLst>
                    <a:ext uri="{FF2B5EF4-FFF2-40B4-BE49-F238E27FC236}">
                      <a16:creationId xmlns:a16="http://schemas.microsoft.com/office/drawing/2014/main" id="{EEDAD73C-2807-C1F2-A1A4-DF1A9F99401B}"/>
                    </a:ext>
                  </a:extLst>
                </p:cNvPr>
                <p:cNvSpPr txBox="1">
                  <a:spLocks noChangeArrowheads="1"/>
                </p:cNvSpPr>
                <p:nvPr>
                  <p:custDataLst>
                    <p:tags r:id="rId6"/>
                  </p:custDataLst>
                </p:nvPr>
              </p:nvSpPr>
              <p:spPr bwMode="auto">
                <a:xfrm>
                  <a:off x="6483917" y="4520655"/>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𝟒</m:t>
                            </m:r>
                          </m:sub>
                        </m:sSub>
                      </m:oMath>
                    </m:oMathPara>
                  </a14:m>
                  <a:endParaRPr lang="en-US" b="1" dirty="0">
                    <a:solidFill>
                      <a:schemeClr val="accent5">
                        <a:lumMod val="60000"/>
                        <a:lumOff val="40000"/>
                      </a:schemeClr>
                    </a:solidFill>
                  </a:endParaRPr>
                </a:p>
              </p:txBody>
            </p:sp>
          </mc:Choice>
          <mc:Fallback xmlns="">
            <p:sp>
              <p:nvSpPr>
                <p:cNvPr id="34824" name="Text Box 27">
                  <a:extLst>
                    <a:ext uri="{FF2B5EF4-FFF2-40B4-BE49-F238E27FC236}">
                      <a16:creationId xmlns:a16="http://schemas.microsoft.com/office/drawing/2014/main" id="{EEDAD73C-2807-C1F2-A1A4-DF1A9F99401B}"/>
                    </a:ext>
                  </a:extLst>
                </p:cNvPr>
                <p:cNvSpPr txBox="1">
                  <a:spLocks noRot="1" noChangeAspect="1" noMove="1" noResize="1" noEditPoints="1" noAdjustHandles="1" noChangeArrowheads="1" noChangeShapeType="1" noTextEdit="1"/>
                </p:cNvSpPr>
                <p:nvPr>
                  <p:custDataLst>
                    <p:tags r:id="rId49"/>
                  </p:custDataLst>
                </p:nvPr>
              </p:nvSpPr>
              <p:spPr bwMode="auto">
                <a:xfrm>
                  <a:off x="6483917" y="4520655"/>
                  <a:ext cx="473143" cy="369332"/>
                </a:xfrm>
                <a:prstGeom prst="rect">
                  <a:avLst/>
                </a:prstGeom>
                <a:blipFill>
                  <a:blip r:embed="rId50"/>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5" name="Text Box 27">
                  <a:extLst>
                    <a:ext uri="{FF2B5EF4-FFF2-40B4-BE49-F238E27FC236}">
                      <a16:creationId xmlns:a16="http://schemas.microsoft.com/office/drawing/2014/main" id="{17590874-8220-1776-BA4C-BCF0DB4EEC05}"/>
                    </a:ext>
                  </a:extLst>
                </p:cNvPr>
                <p:cNvSpPr txBox="1">
                  <a:spLocks noChangeArrowheads="1"/>
                </p:cNvSpPr>
                <p:nvPr>
                  <p:custDataLst>
                    <p:tags r:id="rId7"/>
                  </p:custDataLst>
                </p:nvPr>
              </p:nvSpPr>
              <p:spPr bwMode="auto">
                <a:xfrm>
                  <a:off x="7896159" y="4520655"/>
                  <a:ext cx="703975"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𝒏</m:t>
                            </m:r>
                            <m:r>
                              <a:rPr lang="en-US" b="1" i="1" smtClean="0">
                                <a:solidFill>
                                  <a:schemeClr val="accent5">
                                    <a:lumMod val="60000"/>
                                    <a:lumOff val="40000"/>
                                  </a:schemeClr>
                                </a:solidFill>
                                <a:latin typeface="Cambria Math" panose="02040503050406030204" pitchFamily="18" charset="0"/>
                              </a:rPr>
                              <m:t>−</m:t>
                            </m:r>
                            <m:r>
                              <a:rPr lang="en-US" b="1" i="1" smtClean="0">
                                <a:solidFill>
                                  <a:schemeClr val="accent5">
                                    <a:lumMod val="60000"/>
                                    <a:lumOff val="40000"/>
                                  </a:schemeClr>
                                </a:solidFill>
                                <a:latin typeface="Cambria Math" panose="02040503050406030204" pitchFamily="18" charset="0"/>
                              </a:rPr>
                              <m:t>𝟏</m:t>
                            </m:r>
                          </m:sub>
                        </m:sSub>
                      </m:oMath>
                    </m:oMathPara>
                  </a14:m>
                  <a:endParaRPr lang="en-US" b="1" dirty="0">
                    <a:solidFill>
                      <a:schemeClr val="accent5">
                        <a:lumMod val="60000"/>
                        <a:lumOff val="40000"/>
                      </a:schemeClr>
                    </a:solidFill>
                  </a:endParaRPr>
                </a:p>
              </p:txBody>
            </p:sp>
          </mc:Choice>
          <mc:Fallback xmlns="">
            <p:sp>
              <p:nvSpPr>
                <p:cNvPr id="34825" name="Text Box 27">
                  <a:extLst>
                    <a:ext uri="{FF2B5EF4-FFF2-40B4-BE49-F238E27FC236}">
                      <a16:creationId xmlns:a16="http://schemas.microsoft.com/office/drawing/2014/main" id="{17590874-8220-1776-BA4C-BCF0DB4EEC05}"/>
                    </a:ext>
                  </a:extLst>
                </p:cNvPr>
                <p:cNvSpPr txBox="1">
                  <a:spLocks noRot="1" noChangeAspect="1" noMove="1" noResize="1" noEditPoints="1" noAdjustHandles="1" noChangeArrowheads="1" noChangeShapeType="1" noTextEdit="1"/>
                </p:cNvSpPr>
                <p:nvPr>
                  <p:custDataLst>
                    <p:tags r:id="rId51"/>
                  </p:custDataLst>
                </p:nvPr>
              </p:nvSpPr>
              <p:spPr bwMode="auto">
                <a:xfrm>
                  <a:off x="7896159" y="4520655"/>
                  <a:ext cx="703975" cy="369332"/>
                </a:xfrm>
                <a:prstGeom prst="rect">
                  <a:avLst/>
                </a:prstGeom>
                <a:blipFill>
                  <a:blip r:embed="rId52"/>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6" name="Text Box 27">
                  <a:extLst>
                    <a:ext uri="{FF2B5EF4-FFF2-40B4-BE49-F238E27FC236}">
                      <a16:creationId xmlns:a16="http://schemas.microsoft.com/office/drawing/2014/main" id="{141BFBF3-133F-DF98-0E5A-26F699F6E5FF}"/>
                    </a:ext>
                  </a:extLst>
                </p:cNvPr>
                <p:cNvSpPr txBox="1">
                  <a:spLocks noChangeArrowheads="1"/>
                </p:cNvSpPr>
                <p:nvPr>
                  <p:custDataLst>
                    <p:tags r:id="rId8"/>
                  </p:custDataLst>
                </p:nvPr>
              </p:nvSpPr>
              <p:spPr bwMode="auto">
                <a:xfrm>
                  <a:off x="9445599" y="4520655"/>
                  <a:ext cx="481157"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lumMod val="95000"/>
                                  </a:schemeClr>
                                </a:solidFill>
                                <a:latin typeface="Cambria Math" panose="02040503050406030204" pitchFamily="18" charset="0"/>
                              </a:rPr>
                            </m:ctrlPr>
                          </m:sSubPr>
                          <m:e>
                            <m:r>
                              <a:rPr lang="en-US" b="1" i="1" smtClean="0">
                                <a:solidFill>
                                  <a:schemeClr val="tx1">
                                    <a:lumMod val="95000"/>
                                  </a:schemeClr>
                                </a:solidFill>
                                <a:latin typeface="Cambria Math" panose="02040503050406030204" pitchFamily="18" charset="0"/>
                              </a:rPr>
                              <m:t>𝒄</m:t>
                            </m:r>
                          </m:e>
                          <m:sub>
                            <m:r>
                              <a:rPr lang="en-US" b="1" i="1" smtClean="0">
                                <a:solidFill>
                                  <a:schemeClr val="tx1">
                                    <a:lumMod val="95000"/>
                                  </a:schemeClr>
                                </a:solidFill>
                                <a:latin typeface="Cambria Math" panose="02040503050406030204" pitchFamily="18" charset="0"/>
                              </a:rPr>
                              <m:t>𝒏</m:t>
                            </m:r>
                          </m:sub>
                        </m:sSub>
                      </m:oMath>
                    </m:oMathPara>
                  </a14:m>
                  <a:endParaRPr lang="en-US" b="1" dirty="0">
                    <a:solidFill>
                      <a:schemeClr val="tx1">
                        <a:lumMod val="95000"/>
                      </a:schemeClr>
                    </a:solidFill>
                  </a:endParaRPr>
                </a:p>
              </p:txBody>
            </p:sp>
          </mc:Choice>
          <mc:Fallback xmlns="">
            <p:sp>
              <p:nvSpPr>
                <p:cNvPr id="34826" name="Text Box 27">
                  <a:extLst>
                    <a:ext uri="{FF2B5EF4-FFF2-40B4-BE49-F238E27FC236}">
                      <a16:creationId xmlns:a16="http://schemas.microsoft.com/office/drawing/2014/main" id="{141BFBF3-133F-DF98-0E5A-26F699F6E5FF}"/>
                    </a:ext>
                  </a:extLst>
                </p:cNvPr>
                <p:cNvSpPr txBox="1">
                  <a:spLocks noRot="1" noChangeAspect="1" noMove="1" noResize="1" noEditPoints="1" noAdjustHandles="1" noChangeArrowheads="1" noChangeShapeType="1" noTextEdit="1"/>
                </p:cNvSpPr>
                <p:nvPr>
                  <p:custDataLst>
                    <p:tags r:id="rId53"/>
                  </p:custDataLst>
                </p:nvPr>
              </p:nvSpPr>
              <p:spPr bwMode="auto">
                <a:xfrm>
                  <a:off x="9445599" y="4520655"/>
                  <a:ext cx="481157" cy="369332"/>
                </a:xfrm>
                <a:prstGeom prst="rect">
                  <a:avLst/>
                </a:prstGeom>
                <a:blipFill>
                  <a:blip r:embed="rId54"/>
                  <a:stretch>
                    <a:fillRect/>
                  </a:stretch>
                </a:blipFill>
                <a:ln w="9525">
                  <a:noFill/>
                  <a:miter lim="800000"/>
                  <a:headEnd/>
                  <a:tailEnd/>
                </a:ln>
              </p:spPr>
              <p:txBody>
                <a:bodyPr/>
                <a:lstStyle/>
                <a:p>
                  <a:r>
                    <a:rPr lang="en-US">
                      <a:noFill/>
                    </a:rPr>
                    <a:t> </a:t>
                  </a:r>
                </a:p>
              </p:txBody>
            </p:sp>
          </mc:Fallback>
        </mc:AlternateContent>
      </p:grpSp>
    </p:spTree>
    <p:extLst>
      <p:ext uri="{BB962C8B-B14F-4D97-AF65-F5344CB8AC3E}">
        <p14:creationId xmlns:p14="http://schemas.microsoft.com/office/powerpoint/2010/main" val="2539743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FEE9C-3FD2-B5B2-CDCE-83FC38ADEF48}"/>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8E69EE2C-4869-1C16-3388-033CC9E3BCD2}"/>
              </a:ext>
            </a:extLst>
          </p:cNvPr>
          <p:cNvSpPr>
            <a:spLocks noGrp="1" noChangeArrowheads="1"/>
          </p:cNvSpPr>
          <p:nvPr>
            <p:ph type="title"/>
            <p:custDataLst>
              <p:tags r:id="rId1"/>
            </p:custDataLst>
          </p:nvPr>
        </p:nvSpPr>
        <p:spPr>
          <a:xfrm>
            <a:off x="1141413" y="238124"/>
            <a:ext cx="9905998" cy="713893"/>
          </a:xfrm>
        </p:spPr>
        <p:txBody>
          <a:bodyPr/>
          <a:lstStyle/>
          <a:p>
            <a:pPr algn="ctr" eaLnBrk="1" hangingPunct="1"/>
            <a:r>
              <a:rPr lang="en-US" dirty="0"/>
              <a:t>Optimal Substructure Proof</a:t>
            </a:r>
          </a:p>
        </p:txBody>
      </p:sp>
      <p:sp>
        <p:nvSpPr>
          <p:cNvPr id="34819" name="Rectangle 3">
            <a:extLst>
              <a:ext uri="{FF2B5EF4-FFF2-40B4-BE49-F238E27FC236}">
                <a16:creationId xmlns:a16="http://schemas.microsoft.com/office/drawing/2014/main" id="{6F17D951-B138-421D-6C14-511884A4700B}"/>
              </a:ext>
            </a:extLst>
          </p:cNvPr>
          <p:cNvSpPr>
            <a:spLocks noGrp="1" noChangeArrowheads="1"/>
          </p:cNvSpPr>
          <p:nvPr>
            <p:ph sz="quarter" idx="1"/>
            <p:custDataLst>
              <p:tags r:id="rId2"/>
            </p:custDataLst>
          </p:nvPr>
        </p:nvSpPr>
        <p:spPr>
          <a:xfrm>
            <a:off x="1082673" y="1080868"/>
            <a:ext cx="9905999" cy="443454"/>
          </a:xfrm>
          <a:solidFill>
            <a:schemeClr val="tx1">
              <a:lumMod val="95000"/>
            </a:schemeClr>
          </a:solidFill>
          <a:ln>
            <a:solidFill>
              <a:schemeClr val="bg1"/>
            </a:solidFill>
          </a:ln>
        </p:spPr>
        <p:txBody>
          <a:bodyPr anchor="ctr">
            <a:normAutofit/>
          </a:bodyPr>
          <a:lstStyle/>
          <a:p>
            <a:pPr marL="0" indent="0" eaLnBrk="1" hangingPunct="1">
              <a:buNone/>
            </a:pPr>
            <a:r>
              <a:rPr lang="en-US" sz="1800" dirty="0">
                <a:solidFill>
                  <a:schemeClr val="bg1"/>
                </a:solidFill>
              </a:rPr>
              <a:t>Step 1) Assume, for the sake of contradiction, that </a:t>
            </a:r>
            <a:r>
              <a:rPr lang="en-US" sz="1800" dirty="0">
                <a:solidFill>
                  <a:schemeClr val="accent1"/>
                </a:solidFill>
              </a:rPr>
              <a:t>path P is optimal</a:t>
            </a:r>
            <a:r>
              <a:rPr lang="en-US" sz="1800" dirty="0">
                <a:solidFill>
                  <a:schemeClr val="bg1"/>
                </a:solidFill>
              </a:rPr>
              <a:t>, but </a:t>
            </a:r>
            <a:r>
              <a:rPr lang="en-US" sz="1800" dirty="0">
                <a:solidFill>
                  <a:schemeClr val="accent5"/>
                </a:solidFill>
              </a:rPr>
              <a:t>path P’ is NOT optimal</a:t>
            </a:r>
            <a:r>
              <a:rPr lang="en-US" sz="1800" dirty="0">
                <a:solidFill>
                  <a:schemeClr val="bg1"/>
                </a:solidFill>
              </a:rPr>
              <a:t> </a:t>
            </a:r>
          </a:p>
        </p:txBody>
      </p:sp>
      <p:sp>
        <p:nvSpPr>
          <p:cNvPr id="46" name="TextBox 45">
            <a:extLst>
              <a:ext uri="{FF2B5EF4-FFF2-40B4-BE49-F238E27FC236}">
                <a16:creationId xmlns:a16="http://schemas.microsoft.com/office/drawing/2014/main" id="{C7BB2DAC-3632-1C9B-1912-96475C2A6660}"/>
              </a:ext>
            </a:extLst>
          </p:cNvPr>
          <p:cNvSpPr txBox="1"/>
          <p:nvPr/>
        </p:nvSpPr>
        <p:spPr>
          <a:xfrm>
            <a:off x="2282820" y="2535281"/>
            <a:ext cx="3090226" cy="369332"/>
          </a:xfrm>
          <a:prstGeom prst="rect">
            <a:avLst/>
          </a:prstGeom>
          <a:noFill/>
          <a:ln>
            <a:solidFill>
              <a:schemeClr val="tx1">
                <a:lumMod val="95000"/>
              </a:schemeClr>
            </a:solidFill>
          </a:ln>
        </p:spPr>
        <p:txBody>
          <a:bodyPr wrap="square" rtlCol="0">
            <a:spAutoFit/>
          </a:bodyPr>
          <a:lstStyle/>
          <a:p>
            <a:r>
              <a:rPr lang="en-US" dirty="0"/>
              <a:t>…but this</a:t>
            </a:r>
            <a:r>
              <a:rPr lang="en-US" dirty="0">
                <a:solidFill>
                  <a:schemeClr val="accent5">
                    <a:lumMod val="60000"/>
                    <a:lumOff val="40000"/>
                  </a:schemeClr>
                </a:solidFill>
              </a:rPr>
              <a:t> path IS NOT optimal</a:t>
            </a:r>
            <a:endParaRPr lang="en-US" dirty="0"/>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EDB0ABA6-1917-29F9-22A2-57B15ABA46C5}"/>
                  </a:ext>
                </a:extLst>
              </p:cNvPr>
              <p:cNvSpPr txBox="1">
                <a:spLocks noChangeArrowheads="1"/>
              </p:cNvSpPr>
              <p:nvPr>
                <p:custDataLst>
                  <p:tags r:id="rId3"/>
                </p:custDataLst>
              </p:nvPr>
            </p:nvSpPr>
            <p:spPr>
              <a:xfrm>
                <a:off x="1082673" y="1586566"/>
                <a:ext cx="9905999" cy="443454"/>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bg1"/>
                    </a:solidFill>
                  </a:rPr>
                  <a:t>Step 2) If </a:t>
                </a:r>
                <a:r>
                  <a:rPr lang="en-US" sz="1800" dirty="0">
                    <a:solidFill>
                      <a:schemeClr val="accent5"/>
                    </a:solidFill>
                  </a:rPr>
                  <a:t>path P’ is NOT optimal</a:t>
                </a:r>
                <a:r>
                  <a:rPr lang="en-US" sz="1800" dirty="0">
                    <a:solidFill>
                      <a:schemeClr val="bg1"/>
                    </a:solidFill>
                  </a:rPr>
                  <a:t>, then there exists a better path </a:t>
                </a:r>
                <a:r>
                  <a:rPr lang="en-US" sz="1800" dirty="0">
                    <a:solidFill>
                      <a:schemeClr val="accent3"/>
                    </a:solidFill>
                  </a:rPr>
                  <a:t>P’’ that goes from </a:t>
                </a:r>
                <a14:m>
                  <m:oMath xmlns:m="http://schemas.openxmlformats.org/officeDocument/2006/math">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1</m:t>
                        </m:r>
                      </m:sub>
                    </m:sSub>
                  </m:oMath>
                </a14:m>
                <a:r>
                  <a:rPr lang="en-US" sz="1800" dirty="0">
                    <a:solidFill>
                      <a:schemeClr val="accent3"/>
                    </a:solidFill>
                  </a:rPr>
                  <a:t> to </a:t>
                </a:r>
                <a14:m>
                  <m:oMath xmlns:m="http://schemas.openxmlformats.org/officeDocument/2006/math">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𝑛</m:t>
                        </m:r>
                        <m:r>
                          <a:rPr lang="en-US" sz="1800" b="0" i="1" smtClean="0">
                            <a:solidFill>
                              <a:schemeClr val="accent3"/>
                            </a:solidFill>
                            <a:latin typeface="Cambria Math" panose="02040503050406030204" pitchFamily="18" charset="0"/>
                          </a:rPr>
                          <m:t>−1</m:t>
                        </m:r>
                      </m:sub>
                    </m:sSub>
                  </m:oMath>
                </a14:m>
                <a:endParaRPr lang="en-US" sz="1800" dirty="0">
                  <a:solidFill>
                    <a:schemeClr val="bg1"/>
                  </a:solidFill>
                </a:endParaRPr>
              </a:p>
            </p:txBody>
          </p:sp>
        </mc:Choice>
        <mc:Fallback xmlns="">
          <p:sp>
            <p:nvSpPr>
              <p:cNvPr id="2" name="Rectangle 3">
                <a:extLst>
                  <a:ext uri="{FF2B5EF4-FFF2-40B4-BE49-F238E27FC236}">
                    <a16:creationId xmlns:a16="http://schemas.microsoft.com/office/drawing/2014/main" id="{EDB0ABA6-1917-29F9-22A2-57B15ABA46C5}"/>
                  </a:ext>
                </a:extLst>
              </p:cNvPr>
              <p:cNvSpPr txBox="1">
                <a:spLocks noRot="1" noChangeAspect="1" noMove="1" noResize="1" noEditPoints="1" noAdjustHandles="1" noChangeArrowheads="1" noChangeShapeType="1" noTextEdit="1"/>
              </p:cNvSpPr>
              <p:nvPr>
                <p:custDataLst>
                  <p:tags r:id="rId16"/>
                </p:custDataLst>
              </p:nvPr>
            </p:nvSpPr>
            <p:spPr>
              <a:xfrm>
                <a:off x="1082673" y="1586566"/>
                <a:ext cx="9905999" cy="443454"/>
              </a:xfrm>
              <a:prstGeom prst="rect">
                <a:avLst/>
              </a:prstGeom>
              <a:blipFill>
                <a:blip r:embed="rId17"/>
                <a:stretch>
                  <a:fillRect l="-384" b="-13514"/>
                </a:stretch>
              </a:blipFill>
              <a:ln>
                <a:solidFill>
                  <a:schemeClr val="bg1"/>
                </a:solidFill>
              </a:ln>
            </p:spPr>
            <p:txBody>
              <a:bodyPr/>
              <a:lstStyle/>
              <a:p>
                <a:r>
                  <a:rPr lang="en-US">
                    <a:noFill/>
                  </a:rPr>
                  <a:t> </a:t>
                </a:r>
              </a:p>
            </p:txBody>
          </p:sp>
        </mc:Fallback>
      </mc:AlternateContent>
      <p:grpSp>
        <p:nvGrpSpPr>
          <p:cNvPr id="41" name="Group 40">
            <a:extLst>
              <a:ext uri="{FF2B5EF4-FFF2-40B4-BE49-F238E27FC236}">
                <a16:creationId xmlns:a16="http://schemas.microsoft.com/office/drawing/2014/main" id="{E8D9159E-7A3F-9A7C-10C8-FEAD27A74FFF}"/>
              </a:ext>
            </a:extLst>
          </p:cNvPr>
          <p:cNvGrpSpPr/>
          <p:nvPr/>
        </p:nvGrpSpPr>
        <p:grpSpPr>
          <a:xfrm>
            <a:off x="1524937" y="3107491"/>
            <a:ext cx="8945899" cy="2221097"/>
            <a:chOff x="1524937" y="3107491"/>
            <a:chExt cx="8945899" cy="2221097"/>
          </a:xfrm>
        </p:grpSpPr>
        <mc:AlternateContent xmlns:mc="http://schemas.openxmlformats.org/markup-compatibility/2006" xmlns:a14="http://schemas.microsoft.com/office/drawing/2010/main">
          <mc:Choice Requires="a14">
            <p:sp>
              <p:nvSpPr>
                <p:cNvPr id="49" name="Oval 48">
                  <a:extLst>
                    <a:ext uri="{FF2B5EF4-FFF2-40B4-BE49-F238E27FC236}">
                      <a16:creationId xmlns:a16="http://schemas.microsoft.com/office/drawing/2014/main" id="{60EF40E7-0C40-91AB-9C4F-25E201D846C6}"/>
                    </a:ext>
                  </a:extLst>
                </p:cNvPr>
                <p:cNvSpPr/>
                <p:nvPr/>
              </p:nvSpPr>
              <p:spPr>
                <a:xfrm>
                  <a:off x="1524937" y="3323918"/>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49" name="Oval 48">
                  <a:extLst>
                    <a:ext uri="{FF2B5EF4-FFF2-40B4-BE49-F238E27FC236}">
                      <a16:creationId xmlns:a16="http://schemas.microsoft.com/office/drawing/2014/main" id="{60EF40E7-0C40-91AB-9C4F-25E201D846C6}"/>
                    </a:ext>
                  </a:extLst>
                </p:cNvPr>
                <p:cNvSpPr>
                  <a:spLocks noRot="1" noChangeAspect="1" noMove="1" noResize="1" noEditPoints="1" noAdjustHandles="1" noChangeArrowheads="1" noChangeShapeType="1" noTextEdit="1"/>
                </p:cNvSpPr>
                <p:nvPr/>
              </p:nvSpPr>
              <p:spPr>
                <a:xfrm>
                  <a:off x="1524937" y="3323918"/>
                  <a:ext cx="465931" cy="465931"/>
                </a:xfrm>
                <a:prstGeom prst="ellipse">
                  <a:avLst/>
                </a:prstGeom>
                <a:blipFill>
                  <a:blip r:embed="rId18"/>
                  <a:stretch>
                    <a:fillRect/>
                  </a:stretch>
                </a:blipFill>
                <a:ln>
                  <a:solidFill>
                    <a:schemeClr val="bg1"/>
                  </a:solidFill>
                </a:ln>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CA9A147F-77B0-8706-D612-B14D2FD06619}"/>
                </a:ext>
              </a:extLst>
            </p:cNvPr>
            <p:cNvCxnSpPr>
              <a:cxnSpLocks/>
              <a:stCxn id="49" idx="6"/>
              <a:endCxn id="53" idx="2"/>
            </p:cNvCxnSpPr>
            <p:nvPr/>
          </p:nvCxnSpPr>
          <p:spPr>
            <a:xfrm flipV="1">
              <a:off x="1990868" y="3545008"/>
              <a:ext cx="950135" cy="11876"/>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 Box 27">
                  <a:extLst>
                    <a:ext uri="{FF2B5EF4-FFF2-40B4-BE49-F238E27FC236}">
                      <a16:creationId xmlns:a16="http://schemas.microsoft.com/office/drawing/2014/main" id="{AA1E05C4-A5EB-7FB0-895C-0F28EBB466B1}"/>
                    </a:ext>
                  </a:extLst>
                </p:cNvPr>
                <p:cNvSpPr txBox="1">
                  <a:spLocks noChangeArrowheads="1"/>
                </p:cNvSpPr>
                <p:nvPr>
                  <p:custDataLst>
                    <p:tags r:id="rId4"/>
                  </p:custDataLst>
                </p:nvPr>
              </p:nvSpPr>
              <p:spPr bwMode="auto">
                <a:xfrm>
                  <a:off x="2219965" y="313925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𝟏</m:t>
                            </m:r>
                          </m:sub>
                        </m:sSub>
                      </m:oMath>
                    </m:oMathPara>
                  </a14:m>
                  <a:endParaRPr lang="en-US" b="1" dirty="0">
                    <a:solidFill>
                      <a:schemeClr val="accent5">
                        <a:lumMod val="60000"/>
                        <a:lumOff val="40000"/>
                      </a:schemeClr>
                    </a:solidFill>
                  </a:endParaRPr>
                </a:p>
              </p:txBody>
            </p:sp>
          </mc:Choice>
          <mc:Fallback xmlns="">
            <p:sp>
              <p:nvSpPr>
                <p:cNvPr id="52" name="Text Box 27">
                  <a:extLst>
                    <a:ext uri="{FF2B5EF4-FFF2-40B4-BE49-F238E27FC236}">
                      <a16:creationId xmlns:a16="http://schemas.microsoft.com/office/drawing/2014/main" id="{AA1E05C4-A5EB-7FB0-895C-0F28EBB466B1}"/>
                    </a:ext>
                  </a:extLst>
                </p:cNvPr>
                <p:cNvSpPr txBox="1">
                  <a:spLocks noRot="1" noChangeAspect="1" noMove="1" noResize="1" noEditPoints="1" noAdjustHandles="1" noChangeArrowheads="1" noChangeShapeType="1" noTextEdit="1"/>
                </p:cNvSpPr>
                <p:nvPr>
                  <p:custDataLst>
                    <p:tags r:id="rId19"/>
                  </p:custDataLst>
                </p:nvPr>
              </p:nvSpPr>
              <p:spPr bwMode="auto">
                <a:xfrm>
                  <a:off x="2219965" y="3139252"/>
                  <a:ext cx="473143" cy="369332"/>
                </a:xfrm>
                <a:prstGeom prst="rect">
                  <a:avLst/>
                </a:prstGeom>
                <a:blipFill>
                  <a:blip r:embed="rId20"/>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824B2BE5-01AE-C419-AEF3-8B9FBFCCD760}"/>
                    </a:ext>
                  </a:extLst>
                </p:cNvPr>
                <p:cNvSpPr/>
                <p:nvPr/>
              </p:nvSpPr>
              <p:spPr>
                <a:xfrm>
                  <a:off x="2941003" y="3312042"/>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53" name="Oval 52">
                  <a:extLst>
                    <a:ext uri="{FF2B5EF4-FFF2-40B4-BE49-F238E27FC236}">
                      <a16:creationId xmlns:a16="http://schemas.microsoft.com/office/drawing/2014/main" id="{824B2BE5-01AE-C419-AEF3-8B9FBFCCD760}"/>
                    </a:ext>
                  </a:extLst>
                </p:cNvPr>
                <p:cNvSpPr>
                  <a:spLocks noRot="1" noChangeAspect="1" noMove="1" noResize="1" noEditPoints="1" noAdjustHandles="1" noChangeArrowheads="1" noChangeShapeType="1" noTextEdit="1"/>
                </p:cNvSpPr>
                <p:nvPr/>
              </p:nvSpPr>
              <p:spPr>
                <a:xfrm>
                  <a:off x="2941003" y="3312042"/>
                  <a:ext cx="465931" cy="465931"/>
                </a:xfrm>
                <a:prstGeom prst="ellipse">
                  <a:avLst/>
                </a:prstGeom>
                <a:blipFill>
                  <a:blip r:embed="rId2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Oval 54">
                  <a:extLst>
                    <a:ext uri="{FF2B5EF4-FFF2-40B4-BE49-F238E27FC236}">
                      <a16:creationId xmlns:a16="http://schemas.microsoft.com/office/drawing/2014/main" id="{C13B459B-18C7-A9C9-5CAF-AB99FB8E5239}"/>
                    </a:ext>
                  </a:extLst>
                </p:cNvPr>
                <p:cNvSpPr/>
                <p:nvPr/>
              </p:nvSpPr>
              <p:spPr>
                <a:xfrm>
                  <a:off x="4357069" y="3323918"/>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55" name="Oval 54">
                  <a:extLst>
                    <a:ext uri="{FF2B5EF4-FFF2-40B4-BE49-F238E27FC236}">
                      <a16:creationId xmlns:a16="http://schemas.microsoft.com/office/drawing/2014/main" id="{C13B459B-18C7-A9C9-5CAF-AB99FB8E5239}"/>
                    </a:ext>
                  </a:extLst>
                </p:cNvPr>
                <p:cNvSpPr>
                  <a:spLocks noRot="1" noChangeAspect="1" noMove="1" noResize="1" noEditPoints="1" noAdjustHandles="1" noChangeArrowheads="1" noChangeShapeType="1" noTextEdit="1"/>
                </p:cNvSpPr>
                <p:nvPr/>
              </p:nvSpPr>
              <p:spPr>
                <a:xfrm>
                  <a:off x="4357069" y="3323918"/>
                  <a:ext cx="465931" cy="465931"/>
                </a:xfrm>
                <a:prstGeom prst="ellipse">
                  <a:avLst/>
                </a:prstGeom>
                <a:blipFill>
                  <a:blip r:embed="rId2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19ABC29D-36BF-B7F2-9A43-70C8619FA549}"/>
                    </a:ext>
                  </a:extLst>
                </p:cNvPr>
                <p:cNvSpPr/>
                <p:nvPr/>
              </p:nvSpPr>
              <p:spPr>
                <a:xfrm>
                  <a:off x="5769028" y="3312041"/>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56" name="Oval 55">
                  <a:extLst>
                    <a:ext uri="{FF2B5EF4-FFF2-40B4-BE49-F238E27FC236}">
                      <a16:creationId xmlns:a16="http://schemas.microsoft.com/office/drawing/2014/main" id="{19ABC29D-36BF-B7F2-9A43-70C8619FA549}"/>
                    </a:ext>
                  </a:extLst>
                </p:cNvPr>
                <p:cNvSpPr>
                  <a:spLocks noRot="1" noChangeAspect="1" noMove="1" noResize="1" noEditPoints="1" noAdjustHandles="1" noChangeArrowheads="1" noChangeShapeType="1" noTextEdit="1"/>
                </p:cNvSpPr>
                <p:nvPr/>
              </p:nvSpPr>
              <p:spPr>
                <a:xfrm>
                  <a:off x="5769028" y="3312041"/>
                  <a:ext cx="465931" cy="465931"/>
                </a:xfrm>
                <a:prstGeom prst="ellipse">
                  <a:avLst/>
                </a:prstGeom>
                <a:blipFill>
                  <a:blip r:embed="rId2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806B89B1-5C7C-37AB-F79B-C1FC5A2D936D}"/>
                    </a:ext>
                  </a:extLst>
                </p:cNvPr>
                <p:cNvSpPr/>
                <p:nvPr/>
              </p:nvSpPr>
              <p:spPr>
                <a:xfrm>
                  <a:off x="7180987" y="3312040"/>
                  <a:ext cx="465931" cy="465931"/>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58" name="Oval 57">
                  <a:extLst>
                    <a:ext uri="{FF2B5EF4-FFF2-40B4-BE49-F238E27FC236}">
                      <a16:creationId xmlns:a16="http://schemas.microsoft.com/office/drawing/2014/main" id="{806B89B1-5C7C-37AB-F79B-C1FC5A2D936D}"/>
                    </a:ext>
                  </a:extLst>
                </p:cNvPr>
                <p:cNvSpPr>
                  <a:spLocks noRot="1" noChangeAspect="1" noMove="1" noResize="1" noEditPoints="1" noAdjustHandles="1" noChangeArrowheads="1" noChangeShapeType="1" noTextEdit="1"/>
                </p:cNvSpPr>
                <p:nvPr/>
              </p:nvSpPr>
              <p:spPr>
                <a:xfrm>
                  <a:off x="7180987" y="3312040"/>
                  <a:ext cx="465931" cy="465931"/>
                </a:xfrm>
                <a:prstGeom prst="ellipse">
                  <a:avLst/>
                </a:prstGeom>
                <a:blipFill>
                  <a:blip r:embed="rId2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86EC7600-5939-D9A5-6518-05CB431EB28C}"/>
                    </a:ext>
                  </a:extLst>
                </p:cNvPr>
                <p:cNvSpPr/>
                <p:nvPr/>
              </p:nvSpPr>
              <p:spPr>
                <a:xfrm>
                  <a:off x="8592946" y="3323918"/>
                  <a:ext cx="69092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59" name="Oval 58">
                  <a:extLst>
                    <a:ext uri="{FF2B5EF4-FFF2-40B4-BE49-F238E27FC236}">
                      <a16:creationId xmlns:a16="http://schemas.microsoft.com/office/drawing/2014/main" id="{86EC7600-5939-D9A5-6518-05CB431EB28C}"/>
                    </a:ext>
                  </a:extLst>
                </p:cNvPr>
                <p:cNvSpPr>
                  <a:spLocks noRot="1" noChangeAspect="1" noMove="1" noResize="1" noEditPoints="1" noAdjustHandles="1" noChangeArrowheads="1" noChangeShapeType="1" noTextEdit="1"/>
                </p:cNvSpPr>
                <p:nvPr/>
              </p:nvSpPr>
              <p:spPr>
                <a:xfrm>
                  <a:off x="8592946" y="3323918"/>
                  <a:ext cx="690921" cy="465931"/>
                </a:xfrm>
                <a:prstGeom prst="ellipse">
                  <a:avLst/>
                </a:prstGeom>
                <a:blipFill>
                  <a:blip r:embed="rId2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Oval 60">
                  <a:extLst>
                    <a:ext uri="{FF2B5EF4-FFF2-40B4-BE49-F238E27FC236}">
                      <a16:creationId xmlns:a16="http://schemas.microsoft.com/office/drawing/2014/main" id="{35ED3C22-CFC8-8DEE-50D8-ADA9FC27A71A}"/>
                    </a:ext>
                  </a:extLst>
                </p:cNvPr>
                <p:cNvSpPr/>
                <p:nvPr/>
              </p:nvSpPr>
              <p:spPr>
                <a:xfrm>
                  <a:off x="10004905" y="3312039"/>
                  <a:ext cx="465931" cy="465931"/>
                </a:xfrm>
                <a:prstGeom prst="ellipse">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61" name="Oval 60">
                  <a:extLst>
                    <a:ext uri="{FF2B5EF4-FFF2-40B4-BE49-F238E27FC236}">
                      <a16:creationId xmlns:a16="http://schemas.microsoft.com/office/drawing/2014/main" id="{35ED3C22-CFC8-8DEE-50D8-ADA9FC27A71A}"/>
                    </a:ext>
                  </a:extLst>
                </p:cNvPr>
                <p:cNvSpPr>
                  <a:spLocks noRot="1" noChangeAspect="1" noMove="1" noResize="1" noEditPoints="1" noAdjustHandles="1" noChangeArrowheads="1" noChangeShapeType="1" noTextEdit="1"/>
                </p:cNvSpPr>
                <p:nvPr/>
              </p:nvSpPr>
              <p:spPr>
                <a:xfrm>
                  <a:off x="10004905" y="3312039"/>
                  <a:ext cx="465931" cy="465931"/>
                </a:xfrm>
                <a:prstGeom prst="ellipse">
                  <a:avLst/>
                </a:prstGeom>
                <a:blipFill>
                  <a:blip r:embed="rId26"/>
                  <a:stretch>
                    <a:fillRect/>
                  </a:stretch>
                </a:blipFill>
                <a:ln>
                  <a:solidFill>
                    <a:schemeClr val="bg1"/>
                  </a:solidFill>
                </a:ln>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FDD49A13-EE5B-3BC6-4599-ACABD4456F87}"/>
                </a:ext>
              </a:extLst>
            </p:cNvPr>
            <p:cNvCxnSpPr>
              <a:cxnSpLocks/>
              <a:stCxn id="53" idx="6"/>
              <a:endCxn id="55" idx="2"/>
            </p:cNvCxnSpPr>
            <p:nvPr/>
          </p:nvCxnSpPr>
          <p:spPr>
            <a:xfrm>
              <a:off x="3406934" y="3545008"/>
              <a:ext cx="950135" cy="11876"/>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16" name="Straight Arrow Connector 34815">
              <a:extLst>
                <a:ext uri="{FF2B5EF4-FFF2-40B4-BE49-F238E27FC236}">
                  <a16:creationId xmlns:a16="http://schemas.microsoft.com/office/drawing/2014/main" id="{913F33FA-32D1-9030-3D35-908730C3CEBF}"/>
                </a:ext>
              </a:extLst>
            </p:cNvPr>
            <p:cNvCxnSpPr>
              <a:cxnSpLocks/>
              <a:stCxn id="55" idx="6"/>
              <a:endCxn id="56" idx="2"/>
            </p:cNvCxnSpPr>
            <p:nvPr/>
          </p:nvCxnSpPr>
          <p:spPr>
            <a:xfrm flipV="1">
              <a:off x="4823000" y="3545007"/>
              <a:ext cx="946028" cy="11877"/>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17" name="Straight Arrow Connector 34816">
              <a:extLst>
                <a:ext uri="{FF2B5EF4-FFF2-40B4-BE49-F238E27FC236}">
                  <a16:creationId xmlns:a16="http://schemas.microsoft.com/office/drawing/2014/main" id="{6FDD79C8-CF7D-5714-8961-2DC8E85BD742}"/>
                </a:ext>
              </a:extLst>
            </p:cNvPr>
            <p:cNvCxnSpPr>
              <a:cxnSpLocks/>
              <a:stCxn id="56" idx="6"/>
              <a:endCxn id="58" idx="2"/>
            </p:cNvCxnSpPr>
            <p:nvPr/>
          </p:nvCxnSpPr>
          <p:spPr>
            <a:xfrm flipV="1">
              <a:off x="6234959" y="3545006"/>
              <a:ext cx="946028" cy="1"/>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20" name="Straight Arrow Connector 34819">
              <a:extLst>
                <a:ext uri="{FF2B5EF4-FFF2-40B4-BE49-F238E27FC236}">
                  <a16:creationId xmlns:a16="http://schemas.microsoft.com/office/drawing/2014/main" id="{4308DC85-6E9F-1DAF-07B3-DECE694C2E50}"/>
                </a:ext>
              </a:extLst>
            </p:cNvPr>
            <p:cNvCxnSpPr>
              <a:cxnSpLocks/>
              <a:stCxn id="58" idx="6"/>
              <a:endCxn id="59" idx="2"/>
            </p:cNvCxnSpPr>
            <p:nvPr/>
          </p:nvCxnSpPr>
          <p:spPr>
            <a:xfrm>
              <a:off x="7646918" y="3545006"/>
              <a:ext cx="946028" cy="11878"/>
            </a:xfrm>
            <a:prstGeom prst="straightConnector1">
              <a:avLst/>
            </a:prstGeom>
            <a:ln>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21" name="Straight Arrow Connector 34820">
              <a:extLst>
                <a:ext uri="{FF2B5EF4-FFF2-40B4-BE49-F238E27FC236}">
                  <a16:creationId xmlns:a16="http://schemas.microsoft.com/office/drawing/2014/main" id="{6CE5482A-7EB0-C135-D8CD-12283026E28F}"/>
                </a:ext>
              </a:extLst>
            </p:cNvPr>
            <p:cNvCxnSpPr>
              <a:cxnSpLocks/>
              <a:stCxn id="59" idx="6"/>
              <a:endCxn id="61" idx="2"/>
            </p:cNvCxnSpPr>
            <p:nvPr/>
          </p:nvCxnSpPr>
          <p:spPr>
            <a:xfrm flipV="1">
              <a:off x="9283867" y="3545005"/>
              <a:ext cx="721038" cy="118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822" name="Text Box 27">
                  <a:extLst>
                    <a:ext uri="{FF2B5EF4-FFF2-40B4-BE49-F238E27FC236}">
                      <a16:creationId xmlns:a16="http://schemas.microsoft.com/office/drawing/2014/main" id="{DC7D3762-85AC-6048-17E6-3D28E138CB9F}"/>
                    </a:ext>
                  </a:extLst>
                </p:cNvPr>
                <p:cNvSpPr txBox="1">
                  <a:spLocks noChangeArrowheads="1"/>
                </p:cNvSpPr>
                <p:nvPr>
                  <p:custDataLst>
                    <p:tags r:id="rId5"/>
                  </p:custDataLst>
                </p:nvPr>
              </p:nvSpPr>
              <p:spPr bwMode="auto">
                <a:xfrm>
                  <a:off x="3606788" y="311343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𝟐</m:t>
                            </m:r>
                          </m:sub>
                        </m:sSub>
                      </m:oMath>
                    </m:oMathPara>
                  </a14:m>
                  <a:endParaRPr lang="en-US" b="1" dirty="0">
                    <a:solidFill>
                      <a:schemeClr val="accent5">
                        <a:lumMod val="60000"/>
                        <a:lumOff val="40000"/>
                      </a:schemeClr>
                    </a:solidFill>
                  </a:endParaRPr>
                </a:p>
              </p:txBody>
            </p:sp>
          </mc:Choice>
          <mc:Fallback xmlns="">
            <p:sp>
              <p:nvSpPr>
                <p:cNvPr id="34822" name="Text Box 27">
                  <a:extLst>
                    <a:ext uri="{FF2B5EF4-FFF2-40B4-BE49-F238E27FC236}">
                      <a16:creationId xmlns:a16="http://schemas.microsoft.com/office/drawing/2014/main" id="{DC7D3762-85AC-6048-17E6-3D28E138CB9F}"/>
                    </a:ext>
                  </a:extLst>
                </p:cNvPr>
                <p:cNvSpPr txBox="1">
                  <a:spLocks noRot="1" noChangeAspect="1" noMove="1" noResize="1" noEditPoints="1" noAdjustHandles="1" noChangeArrowheads="1" noChangeShapeType="1" noTextEdit="1"/>
                </p:cNvSpPr>
                <p:nvPr>
                  <p:custDataLst>
                    <p:tags r:id="rId27"/>
                  </p:custDataLst>
                </p:nvPr>
              </p:nvSpPr>
              <p:spPr bwMode="auto">
                <a:xfrm>
                  <a:off x="3606788" y="3113431"/>
                  <a:ext cx="473143" cy="369332"/>
                </a:xfrm>
                <a:prstGeom prst="rect">
                  <a:avLst/>
                </a:prstGeom>
                <a:blipFill>
                  <a:blip r:embed="rId28"/>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3" name="Text Box 27">
                  <a:extLst>
                    <a:ext uri="{FF2B5EF4-FFF2-40B4-BE49-F238E27FC236}">
                      <a16:creationId xmlns:a16="http://schemas.microsoft.com/office/drawing/2014/main" id="{F5C8C64D-55B2-8C08-EC8D-4F50353B9482}"/>
                    </a:ext>
                  </a:extLst>
                </p:cNvPr>
                <p:cNvSpPr txBox="1">
                  <a:spLocks noChangeArrowheads="1"/>
                </p:cNvSpPr>
                <p:nvPr>
                  <p:custDataLst>
                    <p:tags r:id="rId6"/>
                  </p:custDataLst>
                </p:nvPr>
              </p:nvSpPr>
              <p:spPr bwMode="auto">
                <a:xfrm>
                  <a:off x="5019030" y="311343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𝟑</m:t>
                            </m:r>
                          </m:sub>
                        </m:sSub>
                      </m:oMath>
                    </m:oMathPara>
                  </a14:m>
                  <a:endParaRPr lang="en-US" b="1" dirty="0">
                    <a:solidFill>
                      <a:schemeClr val="accent5">
                        <a:lumMod val="60000"/>
                        <a:lumOff val="40000"/>
                      </a:schemeClr>
                    </a:solidFill>
                  </a:endParaRPr>
                </a:p>
              </p:txBody>
            </p:sp>
          </mc:Choice>
          <mc:Fallback xmlns="">
            <p:sp>
              <p:nvSpPr>
                <p:cNvPr id="34823" name="Text Box 27">
                  <a:extLst>
                    <a:ext uri="{FF2B5EF4-FFF2-40B4-BE49-F238E27FC236}">
                      <a16:creationId xmlns:a16="http://schemas.microsoft.com/office/drawing/2014/main" id="{F5C8C64D-55B2-8C08-EC8D-4F50353B9482}"/>
                    </a:ext>
                  </a:extLst>
                </p:cNvPr>
                <p:cNvSpPr txBox="1">
                  <a:spLocks noRot="1" noChangeAspect="1" noMove="1" noResize="1" noEditPoints="1" noAdjustHandles="1" noChangeArrowheads="1" noChangeShapeType="1" noTextEdit="1"/>
                </p:cNvSpPr>
                <p:nvPr>
                  <p:custDataLst>
                    <p:tags r:id="rId29"/>
                  </p:custDataLst>
                </p:nvPr>
              </p:nvSpPr>
              <p:spPr bwMode="auto">
                <a:xfrm>
                  <a:off x="5019030" y="3113431"/>
                  <a:ext cx="473143" cy="369332"/>
                </a:xfrm>
                <a:prstGeom prst="rect">
                  <a:avLst/>
                </a:prstGeom>
                <a:blipFill>
                  <a:blip r:embed="rId30"/>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4" name="Text Box 27">
                  <a:extLst>
                    <a:ext uri="{FF2B5EF4-FFF2-40B4-BE49-F238E27FC236}">
                      <a16:creationId xmlns:a16="http://schemas.microsoft.com/office/drawing/2014/main" id="{6B6F3DD1-4E88-284B-E51A-D9A0B3DDA335}"/>
                    </a:ext>
                  </a:extLst>
                </p:cNvPr>
                <p:cNvSpPr txBox="1">
                  <a:spLocks noChangeArrowheads="1"/>
                </p:cNvSpPr>
                <p:nvPr>
                  <p:custDataLst>
                    <p:tags r:id="rId7"/>
                  </p:custDataLst>
                </p:nvPr>
              </p:nvSpPr>
              <p:spPr bwMode="auto">
                <a:xfrm>
                  <a:off x="6446132" y="310749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𝟒</m:t>
                            </m:r>
                          </m:sub>
                        </m:sSub>
                      </m:oMath>
                    </m:oMathPara>
                  </a14:m>
                  <a:endParaRPr lang="en-US" b="1" dirty="0">
                    <a:solidFill>
                      <a:schemeClr val="accent5">
                        <a:lumMod val="60000"/>
                        <a:lumOff val="40000"/>
                      </a:schemeClr>
                    </a:solidFill>
                  </a:endParaRPr>
                </a:p>
              </p:txBody>
            </p:sp>
          </mc:Choice>
          <mc:Fallback xmlns="">
            <p:sp>
              <p:nvSpPr>
                <p:cNvPr id="34824" name="Text Box 27">
                  <a:extLst>
                    <a:ext uri="{FF2B5EF4-FFF2-40B4-BE49-F238E27FC236}">
                      <a16:creationId xmlns:a16="http://schemas.microsoft.com/office/drawing/2014/main" id="{6B6F3DD1-4E88-284B-E51A-D9A0B3DDA335}"/>
                    </a:ext>
                  </a:extLst>
                </p:cNvPr>
                <p:cNvSpPr txBox="1">
                  <a:spLocks noRot="1" noChangeAspect="1" noMove="1" noResize="1" noEditPoints="1" noAdjustHandles="1" noChangeArrowheads="1" noChangeShapeType="1" noTextEdit="1"/>
                </p:cNvSpPr>
                <p:nvPr>
                  <p:custDataLst>
                    <p:tags r:id="rId31"/>
                  </p:custDataLst>
                </p:nvPr>
              </p:nvSpPr>
              <p:spPr bwMode="auto">
                <a:xfrm>
                  <a:off x="6446132" y="3107491"/>
                  <a:ext cx="473143" cy="369332"/>
                </a:xfrm>
                <a:prstGeom prst="rect">
                  <a:avLst/>
                </a:prstGeom>
                <a:blipFill>
                  <a:blip r:embed="rId32"/>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5" name="Text Box 27">
                  <a:extLst>
                    <a:ext uri="{FF2B5EF4-FFF2-40B4-BE49-F238E27FC236}">
                      <a16:creationId xmlns:a16="http://schemas.microsoft.com/office/drawing/2014/main" id="{2AFD33E3-FC71-5B47-8E42-FAB756474603}"/>
                    </a:ext>
                  </a:extLst>
                </p:cNvPr>
                <p:cNvSpPr txBox="1">
                  <a:spLocks noChangeArrowheads="1"/>
                </p:cNvSpPr>
                <p:nvPr>
                  <p:custDataLst>
                    <p:tags r:id="rId8"/>
                  </p:custDataLst>
                </p:nvPr>
              </p:nvSpPr>
              <p:spPr bwMode="auto">
                <a:xfrm>
                  <a:off x="7858374" y="3107491"/>
                  <a:ext cx="703975"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5">
                                    <a:lumMod val="60000"/>
                                    <a:lumOff val="40000"/>
                                  </a:schemeClr>
                                </a:solidFill>
                                <a:latin typeface="Cambria Math" panose="02040503050406030204" pitchFamily="18" charset="0"/>
                              </a:rPr>
                            </m:ctrlPr>
                          </m:sSubPr>
                          <m:e>
                            <m:r>
                              <a:rPr lang="en-US" b="1" i="1" smtClean="0">
                                <a:solidFill>
                                  <a:schemeClr val="accent5">
                                    <a:lumMod val="60000"/>
                                    <a:lumOff val="40000"/>
                                  </a:schemeClr>
                                </a:solidFill>
                                <a:latin typeface="Cambria Math" panose="02040503050406030204" pitchFamily="18" charset="0"/>
                              </a:rPr>
                              <m:t>𝒄</m:t>
                            </m:r>
                          </m:e>
                          <m:sub>
                            <m:r>
                              <a:rPr lang="en-US" b="1" i="1" smtClean="0">
                                <a:solidFill>
                                  <a:schemeClr val="accent5">
                                    <a:lumMod val="60000"/>
                                    <a:lumOff val="40000"/>
                                  </a:schemeClr>
                                </a:solidFill>
                                <a:latin typeface="Cambria Math" panose="02040503050406030204" pitchFamily="18" charset="0"/>
                              </a:rPr>
                              <m:t>𝒏</m:t>
                            </m:r>
                            <m:r>
                              <a:rPr lang="en-US" b="1" i="1" smtClean="0">
                                <a:solidFill>
                                  <a:schemeClr val="accent5">
                                    <a:lumMod val="60000"/>
                                    <a:lumOff val="40000"/>
                                  </a:schemeClr>
                                </a:solidFill>
                                <a:latin typeface="Cambria Math" panose="02040503050406030204" pitchFamily="18" charset="0"/>
                              </a:rPr>
                              <m:t>−</m:t>
                            </m:r>
                            <m:r>
                              <a:rPr lang="en-US" b="1" i="1" smtClean="0">
                                <a:solidFill>
                                  <a:schemeClr val="accent5">
                                    <a:lumMod val="60000"/>
                                    <a:lumOff val="40000"/>
                                  </a:schemeClr>
                                </a:solidFill>
                                <a:latin typeface="Cambria Math" panose="02040503050406030204" pitchFamily="18" charset="0"/>
                              </a:rPr>
                              <m:t>𝟏</m:t>
                            </m:r>
                          </m:sub>
                        </m:sSub>
                      </m:oMath>
                    </m:oMathPara>
                  </a14:m>
                  <a:endParaRPr lang="en-US" b="1" dirty="0">
                    <a:solidFill>
                      <a:schemeClr val="accent5">
                        <a:lumMod val="60000"/>
                        <a:lumOff val="40000"/>
                      </a:schemeClr>
                    </a:solidFill>
                  </a:endParaRPr>
                </a:p>
              </p:txBody>
            </p:sp>
          </mc:Choice>
          <mc:Fallback xmlns="">
            <p:sp>
              <p:nvSpPr>
                <p:cNvPr id="34825" name="Text Box 27">
                  <a:extLst>
                    <a:ext uri="{FF2B5EF4-FFF2-40B4-BE49-F238E27FC236}">
                      <a16:creationId xmlns:a16="http://schemas.microsoft.com/office/drawing/2014/main" id="{2AFD33E3-FC71-5B47-8E42-FAB756474603}"/>
                    </a:ext>
                  </a:extLst>
                </p:cNvPr>
                <p:cNvSpPr txBox="1">
                  <a:spLocks noRot="1" noChangeAspect="1" noMove="1" noResize="1" noEditPoints="1" noAdjustHandles="1" noChangeArrowheads="1" noChangeShapeType="1" noTextEdit="1"/>
                </p:cNvSpPr>
                <p:nvPr>
                  <p:custDataLst>
                    <p:tags r:id="rId33"/>
                  </p:custDataLst>
                </p:nvPr>
              </p:nvSpPr>
              <p:spPr bwMode="auto">
                <a:xfrm>
                  <a:off x="7858374" y="3107491"/>
                  <a:ext cx="703975" cy="369332"/>
                </a:xfrm>
                <a:prstGeom prst="rect">
                  <a:avLst/>
                </a:prstGeom>
                <a:blipFill>
                  <a:blip r:embed="rId34"/>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6" name="Text Box 27">
                  <a:extLst>
                    <a:ext uri="{FF2B5EF4-FFF2-40B4-BE49-F238E27FC236}">
                      <a16:creationId xmlns:a16="http://schemas.microsoft.com/office/drawing/2014/main" id="{4742AB4A-08FA-43E2-CB58-80C051FC5147}"/>
                    </a:ext>
                  </a:extLst>
                </p:cNvPr>
                <p:cNvSpPr txBox="1">
                  <a:spLocks noChangeArrowheads="1"/>
                </p:cNvSpPr>
                <p:nvPr>
                  <p:custDataLst>
                    <p:tags r:id="rId9"/>
                  </p:custDataLst>
                </p:nvPr>
              </p:nvSpPr>
              <p:spPr bwMode="auto">
                <a:xfrm>
                  <a:off x="9407814" y="3107491"/>
                  <a:ext cx="481157"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lumMod val="95000"/>
                                  </a:schemeClr>
                                </a:solidFill>
                                <a:latin typeface="Cambria Math" panose="02040503050406030204" pitchFamily="18" charset="0"/>
                              </a:rPr>
                            </m:ctrlPr>
                          </m:sSubPr>
                          <m:e>
                            <m:r>
                              <a:rPr lang="en-US" b="1" i="1" smtClean="0">
                                <a:solidFill>
                                  <a:schemeClr val="tx1">
                                    <a:lumMod val="95000"/>
                                  </a:schemeClr>
                                </a:solidFill>
                                <a:latin typeface="Cambria Math" panose="02040503050406030204" pitchFamily="18" charset="0"/>
                              </a:rPr>
                              <m:t>𝒄</m:t>
                            </m:r>
                          </m:e>
                          <m:sub>
                            <m:r>
                              <a:rPr lang="en-US" b="1" i="1" smtClean="0">
                                <a:solidFill>
                                  <a:schemeClr val="tx1">
                                    <a:lumMod val="95000"/>
                                  </a:schemeClr>
                                </a:solidFill>
                                <a:latin typeface="Cambria Math" panose="02040503050406030204" pitchFamily="18" charset="0"/>
                              </a:rPr>
                              <m:t>𝒏</m:t>
                            </m:r>
                          </m:sub>
                        </m:sSub>
                      </m:oMath>
                    </m:oMathPara>
                  </a14:m>
                  <a:endParaRPr lang="en-US" b="1" dirty="0">
                    <a:solidFill>
                      <a:schemeClr val="tx1">
                        <a:lumMod val="95000"/>
                      </a:schemeClr>
                    </a:solidFill>
                  </a:endParaRPr>
                </a:p>
              </p:txBody>
            </p:sp>
          </mc:Choice>
          <mc:Fallback xmlns="">
            <p:sp>
              <p:nvSpPr>
                <p:cNvPr id="34826" name="Text Box 27">
                  <a:extLst>
                    <a:ext uri="{FF2B5EF4-FFF2-40B4-BE49-F238E27FC236}">
                      <a16:creationId xmlns:a16="http://schemas.microsoft.com/office/drawing/2014/main" id="{4742AB4A-08FA-43E2-CB58-80C051FC5147}"/>
                    </a:ext>
                  </a:extLst>
                </p:cNvPr>
                <p:cNvSpPr txBox="1">
                  <a:spLocks noRot="1" noChangeAspect="1" noMove="1" noResize="1" noEditPoints="1" noAdjustHandles="1" noChangeArrowheads="1" noChangeShapeType="1" noTextEdit="1"/>
                </p:cNvSpPr>
                <p:nvPr>
                  <p:custDataLst>
                    <p:tags r:id="rId35"/>
                  </p:custDataLst>
                </p:nvPr>
              </p:nvSpPr>
              <p:spPr bwMode="auto">
                <a:xfrm>
                  <a:off x="9407814" y="3107491"/>
                  <a:ext cx="481157" cy="369332"/>
                </a:xfrm>
                <a:prstGeom prst="rect">
                  <a:avLst/>
                </a:prstGeom>
                <a:blipFill>
                  <a:blip r:embed="rId36"/>
                  <a:stretch>
                    <a:fillRect/>
                  </a:stretch>
                </a:blipFill>
                <a:ln w="9525">
                  <a:noFill/>
                  <a:miter lim="800000"/>
                  <a:headEnd/>
                  <a:tailEnd/>
                </a:ln>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BEE259F2-7B19-71DF-BF23-7B881A569FC9}"/>
                </a:ext>
              </a:extLst>
            </p:cNvPr>
            <p:cNvCxnSpPr>
              <a:cxnSpLocks/>
              <a:stCxn id="49" idx="4"/>
              <a:endCxn id="6" idx="1"/>
            </p:cNvCxnSpPr>
            <p:nvPr/>
          </p:nvCxnSpPr>
          <p:spPr>
            <a:xfrm>
              <a:off x="1757903" y="3789849"/>
              <a:ext cx="1539761" cy="1129166"/>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 Box 27">
                  <a:extLst>
                    <a:ext uri="{FF2B5EF4-FFF2-40B4-BE49-F238E27FC236}">
                      <a16:creationId xmlns:a16="http://schemas.microsoft.com/office/drawing/2014/main" id="{D6474C11-7B5D-7949-4506-E62A474727B1}"/>
                    </a:ext>
                  </a:extLst>
                </p:cNvPr>
                <p:cNvSpPr txBox="1">
                  <a:spLocks noChangeArrowheads="1"/>
                </p:cNvSpPr>
                <p:nvPr>
                  <p:custDataLst>
                    <p:tags r:id="rId10"/>
                  </p:custDataLst>
                </p:nvPr>
              </p:nvSpPr>
              <p:spPr bwMode="auto">
                <a:xfrm>
                  <a:off x="2142245" y="4276898"/>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𝟓</m:t>
                            </m:r>
                          </m:sub>
                        </m:sSub>
                      </m:oMath>
                    </m:oMathPara>
                  </a14:m>
                  <a:endParaRPr lang="en-US" b="1" dirty="0">
                    <a:solidFill>
                      <a:schemeClr val="accent3">
                        <a:lumMod val="60000"/>
                        <a:lumOff val="40000"/>
                      </a:schemeClr>
                    </a:solidFill>
                  </a:endParaRPr>
                </a:p>
              </p:txBody>
            </p:sp>
          </mc:Choice>
          <mc:Fallback xmlns="">
            <p:sp>
              <p:nvSpPr>
                <p:cNvPr id="5" name="Text Box 27">
                  <a:extLst>
                    <a:ext uri="{FF2B5EF4-FFF2-40B4-BE49-F238E27FC236}">
                      <a16:creationId xmlns:a16="http://schemas.microsoft.com/office/drawing/2014/main" id="{D6474C11-7B5D-7949-4506-E62A474727B1}"/>
                    </a:ext>
                  </a:extLst>
                </p:cNvPr>
                <p:cNvSpPr txBox="1">
                  <a:spLocks noRot="1" noChangeAspect="1" noMove="1" noResize="1" noEditPoints="1" noAdjustHandles="1" noChangeArrowheads="1" noChangeShapeType="1" noTextEdit="1"/>
                </p:cNvSpPr>
                <p:nvPr>
                  <p:custDataLst>
                    <p:tags r:id="rId37"/>
                  </p:custDataLst>
                </p:nvPr>
              </p:nvSpPr>
              <p:spPr bwMode="auto">
                <a:xfrm>
                  <a:off x="2142245" y="4276898"/>
                  <a:ext cx="473143" cy="369332"/>
                </a:xfrm>
                <a:prstGeom prst="rect">
                  <a:avLst/>
                </a:prstGeom>
                <a:blipFill>
                  <a:blip r:embed="rId38"/>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DF240FDB-70F0-9D37-08E3-5A5216F2AE2F}"/>
                    </a:ext>
                  </a:extLst>
                </p:cNvPr>
                <p:cNvSpPr/>
                <p:nvPr/>
              </p:nvSpPr>
              <p:spPr>
                <a:xfrm>
                  <a:off x="3229430" y="4850781"/>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6" name="Oval 5">
                  <a:extLst>
                    <a:ext uri="{FF2B5EF4-FFF2-40B4-BE49-F238E27FC236}">
                      <a16:creationId xmlns:a16="http://schemas.microsoft.com/office/drawing/2014/main" id="{DF240FDB-70F0-9D37-08E3-5A5216F2AE2F}"/>
                    </a:ext>
                  </a:extLst>
                </p:cNvPr>
                <p:cNvSpPr>
                  <a:spLocks noRot="1" noChangeAspect="1" noMove="1" noResize="1" noEditPoints="1" noAdjustHandles="1" noChangeArrowheads="1" noChangeShapeType="1" noTextEdit="1"/>
                </p:cNvSpPr>
                <p:nvPr/>
              </p:nvSpPr>
              <p:spPr>
                <a:xfrm>
                  <a:off x="3229430" y="4850781"/>
                  <a:ext cx="465931" cy="465931"/>
                </a:xfrm>
                <a:prstGeom prst="ellipse">
                  <a:avLst/>
                </a:prstGeom>
                <a:blipFill>
                  <a:blip r:embed="rId3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413351A8-A22A-15C8-8958-341048C367FA}"/>
                    </a:ext>
                  </a:extLst>
                </p:cNvPr>
                <p:cNvSpPr/>
                <p:nvPr/>
              </p:nvSpPr>
              <p:spPr>
                <a:xfrm>
                  <a:off x="4645496" y="4862657"/>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6</m:t>
                            </m:r>
                          </m:sub>
                        </m:sSub>
                      </m:oMath>
                    </m:oMathPara>
                  </a14:m>
                  <a:endParaRPr lang="en-US" dirty="0">
                    <a:solidFill>
                      <a:schemeClr val="bg1"/>
                    </a:solidFill>
                  </a:endParaRPr>
                </a:p>
              </p:txBody>
            </p:sp>
          </mc:Choice>
          <mc:Fallback xmlns="">
            <p:sp>
              <p:nvSpPr>
                <p:cNvPr id="8" name="Oval 7">
                  <a:extLst>
                    <a:ext uri="{FF2B5EF4-FFF2-40B4-BE49-F238E27FC236}">
                      <a16:creationId xmlns:a16="http://schemas.microsoft.com/office/drawing/2014/main" id="{413351A8-A22A-15C8-8958-341048C367FA}"/>
                    </a:ext>
                  </a:extLst>
                </p:cNvPr>
                <p:cNvSpPr>
                  <a:spLocks noRot="1" noChangeAspect="1" noMove="1" noResize="1" noEditPoints="1" noAdjustHandles="1" noChangeArrowheads="1" noChangeShapeType="1" noTextEdit="1"/>
                </p:cNvSpPr>
                <p:nvPr/>
              </p:nvSpPr>
              <p:spPr>
                <a:xfrm>
                  <a:off x="4645496" y="4862657"/>
                  <a:ext cx="465931" cy="465931"/>
                </a:xfrm>
                <a:prstGeom prst="ellipse">
                  <a:avLst/>
                </a:prstGeom>
                <a:blipFill>
                  <a:blip r:embed="rId4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856404B0-EBF0-0F99-92D5-F05C47FC59D8}"/>
                    </a:ext>
                  </a:extLst>
                </p:cNvPr>
                <p:cNvSpPr/>
                <p:nvPr/>
              </p:nvSpPr>
              <p:spPr>
                <a:xfrm>
                  <a:off x="6057455" y="4850780"/>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7</m:t>
                            </m:r>
                          </m:sub>
                        </m:sSub>
                      </m:oMath>
                    </m:oMathPara>
                  </a14:m>
                  <a:endParaRPr lang="en-US" dirty="0">
                    <a:solidFill>
                      <a:schemeClr val="bg1"/>
                    </a:solidFill>
                  </a:endParaRPr>
                </a:p>
              </p:txBody>
            </p:sp>
          </mc:Choice>
          <mc:Fallback xmlns="">
            <p:sp>
              <p:nvSpPr>
                <p:cNvPr id="9" name="Oval 8">
                  <a:extLst>
                    <a:ext uri="{FF2B5EF4-FFF2-40B4-BE49-F238E27FC236}">
                      <a16:creationId xmlns:a16="http://schemas.microsoft.com/office/drawing/2014/main" id="{856404B0-EBF0-0F99-92D5-F05C47FC59D8}"/>
                    </a:ext>
                  </a:extLst>
                </p:cNvPr>
                <p:cNvSpPr>
                  <a:spLocks noRot="1" noChangeAspect="1" noMove="1" noResize="1" noEditPoints="1" noAdjustHandles="1" noChangeArrowheads="1" noChangeShapeType="1" noTextEdit="1"/>
                </p:cNvSpPr>
                <p:nvPr/>
              </p:nvSpPr>
              <p:spPr>
                <a:xfrm>
                  <a:off x="6057455" y="4850780"/>
                  <a:ext cx="465931" cy="465931"/>
                </a:xfrm>
                <a:prstGeom prst="ellipse">
                  <a:avLst/>
                </a:prstGeom>
                <a:blipFill>
                  <a:blip r:embed="rId4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C7AADDBE-A9E0-CB49-61FF-D629640C6E99}"/>
                    </a:ext>
                  </a:extLst>
                </p:cNvPr>
                <p:cNvSpPr/>
                <p:nvPr/>
              </p:nvSpPr>
              <p:spPr>
                <a:xfrm>
                  <a:off x="7469414" y="4850779"/>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14" name="Oval 13">
                  <a:extLst>
                    <a:ext uri="{FF2B5EF4-FFF2-40B4-BE49-F238E27FC236}">
                      <a16:creationId xmlns:a16="http://schemas.microsoft.com/office/drawing/2014/main" id="{C7AADDBE-A9E0-CB49-61FF-D629640C6E99}"/>
                    </a:ext>
                  </a:extLst>
                </p:cNvPr>
                <p:cNvSpPr>
                  <a:spLocks noRot="1" noChangeAspect="1" noMove="1" noResize="1" noEditPoints="1" noAdjustHandles="1" noChangeArrowheads="1" noChangeShapeType="1" noTextEdit="1"/>
                </p:cNvSpPr>
                <p:nvPr/>
              </p:nvSpPr>
              <p:spPr>
                <a:xfrm>
                  <a:off x="7469414" y="4850779"/>
                  <a:ext cx="465931" cy="465931"/>
                </a:xfrm>
                <a:prstGeom prst="ellipse">
                  <a:avLst/>
                </a:prstGeom>
                <a:blipFill>
                  <a:blip r:embed="rId42"/>
                  <a:stretch>
                    <a:fillRect/>
                  </a:stretch>
                </a:blipFill>
                <a:ln>
                  <a:solidFill>
                    <a:schemeClr val="bg1"/>
                  </a:solidFill>
                </a:ln>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FCC61A56-0346-3703-AFBC-6F5A6C5E53A9}"/>
                </a:ext>
              </a:extLst>
            </p:cNvPr>
            <p:cNvCxnSpPr>
              <a:cxnSpLocks/>
              <a:stCxn id="6" idx="6"/>
              <a:endCxn id="8" idx="2"/>
            </p:cNvCxnSpPr>
            <p:nvPr/>
          </p:nvCxnSpPr>
          <p:spPr>
            <a:xfrm>
              <a:off x="3695361" y="5083747"/>
              <a:ext cx="950135" cy="11876"/>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542239-BD09-A4D7-4A62-038A133BC8EE}"/>
                </a:ext>
              </a:extLst>
            </p:cNvPr>
            <p:cNvCxnSpPr>
              <a:cxnSpLocks/>
              <a:stCxn id="8" idx="6"/>
              <a:endCxn id="9" idx="2"/>
            </p:cNvCxnSpPr>
            <p:nvPr/>
          </p:nvCxnSpPr>
          <p:spPr>
            <a:xfrm flipV="1">
              <a:off x="5111427" y="5083746"/>
              <a:ext cx="946028" cy="11877"/>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8BEC013-F889-B777-7579-ED43522485F7}"/>
                </a:ext>
              </a:extLst>
            </p:cNvPr>
            <p:cNvCxnSpPr>
              <a:cxnSpLocks/>
              <a:stCxn id="9" idx="6"/>
              <a:endCxn id="14" idx="2"/>
            </p:cNvCxnSpPr>
            <p:nvPr/>
          </p:nvCxnSpPr>
          <p:spPr>
            <a:xfrm flipV="1">
              <a:off x="6523386" y="5083745"/>
              <a:ext cx="946028" cy="1"/>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D48255A-005D-3073-8820-7BC3C2E03EBE}"/>
                </a:ext>
              </a:extLst>
            </p:cNvPr>
            <p:cNvCxnSpPr>
              <a:cxnSpLocks/>
              <a:stCxn id="14" idx="7"/>
              <a:endCxn id="59" idx="4"/>
            </p:cNvCxnSpPr>
            <p:nvPr/>
          </p:nvCxnSpPr>
          <p:spPr>
            <a:xfrm flipV="1">
              <a:off x="7867111" y="3789849"/>
              <a:ext cx="1071296" cy="1129164"/>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 Box 27">
                  <a:extLst>
                    <a:ext uri="{FF2B5EF4-FFF2-40B4-BE49-F238E27FC236}">
                      <a16:creationId xmlns:a16="http://schemas.microsoft.com/office/drawing/2014/main" id="{EC03F7F6-3D5C-6743-E675-193FC85F1671}"/>
                    </a:ext>
                  </a:extLst>
                </p:cNvPr>
                <p:cNvSpPr txBox="1">
                  <a:spLocks noChangeArrowheads="1"/>
                </p:cNvSpPr>
                <p:nvPr>
                  <p:custDataLst>
                    <p:tags r:id="rId11"/>
                  </p:custDataLst>
                </p:nvPr>
              </p:nvSpPr>
              <p:spPr bwMode="auto">
                <a:xfrm>
                  <a:off x="3895215" y="4652170"/>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𝟔</m:t>
                            </m:r>
                          </m:sub>
                        </m:sSub>
                      </m:oMath>
                    </m:oMathPara>
                  </a14:m>
                  <a:endParaRPr lang="en-US" b="1" dirty="0">
                    <a:solidFill>
                      <a:schemeClr val="accent3">
                        <a:lumMod val="60000"/>
                        <a:lumOff val="40000"/>
                      </a:schemeClr>
                    </a:solidFill>
                  </a:endParaRPr>
                </a:p>
              </p:txBody>
            </p:sp>
          </mc:Choice>
          <mc:Fallback xmlns="">
            <p:sp>
              <p:nvSpPr>
                <p:cNvPr id="23" name="Text Box 27">
                  <a:extLst>
                    <a:ext uri="{FF2B5EF4-FFF2-40B4-BE49-F238E27FC236}">
                      <a16:creationId xmlns:a16="http://schemas.microsoft.com/office/drawing/2014/main" id="{EC03F7F6-3D5C-6743-E675-193FC85F1671}"/>
                    </a:ext>
                  </a:extLst>
                </p:cNvPr>
                <p:cNvSpPr txBox="1">
                  <a:spLocks noRot="1" noChangeAspect="1" noMove="1" noResize="1" noEditPoints="1" noAdjustHandles="1" noChangeArrowheads="1" noChangeShapeType="1" noTextEdit="1"/>
                </p:cNvSpPr>
                <p:nvPr>
                  <p:custDataLst>
                    <p:tags r:id="rId43"/>
                  </p:custDataLst>
                </p:nvPr>
              </p:nvSpPr>
              <p:spPr bwMode="auto">
                <a:xfrm>
                  <a:off x="3895215" y="4652170"/>
                  <a:ext cx="473143" cy="369332"/>
                </a:xfrm>
                <a:prstGeom prst="rect">
                  <a:avLst/>
                </a:prstGeom>
                <a:blipFill>
                  <a:blip r:embed="rId44"/>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 Box 27">
                  <a:extLst>
                    <a:ext uri="{FF2B5EF4-FFF2-40B4-BE49-F238E27FC236}">
                      <a16:creationId xmlns:a16="http://schemas.microsoft.com/office/drawing/2014/main" id="{53068EE4-428A-7F47-81A8-EF4CA085EDB0}"/>
                    </a:ext>
                  </a:extLst>
                </p:cNvPr>
                <p:cNvSpPr txBox="1">
                  <a:spLocks noChangeArrowheads="1"/>
                </p:cNvSpPr>
                <p:nvPr>
                  <p:custDataLst>
                    <p:tags r:id="rId12"/>
                  </p:custDataLst>
                </p:nvPr>
              </p:nvSpPr>
              <p:spPr bwMode="auto">
                <a:xfrm>
                  <a:off x="5307457" y="4652170"/>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𝟕</m:t>
                            </m:r>
                          </m:sub>
                        </m:sSub>
                      </m:oMath>
                    </m:oMathPara>
                  </a14:m>
                  <a:endParaRPr lang="en-US" b="1" dirty="0">
                    <a:solidFill>
                      <a:schemeClr val="accent3">
                        <a:lumMod val="60000"/>
                        <a:lumOff val="40000"/>
                      </a:schemeClr>
                    </a:solidFill>
                  </a:endParaRPr>
                </a:p>
              </p:txBody>
            </p:sp>
          </mc:Choice>
          <mc:Fallback xmlns="">
            <p:sp>
              <p:nvSpPr>
                <p:cNvPr id="24" name="Text Box 27">
                  <a:extLst>
                    <a:ext uri="{FF2B5EF4-FFF2-40B4-BE49-F238E27FC236}">
                      <a16:creationId xmlns:a16="http://schemas.microsoft.com/office/drawing/2014/main" id="{53068EE4-428A-7F47-81A8-EF4CA085EDB0}"/>
                    </a:ext>
                  </a:extLst>
                </p:cNvPr>
                <p:cNvSpPr txBox="1">
                  <a:spLocks noRot="1" noChangeAspect="1" noMove="1" noResize="1" noEditPoints="1" noAdjustHandles="1" noChangeArrowheads="1" noChangeShapeType="1" noTextEdit="1"/>
                </p:cNvSpPr>
                <p:nvPr>
                  <p:custDataLst>
                    <p:tags r:id="rId45"/>
                  </p:custDataLst>
                </p:nvPr>
              </p:nvSpPr>
              <p:spPr bwMode="auto">
                <a:xfrm>
                  <a:off x="5307457" y="4652170"/>
                  <a:ext cx="473143" cy="369332"/>
                </a:xfrm>
                <a:prstGeom prst="rect">
                  <a:avLst/>
                </a:prstGeom>
                <a:blipFill>
                  <a:blip r:embed="rId46"/>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 Box 27">
                  <a:extLst>
                    <a:ext uri="{FF2B5EF4-FFF2-40B4-BE49-F238E27FC236}">
                      <a16:creationId xmlns:a16="http://schemas.microsoft.com/office/drawing/2014/main" id="{FB8CE273-8072-DA9A-3BD7-D58E1853C6C7}"/>
                    </a:ext>
                  </a:extLst>
                </p:cNvPr>
                <p:cNvSpPr txBox="1">
                  <a:spLocks noChangeArrowheads="1"/>
                </p:cNvSpPr>
                <p:nvPr>
                  <p:custDataLst>
                    <p:tags r:id="rId13"/>
                  </p:custDataLst>
                </p:nvPr>
              </p:nvSpPr>
              <p:spPr bwMode="auto">
                <a:xfrm>
                  <a:off x="6734559" y="4646230"/>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𝟖</m:t>
                            </m:r>
                          </m:sub>
                        </m:sSub>
                      </m:oMath>
                    </m:oMathPara>
                  </a14:m>
                  <a:endParaRPr lang="en-US" b="1" dirty="0">
                    <a:solidFill>
                      <a:schemeClr val="accent3">
                        <a:lumMod val="60000"/>
                        <a:lumOff val="40000"/>
                      </a:schemeClr>
                    </a:solidFill>
                  </a:endParaRPr>
                </a:p>
              </p:txBody>
            </p:sp>
          </mc:Choice>
          <mc:Fallback xmlns="">
            <p:sp>
              <p:nvSpPr>
                <p:cNvPr id="26" name="Text Box 27">
                  <a:extLst>
                    <a:ext uri="{FF2B5EF4-FFF2-40B4-BE49-F238E27FC236}">
                      <a16:creationId xmlns:a16="http://schemas.microsoft.com/office/drawing/2014/main" id="{FB8CE273-8072-DA9A-3BD7-D58E1853C6C7}"/>
                    </a:ext>
                  </a:extLst>
                </p:cNvPr>
                <p:cNvSpPr txBox="1">
                  <a:spLocks noRot="1" noChangeAspect="1" noMove="1" noResize="1" noEditPoints="1" noAdjustHandles="1" noChangeArrowheads="1" noChangeShapeType="1" noTextEdit="1"/>
                </p:cNvSpPr>
                <p:nvPr>
                  <p:custDataLst>
                    <p:tags r:id="rId47"/>
                  </p:custDataLst>
                </p:nvPr>
              </p:nvSpPr>
              <p:spPr bwMode="auto">
                <a:xfrm>
                  <a:off x="6734559" y="4646230"/>
                  <a:ext cx="473143" cy="369332"/>
                </a:xfrm>
                <a:prstGeom prst="rect">
                  <a:avLst/>
                </a:prstGeom>
                <a:blipFill>
                  <a:blip r:embed="rId48"/>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 Box 27">
                  <a:extLst>
                    <a:ext uri="{FF2B5EF4-FFF2-40B4-BE49-F238E27FC236}">
                      <a16:creationId xmlns:a16="http://schemas.microsoft.com/office/drawing/2014/main" id="{579C64F6-AA7D-3E99-5335-307F27C513C8}"/>
                    </a:ext>
                  </a:extLst>
                </p:cNvPr>
                <p:cNvSpPr txBox="1">
                  <a:spLocks noChangeArrowheads="1"/>
                </p:cNvSpPr>
                <p:nvPr>
                  <p:custDataLst>
                    <p:tags r:id="rId14"/>
                  </p:custDataLst>
                </p:nvPr>
              </p:nvSpPr>
              <p:spPr bwMode="auto">
                <a:xfrm>
                  <a:off x="8313055" y="4354431"/>
                  <a:ext cx="434671"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𝒊</m:t>
                            </m:r>
                          </m:sub>
                        </m:sSub>
                      </m:oMath>
                    </m:oMathPara>
                  </a14:m>
                  <a:endParaRPr lang="en-US" b="1" dirty="0">
                    <a:solidFill>
                      <a:schemeClr val="accent3">
                        <a:lumMod val="60000"/>
                        <a:lumOff val="40000"/>
                      </a:schemeClr>
                    </a:solidFill>
                  </a:endParaRPr>
                </a:p>
              </p:txBody>
            </p:sp>
          </mc:Choice>
          <mc:Fallback xmlns="">
            <p:sp>
              <p:nvSpPr>
                <p:cNvPr id="27" name="Text Box 27">
                  <a:extLst>
                    <a:ext uri="{FF2B5EF4-FFF2-40B4-BE49-F238E27FC236}">
                      <a16:creationId xmlns:a16="http://schemas.microsoft.com/office/drawing/2014/main" id="{579C64F6-AA7D-3E99-5335-307F27C513C8}"/>
                    </a:ext>
                  </a:extLst>
                </p:cNvPr>
                <p:cNvSpPr txBox="1">
                  <a:spLocks noRot="1" noChangeAspect="1" noMove="1" noResize="1" noEditPoints="1" noAdjustHandles="1" noChangeArrowheads="1" noChangeShapeType="1" noTextEdit="1"/>
                </p:cNvSpPr>
                <p:nvPr>
                  <p:custDataLst>
                    <p:tags r:id="rId49"/>
                  </p:custDataLst>
                </p:nvPr>
              </p:nvSpPr>
              <p:spPr bwMode="auto">
                <a:xfrm>
                  <a:off x="8313055" y="4354431"/>
                  <a:ext cx="434671" cy="369332"/>
                </a:xfrm>
                <a:prstGeom prst="rect">
                  <a:avLst/>
                </a:prstGeom>
                <a:blipFill>
                  <a:blip r:embed="rId50"/>
                  <a:stretch>
                    <a:fillRect/>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F0DDC14-53D3-0C13-08B0-3C7A3A4A51F1}"/>
                  </a:ext>
                </a:extLst>
              </p:cNvPr>
              <p:cNvSpPr txBox="1"/>
              <p:nvPr/>
            </p:nvSpPr>
            <p:spPr>
              <a:xfrm>
                <a:off x="1307365" y="5724978"/>
                <a:ext cx="9960159" cy="369332"/>
              </a:xfrm>
              <a:prstGeom prst="rect">
                <a:avLst/>
              </a:prstGeom>
              <a:noFill/>
              <a:ln>
                <a:solidFill>
                  <a:schemeClr val="tx1">
                    <a:lumMod val="95000"/>
                  </a:schemeClr>
                </a:solidFill>
              </a:ln>
            </p:spPr>
            <p:txBody>
              <a:bodyPr wrap="square" rtlCol="0">
                <a:spAutoFit/>
              </a:bodyPr>
              <a:lstStyle/>
              <a:p>
                <a:r>
                  <a:rPr lang="en-US" dirty="0"/>
                  <a:t>Path P</a:t>
                </a:r>
                <a14:m>
                  <m:oMath xmlns:m="http://schemas.openxmlformats.org/officeDocument/2006/math">
                    <m:r>
                      <a:rPr lang="en-US" b="0" i="1" smtClean="0">
                        <a:latin typeface="Cambria Math" panose="02040503050406030204" pitchFamily="18" charset="0"/>
                      </a:rPr>
                      <m:t>′′</m:t>
                    </m:r>
                  </m:oMath>
                </a14:m>
                <a:r>
                  <a:rPr lang="en-US" dirty="0"/>
                  <a:t> is better way to get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𝑛</m:t>
                        </m:r>
                        <m:r>
                          <a:rPr lang="en-US" b="0" i="1" smtClean="0">
                            <a:latin typeface="Cambria Math" panose="02040503050406030204" pitchFamily="18" charset="0"/>
                          </a:rPr>
                          <m:t>−1</m:t>
                        </m:r>
                      </m:sub>
                    </m:sSub>
                  </m:oMath>
                </a14:m>
                <a:r>
                  <a:rPr lang="en-US" dirty="0"/>
                  <a:t>, cost is </a:t>
                </a:r>
                <a14:m>
                  <m:oMath xmlns:m="http://schemas.openxmlformats.org/officeDocument/2006/math">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5</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6</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7</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8</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𝑖</m:t>
                        </m:r>
                      </m:sub>
                    </m:sSub>
                    <m:r>
                      <a:rPr lang="en-US" b="0" i="1" smtClean="0">
                        <a:latin typeface="Cambria Math" panose="02040503050406030204" pitchFamily="18" charset="0"/>
                      </a:rPr>
                      <m:t>&lt;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1</m:t>
                        </m:r>
                      </m:sub>
                    </m:sSub>
                    <m:r>
                      <a:rPr lang="en-US" b="0" i="1" smtClean="0">
                        <a:solidFill>
                          <a:schemeClr val="accent5">
                            <a:lumMod val="60000"/>
                            <a:lumOff val="40000"/>
                          </a:schemeClr>
                        </a:solidFill>
                        <a:latin typeface="Cambria Math" panose="02040503050406030204" pitchFamily="18" charset="0"/>
                      </a:rPr>
                      <m: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2</m:t>
                        </m:r>
                      </m:sub>
                    </m:sSub>
                    <m:r>
                      <a:rPr lang="en-US" b="0" i="1" smtClean="0">
                        <a:solidFill>
                          <a:schemeClr val="accent5">
                            <a:lumMod val="60000"/>
                            <a:lumOff val="40000"/>
                          </a:schemeClr>
                        </a:solidFill>
                        <a:latin typeface="Cambria Math" panose="02040503050406030204" pitchFamily="18" charset="0"/>
                      </a:rPr>
                      <m: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3</m:t>
                        </m:r>
                      </m:sub>
                    </m:sSub>
                    <m:r>
                      <a:rPr lang="en-US" b="0" i="1" smtClean="0">
                        <a:solidFill>
                          <a:schemeClr val="accent5">
                            <a:lumMod val="60000"/>
                            <a:lumOff val="40000"/>
                          </a:schemeClr>
                        </a:solidFill>
                        <a:latin typeface="Cambria Math" panose="02040503050406030204" pitchFamily="18" charset="0"/>
                      </a:rPr>
                      <m: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4</m:t>
                        </m:r>
                      </m:sub>
                    </m:sSub>
                    <m:r>
                      <a:rPr lang="en-US" b="0" i="1" smtClean="0">
                        <a:solidFill>
                          <a:schemeClr val="accent5">
                            <a:lumMod val="60000"/>
                            <a:lumOff val="40000"/>
                          </a:schemeClr>
                        </a:solidFill>
                        <a:latin typeface="Cambria Math" panose="02040503050406030204" pitchFamily="18" charset="0"/>
                      </a:rPr>
                      <m:t>+…+</m:t>
                    </m:r>
                    <m:sSub>
                      <m:sSubPr>
                        <m:ctrlPr>
                          <a:rPr lang="en-US" b="0" i="1" smtClean="0">
                            <a:solidFill>
                              <a:schemeClr val="accent5">
                                <a:lumMod val="60000"/>
                                <a:lumOff val="40000"/>
                              </a:schemeClr>
                            </a:solidFill>
                            <a:latin typeface="Cambria Math" panose="02040503050406030204" pitchFamily="18" charset="0"/>
                          </a:rPr>
                        </m:ctrlPr>
                      </m:sSubPr>
                      <m:e>
                        <m:r>
                          <a:rPr lang="en-US" b="0" i="1" smtClean="0">
                            <a:solidFill>
                              <a:schemeClr val="accent5">
                                <a:lumMod val="60000"/>
                                <a:lumOff val="40000"/>
                              </a:schemeClr>
                            </a:solidFill>
                            <a:latin typeface="Cambria Math" panose="02040503050406030204" pitchFamily="18" charset="0"/>
                          </a:rPr>
                          <m:t>𝑐</m:t>
                        </m:r>
                      </m:e>
                      <m:sub>
                        <m:r>
                          <a:rPr lang="en-US" b="0" i="1" smtClean="0">
                            <a:solidFill>
                              <a:schemeClr val="accent5">
                                <a:lumMod val="60000"/>
                                <a:lumOff val="40000"/>
                              </a:schemeClr>
                            </a:solidFill>
                            <a:latin typeface="Cambria Math" panose="02040503050406030204" pitchFamily="18" charset="0"/>
                          </a:rPr>
                          <m:t>𝑛</m:t>
                        </m:r>
                        <m:r>
                          <a:rPr lang="en-US" b="0" i="1" smtClean="0">
                            <a:solidFill>
                              <a:schemeClr val="accent5">
                                <a:lumMod val="60000"/>
                                <a:lumOff val="40000"/>
                              </a:schemeClr>
                            </a:solidFill>
                            <a:latin typeface="Cambria Math" panose="02040503050406030204" pitchFamily="18" charset="0"/>
                          </a:rPr>
                          <m:t>−1</m:t>
                        </m:r>
                      </m:sub>
                    </m:sSub>
                  </m:oMath>
                </a14:m>
                <a:endParaRPr lang="en-US" dirty="0"/>
              </a:p>
            </p:txBody>
          </p:sp>
        </mc:Choice>
        <mc:Fallback xmlns="">
          <p:sp>
            <p:nvSpPr>
              <p:cNvPr id="40" name="TextBox 39">
                <a:extLst>
                  <a:ext uri="{FF2B5EF4-FFF2-40B4-BE49-F238E27FC236}">
                    <a16:creationId xmlns:a16="http://schemas.microsoft.com/office/drawing/2014/main" id="{0F0DDC14-53D3-0C13-08B0-3C7A3A4A51F1}"/>
                  </a:ext>
                </a:extLst>
              </p:cNvPr>
              <p:cNvSpPr txBox="1">
                <a:spLocks noRot="1" noChangeAspect="1" noMove="1" noResize="1" noEditPoints="1" noAdjustHandles="1" noChangeArrowheads="1" noChangeShapeType="1" noTextEdit="1"/>
              </p:cNvSpPr>
              <p:nvPr/>
            </p:nvSpPr>
            <p:spPr>
              <a:xfrm>
                <a:off x="1307365" y="5724978"/>
                <a:ext cx="9960159" cy="369332"/>
              </a:xfrm>
              <a:prstGeom prst="rect">
                <a:avLst/>
              </a:prstGeom>
              <a:blipFill>
                <a:blip r:embed="rId51"/>
                <a:stretch>
                  <a:fillRect l="-509" t="-6452" b="-22581"/>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56588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8C0CA-0F5B-BC8E-463D-950B3412F9FE}"/>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6346D293-2DEC-453A-0E74-187B44BB5B4F}"/>
              </a:ext>
            </a:extLst>
          </p:cNvPr>
          <p:cNvSpPr>
            <a:spLocks noGrp="1" noChangeArrowheads="1"/>
          </p:cNvSpPr>
          <p:nvPr>
            <p:ph type="title"/>
            <p:custDataLst>
              <p:tags r:id="rId1"/>
            </p:custDataLst>
          </p:nvPr>
        </p:nvSpPr>
        <p:spPr>
          <a:xfrm>
            <a:off x="1141413" y="238124"/>
            <a:ext cx="9905998" cy="713893"/>
          </a:xfrm>
        </p:spPr>
        <p:txBody>
          <a:bodyPr/>
          <a:lstStyle/>
          <a:p>
            <a:pPr algn="ctr" eaLnBrk="1" hangingPunct="1"/>
            <a:r>
              <a:rPr lang="en-US" dirty="0"/>
              <a:t>Optimal Substructure Proof</a:t>
            </a:r>
          </a:p>
        </p:txBody>
      </p:sp>
      <p:sp>
        <p:nvSpPr>
          <p:cNvPr id="34819" name="Rectangle 3">
            <a:extLst>
              <a:ext uri="{FF2B5EF4-FFF2-40B4-BE49-F238E27FC236}">
                <a16:creationId xmlns:a16="http://schemas.microsoft.com/office/drawing/2014/main" id="{F9268FCA-7532-6176-0B32-FDB1F2301BA4}"/>
              </a:ext>
            </a:extLst>
          </p:cNvPr>
          <p:cNvSpPr>
            <a:spLocks noGrp="1" noChangeArrowheads="1"/>
          </p:cNvSpPr>
          <p:nvPr>
            <p:ph sz="quarter" idx="1"/>
            <p:custDataLst>
              <p:tags r:id="rId2"/>
            </p:custDataLst>
          </p:nvPr>
        </p:nvSpPr>
        <p:spPr>
          <a:xfrm>
            <a:off x="1082673" y="1080868"/>
            <a:ext cx="9905999" cy="443454"/>
          </a:xfrm>
          <a:solidFill>
            <a:schemeClr val="tx1">
              <a:lumMod val="95000"/>
            </a:schemeClr>
          </a:solidFill>
          <a:ln>
            <a:solidFill>
              <a:schemeClr val="bg1"/>
            </a:solidFill>
          </a:ln>
        </p:spPr>
        <p:txBody>
          <a:bodyPr anchor="ctr">
            <a:normAutofit/>
          </a:bodyPr>
          <a:lstStyle/>
          <a:p>
            <a:pPr marL="0" indent="0" eaLnBrk="1" hangingPunct="1">
              <a:buNone/>
            </a:pPr>
            <a:r>
              <a:rPr lang="en-US" sz="1800" dirty="0">
                <a:solidFill>
                  <a:schemeClr val="bg1"/>
                </a:solidFill>
              </a:rPr>
              <a:t>Step 1) Assume, for the sake of contradiction, that </a:t>
            </a:r>
            <a:r>
              <a:rPr lang="en-US" sz="1800" dirty="0">
                <a:solidFill>
                  <a:schemeClr val="accent1"/>
                </a:solidFill>
              </a:rPr>
              <a:t>path P is optimal</a:t>
            </a:r>
            <a:r>
              <a:rPr lang="en-US" sz="1800" dirty="0">
                <a:solidFill>
                  <a:schemeClr val="bg1"/>
                </a:solidFill>
              </a:rPr>
              <a:t>, but </a:t>
            </a:r>
            <a:r>
              <a:rPr lang="en-US" sz="1800" dirty="0">
                <a:solidFill>
                  <a:schemeClr val="accent5"/>
                </a:solidFill>
              </a:rPr>
              <a:t>path P’ is NOT optimal</a:t>
            </a:r>
            <a:r>
              <a:rPr lang="en-US" sz="1800" dirty="0">
                <a:solidFill>
                  <a:schemeClr val="bg1"/>
                </a:solidFill>
              </a:rPr>
              <a:t> </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D0F573CA-1A57-A2EE-C511-EDC08BA73A66}"/>
                  </a:ext>
                </a:extLst>
              </p:cNvPr>
              <p:cNvSpPr txBox="1">
                <a:spLocks noChangeArrowheads="1"/>
              </p:cNvSpPr>
              <p:nvPr>
                <p:custDataLst>
                  <p:tags r:id="rId3"/>
                </p:custDataLst>
              </p:nvPr>
            </p:nvSpPr>
            <p:spPr>
              <a:xfrm>
                <a:off x="1082673" y="1586566"/>
                <a:ext cx="9905999" cy="443454"/>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bg1"/>
                    </a:solidFill>
                  </a:rPr>
                  <a:t>Step 2) If </a:t>
                </a:r>
                <a:r>
                  <a:rPr lang="en-US" sz="1800" dirty="0">
                    <a:solidFill>
                      <a:schemeClr val="accent5"/>
                    </a:solidFill>
                  </a:rPr>
                  <a:t>path P’ is NOT optimal</a:t>
                </a:r>
                <a:r>
                  <a:rPr lang="en-US" sz="1800" dirty="0">
                    <a:solidFill>
                      <a:schemeClr val="bg1"/>
                    </a:solidFill>
                  </a:rPr>
                  <a:t>, then there exists a better path </a:t>
                </a:r>
                <a:r>
                  <a:rPr lang="en-US" sz="1800" dirty="0">
                    <a:solidFill>
                      <a:schemeClr val="accent3"/>
                    </a:solidFill>
                  </a:rPr>
                  <a:t>P’’ that goes from </a:t>
                </a:r>
                <a14:m>
                  <m:oMath xmlns:m="http://schemas.openxmlformats.org/officeDocument/2006/math">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1</m:t>
                        </m:r>
                      </m:sub>
                    </m:sSub>
                  </m:oMath>
                </a14:m>
                <a:r>
                  <a:rPr lang="en-US" sz="1800" dirty="0">
                    <a:solidFill>
                      <a:schemeClr val="accent3"/>
                    </a:solidFill>
                  </a:rPr>
                  <a:t> to </a:t>
                </a:r>
                <a14:m>
                  <m:oMath xmlns:m="http://schemas.openxmlformats.org/officeDocument/2006/math">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𝑛</m:t>
                        </m:r>
                        <m:r>
                          <a:rPr lang="en-US" sz="1800" b="0" i="1" smtClean="0">
                            <a:solidFill>
                              <a:schemeClr val="accent3"/>
                            </a:solidFill>
                            <a:latin typeface="Cambria Math" panose="02040503050406030204" pitchFamily="18" charset="0"/>
                          </a:rPr>
                          <m:t>−1</m:t>
                        </m:r>
                      </m:sub>
                    </m:sSub>
                  </m:oMath>
                </a14:m>
                <a:endParaRPr lang="en-US" sz="1800" dirty="0">
                  <a:solidFill>
                    <a:schemeClr val="bg1"/>
                  </a:solidFill>
                </a:endParaRPr>
              </a:p>
            </p:txBody>
          </p:sp>
        </mc:Choice>
        <mc:Fallback xmlns="">
          <p:sp>
            <p:nvSpPr>
              <p:cNvPr id="2" name="Rectangle 3">
                <a:extLst>
                  <a:ext uri="{FF2B5EF4-FFF2-40B4-BE49-F238E27FC236}">
                    <a16:creationId xmlns:a16="http://schemas.microsoft.com/office/drawing/2014/main" id="{D0F573CA-1A57-A2EE-C511-EDC08BA73A66}"/>
                  </a:ext>
                </a:extLst>
              </p:cNvPr>
              <p:cNvSpPr txBox="1">
                <a:spLocks noRot="1" noChangeAspect="1" noMove="1" noResize="1" noEditPoints="1" noAdjustHandles="1" noChangeArrowheads="1" noChangeShapeType="1" noTextEdit="1"/>
              </p:cNvSpPr>
              <p:nvPr>
                <p:custDataLst>
                  <p:tags r:id="rId17"/>
                </p:custDataLst>
              </p:nvPr>
            </p:nvSpPr>
            <p:spPr>
              <a:xfrm>
                <a:off x="1082673" y="1586566"/>
                <a:ext cx="9905999" cy="443454"/>
              </a:xfrm>
              <a:prstGeom prst="rect">
                <a:avLst/>
              </a:prstGeom>
              <a:blipFill>
                <a:blip r:embed="rId18"/>
                <a:stretch>
                  <a:fillRect l="-384" b="-13514"/>
                </a:stretch>
              </a:blipFill>
              <a:ln>
                <a:solidFill>
                  <a:schemeClr val="bg1"/>
                </a:solidFill>
              </a:ln>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E2EB788-50FF-BCEE-C5C4-E3FEB4601579}"/>
              </a:ext>
            </a:extLst>
          </p:cNvPr>
          <p:cNvGrpSpPr/>
          <p:nvPr/>
        </p:nvGrpSpPr>
        <p:grpSpPr>
          <a:xfrm>
            <a:off x="1524937" y="2820325"/>
            <a:ext cx="8945899" cy="2221097"/>
            <a:chOff x="1524937" y="3107491"/>
            <a:chExt cx="8945899" cy="2221097"/>
          </a:xfrm>
        </p:grpSpPr>
        <mc:AlternateContent xmlns:mc="http://schemas.openxmlformats.org/markup-compatibility/2006" xmlns:a14="http://schemas.microsoft.com/office/drawing/2010/main">
          <mc:Choice Requires="a14">
            <p:sp>
              <p:nvSpPr>
                <p:cNvPr id="49" name="Oval 48">
                  <a:extLst>
                    <a:ext uri="{FF2B5EF4-FFF2-40B4-BE49-F238E27FC236}">
                      <a16:creationId xmlns:a16="http://schemas.microsoft.com/office/drawing/2014/main" id="{61D859EB-49C3-D46A-C3E0-4F6A9CF7C602}"/>
                    </a:ext>
                  </a:extLst>
                </p:cNvPr>
                <p:cNvSpPr/>
                <p:nvPr/>
              </p:nvSpPr>
              <p:spPr>
                <a:xfrm>
                  <a:off x="1524937" y="3323918"/>
                  <a:ext cx="465931" cy="465931"/>
                </a:xfrm>
                <a:prstGeom prst="ellipse">
                  <a:avLst/>
                </a:prstGeom>
                <a:solidFill>
                  <a:schemeClr val="accent3">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49" name="Oval 48">
                  <a:extLst>
                    <a:ext uri="{FF2B5EF4-FFF2-40B4-BE49-F238E27FC236}">
                      <a16:creationId xmlns:a16="http://schemas.microsoft.com/office/drawing/2014/main" id="{61D859EB-49C3-D46A-C3E0-4F6A9CF7C602}"/>
                    </a:ext>
                  </a:extLst>
                </p:cNvPr>
                <p:cNvSpPr>
                  <a:spLocks noRot="1" noChangeAspect="1" noMove="1" noResize="1" noEditPoints="1" noAdjustHandles="1" noChangeArrowheads="1" noChangeShapeType="1" noTextEdit="1"/>
                </p:cNvSpPr>
                <p:nvPr/>
              </p:nvSpPr>
              <p:spPr>
                <a:xfrm>
                  <a:off x="1524937" y="3323918"/>
                  <a:ext cx="465931" cy="465931"/>
                </a:xfrm>
                <a:prstGeom prst="ellipse">
                  <a:avLst/>
                </a:prstGeom>
                <a:blipFill>
                  <a:blip r:embed="rId19"/>
                  <a:stretch>
                    <a:fillRect/>
                  </a:stretch>
                </a:blipFill>
                <a:ln>
                  <a:solidFill>
                    <a:schemeClr val="accent1">
                      <a:lumMod val="60000"/>
                      <a:lumOff val="40000"/>
                    </a:schemeClr>
                  </a:solidFill>
                </a:ln>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2D1FCBEC-DC96-76AB-1398-DF7D4F45EFA7}"/>
                </a:ext>
              </a:extLst>
            </p:cNvPr>
            <p:cNvCxnSpPr>
              <a:cxnSpLocks/>
              <a:stCxn id="49" idx="6"/>
              <a:endCxn id="53" idx="2"/>
            </p:cNvCxnSpPr>
            <p:nvPr/>
          </p:nvCxnSpPr>
          <p:spPr>
            <a:xfrm flipV="1">
              <a:off x="1990868" y="3545008"/>
              <a:ext cx="950135" cy="11876"/>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 Box 27">
                  <a:extLst>
                    <a:ext uri="{FF2B5EF4-FFF2-40B4-BE49-F238E27FC236}">
                      <a16:creationId xmlns:a16="http://schemas.microsoft.com/office/drawing/2014/main" id="{0F8E3D6E-DC60-39E3-1F41-397985D22813}"/>
                    </a:ext>
                  </a:extLst>
                </p:cNvPr>
                <p:cNvSpPr txBox="1">
                  <a:spLocks noChangeArrowheads="1"/>
                </p:cNvSpPr>
                <p:nvPr>
                  <p:custDataLst>
                    <p:tags r:id="rId5"/>
                  </p:custDataLst>
                </p:nvPr>
              </p:nvSpPr>
              <p:spPr bwMode="auto">
                <a:xfrm>
                  <a:off x="2219965" y="3139252"/>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𝟏</m:t>
                            </m:r>
                          </m:sub>
                        </m:sSub>
                      </m:oMath>
                    </m:oMathPara>
                  </a14:m>
                  <a:endParaRPr lang="en-US" b="1" dirty="0">
                    <a:solidFill>
                      <a:schemeClr val="accent1">
                        <a:lumMod val="60000"/>
                        <a:lumOff val="40000"/>
                      </a:schemeClr>
                    </a:solidFill>
                  </a:endParaRPr>
                </a:p>
              </p:txBody>
            </p:sp>
          </mc:Choice>
          <mc:Fallback xmlns="">
            <p:sp>
              <p:nvSpPr>
                <p:cNvPr id="52" name="Text Box 27">
                  <a:extLst>
                    <a:ext uri="{FF2B5EF4-FFF2-40B4-BE49-F238E27FC236}">
                      <a16:creationId xmlns:a16="http://schemas.microsoft.com/office/drawing/2014/main" id="{0F8E3D6E-DC60-39E3-1F41-397985D22813}"/>
                    </a:ext>
                  </a:extLst>
                </p:cNvPr>
                <p:cNvSpPr txBox="1">
                  <a:spLocks noRot="1" noChangeAspect="1" noMove="1" noResize="1" noEditPoints="1" noAdjustHandles="1" noChangeArrowheads="1" noChangeShapeType="1" noTextEdit="1"/>
                </p:cNvSpPr>
                <p:nvPr>
                  <p:custDataLst>
                    <p:tags r:id="rId20"/>
                  </p:custDataLst>
                </p:nvPr>
              </p:nvSpPr>
              <p:spPr bwMode="auto">
                <a:xfrm>
                  <a:off x="2219965" y="3139252"/>
                  <a:ext cx="473143" cy="369332"/>
                </a:xfrm>
                <a:prstGeom prst="rect">
                  <a:avLst/>
                </a:prstGeom>
                <a:blipFill>
                  <a:blip r:embed="rId2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Oval 52">
                  <a:extLst>
                    <a:ext uri="{FF2B5EF4-FFF2-40B4-BE49-F238E27FC236}">
                      <a16:creationId xmlns:a16="http://schemas.microsoft.com/office/drawing/2014/main" id="{1E7ADB77-34AE-41A9-3298-33C13E59E3DC}"/>
                    </a:ext>
                  </a:extLst>
                </p:cNvPr>
                <p:cNvSpPr/>
                <p:nvPr/>
              </p:nvSpPr>
              <p:spPr>
                <a:xfrm>
                  <a:off x="2941003" y="3312042"/>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53" name="Oval 52">
                  <a:extLst>
                    <a:ext uri="{FF2B5EF4-FFF2-40B4-BE49-F238E27FC236}">
                      <a16:creationId xmlns:a16="http://schemas.microsoft.com/office/drawing/2014/main" id="{1E7ADB77-34AE-41A9-3298-33C13E59E3DC}"/>
                    </a:ext>
                  </a:extLst>
                </p:cNvPr>
                <p:cNvSpPr>
                  <a:spLocks noRot="1" noChangeAspect="1" noMove="1" noResize="1" noEditPoints="1" noAdjustHandles="1" noChangeArrowheads="1" noChangeShapeType="1" noTextEdit="1"/>
                </p:cNvSpPr>
                <p:nvPr/>
              </p:nvSpPr>
              <p:spPr>
                <a:xfrm>
                  <a:off x="2941003" y="3312042"/>
                  <a:ext cx="465931" cy="465931"/>
                </a:xfrm>
                <a:prstGeom prst="ellipse">
                  <a:avLst/>
                </a:prstGeom>
                <a:blipFill>
                  <a:blip r:embed="rId2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Oval 54">
                  <a:extLst>
                    <a:ext uri="{FF2B5EF4-FFF2-40B4-BE49-F238E27FC236}">
                      <a16:creationId xmlns:a16="http://schemas.microsoft.com/office/drawing/2014/main" id="{CA9CA18A-7BAF-6793-1F25-9D1F362421CF}"/>
                    </a:ext>
                  </a:extLst>
                </p:cNvPr>
                <p:cNvSpPr/>
                <p:nvPr/>
              </p:nvSpPr>
              <p:spPr>
                <a:xfrm>
                  <a:off x="4357069" y="3323918"/>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55" name="Oval 54">
                  <a:extLst>
                    <a:ext uri="{FF2B5EF4-FFF2-40B4-BE49-F238E27FC236}">
                      <a16:creationId xmlns:a16="http://schemas.microsoft.com/office/drawing/2014/main" id="{CA9CA18A-7BAF-6793-1F25-9D1F362421CF}"/>
                    </a:ext>
                  </a:extLst>
                </p:cNvPr>
                <p:cNvSpPr>
                  <a:spLocks noRot="1" noChangeAspect="1" noMove="1" noResize="1" noEditPoints="1" noAdjustHandles="1" noChangeArrowheads="1" noChangeShapeType="1" noTextEdit="1"/>
                </p:cNvSpPr>
                <p:nvPr/>
              </p:nvSpPr>
              <p:spPr>
                <a:xfrm>
                  <a:off x="4357069" y="3323918"/>
                  <a:ext cx="465931" cy="465931"/>
                </a:xfrm>
                <a:prstGeom prst="ellipse">
                  <a:avLst/>
                </a:prstGeom>
                <a:blipFill>
                  <a:blip r:embed="rId2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Oval 55">
                  <a:extLst>
                    <a:ext uri="{FF2B5EF4-FFF2-40B4-BE49-F238E27FC236}">
                      <a16:creationId xmlns:a16="http://schemas.microsoft.com/office/drawing/2014/main" id="{29326688-803C-D4DD-3DC5-74A7209FDE6B}"/>
                    </a:ext>
                  </a:extLst>
                </p:cNvPr>
                <p:cNvSpPr/>
                <p:nvPr/>
              </p:nvSpPr>
              <p:spPr>
                <a:xfrm>
                  <a:off x="5769028" y="3312041"/>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56" name="Oval 55">
                  <a:extLst>
                    <a:ext uri="{FF2B5EF4-FFF2-40B4-BE49-F238E27FC236}">
                      <a16:creationId xmlns:a16="http://schemas.microsoft.com/office/drawing/2014/main" id="{29326688-803C-D4DD-3DC5-74A7209FDE6B}"/>
                    </a:ext>
                  </a:extLst>
                </p:cNvPr>
                <p:cNvSpPr>
                  <a:spLocks noRot="1" noChangeAspect="1" noMove="1" noResize="1" noEditPoints="1" noAdjustHandles="1" noChangeArrowheads="1" noChangeShapeType="1" noTextEdit="1"/>
                </p:cNvSpPr>
                <p:nvPr/>
              </p:nvSpPr>
              <p:spPr>
                <a:xfrm>
                  <a:off x="5769028" y="3312041"/>
                  <a:ext cx="465931" cy="465931"/>
                </a:xfrm>
                <a:prstGeom prst="ellipse">
                  <a:avLst/>
                </a:prstGeom>
                <a:blipFill>
                  <a:blip r:embed="rId2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Oval 57">
                  <a:extLst>
                    <a:ext uri="{FF2B5EF4-FFF2-40B4-BE49-F238E27FC236}">
                      <a16:creationId xmlns:a16="http://schemas.microsoft.com/office/drawing/2014/main" id="{4BA73D53-C7B8-D186-2742-4A5E90416926}"/>
                    </a:ext>
                  </a:extLst>
                </p:cNvPr>
                <p:cNvSpPr/>
                <p:nvPr/>
              </p:nvSpPr>
              <p:spPr>
                <a:xfrm>
                  <a:off x="7180987" y="3312040"/>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58" name="Oval 57">
                  <a:extLst>
                    <a:ext uri="{FF2B5EF4-FFF2-40B4-BE49-F238E27FC236}">
                      <a16:creationId xmlns:a16="http://schemas.microsoft.com/office/drawing/2014/main" id="{4BA73D53-C7B8-D186-2742-4A5E90416926}"/>
                    </a:ext>
                  </a:extLst>
                </p:cNvPr>
                <p:cNvSpPr>
                  <a:spLocks noRot="1" noChangeAspect="1" noMove="1" noResize="1" noEditPoints="1" noAdjustHandles="1" noChangeArrowheads="1" noChangeShapeType="1" noTextEdit="1"/>
                </p:cNvSpPr>
                <p:nvPr/>
              </p:nvSpPr>
              <p:spPr>
                <a:xfrm>
                  <a:off x="7180987" y="3312040"/>
                  <a:ext cx="465931" cy="465931"/>
                </a:xfrm>
                <a:prstGeom prst="ellipse">
                  <a:avLst/>
                </a:prstGeom>
                <a:blipFill>
                  <a:blip r:embed="rId2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714AD8CE-A91A-B8BB-BDC7-2E114CC21C4B}"/>
                    </a:ext>
                  </a:extLst>
                </p:cNvPr>
                <p:cNvSpPr/>
                <p:nvPr/>
              </p:nvSpPr>
              <p:spPr>
                <a:xfrm>
                  <a:off x="8592946" y="3323918"/>
                  <a:ext cx="690921" cy="465931"/>
                </a:xfrm>
                <a:prstGeom prst="ellipse">
                  <a:avLst/>
                </a:prstGeom>
                <a:solidFill>
                  <a:schemeClr val="accent3">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59" name="Oval 58">
                  <a:extLst>
                    <a:ext uri="{FF2B5EF4-FFF2-40B4-BE49-F238E27FC236}">
                      <a16:creationId xmlns:a16="http://schemas.microsoft.com/office/drawing/2014/main" id="{714AD8CE-A91A-B8BB-BDC7-2E114CC21C4B}"/>
                    </a:ext>
                  </a:extLst>
                </p:cNvPr>
                <p:cNvSpPr>
                  <a:spLocks noRot="1" noChangeAspect="1" noMove="1" noResize="1" noEditPoints="1" noAdjustHandles="1" noChangeArrowheads="1" noChangeShapeType="1" noTextEdit="1"/>
                </p:cNvSpPr>
                <p:nvPr/>
              </p:nvSpPr>
              <p:spPr>
                <a:xfrm>
                  <a:off x="8592946" y="3323918"/>
                  <a:ext cx="690921" cy="465931"/>
                </a:xfrm>
                <a:prstGeom prst="ellipse">
                  <a:avLst/>
                </a:prstGeom>
                <a:blipFill>
                  <a:blip r:embed="rId26"/>
                  <a:stretch>
                    <a:fillRect/>
                  </a:stretch>
                </a:blipFill>
                <a:ln>
                  <a:solidFill>
                    <a:schemeClr val="accent1">
                      <a:lumMod val="60000"/>
                      <a:lumOff val="4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Oval 60">
                  <a:extLst>
                    <a:ext uri="{FF2B5EF4-FFF2-40B4-BE49-F238E27FC236}">
                      <a16:creationId xmlns:a16="http://schemas.microsoft.com/office/drawing/2014/main" id="{D95568D0-32B3-94FC-4D34-F3290909AAD4}"/>
                    </a:ext>
                  </a:extLst>
                </p:cNvPr>
                <p:cNvSpPr/>
                <p:nvPr/>
              </p:nvSpPr>
              <p:spPr>
                <a:xfrm>
                  <a:off x="10004905" y="3312039"/>
                  <a:ext cx="465931" cy="465931"/>
                </a:xfrm>
                <a:prstGeom prst="ellipse">
                  <a:avLst/>
                </a:prstGeom>
                <a:solidFill>
                  <a:schemeClr val="accent3">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accent1"/>
                    </a:solidFill>
                  </a:endParaRPr>
                </a:p>
              </p:txBody>
            </p:sp>
          </mc:Choice>
          <mc:Fallback xmlns="">
            <p:sp>
              <p:nvSpPr>
                <p:cNvPr id="61" name="Oval 60">
                  <a:extLst>
                    <a:ext uri="{FF2B5EF4-FFF2-40B4-BE49-F238E27FC236}">
                      <a16:creationId xmlns:a16="http://schemas.microsoft.com/office/drawing/2014/main" id="{D95568D0-32B3-94FC-4D34-F3290909AAD4}"/>
                    </a:ext>
                  </a:extLst>
                </p:cNvPr>
                <p:cNvSpPr>
                  <a:spLocks noRot="1" noChangeAspect="1" noMove="1" noResize="1" noEditPoints="1" noAdjustHandles="1" noChangeArrowheads="1" noChangeShapeType="1" noTextEdit="1"/>
                </p:cNvSpPr>
                <p:nvPr/>
              </p:nvSpPr>
              <p:spPr>
                <a:xfrm>
                  <a:off x="10004905" y="3312039"/>
                  <a:ext cx="465931" cy="465931"/>
                </a:xfrm>
                <a:prstGeom prst="ellipse">
                  <a:avLst/>
                </a:prstGeom>
                <a:blipFill>
                  <a:blip r:embed="rId27"/>
                  <a:stretch>
                    <a:fillRect/>
                  </a:stretch>
                </a:blipFill>
                <a:ln>
                  <a:solidFill>
                    <a:schemeClr val="accent1">
                      <a:lumMod val="60000"/>
                      <a:lumOff val="40000"/>
                    </a:schemeClr>
                  </a:solidFill>
                </a:ln>
              </p:spPr>
              <p:txBody>
                <a:bodyPr/>
                <a:lstStyle/>
                <a:p>
                  <a:r>
                    <a:rPr lang="en-US">
                      <a:noFill/>
                    </a:rPr>
                    <a:t> </a:t>
                  </a:r>
                </a:p>
              </p:txBody>
            </p:sp>
          </mc:Fallback>
        </mc:AlternateContent>
        <p:cxnSp>
          <p:nvCxnSpPr>
            <p:cNvPr id="62" name="Straight Arrow Connector 61">
              <a:extLst>
                <a:ext uri="{FF2B5EF4-FFF2-40B4-BE49-F238E27FC236}">
                  <a16:creationId xmlns:a16="http://schemas.microsoft.com/office/drawing/2014/main" id="{409D5774-4F71-73C2-C2E7-E9D1BB9893C2}"/>
                </a:ext>
              </a:extLst>
            </p:cNvPr>
            <p:cNvCxnSpPr>
              <a:cxnSpLocks/>
              <a:stCxn id="53" idx="6"/>
              <a:endCxn id="55" idx="2"/>
            </p:cNvCxnSpPr>
            <p:nvPr/>
          </p:nvCxnSpPr>
          <p:spPr>
            <a:xfrm>
              <a:off x="3406934" y="3545008"/>
              <a:ext cx="950135" cy="11876"/>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16" name="Straight Arrow Connector 34815">
              <a:extLst>
                <a:ext uri="{FF2B5EF4-FFF2-40B4-BE49-F238E27FC236}">
                  <a16:creationId xmlns:a16="http://schemas.microsoft.com/office/drawing/2014/main" id="{9AB32965-62FC-7E1B-5D52-DB0148101B37}"/>
                </a:ext>
              </a:extLst>
            </p:cNvPr>
            <p:cNvCxnSpPr>
              <a:cxnSpLocks/>
              <a:stCxn id="55" idx="6"/>
              <a:endCxn id="56" idx="2"/>
            </p:cNvCxnSpPr>
            <p:nvPr/>
          </p:nvCxnSpPr>
          <p:spPr>
            <a:xfrm flipV="1">
              <a:off x="4823000" y="3545007"/>
              <a:ext cx="946028" cy="1187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17" name="Straight Arrow Connector 34816">
              <a:extLst>
                <a:ext uri="{FF2B5EF4-FFF2-40B4-BE49-F238E27FC236}">
                  <a16:creationId xmlns:a16="http://schemas.microsoft.com/office/drawing/2014/main" id="{E0450C76-88CF-8F73-3917-1112717C192D}"/>
                </a:ext>
              </a:extLst>
            </p:cNvPr>
            <p:cNvCxnSpPr>
              <a:cxnSpLocks/>
              <a:stCxn id="56" idx="6"/>
              <a:endCxn id="58" idx="2"/>
            </p:cNvCxnSpPr>
            <p:nvPr/>
          </p:nvCxnSpPr>
          <p:spPr>
            <a:xfrm flipV="1">
              <a:off x="6234959" y="3545006"/>
              <a:ext cx="946028" cy="1"/>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20" name="Straight Arrow Connector 34819">
              <a:extLst>
                <a:ext uri="{FF2B5EF4-FFF2-40B4-BE49-F238E27FC236}">
                  <a16:creationId xmlns:a16="http://schemas.microsoft.com/office/drawing/2014/main" id="{CC4682F1-E252-002E-22D9-9A393DB0F3DD}"/>
                </a:ext>
              </a:extLst>
            </p:cNvPr>
            <p:cNvCxnSpPr>
              <a:cxnSpLocks/>
              <a:stCxn id="58" idx="6"/>
              <a:endCxn id="59" idx="2"/>
            </p:cNvCxnSpPr>
            <p:nvPr/>
          </p:nvCxnSpPr>
          <p:spPr>
            <a:xfrm>
              <a:off x="7646918" y="3545006"/>
              <a:ext cx="946028" cy="11878"/>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821" name="Straight Arrow Connector 34820">
              <a:extLst>
                <a:ext uri="{FF2B5EF4-FFF2-40B4-BE49-F238E27FC236}">
                  <a16:creationId xmlns:a16="http://schemas.microsoft.com/office/drawing/2014/main" id="{FDDA2D35-5777-6CE9-9B51-75F97267E096}"/>
                </a:ext>
              </a:extLst>
            </p:cNvPr>
            <p:cNvCxnSpPr>
              <a:cxnSpLocks/>
              <a:stCxn id="59" idx="6"/>
              <a:endCxn id="61" idx="2"/>
            </p:cNvCxnSpPr>
            <p:nvPr/>
          </p:nvCxnSpPr>
          <p:spPr>
            <a:xfrm flipV="1">
              <a:off x="9283867" y="3545005"/>
              <a:ext cx="721038" cy="11879"/>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822" name="Text Box 27">
                  <a:extLst>
                    <a:ext uri="{FF2B5EF4-FFF2-40B4-BE49-F238E27FC236}">
                      <a16:creationId xmlns:a16="http://schemas.microsoft.com/office/drawing/2014/main" id="{E13582DC-2258-EF24-FD80-8C559020C0CC}"/>
                    </a:ext>
                  </a:extLst>
                </p:cNvPr>
                <p:cNvSpPr txBox="1">
                  <a:spLocks noChangeArrowheads="1"/>
                </p:cNvSpPr>
                <p:nvPr>
                  <p:custDataLst>
                    <p:tags r:id="rId6"/>
                  </p:custDataLst>
                </p:nvPr>
              </p:nvSpPr>
              <p:spPr bwMode="auto">
                <a:xfrm>
                  <a:off x="3606788" y="311343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𝟐</m:t>
                            </m:r>
                          </m:sub>
                        </m:sSub>
                      </m:oMath>
                    </m:oMathPara>
                  </a14:m>
                  <a:endParaRPr lang="en-US" b="1" dirty="0">
                    <a:solidFill>
                      <a:schemeClr val="accent1">
                        <a:lumMod val="60000"/>
                        <a:lumOff val="40000"/>
                      </a:schemeClr>
                    </a:solidFill>
                  </a:endParaRPr>
                </a:p>
              </p:txBody>
            </p:sp>
          </mc:Choice>
          <mc:Fallback xmlns="">
            <p:sp>
              <p:nvSpPr>
                <p:cNvPr id="34822" name="Text Box 27">
                  <a:extLst>
                    <a:ext uri="{FF2B5EF4-FFF2-40B4-BE49-F238E27FC236}">
                      <a16:creationId xmlns:a16="http://schemas.microsoft.com/office/drawing/2014/main" id="{E13582DC-2258-EF24-FD80-8C559020C0CC}"/>
                    </a:ext>
                  </a:extLst>
                </p:cNvPr>
                <p:cNvSpPr txBox="1">
                  <a:spLocks noRot="1" noChangeAspect="1" noMove="1" noResize="1" noEditPoints="1" noAdjustHandles="1" noChangeArrowheads="1" noChangeShapeType="1" noTextEdit="1"/>
                </p:cNvSpPr>
                <p:nvPr>
                  <p:custDataLst>
                    <p:tags r:id="rId28"/>
                  </p:custDataLst>
                </p:nvPr>
              </p:nvSpPr>
              <p:spPr bwMode="auto">
                <a:xfrm>
                  <a:off x="3606788" y="3113431"/>
                  <a:ext cx="473143" cy="369332"/>
                </a:xfrm>
                <a:prstGeom prst="rect">
                  <a:avLst/>
                </a:prstGeom>
                <a:blipFill>
                  <a:blip r:embed="rId29"/>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3" name="Text Box 27">
                  <a:extLst>
                    <a:ext uri="{FF2B5EF4-FFF2-40B4-BE49-F238E27FC236}">
                      <a16:creationId xmlns:a16="http://schemas.microsoft.com/office/drawing/2014/main" id="{FF945576-E298-C974-ECA0-0793ACE27617}"/>
                    </a:ext>
                  </a:extLst>
                </p:cNvPr>
                <p:cNvSpPr txBox="1">
                  <a:spLocks noChangeArrowheads="1"/>
                </p:cNvSpPr>
                <p:nvPr>
                  <p:custDataLst>
                    <p:tags r:id="rId7"/>
                  </p:custDataLst>
                </p:nvPr>
              </p:nvSpPr>
              <p:spPr bwMode="auto">
                <a:xfrm>
                  <a:off x="5019030" y="311343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𝟑</m:t>
                            </m:r>
                          </m:sub>
                        </m:sSub>
                      </m:oMath>
                    </m:oMathPara>
                  </a14:m>
                  <a:endParaRPr lang="en-US" b="1" dirty="0">
                    <a:solidFill>
                      <a:schemeClr val="accent1">
                        <a:lumMod val="60000"/>
                        <a:lumOff val="40000"/>
                      </a:schemeClr>
                    </a:solidFill>
                  </a:endParaRPr>
                </a:p>
              </p:txBody>
            </p:sp>
          </mc:Choice>
          <mc:Fallback xmlns="">
            <p:sp>
              <p:nvSpPr>
                <p:cNvPr id="34823" name="Text Box 27">
                  <a:extLst>
                    <a:ext uri="{FF2B5EF4-FFF2-40B4-BE49-F238E27FC236}">
                      <a16:creationId xmlns:a16="http://schemas.microsoft.com/office/drawing/2014/main" id="{FF945576-E298-C974-ECA0-0793ACE27617}"/>
                    </a:ext>
                  </a:extLst>
                </p:cNvPr>
                <p:cNvSpPr txBox="1">
                  <a:spLocks noRot="1" noChangeAspect="1" noMove="1" noResize="1" noEditPoints="1" noAdjustHandles="1" noChangeArrowheads="1" noChangeShapeType="1" noTextEdit="1"/>
                </p:cNvSpPr>
                <p:nvPr>
                  <p:custDataLst>
                    <p:tags r:id="rId30"/>
                  </p:custDataLst>
                </p:nvPr>
              </p:nvSpPr>
              <p:spPr bwMode="auto">
                <a:xfrm>
                  <a:off x="5019030" y="3113431"/>
                  <a:ext cx="473143" cy="369332"/>
                </a:xfrm>
                <a:prstGeom prst="rect">
                  <a:avLst/>
                </a:prstGeom>
                <a:blipFill>
                  <a:blip r:embed="rId31"/>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4" name="Text Box 27">
                  <a:extLst>
                    <a:ext uri="{FF2B5EF4-FFF2-40B4-BE49-F238E27FC236}">
                      <a16:creationId xmlns:a16="http://schemas.microsoft.com/office/drawing/2014/main" id="{D947FF42-B253-568A-0869-F3A6ABB0E730}"/>
                    </a:ext>
                  </a:extLst>
                </p:cNvPr>
                <p:cNvSpPr txBox="1">
                  <a:spLocks noChangeArrowheads="1"/>
                </p:cNvSpPr>
                <p:nvPr>
                  <p:custDataLst>
                    <p:tags r:id="rId8"/>
                  </p:custDataLst>
                </p:nvPr>
              </p:nvSpPr>
              <p:spPr bwMode="auto">
                <a:xfrm>
                  <a:off x="6446132" y="3107491"/>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𝟒</m:t>
                            </m:r>
                          </m:sub>
                        </m:sSub>
                      </m:oMath>
                    </m:oMathPara>
                  </a14:m>
                  <a:endParaRPr lang="en-US" b="1" dirty="0">
                    <a:solidFill>
                      <a:schemeClr val="accent1">
                        <a:lumMod val="60000"/>
                        <a:lumOff val="40000"/>
                      </a:schemeClr>
                    </a:solidFill>
                  </a:endParaRPr>
                </a:p>
              </p:txBody>
            </p:sp>
          </mc:Choice>
          <mc:Fallback xmlns="">
            <p:sp>
              <p:nvSpPr>
                <p:cNvPr id="34824" name="Text Box 27">
                  <a:extLst>
                    <a:ext uri="{FF2B5EF4-FFF2-40B4-BE49-F238E27FC236}">
                      <a16:creationId xmlns:a16="http://schemas.microsoft.com/office/drawing/2014/main" id="{D947FF42-B253-568A-0869-F3A6ABB0E730}"/>
                    </a:ext>
                  </a:extLst>
                </p:cNvPr>
                <p:cNvSpPr txBox="1">
                  <a:spLocks noRot="1" noChangeAspect="1" noMove="1" noResize="1" noEditPoints="1" noAdjustHandles="1" noChangeArrowheads="1" noChangeShapeType="1" noTextEdit="1"/>
                </p:cNvSpPr>
                <p:nvPr>
                  <p:custDataLst>
                    <p:tags r:id="rId32"/>
                  </p:custDataLst>
                </p:nvPr>
              </p:nvSpPr>
              <p:spPr bwMode="auto">
                <a:xfrm>
                  <a:off x="6446132" y="3107491"/>
                  <a:ext cx="473143" cy="369332"/>
                </a:xfrm>
                <a:prstGeom prst="rect">
                  <a:avLst/>
                </a:prstGeom>
                <a:blipFill>
                  <a:blip r:embed="rId33"/>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5" name="Text Box 27">
                  <a:extLst>
                    <a:ext uri="{FF2B5EF4-FFF2-40B4-BE49-F238E27FC236}">
                      <a16:creationId xmlns:a16="http://schemas.microsoft.com/office/drawing/2014/main" id="{94AC88BD-3FBB-4DEF-1CCD-140D87D5B72D}"/>
                    </a:ext>
                  </a:extLst>
                </p:cNvPr>
                <p:cNvSpPr txBox="1">
                  <a:spLocks noChangeArrowheads="1"/>
                </p:cNvSpPr>
                <p:nvPr>
                  <p:custDataLst>
                    <p:tags r:id="rId9"/>
                  </p:custDataLst>
                </p:nvPr>
              </p:nvSpPr>
              <p:spPr bwMode="auto">
                <a:xfrm>
                  <a:off x="7858374" y="3107491"/>
                  <a:ext cx="703975"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1">
                                    <a:lumMod val="60000"/>
                                    <a:lumOff val="40000"/>
                                  </a:schemeClr>
                                </a:solidFill>
                                <a:latin typeface="Cambria Math" panose="02040503050406030204" pitchFamily="18" charset="0"/>
                              </a:rPr>
                            </m:ctrlPr>
                          </m:sSubPr>
                          <m:e>
                            <m:r>
                              <a:rPr lang="en-US" b="1" i="1" smtClean="0">
                                <a:solidFill>
                                  <a:schemeClr val="accent1">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𝒏</m:t>
                            </m:r>
                            <m:r>
                              <a:rPr lang="en-US" b="1" i="1" smtClean="0">
                                <a:solidFill>
                                  <a:schemeClr val="accent1">
                                    <a:lumMod val="60000"/>
                                    <a:lumOff val="40000"/>
                                  </a:schemeClr>
                                </a:solidFill>
                                <a:latin typeface="Cambria Math" panose="02040503050406030204" pitchFamily="18" charset="0"/>
                              </a:rPr>
                              <m:t>−</m:t>
                            </m:r>
                            <m:r>
                              <a:rPr lang="en-US" b="1" i="1" smtClean="0">
                                <a:solidFill>
                                  <a:schemeClr val="accent1">
                                    <a:lumMod val="60000"/>
                                    <a:lumOff val="40000"/>
                                  </a:schemeClr>
                                </a:solidFill>
                                <a:latin typeface="Cambria Math" panose="02040503050406030204" pitchFamily="18" charset="0"/>
                              </a:rPr>
                              <m:t>𝟏</m:t>
                            </m:r>
                          </m:sub>
                        </m:sSub>
                      </m:oMath>
                    </m:oMathPara>
                  </a14:m>
                  <a:endParaRPr lang="en-US" b="1" dirty="0">
                    <a:solidFill>
                      <a:schemeClr val="accent1">
                        <a:lumMod val="60000"/>
                        <a:lumOff val="40000"/>
                      </a:schemeClr>
                    </a:solidFill>
                  </a:endParaRPr>
                </a:p>
              </p:txBody>
            </p:sp>
          </mc:Choice>
          <mc:Fallback xmlns="">
            <p:sp>
              <p:nvSpPr>
                <p:cNvPr id="34825" name="Text Box 27">
                  <a:extLst>
                    <a:ext uri="{FF2B5EF4-FFF2-40B4-BE49-F238E27FC236}">
                      <a16:creationId xmlns:a16="http://schemas.microsoft.com/office/drawing/2014/main" id="{94AC88BD-3FBB-4DEF-1CCD-140D87D5B72D}"/>
                    </a:ext>
                  </a:extLst>
                </p:cNvPr>
                <p:cNvSpPr txBox="1">
                  <a:spLocks noRot="1" noChangeAspect="1" noMove="1" noResize="1" noEditPoints="1" noAdjustHandles="1" noChangeArrowheads="1" noChangeShapeType="1" noTextEdit="1"/>
                </p:cNvSpPr>
                <p:nvPr>
                  <p:custDataLst>
                    <p:tags r:id="rId34"/>
                  </p:custDataLst>
                </p:nvPr>
              </p:nvSpPr>
              <p:spPr bwMode="auto">
                <a:xfrm>
                  <a:off x="7858374" y="3107491"/>
                  <a:ext cx="703975" cy="369332"/>
                </a:xfrm>
                <a:prstGeom prst="rect">
                  <a:avLst/>
                </a:prstGeom>
                <a:blipFill>
                  <a:blip r:embed="rId3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26" name="Text Box 27">
                  <a:extLst>
                    <a:ext uri="{FF2B5EF4-FFF2-40B4-BE49-F238E27FC236}">
                      <a16:creationId xmlns:a16="http://schemas.microsoft.com/office/drawing/2014/main" id="{FA99C461-A194-9D60-155D-84AC9415ECE4}"/>
                    </a:ext>
                  </a:extLst>
                </p:cNvPr>
                <p:cNvSpPr txBox="1">
                  <a:spLocks noChangeArrowheads="1"/>
                </p:cNvSpPr>
                <p:nvPr>
                  <p:custDataLst>
                    <p:tags r:id="rId10"/>
                  </p:custDataLst>
                </p:nvPr>
              </p:nvSpPr>
              <p:spPr bwMode="auto">
                <a:xfrm>
                  <a:off x="9407814" y="3107491"/>
                  <a:ext cx="481157"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1">
                                    <a:lumMod val="60000"/>
                                    <a:lumOff val="40000"/>
                                  </a:schemeClr>
                                </a:solidFill>
                                <a:latin typeface="Cambria Math" panose="02040503050406030204" pitchFamily="18" charset="0"/>
                              </a:rPr>
                              <m:t>𝒏</m:t>
                            </m:r>
                          </m:sub>
                        </m:sSub>
                      </m:oMath>
                    </m:oMathPara>
                  </a14:m>
                  <a:endParaRPr lang="en-US" b="1" dirty="0">
                    <a:solidFill>
                      <a:schemeClr val="accent3">
                        <a:lumMod val="60000"/>
                        <a:lumOff val="40000"/>
                      </a:schemeClr>
                    </a:solidFill>
                  </a:endParaRPr>
                </a:p>
              </p:txBody>
            </p:sp>
          </mc:Choice>
          <mc:Fallback xmlns="">
            <p:sp>
              <p:nvSpPr>
                <p:cNvPr id="34826" name="Text Box 27">
                  <a:extLst>
                    <a:ext uri="{FF2B5EF4-FFF2-40B4-BE49-F238E27FC236}">
                      <a16:creationId xmlns:a16="http://schemas.microsoft.com/office/drawing/2014/main" id="{FA99C461-A194-9D60-155D-84AC9415ECE4}"/>
                    </a:ext>
                  </a:extLst>
                </p:cNvPr>
                <p:cNvSpPr txBox="1">
                  <a:spLocks noRot="1" noChangeAspect="1" noMove="1" noResize="1" noEditPoints="1" noAdjustHandles="1" noChangeArrowheads="1" noChangeShapeType="1" noTextEdit="1"/>
                </p:cNvSpPr>
                <p:nvPr>
                  <p:custDataLst>
                    <p:tags r:id="rId36"/>
                  </p:custDataLst>
                </p:nvPr>
              </p:nvSpPr>
              <p:spPr bwMode="auto">
                <a:xfrm>
                  <a:off x="9407814" y="3107491"/>
                  <a:ext cx="481157" cy="369332"/>
                </a:xfrm>
                <a:prstGeom prst="rect">
                  <a:avLst/>
                </a:prstGeom>
                <a:blipFill>
                  <a:blip r:embed="rId37"/>
                  <a:stretch>
                    <a:fillRect/>
                  </a:stretch>
                </a:blipFill>
                <a:ln w="9525">
                  <a:noFill/>
                  <a:miter lim="800000"/>
                  <a:headEnd/>
                  <a:tailEnd/>
                </a:ln>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FB658A27-1ACC-A2DF-7B6F-CD533BCFD566}"/>
                </a:ext>
              </a:extLst>
            </p:cNvPr>
            <p:cNvCxnSpPr>
              <a:cxnSpLocks/>
              <a:stCxn id="49" idx="4"/>
              <a:endCxn id="6" idx="1"/>
            </p:cNvCxnSpPr>
            <p:nvPr/>
          </p:nvCxnSpPr>
          <p:spPr>
            <a:xfrm>
              <a:off x="1757903" y="3789849"/>
              <a:ext cx="1539761" cy="1129166"/>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 Box 27">
                  <a:extLst>
                    <a:ext uri="{FF2B5EF4-FFF2-40B4-BE49-F238E27FC236}">
                      <a16:creationId xmlns:a16="http://schemas.microsoft.com/office/drawing/2014/main" id="{B5698113-EBBD-C67F-4CDE-CCAC8E9EC571}"/>
                    </a:ext>
                  </a:extLst>
                </p:cNvPr>
                <p:cNvSpPr txBox="1">
                  <a:spLocks noChangeArrowheads="1"/>
                </p:cNvSpPr>
                <p:nvPr>
                  <p:custDataLst>
                    <p:tags r:id="rId11"/>
                  </p:custDataLst>
                </p:nvPr>
              </p:nvSpPr>
              <p:spPr bwMode="auto">
                <a:xfrm>
                  <a:off x="2142245" y="4276898"/>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𝟓</m:t>
                            </m:r>
                          </m:sub>
                        </m:sSub>
                      </m:oMath>
                    </m:oMathPara>
                  </a14:m>
                  <a:endParaRPr lang="en-US" b="1" dirty="0">
                    <a:solidFill>
                      <a:schemeClr val="accent3">
                        <a:lumMod val="60000"/>
                        <a:lumOff val="40000"/>
                      </a:schemeClr>
                    </a:solidFill>
                  </a:endParaRPr>
                </a:p>
              </p:txBody>
            </p:sp>
          </mc:Choice>
          <mc:Fallback xmlns="">
            <p:sp>
              <p:nvSpPr>
                <p:cNvPr id="5" name="Text Box 27">
                  <a:extLst>
                    <a:ext uri="{FF2B5EF4-FFF2-40B4-BE49-F238E27FC236}">
                      <a16:creationId xmlns:a16="http://schemas.microsoft.com/office/drawing/2014/main" id="{B5698113-EBBD-C67F-4CDE-CCAC8E9EC571}"/>
                    </a:ext>
                  </a:extLst>
                </p:cNvPr>
                <p:cNvSpPr txBox="1">
                  <a:spLocks noRot="1" noChangeAspect="1" noMove="1" noResize="1" noEditPoints="1" noAdjustHandles="1" noChangeArrowheads="1" noChangeShapeType="1" noTextEdit="1"/>
                </p:cNvSpPr>
                <p:nvPr>
                  <p:custDataLst>
                    <p:tags r:id="rId38"/>
                  </p:custDataLst>
                </p:nvPr>
              </p:nvSpPr>
              <p:spPr bwMode="auto">
                <a:xfrm>
                  <a:off x="2142245" y="4276898"/>
                  <a:ext cx="473143" cy="369332"/>
                </a:xfrm>
                <a:prstGeom prst="rect">
                  <a:avLst/>
                </a:prstGeom>
                <a:blipFill>
                  <a:blip r:embed="rId39"/>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F88B955B-47B4-B99A-EFC6-9469651D140E}"/>
                    </a:ext>
                  </a:extLst>
                </p:cNvPr>
                <p:cNvSpPr/>
                <p:nvPr/>
              </p:nvSpPr>
              <p:spPr>
                <a:xfrm>
                  <a:off x="3229430" y="4850781"/>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6" name="Oval 5">
                  <a:extLst>
                    <a:ext uri="{FF2B5EF4-FFF2-40B4-BE49-F238E27FC236}">
                      <a16:creationId xmlns:a16="http://schemas.microsoft.com/office/drawing/2014/main" id="{F88B955B-47B4-B99A-EFC6-9469651D140E}"/>
                    </a:ext>
                  </a:extLst>
                </p:cNvPr>
                <p:cNvSpPr>
                  <a:spLocks noRot="1" noChangeAspect="1" noMove="1" noResize="1" noEditPoints="1" noAdjustHandles="1" noChangeArrowheads="1" noChangeShapeType="1" noTextEdit="1"/>
                </p:cNvSpPr>
                <p:nvPr/>
              </p:nvSpPr>
              <p:spPr>
                <a:xfrm>
                  <a:off x="3229430" y="4850781"/>
                  <a:ext cx="465931" cy="465931"/>
                </a:xfrm>
                <a:prstGeom prst="ellipse">
                  <a:avLst/>
                </a:prstGeom>
                <a:blipFill>
                  <a:blip r:embed="rId4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AB4F3D6B-D073-62D9-F892-DF4F196919A3}"/>
                    </a:ext>
                  </a:extLst>
                </p:cNvPr>
                <p:cNvSpPr/>
                <p:nvPr/>
              </p:nvSpPr>
              <p:spPr>
                <a:xfrm>
                  <a:off x="4645496" y="4862657"/>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6</m:t>
                            </m:r>
                          </m:sub>
                        </m:sSub>
                      </m:oMath>
                    </m:oMathPara>
                  </a14:m>
                  <a:endParaRPr lang="en-US" dirty="0">
                    <a:solidFill>
                      <a:schemeClr val="bg1"/>
                    </a:solidFill>
                  </a:endParaRPr>
                </a:p>
              </p:txBody>
            </p:sp>
          </mc:Choice>
          <mc:Fallback xmlns="">
            <p:sp>
              <p:nvSpPr>
                <p:cNvPr id="8" name="Oval 7">
                  <a:extLst>
                    <a:ext uri="{FF2B5EF4-FFF2-40B4-BE49-F238E27FC236}">
                      <a16:creationId xmlns:a16="http://schemas.microsoft.com/office/drawing/2014/main" id="{AB4F3D6B-D073-62D9-F892-DF4F196919A3}"/>
                    </a:ext>
                  </a:extLst>
                </p:cNvPr>
                <p:cNvSpPr>
                  <a:spLocks noRot="1" noChangeAspect="1" noMove="1" noResize="1" noEditPoints="1" noAdjustHandles="1" noChangeArrowheads="1" noChangeShapeType="1" noTextEdit="1"/>
                </p:cNvSpPr>
                <p:nvPr/>
              </p:nvSpPr>
              <p:spPr>
                <a:xfrm>
                  <a:off x="4645496" y="4862657"/>
                  <a:ext cx="465931" cy="465931"/>
                </a:xfrm>
                <a:prstGeom prst="ellipse">
                  <a:avLst/>
                </a:prstGeom>
                <a:blipFill>
                  <a:blip r:embed="rId4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F970D548-4554-8CBE-7629-666FC9FCE920}"/>
                    </a:ext>
                  </a:extLst>
                </p:cNvPr>
                <p:cNvSpPr/>
                <p:nvPr/>
              </p:nvSpPr>
              <p:spPr>
                <a:xfrm>
                  <a:off x="6057455" y="4850780"/>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7</m:t>
                            </m:r>
                          </m:sub>
                        </m:sSub>
                      </m:oMath>
                    </m:oMathPara>
                  </a14:m>
                  <a:endParaRPr lang="en-US" dirty="0">
                    <a:solidFill>
                      <a:schemeClr val="bg1"/>
                    </a:solidFill>
                  </a:endParaRPr>
                </a:p>
              </p:txBody>
            </p:sp>
          </mc:Choice>
          <mc:Fallback xmlns="">
            <p:sp>
              <p:nvSpPr>
                <p:cNvPr id="9" name="Oval 8">
                  <a:extLst>
                    <a:ext uri="{FF2B5EF4-FFF2-40B4-BE49-F238E27FC236}">
                      <a16:creationId xmlns:a16="http://schemas.microsoft.com/office/drawing/2014/main" id="{F970D548-4554-8CBE-7629-666FC9FCE920}"/>
                    </a:ext>
                  </a:extLst>
                </p:cNvPr>
                <p:cNvSpPr>
                  <a:spLocks noRot="1" noChangeAspect="1" noMove="1" noResize="1" noEditPoints="1" noAdjustHandles="1" noChangeArrowheads="1" noChangeShapeType="1" noTextEdit="1"/>
                </p:cNvSpPr>
                <p:nvPr/>
              </p:nvSpPr>
              <p:spPr>
                <a:xfrm>
                  <a:off x="6057455" y="4850780"/>
                  <a:ext cx="465931" cy="465931"/>
                </a:xfrm>
                <a:prstGeom prst="ellipse">
                  <a:avLst/>
                </a:prstGeom>
                <a:blipFill>
                  <a:blip r:embed="rId4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16C59D98-30C7-BD0B-95FC-C8F9CF3D1AC8}"/>
                    </a:ext>
                  </a:extLst>
                </p:cNvPr>
                <p:cNvSpPr/>
                <p:nvPr/>
              </p:nvSpPr>
              <p:spPr>
                <a:xfrm>
                  <a:off x="7469414" y="4850779"/>
                  <a:ext cx="465931" cy="465931"/>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14" name="Oval 13">
                  <a:extLst>
                    <a:ext uri="{FF2B5EF4-FFF2-40B4-BE49-F238E27FC236}">
                      <a16:creationId xmlns:a16="http://schemas.microsoft.com/office/drawing/2014/main" id="{16C59D98-30C7-BD0B-95FC-C8F9CF3D1AC8}"/>
                    </a:ext>
                  </a:extLst>
                </p:cNvPr>
                <p:cNvSpPr>
                  <a:spLocks noRot="1" noChangeAspect="1" noMove="1" noResize="1" noEditPoints="1" noAdjustHandles="1" noChangeArrowheads="1" noChangeShapeType="1" noTextEdit="1"/>
                </p:cNvSpPr>
                <p:nvPr/>
              </p:nvSpPr>
              <p:spPr>
                <a:xfrm>
                  <a:off x="7469414" y="4850779"/>
                  <a:ext cx="465931" cy="465931"/>
                </a:xfrm>
                <a:prstGeom prst="ellipse">
                  <a:avLst/>
                </a:prstGeom>
                <a:blipFill>
                  <a:blip r:embed="rId43"/>
                  <a:stretch>
                    <a:fillRect/>
                  </a:stretch>
                </a:blipFill>
                <a:ln>
                  <a:solidFill>
                    <a:schemeClr val="bg1"/>
                  </a:solidFill>
                </a:ln>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B48411F8-89ED-CECB-346A-8C0DC7733DF7}"/>
                </a:ext>
              </a:extLst>
            </p:cNvPr>
            <p:cNvCxnSpPr>
              <a:cxnSpLocks/>
              <a:stCxn id="6" idx="6"/>
              <a:endCxn id="8" idx="2"/>
            </p:cNvCxnSpPr>
            <p:nvPr/>
          </p:nvCxnSpPr>
          <p:spPr>
            <a:xfrm>
              <a:off x="3695361" y="5083747"/>
              <a:ext cx="950135" cy="11876"/>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29B8583-3596-1C47-23F1-EED2E705FE34}"/>
                </a:ext>
              </a:extLst>
            </p:cNvPr>
            <p:cNvCxnSpPr>
              <a:cxnSpLocks/>
              <a:stCxn id="8" idx="6"/>
              <a:endCxn id="9" idx="2"/>
            </p:cNvCxnSpPr>
            <p:nvPr/>
          </p:nvCxnSpPr>
          <p:spPr>
            <a:xfrm flipV="1">
              <a:off x="5111427" y="5083746"/>
              <a:ext cx="946028" cy="11877"/>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5990130-BF41-89A1-2495-357CCEF8A8D5}"/>
                </a:ext>
              </a:extLst>
            </p:cNvPr>
            <p:cNvCxnSpPr>
              <a:cxnSpLocks/>
              <a:stCxn id="9" idx="6"/>
              <a:endCxn id="14" idx="2"/>
            </p:cNvCxnSpPr>
            <p:nvPr/>
          </p:nvCxnSpPr>
          <p:spPr>
            <a:xfrm flipV="1">
              <a:off x="6523386" y="5083745"/>
              <a:ext cx="946028" cy="1"/>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EF94019-3B8D-EED8-9305-E60C5867D7FD}"/>
                </a:ext>
              </a:extLst>
            </p:cNvPr>
            <p:cNvCxnSpPr>
              <a:cxnSpLocks/>
              <a:stCxn id="14" idx="7"/>
              <a:endCxn id="59" idx="4"/>
            </p:cNvCxnSpPr>
            <p:nvPr/>
          </p:nvCxnSpPr>
          <p:spPr>
            <a:xfrm flipV="1">
              <a:off x="7867111" y="3789849"/>
              <a:ext cx="1071296" cy="1129164"/>
            </a:xfrm>
            <a:prstGeom prst="straightConnector1">
              <a:avLst/>
            </a:prstGeom>
            <a:ln>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 Box 27">
                  <a:extLst>
                    <a:ext uri="{FF2B5EF4-FFF2-40B4-BE49-F238E27FC236}">
                      <a16:creationId xmlns:a16="http://schemas.microsoft.com/office/drawing/2014/main" id="{0E888827-6F1D-A03F-B50E-5AD102303CB9}"/>
                    </a:ext>
                  </a:extLst>
                </p:cNvPr>
                <p:cNvSpPr txBox="1">
                  <a:spLocks noChangeArrowheads="1"/>
                </p:cNvSpPr>
                <p:nvPr>
                  <p:custDataLst>
                    <p:tags r:id="rId12"/>
                  </p:custDataLst>
                </p:nvPr>
              </p:nvSpPr>
              <p:spPr bwMode="auto">
                <a:xfrm>
                  <a:off x="3895215" y="4652170"/>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𝟔</m:t>
                            </m:r>
                          </m:sub>
                        </m:sSub>
                      </m:oMath>
                    </m:oMathPara>
                  </a14:m>
                  <a:endParaRPr lang="en-US" b="1" dirty="0">
                    <a:solidFill>
                      <a:schemeClr val="accent3">
                        <a:lumMod val="60000"/>
                        <a:lumOff val="40000"/>
                      </a:schemeClr>
                    </a:solidFill>
                  </a:endParaRPr>
                </a:p>
              </p:txBody>
            </p:sp>
          </mc:Choice>
          <mc:Fallback xmlns="">
            <p:sp>
              <p:nvSpPr>
                <p:cNvPr id="23" name="Text Box 27">
                  <a:extLst>
                    <a:ext uri="{FF2B5EF4-FFF2-40B4-BE49-F238E27FC236}">
                      <a16:creationId xmlns:a16="http://schemas.microsoft.com/office/drawing/2014/main" id="{0E888827-6F1D-A03F-B50E-5AD102303CB9}"/>
                    </a:ext>
                  </a:extLst>
                </p:cNvPr>
                <p:cNvSpPr txBox="1">
                  <a:spLocks noRot="1" noChangeAspect="1" noMove="1" noResize="1" noEditPoints="1" noAdjustHandles="1" noChangeArrowheads="1" noChangeShapeType="1" noTextEdit="1"/>
                </p:cNvSpPr>
                <p:nvPr>
                  <p:custDataLst>
                    <p:tags r:id="rId44"/>
                  </p:custDataLst>
                </p:nvPr>
              </p:nvSpPr>
              <p:spPr bwMode="auto">
                <a:xfrm>
                  <a:off x="3895215" y="4652170"/>
                  <a:ext cx="473143" cy="369332"/>
                </a:xfrm>
                <a:prstGeom prst="rect">
                  <a:avLst/>
                </a:prstGeom>
                <a:blipFill>
                  <a:blip r:embed="rId45"/>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 Box 27">
                  <a:extLst>
                    <a:ext uri="{FF2B5EF4-FFF2-40B4-BE49-F238E27FC236}">
                      <a16:creationId xmlns:a16="http://schemas.microsoft.com/office/drawing/2014/main" id="{10E9B0C1-C062-FCE6-9340-C3A470511885}"/>
                    </a:ext>
                  </a:extLst>
                </p:cNvPr>
                <p:cNvSpPr txBox="1">
                  <a:spLocks noChangeArrowheads="1"/>
                </p:cNvSpPr>
                <p:nvPr>
                  <p:custDataLst>
                    <p:tags r:id="rId13"/>
                  </p:custDataLst>
                </p:nvPr>
              </p:nvSpPr>
              <p:spPr bwMode="auto">
                <a:xfrm>
                  <a:off x="5307457" y="4652170"/>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𝟕</m:t>
                            </m:r>
                          </m:sub>
                        </m:sSub>
                      </m:oMath>
                    </m:oMathPara>
                  </a14:m>
                  <a:endParaRPr lang="en-US" b="1" dirty="0">
                    <a:solidFill>
                      <a:schemeClr val="accent3">
                        <a:lumMod val="60000"/>
                        <a:lumOff val="40000"/>
                      </a:schemeClr>
                    </a:solidFill>
                  </a:endParaRPr>
                </a:p>
              </p:txBody>
            </p:sp>
          </mc:Choice>
          <mc:Fallback xmlns="">
            <p:sp>
              <p:nvSpPr>
                <p:cNvPr id="24" name="Text Box 27">
                  <a:extLst>
                    <a:ext uri="{FF2B5EF4-FFF2-40B4-BE49-F238E27FC236}">
                      <a16:creationId xmlns:a16="http://schemas.microsoft.com/office/drawing/2014/main" id="{10E9B0C1-C062-FCE6-9340-C3A470511885}"/>
                    </a:ext>
                  </a:extLst>
                </p:cNvPr>
                <p:cNvSpPr txBox="1">
                  <a:spLocks noRot="1" noChangeAspect="1" noMove="1" noResize="1" noEditPoints="1" noAdjustHandles="1" noChangeArrowheads="1" noChangeShapeType="1" noTextEdit="1"/>
                </p:cNvSpPr>
                <p:nvPr>
                  <p:custDataLst>
                    <p:tags r:id="rId46"/>
                  </p:custDataLst>
                </p:nvPr>
              </p:nvSpPr>
              <p:spPr bwMode="auto">
                <a:xfrm>
                  <a:off x="5307457" y="4652170"/>
                  <a:ext cx="473143" cy="369332"/>
                </a:xfrm>
                <a:prstGeom prst="rect">
                  <a:avLst/>
                </a:prstGeom>
                <a:blipFill>
                  <a:blip r:embed="rId47"/>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 Box 27">
                  <a:extLst>
                    <a:ext uri="{FF2B5EF4-FFF2-40B4-BE49-F238E27FC236}">
                      <a16:creationId xmlns:a16="http://schemas.microsoft.com/office/drawing/2014/main" id="{5874864D-A971-F1FB-5CFE-17E8398E32AF}"/>
                    </a:ext>
                  </a:extLst>
                </p:cNvPr>
                <p:cNvSpPr txBox="1">
                  <a:spLocks noChangeArrowheads="1"/>
                </p:cNvSpPr>
                <p:nvPr>
                  <p:custDataLst>
                    <p:tags r:id="rId14"/>
                  </p:custDataLst>
                </p:nvPr>
              </p:nvSpPr>
              <p:spPr bwMode="auto">
                <a:xfrm>
                  <a:off x="6734559" y="4646230"/>
                  <a:ext cx="473143"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𝟖</m:t>
                            </m:r>
                          </m:sub>
                        </m:sSub>
                      </m:oMath>
                    </m:oMathPara>
                  </a14:m>
                  <a:endParaRPr lang="en-US" b="1" dirty="0">
                    <a:solidFill>
                      <a:schemeClr val="accent3">
                        <a:lumMod val="60000"/>
                        <a:lumOff val="40000"/>
                      </a:schemeClr>
                    </a:solidFill>
                  </a:endParaRPr>
                </a:p>
              </p:txBody>
            </p:sp>
          </mc:Choice>
          <mc:Fallback xmlns="">
            <p:sp>
              <p:nvSpPr>
                <p:cNvPr id="26" name="Text Box 27">
                  <a:extLst>
                    <a:ext uri="{FF2B5EF4-FFF2-40B4-BE49-F238E27FC236}">
                      <a16:creationId xmlns:a16="http://schemas.microsoft.com/office/drawing/2014/main" id="{5874864D-A971-F1FB-5CFE-17E8398E32AF}"/>
                    </a:ext>
                  </a:extLst>
                </p:cNvPr>
                <p:cNvSpPr txBox="1">
                  <a:spLocks noRot="1" noChangeAspect="1" noMove="1" noResize="1" noEditPoints="1" noAdjustHandles="1" noChangeArrowheads="1" noChangeShapeType="1" noTextEdit="1"/>
                </p:cNvSpPr>
                <p:nvPr>
                  <p:custDataLst>
                    <p:tags r:id="rId48"/>
                  </p:custDataLst>
                </p:nvPr>
              </p:nvSpPr>
              <p:spPr bwMode="auto">
                <a:xfrm>
                  <a:off x="6734559" y="4646230"/>
                  <a:ext cx="473143" cy="369332"/>
                </a:xfrm>
                <a:prstGeom prst="rect">
                  <a:avLst/>
                </a:prstGeom>
                <a:blipFill>
                  <a:blip r:embed="rId49"/>
                  <a:stretch>
                    <a:fillRect/>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 Box 27">
                  <a:extLst>
                    <a:ext uri="{FF2B5EF4-FFF2-40B4-BE49-F238E27FC236}">
                      <a16:creationId xmlns:a16="http://schemas.microsoft.com/office/drawing/2014/main" id="{DDDAAB5A-A504-8435-8AA7-952C6CDEE790}"/>
                    </a:ext>
                  </a:extLst>
                </p:cNvPr>
                <p:cNvSpPr txBox="1">
                  <a:spLocks noChangeArrowheads="1"/>
                </p:cNvSpPr>
                <p:nvPr>
                  <p:custDataLst>
                    <p:tags r:id="rId15"/>
                  </p:custDataLst>
                </p:nvPr>
              </p:nvSpPr>
              <p:spPr bwMode="auto">
                <a:xfrm>
                  <a:off x="8313055" y="4354431"/>
                  <a:ext cx="434671" cy="369332"/>
                </a:xfrm>
                <a:prstGeom prst="rect">
                  <a:avLst/>
                </a:prstGeom>
                <a:noFill/>
                <a:ln w="9525">
                  <a:noFill/>
                  <a:miter lim="800000"/>
                  <a:headEnd/>
                  <a:tailEnd/>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accent3">
                                    <a:lumMod val="60000"/>
                                    <a:lumOff val="40000"/>
                                  </a:schemeClr>
                                </a:solidFill>
                                <a:latin typeface="Cambria Math" panose="02040503050406030204" pitchFamily="18" charset="0"/>
                              </a:rPr>
                            </m:ctrlPr>
                          </m:sSubPr>
                          <m:e>
                            <m:r>
                              <a:rPr lang="en-US" b="1" i="1" smtClean="0">
                                <a:solidFill>
                                  <a:schemeClr val="accent3">
                                    <a:lumMod val="60000"/>
                                    <a:lumOff val="40000"/>
                                  </a:schemeClr>
                                </a:solidFill>
                                <a:latin typeface="Cambria Math" panose="02040503050406030204" pitchFamily="18" charset="0"/>
                              </a:rPr>
                              <m:t>𝒄</m:t>
                            </m:r>
                          </m:e>
                          <m:sub>
                            <m:r>
                              <a:rPr lang="en-US" b="1" i="1" smtClean="0">
                                <a:solidFill>
                                  <a:schemeClr val="accent3">
                                    <a:lumMod val="60000"/>
                                    <a:lumOff val="40000"/>
                                  </a:schemeClr>
                                </a:solidFill>
                                <a:latin typeface="Cambria Math" panose="02040503050406030204" pitchFamily="18" charset="0"/>
                              </a:rPr>
                              <m:t>𝒊</m:t>
                            </m:r>
                          </m:sub>
                        </m:sSub>
                      </m:oMath>
                    </m:oMathPara>
                  </a14:m>
                  <a:endParaRPr lang="en-US" b="1" dirty="0">
                    <a:solidFill>
                      <a:schemeClr val="accent3">
                        <a:lumMod val="60000"/>
                        <a:lumOff val="40000"/>
                      </a:schemeClr>
                    </a:solidFill>
                  </a:endParaRPr>
                </a:p>
              </p:txBody>
            </p:sp>
          </mc:Choice>
          <mc:Fallback xmlns="">
            <p:sp>
              <p:nvSpPr>
                <p:cNvPr id="27" name="Text Box 27">
                  <a:extLst>
                    <a:ext uri="{FF2B5EF4-FFF2-40B4-BE49-F238E27FC236}">
                      <a16:creationId xmlns:a16="http://schemas.microsoft.com/office/drawing/2014/main" id="{DDDAAB5A-A504-8435-8AA7-952C6CDEE790}"/>
                    </a:ext>
                  </a:extLst>
                </p:cNvPr>
                <p:cNvSpPr txBox="1">
                  <a:spLocks noRot="1" noChangeAspect="1" noMove="1" noResize="1" noEditPoints="1" noAdjustHandles="1" noChangeArrowheads="1" noChangeShapeType="1" noTextEdit="1"/>
                </p:cNvSpPr>
                <p:nvPr>
                  <p:custDataLst>
                    <p:tags r:id="rId50"/>
                  </p:custDataLst>
                </p:nvPr>
              </p:nvSpPr>
              <p:spPr bwMode="auto">
                <a:xfrm>
                  <a:off x="8313055" y="4354431"/>
                  <a:ext cx="434671" cy="369332"/>
                </a:xfrm>
                <a:prstGeom prst="rect">
                  <a:avLst/>
                </a:prstGeom>
                <a:blipFill>
                  <a:blip r:embed="rId51"/>
                  <a:stretch>
                    <a:fillRect/>
                  </a:stretch>
                </a:blipFill>
                <a:ln w="9525">
                  <a:noFill/>
                  <a:miter lim="800000"/>
                  <a:headEnd/>
                  <a:tailEnd/>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4841D5A7-D7C9-7E88-7FD8-56281C2E201D}"/>
                  </a:ext>
                </a:extLst>
              </p:cNvPr>
              <p:cNvSpPr txBox="1"/>
              <p:nvPr/>
            </p:nvSpPr>
            <p:spPr>
              <a:xfrm>
                <a:off x="1307365" y="5437812"/>
                <a:ext cx="9960159" cy="923330"/>
              </a:xfrm>
              <a:prstGeom prst="rect">
                <a:avLst/>
              </a:prstGeom>
              <a:noFill/>
              <a:ln>
                <a:solidFill>
                  <a:schemeClr val="tx1">
                    <a:lumMod val="95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5</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6</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7</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8</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𝑖</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𝑛</m:t>
                          </m:r>
                        </m:sub>
                      </m:sSub>
                      <m:r>
                        <a:rPr lang="en-US" b="0" i="1" smtClean="0">
                          <a:solidFill>
                            <a:schemeClr val="tx1">
                              <a:lumMod val="95000"/>
                            </a:schemeClr>
                          </a:solidFill>
                          <a:latin typeface="Cambria Math" panose="02040503050406030204" pitchFamily="18" charset="0"/>
                        </a:rPr>
                        <m:t>&lt;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1</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2</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3</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4</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𝑛</m:t>
                          </m:r>
                          <m:r>
                            <a:rPr lang="en-US" b="0" i="1" smtClean="0">
                              <a:solidFill>
                                <a:schemeClr val="accent1">
                                  <a:lumMod val="60000"/>
                                  <a:lumOff val="40000"/>
                                </a:schemeClr>
                              </a:solidFill>
                              <a:latin typeface="Cambria Math" panose="02040503050406030204" pitchFamily="18" charset="0"/>
                            </a:rPr>
                            <m:t>−1</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𝑛</m:t>
                          </m:r>
                        </m:sub>
                      </m:sSub>
                    </m:oMath>
                    <m:oMath xmlns:m="http://schemas.openxmlformats.org/officeDocument/2006/math">
                      <m:sSub>
                        <m:sSubPr>
                          <m:ctrlPr>
                            <a:rPr lang="en-US" i="1">
                              <a:solidFill>
                                <a:schemeClr val="accent3">
                                  <a:lumMod val="60000"/>
                                  <a:lumOff val="40000"/>
                                </a:schemeClr>
                              </a:solidFill>
                              <a:latin typeface="Cambria Math" panose="02040503050406030204" pitchFamily="18" charset="0"/>
                            </a:rPr>
                          </m:ctrlPr>
                        </m:sSubPr>
                        <m:e>
                          <m:r>
                            <a:rPr lang="en-US" i="1">
                              <a:solidFill>
                                <a:schemeClr val="accent3">
                                  <a:lumMod val="60000"/>
                                  <a:lumOff val="40000"/>
                                </a:schemeClr>
                              </a:solidFill>
                              <a:latin typeface="Cambria Math" panose="02040503050406030204" pitchFamily="18" charset="0"/>
                            </a:rPr>
                            <m:t>𝑐</m:t>
                          </m:r>
                        </m:e>
                        <m:sub>
                          <m:r>
                            <a:rPr lang="en-US" i="1">
                              <a:solidFill>
                                <a:schemeClr val="accent3">
                                  <a:lumMod val="60000"/>
                                  <a:lumOff val="40000"/>
                                </a:schemeClr>
                              </a:solidFill>
                              <a:latin typeface="Cambria Math" panose="02040503050406030204" pitchFamily="18" charset="0"/>
                            </a:rPr>
                            <m:t>5</m:t>
                          </m:r>
                        </m:sub>
                      </m:sSub>
                      <m:r>
                        <a:rPr lang="en-US" i="1">
                          <a:solidFill>
                            <a:schemeClr val="accent3">
                              <a:lumMod val="60000"/>
                              <a:lumOff val="40000"/>
                            </a:schemeClr>
                          </a:solidFill>
                          <a:latin typeface="Cambria Math" panose="02040503050406030204" pitchFamily="18" charset="0"/>
                        </a:rPr>
                        <m:t>+</m:t>
                      </m:r>
                      <m:sSub>
                        <m:sSubPr>
                          <m:ctrlPr>
                            <a:rPr lang="en-US" i="1">
                              <a:solidFill>
                                <a:schemeClr val="accent3">
                                  <a:lumMod val="60000"/>
                                  <a:lumOff val="40000"/>
                                </a:schemeClr>
                              </a:solidFill>
                              <a:latin typeface="Cambria Math" panose="02040503050406030204" pitchFamily="18" charset="0"/>
                            </a:rPr>
                          </m:ctrlPr>
                        </m:sSubPr>
                        <m:e>
                          <m:r>
                            <a:rPr lang="en-US" i="1">
                              <a:solidFill>
                                <a:schemeClr val="accent3">
                                  <a:lumMod val="60000"/>
                                  <a:lumOff val="40000"/>
                                </a:schemeClr>
                              </a:solidFill>
                              <a:latin typeface="Cambria Math" panose="02040503050406030204" pitchFamily="18" charset="0"/>
                            </a:rPr>
                            <m:t>𝑐</m:t>
                          </m:r>
                        </m:e>
                        <m:sub>
                          <m:r>
                            <a:rPr lang="en-US" i="1">
                              <a:solidFill>
                                <a:schemeClr val="accent3">
                                  <a:lumMod val="60000"/>
                                  <a:lumOff val="40000"/>
                                </a:schemeClr>
                              </a:solidFill>
                              <a:latin typeface="Cambria Math" panose="02040503050406030204" pitchFamily="18" charset="0"/>
                            </a:rPr>
                            <m:t>6</m:t>
                          </m:r>
                        </m:sub>
                      </m:sSub>
                      <m:r>
                        <a:rPr lang="en-US" i="1">
                          <a:solidFill>
                            <a:schemeClr val="accent3">
                              <a:lumMod val="60000"/>
                              <a:lumOff val="40000"/>
                            </a:schemeClr>
                          </a:solidFill>
                          <a:latin typeface="Cambria Math" panose="02040503050406030204" pitchFamily="18" charset="0"/>
                        </a:rPr>
                        <m:t>+</m:t>
                      </m:r>
                      <m:sSub>
                        <m:sSubPr>
                          <m:ctrlPr>
                            <a:rPr lang="en-US" i="1">
                              <a:solidFill>
                                <a:schemeClr val="accent3">
                                  <a:lumMod val="60000"/>
                                  <a:lumOff val="40000"/>
                                </a:schemeClr>
                              </a:solidFill>
                              <a:latin typeface="Cambria Math" panose="02040503050406030204" pitchFamily="18" charset="0"/>
                            </a:rPr>
                          </m:ctrlPr>
                        </m:sSubPr>
                        <m:e>
                          <m:r>
                            <a:rPr lang="en-US" i="1">
                              <a:solidFill>
                                <a:schemeClr val="accent3">
                                  <a:lumMod val="60000"/>
                                  <a:lumOff val="40000"/>
                                </a:schemeClr>
                              </a:solidFill>
                              <a:latin typeface="Cambria Math" panose="02040503050406030204" pitchFamily="18" charset="0"/>
                            </a:rPr>
                            <m:t>𝑐</m:t>
                          </m:r>
                        </m:e>
                        <m:sub>
                          <m:r>
                            <a:rPr lang="en-US" i="1">
                              <a:solidFill>
                                <a:schemeClr val="accent3">
                                  <a:lumMod val="60000"/>
                                  <a:lumOff val="40000"/>
                                </a:schemeClr>
                              </a:solidFill>
                              <a:latin typeface="Cambria Math" panose="02040503050406030204" pitchFamily="18" charset="0"/>
                            </a:rPr>
                            <m:t>7</m:t>
                          </m:r>
                        </m:sub>
                      </m:sSub>
                      <m:r>
                        <a:rPr lang="en-US" i="1">
                          <a:solidFill>
                            <a:schemeClr val="accent3">
                              <a:lumMod val="60000"/>
                              <a:lumOff val="40000"/>
                            </a:schemeClr>
                          </a:solidFill>
                          <a:latin typeface="Cambria Math" panose="02040503050406030204" pitchFamily="18" charset="0"/>
                        </a:rPr>
                        <m:t>+</m:t>
                      </m:r>
                      <m:sSub>
                        <m:sSubPr>
                          <m:ctrlPr>
                            <a:rPr lang="en-US" i="1">
                              <a:solidFill>
                                <a:schemeClr val="accent3">
                                  <a:lumMod val="60000"/>
                                  <a:lumOff val="40000"/>
                                </a:schemeClr>
                              </a:solidFill>
                              <a:latin typeface="Cambria Math" panose="02040503050406030204" pitchFamily="18" charset="0"/>
                            </a:rPr>
                          </m:ctrlPr>
                        </m:sSubPr>
                        <m:e>
                          <m:r>
                            <a:rPr lang="en-US" i="1">
                              <a:solidFill>
                                <a:schemeClr val="accent3">
                                  <a:lumMod val="60000"/>
                                  <a:lumOff val="40000"/>
                                </a:schemeClr>
                              </a:solidFill>
                              <a:latin typeface="Cambria Math" panose="02040503050406030204" pitchFamily="18" charset="0"/>
                            </a:rPr>
                            <m:t>𝑐</m:t>
                          </m:r>
                        </m:e>
                        <m:sub>
                          <m:r>
                            <a:rPr lang="en-US" i="1">
                              <a:solidFill>
                                <a:schemeClr val="accent3">
                                  <a:lumMod val="60000"/>
                                  <a:lumOff val="40000"/>
                                </a:schemeClr>
                              </a:solidFill>
                              <a:latin typeface="Cambria Math" panose="02040503050406030204" pitchFamily="18" charset="0"/>
                            </a:rPr>
                            <m:t>8</m:t>
                          </m:r>
                        </m:sub>
                      </m:sSub>
                      <m:r>
                        <a:rPr lang="en-US" i="1">
                          <a:solidFill>
                            <a:schemeClr val="accent3">
                              <a:lumMod val="60000"/>
                              <a:lumOff val="40000"/>
                            </a:schemeClr>
                          </a:solidFill>
                          <a:latin typeface="Cambria Math" panose="02040503050406030204" pitchFamily="18" charset="0"/>
                        </a:rPr>
                        <m:t>+…+</m:t>
                      </m:r>
                      <m:sSub>
                        <m:sSubPr>
                          <m:ctrlPr>
                            <a:rPr lang="en-US" i="1">
                              <a:solidFill>
                                <a:schemeClr val="accent3">
                                  <a:lumMod val="60000"/>
                                  <a:lumOff val="40000"/>
                                </a:schemeClr>
                              </a:solidFill>
                              <a:latin typeface="Cambria Math" panose="02040503050406030204" pitchFamily="18" charset="0"/>
                            </a:rPr>
                          </m:ctrlPr>
                        </m:sSubPr>
                        <m:e>
                          <m:r>
                            <a:rPr lang="en-US" i="1">
                              <a:solidFill>
                                <a:schemeClr val="accent3">
                                  <a:lumMod val="60000"/>
                                  <a:lumOff val="40000"/>
                                </a:schemeClr>
                              </a:solidFill>
                              <a:latin typeface="Cambria Math" panose="02040503050406030204" pitchFamily="18" charset="0"/>
                            </a:rPr>
                            <m:t>𝑐</m:t>
                          </m:r>
                        </m:e>
                        <m:sub>
                          <m:r>
                            <a:rPr lang="en-US" i="1">
                              <a:solidFill>
                                <a:schemeClr val="accent3">
                                  <a:lumMod val="60000"/>
                                  <a:lumOff val="40000"/>
                                </a:schemeClr>
                              </a:solidFill>
                              <a:latin typeface="Cambria Math" panose="02040503050406030204" pitchFamily="18" charset="0"/>
                            </a:rPr>
                            <m:t>𝑖</m:t>
                          </m:r>
                        </m:sub>
                      </m:sSub>
                      <m:r>
                        <a:rPr lang="en-US" b="0" i="1" smtClean="0">
                          <a:solidFill>
                            <a:schemeClr val="accent3">
                              <a:lumMod val="60000"/>
                              <a:lumOff val="40000"/>
                            </a:schemeClr>
                          </a:solidFill>
                          <a:latin typeface="Cambria Math" panose="02040503050406030204" pitchFamily="18" charset="0"/>
                        </a:rPr>
                        <m:t>          </m:t>
                      </m:r>
                      <m:r>
                        <a:rPr lang="en-US" i="1">
                          <a:solidFill>
                            <a:schemeClr val="tx1">
                              <a:lumMod val="95000"/>
                            </a:schemeClr>
                          </a:solidFill>
                          <a:latin typeface="Cambria Math" panose="02040503050406030204" pitchFamily="18" charset="0"/>
                        </a:rPr>
                        <m:t>&lt;</m:t>
                      </m:r>
                      <m:sSub>
                        <m:sSubPr>
                          <m:ctrlPr>
                            <a:rPr lang="en-US" i="1" smtClean="0">
                              <a:solidFill>
                                <a:schemeClr val="accent5">
                                  <a:lumMod val="60000"/>
                                  <a:lumOff val="40000"/>
                                </a:schemeClr>
                              </a:solidFill>
                              <a:latin typeface="Cambria Math" panose="02040503050406030204" pitchFamily="18" charset="0"/>
                            </a:rPr>
                          </m:ctrlPr>
                        </m:sSubPr>
                        <m:e>
                          <m:r>
                            <a:rPr lang="en-US" i="1">
                              <a:solidFill>
                                <a:schemeClr val="accent5">
                                  <a:lumMod val="60000"/>
                                  <a:lumOff val="40000"/>
                                </a:schemeClr>
                              </a:solidFill>
                              <a:latin typeface="Cambria Math" panose="02040503050406030204" pitchFamily="18" charset="0"/>
                            </a:rPr>
                            <m:t>𝑐</m:t>
                          </m:r>
                        </m:e>
                        <m:sub>
                          <m:r>
                            <a:rPr lang="en-US" i="1">
                              <a:solidFill>
                                <a:schemeClr val="accent5">
                                  <a:lumMod val="60000"/>
                                  <a:lumOff val="40000"/>
                                </a:schemeClr>
                              </a:solidFill>
                              <a:latin typeface="Cambria Math" panose="02040503050406030204" pitchFamily="18" charset="0"/>
                            </a:rPr>
                            <m:t>1</m:t>
                          </m:r>
                        </m:sub>
                      </m:sSub>
                      <m:r>
                        <a:rPr lang="en-US" i="1">
                          <a:solidFill>
                            <a:schemeClr val="accent5">
                              <a:lumMod val="60000"/>
                              <a:lumOff val="40000"/>
                            </a:schemeClr>
                          </a:solidFill>
                          <a:latin typeface="Cambria Math" panose="02040503050406030204" pitchFamily="18" charset="0"/>
                        </a:rPr>
                        <m:t>+</m:t>
                      </m:r>
                      <m:sSub>
                        <m:sSubPr>
                          <m:ctrlPr>
                            <a:rPr lang="en-US" i="1">
                              <a:solidFill>
                                <a:schemeClr val="accent5">
                                  <a:lumMod val="60000"/>
                                  <a:lumOff val="40000"/>
                                </a:schemeClr>
                              </a:solidFill>
                              <a:latin typeface="Cambria Math" panose="02040503050406030204" pitchFamily="18" charset="0"/>
                            </a:rPr>
                          </m:ctrlPr>
                        </m:sSubPr>
                        <m:e>
                          <m:r>
                            <a:rPr lang="en-US" i="1">
                              <a:solidFill>
                                <a:schemeClr val="accent5">
                                  <a:lumMod val="60000"/>
                                  <a:lumOff val="40000"/>
                                </a:schemeClr>
                              </a:solidFill>
                              <a:latin typeface="Cambria Math" panose="02040503050406030204" pitchFamily="18" charset="0"/>
                            </a:rPr>
                            <m:t>𝑐</m:t>
                          </m:r>
                        </m:e>
                        <m:sub>
                          <m:r>
                            <a:rPr lang="en-US" i="1">
                              <a:solidFill>
                                <a:schemeClr val="accent5">
                                  <a:lumMod val="60000"/>
                                  <a:lumOff val="40000"/>
                                </a:schemeClr>
                              </a:solidFill>
                              <a:latin typeface="Cambria Math" panose="02040503050406030204" pitchFamily="18" charset="0"/>
                            </a:rPr>
                            <m:t>2</m:t>
                          </m:r>
                        </m:sub>
                      </m:sSub>
                      <m:r>
                        <a:rPr lang="en-US" i="1">
                          <a:solidFill>
                            <a:schemeClr val="accent5">
                              <a:lumMod val="60000"/>
                              <a:lumOff val="40000"/>
                            </a:schemeClr>
                          </a:solidFill>
                          <a:latin typeface="Cambria Math" panose="02040503050406030204" pitchFamily="18" charset="0"/>
                        </a:rPr>
                        <m:t>+</m:t>
                      </m:r>
                      <m:sSub>
                        <m:sSubPr>
                          <m:ctrlPr>
                            <a:rPr lang="en-US" i="1">
                              <a:solidFill>
                                <a:schemeClr val="accent5">
                                  <a:lumMod val="60000"/>
                                  <a:lumOff val="40000"/>
                                </a:schemeClr>
                              </a:solidFill>
                              <a:latin typeface="Cambria Math" panose="02040503050406030204" pitchFamily="18" charset="0"/>
                            </a:rPr>
                          </m:ctrlPr>
                        </m:sSubPr>
                        <m:e>
                          <m:r>
                            <a:rPr lang="en-US" i="1">
                              <a:solidFill>
                                <a:schemeClr val="accent5">
                                  <a:lumMod val="60000"/>
                                  <a:lumOff val="40000"/>
                                </a:schemeClr>
                              </a:solidFill>
                              <a:latin typeface="Cambria Math" panose="02040503050406030204" pitchFamily="18" charset="0"/>
                            </a:rPr>
                            <m:t>𝑐</m:t>
                          </m:r>
                        </m:e>
                        <m:sub>
                          <m:r>
                            <a:rPr lang="en-US" i="1">
                              <a:solidFill>
                                <a:schemeClr val="accent5">
                                  <a:lumMod val="60000"/>
                                  <a:lumOff val="40000"/>
                                </a:schemeClr>
                              </a:solidFill>
                              <a:latin typeface="Cambria Math" panose="02040503050406030204" pitchFamily="18" charset="0"/>
                            </a:rPr>
                            <m:t>3</m:t>
                          </m:r>
                        </m:sub>
                      </m:sSub>
                      <m:r>
                        <a:rPr lang="en-US" i="1">
                          <a:solidFill>
                            <a:schemeClr val="accent5">
                              <a:lumMod val="60000"/>
                              <a:lumOff val="40000"/>
                            </a:schemeClr>
                          </a:solidFill>
                          <a:latin typeface="Cambria Math" panose="02040503050406030204" pitchFamily="18" charset="0"/>
                        </a:rPr>
                        <m:t>+</m:t>
                      </m:r>
                      <m:sSub>
                        <m:sSubPr>
                          <m:ctrlPr>
                            <a:rPr lang="en-US" i="1">
                              <a:solidFill>
                                <a:schemeClr val="accent5">
                                  <a:lumMod val="60000"/>
                                  <a:lumOff val="40000"/>
                                </a:schemeClr>
                              </a:solidFill>
                              <a:latin typeface="Cambria Math" panose="02040503050406030204" pitchFamily="18" charset="0"/>
                            </a:rPr>
                          </m:ctrlPr>
                        </m:sSubPr>
                        <m:e>
                          <m:r>
                            <a:rPr lang="en-US" i="1">
                              <a:solidFill>
                                <a:schemeClr val="accent5">
                                  <a:lumMod val="60000"/>
                                  <a:lumOff val="40000"/>
                                </a:schemeClr>
                              </a:solidFill>
                              <a:latin typeface="Cambria Math" panose="02040503050406030204" pitchFamily="18" charset="0"/>
                            </a:rPr>
                            <m:t>𝑐</m:t>
                          </m:r>
                        </m:e>
                        <m:sub>
                          <m:r>
                            <a:rPr lang="en-US" i="1">
                              <a:solidFill>
                                <a:schemeClr val="accent5">
                                  <a:lumMod val="60000"/>
                                  <a:lumOff val="40000"/>
                                </a:schemeClr>
                              </a:solidFill>
                              <a:latin typeface="Cambria Math" panose="02040503050406030204" pitchFamily="18" charset="0"/>
                            </a:rPr>
                            <m:t>4</m:t>
                          </m:r>
                        </m:sub>
                      </m:sSub>
                      <m:r>
                        <a:rPr lang="en-US" i="1">
                          <a:solidFill>
                            <a:schemeClr val="accent5">
                              <a:lumMod val="60000"/>
                              <a:lumOff val="40000"/>
                            </a:schemeClr>
                          </a:solidFill>
                          <a:latin typeface="Cambria Math" panose="02040503050406030204" pitchFamily="18" charset="0"/>
                        </a:rPr>
                        <m:t>+…+</m:t>
                      </m:r>
                      <m:sSub>
                        <m:sSubPr>
                          <m:ctrlPr>
                            <a:rPr lang="en-US" i="1">
                              <a:solidFill>
                                <a:schemeClr val="accent5">
                                  <a:lumMod val="60000"/>
                                  <a:lumOff val="40000"/>
                                </a:schemeClr>
                              </a:solidFill>
                              <a:latin typeface="Cambria Math" panose="02040503050406030204" pitchFamily="18" charset="0"/>
                            </a:rPr>
                          </m:ctrlPr>
                        </m:sSubPr>
                        <m:e>
                          <m:r>
                            <a:rPr lang="en-US" i="1">
                              <a:solidFill>
                                <a:schemeClr val="accent5">
                                  <a:lumMod val="60000"/>
                                  <a:lumOff val="40000"/>
                                </a:schemeClr>
                              </a:solidFill>
                              <a:latin typeface="Cambria Math" panose="02040503050406030204" pitchFamily="18" charset="0"/>
                            </a:rPr>
                            <m:t>𝑐</m:t>
                          </m:r>
                        </m:e>
                        <m:sub>
                          <m:r>
                            <a:rPr lang="en-US" i="1">
                              <a:solidFill>
                                <a:schemeClr val="accent5">
                                  <a:lumMod val="60000"/>
                                  <a:lumOff val="40000"/>
                                </a:schemeClr>
                              </a:solidFill>
                              <a:latin typeface="Cambria Math" panose="02040503050406030204" pitchFamily="18" charset="0"/>
                            </a:rPr>
                            <m:t>𝑛</m:t>
                          </m:r>
                          <m:r>
                            <a:rPr lang="en-US" i="1">
                              <a:solidFill>
                                <a:schemeClr val="accent5">
                                  <a:lumMod val="60000"/>
                                  <a:lumOff val="40000"/>
                                </a:schemeClr>
                              </a:solidFill>
                              <a:latin typeface="Cambria Math" panose="02040503050406030204" pitchFamily="18" charset="0"/>
                            </a:rPr>
                            <m:t>−1</m:t>
                          </m:r>
                        </m:sub>
                      </m:sSub>
                    </m:oMath>
                  </m:oMathPara>
                </a14:m>
                <a:endParaRPr lang="en-US" dirty="0"/>
              </a:p>
              <a:p>
                <a:r>
                  <a:rPr lang="en-US" dirty="0"/>
                  <a:t>		^^^True by last slide (purple path is better than orange path)</a:t>
                </a:r>
              </a:p>
            </p:txBody>
          </p:sp>
        </mc:Choice>
        <mc:Fallback xmlns="">
          <p:sp>
            <p:nvSpPr>
              <p:cNvPr id="40" name="TextBox 39">
                <a:extLst>
                  <a:ext uri="{FF2B5EF4-FFF2-40B4-BE49-F238E27FC236}">
                    <a16:creationId xmlns:a16="http://schemas.microsoft.com/office/drawing/2014/main" id="{4841D5A7-D7C9-7E88-7FD8-56281C2E201D}"/>
                  </a:ext>
                </a:extLst>
              </p:cNvPr>
              <p:cNvSpPr txBox="1">
                <a:spLocks noRot="1" noChangeAspect="1" noMove="1" noResize="1" noEditPoints="1" noAdjustHandles="1" noChangeArrowheads="1" noChangeShapeType="1" noTextEdit="1"/>
              </p:cNvSpPr>
              <p:nvPr/>
            </p:nvSpPr>
            <p:spPr>
              <a:xfrm>
                <a:off x="1307365" y="5437812"/>
                <a:ext cx="9960159" cy="923330"/>
              </a:xfrm>
              <a:prstGeom prst="rect">
                <a:avLst/>
              </a:prstGeom>
              <a:blipFill>
                <a:blip r:embed="rId52"/>
                <a:stretch>
                  <a:fillRect b="-8000"/>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048DC425-8AAD-2092-4165-73762DBE5915}"/>
                  </a:ext>
                </a:extLst>
              </p:cNvPr>
              <p:cNvSpPr txBox="1">
                <a:spLocks noChangeArrowheads="1"/>
              </p:cNvSpPr>
              <p:nvPr>
                <p:custDataLst>
                  <p:tags r:id="rId4"/>
                </p:custDataLst>
              </p:nvPr>
            </p:nvSpPr>
            <p:spPr>
              <a:xfrm>
                <a:off x="1082673" y="2099216"/>
                <a:ext cx="9905999" cy="443454"/>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bg1"/>
                    </a:solidFill>
                  </a:rPr>
                  <a:t>Step 3) Construct a new path </a:t>
                </a:r>
                <a14:m>
                  <m:oMath xmlns:m="http://schemas.openxmlformats.org/officeDocument/2006/math">
                    <m:sSup>
                      <m:sSupPr>
                        <m:ctrlPr>
                          <a:rPr lang="en-US" sz="1800" b="0" i="1" smtClean="0">
                            <a:solidFill>
                              <a:schemeClr val="accent3"/>
                            </a:solidFill>
                            <a:latin typeface="Cambria Math" panose="02040503050406030204" pitchFamily="18" charset="0"/>
                          </a:rPr>
                        </m:ctrlPr>
                      </m:sSupPr>
                      <m:e>
                        <m:r>
                          <a:rPr lang="en-US" sz="1800" b="0" i="1" smtClean="0">
                            <a:solidFill>
                              <a:schemeClr val="accent3"/>
                            </a:solidFill>
                            <a:latin typeface="Cambria Math" panose="02040503050406030204" pitchFamily="18" charset="0"/>
                          </a:rPr>
                          <m:t>𝑃</m:t>
                        </m:r>
                      </m:e>
                      <m:sup>
                        <m:r>
                          <a:rPr lang="en-US" sz="1800" b="0" i="1" smtClean="0">
                            <a:solidFill>
                              <a:schemeClr val="accent3"/>
                            </a:solidFill>
                            <a:latin typeface="Cambria Math" panose="02040503050406030204" pitchFamily="18" charset="0"/>
                          </a:rPr>
                          <m:t>′′</m:t>
                        </m:r>
                      </m:sup>
                    </m:sSup>
                    <m:r>
                      <a:rPr lang="en-US" sz="1800" b="0" i="1" smtClean="0">
                        <a:solidFill>
                          <a:schemeClr val="accent3"/>
                        </a:solidFill>
                        <a:latin typeface="Cambria Math" panose="02040503050406030204" pitchFamily="18" charset="0"/>
                      </a:rPr>
                      <m:t>∪{</m:t>
                    </m:r>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𝑛</m:t>
                        </m:r>
                      </m:sub>
                    </m:sSub>
                    <m:r>
                      <a:rPr lang="en-US" sz="1800" b="0" i="1" smtClean="0">
                        <a:solidFill>
                          <a:schemeClr val="accent3"/>
                        </a:solidFill>
                        <a:latin typeface="Cambria Math" panose="02040503050406030204" pitchFamily="18" charset="0"/>
                      </a:rPr>
                      <m:t>}</m:t>
                    </m:r>
                  </m:oMath>
                </a14:m>
                <a:r>
                  <a:rPr lang="en-US" sz="1800" dirty="0">
                    <a:solidFill>
                      <a:schemeClr val="bg1"/>
                    </a:solidFill>
                  </a:rPr>
                  <a:t> and compare it to </a:t>
                </a:r>
                <a:r>
                  <a:rPr lang="en-US" sz="1800" dirty="0">
                    <a:solidFill>
                      <a:schemeClr val="accent1"/>
                    </a:solidFill>
                  </a:rPr>
                  <a:t>original optimal path P</a:t>
                </a:r>
              </a:p>
            </p:txBody>
          </p:sp>
        </mc:Choice>
        <mc:Fallback xmlns="">
          <p:sp>
            <p:nvSpPr>
              <p:cNvPr id="7" name="Rectangle 3">
                <a:extLst>
                  <a:ext uri="{FF2B5EF4-FFF2-40B4-BE49-F238E27FC236}">
                    <a16:creationId xmlns:a16="http://schemas.microsoft.com/office/drawing/2014/main" id="{048DC425-8AAD-2092-4165-73762DBE5915}"/>
                  </a:ext>
                </a:extLst>
              </p:cNvPr>
              <p:cNvSpPr txBox="1">
                <a:spLocks noRot="1" noChangeAspect="1" noMove="1" noResize="1" noEditPoints="1" noAdjustHandles="1" noChangeArrowheads="1" noChangeShapeType="1" noTextEdit="1"/>
              </p:cNvSpPr>
              <p:nvPr>
                <p:custDataLst>
                  <p:tags r:id="rId53"/>
                </p:custDataLst>
              </p:nvPr>
            </p:nvSpPr>
            <p:spPr>
              <a:xfrm>
                <a:off x="1082673" y="2099216"/>
                <a:ext cx="9905999" cy="443454"/>
              </a:xfrm>
              <a:prstGeom prst="rect">
                <a:avLst/>
              </a:prstGeom>
              <a:blipFill>
                <a:blip r:embed="rId54"/>
                <a:stretch>
                  <a:fillRect l="-384" b="-13514"/>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2356779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F633E-6F0B-0B7B-2C9A-E8057FF24A81}"/>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8581B833-0656-74E9-9951-95B0D130B5FF}"/>
              </a:ext>
            </a:extLst>
          </p:cNvPr>
          <p:cNvSpPr>
            <a:spLocks noGrp="1" noChangeArrowheads="1"/>
          </p:cNvSpPr>
          <p:nvPr>
            <p:ph type="title"/>
            <p:custDataLst>
              <p:tags r:id="rId1"/>
            </p:custDataLst>
          </p:nvPr>
        </p:nvSpPr>
        <p:spPr>
          <a:xfrm>
            <a:off x="1141413" y="238124"/>
            <a:ext cx="9905998" cy="713893"/>
          </a:xfrm>
        </p:spPr>
        <p:txBody>
          <a:bodyPr/>
          <a:lstStyle/>
          <a:p>
            <a:pPr algn="ctr" eaLnBrk="1" hangingPunct="1"/>
            <a:r>
              <a:rPr lang="en-US" dirty="0"/>
              <a:t>Optimal Substructure Proof</a:t>
            </a:r>
          </a:p>
        </p:txBody>
      </p:sp>
      <p:sp>
        <p:nvSpPr>
          <p:cNvPr id="34819" name="Rectangle 3">
            <a:extLst>
              <a:ext uri="{FF2B5EF4-FFF2-40B4-BE49-F238E27FC236}">
                <a16:creationId xmlns:a16="http://schemas.microsoft.com/office/drawing/2014/main" id="{2E48C9FD-C3BC-BBFA-653F-2BED907CAAB6}"/>
              </a:ext>
            </a:extLst>
          </p:cNvPr>
          <p:cNvSpPr>
            <a:spLocks noGrp="1" noChangeArrowheads="1"/>
          </p:cNvSpPr>
          <p:nvPr>
            <p:ph sz="quarter" idx="1"/>
            <p:custDataLst>
              <p:tags r:id="rId2"/>
            </p:custDataLst>
          </p:nvPr>
        </p:nvSpPr>
        <p:spPr>
          <a:xfrm>
            <a:off x="1082673" y="1080868"/>
            <a:ext cx="9905999" cy="443454"/>
          </a:xfrm>
          <a:solidFill>
            <a:schemeClr val="tx1">
              <a:lumMod val="95000"/>
            </a:schemeClr>
          </a:solidFill>
          <a:ln>
            <a:solidFill>
              <a:schemeClr val="bg1"/>
            </a:solidFill>
          </a:ln>
        </p:spPr>
        <p:txBody>
          <a:bodyPr anchor="ctr">
            <a:normAutofit/>
          </a:bodyPr>
          <a:lstStyle/>
          <a:p>
            <a:pPr marL="0" indent="0" eaLnBrk="1" hangingPunct="1">
              <a:buNone/>
            </a:pPr>
            <a:r>
              <a:rPr lang="en-US" sz="1800" dirty="0">
                <a:solidFill>
                  <a:schemeClr val="bg1"/>
                </a:solidFill>
              </a:rPr>
              <a:t>Step 1) Assume, for the sake of contradiction, that </a:t>
            </a:r>
            <a:r>
              <a:rPr lang="en-US" sz="1800" dirty="0">
                <a:solidFill>
                  <a:schemeClr val="accent1"/>
                </a:solidFill>
              </a:rPr>
              <a:t>path P is optimal</a:t>
            </a:r>
            <a:r>
              <a:rPr lang="en-US" sz="1800" dirty="0">
                <a:solidFill>
                  <a:schemeClr val="bg1"/>
                </a:solidFill>
              </a:rPr>
              <a:t>, but </a:t>
            </a:r>
            <a:r>
              <a:rPr lang="en-US" sz="1800" dirty="0">
                <a:solidFill>
                  <a:schemeClr val="accent5"/>
                </a:solidFill>
              </a:rPr>
              <a:t>path P’ is NOT optimal</a:t>
            </a:r>
            <a:r>
              <a:rPr lang="en-US" sz="1800" dirty="0">
                <a:solidFill>
                  <a:schemeClr val="bg1"/>
                </a:solidFill>
              </a:rPr>
              <a:t> </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D2BFD2B7-EF97-C0D1-17D8-45A32755B0B6}"/>
                  </a:ext>
                </a:extLst>
              </p:cNvPr>
              <p:cNvSpPr txBox="1">
                <a:spLocks noChangeArrowheads="1"/>
              </p:cNvSpPr>
              <p:nvPr>
                <p:custDataLst>
                  <p:tags r:id="rId3"/>
                </p:custDataLst>
              </p:nvPr>
            </p:nvSpPr>
            <p:spPr>
              <a:xfrm>
                <a:off x="1082673" y="1586566"/>
                <a:ext cx="9905999" cy="443454"/>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bg1"/>
                    </a:solidFill>
                  </a:rPr>
                  <a:t>Step 2) If </a:t>
                </a:r>
                <a:r>
                  <a:rPr lang="en-US" sz="1800" dirty="0">
                    <a:solidFill>
                      <a:schemeClr val="accent5"/>
                    </a:solidFill>
                  </a:rPr>
                  <a:t>path P’ is NOT optimal</a:t>
                </a:r>
                <a:r>
                  <a:rPr lang="en-US" sz="1800" dirty="0">
                    <a:solidFill>
                      <a:schemeClr val="bg1"/>
                    </a:solidFill>
                  </a:rPr>
                  <a:t>, then there exists a better path </a:t>
                </a:r>
                <a:r>
                  <a:rPr lang="en-US" sz="1800" dirty="0">
                    <a:solidFill>
                      <a:schemeClr val="accent3"/>
                    </a:solidFill>
                  </a:rPr>
                  <a:t>P’’ that goes from </a:t>
                </a:r>
                <a14:m>
                  <m:oMath xmlns:m="http://schemas.openxmlformats.org/officeDocument/2006/math">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1</m:t>
                        </m:r>
                      </m:sub>
                    </m:sSub>
                  </m:oMath>
                </a14:m>
                <a:r>
                  <a:rPr lang="en-US" sz="1800" dirty="0">
                    <a:solidFill>
                      <a:schemeClr val="accent3"/>
                    </a:solidFill>
                  </a:rPr>
                  <a:t> to </a:t>
                </a:r>
                <a14:m>
                  <m:oMath xmlns:m="http://schemas.openxmlformats.org/officeDocument/2006/math">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𝑛</m:t>
                        </m:r>
                        <m:r>
                          <a:rPr lang="en-US" sz="1800" b="0" i="1" smtClean="0">
                            <a:solidFill>
                              <a:schemeClr val="accent3"/>
                            </a:solidFill>
                            <a:latin typeface="Cambria Math" panose="02040503050406030204" pitchFamily="18" charset="0"/>
                          </a:rPr>
                          <m:t>−1</m:t>
                        </m:r>
                      </m:sub>
                    </m:sSub>
                  </m:oMath>
                </a14:m>
                <a:endParaRPr lang="en-US" sz="1800" dirty="0">
                  <a:solidFill>
                    <a:schemeClr val="bg1"/>
                  </a:solidFill>
                </a:endParaRPr>
              </a:p>
            </p:txBody>
          </p:sp>
        </mc:Choice>
        <mc:Fallback xmlns="">
          <p:sp>
            <p:nvSpPr>
              <p:cNvPr id="2" name="Rectangle 3">
                <a:extLst>
                  <a:ext uri="{FF2B5EF4-FFF2-40B4-BE49-F238E27FC236}">
                    <a16:creationId xmlns:a16="http://schemas.microsoft.com/office/drawing/2014/main" id="{D2BFD2B7-EF97-C0D1-17D8-45A32755B0B6}"/>
                  </a:ext>
                </a:extLst>
              </p:cNvPr>
              <p:cNvSpPr txBox="1">
                <a:spLocks noRot="1" noChangeAspect="1" noMove="1" noResize="1" noEditPoints="1" noAdjustHandles="1" noChangeArrowheads="1" noChangeShapeType="1" noTextEdit="1"/>
              </p:cNvSpPr>
              <p:nvPr>
                <p:custDataLst>
                  <p:tags r:id="rId7"/>
                </p:custDataLst>
              </p:nvPr>
            </p:nvSpPr>
            <p:spPr>
              <a:xfrm>
                <a:off x="1082673" y="1586566"/>
                <a:ext cx="9905999" cy="443454"/>
              </a:xfrm>
              <a:prstGeom prst="rect">
                <a:avLst/>
              </a:prstGeom>
              <a:blipFill>
                <a:blip r:embed="rId8"/>
                <a:stretch>
                  <a:fillRect l="-384" b="-13514"/>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CB0F9D7-825E-AC4B-22CC-5478F8819693}"/>
                  </a:ext>
                </a:extLst>
              </p:cNvPr>
              <p:cNvSpPr txBox="1"/>
              <p:nvPr/>
            </p:nvSpPr>
            <p:spPr>
              <a:xfrm>
                <a:off x="1075115" y="3793582"/>
                <a:ext cx="9960159" cy="369397"/>
              </a:xfrm>
              <a:prstGeom prst="rect">
                <a:avLst/>
              </a:prstGeom>
              <a:noFill/>
              <a:ln>
                <a:solidFill>
                  <a:schemeClr val="tx1">
                    <a:lumMod val="95000"/>
                  </a:schemeClr>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5</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6</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7</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8</m:t>
                          </m:r>
                        </m:sub>
                      </m:sSub>
                      <m:r>
                        <a:rPr lang="en-US" b="0" i="1" smtClean="0">
                          <a:solidFill>
                            <a:schemeClr val="accent3">
                              <a:lumMod val="60000"/>
                              <a:lumOff val="40000"/>
                            </a:schemeClr>
                          </a:solidFill>
                          <a:latin typeface="Cambria Math" panose="02040503050406030204" pitchFamily="18" charset="0"/>
                        </a:rPr>
                        <m:t>+…+</m:t>
                      </m:r>
                      <m:sSub>
                        <m:sSubPr>
                          <m:ctrlPr>
                            <a:rPr lang="en-US" b="0" i="1" smtClean="0">
                              <a:solidFill>
                                <a:schemeClr val="accent3">
                                  <a:lumMod val="60000"/>
                                  <a:lumOff val="40000"/>
                                </a:schemeClr>
                              </a:solidFill>
                              <a:latin typeface="Cambria Math" panose="02040503050406030204" pitchFamily="18" charset="0"/>
                            </a:rPr>
                          </m:ctrlPr>
                        </m:sSubPr>
                        <m:e>
                          <m:r>
                            <a:rPr lang="en-US" b="0" i="1" smtClean="0">
                              <a:solidFill>
                                <a:schemeClr val="accent3">
                                  <a:lumMod val="60000"/>
                                  <a:lumOff val="40000"/>
                                </a:schemeClr>
                              </a:solidFill>
                              <a:latin typeface="Cambria Math" panose="02040503050406030204" pitchFamily="18" charset="0"/>
                            </a:rPr>
                            <m:t>𝑐</m:t>
                          </m:r>
                        </m:e>
                        <m:sub>
                          <m:r>
                            <a:rPr lang="en-US" b="0" i="1" smtClean="0">
                              <a:solidFill>
                                <a:schemeClr val="accent3">
                                  <a:lumMod val="60000"/>
                                  <a:lumOff val="40000"/>
                                </a:schemeClr>
                              </a:solidFill>
                              <a:latin typeface="Cambria Math" panose="02040503050406030204" pitchFamily="18" charset="0"/>
                            </a:rPr>
                            <m:t>𝑖</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𝑛</m:t>
                          </m:r>
                        </m:sub>
                      </m:sSub>
                      <m:r>
                        <a:rPr lang="en-US" b="0" i="1" smtClean="0">
                          <a:solidFill>
                            <a:schemeClr val="tx1">
                              <a:lumMod val="95000"/>
                            </a:schemeClr>
                          </a:solidFill>
                          <a:latin typeface="Cambria Math" panose="02040503050406030204" pitchFamily="18" charset="0"/>
                        </a:rPr>
                        <m:t>&lt;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1</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2</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3</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4</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𝑛</m:t>
                          </m:r>
                          <m:r>
                            <a:rPr lang="en-US" b="0" i="1" smtClean="0">
                              <a:solidFill>
                                <a:schemeClr val="accent1">
                                  <a:lumMod val="60000"/>
                                  <a:lumOff val="40000"/>
                                </a:schemeClr>
                              </a:solidFill>
                              <a:latin typeface="Cambria Math" panose="02040503050406030204" pitchFamily="18" charset="0"/>
                            </a:rPr>
                            <m:t>−1</m:t>
                          </m:r>
                        </m:sub>
                      </m:sSub>
                      <m:r>
                        <a:rPr lang="en-US" b="0" i="1" smtClean="0">
                          <a:solidFill>
                            <a:schemeClr val="accent1">
                              <a:lumMod val="60000"/>
                              <a:lumOff val="40000"/>
                            </a:schemeClr>
                          </a:solidFill>
                          <a:latin typeface="Cambria Math" panose="02040503050406030204" pitchFamily="18" charset="0"/>
                        </a:rPr>
                        <m:t>+</m:t>
                      </m:r>
                      <m:sSub>
                        <m:sSubPr>
                          <m:ctrlPr>
                            <a:rPr lang="en-US" b="0" i="1" smtClean="0">
                              <a:solidFill>
                                <a:schemeClr val="accent1">
                                  <a:lumMod val="60000"/>
                                  <a:lumOff val="40000"/>
                                </a:schemeClr>
                              </a:solidFill>
                              <a:latin typeface="Cambria Math" panose="02040503050406030204" pitchFamily="18" charset="0"/>
                            </a:rPr>
                          </m:ctrlPr>
                        </m:sSubPr>
                        <m:e>
                          <m:r>
                            <a:rPr lang="en-US" b="0" i="1" smtClean="0">
                              <a:solidFill>
                                <a:schemeClr val="accent1">
                                  <a:lumMod val="60000"/>
                                  <a:lumOff val="40000"/>
                                </a:schemeClr>
                              </a:solidFill>
                              <a:latin typeface="Cambria Math" panose="02040503050406030204" pitchFamily="18" charset="0"/>
                            </a:rPr>
                            <m:t>𝑐</m:t>
                          </m:r>
                        </m:e>
                        <m:sub>
                          <m:r>
                            <a:rPr lang="en-US" b="0" i="1" smtClean="0">
                              <a:solidFill>
                                <a:schemeClr val="accent1">
                                  <a:lumMod val="60000"/>
                                  <a:lumOff val="40000"/>
                                </a:schemeClr>
                              </a:solidFill>
                              <a:latin typeface="Cambria Math" panose="02040503050406030204" pitchFamily="18" charset="0"/>
                            </a:rPr>
                            <m:t>𝑛</m:t>
                          </m:r>
                        </m:sub>
                      </m:sSub>
                    </m:oMath>
                  </m:oMathPara>
                </a14:m>
                <a:br>
                  <a:rPr lang="en-US" b="0" dirty="0">
                    <a:solidFill>
                      <a:schemeClr val="accent5">
                        <a:lumMod val="60000"/>
                        <a:lumOff val="40000"/>
                      </a:schemeClr>
                    </a:solidFill>
                  </a:rPr>
                </a:br>
                <a:endParaRPr lang="en-US" dirty="0"/>
              </a:p>
            </p:txBody>
          </p:sp>
        </mc:Choice>
        <mc:Fallback xmlns="">
          <p:sp>
            <p:nvSpPr>
              <p:cNvPr id="40" name="TextBox 39">
                <a:extLst>
                  <a:ext uri="{FF2B5EF4-FFF2-40B4-BE49-F238E27FC236}">
                    <a16:creationId xmlns:a16="http://schemas.microsoft.com/office/drawing/2014/main" id="{1CB0F9D7-825E-AC4B-22CC-5478F8819693}"/>
                  </a:ext>
                </a:extLst>
              </p:cNvPr>
              <p:cNvSpPr txBox="1">
                <a:spLocks noRot="1" noChangeAspect="1" noMove="1" noResize="1" noEditPoints="1" noAdjustHandles="1" noChangeArrowheads="1" noChangeShapeType="1" noTextEdit="1"/>
              </p:cNvSpPr>
              <p:nvPr/>
            </p:nvSpPr>
            <p:spPr>
              <a:xfrm>
                <a:off x="1075115" y="3793582"/>
                <a:ext cx="9960159" cy="369397"/>
              </a:xfrm>
              <a:prstGeom prst="rect">
                <a:avLst/>
              </a:prstGeom>
              <a:blipFill>
                <a:blip r:embed="rId9"/>
                <a:stretch>
                  <a:fillRect/>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49273F8B-CB2C-4426-8035-64797751A318}"/>
                  </a:ext>
                </a:extLst>
              </p:cNvPr>
              <p:cNvSpPr txBox="1">
                <a:spLocks noChangeArrowheads="1"/>
              </p:cNvSpPr>
              <p:nvPr>
                <p:custDataLst>
                  <p:tags r:id="rId4"/>
                </p:custDataLst>
              </p:nvPr>
            </p:nvSpPr>
            <p:spPr>
              <a:xfrm>
                <a:off x="1082673" y="2099216"/>
                <a:ext cx="9905999" cy="443454"/>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bg1"/>
                    </a:solidFill>
                  </a:rPr>
                  <a:t>Step 3) Construct a new path </a:t>
                </a:r>
                <a14:m>
                  <m:oMath xmlns:m="http://schemas.openxmlformats.org/officeDocument/2006/math">
                    <m:sSup>
                      <m:sSupPr>
                        <m:ctrlPr>
                          <a:rPr lang="en-US" sz="1800" b="0" i="1" smtClean="0">
                            <a:solidFill>
                              <a:schemeClr val="accent3"/>
                            </a:solidFill>
                            <a:latin typeface="Cambria Math" panose="02040503050406030204" pitchFamily="18" charset="0"/>
                          </a:rPr>
                        </m:ctrlPr>
                      </m:sSupPr>
                      <m:e>
                        <m:r>
                          <a:rPr lang="en-US" sz="1800" b="0" i="1" smtClean="0">
                            <a:solidFill>
                              <a:schemeClr val="accent3"/>
                            </a:solidFill>
                            <a:latin typeface="Cambria Math" panose="02040503050406030204" pitchFamily="18" charset="0"/>
                          </a:rPr>
                          <m:t>𝑃</m:t>
                        </m:r>
                      </m:e>
                      <m:sup>
                        <m:r>
                          <a:rPr lang="en-US" sz="1800" b="0" i="1" smtClean="0">
                            <a:solidFill>
                              <a:schemeClr val="accent3"/>
                            </a:solidFill>
                            <a:latin typeface="Cambria Math" panose="02040503050406030204" pitchFamily="18" charset="0"/>
                          </a:rPr>
                          <m:t>′′</m:t>
                        </m:r>
                      </m:sup>
                    </m:sSup>
                    <m:r>
                      <a:rPr lang="en-US" sz="1800" b="0" i="1" smtClean="0">
                        <a:solidFill>
                          <a:schemeClr val="accent3"/>
                        </a:solidFill>
                        <a:latin typeface="Cambria Math" panose="02040503050406030204" pitchFamily="18" charset="0"/>
                      </a:rPr>
                      <m:t>∪{</m:t>
                    </m:r>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𝑛</m:t>
                        </m:r>
                      </m:sub>
                    </m:sSub>
                    <m:r>
                      <a:rPr lang="en-US" sz="1800" b="0" i="1" smtClean="0">
                        <a:solidFill>
                          <a:schemeClr val="accent3"/>
                        </a:solidFill>
                        <a:latin typeface="Cambria Math" panose="02040503050406030204" pitchFamily="18" charset="0"/>
                      </a:rPr>
                      <m:t>}</m:t>
                    </m:r>
                  </m:oMath>
                </a14:m>
                <a:r>
                  <a:rPr lang="en-US" sz="1800" dirty="0">
                    <a:solidFill>
                      <a:schemeClr val="bg1"/>
                    </a:solidFill>
                  </a:rPr>
                  <a:t> and compare it to </a:t>
                </a:r>
                <a:r>
                  <a:rPr lang="en-US" sz="1800" dirty="0">
                    <a:solidFill>
                      <a:schemeClr val="accent1"/>
                    </a:solidFill>
                  </a:rPr>
                  <a:t>original optimal path P</a:t>
                </a:r>
              </a:p>
            </p:txBody>
          </p:sp>
        </mc:Choice>
        <mc:Fallback xmlns="">
          <p:sp>
            <p:nvSpPr>
              <p:cNvPr id="7" name="Rectangle 3">
                <a:extLst>
                  <a:ext uri="{FF2B5EF4-FFF2-40B4-BE49-F238E27FC236}">
                    <a16:creationId xmlns:a16="http://schemas.microsoft.com/office/drawing/2014/main" id="{49273F8B-CB2C-4426-8035-64797751A318}"/>
                  </a:ext>
                </a:extLst>
              </p:cNvPr>
              <p:cNvSpPr txBox="1">
                <a:spLocks noRot="1" noChangeAspect="1" noMove="1" noResize="1" noEditPoints="1" noAdjustHandles="1" noChangeArrowheads="1" noChangeShapeType="1" noTextEdit="1"/>
              </p:cNvSpPr>
              <p:nvPr>
                <p:custDataLst>
                  <p:tags r:id="rId10"/>
                </p:custDataLst>
              </p:nvPr>
            </p:nvSpPr>
            <p:spPr>
              <a:xfrm>
                <a:off x="1082673" y="2099216"/>
                <a:ext cx="9905999" cy="443454"/>
              </a:xfrm>
              <a:prstGeom prst="rect">
                <a:avLst/>
              </a:prstGeom>
              <a:blipFill>
                <a:blip r:embed="rId11"/>
                <a:stretch>
                  <a:fillRect l="-384" b="-13514"/>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3">
                <a:extLst>
                  <a:ext uri="{FF2B5EF4-FFF2-40B4-BE49-F238E27FC236}">
                    <a16:creationId xmlns:a16="http://schemas.microsoft.com/office/drawing/2014/main" id="{61BE22A4-7DE5-3E3D-A7A5-746374239EA9}"/>
                  </a:ext>
                </a:extLst>
              </p:cNvPr>
              <p:cNvSpPr txBox="1">
                <a:spLocks noChangeArrowheads="1"/>
              </p:cNvSpPr>
              <p:nvPr>
                <p:custDataLst>
                  <p:tags r:id="rId5"/>
                </p:custDataLst>
              </p:nvPr>
            </p:nvSpPr>
            <p:spPr>
              <a:xfrm>
                <a:off x="1082672" y="2611866"/>
                <a:ext cx="9905999" cy="614984"/>
              </a:xfrm>
              <a:prstGeom prst="rect">
                <a:avLst/>
              </a:prstGeom>
              <a:solidFill>
                <a:schemeClr val="tx1">
                  <a:lumMod val="95000"/>
                </a:schemeClr>
              </a:solidFill>
              <a:ln>
                <a:solidFill>
                  <a:schemeClr val="bg1"/>
                </a:solidFill>
              </a:ln>
            </p:spPr>
            <p:txBody>
              <a:bodyPr vert="horz" lIns="91440" tIns="45720" rIns="91440" bIns="45720" rtlCol="0" anchor="ctr">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chemeClr val="bg1"/>
                    </a:solidFill>
                  </a:rPr>
                  <a:t>Step 4) Contradiction, this new path </a:t>
                </a:r>
                <a14:m>
                  <m:oMath xmlns:m="http://schemas.openxmlformats.org/officeDocument/2006/math">
                    <m:sSup>
                      <m:sSupPr>
                        <m:ctrlPr>
                          <a:rPr lang="en-US" sz="1800" b="0" i="1" smtClean="0">
                            <a:solidFill>
                              <a:schemeClr val="accent3"/>
                            </a:solidFill>
                            <a:latin typeface="Cambria Math" panose="02040503050406030204" pitchFamily="18" charset="0"/>
                          </a:rPr>
                        </m:ctrlPr>
                      </m:sSupPr>
                      <m:e>
                        <m:r>
                          <a:rPr lang="en-US" sz="1800" b="0" i="1" smtClean="0">
                            <a:solidFill>
                              <a:schemeClr val="accent3"/>
                            </a:solidFill>
                            <a:latin typeface="Cambria Math" panose="02040503050406030204" pitchFamily="18" charset="0"/>
                          </a:rPr>
                          <m:t>𝑃</m:t>
                        </m:r>
                      </m:e>
                      <m:sup>
                        <m:r>
                          <a:rPr lang="en-US" sz="1800" b="0" i="1" smtClean="0">
                            <a:solidFill>
                              <a:schemeClr val="accent3"/>
                            </a:solidFill>
                            <a:latin typeface="Cambria Math" panose="02040503050406030204" pitchFamily="18" charset="0"/>
                          </a:rPr>
                          <m:t>′′</m:t>
                        </m:r>
                      </m:sup>
                    </m:sSup>
                    <m:r>
                      <a:rPr lang="en-US" sz="1800" b="0" i="1" smtClean="0">
                        <a:solidFill>
                          <a:schemeClr val="accent3"/>
                        </a:solidFill>
                        <a:latin typeface="Cambria Math" panose="02040503050406030204" pitchFamily="18" charset="0"/>
                      </a:rPr>
                      <m:t>∪{</m:t>
                    </m:r>
                    <m:sSub>
                      <m:sSubPr>
                        <m:ctrlPr>
                          <a:rPr lang="en-US" sz="1800" b="0" i="1" smtClean="0">
                            <a:solidFill>
                              <a:schemeClr val="accent3"/>
                            </a:solidFill>
                            <a:latin typeface="Cambria Math" panose="02040503050406030204" pitchFamily="18" charset="0"/>
                          </a:rPr>
                        </m:ctrlPr>
                      </m:sSubPr>
                      <m:e>
                        <m:r>
                          <a:rPr lang="en-US" sz="1800" b="0" i="1" smtClean="0">
                            <a:solidFill>
                              <a:schemeClr val="accent3"/>
                            </a:solidFill>
                            <a:latin typeface="Cambria Math" panose="02040503050406030204" pitchFamily="18" charset="0"/>
                          </a:rPr>
                          <m:t>𝑝</m:t>
                        </m:r>
                      </m:e>
                      <m:sub>
                        <m:r>
                          <a:rPr lang="en-US" sz="1800" b="0" i="1" smtClean="0">
                            <a:solidFill>
                              <a:schemeClr val="accent3"/>
                            </a:solidFill>
                            <a:latin typeface="Cambria Math" panose="02040503050406030204" pitchFamily="18" charset="0"/>
                          </a:rPr>
                          <m:t>𝑛</m:t>
                        </m:r>
                      </m:sub>
                    </m:sSub>
                    <m:r>
                      <a:rPr lang="en-US" sz="1800" b="0" i="1" smtClean="0">
                        <a:solidFill>
                          <a:schemeClr val="accent3"/>
                        </a:solidFill>
                        <a:latin typeface="Cambria Math" panose="02040503050406030204" pitchFamily="18" charset="0"/>
                      </a:rPr>
                      <m:t>}</m:t>
                    </m:r>
                  </m:oMath>
                </a14:m>
                <a:r>
                  <a:rPr lang="en-US" sz="1800" dirty="0">
                    <a:solidFill>
                      <a:schemeClr val="bg1"/>
                    </a:solidFill>
                  </a:rPr>
                  <a:t> has cost lower than the </a:t>
                </a:r>
                <a:r>
                  <a:rPr lang="en-US" sz="1800" dirty="0">
                    <a:solidFill>
                      <a:schemeClr val="accent1"/>
                    </a:solidFill>
                  </a:rPr>
                  <a:t>optimal solution</a:t>
                </a:r>
                <a:r>
                  <a:rPr lang="en-US" sz="1800" dirty="0">
                    <a:solidFill>
                      <a:schemeClr val="bg1"/>
                    </a:solidFill>
                  </a:rPr>
                  <a:t>. Thus, assumption that path </a:t>
                </a:r>
                <a:r>
                  <a:rPr lang="en-US" sz="1800" dirty="0">
                    <a:solidFill>
                      <a:schemeClr val="accent5"/>
                    </a:solidFill>
                  </a:rPr>
                  <a:t>P’ was NOT optimal</a:t>
                </a:r>
                <a:r>
                  <a:rPr lang="en-US" sz="1800" dirty="0">
                    <a:solidFill>
                      <a:schemeClr val="bg1"/>
                    </a:solidFill>
                  </a:rPr>
                  <a:t> is FALSE</a:t>
                </a:r>
              </a:p>
            </p:txBody>
          </p:sp>
        </mc:Choice>
        <mc:Fallback xmlns="">
          <p:sp>
            <p:nvSpPr>
              <p:cNvPr id="10" name="Rectangle 3">
                <a:extLst>
                  <a:ext uri="{FF2B5EF4-FFF2-40B4-BE49-F238E27FC236}">
                    <a16:creationId xmlns:a16="http://schemas.microsoft.com/office/drawing/2014/main" id="{61BE22A4-7DE5-3E3D-A7A5-746374239EA9}"/>
                  </a:ext>
                </a:extLst>
              </p:cNvPr>
              <p:cNvSpPr txBox="1">
                <a:spLocks noRot="1" noChangeAspect="1" noMove="1" noResize="1" noEditPoints="1" noAdjustHandles="1" noChangeArrowheads="1" noChangeShapeType="1" noTextEdit="1"/>
              </p:cNvSpPr>
              <p:nvPr>
                <p:custDataLst>
                  <p:tags r:id="rId12"/>
                </p:custDataLst>
              </p:nvPr>
            </p:nvSpPr>
            <p:spPr>
              <a:xfrm>
                <a:off x="1082672" y="2611866"/>
                <a:ext cx="9905999" cy="614984"/>
              </a:xfrm>
              <a:prstGeom prst="rect">
                <a:avLst/>
              </a:prstGeom>
              <a:blipFill>
                <a:blip r:embed="rId13"/>
                <a:stretch>
                  <a:fillRect l="-256" b="-9804"/>
                </a:stretch>
              </a:blipFill>
              <a:ln>
                <a:solidFill>
                  <a:schemeClr val="bg1"/>
                </a:solidFill>
              </a:ln>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D6B4CFC5-2BBC-9D81-5670-B4DAC43BCDC7}"/>
              </a:ext>
            </a:extLst>
          </p:cNvPr>
          <p:cNvCxnSpPr>
            <a:cxnSpLocks/>
          </p:cNvCxnSpPr>
          <p:nvPr/>
        </p:nvCxnSpPr>
        <p:spPr>
          <a:xfrm>
            <a:off x="6355458" y="4367960"/>
            <a:ext cx="468535" cy="62245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D6BD978-852F-6EC7-B9E6-939BC453F007}"/>
              </a:ext>
            </a:extLst>
          </p:cNvPr>
          <p:cNvSpPr txBox="1"/>
          <p:nvPr/>
        </p:nvSpPr>
        <p:spPr>
          <a:xfrm>
            <a:off x="6703081" y="5085877"/>
            <a:ext cx="3838969" cy="923330"/>
          </a:xfrm>
          <a:prstGeom prst="rect">
            <a:avLst/>
          </a:prstGeom>
          <a:noFill/>
        </p:spPr>
        <p:txBody>
          <a:bodyPr wrap="square" rtlCol="0">
            <a:spAutoFit/>
          </a:bodyPr>
          <a:lstStyle/>
          <a:p>
            <a:r>
              <a:rPr lang="en-US" dirty="0"/>
              <a:t>This is the contradiction. The new path we constructed has lower cost than the optimal solution which is impossible.</a:t>
            </a:r>
          </a:p>
        </p:txBody>
      </p:sp>
    </p:spTree>
    <p:extLst>
      <p:ext uri="{BB962C8B-B14F-4D97-AF65-F5344CB8AC3E}">
        <p14:creationId xmlns:p14="http://schemas.microsoft.com/office/powerpoint/2010/main" val="3691547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5D381-3052-AB81-CEB4-8CDE22351E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A242C0-9B1F-8610-8596-3E687B21746F}"/>
              </a:ext>
            </a:extLst>
          </p:cNvPr>
          <p:cNvSpPr>
            <a:spLocks noGrp="1"/>
          </p:cNvSpPr>
          <p:nvPr>
            <p:ph type="title"/>
          </p:nvPr>
        </p:nvSpPr>
        <p:spPr/>
        <p:txBody>
          <a:bodyPr/>
          <a:lstStyle/>
          <a:p>
            <a:pPr algn="ctr"/>
            <a:r>
              <a:rPr lang="en-US" dirty="0"/>
              <a:t>Dijkstra’s Algorithm</a:t>
            </a:r>
          </a:p>
        </p:txBody>
      </p:sp>
    </p:spTree>
    <p:extLst>
      <p:ext uri="{BB962C8B-B14F-4D97-AF65-F5344CB8AC3E}">
        <p14:creationId xmlns:p14="http://schemas.microsoft.com/office/powerpoint/2010/main" val="1497635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AA570-BFAA-57F1-3D51-4952CD82C98C}"/>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1E50F822-D0FB-6E3B-294E-0D48D6620F42}"/>
              </a:ext>
            </a:extLst>
          </p:cNvPr>
          <p:cNvSpPr>
            <a:spLocks noGrp="1" noChangeArrowheads="1"/>
          </p:cNvSpPr>
          <p:nvPr>
            <p:ph type="title"/>
            <p:custDataLst>
              <p:tags r:id="rId1"/>
            </p:custDataLst>
          </p:nvPr>
        </p:nvSpPr>
        <p:spPr>
          <a:xfrm>
            <a:off x="1141413" y="238124"/>
            <a:ext cx="9905998" cy="713893"/>
          </a:xfrm>
        </p:spPr>
        <p:txBody>
          <a:bodyPr/>
          <a:lstStyle/>
          <a:p>
            <a:pPr algn="ctr" eaLnBrk="1" hangingPunct="1"/>
            <a:r>
              <a:rPr lang="en-US" dirty="0"/>
              <a:t>Dijkstra’s Algorithm</a:t>
            </a:r>
          </a:p>
        </p:txBody>
      </p:sp>
      <p:sp>
        <p:nvSpPr>
          <p:cNvPr id="2" name="Rectangle 3">
            <a:extLst>
              <a:ext uri="{FF2B5EF4-FFF2-40B4-BE49-F238E27FC236}">
                <a16:creationId xmlns:a16="http://schemas.microsoft.com/office/drawing/2014/main" id="{8C109E4C-803D-8ECA-42BF-37CE57147EF0}"/>
              </a:ext>
            </a:extLst>
          </p:cNvPr>
          <p:cNvSpPr txBox="1">
            <a:spLocks noChangeArrowheads="1"/>
          </p:cNvSpPr>
          <p:nvPr>
            <p:custDataLst>
              <p:tags r:id="rId2"/>
            </p:custDataLst>
          </p:nvPr>
        </p:nvSpPr>
        <p:spPr>
          <a:xfrm>
            <a:off x="1082673" y="1141323"/>
            <a:ext cx="9905999" cy="1041401"/>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b="1" i="1" u="sng" dirty="0">
                <a:solidFill>
                  <a:schemeClr val="bg1"/>
                </a:solidFill>
              </a:rPr>
              <a:t>Key Idea</a:t>
            </a:r>
            <a:r>
              <a:rPr lang="en-US" b="1" dirty="0">
                <a:solidFill>
                  <a:schemeClr val="bg1"/>
                </a:solidFill>
              </a:rPr>
              <a:t>: </a:t>
            </a:r>
            <a:r>
              <a:rPr lang="en-US" dirty="0">
                <a:solidFill>
                  <a:schemeClr val="bg1"/>
                </a:solidFill>
              </a:rPr>
              <a:t>Maintain three groups of nodes. </a:t>
            </a:r>
            <a:r>
              <a:rPr lang="en-US" b="1" i="1" dirty="0">
                <a:solidFill>
                  <a:schemeClr val="bg1"/>
                </a:solidFill>
              </a:rPr>
              <a:t>Known </a:t>
            </a:r>
            <a:r>
              <a:rPr lang="en-US" dirty="0">
                <a:solidFill>
                  <a:schemeClr val="bg1"/>
                </a:solidFill>
              </a:rPr>
              <a:t>nodes, </a:t>
            </a:r>
            <a:r>
              <a:rPr lang="en-US" b="1" i="1" dirty="0">
                <a:solidFill>
                  <a:schemeClr val="bg1"/>
                </a:solidFill>
              </a:rPr>
              <a:t>fringe</a:t>
            </a:r>
            <a:r>
              <a:rPr lang="en-US" dirty="0">
                <a:solidFill>
                  <a:schemeClr val="bg1"/>
                </a:solidFill>
              </a:rPr>
              <a:t> nodes, and </a:t>
            </a:r>
            <a:r>
              <a:rPr lang="en-US" b="1" i="1" dirty="0">
                <a:solidFill>
                  <a:schemeClr val="bg1"/>
                </a:solidFill>
              </a:rPr>
              <a:t>unknown</a:t>
            </a:r>
            <a:r>
              <a:rPr lang="en-US" dirty="0">
                <a:solidFill>
                  <a:schemeClr val="bg1"/>
                </a:solidFill>
              </a:rPr>
              <a:t> nodes.</a:t>
            </a:r>
          </a:p>
        </p:txBody>
      </p:sp>
      <p:grpSp>
        <p:nvGrpSpPr>
          <p:cNvPr id="28" name="Group 27">
            <a:extLst>
              <a:ext uri="{FF2B5EF4-FFF2-40B4-BE49-F238E27FC236}">
                <a16:creationId xmlns:a16="http://schemas.microsoft.com/office/drawing/2014/main" id="{D7F106DF-362E-6909-7954-8608C812DACD}"/>
              </a:ext>
            </a:extLst>
          </p:cNvPr>
          <p:cNvGrpSpPr/>
          <p:nvPr/>
        </p:nvGrpSpPr>
        <p:grpSpPr>
          <a:xfrm>
            <a:off x="1792437" y="2478133"/>
            <a:ext cx="7317828" cy="2872614"/>
            <a:chOff x="1105989" y="3139984"/>
            <a:chExt cx="7317828" cy="2872614"/>
          </a:xfrm>
        </p:grpSpPr>
        <p:sp>
          <p:nvSpPr>
            <p:cNvPr id="6" name="Freeform 5">
              <a:extLst>
                <a:ext uri="{FF2B5EF4-FFF2-40B4-BE49-F238E27FC236}">
                  <a16:creationId xmlns:a16="http://schemas.microsoft.com/office/drawing/2014/main" id="{4C32F0ED-A28E-7FC6-C74E-849BAC7F2FD9}"/>
                </a:ext>
              </a:extLst>
            </p:cNvPr>
            <p:cNvSpPr/>
            <p:nvPr/>
          </p:nvSpPr>
          <p:spPr>
            <a:xfrm>
              <a:off x="1105989" y="3139984"/>
              <a:ext cx="4667794" cy="2872614"/>
            </a:xfrm>
            <a:custGeom>
              <a:avLst/>
              <a:gdLst>
                <a:gd name="connsiteX0" fmla="*/ 0 w 4667794"/>
                <a:gd name="connsiteY0" fmla="*/ 940526 h 3500846"/>
                <a:gd name="connsiteX1" fmla="*/ 0 w 4667794"/>
                <a:gd name="connsiteY1" fmla="*/ 940526 h 3500846"/>
                <a:gd name="connsiteX2" fmla="*/ 78377 w 4667794"/>
                <a:gd name="connsiteY2" fmla="*/ 879566 h 3500846"/>
                <a:gd name="connsiteX3" fmla="*/ 156754 w 4667794"/>
                <a:gd name="connsiteY3" fmla="*/ 801189 h 3500846"/>
                <a:gd name="connsiteX4" fmla="*/ 235131 w 4667794"/>
                <a:gd name="connsiteY4" fmla="*/ 740229 h 3500846"/>
                <a:gd name="connsiteX5" fmla="*/ 278674 w 4667794"/>
                <a:gd name="connsiteY5" fmla="*/ 705395 h 3500846"/>
                <a:gd name="connsiteX6" fmla="*/ 304800 w 4667794"/>
                <a:gd name="connsiteY6" fmla="*/ 687977 h 3500846"/>
                <a:gd name="connsiteX7" fmla="*/ 391885 w 4667794"/>
                <a:gd name="connsiteY7" fmla="*/ 618309 h 3500846"/>
                <a:gd name="connsiteX8" fmla="*/ 461554 w 4667794"/>
                <a:gd name="connsiteY8" fmla="*/ 574766 h 3500846"/>
                <a:gd name="connsiteX9" fmla="*/ 583474 w 4667794"/>
                <a:gd name="connsiteY9" fmla="*/ 487680 h 3500846"/>
                <a:gd name="connsiteX10" fmla="*/ 618308 w 4667794"/>
                <a:gd name="connsiteY10" fmla="*/ 461555 h 3500846"/>
                <a:gd name="connsiteX11" fmla="*/ 670560 w 4667794"/>
                <a:gd name="connsiteY11" fmla="*/ 418012 h 3500846"/>
                <a:gd name="connsiteX12" fmla="*/ 705394 w 4667794"/>
                <a:gd name="connsiteY12" fmla="*/ 383177 h 3500846"/>
                <a:gd name="connsiteX13" fmla="*/ 783771 w 4667794"/>
                <a:gd name="connsiteY13" fmla="*/ 322217 h 3500846"/>
                <a:gd name="connsiteX14" fmla="*/ 818605 w 4667794"/>
                <a:gd name="connsiteY14" fmla="*/ 296092 h 3500846"/>
                <a:gd name="connsiteX15" fmla="*/ 870857 w 4667794"/>
                <a:gd name="connsiteY15" fmla="*/ 243840 h 3500846"/>
                <a:gd name="connsiteX16" fmla="*/ 905691 w 4667794"/>
                <a:gd name="connsiteY16" fmla="*/ 226423 h 3500846"/>
                <a:gd name="connsiteX17" fmla="*/ 931817 w 4667794"/>
                <a:gd name="connsiteY17" fmla="*/ 209006 h 3500846"/>
                <a:gd name="connsiteX18" fmla="*/ 1010194 w 4667794"/>
                <a:gd name="connsiteY18" fmla="*/ 165463 h 3500846"/>
                <a:gd name="connsiteX19" fmla="*/ 1132114 w 4667794"/>
                <a:gd name="connsiteY19" fmla="*/ 121920 h 3500846"/>
                <a:gd name="connsiteX20" fmla="*/ 1227908 w 4667794"/>
                <a:gd name="connsiteY20" fmla="*/ 69669 h 3500846"/>
                <a:gd name="connsiteX21" fmla="*/ 1288868 w 4667794"/>
                <a:gd name="connsiteY21" fmla="*/ 43543 h 3500846"/>
                <a:gd name="connsiteX22" fmla="*/ 1358537 w 4667794"/>
                <a:gd name="connsiteY22" fmla="*/ 26126 h 3500846"/>
                <a:gd name="connsiteX23" fmla="*/ 1471748 w 4667794"/>
                <a:gd name="connsiteY23" fmla="*/ 0 h 3500846"/>
                <a:gd name="connsiteX24" fmla="*/ 1750422 w 4667794"/>
                <a:gd name="connsiteY24" fmla="*/ 43543 h 3500846"/>
                <a:gd name="connsiteX25" fmla="*/ 1811382 w 4667794"/>
                <a:gd name="connsiteY25" fmla="*/ 69669 h 3500846"/>
                <a:gd name="connsiteX26" fmla="*/ 1846217 w 4667794"/>
                <a:gd name="connsiteY26" fmla="*/ 78377 h 3500846"/>
                <a:gd name="connsiteX27" fmla="*/ 1968137 w 4667794"/>
                <a:gd name="connsiteY27" fmla="*/ 139337 h 3500846"/>
                <a:gd name="connsiteX28" fmla="*/ 2020388 w 4667794"/>
                <a:gd name="connsiteY28" fmla="*/ 174172 h 3500846"/>
                <a:gd name="connsiteX29" fmla="*/ 2098765 w 4667794"/>
                <a:gd name="connsiteY29" fmla="*/ 243840 h 3500846"/>
                <a:gd name="connsiteX30" fmla="*/ 2133600 w 4667794"/>
                <a:gd name="connsiteY30" fmla="*/ 313509 h 3500846"/>
                <a:gd name="connsiteX31" fmla="*/ 2151017 w 4667794"/>
                <a:gd name="connsiteY31" fmla="*/ 348343 h 3500846"/>
                <a:gd name="connsiteX32" fmla="*/ 2168434 w 4667794"/>
                <a:gd name="connsiteY32" fmla="*/ 400595 h 3500846"/>
                <a:gd name="connsiteX33" fmla="*/ 2185851 w 4667794"/>
                <a:gd name="connsiteY33" fmla="*/ 426720 h 3500846"/>
                <a:gd name="connsiteX34" fmla="*/ 2203268 w 4667794"/>
                <a:gd name="connsiteY34" fmla="*/ 470263 h 3500846"/>
                <a:gd name="connsiteX35" fmla="*/ 2220685 w 4667794"/>
                <a:gd name="connsiteY35" fmla="*/ 505097 h 3500846"/>
                <a:gd name="connsiteX36" fmla="*/ 2238102 w 4667794"/>
                <a:gd name="connsiteY36" fmla="*/ 531223 h 3500846"/>
                <a:gd name="connsiteX37" fmla="*/ 2246811 w 4667794"/>
                <a:gd name="connsiteY37" fmla="*/ 557349 h 3500846"/>
                <a:gd name="connsiteX38" fmla="*/ 2264228 w 4667794"/>
                <a:gd name="connsiteY38" fmla="*/ 592183 h 3500846"/>
                <a:gd name="connsiteX39" fmla="*/ 2290354 w 4667794"/>
                <a:gd name="connsiteY39" fmla="*/ 661852 h 3500846"/>
                <a:gd name="connsiteX40" fmla="*/ 2307771 w 4667794"/>
                <a:gd name="connsiteY40" fmla="*/ 687977 h 3500846"/>
                <a:gd name="connsiteX41" fmla="*/ 2325188 w 4667794"/>
                <a:gd name="connsiteY41" fmla="*/ 731520 h 3500846"/>
                <a:gd name="connsiteX42" fmla="*/ 2351314 w 4667794"/>
                <a:gd name="connsiteY42" fmla="*/ 783772 h 3500846"/>
                <a:gd name="connsiteX43" fmla="*/ 2394857 w 4667794"/>
                <a:gd name="connsiteY43" fmla="*/ 818606 h 3500846"/>
                <a:gd name="connsiteX44" fmla="*/ 2455817 w 4667794"/>
                <a:gd name="connsiteY44" fmla="*/ 836023 h 3500846"/>
                <a:gd name="connsiteX45" fmla="*/ 2629988 w 4667794"/>
                <a:gd name="connsiteY45" fmla="*/ 827315 h 3500846"/>
                <a:gd name="connsiteX46" fmla="*/ 2656114 w 4667794"/>
                <a:gd name="connsiteY46" fmla="*/ 818606 h 3500846"/>
                <a:gd name="connsiteX47" fmla="*/ 2699657 w 4667794"/>
                <a:gd name="connsiteY47" fmla="*/ 801189 h 3500846"/>
                <a:gd name="connsiteX48" fmla="*/ 2760617 w 4667794"/>
                <a:gd name="connsiteY48" fmla="*/ 783772 h 3500846"/>
                <a:gd name="connsiteX49" fmla="*/ 2795451 w 4667794"/>
                <a:gd name="connsiteY49" fmla="*/ 775063 h 3500846"/>
                <a:gd name="connsiteX50" fmla="*/ 2891245 w 4667794"/>
                <a:gd name="connsiteY50" fmla="*/ 757646 h 3500846"/>
                <a:gd name="connsiteX51" fmla="*/ 2934788 w 4667794"/>
                <a:gd name="connsiteY51" fmla="*/ 740229 h 3500846"/>
                <a:gd name="connsiteX52" fmla="*/ 2987040 w 4667794"/>
                <a:gd name="connsiteY52" fmla="*/ 705395 h 3500846"/>
                <a:gd name="connsiteX53" fmla="*/ 3074125 w 4667794"/>
                <a:gd name="connsiteY53" fmla="*/ 679269 h 3500846"/>
                <a:gd name="connsiteX54" fmla="*/ 3108960 w 4667794"/>
                <a:gd name="connsiteY54" fmla="*/ 670560 h 3500846"/>
                <a:gd name="connsiteX55" fmla="*/ 3135085 w 4667794"/>
                <a:gd name="connsiteY55" fmla="*/ 661852 h 3500846"/>
                <a:gd name="connsiteX56" fmla="*/ 3178628 w 4667794"/>
                <a:gd name="connsiteY56" fmla="*/ 653143 h 3500846"/>
                <a:gd name="connsiteX57" fmla="*/ 3248297 w 4667794"/>
                <a:gd name="connsiteY57" fmla="*/ 627017 h 3500846"/>
                <a:gd name="connsiteX58" fmla="*/ 3422468 w 4667794"/>
                <a:gd name="connsiteY58" fmla="*/ 592183 h 3500846"/>
                <a:gd name="connsiteX59" fmla="*/ 3457302 w 4667794"/>
                <a:gd name="connsiteY59" fmla="*/ 583475 h 3500846"/>
                <a:gd name="connsiteX60" fmla="*/ 3614057 w 4667794"/>
                <a:gd name="connsiteY60" fmla="*/ 557349 h 3500846"/>
                <a:gd name="connsiteX61" fmla="*/ 3796937 w 4667794"/>
                <a:gd name="connsiteY61" fmla="*/ 566057 h 3500846"/>
                <a:gd name="connsiteX62" fmla="*/ 3884022 w 4667794"/>
                <a:gd name="connsiteY62" fmla="*/ 583475 h 3500846"/>
                <a:gd name="connsiteX63" fmla="*/ 3936274 w 4667794"/>
                <a:gd name="connsiteY63" fmla="*/ 600892 h 3500846"/>
                <a:gd name="connsiteX64" fmla="*/ 4014651 w 4667794"/>
                <a:gd name="connsiteY64" fmla="*/ 609600 h 3500846"/>
                <a:gd name="connsiteX65" fmla="*/ 4093028 w 4667794"/>
                <a:gd name="connsiteY65" fmla="*/ 635726 h 3500846"/>
                <a:gd name="connsiteX66" fmla="*/ 4119154 w 4667794"/>
                <a:gd name="connsiteY66" fmla="*/ 644435 h 3500846"/>
                <a:gd name="connsiteX67" fmla="*/ 4232365 w 4667794"/>
                <a:gd name="connsiteY67" fmla="*/ 679269 h 3500846"/>
                <a:gd name="connsiteX68" fmla="*/ 4275908 w 4667794"/>
                <a:gd name="connsiteY68" fmla="*/ 705395 h 3500846"/>
                <a:gd name="connsiteX69" fmla="*/ 4310742 w 4667794"/>
                <a:gd name="connsiteY69" fmla="*/ 731520 h 3500846"/>
                <a:gd name="connsiteX70" fmla="*/ 4345577 w 4667794"/>
                <a:gd name="connsiteY70" fmla="*/ 783772 h 3500846"/>
                <a:gd name="connsiteX71" fmla="*/ 4362994 w 4667794"/>
                <a:gd name="connsiteY71" fmla="*/ 809897 h 3500846"/>
                <a:gd name="connsiteX72" fmla="*/ 4389120 w 4667794"/>
                <a:gd name="connsiteY72" fmla="*/ 844732 h 3500846"/>
                <a:gd name="connsiteX73" fmla="*/ 4415245 w 4667794"/>
                <a:gd name="connsiteY73" fmla="*/ 896983 h 3500846"/>
                <a:gd name="connsiteX74" fmla="*/ 4450080 w 4667794"/>
                <a:gd name="connsiteY74" fmla="*/ 966652 h 3500846"/>
                <a:gd name="connsiteX75" fmla="*/ 4467497 w 4667794"/>
                <a:gd name="connsiteY75" fmla="*/ 1018903 h 3500846"/>
                <a:gd name="connsiteX76" fmla="*/ 4519748 w 4667794"/>
                <a:gd name="connsiteY76" fmla="*/ 1132115 h 3500846"/>
                <a:gd name="connsiteX77" fmla="*/ 4545874 w 4667794"/>
                <a:gd name="connsiteY77" fmla="*/ 1210492 h 3500846"/>
                <a:gd name="connsiteX78" fmla="*/ 4563291 w 4667794"/>
                <a:gd name="connsiteY78" fmla="*/ 1262743 h 3500846"/>
                <a:gd name="connsiteX79" fmla="*/ 4606834 w 4667794"/>
                <a:gd name="connsiteY79" fmla="*/ 1375955 h 3500846"/>
                <a:gd name="connsiteX80" fmla="*/ 4624251 w 4667794"/>
                <a:gd name="connsiteY80" fmla="*/ 1445623 h 3500846"/>
                <a:gd name="connsiteX81" fmla="*/ 4632960 w 4667794"/>
                <a:gd name="connsiteY81" fmla="*/ 1471749 h 3500846"/>
                <a:gd name="connsiteX82" fmla="*/ 4650377 w 4667794"/>
                <a:gd name="connsiteY82" fmla="*/ 1532709 h 3500846"/>
                <a:gd name="connsiteX83" fmla="*/ 4659085 w 4667794"/>
                <a:gd name="connsiteY83" fmla="*/ 1611086 h 3500846"/>
                <a:gd name="connsiteX84" fmla="*/ 4667794 w 4667794"/>
                <a:gd name="connsiteY84" fmla="*/ 1637212 h 3500846"/>
                <a:gd name="connsiteX85" fmla="*/ 4659085 w 4667794"/>
                <a:gd name="connsiteY85" fmla="*/ 1785257 h 3500846"/>
                <a:gd name="connsiteX86" fmla="*/ 4650377 w 4667794"/>
                <a:gd name="connsiteY86" fmla="*/ 1811383 h 3500846"/>
                <a:gd name="connsiteX87" fmla="*/ 4624251 w 4667794"/>
                <a:gd name="connsiteY87" fmla="*/ 1915886 h 3500846"/>
                <a:gd name="connsiteX88" fmla="*/ 4606834 w 4667794"/>
                <a:gd name="connsiteY88" fmla="*/ 1976846 h 3500846"/>
                <a:gd name="connsiteX89" fmla="*/ 4580708 w 4667794"/>
                <a:gd name="connsiteY89" fmla="*/ 2055223 h 3500846"/>
                <a:gd name="connsiteX90" fmla="*/ 4563291 w 4667794"/>
                <a:gd name="connsiteY90" fmla="*/ 2177143 h 3500846"/>
                <a:gd name="connsiteX91" fmla="*/ 4528457 w 4667794"/>
                <a:gd name="connsiteY91" fmla="*/ 2246812 h 3500846"/>
                <a:gd name="connsiteX92" fmla="*/ 4511040 w 4667794"/>
                <a:gd name="connsiteY92" fmla="*/ 2299063 h 3500846"/>
                <a:gd name="connsiteX93" fmla="*/ 4484914 w 4667794"/>
                <a:gd name="connsiteY93" fmla="*/ 2360023 h 3500846"/>
                <a:gd name="connsiteX94" fmla="*/ 4458788 w 4667794"/>
                <a:gd name="connsiteY94" fmla="*/ 2438400 h 3500846"/>
                <a:gd name="connsiteX95" fmla="*/ 4432662 w 4667794"/>
                <a:gd name="connsiteY95" fmla="*/ 2473235 h 3500846"/>
                <a:gd name="connsiteX96" fmla="*/ 4380411 w 4667794"/>
                <a:gd name="connsiteY96" fmla="*/ 2595155 h 3500846"/>
                <a:gd name="connsiteX97" fmla="*/ 4354285 w 4667794"/>
                <a:gd name="connsiteY97" fmla="*/ 2629989 h 3500846"/>
                <a:gd name="connsiteX98" fmla="*/ 4328160 w 4667794"/>
                <a:gd name="connsiteY98" fmla="*/ 2690949 h 3500846"/>
                <a:gd name="connsiteX99" fmla="*/ 4275908 w 4667794"/>
                <a:gd name="connsiteY99" fmla="*/ 2786743 h 3500846"/>
                <a:gd name="connsiteX100" fmla="*/ 4249782 w 4667794"/>
                <a:gd name="connsiteY100" fmla="*/ 2812869 h 3500846"/>
                <a:gd name="connsiteX101" fmla="*/ 4180114 w 4667794"/>
                <a:gd name="connsiteY101" fmla="*/ 2891246 h 3500846"/>
                <a:gd name="connsiteX102" fmla="*/ 4145280 w 4667794"/>
                <a:gd name="connsiteY102" fmla="*/ 2926080 h 3500846"/>
                <a:gd name="connsiteX103" fmla="*/ 3988525 w 4667794"/>
                <a:gd name="connsiteY103" fmla="*/ 3056709 h 3500846"/>
                <a:gd name="connsiteX104" fmla="*/ 3918857 w 4667794"/>
                <a:gd name="connsiteY104" fmla="*/ 3100252 h 3500846"/>
                <a:gd name="connsiteX105" fmla="*/ 3840480 w 4667794"/>
                <a:gd name="connsiteY105" fmla="*/ 3135086 h 3500846"/>
                <a:gd name="connsiteX106" fmla="*/ 3753394 w 4667794"/>
                <a:gd name="connsiteY106" fmla="*/ 3178629 h 3500846"/>
                <a:gd name="connsiteX107" fmla="*/ 3666308 w 4667794"/>
                <a:gd name="connsiteY107" fmla="*/ 3204755 h 3500846"/>
                <a:gd name="connsiteX108" fmla="*/ 3483428 w 4667794"/>
                <a:gd name="connsiteY108" fmla="*/ 3274423 h 3500846"/>
                <a:gd name="connsiteX109" fmla="*/ 3344091 w 4667794"/>
                <a:gd name="connsiteY109" fmla="*/ 3309257 h 3500846"/>
                <a:gd name="connsiteX110" fmla="*/ 3248297 w 4667794"/>
                <a:gd name="connsiteY110" fmla="*/ 3344092 h 3500846"/>
                <a:gd name="connsiteX111" fmla="*/ 3204754 w 4667794"/>
                <a:gd name="connsiteY111" fmla="*/ 3352800 h 3500846"/>
                <a:gd name="connsiteX112" fmla="*/ 3021874 w 4667794"/>
                <a:gd name="connsiteY112" fmla="*/ 3413760 h 3500846"/>
                <a:gd name="connsiteX113" fmla="*/ 2882537 w 4667794"/>
                <a:gd name="connsiteY113" fmla="*/ 3439886 h 3500846"/>
                <a:gd name="connsiteX114" fmla="*/ 2786742 w 4667794"/>
                <a:gd name="connsiteY114" fmla="*/ 3466012 h 3500846"/>
                <a:gd name="connsiteX115" fmla="*/ 2638697 w 4667794"/>
                <a:gd name="connsiteY115" fmla="*/ 3492137 h 3500846"/>
                <a:gd name="connsiteX116" fmla="*/ 2481942 w 4667794"/>
                <a:gd name="connsiteY116" fmla="*/ 3500846 h 3500846"/>
                <a:gd name="connsiteX117" fmla="*/ 2151017 w 4667794"/>
                <a:gd name="connsiteY117" fmla="*/ 3483429 h 3500846"/>
                <a:gd name="connsiteX118" fmla="*/ 2098765 w 4667794"/>
                <a:gd name="connsiteY118" fmla="*/ 3474720 h 3500846"/>
                <a:gd name="connsiteX119" fmla="*/ 2002971 w 4667794"/>
                <a:gd name="connsiteY119" fmla="*/ 3466012 h 3500846"/>
                <a:gd name="connsiteX120" fmla="*/ 1811382 w 4667794"/>
                <a:gd name="connsiteY120" fmla="*/ 3431177 h 3500846"/>
                <a:gd name="connsiteX121" fmla="*/ 1741714 w 4667794"/>
                <a:gd name="connsiteY121" fmla="*/ 3405052 h 3500846"/>
                <a:gd name="connsiteX122" fmla="*/ 1637211 w 4667794"/>
                <a:gd name="connsiteY122" fmla="*/ 3378926 h 3500846"/>
                <a:gd name="connsiteX123" fmla="*/ 1576251 w 4667794"/>
                <a:gd name="connsiteY123" fmla="*/ 3344092 h 3500846"/>
                <a:gd name="connsiteX124" fmla="*/ 1550125 w 4667794"/>
                <a:gd name="connsiteY124" fmla="*/ 3335383 h 3500846"/>
                <a:gd name="connsiteX125" fmla="*/ 1489165 w 4667794"/>
                <a:gd name="connsiteY125" fmla="*/ 3309257 h 3500846"/>
                <a:gd name="connsiteX126" fmla="*/ 1384662 w 4667794"/>
                <a:gd name="connsiteY126" fmla="*/ 3265715 h 3500846"/>
                <a:gd name="connsiteX127" fmla="*/ 1123405 w 4667794"/>
                <a:gd name="connsiteY127" fmla="*/ 3126377 h 3500846"/>
                <a:gd name="connsiteX128" fmla="*/ 923108 w 4667794"/>
                <a:gd name="connsiteY128" fmla="*/ 3021875 h 3500846"/>
                <a:gd name="connsiteX129" fmla="*/ 757645 w 4667794"/>
                <a:gd name="connsiteY129" fmla="*/ 2934789 h 3500846"/>
                <a:gd name="connsiteX130" fmla="*/ 722811 w 4667794"/>
                <a:gd name="connsiteY130" fmla="*/ 2908663 h 3500846"/>
                <a:gd name="connsiteX131" fmla="*/ 679268 w 4667794"/>
                <a:gd name="connsiteY131" fmla="*/ 2882537 h 3500846"/>
                <a:gd name="connsiteX132" fmla="*/ 644434 w 4667794"/>
                <a:gd name="connsiteY132" fmla="*/ 2856412 h 3500846"/>
                <a:gd name="connsiteX133" fmla="*/ 539931 w 4667794"/>
                <a:gd name="connsiteY133" fmla="*/ 2769326 h 3500846"/>
                <a:gd name="connsiteX134" fmla="*/ 505097 w 4667794"/>
                <a:gd name="connsiteY134" fmla="*/ 2725783 h 3500846"/>
                <a:gd name="connsiteX135" fmla="*/ 426720 w 4667794"/>
                <a:gd name="connsiteY135" fmla="*/ 2647406 h 3500846"/>
                <a:gd name="connsiteX136" fmla="*/ 287382 w 4667794"/>
                <a:gd name="connsiteY136" fmla="*/ 2490652 h 3500846"/>
                <a:gd name="connsiteX137" fmla="*/ 261257 w 4667794"/>
                <a:gd name="connsiteY137" fmla="*/ 2455817 h 3500846"/>
                <a:gd name="connsiteX138" fmla="*/ 191588 w 4667794"/>
                <a:gd name="connsiteY138" fmla="*/ 2325189 h 3500846"/>
                <a:gd name="connsiteX139" fmla="*/ 121920 w 4667794"/>
                <a:gd name="connsiteY139" fmla="*/ 2203269 h 3500846"/>
                <a:gd name="connsiteX140" fmla="*/ 78377 w 4667794"/>
                <a:gd name="connsiteY140" fmla="*/ 2055223 h 3500846"/>
                <a:gd name="connsiteX141" fmla="*/ 69668 w 4667794"/>
                <a:gd name="connsiteY141" fmla="*/ 1994263 h 3500846"/>
                <a:gd name="connsiteX142" fmla="*/ 52251 w 4667794"/>
                <a:gd name="connsiteY142" fmla="*/ 1759132 h 3500846"/>
                <a:gd name="connsiteX143" fmla="*/ 69668 w 4667794"/>
                <a:gd name="connsiteY143" fmla="*/ 1367246 h 3500846"/>
                <a:gd name="connsiteX144" fmla="*/ 78377 w 4667794"/>
                <a:gd name="connsiteY144" fmla="*/ 1341120 h 3500846"/>
                <a:gd name="connsiteX145" fmla="*/ 87085 w 4667794"/>
                <a:gd name="connsiteY145" fmla="*/ 1271452 h 3500846"/>
                <a:gd name="connsiteX146" fmla="*/ 69668 w 4667794"/>
                <a:gd name="connsiteY146" fmla="*/ 1079863 h 3500846"/>
                <a:gd name="connsiteX147" fmla="*/ 52251 w 4667794"/>
                <a:gd name="connsiteY147" fmla="*/ 1027612 h 3500846"/>
                <a:gd name="connsiteX148" fmla="*/ 43542 w 4667794"/>
                <a:gd name="connsiteY148" fmla="*/ 1001486 h 3500846"/>
                <a:gd name="connsiteX149" fmla="*/ 26125 w 4667794"/>
                <a:gd name="connsiteY149" fmla="*/ 975360 h 3500846"/>
                <a:gd name="connsiteX150" fmla="*/ 0 w 4667794"/>
                <a:gd name="connsiteY150" fmla="*/ 940526 h 350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4667794" h="3500846">
                  <a:moveTo>
                    <a:pt x="0" y="940526"/>
                  </a:moveTo>
                  <a:lnTo>
                    <a:pt x="0" y="940526"/>
                  </a:lnTo>
                  <a:cubicBezTo>
                    <a:pt x="26126" y="920206"/>
                    <a:pt x="53640" y="901555"/>
                    <a:pt x="78377" y="879566"/>
                  </a:cubicBezTo>
                  <a:cubicBezTo>
                    <a:pt x="105992" y="855020"/>
                    <a:pt x="127590" y="823872"/>
                    <a:pt x="156754" y="801189"/>
                  </a:cubicBezTo>
                  <a:lnTo>
                    <a:pt x="235131" y="740229"/>
                  </a:lnTo>
                  <a:cubicBezTo>
                    <a:pt x="249747" y="728745"/>
                    <a:pt x="263209" y="715706"/>
                    <a:pt x="278674" y="705395"/>
                  </a:cubicBezTo>
                  <a:cubicBezTo>
                    <a:pt x="287383" y="699589"/>
                    <a:pt x="296504" y="694359"/>
                    <a:pt x="304800" y="687977"/>
                  </a:cubicBezTo>
                  <a:cubicBezTo>
                    <a:pt x="334265" y="665311"/>
                    <a:pt x="358635" y="634934"/>
                    <a:pt x="391885" y="618309"/>
                  </a:cubicBezTo>
                  <a:cubicBezTo>
                    <a:pt x="449814" y="589345"/>
                    <a:pt x="405029" y="614334"/>
                    <a:pt x="461554" y="574766"/>
                  </a:cubicBezTo>
                  <a:cubicBezTo>
                    <a:pt x="588919" y="485610"/>
                    <a:pt x="426388" y="605494"/>
                    <a:pt x="583474" y="487680"/>
                  </a:cubicBezTo>
                  <a:cubicBezTo>
                    <a:pt x="595085" y="478972"/>
                    <a:pt x="607158" y="470847"/>
                    <a:pt x="618308" y="461555"/>
                  </a:cubicBezTo>
                  <a:cubicBezTo>
                    <a:pt x="635725" y="447041"/>
                    <a:pt x="653708" y="433179"/>
                    <a:pt x="670560" y="418012"/>
                  </a:cubicBezTo>
                  <a:cubicBezTo>
                    <a:pt x="682766" y="407027"/>
                    <a:pt x="692858" y="393784"/>
                    <a:pt x="705394" y="383177"/>
                  </a:cubicBezTo>
                  <a:cubicBezTo>
                    <a:pt x="730660" y="361798"/>
                    <a:pt x="757537" y="342397"/>
                    <a:pt x="783771" y="322217"/>
                  </a:cubicBezTo>
                  <a:cubicBezTo>
                    <a:pt x="795275" y="313368"/>
                    <a:pt x="808342" y="306355"/>
                    <a:pt x="818605" y="296092"/>
                  </a:cubicBezTo>
                  <a:cubicBezTo>
                    <a:pt x="836022" y="278675"/>
                    <a:pt x="848826" y="254856"/>
                    <a:pt x="870857" y="243840"/>
                  </a:cubicBezTo>
                  <a:cubicBezTo>
                    <a:pt x="882468" y="238034"/>
                    <a:pt x="894420" y="232864"/>
                    <a:pt x="905691" y="226423"/>
                  </a:cubicBezTo>
                  <a:cubicBezTo>
                    <a:pt x="914778" y="221230"/>
                    <a:pt x="922776" y="214280"/>
                    <a:pt x="931817" y="209006"/>
                  </a:cubicBezTo>
                  <a:cubicBezTo>
                    <a:pt x="957633" y="193947"/>
                    <a:pt x="983463" y="178829"/>
                    <a:pt x="1010194" y="165463"/>
                  </a:cubicBezTo>
                  <a:cubicBezTo>
                    <a:pt x="1131455" y="104832"/>
                    <a:pt x="1010822" y="170437"/>
                    <a:pt x="1132114" y="121920"/>
                  </a:cubicBezTo>
                  <a:cubicBezTo>
                    <a:pt x="1329429" y="42994"/>
                    <a:pt x="1132496" y="117375"/>
                    <a:pt x="1227908" y="69669"/>
                  </a:cubicBezTo>
                  <a:cubicBezTo>
                    <a:pt x="1247682" y="59782"/>
                    <a:pt x="1267895" y="50534"/>
                    <a:pt x="1288868" y="43543"/>
                  </a:cubicBezTo>
                  <a:cubicBezTo>
                    <a:pt x="1311577" y="35973"/>
                    <a:pt x="1335408" y="32294"/>
                    <a:pt x="1358537" y="26126"/>
                  </a:cubicBezTo>
                  <a:cubicBezTo>
                    <a:pt x="1451323" y="1383"/>
                    <a:pt x="1386246" y="14251"/>
                    <a:pt x="1471748" y="0"/>
                  </a:cubicBezTo>
                  <a:cubicBezTo>
                    <a:pt x="1605616" y="9562"/>
                    <a:pt x="1608339" y="3760"/>
                    <a:pt x="1750422" y="43543"/>
                  </a:cubicBezTo>
                  <a:cubicBezTo>
                    <a:pt x="1771711" y="49504"/>
                    <a:pt x="1790605" y="62114"/>
                    <a:pt x="1811382" y="69669"/>
                  </a:cubicBezTo>
                  <a:cubicBezTo>
                    <a:pt x="1822630" y="73759"/>
                    <a:pt x="1834969" y="74287"/>
                    <a:pt x="1846217" y="78377"/>
                  </a:cubicBezTo>
                  <a:cubicBezTo>
                    <a:pt x="1894191" y="95822"/>
                    <a:pt x="1924502" y="112485"/>
                    <a:pt x="1968137" y="139337"/>
                  </a:cubicBezTo>
                  <a:cubicBezTo>
                    <a:pt x="1985965" y="150308"/>
                    <a:pt x="2004187" y="160916"/>
                    <a:pt x="2020388" y="174172"/>
                  </a:cubicBezTo>
                  <a:cubicBezTo>
                    <a:pt x="2217614" y="335541"/>
                    <a:pt x="1946099" y="129342"/>
                    <a:pt x="2098765" y="243840"/>
                  </a:cubicBezTo>
                  <a:lnTo>
                    <a:pt x="2133600" y="313509"/>
                  </a:lnTo>
                  <a:cubicBezTo>
                    <a:pt x="2139406" y="325120"/>
                    <a:pt x="2146912" y="336027"/>
                    <a:pt x="2151017" y="348343"/>
                  </a:cubicBezTo>
                  <a:cubicBezTo>
                    <a:pt x="2156823" y="365760"/>
                    <a:pt x="2160978" y="383818"/>
                    <a:pt x="2168434" y="400595"/>
                  </a:cubicBezTo>
                  <a:cubicBezTo>
                    <a:pt x="2172685" y="410159"/>
                    <a:pt x="2181170" y="417359"/>
                    <a:pt x="2185851" y="426720"/>
                  </a:cubicBezTo>
                  <a:cubicBezTo>
                    <a:pt x="2192842" y="440702"/>
                    <a:pt x="2196919" y="455978"/>
                    <a:pt x="2203268" y="470263"/>
                  </a:cubicBezTo>
                  <a:cubicBezTo>
                    <a:pt x="2208540" y="482126"/>
                    <a:pt x="2214244" y="493826"/>
                    <a:pt x="2220685" y="505097"/>
                  </a:cubicBezTo>
                  <a:cubicBezTo>
                    <a:pt x="2225878" y="514184"/>
                    <a:pt x="2233421" y="521862"/>
                    <a:pt x="2238102" y="531223"/>
                  </a:cubicBezTo>
                  <a:cubicBezTo>
                    <a:pt x="2242207" y="539434"/>
                    <a:pt x="2243195" y="548911"/>
                    <a:pt x="2246811" y="557349"/>
                  </a:cubicBezTo>
                  <a:cubicBezTo>
                    <a:pt x="2251925" y="569281"/>
                    <a:pt x="2259114" y="580251"/>
                    <a:pt x="2264228" y="592183"/>
                  </a:cubicBezTo>
                  <a:cubicBezTo>
                    <a:pt x="2286837" y="644937"/>
                    <a:pt x="2254276" y="589695"/>
                    <a:pt x="2290354" y="661852"/>
                  </a:cubicBezTo>
                  <a:cubicBezTo>
                    <a:pt x="2295035" y="671213"/>
                    <a:pt x="2303090" y="678616"/>
                    <a:pt x="2307771" y="687977"/>
                  </a:cubicBezTo>
                  <a:cubicBezTo>
                    <a:pt x="2314762" y="701959"/>
                    <a:pt x="2319699" y="716883"/>
                    <a:pt x="2325188" y="731520"/>
                  </a:cubicBezTo>
                  <a:cubicBezTo>
                    <a:pt x="2333687" y="754184"/>
                    <a:pt x="2332818" y="765276"/>
                    <a:pt x="2351314" y="783772"/>
                  </a:cubicBezTo>
                  <a:cubicBezTo>
                    <a:pt x="2364457" y="796915"/>
                    <a:pt x="2379095" y="808755"/>
                    <a:pt x="2394857" y="818606"/>
                  </a:cubicBezTo>
                  <a:cubicBezTo>
                    <a:pt x="2403190" y="823814"/>
                    <a:pt x="2450081" y="834589"/>
                    <a:pt x="2455817" y="836023"/>
                  </a:cubicBezTo>
                  <a:cubicBezTo>
                    <a:pt x="2513874" y="833120"/>
                    <a:pt x="2572077" y="832351"/>
                    <a:pt x="2629988" y="827315"/>
                  </a:cubicBezTo>
                  <a:cubicBezTo>
                    <a:pt x="2639133" y="826520"/>
                    <a:pt x="2647519" y="821829"/>
                    <a:pt x="2656114" y="818606"/>
                  </a:cubicBezTo>
                  <a:cubicBezTo>
                    <a:pt x="2670751" y="813117"/>
                    <a:pt x="2684827" y="806132"/>
                    <a:pt x="2699657" y="801189"/>
                  </a:cubicBezTo>
                  <a:cubicBezTo>
                    <a:pt x="2719706" y="794506"/>
                    <a:pt x="2740229" y="789333"/>
                    <a:pt x="2760617" y="783772"/>
                  </a:cubicBezTo>
                  <a:cubicBezTo>
                    <a:pt x="2772164" y="780623"/>
                    <a:pt x="2783675" y="777204"/>
                    <a:pt x="2795451" y="775063"/>
                  </a:cubicBezTo>
                  <a:cubicBezTo>
                    <a:pt x="2835353" y="767808"/>
                    <a:pt x="2855685" y="769499"/>
                    <a:pt x="2891245" y="757646"/>
                  </a:cubicBezTo>
                  <a:cubicBezTo>
                    <a:pt x="2906075" y="752703"/>
                    <a:pt x="2921064" y="747715"/>
                    <a:pt x="2934788" y="740229"/>
                  </a:cubicBezTo>
                  <a:cubicBezTo>
                    <a:pt x="2953165" y="730205"/>
                    <a:pt x="2967181" y="712015"/>
                    <a:pt x="2987040" y="705395"/>
                  </a:cubicBezTo>
                  <a:cubicBezTo>
                    <a:pt x="3026722" y="692167"/>
                    <a:pt x="3019283" y="694226"/>
                    <a:pt x="3074125" y="679269"/>
                  </a:cubicBezTo>
                  <a:cubicBezTo>
                    <a:pt x="3085672" y="676120"/>
                    <a:pt x="3097451" y="673848"/>
                    <a:pt x="3108960" y="670560"/>
                  </a:cubicBezTo>
                  <a:cubicBezTo>
                    <a:pt x="3117786" y="668038"/>
                    <a:pt x="3126180" y="664078"/>
                    <a:pt x="3135085" y="661852"/>
                  </a:cubicBezTo>
                  <a:cubicBezTo>
                    <a:pt x="3149445" y="658262"/>
                    <a:pt x="3164268" y="656733"/>
                    <a:pt x="3178628" y="653143"/>
                  </a:cubicBezTo>
                  <a:cubicBezTo>
                    <a:pt x="3215633" y="643892"/>
                    <a:pt x="3202960" y="640352"/>
                    <a:pt x="3248297" y="627017"/>
                  </a:cubicBezTo>
                  <a:cubicBezTo>
                    <a:pt x="3384269" y="587025"/>
                    <a:pt x="3311458" y="610685"/>
                    <a:pt x="3422468" y="592183"/>
                  </a:cubicBezTo>
                  <a:cubicBezTo>
                    <a:pt x="3434274" y="590215"/>
                    <a:pt x="3445496" y="585443"/>
                    <a:pt x="3457302" y="583475"/>
                  </a:cubicBezTo>
                  <a:cubicBezTo>
                    <a:pt x="3629293" y="554809"/>
                    <a:pt x="3528251" y="578799"/>
                    <a:pt x="3614057" y="557349"/>
                  </a:cubicBezTo>
                  <a:cubicBezTo>
                    <a:pt x="3675017" y="560252"/>
                    <a:pt x="3736075" y="561549"/>
                    <a:pt x="3796937" y="566057"/>
                  </a:cubicBezTo>
                  <a:cubicBezTo>
                    <a:pt x="3817777" y="567601"/>
                    <a:pt x="3861352" y="576674"/>
                    <a:pt x="3884022" y="583475"/>
                  </a:cubicBezTo>
                  <a:cubicBezTo>
                    <a:pt x="3901607" y="588751"/>
                    <a:pt x="3918271" y="597292"/>
                    <a:pt x="3936274" y="600892"/>
                  </a:cubicBezTo>
                  <a:cubicBezTo>
                    <a:pt x="3962050" y="606047"/>
                    <a:pt x="3988525" y="606697"/>
                    <a:pt x="4014651" y="609600"/>
                  </a:cubicBezTo>
                  <a:lnTo>
                    <a:pt x="4093028" y="635726"/>
                  </a:lnTo>
                  <a:cubicBezTo>
                    <a:pt x="4101737" y="638629"/>
                    <a:pt x="4110327" y="641913"/>
                    <a:pt x="4119154" y="644435"/>
                  </a:cubicBezTo>
                  <a:cubicBezTo>
                    <a:pt x="4127153" y="646720"/>
                    <a:pt x="4221410" y="672696"/>
                    <a:pt x="4232365" y="679269"/>
                  </a:cubicBezTo>
                  <a:cubicBezTo>
                    <a:pt x="4246879" y="687978"/>
                    <a:pt x="4261824" y="696006"/>
                    <a:pt x="4275908" y="705395"/>
                  </a:cubicBezTo>
                  <a:cubicBezTo>
                    <a:pt x="4287984" y="713446"/>
                    <a:pt x="4301099" y="720672"/>
                    <a:pt x="4310742" y="731520"/>
                  </a:cubicBezTo>
                  <a:cubicBezTo>
                    <a:pt x="4324649" y="747166"/>
                    <a:pt x="4333965" y="766355"/>
                    <a:pt x="4345577" y="783772"/>
                  </a:cubicBezTo>
                  <a:cubicBezTo>
                    <a:pt x="4351383" y="792480"/>
                    <a:pt x="4356714" y="801524"/>
                    <a:pt x="4362994" y="809897"/>
                  </a:cubicBezTo>
                  <a:cubicBezTo>
                    <a:pt x="4371703" y="821509"/>
                    <a:pt x="4381652" y="832286"/>
                    <a:pt x="4389120" y="844732"/>
                  </a:cubicBezTo>
                  <a:cubicBezTo>
                    <a:pt x="4399139" y="861430"/>
                    <a:pt x="4407756" y="879008"/>
                    <a:pt x="4415245" y="896983"/>
                  </a:cubicBezTo>
                  <a:cubicBezTo>
                    <a:pt x="4443835" y="965600"/>
                    <a:pt x="4415844" y="932418"/>
                    <a:pt x="4450080" y="966652"/>
                  </a:cubicBezTo>
                  <a:cubicBezTo>
                    <a:pt x="4455886" y="984069"/>
                    <a:pt x="4460436" y="1001956"/>
                    <a:pt x="4467497" y="1018903"/>
                  </a:cubicBezTo>
                  <a:cubicBezTo>
                    <a:pt x="4520316" y="1145672"/>
                    <a:pt x="4466869" y="991107"/>
                    <a:pt x="4519748" y="1132115"/>
                  </a:cubicBezTo>
                  <a:cubicBezTo>
                    <a:pt x="4529418" y="1157900"/>
                    <a:pt x="4537165" y="1184366"/>
                    <a:pt x="4545874" y="1210492"/>
                  </a:cubicBezTo>
                  <a:cubicBezTo>
                    <a:pt x="4551680" y="1227909"/>
                    <a:pt x="4556473" y="1245697"/>
                    <a:pt x="4563291" y="1262743"/>
                  </a:cubicBezTo>
                  <a:cubicBezTo>
                    <a:pt x="4565337" y="1267857"/>
                    <a:pt x="4598866" y="1346739"/>
                    <a:pt x="4606834" y="1375955"/>
                  </a:cubicBezTo>
                  <a:cubicBezTo>
                    <a:pt x="4613132" y="1399049"/>
                    <a:pt x="4617953" y="1422529"/>
                    <a:pt x="4624251" y="1445623"/>
                  </a:cubicBezTo>
                  <a:cubicBezTo>
                    <a:pt x="4626666" y="1454479"/>
                    <a:pt x="4630322" y="1462956"/>
                    <a:pt x="4632960" y="1471749"/>
                  </a:cubicBezTo>
                  <a:cubicBezTo>
                    <a:pt x="4639033" y="1491991"/>
                    <a:pt x="4644571" y="1512389"/>
                    <a:pt x="4650377" y="1532709"/>
                  </a:cubicBezTo>
                  <a:cubicBezTo>
                    <a:pt x="4653280" y="1558835"/>
                    <a:pt x="4654764" y="1585157"/>
                    <a:pt x="4659085" y="1611086"/>
                  </a:cubicBezTo>
                  <a:cubicBezTo>
                    <a:pt x="4660594" y="1620141"/>
                    <a:pt x="4667794" y="1628032"/>
                    <a:pt x="4667794" y="1637212"/>
                  </a:cubicBezTo>
                  <a:cubicBezTo>
                    <a:pt x="4667794" y="1686646"/>
                    <a:pt x="4664004" y="1736069"/>
                    <a:pt x="4659085" y="1785257"/>
                  </a:cubicBezTo>
                  <a:cubicBezTo>
                    <a:pt x="4658172" y="1794391"/>
                    <a:pt x="4652742" y="1802513"/>
                    <a:pt x="4650377" y="1811383"/>
                  </a:cubicBezTo>
                  <a:cubicBezTo>
                    <a:pt x="4641125" y="1846077"/>
                    <a:pt x="4635606" y="1881822"/>
                    <a:pt x="4624251" y="1915886"/>
                  </a:cubicBezTo>
                  <a:cubicBezTo>
                    <a:pt x="4586603" y="2028824"/>
                    <a:pt x="4650564" y="1834724"/>
                    <a:pt x="4606834" y="1976846"/>
                  </a:cubicBezTo>
                  <a:cubicBezTo>
                    <a:pt x="4598735" y="2003167"/>
                    <a:pt x="4589417" y="2029097"/>
                    <a:pt x="4580708" y="2055223"/>
                  </a:cubicBezTo>
                  <a:cubicBezTo>
                    <a:pt x="4574902" y="2095863"/>
                    <a:pt x="4574093" y="2137537"/>
                    <a:pt x="4563291" y="2177143"/>
                  </a:cubicBezTo>
                  <a:cubicBezTo>
                    <a:pt x="4556459" y="2202192"/>
                    <a:pt x="4538685" y="2222947"/>
                    <a:pt x="4528457" y="2246812"/>
                  </a:cubicBezTo>
                  <a:cubicBezTo>
                    <a:pt x="4521225" y="2263687"/>
                    <a:pt x="4517631" y="2281928"/>
                    <a:pt x="4511040" y="2299063"/>
                  </a:cubicBezTo>
                  <a:cubicBezTo>
                    <a:pt x="4503104" y="2319697"/>
                    <a:pt x="4492677" y="2339323"/>
                    <a:pt x="4484914" y="2360023"/>
                  </a:cubicBezTo>
                  <a:cubicBezTo>
                    <a:pt x="4475244" y="2385808"/>
                    <a:pt x="4470328" y="2413396"/>
                    <a:pt x="4458788" y="2438400"/>
                  </a:cubicBezTo>
                  <a:cubicBezTo>
                    <a:pt x="4452706" y="2451579"/>
                    <a:pt x="4439153" y="2460253"/>
                    <a:pt x="4432662" y="2473235"/>
                  </a:cubicBezTo>
                  <a:cubicBezTo>
                    <a:pt x="4412889" y="2512782"/>
                    <a:pt x="4406940" y="2559783"/>
                    <a:pt x="4380411" y="2595155"/>
                  </a:cubicBezTo>
                  <a:cubicBezTo>
                    <a:pt x="4371702" y="2606766"/>
                    <a:pt x="4361235" y="2617247"/>
                    <a:pt x="4354285" y="2629989"/>
                  </a:cubicBezTo>
                  <a:cubicBezTo>
                    <a:pt x="4343699" y="2649397"/>
                    <a:pt x="4337308" y="2670823"/>
                    <a:pt x="4328160" y="2690949"/>
                  </a:cubicBezTo>
                  <a:cubicBezTo>
                    <a:pt x="4317049" y="2715394"/>
                    <a:pt x="4286944" y="2770977"/>
                    <a:pt x="4275908" y="2786743"/>
                  </a:cubicBezTo>
                  <a:cubicBezTo>
                    <a:pt x="4268845" y="2796833"/>
                    <a:pt x="4257171" y="2803016"/>
                    <a:pt x="4249782" y="2812869"/>
                  </a:cubicBezTo>
                  <a:cubicBezTo>
                    <a:pt x="4176990" y="2909927"/>
                    <a:pt x="4277620" y="2804575"/>
                    <a:pt x="4180114" y="2891246"/>
                  </a:cubicBezTo>
                  <a:cubicBezTo>
                    <a:pt x="4167841" y="2902155"/>
                    <a:pt x="4157346" y="2914942"/>
                    <a:pt x="4145280" y="2926080"/>
                  </a:cubicBezTo>
                  <a:cubicBezTo>
                    <a:pt x="4095443" y="2972083"/>
                    <a:pt x="4044047" y="3017517"/>
                    <a:pt x="3988525" y="3056709"/>
                  </a:cubicBezTo>
                  <a:cubicBezTo>
                    <a:pt x="3966152" y="3072502"/>
                    <a:pt x="3943060" y="3087439"/>
                    <a:pt x="3918857" y="3100252"/>
                  </a:cubicBezTo>
                  <a:cubicBezTo>
                    <a:pt x="3893590" y="3113629"/>
                    <a:pt x="3866318" y="3122847"/>
                    <a:pt x="3840480" y="3135086"/>
                  </a:cubicBezTo>
                  <a:cubicBezTo>
                    <a:pt x="3811149" y="3148980"/>
                    <a:pt x="3783528" y="3166575"/>
                    <a:pt x="3753394" y="3178629"/>
                  </a:cubicBezTo>
                  <a:cubicBezTo>
                    <a:pt x="3725255" y="3189885"/>
                    <a:pt x="3694870" y="3194620"/>
                    <a:pt x="3666308" y="3204755"/>
                  </a:cubicBezTo>
                  <a:cubicBezTo>
                    <a:pt x="3604830" y="3226570"/>
                    <a:pt x="3547395" y="3261629"/>
                    <a:pt x="3483428" y="3274423"/>
                  </a:cubicBezTo>
                  <a:cubicBezTo>
                    <a:pt x="3426368" y="3285835"/>
                    <a:pt x="3411819" y="3287707"/>
                    <a:pt x="3344091" y="3309257"/>
                  </a:cubicBezTo>
                  <a:cubicBezTo>
                    <a:pt x="3311713" y="3319559"/>
                    <a:pt x="3280727" y="3333957"/>
                    <a:pt x="3248297" y="3344092"/>
                  </a:cubicBezTo>
                  <a:cubicBezTo>
                    <a:pt x="3234169" y="3348507"/>
                    <a:pt x="3218882" y="3348385"/>
                    <a:pt x="3204754" y="3352800"/>
                  </a:cubicBezTo>
                  <a:cubicBezTo>
                    <a:pt x="3116304" y="3380441"/>
                    <a:pt x="3109548" y="3393528"/>
                    <a:pt x="3021874" y="3413760"/>
                  </a:cubicBezTo>
                  <a:cubicBezTo>
                    <a:pt x="2975829" y="3424386"/>
                    <a:pt x="2928127" y="3427452"/>
                    <a:pt x="2882537" y="3439886"/>
                  </a:cubicBezTo>
                  <a:cubicBezTo>
                    <a:pt x="2850605" y="3448595"/>
                    <a:pt x="2818852" y="3457985"/>
                    <a:pt x="2786742" y="3466012"/>
                  </a:cubicBezTo>
                  <a:cubicBezTo>
                    <a:pt x="2756818" y="3473493"/>
                    <a:pt x="2642686" y="3491738"/>
                    <a:pt x="2638697" y="3492137"/>
                  </a:cubicBezTo>
                  <a:cubicBezTo>
                    <a:pt x="2586624" y="3497344"/>
                    <a:pt x="2534194" y="3497943"/>
                    <a:pt x="2481942" y="3500846"/>
                  </a:cubicBezTo>
                  <a:cubicBezTo>
                    <a:pt x="2381119" y="3496813"/>
                    <a:pt x="2256022" y="3494482"/>
                    <a:pt x="2151017" y="3483429"/>
                  </a:cubicBezTo>
                  <a:cubicBezTo>
                    <a:pt x="2133456" y="3481581"/>
                    <a:pt x="2116302" y="3476783"/>
                    <a:pt x="2098765" y="3474720"/>
                  </a:cubicBezTo>
                  <a:cubicBezTo>
                    <a:pt x="2066922" y="3470974"/>
                    <a:pt x="2034902" y="3468915"/>
                    <a:pt x="2002971" y="3466012"/>
                  </a:cubicBezTo>
                  <a:cubicBezTo>
                    <a:pt x="1939108" y="3454400"/>
                    <a:pt x="1874594" y="3445926"/>
                    <a:pt x="1811382" y="3431177"/>
                  </a:cubicBezTo>
                  <a:cubicBezTo>
                    <a:pt x="1787229" y="3425541"/>
                    <a:pt x="1765470" y="3412179"/>
                    <a:pt x="1741714" y="3405052"/>
                  </a:cubicBezTo>
                  <a:cubicBezTo>
                    <a:pt x="1707322" y="3394734"/>
                    <a:pt x="1637211" y="3378926"/>
                    <a:pt x="1637211" y="3378926"/>
                  </a:cubicBezTo>
                  <a:cubicBezTo>
                    <a:pt x="1616891" y="3367315"/>
                    <a:pt x="1597184" y="3354558"/>
                    <a:pt x="1576251" y="3344092"/>
                  </a:cubicBezTo>
                  <a:cubicBezTo>
                    <a:pt x="1568040" y="3339987"/>
                    <a:pt x="1558648" y="3338792"/>
                    <a:pt x="1550125" y="3335383"/>
                  </a:cubicBezTo>
                  <a:cubicBezTo>
                    <a:pt x="1529599" y="3327172"/>
                    <a:pt x="1509198" y="3318606"/>
                    <a:pt x="1489165" y="3309257"/>
                  </a:cubicBezTo>
                  <a:cubicBezTo>
                    <a:pt x="1396429" y="3265980"/>
                    <a:pt x="1450385" y="3282144"/>
                    <a:pt x="1384662" y="3265715"/>
                  </a:cubicBezTo>
                  <a:cubicBezTo>
                    <a:pt x="1236076" y="3166656"/>
                    <a:pt x="1364804" y="3247076"/>
                    <a:pt x="1123405" y="3126377"/>
                  </a:cubicBezTo>
                  <a:cubicBezTo>
                    <a:pt x="1056049" y="3092699"/>
                    <a:pt x="990077" y="3056316"/>
                    <a:pt x="923108" y="3021875"/>
                  </a:cubicBezTo>
                  <a:cubicBezTo>
                    <a:pt x="866898" y="2992967"/>
                    <a:pt x="810821" y="2968628"/>
                    <a:pt x="757645" y="2934789"/>
                  </a:cubicBezTo>
                  <a:cubicBezTo>
                    <a:pt x="745400" y="2926997"/>
                    <a:pt x="734888" y="2916714"/>
                    <a:pt x="722811" y="2908663"/>
                  </a:cubicBezTo>
                  <a:cubicBezTo>
                    <a:pt x="708727" y="2899274"/>
                    <a:pt x="693352" y="2891926"/>
                    <a:pt x="679268" y="2882537"/>
                  </a:cubicBezTo>
                  <a:cubicBezTo>
                    <a:pt x="667192" y="2874486"/>
                    <a:pt x="656245" y="2864848"/>
                    <a:pt x="644434" y="2856412"/>
                  </a:cubicBezTo>
                  <a:cubicBezTo>
                    <a:pt x="590059" y="2817574"/>
                    <a:pt x="623339" y="2852735"/>
                    <a:pt x="539931" y="2769326"/>
                  </a:cubicBezTo>
                  <a:cubicBezTo>
                    <a:pt x="526788" y="2756183"/>
                    <a:pt x="517745" y="2739404"/>
                    <a:pt x="505097" y="2725783"/>
                  </a:cubicBezTo>
                  <a:cubicBezTo>
                    <a:pt x="479956" y="2698708"/>
                    <a:pt x="452846" y="2673532"/>
                    <a:pt x="426720" y="2647406"/>
                  </a:cubicBezTo>
                  <a:cubicBezTo>
                    <a:pt x="371704" y="2592390"/>
                    <a:pt x="344981" y="2567454"/>
                    <a:pt x="287382" y="2490652"/>
                  </a:cubicBezTo>
                  <a:cubicBezTo>
                    <a:pt x="278674" y="2479040"/>
                    <a:pt x="269049" y="2468062"/>
                    <a:pt x="261257" y="2455817"/>
                  </a:cubicBezTo>
                  <a:cubicBezTo>
                    <a:pt x="220082" y="2391113"/>
                    <a:pt x="229631" y="2394935"/>
                    <a:pt x="191588" y="2325189"/>
                  </a:cubicBezTo>
                  <a:cubicBezTo>
                    <a:pt x="169174" y="2284097"/>
                    <a:pt x="136722" y="2247674"/>
                    <a:pt x="121920" y="2203269"/>
                  </a:cubicBezTo>
                  <a:cubicBezTo>
                    <a:pt x="103573" y="2148231"/>
                    <a:pt x="92138" y="2117148"/>
                    <a:pt x="78377" y="2055223"/>
                  </a:cubicBezTo>
                  <a:cubicBezTo>
                    <a:pt x="73924" y="2035185"/>
                    <a:pt x="72214" y="2014631"/>
                    <a:pt x="69668" y="1994263"/>
                  </a:cubicBezTo>
                  <a:cubicBezTo>
                    <a:pt x="56631" y="1889965"/>
                    <a:pt x="59532" y="1890189"/>
                    <a:pt x="52251" y="1759132"/>
                  </a:cubicBezTo>
                  <a:cubicBezTo>
                    <a:pt x="53577" y="1708758"/>
                    <a:pt x="46829" y="1481440"/>
                    <a:pt x="69668" y="1367246"/>
                  </a:cubicBezTo>
                  <a:cubicBezTo>
                    <a:pt x="71468" y="1358244"/>
                    <a:pt x="75474" y="1349829"/>
                    <a:pt x="78377" y="1341120"/>
                  </a:cubicBezTo>
                  <a:cubicBezTo>
                    <a:pt x="81280" y="1317897"/>
                    <a:pt x="87085" y="1294855"/>
                    <a:pt x="87085" y="1271452"/>
                  </a:cubicBezTo>
                  <a:cubicBezTo>
                    <a:pt x="87085" y="1225688"/>
                    <a:pt x="85205" y="1136830"/>
                    <a:pt x="69668" y="1079863"/>
                  </a:cubicBezTo>
                  <a:cubicBezTo>
                    <a:pt x="64837" y="1062151"/>
                    <a:pt x="58057" y="1045029"/>
                    <a:pt x="52251" y="1027612"/>
                  </a:cubicBezTo>
                  <a:cubicBezTo>
                    <a:pt x="49348" y="1018903"/>
                    <a:pt x="48634" y="1009124"/>
                    <a:pt x="43542" y="1001486"/>
                  </a:cubicBezTo>
                  <a:lnTo>
                    <a:pt x="26125" y="975360"/>
                  </a:lnTo>
                  <a:cubicBezTo>
                    <a:pt x="15364" y="943077"/>
                    <a:pt x="4354" y="946332"/>
                    <a:pt x="0" y="940526"/>
                  </a:cubicBezTo>
                  <a:close/>
                </a:path>
              </a:pathLst>
            </a:cu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00C7C9A5-CFDA-167E-82C3-3D54DF4EF5F1}"/>
                </a:ext>
              </a:extLst>
            </p:cNvPr>
            <p:cNvSpPr/>
            <p:nvPr/>
          </p:nvSpPr>
          <p:spPr>
            <a:xfrm>
              <a:off x="1341120" y="3927566"/>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t>
              </a:r>
            </a:p>
          </p:txBody>
        </p:sp>
        <p:sp>
          <p:nvSpPr>
            <p:cNvPr id="7" name="Oval 6">
              <a:extLst>
                <a:ext uri="{FF2B5EF4-FFF2-40B4-BE49-F238E27FC236}">
                  <a16:creationId xmlns:a16="http://schemas.microsoft.com/office/drawing/2014/main" id="{BC41DA0C-27CF-E791-0E6E-23DF72DC533E}"/>
                </a:ext>
              </a:extLst>
            </p:cNvPr>
            <p:cNvSpPr/>
            <p:nvPr/>
          </p:nvSpPr>
          <p:spPr>
            <a:xfrm>
              <a:off x="4802777" y="3848517"/>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Oval 7">
              <a:extLst>
                <a:ext uri="{FF2B5EF4-FFF2-40B4-BE49-F238E27FC236}">
                  <a16:creationId xmlns:a16="http://schemas.microsoft.com/office/drawing/2014/main" id="{44F7B8EF-211A-A108-B313-539C027BEBA2}"/>
                </a:ext>
              </a:extLst>
            </p:cNvPr>
            <p:cNvSpPr/>
            <p:nvPr/>
          </p:nvSpPr>
          <p:spPr>
            <a:xfrm>
              <a:off x="4998561" y="4526280"/>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Oval 8">
              <a:extLst>
                <a:ext uri="{FF2B5EF4-FFF2-40B4-BE49-F238E27FC236}">
                  <a16:creationId xmlns:a16="http://schemas.microsoft.com/office/drawing/2014/main" id="{956A70D0-FCC8-4C66-A45F-9A0EA948126E}"/>
                </a:ext>
              </a:extLst>
            </p:cNvPr>
            <p:cNvSpPr/>
            <p:nvPr/>
          </p:nvSpPr>
          <p:spPr>
            <a:xfrm>
              <a:off x="4411801" y="5100013"/>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Oval 9">
              <a:extLst>
                <a:ext uri="{FF2B5EF4-FFF2-40B4-BE49-F238E27FC236}">
                  <a16:creationId xmlns:a16="http://schemas.microsoft.com/office/drawing/2014/main" id="{81584E3E-1655-93A4-B0B2-C09A2A827792}"/>
                </a:ext>
              </a:extLst>
            </p:cNvPr>
            <p:cNvSpPr/>
            <p:nvPr/>
          </p:nvSpPr>
          <p:spPr>
            <a:xfrm>
              <a:off x="3013166" y="4005943"/>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Oval 10">
              <a:extLst>
                <a:ext uri="{FF2B5EF4-FFF2-40B4-BE49-F238E27FC236}">
                  <a16:creationId xmlns:a16="http://schemas.microsoft.com/office/drawing/2014/main" id="{070F13FE-FBF3-C9C2-CACF-FF7C953BE910}"/>
                </a:ext>
              </a:extLst>
            </p:cNvPr>
            <p:cNvSpPr/>
            <p:nvPr/>
          </p:nvSpPr>
          <p:spPr>
            <a:xfrm>
              <a:off x="2665733" y="4926330"/>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Oval 12">
              <a:extLst>
                <a:ext uri="{FF2B5EF4-FFF2-40B4-BE49-F238E27FC236}">
                  <a16:creationId xmlns:a16="http://schemas.microsoft.com/office/drawing/2014/main" id="{D875E064-33ED-7159-5CF0-FF495208908B}"/>
                </a:ext>
              </a:extLst>
            </p:cNvPr>
            <p:cNvSpPr/>
            <p:nvPr/>
          </p:nvSpPr>
          <p:spPr>
            <a:xfrm>
              <a:off x="5969726" y="3692435"/>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 name="Oval 13">
              <a:extLst>
                <a:ext uri="{FF2B5EF4-FFF2-40B4-BE49-F238E27FC236}">
                  <a16:creationId xmlns:a16="http://schemas.microsoft.com/office/drawing/2014/main" id="{865C1A55-C87B-EC41-2108-ECF68B33C2AC}"/>
                </a:ext>
              </a:extLst>
            </p:cNvPr>
            <p:cNvSpPr/>
            <p:nvPr/>
          </p:nvSpPr>
          <p:spPr>
            <a:xfrm>
              <a:off x="5988523" y="4463143"/>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Oval 14">
              <a:extLst>
                <a:ext uri="{FF2B5EF4-FFF2-40B4-BE49-F238E27FC236}">
                  <a16:creationId xmlns:a16="http://schemas.microsoft.com/office/drawing/2014/main" id="{30AA9BB2-6B85-5E14-E31F-41045F2BFE0E}"/>
                </a:ext>
              </a:extLst>
            </p:cNvPr>
            <p:cNvSpPr/>
            <p:nvPr/>
          </p:nvSpPr>
          <p:spPr>
            <a:xfrm>
              <a:off x="5814694" y="5260044"/>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7" name="Straight Connector 16">
              <a:extLst>
                <a:ext uri="{FF2B5EF4-FFF2-40B4-BE49-F238E27FC236}">
                  <a16:creationId xmlns:a16="http://schemas.microsoft.com/office/drawing/2014/main" id="{B4F4BBC1-47F1-161F-69C8-F95D97A6F1E2}"/>
                </a:ext>
              </a:extLst>
            </p:cNvPr>
            <p:cNvCxnSpPr>
              <a:stCxn id="7" idx="6"/>
              <a:endCxn id="13" idx="2"/>
            </p:cNvCxnSpPr>
            <p:nvPr/>
          </p:nvCxnSpPr>
          <p:spPr>
            <a:xfrm flipV="1">
              <a:off x="5229497" y="3905795"/>
              <a:ext cx="740229" cy="156082"/>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04FB5D79-EACC-0CD4-2C50-97574AFAA71A}"/>
                </a:ext>
              </a:extLst>
            </p:cNvPr>
            <p:cNvCxnSpPr>
              <a:cxnSpLocks/>
              <a:stCxn id="8" idx="6"/>
              <a:endCxn id="14" idx="2"/>
            </p:cNvCxnSpPr>
            <p:nvPr/>
          </p:nvCxnSpPr>
          <p:spPr>
            <a:xfrm flipV="1">
              <a:off x="5425281" y="4676503"/>
              <a:ext cx="563242" cy="63137"/>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7A3F40E0-EBD2-0A60-7A23-28017BF9F41A}"/>
                </a:ext>
              </a:extLst>
            </p:cNvPr>
            <p:cNvCxnSpPr>
              <a:cxnSpLocks/>
              <a:stCxn id="9" idx="6"/>
              <a:endCxn id="15" idx="2"/>
            </p:cNvCxnSpPr>
            <p:nvPr/>
          </p:nvCxnSpPr>
          <p:spPr>
            <a:xfrm>
              <a:off x="4838521" y="5313373"/>
              <a:ext cx="976173" cy="160031"/>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24" name="Oval 23">
              <a:extLst>
                <a:ext uri="{FF2B5EF4-FFF2-40B4-BE49-F238E27FC236}">
                  <a16:creationId xmlns:a16="http://schemas.microsoft.com/office/drawing/2014/main" id="{19C1EA21-69B3-E0B2-23F6-4F8162A0D977}"/>
                </a:ext>
              </a:extLst>
            </p:cNvPr>
            <p:cNvSpPr/>
            <p:nvPr/>
          </p:nvSpPr>
          <p:spPr>
            <a:xfrm>
              <a:off x="7037830" y="3407835"/>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Oval 24">
              <a:extLst>
                <a:ext uri="{FF2B5EF4-FFF2-40B4-BE49-F238E27FC236}">
                  <a16:creationId xmlns:a16="http://schemas.microsoft.com/office/drawing/2014/main" id="{F8532FD4-0BA1-F50F-59A8-A4BC5AFB6CD9}"/>
                </a:ext>
              </a:extLst>
            </p:cNvPr>
            <p:cNvSpPr/>
            <p:nvPr/>
          </p:nvSpPr>
          <p:spPr>
            <a:xfrm>
              <a:off x="6912428" y="4560507"/>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Oval 25">
              <a:extLst>
                <a:ext uri="{FF2B5EF4-FFF2-40B4-BE49-F238E27FC236}">
                  <a16:creationId xmlns:a16="http://schemas.microsoft.com/office/drawing/2014/main" id="{8C0D8737-3D09-9C6A-F778-5AEBABD50323}"/>
                </a:ext>
              </a:extLst>
            </p:cNvPr>
            <p:cNvSpPr/>
            <p:nvPr/>
          </p:nvSpPr>
          <p:spPr>
            <a:xfrm>
              <a:off x="7805351" y="4576291"/>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Oval 26">
              <a:extLst>
                <a:ext uri="{FF2B5EF4-FFF2-40B4-BE49-F238E27FC236}">
                  <a16:creationId xmlns:a16="http://schemas.microsoft.com/office/drawing/2014/main" id="{CCFB6BF6-848C-018F-7EA6-3C958049F1F6}"/>
                </a:ext>
              </a:extLst>
            </p:cNvPr>
            <p:cNvSpPr/>
            <p:nvPr/>
          </p:nvSpPr>
          <p:spPr>
            <a:xfrm>
              <a:off x="7997097" y="3770476"/>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29" name="TextBox 28">
            <a:extLst>
              <a:ext uri="{FF2B5EF4-FFF2-40B4-BE49-F238E27FC236}">
                <a16:creationId xmlns:a16="http://schemas.microsoft.com/office/drawing/2014/main" id="{174FA6D3-A702-3313-C547-FCA3E8667ED5}"/>
              </a:ext>
            </a:extLst>
          </p:cNvPr>
          <p:cNvSpPr txBox="1"/>
          <p:nvPr/>
        </p:nvSpPr>
        <p:spPr>
          <a:xfrm>
            <a:off x="1330149" y="5441353"/>
            <a:ext cx="4470783" cy="923330"/>
          </a:xfrm>
          <a:prstGeom prst="rect">
            <a:avLst/>
          </a:prstGeom>
          <a:noFill/>
          <a:ln>
            <a:solidFill>
              <a:schemeClr val="accent2">
                <a:lumMod val="60000"/>
                <a:lumOff val="40000"/>
              </a:schemeClr>
            </a:solidFill>
          </a:ln>
        </p:spPr>
        <p:txBody>
          <a:bodyPr wrap="square" rtlCol="0">
            <a:spAutoFit/>
          </a:bodyPr>
          <a:lstStyle/>
          <a:p>
            <a:r>
              <a:rPr lang="en-US" b="1" i="1" u="sng" dirty="0"/>
              <a:t>Known nodes</a:t>
            </a:r>
            <a:r>
              <a:rPr lang="en-US" i="1" dirty="0"/>
              <a:t> already have their shortest path fully calculated and will never change! This will start as just node s and grow one node at a time</a:t>
            </a:r>
          </a:p>
        </p:txBody>
      </p:sp>
      <p:sp>
        <p:nvSpPr>
          <p:cNvPr id="30" name="TextBox 29">
            <a:extLst>
              <a:ext uri="{FF2B5EF4-FFF2-40B4-BE49-F238E27FC236}">
                <a16:creationId xmlns:a16="http://schemas.microsoft.com/office/drawing/2014/main" id="{D10CB207-5311-862C-AA6A-44C50310009E}"/>
              </a:ext>
            </a:extLst>
          </p:cNvPr>
          <p:cNvSpPr txBox="1"/>
          <p:nvPr/>
        </p:nvSpPr>
        <p:spPr>
          <a:xfrm>
            <a:off x="6785114" y="5131135"/>
            <a:ext cx="3154191" cy="1477328"/>
          </a:xfrm>
          <a:prstGeom prst="rect">
            <a:avLst/>
          </a:prstGeom>
          <a:noFill/>
          <a:ln>
            <a:solidFill>
              <a:schemeClr val="accent3">
                <a:lumMod val="60000"/>
                <a:lumOff val="40000"/>
              </a:schemeClr>
            </a:solidFill>
          </a:ln>
        </p:spPr>
        <p:txBody>
          <a:bodyPr wrap="square" rtlCol="0">
            <a:spAutoFit/>
          </a:bodyPr>
          <a:lstStyle/>
          <a:p>
            <a:r>
              <a:rPr lang="en-US" i="1" dirty="0"/>
              <a:t>Fringe nodes are reachable via one edge from a known node. They have a possible path cost calculated but it isn’t necessarily the best one (yet)</a:t>
            </a:r>
          </a:p>
        </p:txBody>
      </p:sp>
      <p:sp>
        <p:nvSpPr>
          <p:cNvPr id="31" name="TextBox 30">
            <a:extLst>
              <a:ext uri="{FF2B5EF4-FFF2-40B4-BE49-F238E27FC236}">
                <a16:creationId xmlns:a16="http://schemas.microsoft.com/office/drawing/2014/main" id="{5C976031-5ED8-69B0-0854-E96507FE935F}"/>
              </a:ext>
            </a:extLst>
          </p:cNvPr>
          <p:cNvSpPr txBox="1"/>
          <p:nvPr/>
        </p:nvSpPr>
        <p:spPr>
          <a:xfrm>
            <a:off x="9536985" y="2861174"/>
            <a:ext cx="2239409" cy="1477328"/>
          </a:xfrm>
          <a:prstGeom prst="rect">
            <a:avLst/>
          </a:prstGeom>
          <a:noFill/>
          <a:ln>
            <a:solidFill>
              <a:schemeClr val="accent4">
                <a:lumMod val="60000"/>
                <a:lumOff val="40000"/>
              </a:schemeClr>
            </a:solidFill>
          </a:ln>
        </p:spPr>
        <p:txBody>
          <a:bodyPr wrap="square" rtlCol="0">
            <a:spAutoFit/>
          </a:bodyPr>
          <a:lstStyle/>
          <a:p>
            <a:r>
              <a:rPr lang="en-US" i="1" dirty="0"/>
              <a:t>Unknown nodes have not been seen by the algorithm yet. They will become fringe, and then known eventually</a:t>
            </a:r>
          </a:p>
        </p:txBody>
      </p:sp>
    </p:spTree>
    <p:extLst>
      <p:ext uri="{BB962C8B-B14F-4D97-AF65-F5344CB8AC3E}">
        <p14:creationId xmlns:p14="http://schemas.microsoft.com/office/powerpoint/2010/main" val="410491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FC2B9-1EAC-8EAA-0ACA-40FA08F0532D}"/>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755EDB0D-841A-7C98-26FA-BFF8BF8096A8}"/>
              </a:ext>
            </a:extLst>
          </p:cNvPr>
          <p:cNvSpPr>
            <a:spLocks noGrp="1" noChangeArrowheads="1"/>
          </p:cNvSpPr>
          <p:nvPr>
            <p:ph type="title"/>
            <p:custDataLst>
              <p:tags r:id="rId1"/>
            </p:custDataLst>
          </p:nvPr>
        </p:nvSpPr>
        <p:spPr>
          <a:xfrm>
            <a:off x="1141413" y="238124"/>
            <a:ext cx="9905998" cy="713893"/>
          </a:xfrm>
        </p:spPr>
        <p:txBody>
          <a:bodyPr/>
          <a:lstStyle/>
          <a:p>
            <a:pPr algn="ctr" eaLnBrk="1" hangingPunct="1"/>
            <a:r>
              <a:rPr lang="en-US" dirty="0"/>
              <a:t>Dijkstra’s Algorithm</a:t>
            </a:r>
          </a:p>
        </p:txBody>
      </p:sp>
      <p:grpSp>
        <p:nvGrpSpPr>
          <p:cNvPr id="28" name="Group 27">
            <a:extLst>
              <a:ext uri="{FF2B5EF4-FFF2-40B4-BE49-F238E27FC236}">
                <a16:creationId xmlns:a16="http://schemas.microsoft.com/office/drawing/2014/main" id="{2939431C-8872-0DC8-CC2D-C4B1FFC337AB}"/>
              </a:ext>
            </a:extLst>
          </p:cNvPr>
          <p:cNvGrpSpPr/>
          <p:nvPr/>
        </p:nvGrpSpPr>
        <p:grpSpPr>
          <a:xfrm>
            <a:off x="2062403" y="1232806"/>
            <a:ext cx="7317828" cy="2872614"/>
            <a:chOff x="1105989" y="3139984"/>
            <a:chExt cx="7317828" cy="2872614"/>
          </a:xfrm>
        </p:grpSpPr>
        <p:sp>
          <p:nvSpPr>
            <p:cNvPr id="6" name="Freeform 5">
              <a:extLst>
                <a:ext uri="{FF2B5EF4-FFF2-40B4-BE49-F238E27FC236}">
                  <a16:creationId xmlns:a16="http://schemas.microsoft.com/office/drawing/2014/main" id="{08D39E9D-2227-D1BE-CB7E-D51286AC477D}"/>
                </a:ext>
              </a:extLst>
            </p:cNvPr>
            <p:cNvSpPr/>
            <p:nvPr/>
          </p:nvSpPr>
          <p:spPr>
            <a:xfrm>
              <a:off x="1105989" y="3139984"/>
              <a:ext cx="4667794" cy="2872614"/>
            </a:xfrm>
            <a:custGeom>
              <a:avLst/>
              <a:gdLst>
                <a:gd name="connsiteX0" fmla="*/ 0 w 4667794"/>
                <a:gd name="connsiteY0" fmla="*/ 940526 h 3500846"/>
                <a:gd name="connsiteX1" fmla="*/ 0 w 4667794"/>
                <a:gd name="connsiteY1" fmla="*/ 940526 h 3500846"/>
                <a:gd name="connsiteX2" fmla="*/ 78377 w 4667794"/>
                <a:gd name="connsiteY2" fmla="*/ 879566 h 3500846"/>
                <a:gd name="connsiteX3" fmla="*/ 156754 w 4667794"/>
                <a:gd name="connsiteY3" fmla="*/ 801189 h 3500846"/>
                <a:gd name="connsiteX4" fmla="*/ 235131 w 4667794"/>
                <a:gd name="connsiteY4" fmla="*/ 740229 h 3500846"/>
                <a:gd name="connsiteX5" fmla="*/ 278674 w 4667794"/>
                <a:gd name="connsiteY5" fmla="*/ 705395 h 3500846"/>
                <a:gd name="connsiteX6" fmla="*/ 304800 w 4667794"/>
                <a:gd name="connsiteY6" fmla="*/ 687977 h 3500846"/>
                <a:gd name="connsiteX7" fmla="*/ 391885 w 4667794"/>
                <a:gd name="connsiteY7" fmla="*/ 618309 h 3500846"/>
                <a:gd name="connsiteX8" fmla="*/ 461554 w 4667794"/>
                <a:gd name="connsiteY8" fmla="*/ 574766 h 3500846"/>
                <a:gd name="connsiteX9" fmla="*/ 583474 w 4667794"/>
                <a:gd name="connsiteY9" fmla="*/ 487680 h 3500846"/>
                <a:gd name="connsiteX10" fmla="*/ 618308 w 4667794"/>
                <a:gd name="connsiteY10" fmla="*/ 461555 h 3500846"/>
                <a:gd name="connsiteX11" fmla="*/ 670560 w 4667794"/>
                <a:gd name="connsiteY11" fmla="*/ 418012 h 3500846"/>
                <a:gd name="connsiteX12" fmla="*/ 705394 w 4667794"/>
                <a:gd name="connsiteY12" fmla="*/ 383177 h 3500846"/>
                <a:gd name="connsiteX13" fmla="*/ 783771 w 4667794"/>
                <a:gd name="connsiteY13" fmla="*/ 322217 h 3500846"/>
                <a:gd name="connsiteX14" fmla="*/ 818605 w 4667794"/>
                <a:gd name="connsiteY14" fmla="*/ 296092 h 3500846"/>
                <a:gd name="connsiteX15" fmla="*/ 870857 w 4667794"/>
                <a:gd name="connsiteY15" fmla="*/ 243840 h 3500846"/>
                <a:gd name="connsiteX16" fmla="*/ 905691 w 4667794"/>
                <a:gd name="connsiteY16" fmla="*/ 226423 h 3500846"/>
                <a:gd name="connsiteX17" fmla="*/ 931817 w 4667794"/>
                <a:gd name="connsiteY17" fmla="*/ 209006 h 3500846"/>
                <a:gd name="connsiteX18" fmla="*/ 1010194 w 4667794"/>
                <a:gd name="connsiteY18" fmla="*/ 165463 h 3500846"/>
                <a:gd name="connsiteX19" fmla="*/ 1132114 w 4667794"/>
                <a:gd name="connsiteY19" fmla="*/ 121920 h 3500846"/>
                <a:gd name="connsiteX20" fmla="*/ 1227908 w 4667794"/>
                <a:gd name="connsiteY20" fmla="*/ 69669 h 3500846"/>
                <a:gd name="connsiteX21" fmla="*/ 1288868 w 4667794"/>
                <a:gd name="connsiteY21" fmla="*/ 43543 h 3500846"/>
                <a:gd name="connsiteX22" fmla="*/ 1358537 w 4667794"/>
                <a:gd name="connsiteY22" fmla="*/ 26126 h 3500846"/>
                <a:gd name="connsiteX23" fmla="*/ 1471748 w 4667794"/>
                <a:gd name="connsiteY23" fmla="*/ 0 h 3500846"/>
                <a:gd name="connsiteX24" fmla="*/ 1750422 w 4667794"/>
                <a:gd name="connsiteY24" fmla="*/ 43543 h 3500846"/>
                <a:gd name="connsiteX25" fmla="*/ 1811382 w 4667794"/>
                <a:gd name="connsiteY25" fmla="*/ 69669 h 3500846"/>
                <a:gd name="connsiteX26" fmla="*/ 1846217 w 4667794"/>
                <a:gd name="connsiteY26" fmla="*/ 78377 h 3500846"/>
                <a:gd name="connsiteX27" fmla="*/ 1968137 w 4667794"/>
                <a:gd name="connsiteY27" fmla="*/ 139337 h 3500846"/>
                <a:gd name="connsiteX28" fmla="*/ 2020388 w 4667794"/>
                <a:gd name="connsiteY28" fmla="*/ 174172 h 3500846"/>
                <a:gd name="connsiteX29" fmla="*/ 2098765 w 4667794"/>
                <a:gd name="connsiteY29" fmla="*/ 243840 h 3500846"/>
                <a:gd name="connsiteX30" fmla="*/ 2133600 w 4667794"/>
                <a:gd name="connsiteY30" fmla="*/ 313509 h 3500846"/>
                <a:gd name="connsiteX31" fmla="*/ 2151017 w 4667794"/>
                <a:gd name="connsiteY31" fmla="*/ 348343 h 3500846"/>
                <a:gd name="connsiteX32" fmla="*/ 2168434 w 4667794"/>
                <a:gd name="connsiteY32" fmla="*/ 400595 h 3500846"/>
                <a:gd name="connsiteX33" fmla="*/ 2185851 w 4667794"/>
                <a:gd name="connsiteY33" fmla="*/ 426720 h 3500846"/>
                <a:gd name="connsiteX34" fmla="*/ 2203268 w 4667794"/>
                <a:gd name="connsiteY34" fmla="*/ 470263 h 3500846"/>
                <a:gd name="connsiteX35" fmla="*/ 2220685 w 4667794"/>
                <a:gd name="connsiteY35" fmla="*/ 505097 h 3500846"/>
                <a:gd name="connsiteX36" fmla="*/ 2238102 w 4667794"/>
                <a:gd name="connsiteY36" fmla="*/ 531223 h 3500846"/>
                <a:gd name="connsiteX37" fmla="*/ 2246811 w 4667794"/>
                <a:gd name="connsiteY37" fmla="*/ 557349 h 3500846"/>
                <a:gd name="connsiteX38" fmla="*/ 2264228 w 4667794"/>
                <a:gd name="connsiteY38" fmla="*/ 592183 h 3500846"/>
                <a:gd name="connsiteX39" fmla="*/ 2290354 w 4667794"/>
                <a:gd name="connsiteY39" fmla="*/ 661852 h 3500846"/>
                <a:gd name="connsiteX40" fmla="*/ 2307771 w 4667794"/>
                <a:gd name="connsiteY40" fmla="*/ 687977 h 3500846"/>
                <a:gd name="connsiteX41" fmla="*/ 2325188 w 4667794"/>
                <a:gd name="connsiteY41" fmla="*/ 731520 h 3500846"/>
                <a:gd name="connsiteX42" fmla="*/ 2351314 w 4667794"/>
                <a:gd name="connsiteY42" fmla="*/ 783772 h 3500846"/>
                <a:gd name="connsiteX43" fmla="*/ 2394857 w 4667794"/>
                <a:gd name="connsiteY43" fmla="*/ 818606 h 3500846"/>
                <a:gd name="connsiteX44" fmla="*/ 2455817 w 4667794"/>
                <a:gd name="connsiteY44" fmla="*/ 836023 h 3500846"/>
                <a:gd name="connsiteX45" fmla="*/ 2629988 w 4667794"/>
                <a:gd name="connsiteY45" fmla="*/ 827315 h 3500846"/>
                <a:gd name="connsiteX46" fmla="*/ 2656114 w 4667794"/>
                <a:gd name="connsiteY46" fmla="*/ 818606 h 3500846"/>
                <a:gd name="connsiteX47" fmla="*/ 2699657 w 4667794"/>
                <a:gd name="connsiteY47" fmla="*/ 801189 h 3500846"/>
                <a:gd name="connsiteX48" fmla="*/ 2760617 w 4667794"/>
                <a:gd name="connsiteY48" fmla="*/ 783772 h 3500846"/>
                <a:gd name="connsiteX49" fmla="*/ 2795451 w 4667794"/>
                <a:gd name="connsiteY49" fmla="*/ 775063 h 3500846"/>
                <a:gd name="connsiteX50" fmla="*/ 2891245 w 4667794"/>
                <a:gd name="connsiteY50" fmla="*/ 757646 h 3500846"/>
                <a:gd name="connsiteX51" fmla="*/ 2934788 w 4667794"/>
                <a:gd name="connsiteY51" fmla="*/ 740229 h 3500846"/>
                <a:gd name="connsiteX52" fmla="*/ 2987040 w 4667794"/>
                <a:gd name="connsiteY52" fmla="*/ 705395 h 3500846"/>
                <a:gd name="connsiteX53" fmla="*/ 3074125 w 4667794"/>
                <a:gd name="connsiteY53" fmla="*/ 679269 h 3500846"/>
                <a:gd name="connsiteX54" fmla="*/ 3108960 w 4667794"/>
                <a:gd name="connsiteY54" fmla="*/ 670560 h 3500846"/>
                <a:gd name="connsiteX55" fmla="*/ 3135085 w 4667794"/>
                <a:gd name="connsiteY55" fmla="*/ 661852 h 3500846"/>
                <a:gd name="connsiteX56" fmla="*/ 3178628 w 4667794"/>
                <a:gd name="connsiteY56" fmla="*/ 653143 h 3500846"/>
                <a:gd name="connsiteX57" fmla="*/ 3248297 w 4667794"/>
                <a:gd name="connsiteY57" fmla="*/ 627017 h 3500846"/>
                <a:gd name="connsiteX58" fmla="*/ 3422468 w 4667794"/>
                <a:gd name="connsiteY58" fmla="*/ 592183 h 3500846"/>
                <a:gd name="connsiteX59" fmla="*/ 3457302 w 4667794"/>
                <a:gd name="connsiteY59" fmla="*/ 583475 h 3500846"/>
                <a:gd name="connsiteX60" fmla="*/ 3614057 w 4667794"/>
                <a:gd name="connsiteY60" fmla="*/ 557349 h 3500846"/>
                <a:gd name="connsiteX61" fmla="*/ 3796937 w 4667794"/>
                <a:gd name="connsiteY61" fmla="*/ 566057 h 3500846"/>
                <a:gd name="connsiteX62" fmla="*/ 3884022 w 4667794"/>
                <a:gd name="connsiteY62" fmla="*/ 583475 h 3500846"/>
                <a:gd name="connsiteX63" fmla="*/ 3936274 w 4667794"/>
                <a:gd name="connsiteY63" fmla="*/ 600892 h 3500846"/>
                <a:gd name="connsiteX64" fmla="*/ 4014651 w 4667794"/>
                <a:gd name="connsiteY64" fmla="*/ 609600 h 3500846"/>
                <a:gd name="connsiteX65" fmla="*/ 4093028 w 4667794"/>
                <a:gd name="connsiteY65" fmla="*/ 635726 h 3500846"/>
                <a:gd name="connsiteX66" fmla="*/ 4119154 w 4667794"/>
                <a:gd name="connsiteY66" fmla="*/ 644435 h 3500846"/>
                <a:gd name="connsiteX67" fmla="*/ 4232365 w 4667794"/>
                <a:gd name="connsiteY67" fmla="*/ 679269 h 3500846"/>
                <a:gd name="connsiteX68" fmla="*/ 4275908 w 4667794"/>
                <a:gd name="connsiteY68" fmla="*/ 705395 h 3500846"/>
                <a:gd name="connsiteX69" fmla="*/ 4310742 w 4667794"/>
                <a:gd name="connsiteY69" fmla="*/ 731520 h 3500846"/>
                <a:gd name="connsiteX70" fmla="*/ 4345577 w 4667794"/>
                <a:gd name="connsiteY70" fmla="*/ 783772 h 3500846"/>
                <a:gd name="connsiteX71" fmla="*/ 4362994 w 4667794"/>
                <a:gd name="connsiteY71" fmla="*/ 809897 h 3500846"/>
                <a:gd name="connsiteX72" fmla="*/ 4389120 w 4667794"/>
                <a:gd name="connsiteY72" fmla="*/ 844732 h 3500846"/>
                <a:gd name="connsiteX73" fmla="*/ 4415245 w 4667794"/>
                <a:gd name="connsiteY73" fmla="*/ 896983 h 3500846"/>
                <a:gd name="connsiteX74" fmla="*/ 4450080 w 4667794"/>
                <a:gd name="connsiteY74" fmla="*/ 966652 h 3500846"/>
                <a:gd name="connsiteX75" fmla="*/ 4467497 w 4667794"/>
                <a:gd name="connsiteY75" fmla="*/ 1018903 h 3500846"/>
                <a:gd name="connsiteX76" fmla="*/ 4519748 w 4667794"/>
                <a:gd name="connsiteY76" fmla="*/ 1132115 h 3500846"/>
                <a:gd name="connsiteX77" fmla="*/ 4545874 w 4667794"/>
                <a:gd name="connsiteY77" fmla="*/ 1210492 h 3500846"/>
                <a:gd name="connsiteX78" fmla="*/ 4563291 w 4667794"/>
                <a:gd name="connsiteY78" fmla="*/ 1262743 h 3500846"/>
                <a:gd name="connsiteX79" fmla="*/ 4606834 w 4667794"/>
                <a:gd name="connsiteY79" fmla="*/ 1375955 h 3500846"/>
                <a:gd name="connsiteX80" fmla="*/ 4624251 w 4667794"/>
                <a:gd name="connsiteY80" fmla="*/ 1445623 h 3500846"/>
                <a:gd name="connsiteX81" fmla="*/ 4632960 w 4667794"/>
                <a:gd name="connsiteY81" fmla="*/ 1471749 h 3500846"/>
                <a:gd name="connsiteX82" fmla="*/ 4650377 w 4667794"/>
                <a:gd name="connsiteY82" fmla="*/ 1532709 h 3500846"/>
                <a:gd name="connsiteX83" fmla="*/ 4659085 w 4667794"/>
                <a:gd name="connsiteY83" fmla="*/ 1611086 h 3500846"/>
                <a:gd name="connsiteX84" fmla="*/ 4667794 w 4667794"/>
                <a:gd name="connsiteY84" fmla="*/ 1637212 h 3500846"/>
                <a:gd name="connsiteX85" fmla="*/ 4659085 w 4667794"/>
                <a:gd name="connsiteY85" fmla="*/ 1785257 h 3500846"/>
                <a:gd name="connsiteX86" fmla="*/ 4650377 w 4667794"/>
                <a:gd name="connsiteY86" fmla="*/ 1811383 h 3500846"/>
                <a:gd name="connsiteX87" fmla="*/ 4624251 w 4667794"/>
                <a:gd name="connsiteY87" fmla="*/ 1915886 h 3500846"/>
                <a:gd name="connsiteX88" fmla="*/ 4606834 w 4667794"/>
                <a:gd name="connsiteY88" fmla="*/ 1976846 h 3500846"/>
                <a:gd name="connsiteX89" fmla="*/ 4580708 w 4667794"/>
                <a:gd name="connsiteY89" fmla="*/ 2055223 h 3500846"/>
                <a:gd name="connsiteX90" fmla="*/ 4563291 w 4667794"/>
                <a:gd name="connsiteY90" fmla="*/ 2177143 h 3500846"/>
                <a:gd name="connsiteX91" fmla="*/ 4528457 w 4667794"/>
                <a:gd name="connsiteY91" fmla="*/ 2246812 h 3500846"/>
                <a:gd name="connsiteX92" fmla="*/ 4511040 w 4667794"/>
                <a:gd name="connsiteY92" fmla="*/ 2299063 h 3500846"/>
                <a:gd name="connsiteX93" fmla="*/ 4484914 w 4667794"/>
                <a:gd name="connsiteY93" fmla="*/ 2360023 h 3500846"/>
                <a:gd name="connsiteX94" fmla="*/ 4458788 w 4667794"/>
                <a:gd name="connsiteY94" fmla="*/ 2438400 h 3500846"/>
                <a:gd name="connsiteX95" fmla="*/ 4432662 w 4667794"/>
                <a:gd name="connsiteY95" fmla="*/ 2473235 h 3500846"/>
                <a:gd name="connsiteX96" fmla="*/ 4380411 w 4667794"/>
                <a:gd name="connsiteY96" fmla="*/ 2595155 h 3500846"/>
                <a:gd name="connsiteX97" fmla="*/ 4354285 w 4667794"/>
                <a:gd name="connsiteY97" fmla="*/ 2629989 h 3500846"/>
                <a:gd name="connsiteX98" fmla="*/ 4328160 w 4667794"/>
                <a:gd name="connsiteY98" fmla="*/ 2690949 h 3500846"/>
                <a:gd name="connsiteX99" fmla="*/ 4275908 w 4667794"/>
                <a:gd name="connsiteY99" fmla="*/ 2786743 h 3500846"/>
                <a:gd name="connsiteX100" fmla="*/ 4249782 w 4667794"/>
                <a:gd name="connsiteY100" fmla="*/ 2812869 h 3500846"/>
                <a:gd name="connsiteX101" fmla="*/ 4180114 w 4667794"/>
                <a:gd name="connsiteY101" fmla="*/ 2891246 h 3500846"/>
                <a:gd name="connsiteX102" fmla="*/ 4145280 w 4667794"/>
                <a:gd name="connsiteY102" fmla="*/ 2926080 h 3500846"/>
                <a:gd name="connsiteX103" fmla="*/ 3988525 w 4667794"/>
                <a:gd name="connsiteY103" fmla="*/ 3056709 h 3500846"/>
                <a:gd name="connsiteX104" fmla="*/ 3918857 w 4667794"/>
                <a:gd name="connsiteY104" fmla="*/ 3100252 h 3500846"/>
                <a:gd name="connsiteX105" fmla="*/ 3840480 w 4667794"/>
                <a:gd name="connsiteY105" fmla="*/ 3135086 h 3500846"/>
                <a:gd name="connsiteX106" fmla="*/ 3753394 w 4667794"/>
                <a:gd name="connsiteY106" fmla="*/ 3178629 h 3500846"/>
                <a:gd name="connsiteX107" fmla="*/ 3666308 w 4667794"/>
                <a:gd name="connsiteY107" fmla="*/ 3204755 h 3500846"/>
                <a:gd name="connsiteX108" fmla="*/ 3483428 w 4667794"/>
                <a:gd name="connsiteY108" fmla="*/ 3274423 h 3500846"/>
                <a:gd name="connsiteX109" fmla="*/ 3344091 w 4667794"/>
                <a:gd name="connsiteY109" fmla="*/ 3309257 h 3500846"/>
                <a:gd name="connsiteX110" fmla="*/ 3248297 w 4667794"/>
                <a:gd name="connsiteY110" fmla="*/ 3344092 h 3500846"/>
                <a:gd name="connsiteX111" fmla="*/ 3204754 w 4667794"/>
                <a:gd name="connsiteY111" fmla="*/ 3352800 h 3500846"/>
                <a:gd name="connsiteX112" fmla="*/ 3021874 w 4667794"/>
                <a:gd name="connsiteY112" fmla="*/ 3413760 h 3500846"/>
                <a:gd name="connsiteX113" fmla="*/ 2882537 w 4667794"/>
                <a:gd name="connsiteY113" fmla="*/ 3439886 h 3500846"/>
                <a:gd name="connsiteX114" fmla="*/ 2786742 w 4667794"/>
                <a:gd name="connsiteY114" fmla="*/ 3466012 h 3500846"/>
                <a:gd name="connsiteX115" fmla="*/ 2638697 w 4667794"/>
                <a:gd name="connsiteY115" fmla="*/ 3492137 h 3500846"/>
                <a:gd name="connsiteX116" fmla="*/ 2481942 w 4667794"/>
                <a:gd name="connsiteY116" fmla="*/ 3500846 h 3500846"/>
                <a:gd name="connsiteX117" fmla="*/ 2151017 w 4667794"/>
                <a:gd name="connsiteY117" fmla="*/ 3483429 h 3500846"/>
                <a:gd name="connsiteX118" fmla="*/ 2098765 w 4667794"/>
                <a:gd name="connsiteY118" fmla="*/ 3474720 h 3500846"/>
                <a:gd name="connsiteX119" fmla="*/ 2002971 w 4667794"/>
                <a:gd name="connsiteY119" fmla="*/ 3466012 h 3500846"/>
                <a:gd name="connsiteX120" fmla="*/ 1811382 w 4667794"/>
                <a:gd name="connsiteY120" fmla="*/ 3431177 h 3500846"/>
                <a:gd name="connsiteX121" fmla="*/ 1741714 w 4667794"/>
                <a:gd name="connsiteY121" fmla="*/ 3405052 h 3500846"/>
                <a:gd name="connsiteX122" fmla="*/ 1637211 w 4667794"/>
                <a:gd name="connsiteY122" fmla="*/ 3378926 h 3500846"/>
                <a:gd name="connsiteX123" fmla="*/ 1576251 w 4667794"/>
                <a:gd name="connsiteY123" fmla="*/ 3344092 h 3500846"/>
                <a:gd name="connsiteX124" fmla="*/ 1550125 w 4667794"/>
                <a:gd name="connsiteY124" fmla="*/ 3335383 h 3500846"/>
                <a:gd name="connsiteX125" fmla="*/ 1489165 w 4667794"/>
                <a:gd name="connsiteY125" fmla="*/ 3309257 h 3500846"/>
                <a:gd name="connsiteX126" fmla="*/ 1384662 w 4667794"/>
                <a:gd name="connsiteY126" fmla="*/ 3265715 h 3500846"/>
                <a:gd name="connsiteX127" fmla="*/ 1123405 w 4667794"/>
                <a:gd name="connsiteY127" fmla="*/ 3126377 h 3500846"/>
                <a:gd name="connsiteX128" fmla="*/ 923108 w 4667794"/>
                <a:gd name="connsiteY128" fmla="*/ 3021875 h 3500846"/>
                <a:gd name="connsiteX129" fmla="*/ 757645 w 4667794"/>
                <a:gd name="connsiteY129" fmla="*/ 2934789 h 3500846"/>
                <a:gd name="connsiteX130" fmla="*/ 722811 w 4667794"/>
                <a:gd name="connsiteY130" fmla="*/ 2908663 h 3500846"/>
                <a:gd name="connsiteX131" fmla="*/ 679268 w 4667794"/>
                <a:gd name="connsiteY131" fmla="*/ 2882537 h 3500846"/>
                <a:gd name="connsiteX132" fmla="*/ 644434 w 4667794"/>
                <a:gd name="connsiteY132" fmla="*/ 2856412 h 3500846"/>
                <a:gd name="connsiteX133" fmla="*/ 539931 w 4667794"/>
                <a:gd name="connsiteY133" fmla="*/ 2769326 h 3500846"/>
                <a:gd name="connsiteX134" fmla="*/ 505097 w 4667794"/>
                <a:gd name="connsiteY134" fmla="*/ 2725783 h 3500846"/>
                <a:gd name="connsiteX135" fmla="*/ 426720 w 4667794"/>
                <a:gd name="connsiteY135" fmla="*/ 2647406 h 3500846"/>
                <a:gd name="connsiteX136" fmla="*/ 287382 w 4667794"/>
                <a:gd name="connsiteY136" fmla="*/ 2490652 h 3500846"/>
                <a:gd name="connsiteX137" fmla="*/ 261257 w 4667794"/>
                <a:gd name="connsiteY137" fmla="*/ 2455817 h 3500846"/>
                <a:gd name="connsiteX138" fmla="*/ 191588 w 4667794"/>
                <a:gd name="connsiteY138" fmla="*/ 2325189 h 3500846"/>
                <a:gd name="connsiteX139" fmla="*/ 121920 w 4667794"/>
                <a:gd name="connsiteY139" fmla="*/ 2203269 h 3500846"/>
                <a:gd name="connsiteX140" fmla="*/ 78377 w 4667794"/>
                <a:gd name="connsiteY140" fmla="*/ 2055223 h 3500846"/>
                <a:gd name="connsiteX141" fmla="*/ 69668 w 4667794"/>
                <a:gd name="connsiteY141" fmla="*/ 1994263 h 3500846"/>
                <a:gd name="connsiteX142" fmla="*/ 52251 w 4667794"/>
                <a:gd name="connsiteY142" fmla="*/ 1759132 h 3500846"/>
                <a:gd name="connsiteX143" fmla="*/ 69668 w 4667794"/>
                <a:gd name="connsiteY143" fmla="*/ 1367246 h 3500846"/>
                <a:gd name="connsiteX144" fmla="*/ 78377 w 4667794"/>
                <a:gd name="connsiteY144" fmla="*/ 1341120 h 3500846"/>
                <a:gd name="connsiteX145" fmla="*/ 87085 w 4667794"/>
                <a:gd name="connsiteY145" fmla="*/ 1271452 h 3500846"/>
                <a:gd name="connsiteX146" fmla="*/ 69668 w 4667794"/>
                <a:gd name="connsiteY146" fmla="*/ 1079863 h 3500846"/>
                <a:gd name="connsiteX147" fmla="*/ 52251 w 4667794"/>
                <a:gd name="connsiteY147" fmla="*/ 1027612 h 3500846"/>
                <a:gd name="connsiteX148" fmla="*/ 43542 w 4667794"/>
                <a:gd name="connsiteY148" fmla="*/ 1001486 h 3500846"/>
                <a:gd name="connsiteX149" fmla="*/ 26125 w 4667794"/>
                <a:gd name="connsiteY149" fmla="*/ 975360 h 3500846"/>
                <a:gd name="connsiteX150" fmla="*/ 0 w 4667794"/>
                <a:gd name="connsiteY150" fmla="*/ 940526 h 350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4667794" h="3500846">
                  <a:moveTo>
                    <a:pt x="0" y="940526"/>
                  </a:moveTo>
                  <a:lnTo>
                    <a:pt x="0" y="940526"/>
                  </a:lnTo>
                  <a:cubicBezTo>
                    <a:pt x="26126" y="920206"/>
                    <a:pt x="53640" y="901555"/>
                    <a:pt x="78377" y="879566"/>
                  </a:cubicBezTo>
                  <a:cubicBezTo>
                    <a:pt x="105992" y="855020"/>
                    <a:pt x="127590" y="823872"/>
                    <a:pt x="156754" y="801189"/>
                  </a:cubicBezTo>
                  <a:lnTo>
                    <a:pt x="235131" y="740229"/>
                  </a:lnTo>
                  <a:cubicBezTo>
                    <a:pt x="249747" y="728745"/>
                    <a:pt x="263209" y="715706"/>
                    <a:pt x="278674" y="705395"/>
                  </a:cubicBezTo>
                  <a:cubicBezTo>
                    <a:pt x="287383" y="699589"/>
                    <a:pt x="296504" y="694359"/>
                    <a:pt x="304800" y="687977"/>
                  </a:cubicBezTo>
                  <a:cubicBezTo>
                    <a:pt x="334265" y="665311"/>
                    <a:pt x="358635" y="634934"/>
                    <a:pt x="391885" y="618309"/>
                  </a:cubicBezTo>
                  <a:cubicBezTo>
                    <a:pt x="449814" y="589345"/>
                    <a:pt x="405029" y="614334"/>
                    <a:pt x="461554" y="574766"/>
                  </a:cubicBezTo>
                  <a:cubicBezTo>
                    <a:pt x="588919" y="485610"/>
                    <a:pt x="426388" y="605494"/>
                    <a:pt x="583474" y="487680"/>
                  </a:cubicBezTo>
                  <a:cubicBezTo>
                    <a:pt x="595085" y="478972"/>
                    <a:pt x="607158" y="470847"/>
                    <a:pt x="618308" y="461555"/>
                  </a:cubicBezTo>
                  <a:cubicBezTo>
                    <a:pt x="635725" y="447041"/>
                    <a:pt x="653708" y="433179"/>
                    <a:pt x="670560" y="418012"/>
                  </a:cubicBezTo>
                  <a:cubicBezTo>
                    <a:pt x="682766" y="407027"/>
                    <a:pt x="692858" y="393784"/>
                    <a:pt x="705394" y="383177"/>
                  </a:cubicBezTo>
                  <a:cubicBezTo>
                    <a:pt x="730660" y="361798"/>
                    <a:pt x="757537" y="342397"/>
                    <a:pt x="783771" y="322217"/>
                  </a:cubicBezTo>
                  <a:cubicBezTo>
                    <a:pt x="795275" y="313368"/>
                    <a:pt x="808342" y="306355"/>
                    <a:pt x="818605" y="296092"/>
                  </a:cubicBezTo>
                  <a:cubicBezTo>
                    <a:pt x="836022" y="278675"/>
                    <a:pt x="848826" y="254856"/>
                    <a:pt x="870857" y="243840"/>
                  </a:cubicBezTo>
                  <a:cubicBezTo>
                    <a:pt x="882468" y="238034"/>
                    <a:pt x="894420" y="232864"/>
                    <a:pt x="905691" y="226423"/>
                  </a:cubicBezTo>
                  <a:cubicBezTo>
                    <a:pt x="914778" y="221230"/>
                    <a:pt x="922776" y="214280"/>
                    <a:pt x="931817" y="209006"/>
                  </a:cubicBezTo>
                  <a:cubicBezTo>
                    <a:pt x="957633" y="193947"/>
                    <a:pt x="983463" y="178829"/>
                    <a:pt x="1010194" y="165463"/>
                  </a:cubicBezTo>
                  <a:cubicBezTo>
                    <a:pt x="1131455" y="104832"/>
                    <a:pt x="1010822" y="170437"/>
                    <a:pt x="1132114" y="121920"/>
                  </a:cubicBezTo>
                  <a:cubicBezTo>
                    <a:pt x="1329429" y="42994"/>
                    <a:pt x="1132496" y="117375"/>
                    <a:pt x="1227908" y="69669"/>
                  </a:cubicBezTo>
                  <a:cubicBezTo>
                    <a:pt x="1247682" y="59782"/>
                    <a:pt x="1267895" y="50534"/>
                    <a:pt x="1288868" y="43543"/>
                  </a:cubicBezTo>
                  <a:cubicBezTo>
                    <a:pt x="1311577" y="35973"/>
                    <a:pt x="1335408" y="32294"/>
                    <a:pt x="1358537" y="26126"/>
                  </a:cubicBezTo>
                  <a:cubicBezTo>
                    <a:pt x="1451323" y="1383"/>
                    <a:pt x="1386246" y="14251"/>
                    <a:pt x="1471748" y="0"/>
                  </a:cubicBezTo>
                  <a:cubicBezTo>
                    <a:pt x="1605616" y="9562"/>
                    <a:pt x="1608339" y="3760"/>
                    <a:pt x="1750422" y="43543"/>
                  </a:cubicBezTo>
                  <a:cubicBezTo>
                    <a:pt x="1771711" y="49504"/>
                    <a:pt x="1790605" y="62114"/>
                    <a:pt x="1811382" y="69669"/>
                  </a:cubicBezTo>
                  <a:cubicBezTo>
                    <a:pt x="1822630" y="73759"/>
                    <a:pt x="1834969" y="74287"/>
                    <a:pt x="1846217" y="78377"/>
                  </a:cubicBezTo>
                  <a:cubicBezTo>
                    <a:pt x="1894191" y="95822"/>
                    <a:pt x="1924502" y="112485"/>
                    <a:pt x="1968137" y="139337"/>
                  </a:cubicBezTo>
                  <a:cubicBezTo>
                    <a:pt x="1985965" y="150308"/>
                    <a:pt x="2004187" y="160916"/>
                    <a:pt x="2020388" y="174172"/>
                  </a:cubicBezTo>
                  <a:cubicBezTo>
                    <a:pt x="2217614" y="335541"/>
                    <a:pt x="1946099" y="129342"/>
                    <a:pt x="2098765" y="243840"/>
                  </a:cubicBezTo>
                  <a:lnTo>
                    <a:pt x="2133600" y="313509"/>
                  </a:lnTo>
                  <a:cubicBezTo>
                    <a:pt x="2139406" y="325120"/>
                    <a:pt x="2146912" y="336027"/>
                    <a:pt x="2151017" y="348343"/>
                  </a:cubicBezTo>
                  <a:cubicBezTo>
                    <a:pt x="2156823" y="365760"/>
                    <a:pt x="2160978" y="383818"/>
                    <a:pt x="2168434" y="400595"/>
                  </a:cubicBezTo>
                  <a:cubicBezTo>
                    <a:pt x="2172685" y="410159"/>
                    <a:pt x="2181170" y="417359"/>
                    <a:pt x="2185851" y="426720"/>
                  </a:cubicBezTo>
                  <a:cubicBezTo>
                    <a:pt x="2192842" y="440702"/>
                    <a:pt x="2196919" y="455978"/>
                    <a:pt x="2203268" y="470263"/>
                  </a:cubicBezTo>
                  <a:cubicBezTo>
                    <a:pt x="2208540" y="482126"/>
                    <a:pt x="2214244" y="493826"/>
                    <a:pt x="2220685" y="505097"/>
                  </a:cubicBezTo>
                  <a:cubicBezTo>
                    <a:pt x="2225878" y="514184"/>
                    <a:pt x="2233421" y="521862"/>
                    <a:pt x="2238102" y="531223"/>
                  </a:cubicBezTo>
                  <a:cubicBezTo>
                    <a:pt x="2242207" y="539434"/>
                    <a:pt x="2243195" y="548911"/>
                    <a:pt x="2246811" y="557349"/>
                  </a:cubicBezTo>
                  <a:cubicBezTo>
                    <a:pt x="2251925" y="569281"/>
                    <a:pt x="2259114" y="580251"/>
                    <a:pt x="2264228" y="592183"/>
                  </a:cubicBezTo>
                  <a:cubicBezTo>
                    <a:pt x="2286837" y="644937"/>
                    <a:pt x="2254276" y="589695"/>
                    <a:pt x="2290354" y="661852"/>
                  </a:cubicBezTo>
                  <a:cubicBezTo>
                    <a:pt x="2295035" y="671213"/>
                    <a:pt x="2303090" y="678616"/>
                    <a:pt x="2307771" y="687977"/>
                  </a:cubicBezTo>
                  <a:cubicBezTo>
                    <a:pt x="2314762" y="701959"/>
                    <a:pt x="2319699" y="716883"/>
                    <a:pt x="2325188" y="731520"/>
                  </a:cubicBezTo>
                  <a:cubicBezTo>
                    <a:pt x="2333687" y="754184"/>
                    <a:pt x="2332818" y="765276"/>
                    <a:pt x="2351314" y="783772"/>
                  </a:cubicBezTo>
                  <a:cubicBezTo>
                    <a:pt x="2364457" y="796915"/>
                    <a:pt x="2379095" y="808755"/>
                    <a:pt x="2394857" y="818606"/>
                  </a:cubicBezTo>
                  <a:cubicBezTo>
                    <a:pt x="2403190" y="823814"/>
                    <a:pt x="2450081" y="834589"/>
                    <a:pt x="2455817" y="836023"/>
                  </a:cubicBezTo>
                  <a:cubicBezTo>
                    <a:pt x="2513874" y="833120"/>
                    <a:pt x="2572077" y="832351"/>
                    <a:pt x="2629988" y="827315"/>
                  </a:cubicBezTo>
                  <a:cubicBezTo>
                    <a:pt x="2639133" y="826520"/>
                    <a:pt x="2647519" y="821829"/>
                    <a:pt x="2656114" y="818606"/>
                  </a:cubicBezTo>
                  <a:cubicBezTo>
                    <a:pt x="2670751" y="813117"/>
                    <a:pt x="2684827" y="806132"/>
                    <a:pt x="2699657" y="801189"/>
                  </a:cubicBezTo>
                  <a:cubicBezTo>
                    <a:pt x="2719706" y="794506"/>
                    <a:pt x="2740229" y="789333"/>
                    <a:pt x="2760617" y="783772"/>
                  </a:cubicBezTo>
                  <a:cubicBezTo>
                    <a:pt x="2772164" y="780623"/>
                    <a:pt x="2783675" y="777204"/>
                    <a:pt x="2795451" y="775063"/>
                  </a:cubicBezTo>
                  <a:cubicBezTo>
                    <a:pt x="2835353" y="767808"/>
                    <a:pt x="2855685" y="769499"/>
                    <a:pt x="2891245" y="757646"/>
                  </a:cubicBezTo>
                  <a:cubicBezTo>
                    <a:pt x="2906075" y="752703"/>
                    <a:pt x="2921064" y="747715"/>
                    <a:pt x="2934788" y="740229"/>
                  </a:cubicBezTo>
                  <a:cubicBezTo>
                    <a:pt x="2953165" y="730205"/>
                    <a:pt x="2967181" y="712015"/>
                    <a:pt x="2987040" y="705395"/>
                  </a:cubicBezTo>
                  <a:cubicBezTo>
                    <a:pt x="3026722" y="692167"/>
                    <a:pt x="3019283" y="694226"/>
                    <a:pt x="3074125" y="679269"/>
                  </a:cubicBezTo>
                  <a:cubicBezTo>
                    <a:pt x="3085672" y="676120"/>
                    <a:pt x="3097451" y="673848"/>
                    <a:pt x="3108960" y="670560"/>
                  </a:cubicBezTo>
                  <a:cubicBezTo>
                    <a:pt x="3117786" y="668038"/>
                    <a:pt x="3126180" y="664078"/>
                    <a:pt x="3135085" y="661852"/>
                  </a:cubicBezTo>
                  <a:cubicBezTo>
                    <a:pt x="3149445" y="658262"/>
                    <a:pt x="3164268" y="656733"/>
                    <a:pt x="3178628" y="653143"/>
                  </a:cubicBezTo>
                  <a:cubicBezTo>
                    <a:pt x="3215633" y="643892"/>
                    <a:pt x="3202960" y="640352"/>
                    <a:pt x="3248297" y="627017"/>
                  </a:cubicBezTo>
                  <a:cubicBezTo>
                    <a:pt x="3384269" y="587025"/>
                    <a:pt x="3311458" y="610685"/>
                    <a:pt x="3422468" y="592183"/>
                  </a:cubicBezTo>
                  <a:cubicBezTo>
                    <a:pt x="3434274" y="590215"/>
                    <a:pt x="3445496" y="585443"/>
                    <a:pt x="3457302" y="583475"/>
                  </a:cubicBezTo>
                  <a:cubicBezTo>
                    <a:pt x="3629293" y="554809"/>
                    <a:pt x="3528251" y="578799"/>
                    <a:pt x="3614057" y="557349"/>
                  </a:cubicBezTo>
                  <a:cubicBezTo>
                    <a:pt x="3675017" y="560252"/>
                    <a:pt x="3736075" y="561549"/>
                    <a:pt x="3796937" y="566057"/>
                  </a:cubicBezTo>
                  <a:cubicBezTo>
                    <a:pt x="3817777" y="567601"/>
                    <a:pt x="3861352" y="576674"/>
                    <a:pt x="3884022" y="583475"/>
                  </a:cubicBezTo>
                  <a:cubicBezTo>
                    <a:pt x="3901607" y="588751"/>
                    <a:pt x="3918271" y="597292"/>
                    <a:pt x="3936274" y="600892"/>
                  </a:cubicBezTo>
                  <a:cubicBezTo>
                    <a:pt x="3962050" y="606047"/>
                    <a:pt x="3988525" y="606697"/>
                    <a:pt x="4014651" y="609600"/>
                  </a:cubicBezTo>
                  <a:lnTo>
                    <a:pt x="4093028" y="635726"/>
                  </a:lnTo>
                  <a:cubicBezTo>
                    <a:pt x="4101737" y="638629"/>
                    <a:pt x="4110327" y="641913"/>
                    <a:pt x="4119154" y="644435"/>
                  </a:cubicBezTo>
                  <a:cubicBezTo>
                    <a:pt x="4127153" y="646720"/>
                    <a:pt x="4221410" y="672696"/>
                    <a:pt x="4232365" y="679269"/>
                  </a:cubicBezTo>
                  <a:cubicBezTo>
                    <a:pt x="4246879" y="687978"/>
                    <a:pt x="4261824" y="696006"/>
                    <a:pt x="4275908" y="705395"/>
                  </a:cubicBezTo>
                  <a:cubicBezTo>
                    <a:pt x="4287984" y="713446"/>
                    <a:pt x="4301099" y="720672"/>
                    <a:pt x="4310742" y="731520"/>
                  </a:cubicBezTo>
                  <a:cubicBezTo>
                    <a:pt x="4324649" y="747166"/>
                    <a:pt x="4333965" y="766355"/>
                    <a:pt x="4345577" y="783772"/>
                  </a:cubicBezTo>
                  <a:cubicBezTo>
                    <a:pt x="4351383" y="792480"/>
                    <a:pt x="4356714" y="801524"/>
                    <a:pt x="4362994" y="809897"/>
                  </a:cubicBezTo>
                  <a:cubicBezTo>
                    <a:pt x="4371703" y="821509"/>
                    <a:pt x="4381652" y="832286"/>
                    <a:pt x="4389120" y="844732"/>
                  </a:cubicBezTo>
                  <a:cubicBezTo>
                    <a:pt x="4399139" y="861430"/>
                    <a:pt x="4407756" y="879008"/>
                    <a:pt x="4415245" y="896983"/>
                  </a:cubicBezTo>
                  <a:cubicBezTo>
                    <a:pt x="4443835" y="965600"/>
                    <a:pt x="4415844" y="932418"/>
                    <a:pt x="4450080" y="966652"/>
                  </a:cubicBezTo>
                  <a:cubicBezTo>
                    <a:pt x="4455886" y="984069"/>
                    <a:pt x="4460436" y="1001956"/>
                    <a:pt x="4467497" y="1018903"/>
                  </a:cubicBezTo>
                  <a:cubicBezTo>
                    <a:pt x="4520316" y="1145672"/>
                    <a:pt x="4466869" y="991107"/>
                    <a:pt x="4519748" y="1132115"/>
                  </a:cubicBezTo>
                  <a:cubicBezTo>
                    <a:pt x="4529418" y="1157900"/>
                    <a:pt x="4537165" y="1184366"/>
                    <a:pt x="4545874" y="1210492"/>
                  </a:cubicBezTo>
                  <a:cubicBezTo>
                    <a:pt x="4551680" y="1227909"/>
                    <a:pt x="4556473" y="1245697"/>
                    <a:pt x="4563291" y="1262743"/>
                  </a:cubicBezTo>
                  <a:cubicBezTo>
                    <a:pt x="4565337" y="1267857"/>
                    <a:pt x="4598866" y="1346739"/>
                    <a:pt x="4606834" y="1375955"/>
                  </a:cubicBezTo>
                  <a:cubicBezTo>
                    <a:pt x="4613132" y="1399049"/>
                    <a:pt x="4617953" y="1422529"/>
                    <a:pt x="4624251" y="1445623"/>
                  </a:cubicBezTo>
                  <a:cubicBezTo>
                    <a:pt x="4626666" y="1454479"/>
                    <a:pt x="4630322" y="1462956"/>
                    <a:pt x="4632960" y="1471749"/>
                  </a:cubicBezTo>
                  <a:cubicBezTo>
                    <a:pt x="4639033" y="1491991"/>
                    <a:pt x="4644571" y="1512389"/>
                    <a:pt x="4650377" y="1532709"/>
                  </a:cubicBezTo>
                  <a:cubicBezTo>
                    <a:pt x="4653280" y="1558835"/>
                    <a:pt x="4654764" y="1585157"/>
                    <a:pt x="4659085" y="1611086"/>
                  </a:cubicBezTo>
                  <a:cubicBezTo>
                    <a:pt x="4660594" y="1620141"/>
                    <a:pt x="4667794" y="1628032"/>
                    <a:pt x="4667794" y="1637212"/>
                  </a:cubicBezTo>
                  <a:cubicBezTo>
                    <a:pt x="4667794" y="1686646"/>
                    <a:pt x="4664004" y="1736069"/>
                    <a:pt x="4659085" y="1785257"/>
                  </a:cubicBezTo>
                  <a:cubicBezTo>
                    <a:pt x="4658172" y="1794391"/>
                    <a:pt x="4652742" y="1802513"/>
                    <a:pt x="4650377" y="1811383"/>
                  </a:cubicBezTo>
                  <a:cubicBezTo>
                    <a:pt x="4641125" y="1846077"/>
                    <a:pt x="4635606" y="1881822"/>
                    <a:pt x="4624251" y="1915886"/>
                  </a:cubicBezTo>
                  <a:cubicBezTo>
                    <a:pt x="4586603" y="2028824"/>
                    <a:pt x="4650564" y="1834724"/>
                    <a:pt x="4606834" y="1976846"/>
                  </a:cubicBezTo>
                  <a:cubicBezTo>
                    <a:pt x="4598735" y="2003167"/>
                    <a:pt x="4589417" y="2029097"/>
                    <a:pt x="4580708" y="2055223"/>
                  </a:cubicBezTo>
                  <a:cubicBezTo>
                    <a:pt x="4574902" y="2095863"/>
                    <a:pt x="4574093" y="2137537"/>
                    <a:pt x="4563291" y="2177143"/>
                  </a:cubicBezTo>
                  <a:cubicBezTo>
                    <a:pt x="4556459" y="2202192"/>
                    <a:pt x="4538685" y="2222947"/>
                    <a:pt x="4528457" y="2246812"/>
                  </a:cubicBezTo>
                  <a:cubicBezTo>
                    <a:pt x="4521225" y="2263687"/>
                    <a:pt x="4517631" y="2281928"/>
                    <a:pt x="4511040" y="2299063"/>
                  </a:cubicBezTo>
                  <a:cubicBezTo>
                    <a:pt x="4503104" y="2319697"/>
                    <a:pt x="4492677" y="2339323"/>
                    <a:pt x="4484914" y="2360023"/>
                  </a:cubicBezTo>
                  <a:cubicBezTo>
                    <a:pt x="4475244" y="2385808"/>
                    <a:pt x="4470328" y="2413396"/>
                    <a:pt x="4458788" y="2438400"/>
                  </a:cubicBezTo>
                  <a:cubicBezTo>
                    <a:pt x="4452706" y="2451579"/>
                    <a:pt x="4439153" y="2460253"/>
                    <a:pt x="4432662" y="2473235"/>
                  </a:cubicBezTo>
                  <a:cubicBezTo>
                    <a:pt x="4412889" y="2512782"/>
                    <a:pt x="4406940" y="2559783"/>
                    <a:pt x="4380411" y="2595155"/>
                  </a:cubicBezTo>
                  <a:cubicBezTo>
                    <a:pt x="4371702" y="2606766"/>
                    <a:pt x="4361235" y="2617247"/>
                    <a:pt x="4354285" y="2629989"/>
                  </a:cubicBezTo>
                  <a:cubicBezTo>
                    <a:pt x="4343699" y="2649397"/>
                    <a:pt x="4337308" y="2670823"/>
                    <a:pt x="4328160" y="2690949"/>
                  </a:cubicBezTo>
                  <a:cubicBezTo>
                    <a:pt x="4317049" y="2715394"/>
                    <a:pt x="4286944" y="2770977"/>
                    <a:pt x="4275908" y="2786743"/>
                  </a:cubicBezTo>
                  <a:cubicBezTo>
                    <a:pt x="4268845" y="2796833"/>
                    <a:pt x="4257171" y="2803016"/>
                    <a:pt x="4249782" y="2812869"/>
                  </a:cubicBezTo>
                  <a:cubicBezTo>
                    <a:pt x="4176990" y="2909927"/>
                    <a:pt x="4277620" y="2804575"/>
                    <a:pt x="4180114" y="2891246"/>
                  </a:cubicBezTo>
                  <a:cubicBezTo>
                    <a:pt x="4167841" y="2902155"/>
                    <a:pt x="4157346" y="2914942"/>
                    <a:pt x="4145280" y="2926080"/>
                  </a:cubicBezTo>
                  <a:cubicBezTo>
                    <a:pt x="4095443" y="2972083"/>
                    <a:pt x="4044047" y="3017517"/>
                    <a:pt x="3988525" y="3056709"/>
                  </a:cubicBezTo>
                  <a:cubicBezTo>
                    <a:pt x="3966152" y="3072502"/>
                    <a:pt x="3943060" y="3087439"/>
                    <a:pt x="3918857" y="3100252"/>
                  </a:cubicBezTo>
                  <a:cubicBezTo>
                    <a:pt x="3893590" y="3113629"/>
                    <a:pt x="3866318" y="3122847"/>
                    <a:pt x="3840480" y="3135086"/>
                  </a:cubicBezTo>
                  <a:cubicBezTo>
                    <a:pt x="3811149" y="3148980"/>
                    <a:pt x="3783528" y="3166575"/>
                    <a:pt x="3753394" y="3178629"/>
                  </a:cubicBezTo>
                  <a:cubicBezTo>
                    <a:pt x="3725255" y="3189885"/>
                    <a:pt x="3694870" y="3194620"/>
                    <a:pt x="3666308" y="3204755"/>
                  </a:cubicBezTo>
                  <a:cubicBezTo>
                    <a:pt x="3604830" y="3226570"/>
                    <a:pt x="3547395" y="3261629"/>
                    <a:pt x="3483428" y="3274423"/>
                  </a:cubicBezTo>
                  <a:cubicBezTo>
                    <a:pt x="3426368" y="3285835"/>
                    <a:pt x="3411819" y="3287707"/>
                    <a:pt x="3344091" y="3309257"/>
                  </a:cubicBezTo>
                  <a:cubicBezTo>
                    <a:pt x="3311713" y="3319559"/>
                    <a:pt x="3280727" y="3333957"/>
                    <a:pt x="3248297" y="3344092"/>
                  </a:cubicBezTo>
                  <a:cubicBezTo>
                    <a:pt x="3234169" y="3348507"/>
                    <a:pt x="3218882" y="3348385"/>
                    <a:pt x="3204754" y="3352800"/>
                  </a:cubicBezTo>
                  <a:cubicBezTo>
                    <a:pt x="3116304" y="3380441"/>
                    <a:pt x="3109548" y="3393528"/>
                    <a:pt x="3021874" y="3413760"/>
                  </a:cubicBezTo>
                  <a:cubicBezTo>
                    <a:pt x="2975829" y="3424386"/>
                    <a:pt x="2928127" y="3427452"/>
                    <a:pt x="2882537" y="3439886"/>
                  </a:cubicBezTo>
                  <a:cubicBezTo>
                    <a:pt x="2850605" y="3448595"/>
                    <a:pt x="2818852" y="3457985"/>
                    <a:pt x="2786742" y="3466012"/>
                  </a:cubicBezTo>
                  <a:cubicBezTo>
                    <a:pt x="2756818" y="3473493"/>
                    <a:pt x="2642686" y="3491738"/>
                    <a:pt x="2638697" y="3492137"/>
                  </a:cubicBezTo>
                  <a:cubicBezTo>
                    <a:pt x="2586624" y="3497344"/>
                    <a:pt x="2534194" y="3497943"/>
                    <a:pt x="2481942" y="3500846"/>
                  </a:cubicBezTo>
                  <a:cubicBezTo>
                    <a:pt x="2381119" y="3496813"/>
                    <a:pt x="2256022" y="3494482"/>
                    <a:pt x="2151017" y="3483429"/>
                  </a:cubicBezTo>
                  <a:cubicBezTo>
                    <a:pt x="2133456" y="3481581"/>
                    <a:pt x="2116302" y="3476783"/>
                    <a:pt x="2098765" y="3474720"/>
                  </a:cubicBezTo>
                  <a:cubicBezTo>
                    <a:pt x="2066922" y="3470974"/>
                    <a:pt x="2034902" y="3468915"/>
                    <a:pt x="2002971" y="3466012"/>
                  </a:cubicBezTo>
                  <a:cubicBezTo>
                    <a:pt x="1939108" y="3454400"/>
                    <a:pt x="1874594" y="3445926"/>
                    <a:pt x="1811382" y="3431177"/>
                  </a:cubicBezTo>
                  <a:cubicBezTo>
                    <a:pt x="1787229" y="3425541"/>
                    <a:pt x="1765470" y="3412179"/>
                    <a:pt x="1741714" y="3405052"/>
                  </a:cubicBezTo>
                  <a:cubicBezTo>
                    <a:pt x="1707322" y="3394734"/>
                    <a:pt x="1637211" y="3378926"/>
                    <a:pt x="1637211" y="3378926"/>
                  </a:cubicBezTo>
                  <a:cubicBezTo>
                    <a:pt x="1616891" y="3367315"/>
                    <a:pt x="1597184" y="3354558"/>
                    <a:pt x="1576251" y="3344092"/>
                  </a:cubicBezTo>
                  <a:cubicBezTo>
                    <a:pt x="1568040" y="3339987"/>
                    <a:pt x="1558648" y="3338792"/>
                    <a:pt x="1550125" y="3335383"/>
                  </a:cubicBezTo>
                  <a:cubicBezTo>
                    <a:pt x="1529599" y="3327172"/>
                    <a:pt x="1509198" y="3318606"/>
                    <a:pt x="1489165" y="3309257"/>
                  </a:cubicBezTo>
                  <a:cubicBezTo>
                    <a:pt x="1396429" y="3265980"/>
                    <a:pt x="1450385" y="3282144"/>
                    <a:pt x="1384662" y="3265715"/>
                  </a:cubicBezTo>
                  <a:cubicBezTo>
                    <a:pt x="1236076" y="3166656"/>
                    <a:pt x="1364804" y="3247076"/>
                    <a:pt x="1123405" y="3126377"/>
                  </a:cubicBezTo>
                  <a:cubicBezTo>
                    <a:pt x="1056049" y="3092699"/>
                    <a:pt x="990077" y="3056316"/>
                    <a:pt x="923108" y="3021875"/>
                  </a:cubicBezTo>
                  <a:cubicBezTo>
                    <a:pt x="866898" y="2992967"/>
                    <a:pt x="810821" y="2968628"/>
                    <a:pt x="757645" y="2934789"/>
                  </a:cubicBezTo>
                  <a:cubicBezTo>
                    <a:pt x="745400" y="2926997"/>
                    <a:pt x="734888" y="2916714"/>
                    <a:pt x="722811" y="2908663"/>
                  </a:cubicBezTo>
                  <a:cubicBezTo>
                    <a:pt x="708727" y="2899274"/>
                    <a:pt x="693352" y="2891926"/>
                    <a:pt x="679268" y="2882537"/>
                  </a:cubicBezTo>
                  <a:cubicBezTo>
                    <a:pt x="667192" y="2874486"/>
                    <a:pt x="656245" y="2864848"/>
                    <a:pt x="644434" y="2856412"/>
                  </a:cubicBezTo>
                  <a:cubicBezTo>
                    <a:pt x="590059" y="2817574"/>
                    <a:pt x="623339" y="2852735"/>
                    <a:pt x="539931" y="2769326"/>
                  </a:cubicBezTo>
                  <a:cubicBezTo>
                    <a:pt x="526788" y="2756183"/>
                    <a:pt x="517745" y="2739404"/>
                    <a:pt x="505097" y="2725783"/>
                  </a:cubicBezTo>
                  <a:cubicBezTo>
                    <a:pt x="479956" y="2698708"/>
                    <a:pt x="452846" y="2673532"/>
                    <a:pt x="426720" y="2647406"/>
                  </a:cubicBezTo>
                  <a:cubicBezTo>
                    <a:pt x="371704" y="2592390"/>
                    <a:pt x="344981" y="2567454"/>
                    <a:pt x="287382" y="2490652"/>
                  </a:cubicBezTo>
                  <a:cubicBezTo>
                    <a:pt x="278674" y="2479040"/>
                    <a:pt x="269049" y="2468062"/>
                    <a:pt x="261257" y="2455817"/>
                  </a:cubicBezTo>
                  <a:cubicBezTo>
                    <a:pt x="220082" y="2391113"/>
                    <a:pt x="229631" y="2394935"/>
                    <a:pt x="191588" y="2325189"/>
                  </a:cubicBezTo>
                  <a:cubicBezTo>
                    <a:pt x="169174" y="2284097"/>
                    <a:pt x="136722" y="2247674"/>
                    <a:pt x="121920" y="2203269"/>
                  </a:cubicBezTo>
                  <a:cubicBezTo>
                    <a:pt x="103573" y="2148231"/>
                    <a:pt x="92138" y="2117148"/>
                    <a:pt x="78377" y="2055223"/>
                  </a:cubicBezTo>
                  <a:cubicBezTo>
                    <a:pt x="73924" y="2035185"/>
                    <a:pt x="72214" y="2014631"/>
                    <a:pt x="69668" y="1994263"/>
                  </a:cubicBezTo>
                  <a:cubicBezTo>
                    <a:pt x="56631" y="1889965"/>
                    <a:pt x="59532" y="1890189"/>
                    <a:pt x="52251" y="1759132"/>
                  </a:cubicBezTo>
                  <a:cubicBezTo>
                    <a:pt x="53577" y="1708758"/>
                    <a:pt x="46829" y="1481440"/>
                    <a:pt x="69668" y="1367246"/>
                  </a:cubicBezTo>
                  <a:cubicBezTo>
                    <a:pt x="71468" y="1358244"/>
                    <a:pt x="75474" y="1349829"/>
                    <a:pt x="78377" y="1341120"/>
                  </a:cubicBezTo>
                  <a:cubicBezTo>
                    <a:pt x="81280" y="1317897"/>
                    <a:pt x="87085" y="1294855"/>
                    <a:pt x="87085" y="1271452"/>
                  </a:cubicBezTo>
                  <a:cubicBezTo>
                    <a:pt x="87085" y="1225688"/>
                    <a:pt x="85205" y="1136830"/>
                    <a:pt x="69668" y="1079863"/>
                  </a:cubicBezTo>
                  <a:cubicBezTo>
                    <a:pt x="64837" y="1062151"/>
                    <a:pt x="58057" y="1045029"/>
                    <a:pt x="52251" y="1027612"/>
                  </a:cubicBezTo>
                  <a:cubicBezTo>
                    <a:pt x="49348" y="1018903"/>
                    <a:pt x="48634" y="1009124"/>
                    <a:pt x="43542" y="1001486"/>
                  </a:cubicBezTo>
                  <a:lnTo>
                    <a:pt x="26125" y="975360"/>
                  </a:lnTo>
                  <a:cubicBezTo>
                    <a:pt x="15364" y="943077"/>
                    <a:pt x="4354" y="946332"/>
                    <a:pt x="0" y="940526"/>
                  </a:cubicBezTo>
                  <a:close/>
                </a:path>
              </a:pathLst>
            </a:cu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890D3C9-2992-0777-9E29-C32B0C18C218}"/>
                </a:ext>
              </a:extLst>
            </p:cNvPr>
            <p:cNvSpPr/>
            <p:nvPr/>
          </p:nvSpPr>
          <p:spPr>
            <a:xfrm>
              <a:off x="1341120" y="3927566"/>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t>
              </a:r>
            </a:p>
          </p:txBody>
        </p:sp>
        <p:sp>
          <p:nvSpPr>
            <p:cNvPr id="7" name="Oval 6">
              <a:extLst>
                <a:ext uri="{FF2B5EF4-FFF2-40B4-BE49-F238E27FC236}">
                  <a16:creationId xmlns:a16="http://schemas.microsoft.com/office/drawing/2014/main" id="{BB6597BD-AB88-790D-96C6-2C307C9CE76E}"/>
                </a:ext>
              </a:extLst>
            </p:cNvPr>
            <p:cNvSpPr/>
            <p:nvPr/>
          </p:nvSpPr>
          <p:spPr>
            <a:xfrm>
              <a:off x="4802777" y="3848517"/>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Oval 7">
              <a:extLst>
                <a:ext uri="{FF2B5EF4-FFF2-40B4-BE49-F238E27FC236}">
                  <a16:creationId xmlns:a16="http://schemas.microsoft.com/office/drawing/2014/main" id="{B112296F-63FF-C88F-EBA5-1FCE4568EE30}"/>
                </a:ext>
              </a:extLst>
            </p:cNvPr>
            <p:cNvSpPr/>
            <p:nvPr/>
          </p:nvSpPr>
          <p:spPr>
            <a:xfrm>
              <a:off x="4998561" y="4526280"/>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u</a:t>
              </a:r>
            </a:p>
          </p:txBody>
        </p:sp>
        <p:sp>
          <p:nvSpPr>
            <p:cNvPr id="9" name="Oval 8">
              <a:extLst>
                <a:ext uri="{FF2B5EF4-FFF2-40B4-BE49-F238E27FC236}">
                  <a16:creationId xmlns:a16="http://schemas.microsoft.com/office/drawing/2014/main" id="{F9ED9844-81BD-C0C9-6E99-3DEA8FC044FE}"/>
                </a:ext>
              </a:extLst>
            </p:cNvPr>
            <p:cNvSpPr/>
            <p:nvPr/>
          </p:nvSpPr>
          <p:spPr>
            <a:xfrm>
              <a:off x="4411801" y="5100013"/>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Oval 9">
              <a:extLst>
                <a:ext uri="{FF2B5EF4-FFF2-40B4-BE49-F238E27FC236}">
                  <a16:creationId xmlns:a16="http://schemas.microsoft.com/office/drawing/2014/main" id="{A1CDC040-C4FA-217F-C731-659FE0D7D8AA}"/>
                </a:ext>
              </a:extLst>
            </p:cNvPr>
            <p:cNvSpPr/>
            <p:nvPr/>
          </p:nvSpPr>
          <p:spPr>
            <a:xfrm>
              <a:off x="3013166" y="4005943"/>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Oval 10">
              <a:extLst>
                <a:ext uri="{FF2B5EF4-FFF2-40B4-BE49-F238E27FC236}">
                  <a16:creationId xmlns:a16="http://schemas.microsoft.com/office/drawing/2014/main" id="{AF06BED1-3163-0C87-A481-8491397AD9EF}"/>
                </a:ext>
              </a:extLst>
            </p:cNvPr>
            <p:cNvSpPr/>
            <p:nvPr/>
          </p:nvSpPr>
          <p:spPr>
            <a:xfrm>
              <a:off x="2665733" y="4926330"/>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Oval 12">
              <a:extLst>
                <a:ext uri="{FF2B5EF4-FFF2-40B4-BE49-F238E27FC236}">
                  <a16:creationId xmlns:a16="http://schemas.microsoft.com/office/drawing/2014/main" id="{26F68E2C-92AF-5DCD-78C7-D3B2DD188C6A}"/>
                </a:ext>
              </a:extLst>
            </p:cNvPr>
            <p:cNvSpPr/>
            <p:nvPr/>
          </p:nvSpPr>
          <p:spPr>
            <a:xfrm>
              <a:off x="5969726" y="3692435"/>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 name="Oval 13">
              <a:extLst>
                <a:ext uri="{FF2B5EF4-FFF2-40B4-BE49-F238E27FC236}">
                  <a16:creationId xmlns:a16="http://schemas.microsoft.com/office/drawing/2014/main" id="{FF3FC710-8BDF-F677-6AC7-09937372C23F}"/>
                </a:ext>
              </a:extLst>
            </p:cNvPr>
            <p:cNvSpPr/>
            <p:nvPr/>
          </p:nvSpPr>
          <p:spPr>
            <a:xfrm>
              <a:off x="5988523" y="4463143"/>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v</a:t>
              </a:r>
            </a:p>
          </p:txBody>
        </p:sp>
        <p:sp>
          <p:nvSpPr>
            <p:cNvPr id="15" name="Oval 14">
              <a:extLst>
                <a:ext uri="{FF2B5EF4-FFF2-40B4-BE49-F238E27FC236}">
                  <a16:creationId xmlns:a16="http://schemas.microsoft.com/office/drawing/2014/main" id="{C800F146-9C7A-0A1B-B440-F4E010CC76C1}"/>
                </a:ext>
              </a:extLst>
            </p:cNvPr>
            <p:cNvSpPr/>
            <p:nvPr/>
          </p:nvSpPr>
          <p:spPr>
            <a:xfrm>
              <a:off x="5814694" y="5260044"/>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7" name="Straight Connector 16">
              <a:extLst>
                <a:ext uri="{FF2B5EF4-FFF2-40B4-BE49-F238E27FC236}">
                  <a16:creationId xmlns:a16="http://schemas.microsoft.com/office/drawing/2014/main" id="{1CC9F9E1-35E3-164F-4F3A-497C31570256}"/>
                </a:ext>
              </a:extLst>
            </p:cNvPr>
            <p:cNvCxnSpPr>
              <a:stCxn id="7" idx="6"/>
              <a:endCxn id="13" idx="2"/>
            </p:cNvCxnSpPr>
            <p:nvPr/>
          </p:nvCxnSpPr>
          <p:spPr>
            <a:xfrm flipV="1">
              <a:off x="5229497" y="3905795"/>
              <a:ext cx="740229" cy="156082"/>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51601738-3A26-9DE1-80D7-ABE046733CFB}"/>
                </a:ext>
              </a:extLst>
            </p:cNvPr>
            <p:cNvCxnSpPr>
              <a:cxnSpLocks/>
              <a:stCxn id="8" idx="6"/>
              <a:endCxn id="14" idx="2"/>
            </p:cNvCxnSpPr>
            <p:nvPr/>
          </p:nvCxnSpPr>
          <p:spPr>
            <a:xfrm flipV="1">
              <a:off x="5425281" y="4676503"/>
              <a:ext cx="563242" cy="63137"/>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B10992A3-6B76-2DDD-6AC7-2D35DD2B3B1F}"/>
                </a:ext>
              </a:extLst>
            </p:cNvPr>
            <p:cNvCxnSpPr>
              <a:cxnSpLocks/>
              <a:stCxn id="9" idx="6"/>
              <a:endCxn id="15" idx="2"/>
            </p:cNvCxnSpPr>
            <p:nvPr/>
          </p:nvCxnSpPr>
          <p:spPr>
            <a:xfrm>
              <a:off x="4838521" y="5313373"/>
              <a:ext cx="976173" cy="160031"/>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24" name="Oval 23">
              <a:extLst>
                <a:ext uri="{FF2B5EF4-FFF2-40B4-BE49-F238E27FC236}">
                  <a16:creationId xmlns:a16="http://schemas.microsoft.com/office/drawing/2014/main" id="{12BDBF4E-EBB0-5CF5-1A4B-56ECC2DAD16B}"/>
                </a:ext>
              </a:extLst>
            </p:cNvPr>
            <p:cNvSpPr/>
            <p:nvPr/>
          </p:nvSpPr>
          <p:spPr>
            <a:xfrm>
              <a:off x="7037830" y="3407835"/>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5" name="Oval 24">
              <a:extLst>
                <a:ext uri="{FF2B5EF4-FFF2-40B4-BE49-F238E27FC236}">
                  <a16:creationId xmlns:a16="http://schemas.microsoft.com/office/drawing/2014/main" id="{6D8ACD16-439B-8C15-CD34-3695B618C0DD}"/>
                </a:ext>
              </a:extLst>
            </p:cNvPr>
            <p:cNvSpPr/>
            <p:nvPr/>
          </p:nvSpPr>
          <p:spPr>
            <a:xfrm>
              <a:off x="6912428" y="4560507"/>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Oval 25">
              <a:extLst>
                <a:ext uri="{FF2B5EF4-FFF2-40B4-BE49-F238E27FC236}">
                  <a16:creationId xmlns:a16="http://schemas.microsoft.com/office/drawing/2014/main" id="{730288C0-42FD-484F-263C-9DBBE0989735}"/>
                </a:ext>
              </a:extLst>
            </p:cNvPr>
            <p:cNvSpPr/>
            <p:nvPr/>
          </p:nvSpPr>
          <p:spPr>
            <a:xfrm>
              <a:off x="7805351" y="4576291"/>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Oval 26">
              <a:extLst>
                <a:ext uri="{FF2B5EF4-FFF2-40B4-BE49-F238E27FC236}">
                  <a16:creationId xmlns:a16="http://schemas.microsoft.com/office/drawing/2014/main" id="{3E86E2F6-C7ED-DB45-1A8E-0AF4D3374680}"/>
                </a:ext>
              </a:extLst>
            </p:cNvPr>
            <p:cNvSpPr/>
            <p:nvPr/>
          </p:nvSpPr>
          <p:spPr>
            <a:xfrm>
              <a:off x="7997097" y="3770476"/>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30" name="TextBox 29">
            <a:extLst>
              <a:ext uri="{FF2B5EF4-FFF2-40B4-BE49-F238E27FC236}">
                <a16:creationId xmlns:a16="http://schemas.microsoft.com/office/drawing/2014/main" id="{845E8B78-B677-7843-F9CA-45BE67CC1D93}"/>
              </a:ext>
            </a:extLst>
          </p:cNvPr>
          <p:cNvSpPr txBox="1"/>
          <p:nvPr/>
        </p:nvSpPr>
        <p:spPr>
          <a:xfrm>
            <a:off x="7139500" y="3911717"/>
            <a:ext cx="3566749" cy="1200329"/>
          </a:xfrm>
          <a:prstGeom prst="rect">
            <a:avLst/>
          </a:prstGeom>
          <a:noFill/>
          <a:ln>
            <a:solidFill>
              <a:schemeClr val="accent3">
                <a:lumMod val="60000"/>
                <a:lumOff val="40000"/>
              </a:schemeClr>
            </a:solidFill>
          </a:ln>
        </p:spPr>
        <p:txBody>
          <a:bodyPr wrap="square" rtlCol="0">
            <a:spAutoFit/>
          </a:bodyPr>
          <a:lstStyle/>
          <a:p>
            <a:r>
              <a:rPr lang="en-US" i="1" dirty="0"/>
              <a:t>Problem: How do we select the next fringe node that will become the next known node and how do we update the list of fringe nodes?</a:t>
            </a:r>
          </a:p>
        </p:txBody>
      </p:sp>
      <p:sp>
        <p:nvSpPr>
          <p:cNvPr id="3" name="TextBox 2">
            <a:extLst>
              <a:ext uri="{FF2B5EF4-FFF2-40B4-BE49-F238E27FC236}">
                <a16:creationId xmlns:a16="http://schemas.microsoft.com/office/drawing/2014/main" id="{0DC2C3BB-7B67-BDCF-73A0-4C3D1789776C}"/>
              </a:ext>
            </a:extLst>
          </p:cNvPr>
          <p:cNvSpPr txBox="1"/>
          <p:nvPr/>
        </p:nvSpPr>
        <p:spPr>
          <a:xfrm>
            <a:off x="1799440" y="5568600"/>
            <a:ext cx="8967162" cy="646331"/>
          </a:xfrm>
          <a:prstGeom prst="rect">
            <a:avLst/>
          </a:prstGeom>
          <a:solidFill>
            <a:schemeClr val="tx1">
              <a:lumMod val="95000"/>
            </a:schemeClr>
          </a:solidFill>
          <a:ln>
            <a:solidFill>
              <a:schemeClr val="bg1"/>
            </a:solidFill>
          </a:ln>
        </p:spPr>
        <p:txBody>
          <a:bodyPr wrap="square" rtlCol="0">
            <a:spAutoFit/>
          </a:bodyPr>
          <a:lstStyle/>
          <a:p>
            <a:r>
              <a:rPr lang="en-US" b="1" i="1" u="sng" dirty="0">
                <a:solidFill>
                  <a:schemeClr val="bg1"/>
                </a:solidFill>
              </a:rPr>
              <a:t>Key insight</a:t>
            </a:r>
            <a:r>
              <a:rPr lang="en-US" i="1" dirty="0">
                <a:solidFill>
                  <a:schemeClr val="bg1"/>
                </a:solidFill>
              </a:rPr>
              <a:t>: If node v has the lowest overall cost to reach it of any fringe node (cost to get to node u plus cost to get one more edge to v), then this is the shortest path to v and it can become known.</a:t>
            </a:r>
          </a:p>
        </p:txBody>
      </p:sp>
    </p:spTree>
    <p:extLst>
      <p:ext uri="{BB962C8B-B14F-4D97-AF65-F5344CB8AC3E}">
        <p14:creationId xmlns:p14="http://schemas.microsoft.com/office/powerpoint/2010/main" val="2318872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143001" y="352906"/>
            <a:ext cx="9905998" cy="713893"/>
          </a:xfrm>
        </p:spPr>
        <p:txBody>
          <a:bodyPr/>
          <a:lstStyle/>
          <a:p>
            <a:pPr algn="ctr"/>
            <a:r>
              <a:rPr lang="en-US" dirty="0"/>
              <a:t>Dijkstra’s algorithm Overview</a:t>
            </a:r>
          </a:p>
        </p:txBody>
      </p:sp>
      <p:sp>
        <p:nvSpPr>
          <p:cNvPr id="35843" name="Content Placeholder 2"/>
          <p:cNvSpPr>
            <a:spLocks noGrp="1"/>
          </p:cNvSpPr>
          <p:nvPr>
            <p:ph sz="quarter" idx="1"/>
          </p:nvPr>
        </p:nvSpPr>
        <p:spPr>
          <a:xfrm>
            <a:off x="2714897" y="1404256"/>
            <a:ext cx="6762206" cy="4223658"/>
          </a:xfrm>
          <a:solidFill>
            <a:schemeClr val="tx1">
              <a:lumMod val="95000"/>
            </a:schemeClr>
          </a:solidFill>
          <a:ln>
            <a:solidFill>
              <a:schemeClr val="bg1"/>
            </a:solidFill>
          </a:ln>
        </p:spPr>
        <p:txBody>
          <a:bodyPr>
            <a:normAutofit/>
          </a:bodyPr>
          <a:lstStyle/>
          <a:p>
            <a:pPr marL="0" indent="0">
              <a:buNone/>
            </a:pPr>
            <a:r>
              <a:rPr lang="en-US" dirty="0">
                <a:solidFill>
                  <a:schemeClr val="bg1"/>
                </a:solidFill>
              </a:rPr>
              <a:t>Initialize each vertex’s distance as infinity</a:t>
            </a:r>
          </a:p>
          <a:p>
            <a:pPr marL="0" indent="0">
              <a:buNone/>
            </a:pPr>
            <a:r>
              <a:rPr lang="en-US" dirty="0">
                <a:solidFill>
                  <a:schemeClr val="bg1"/>
                </a:solidFill>
              </a:rPr>
              <a:t>Start at a given vertex </a:t>
            </a:r>
            <a:r>
              <a:rPr lang="en-US" i="1" dirty="0">
                <a:solidFill>
                  <a:schemeClr val="accent2"/>
                </a:solidFill>
              </a:rPr>
              <a:t>s</a:t>
            </a:r>
          </a:p>
          <a:p>
            <a:pPr marL="457200" lvl="1" indent="0">
              <a:buNone/>
            </a:pPr>
            <a:r>
              <a:rPr lang="en-US" dirty="0">
                <a:solidFill>
                  <a:schemeClr val="accent2"/>
                </a:solidFill>
              </a:rPr>
              <a:t>Update </a:t>
            </a:r>
            <a:r>
              <a:rPr lang="en-US" i="1" dirty="0" err="1">
                <a:solidFill>
                  <a:schemeClr val="accent2"/>
                </a:solidFill>
              </a:rPr>
              <a:t>s</a:t>
            </a:r>
            <a:r>
              <a:rPr lang="en-US" dirty="0" err="1">
                <a:solidFill>
                  <a:schemeClr val="accent2"/>
                </a:solidFill>
              </a:rPr>
              <a:t>’s</a:t>
            </a:r>
            <a:r>
              <a:rPr lang="en-US" dirty="0">
                <a:solidFill>
                  <a:schemeClr val="accent2"/>
                </a:solidFill>
              </a:rPr>
              <a:t> distance to be 0</a:t>
            </a:r>
          </a:p>
          <a:p>
            <a:pPr marL="0" indent="0">
              <a:buNone/>
            </a:pPr>
            <a:r>
              <a:rPr lang="en-US" dirty="0">
                <a:solidFill>
                  <a:schemeClr val="bg1"/>
                </a:solidFill>
              </a:rPr>
              <a:t>Repeat</a:t>
            </a:r>
          </a:p>
          <a:p>
            <a:pPr marL="457200" lvl="1" indent="0">
              <a:buNone/>
            </a:pPr>
            <a:r>
              <a:rPr lang="en-US" dirty="0">
                <a:solidFill>
                  <a:schemeClr val="bg1"/>
                </a:solidFill>
              </a:rPr>
              <a:t>Pick next </a:t>
            </a:r>
            <a:r>
              <a:rPr lang="en-US" dirty="0">
                <a:solidFill>
                  <a:schemeClr val="accent3"/>
                </a:solidFill>
              </a:rPr>
              <a:t>fringe vertex with shortest distance to be next </a:t>
            </a:r>
            <a:r>
              <a:rPr lang="en-US" i="1" dirty="0">
                <a:solidFill>
                  <a:schemeClr val="accent3"/>
                </a:solidFill>
              </a:rPr>
              <a:t>v</a:t>
            </a:r>
          </a:p>
          <a:p>
            <a:pPr marL="457200" lvl="1" indent="0">
              <a:buNone/>
            </a:pPr>
            <a:r>
              <a:rPr lang="en-US" dirty="0">
                <a:solidFill>
                  <a:schemeClr val="accent2"/>
                </a:solidFill>
              </a:rPr>
              <a:t>Mark </a:t>
            </a:r>
            <a:r>
              <a:rPr lang="en-US" i="1" dirty="0">
                <a:solidFill>
                  <a:schemeClr val="accent2"/>
                </a:solidFill>
              </a:rPr>
              <a:t>v</a:t>
            </a:r>
            <a:r>
              <a:rPr lang="en-US" dirty="0">
                <a:solidFill>
                  <a:schemeClr val="accent2"/>
                </a:solidFill>
              </a:rPr>
              <a:t> as known</a:t>
            </a:r>
          </a:p>
          <a:p>
            <a:pPr marL="457200" lvl="1" indent="0">
              <a:buNone/>
            </a:pPr>
            <a:r>
              <a:rPr lang="en-US" dirty="0">
                <a:solidFill>
                  <a:schemeClr val="bg1"/>
                </a:solidFill>
              </a:rPr>
              <a:t>For each edge from </a:t>
            </a:r>
            <a:r>
              <a:rPr lang="en-US" i="1" dirty="0">
                <a:solidFill>
                  <a:schemeClr val="bg1"/>
                </a:solidFill>
              </a:rPr>
              <a:t>v</a:t>
            </a:r>
            <a:r>
              <a:rPr lang="en-US" dirty="0">
                <a:solidFill>
                  <a:schemeClr val="bg1"/>
                </a:solidFill>
              </a:rPr>
              <a:t> to adjacent unknown vertices </a:t>
            </a:r>
            <a:r>
              <a:rPr lang="en-US" i="1" dirty="0">
                <a:solidFill>
                  <a:schemeClr val="bg1"/>
                </a:solidFill>
              </a:rPr>
              <a:t>w</a:t>
            </a:r>
          </a:p>
          <a:p>
            <a:pPr marL="914400" lvl="2" indent="0">
              <a:buNone/>
            </a:pPr>
            <a:r>
              <a:rPr lang="en-US" dirty="0">
                <a:solidFill>
                  <a:schemeClr val="bg1"/>
                </a:solidFill>
              </a:rPr>
              <a:t>If the total distance to </a:t>
            </a:r>
            <a:r>
              <a:rPr lang="en-US" i="1" dirty="0">
                <a:solidFill>
                  <a:schemeClr val="bg1"/>
                </a:solidFill>
              </a:rPr>
              <a:t>w</a:t>
            </a:r>
            <a:r>
              <a:rPr lang="en-US" dirty="0">
                <a:solidFill>
                  <a:schemeClr val="bg1"/>
                </a:solidFill>
              </a:rPr>
              <a:t> is </a:t>
            </a:r>
            <a:r>
              <a:rPr lang="en-US" dirty="0">
                <a:solidFill>
                  <a:schemeClr val="accent4"/>
                </a:solidFill>
              </a:rPr>
              <a:t>less than the current distance to </a:t>
            </a:r>
            <a:r>
              <a:rPr lang="en-US" i="1" dirty="0">
                <a:solidFill>
                  <a:schemeClr val="accent4"/>
                </a:solidFill>
              </a:rPr>
              <a:t>w</a:t>
            </a:r>
          </a:p>
          <a:p>
            <a:pPr marL="1371600" lvl="3" indent="0">
              <a:buNone/>
            </a:pPr>
            <a:r>
              <a:rPr lang="en-US" dirty="0">
                <a:solidFill>
                  <a:schemeClr val="accent3"/>
                </a:solidFill>
              </a:rPr>
              <a:t>Update </a:t>
            </a:r>
            <a:r>
              <a:rPr lang="en-US" i="1" dirty="0" err="1">
                <a:solidFill>
                  <a:schemeClr val="accent3"/>
                </a:solidFill>
              </a:rPr>
              <a:t>w</a:t>
            </a:r>
            <a:r>
              <a:rPr lang="en-US" dirty="0" err="1">
                <a:solidFill>
                  <a:schemeClr val="accent3"/>
                </a:solidFill>
              </a:rPr>
              <a:t>’s</a:t>
            </a:r>
            <a:r>
              <a:rPr lang="en-US" dirty="0">
                <a:solidFill>
                  <a:schemeClr val="accent3"/>
                </a:solidFill>
              </a:rPr>
              <a:t> distance and the path to </a:t>
            </a:r>
            <a:r>
              <a:rPr lang="en-US" i="1" dirty="0">
                <a:solidFill>
                  <a:schemeClr val="accent3"/>
                </a:solidFill>
              </a:rPr>
              <a:t>w</a:t>
            </a:r>
          </a:p>
          <a:p>
            <a:pPr lvl="3"/>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1603619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99" name="Group 83"/>
          <p:cNvGraphicFramePr>
            <a:graphicFrameLocks noGrp="1"/>
          </p:cNvGraphicFramePr>
          <p:nvPr>
            <p:ph type="tbl" idx="1"/>
            <p:custDataLst>
              <p:tags r:id="rId1"/>
            </p:custDataLst>
            <p:extLst>
              <p:ext uri="{D42A27DB-BD31-4B8C-83A1-F6EECF244321}">
                <p14:modId xmlns:p14="http://schemas.microsoft.com/office/powerpoint/2010/main" val="2943577082"/>
              </p:ext>
            </p:extLst>
          </p:nvPr>
        </p:nvGraphicFramePr>
        <p:xfrm>
          <a:off x="1635059" y="1907312"/>
          <a:ext cx="3886200" cy="3705226"/>
        </p:xfrm>
        <a:graphic>
          <a:graphicData uri="http://schemas.openxmlformats.org/drawingml/2006/table">
            <a:tbl>
              <a:tblPr>
                <a:tableStyleId>{2D5ABB26-0587-4C30-8999-92F81FD0307C}</a:tableStyleId>
              </a:tblPr>
              <a:tblGrid>
                <a:gridCol w="6858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9715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tblGrid>
              <a:tr h="4635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V</a:t>
                      </a: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Known</a:t>
                      </a: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chemeClr val="tx1"/>
                          </a:solidFill>
                          <a:effectLst/>
                        </a:rPr>
                        <a:t>Dist</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path</a:t>
                      </a: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35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v0</a:t>
                      </a: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19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chemeClr val="tx1"/>
                          </a:solidFill>
                          <a:effectLst/>
                        </a:rPr>
                        <a:t>v1</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35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chemeClr val="tx1"/>
                          </a:solidFill>
                          <a:effectLst/>
                        </a:rPr>
                        <a:t>v2</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35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chemeClr val="tx1"/>
                          </a:solidFill>
                          <a:effectLst/>
                        </a:rPr>
                        <a:t>v3</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635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chemeClr val="tx1"/>
                          </a:solidFill>
                          <a:effectLst/>
                        </a:rPr>
                        <a:t>v4</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619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chemeClr val="tx1"/>
                          </a:solidFill>
                          <a:effectLst/>
                        </a:rPr>
                        <a:t>v5</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635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u="none" strike="noStrike" cap="none" normalizeH="0" baseline="0">
                          <a:ln>
                            <a:noFill/>
                          </a:ln>
                          <a:solidFill>
                            <a:schemeClr val="tx1"/>
                          </a:solidFill>
                          <a:effectLst/>
                        </a:rPr>
                        <a:t>v6</a:t>
                      </a: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 name="Group 2">
            <a:extLst>
              <a:ext uri="{FF2B5EF4-FFF2-40B4-BE49-F238E27FC236}">
                <a16:creationId xmlns:a16="http://schemas.microsoft.com/office/drawing/2014/main" id="{28B223AE-FD13-9EC8-C9CB-BAAC7A3CE358}"/>
              </a:ext>
            </a:extLst>
          </p:cNvPr>
          <p:cNvGrpSpPr/>
          <p:nvPr/>
        </p:nvGrpSpPr>
        <p:grpSpPr>
          <a:xfrm>
            <a:off x="6670743" y="2397430"/>
            <a:ext cx="3665154" cy="3084115"/>
            <a:chOff x="694046" y="2790509"/>
            <a:chExt cx="3665154" cy="3084115"/>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130F9E67-8826-58D7-B09A-9416C1815FEC}"/>
                    </a:ext>
                  </a:extLst>
                </p:cNvPr>
                <p:cNvSpPr/>
                <p:nvPr/>
              </p:nvSpPr>
              <p:spPr>
                <a:xfrm>
                  <a:off x="1273881" y="2911555"/>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0</m:t>
                            </m:r>
                          </m:sub>
                        </m:sSub>
                      </m:oMath>
                    </m:oMathPara>
                  </a14:m>
                  <a:endParaRPr lang="en-US" dirty="0">
                    <a:solidFill>
                      <a:schemeClr val="bg1"/>
                    </a:solidFill>
                  </a:endParaRPr>
                </a:p>
              </p:txBody>
            </p:sp>
          </mc:Choice>
          <mc:Fallback xmlns="">
            <p:sp>
              <p:nvSpPr>
                <p:cNvPr id="4" name="Oval 3">
                  <a:extLst>
                    <a:ext uri="{FF2B5EF4-FFF2-40B4-BE49-F238E27FC236}">
                      <a16:creationId xmlns:a16="http://schemas.microsoft.com/office/drawing/2014/main" id="{130F9E67-8826-58D7-B09A-9416C1815FEC}"/>
                    </a:ext>
                  </a:extLst>
                </p:cNvPr>
                <p:cNvSpPr>
                  <a:spLocks noRot="1" noChangeAspect="1" noMove="1" noResize="1" noEditPoints="1" noAdjustHandles="1" noChangeArrowheads="1" noChangeShapeType="1" noTextEdit="1"/>
                </p:cNvSpPr>
                <p:nvPr/>
              </p:nvSpPr>
              <p:spPr>
                <a:xfrm>
                  <a:off x="1273881" y="2911555"/>
                  <a:ext cx="465931" cy="465931"/>
                </a:xfrm>
                <a:prstGeom prst="ellipse">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DBDD08B1-0087-CF53-5AE7-58282F206C4B}"/>
                    </a:ext>
                  </a:extLst>
                </p:cNvPr>
                <p:cNvSpPr/>
                <p:nvPr/>
              </p:nvSpPr>
              <p:spPr>
                <a:xfrm>
                  <a:off x="694046" y="4034294"/>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5" name="Oval 4">
                  <a:extLst>
                    <a:ext uri="{FF2B5EF4-FFF2-40B4-BE49-F238E27FC236}">
                      <a16:creationId xmlns:a16="http://schemas.microsoft.com/office/drawing/2014/main" id="{DBDD08B1-0087-CF53-5AE7-58282F206C4B}"/>
                    </a:ext>
                  </a:extLst>
                </p:cNvPr>
                <p:cNvSpPr>
                  <a:spLocks noRot="1" noChangeAspect="1" noMove="1" noResize="1" noEditPoints="1" noAdjustHandles="1" noChangeArrowheads="1" noChangeShapeType="1" noTextEdit="1"/>
                </p:cNvSpPr>
                <p:nvPr/>
              </p:nvSpPr>
              <p:spPr>
                <a:xfrm>
                  <a:off x="694046" y="4034294"/>
                  <a:ext cx="465931" cy="465931"/>
                </a:xfrm>
                <a:prstGeom prst="ellipse">
                  <a:avLst/>
                </a:prstGeom>
                <a:blipFill>
                  <a:blip r:embed="rId1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36DC519-A1BC-4EE3-4E54-AAAD4BDF0EFA}"/>
                    </a:ext>
                  </a:extLst>
                </p:cNvPr>
                <p:cNvSpPr/>
                <p:nvPr/>
              </p:nvSpPr>
              <p:spPr>
                <a:xfrm>
                  <a:off x="2315109" y="403429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6" name="Oval 5">
                  <a:extLst>
                    <a:ext uri="{FF2B5EF4-FFF2-40B4-BE49-F238E27FC236}">
                      <a16:creationId xmlns:a16="http://schemas.microsoft.com/office/drawing/2014/main" id="{436DC519-A1BC-4EE3-4E54-AAAD4BDF0EFA}"/>
                    </a:ext>
                  </a:extLst>
                </p:cNvPr>
                <p:cNvSpPr>
                  <a:spLocks noRot="1" noChangeAspect="1" noMove="1" noResize="1" noEditPoints="1" noAdjustHandles="1" noChangeArrowheads="1" noChangeShapeType="1" noTextEdit="1"/>
                </p:cNvSpPr>
                <p:nvPr/>
              </p:nvSpPr>
              <p:spPr>
                <a:xfrm>
                  <a:off x="2315109" y="4034293"/>
                  <a:ext cx="465931" cy="465931"/>
                </a:xfrm>
                <a:prstGeom prst="ellipse">
                  <a:avLst/>
                </a:prstGeom>
                <a:blipFill>
                  <a:blip r:embed="rId1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90B95E15-5FFA-BA7E-B298-B10D3AA3A7D5}"/>
                    </a:ext>
                  </a:extLst>
                </p:cNvPr>
                <p:cNvSpPr/>
                <p:nvPr/>
              </p:nvSpPr>
              <p:spPr>
                <a:xfrm>
                  <a:off x="3335462" y="287554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7" name="Oval 6">
                  <a:extLst>
                    <a:ext uri="{FF2B5EF4-FFF2-40B4-BE49-F238E27FC236}">
                      <a16:creationId xmlns:a16="http://schemas.microsoft.com/office/drawing/2014/main" id="{90B95E15-5FFA-BA7E-B298-B10D3AA3A7D5}"/>
                    </a:ext>
                  </a:extLst>
                </p:cNvPr>
                <p:cNvSpPr>
                  <a:spLocks noRot="1" noChangeAspect="1" noMove="1" noResize="1" noEditPoints="1" noAdjustHandles="1" noChangeArrowheads="1" noChangeShapeType="1" noTextEdit="1"/>
                </p:cNvSpPr>
                <p:nvPr/>
              </p:nvSpPr>
              <p:spPr>
                <a:xfrm>
                  <a:off x="3335462" y="2875543"/>
                  <a:ext cx="465931" cy="465931"/>
                </a:xfrm>
                <a:prstGeom prst="ellipse">
                  <a:avLst/>
                </a:prstGeom>
                <a:blipFill>
                  <a:blip r:embed="rId1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5B6EC8EC-7C44-142A-F696-4BD6A4EA233D}"/>
                    </a:ext>
                  </a:extLst>
                </p:cNvPr>
                <p:cNvSpPr/>
                <p:nvPr/>
              </p:nvSpPr>
              <p:spPr>
                <a:xfrm>
                  <a:off x="3893269" y="4023407"/>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8" name="Oval 7">
                  <a:extLst>
                    <a:ext uri="{FF2B5EF4-FFF2-40B4-BE49-F238E27FC236}">
                      <a16:creationId xmlns:a16="http://schemas.microsoft.com/office/drawing/2014/main" id="{5B6EC8EC-7C44-142A-F696-4BD6A4EA233D}"/>
                    </a:ext>
                  </a:extLst>
                </p:cNvPr>
                <p:cNvSpPr>
                  <a:spLocks noRot="1" noChangeAspect="1" noMove="1" noResize="1" noEditPoints="1" noAdjustHandles="1" noChangeArrowheads="1" noChangeShapeType="1" noTextEdit="1"/>
                </p:cNvSpPr>
                <p:nvPr/>
              </p:nvSpPr>
              <p:spPr>
                <a:xfrm>
                  <a:off x="3893269" y="4023407"/>
                  <a:ext cx="465931" cy="465931"/>
                </a:xfrm>
                <a:prstGeom prst="ellipse">
                  <a:avLst/>
                </a:prstGeom>
                <a:blipFill>
                  <a:blip r:embed="rId1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6B0C92DE-B00C-82F1-A756-BC5772EFA4F8}"/>
                    </a:ext>
                  </a:extLst>
                </p:cNvPr>
                <p:cNvSpPr/>
                <p:nvPr/>
              </p:nvSpPr>
              <p:spPr>
                <a:xfrm>
                  <a:off x="1739812" y="5378928"/>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9" name="Oval 8">
                  <a:extLst>
                    <a:ext uri="{FF2B5EF4-FFF2-40B4-BE49-F238E27FC236}">
                      <a16:creationId xmlns:a16="http://schemas.microsoft.com/office/drawing/2014/main" id="{6B0C92DE-B00C-82F1-A756-BC5772EFA4F8}"/>
                    </a:ext>
                  </a:extLst>
                </p:cNvPr>
                <p:cNvSpPr>
                  <a:spLocks noRot="1" noChangeAspect="1" noMove="1" noResize="1" noEditPoints="1" noAdjustHandles="1" noChangeArrowheads="1" noChangeShapeType="1" noTextEdit="1"/>
                </p:cNvSpPr>
                <p:nvPr/>
              </p:nvSpPr>
              <p:spPr>
                <a:xfrm>
                  <a:off x="1739812" y="5378928"/>
                  <a:ext cx="465931" cy="465931"/>
                </a:xfrm>
                <a:prstGeom prst="ellipse">
                  <a:avLst/>
                </a:prstGeom>
                <a:blipFill>
                  <a:blip r:embed="rId2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4C664441-1428-06F1-FD99-70722635EF86}"/>
                    </a:ext>
                  </a:extLst>
                </p:cNvPr>
                <p:cNvSpPr/>
                <p:nvPr/>
              </p:nvSpPr>
              <p:spPr>
                <a:xfrm>
                  <a:off x="3429719" y="540869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6</m:t>
                            </m:r>
                          </m:sub>
                        </m:sSub>
                      </m:oMath>
                    </m:oMathPara>
                  </a14:m>
                  <a:endParaRPr lang="en-US" dirty="0">
                    <a:solidFill>
                      <a:schemeClr val="bg1"/>
                    </a:solidFill>
                  </a:endParaRPr>
                </a:p>
              </p:txBody>
            </p:sp>
          </mc:Choice>
          <mc:Fallback xmlns="">
            <p:sp>
              <p:nvSpPr>
                <p:cNvPr id="10" name="Oval 9">
                  <a:extLst>
                    <a:ext uri="{FF2B5EF4-FFF2-40B4-BE49-F238E27FC236}">
                      <a16:creationId xmlns:a16="http://schemas.microsoft.com/office/drawing/2014/main" id="{4C664441-1428-06F1-FD99-70722635EF86}"/>
                    </a:ext>
                  </a:extLst>
                </p:cNvPr>
                <p:cNvSpPr>
                  <a:spLocks noRot="1" noChangeAspect="1" noMove="1" noResize="1" noEditPoints="1" noAdjustHandles="1" noChangeArrowheads="1" noChangeShapeType="1" noTextEdit="1"/>
                </p:cNvSpPr>
                <p:nvPr/>
              </p:nvSpPr>
              <p:spPr>
                <a:xfrm>
                  <a:off x="3429719" y="5408693"/>
                  <a:ext cx="465931" cy="465931"/>
                </a:xfrm>
                <a:prstGeom prst="ellipse">
                  <a:avLst/>
                </a:prstGeom>
                <a:blipFill>
                  <a:blip r:embed="rId21"/>
                  <a:stretch>
                    <a:fillRect/>
                  </a:stretch>
                </a:blipFill>
                <a:ln>
                  <a:solidFill>
                    <a:schemeClr val="bg1"/>
                  </a:solidFill>
                </a:ln>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248E3EAD-B252-0E43-7EBE-9CA8B4683482}"/>
                </a:ext>
              </a:extLst>
            </p:cNvPr>
            <p:cNvCxnSpPr>
              <a:stCxn id="4" idx="3"/>
              <a:endCxn id="5" idx="0"/>
            </p:cNvCxnSpPr>
            <p:nvPr/>
          </p:nvCxnSpPr>
          <p:spPr>
            <a:xfrm flipH="1">
              <a:off x="927012" y="3309252"/>
              <a:ext cx="415103" cy="725042"/>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80F1E78-94C4-9D98-C90B-A8E87AFF6CF0}"/>
                </a:ext>
              </a:extLst>
            </p:cNvPr>
            <p:cNvCxnSpPr>
              <a:cxnSpLocks/>
              <a:stCxn id="5" idx="6"/>
              <a:endCxn id="6" idx="2"/>
            </p:cNvCxnSpPr>
            <p:nvPr/>
          </p:nvCxnSpPr>
          <p:spPr>
            <a:xfrm flipV="1">
              <a:off x="1159977" y="4267259"/>
              <a:ext cx="1155132" cy="1"/>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FF8ED0E-928B-B936-8E9A-5A4C9BF0087C}"/>
                </a:ext>
              </a:extLst>
            </p:cNvPr>
            <p:cNvCxnSpPr>
              <a:cxnSpLocks/>
              <a:stCxn id="4" idx="5"/>
              <a:endCxn id="6" idx="1"/>
            </p:cNvCxnSpPr>
            <p:nvPr/>
          </p:nvCxnSpPr>
          <p:spPr>
            <a:xfrm>
              <a:off x="1671578" y="3309252"/>
              <a:ext cx="711765" cy="793275"/>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814FD67-4615-2528-D7B0-CA0A58AB681B}"/>
                </a:ext>
              </a:extLst>
            </p:cNvPr>
            <p:cNvCxnSpPr>
              <a:cxnSpLocks/>
              <a:stCxn id="7" idx="2"/>
              <a:endCxn id="4" idx="6"/>
            </p:cNvCxnSpPr>
            <p:nvPr/>
          </p:nvCxnSpPr>
          <p:spPr>
            <a:xfrm flipH="1">
              <a:off x="1739812" y="3108509"/>
              <a:ext cx="1595650" cy="36012"/>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3B19332-C027-AAD8-3D72-C028C4C86890}"/>
                </a:ext>
              </a:extLst>
            </p:cNvPr>
            <p:cNvCxnSpPr>
              <a:cxnSpLocks/>
              <a:stCxn id="6" idx="7"/>
              <a:endCxn id="7" idx="3"/>
            </p:cNvCxnSpPr>
            <p:nvPr/>
          </p:nvCxnSpPr>
          <p:spPr>
            <a:xfrm flipV="1">
              <a:off x="2712806" y="3273240"/>
              <a:ext cx="690890" cy="82928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567CD9A-73E8-7DD3-61A5-039B81D9A3E8}"/>
                </a:ext>
              </a:extLst>
            </p:cNvPr>
            <p:cNvCxnSpPr>
              <a:cxnSpLocks/>
              <a:stCxn id="6" idx="6"/>
              <a:endCxn id="8" idx="2"/>
            </p:cNvCxnSpPr>
            <p:nvPr/>
          </p:nvCxnSpPr>
          <p:spPr>
            <a:xfrm flipV="1">
              <a:off x="2781040" y="4256373"/>
              <a:ext cx="1112229" cy="10886"/>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12555EA-7A13-867B-1BF0-433E460C0B0A}"/>
                </a:ext>
              </a:extLst>
            </p:cNvPr>
            <p:cNvCxnSpPr>
              <a:cxnSpLocks/>
              <a:stCxn id="8" idx="0"/>
              <a:endCxn id="7" idx="5"/>
            </p:cNvCxnSpPr>
            <p:nvPr/>
          </p:nvCxnSpPr>
          <p:spPr>
            <a:xfrm flipH="1" flipV="1">
              <a:off x="3733159" y="3273240"/>
              <a:ext cx="393076" cy="75016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B5ED878-BFE1-737A-1C8D-131F29E5C077}"/>
                </a:ext>
              </a:extLst>
            </p:cNvPr>
            <p:cNvCxnSpPr>
              <a:cxnSpLocks/>
              <a:stCxn id="10" idx="7"/>
              <a:endCxn id="8" idx="4"/>
            </p:cNvCxnSpPr>
            <p:nvPr/>
          </p:nvCxnSpPr>
          <p:spPr>
            <a:xfrm flipV="1">
              <a:off x="3827416" y="4489338"/>
              <a:ext cx="298819" cy="987589"/>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C99E086-76B4-730E-6063-2F7EADDD58F4}"/>
                </a:ext>
              </a:extLst>
            </p:cNvPr>
            <p:cNvCxnSpPr>
              <a:cxnSpLocks/>
              <a:stCxn id="5" idx="5"/>
              <a:endCxn id="9" idx="1"/>
            </p:cNvCxnSpPr>
            <p:nvPr/>
          </p:nvCxnSpPr>
          <p:spPr>
            <a:xfrm>
              <a:off x="1091743" y="4431991"/>
              <a:ext cx="716303" cy="1015171"/>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3B6E0E2-620A-9DBC-3AFD-D7E8CB22A59F}"/>
                </a:ext>
              </a:extLst>
            </p:cNvPr>
            <p:cNvCxnSpPr>
              <a:cxnSpLocks/>
              <a:stCxn id="6" idx="3"/>
              <a:endCxn id="9" idx="0"/>
            </p:cNvCxnSpPr>
            <p:nvPr/>
          </p:nvCxnSpPr>
          <p:spPr>
            <a:xfrm flipH="1">
              <a:off x="1972778" y="4431990"/>
              <a:ext cx="410565" cy="946938"/>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7C77837-2377-F0A8-17DC-64CDB4440539}"/>
                </a:ext>
              </a:extLst>
            </p:cNvPr>
            <p:cNvCxnSpPr>
              <a:cxnSpLocks/>
              <a:stCxn id="6" idx="5"/>
              <a:endCxn id="10" idx="1"/>
            </p:cNvCxnSpPr>
            <p:nvPr/>
          </p:nvCxnSpPr>
          <p:spPr>
            <a:xfrm>
              <a:off x="2712806" y="4431990"/>
              <a:ext cx="785147" cy="1044937"/>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75896DE-C863-E3A0-C62E-F2C3DD2FD51B}"/>
                </a:ext>
              </a:extLst>
            </p:cNvPr>
            <p:cNvCxnSpPr>
              <a:cxnSpLocks/>
              <a:stCxn id="9" idx="6"/>
              <a:endCxn id="10" idx="2"/>
            </p:cNvCxnSpPr>
            <p:nvPr/>
          </p:nvCxnSpPr>
          <p:spPr>
            <a:xfrm>
              <a:off x="2205743" y="5611894"/>
              <a:ext cx="1223976" cy="29765"/>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 Box 27">
              <a:extLst>
                <a:ext uri="{FF2B5EF4-FFF2-40B4-BE49-F238E27FC236}">
                  <a16:creationId xmlns:a16="http://schemas.microsoft.com/office/drawing/2014/main" id="{31850C44-1906-B663-D455-35280CF9A243}"/>
                </a:ext>
              </a:extLst>
            </p:cNvPr>
            <p:cNvSpPr txBox="1">
              <a:spLocks noChangeArrowheads="1"/>
            </p:cNvSpPr>
            <p:nvPr>
              <p:custDataLst>
                <p:tags r:id="rId2"/>
              </p:custDataLst>
            </p:nvPr>
          </p:nvSpPr>
          <p:spPr bwMode="auto">
            <a:xfrm>
              <a:off x="805260" y="3358040"/>
              <a:ext cx="336550" cy="457200"/>
            </a:xfrm>
            <a:prstGeom prst="rect">
              <a:avLst/>
            </a:prstGeom>
            <a:noFill/>
            <a:ln w="9525">
              <a:noFill/>
              <a:miter lim="800000"/>
              <a:headEnd/>
              <a:tailEnd/>
            </a:ln>
          </p:spPr>
          <p:txBody>
            <a:bodyPr wrap="none">
              <a:spAutoFit/>
            </a:bodyPr>
            <a:lstStyle/>
            <a:p>
              <a:r>
                <a:rPr lang="en-US" b="1" dirty="0"/>
                <a:t>2</a:t>
              </a:r>
            </a:p>
          </p:txBody>
        </p:sp>
        <p:sp>
          <p:nvSpPr>
            <p:cNvPr id="24" name="Text Box 27">
              <a:extLst>
                <a:ext uri="{FF2B5EF4-FFF2-40B4-BE49-F238E27FC236}">
                  <a16:creationId xmlns:a16="http://schemas.microsoft.com/office/drawing/2014/main" id="{0BAFCB2E-7D04-FF74-C9BF-E58F3E8851C9}"/>
                </a:ext>
              </a:extLst>
            </p:cNvPr>
            <p:cNvSpPr txBox="1">
              <a:spLocks noChangeArrowheads="1"/>
            </p:cNvSpPr>
            <p:nvPr>
              <p:custDataLst>
                <p:tags r:id="rId3"/>
              </p:custDataLst>
            </p:nvPr>
          </p:nvSpPr>
          <p:spPr bwMode="auto">
            <a:xfrm>
              <a:off x="1995001" y="3407085"/>
              <a:ext cx="306494" cy="369332"/>
            </a:xfrm>
            <a:prstGeom prst="rect">
              <a:avLst/>
            </a:prstGeom>
            <a:noFill/>
            <a:ln w="9525">
              <a:noFill/>
              <a:miter lim="800000"/>
              <a:headEnd/>
              <a:tailEnd/>
            </a:ln>
          </p:spPr>
          <p:txBody>
            <a:bodyPr wrap="none">
              <a:spAutoFit/>
            </a:bodyPr>
            <a:lstStyle/>
            <a:p>
              <a:r>
                <a:rPr lang="en-US" b="1" dirty="0"/>
                <a:t>1</a:t>
              </a:r>
            </a:p>
          </p:txBody>
        </p:sp>
        <p:sp>
          <p:nvSpPr>
            <p:cNvPr id="25" name="Text Box 27">
              <a:extLst>
                <a:ext uri="{FF2B5EF4-FFF2-40B4-BE49-F238E27FC236}">
                  <a16:creationId xmlns:a16="http://schemas.microsoft.com/office/drawing/2014/main" id="{DCC689B9-FE8A-698F-9B5F-2246BEFC516F}"/>
                </a:ext>
              </a:extLst>
            </p:cNvPr>
            <p:cNvSpPr txBox="1">
              <a:spLocks noChangeArrowheads="1"/>
            </p:cNvSpPr>
            <p:nvPr>
              <p:custDataLst>
                <p:tags r:id="rId4"/>
              </p:custDataLst>
            </p:nvPr>
          </p:nvSpPr>
          <p:spPr bwMode="auto">
            <a:xfrm>
              <a:off x="2347480" y="2790509"/>
              <a:ext cx="336550" cy="457200"/>
            </a:xfrm>
            <a:prstGeom prst="rect">
              <a:avLst/>
            </a:prstGeom>
            <a:noFill/>
            <a:ln w="9525">
              <a:noFill/>
              <a:miter lim="800000"/>
              <a:headEnd/>
              <a:tailEnd/>
            </a:ln>
          </p:spPr>
          <p:txBody>
            <a:bodyPr wrap="none">
              <a:spAutoFit/>
            </a:bodyPr>
            <a:lstStyle/>
            <a:p>
              <a:r>
                <a:rPr lang="en-US" b="1" dirty="0"/>
                <a:t>2</a:t>
              </a:r>
            </a:p>
          </p:txBody>
        </p:sp>
        <p:sp>
          <p:nvSpPr>
            <p:cNvPr id="26" name="Text Box 27">
              <a:extLst>
                <a:ext uri="{FF2B5EF4-FFF2-40B4-BE49-F238E27FC236}">
                  <a16:creationId xmlns:a16="http://schemas.microsoft.com/office/drawing/2014/main" id="{629414AD-0FD9-2A07-FDAB-ACBF51A751D4}"/>
                </a:ext>
              </a:extLst>
            </p:cNvPr>
            <p:cNvSpPr txBox="1">
              <a:spLocks noChangeArrowheads="1"/>
            </p:cNvSpPr>
            <p:nvPr>
              <p:custDataLst>
                <p:tags r:id="rId5"/>
              </p:custDataLst>
            </p:nvPr>
          </p:nvSpPr>
          <p:spPr bwMode="auto">
            <a:xfrm>
              <a:off x="1506846" y="3918859"/>
              <a:ext cx="306494" cy="369332"/>
            </a:xfrm>
            <a:prstGeom prst="rect">
              <a:avLst/>
            </a:prstGeom>
            <a:noFill/>
            <a:ln w="9525">
              <a:noFill/>
              <a:miter lim="800000"/>
              <a:headEnd/>
              <a:tailEnd/>
            </a:ln>
          </p:spPr>
          <p:txBody>
            <a:bodyPr wrap="none">
              <a:spAutoFit/>
            </a:bodyPr>
            <a:lstStyle/>
            <a:p>
              <a:r>
                <a:rPr lang="en-US" b="1" dirty="0"/>
                <a:t>1</a:t>
              </a:r>
            </a:p>
          </p:txBody>
        </p:sp>
        <p:sp>
          <p:nvSpPr>
            <p:cNvPr id="27" name="Text Box 27">
              <a:extLst>
                <a:ext uri="{FF2B5EF4-FFF2-40B4-BE49-F238E27FC236}">
                  <a16:creationId xmlns:a16="http://schemas.microsoft.com/office/drawing/2014/main" id="{2C80E0D4-D2F2-2C1D-F129-3C513F04D30A}"/>
                </a:ext>
              </a:extLst>
            </p:cNvPr>
            <p:cNvSpPr txBox="1">
              <a:spLocks noChangeArrowheads="1"/>
            </p:cNvSpPr>
            <p:nvPr>
              <p:custDataLst>
                <p:tags r:id="rId6"/>
              </p:custDataLst>
            </p:nvPr>
          </p:nvSpPr>
          <p:spPr bwMode="auto">
            <a:xfrm>
              <a:off x="3965197" y="3390405"/>
              <a:ext cx="306494" cy="369332"/>
            </a:xfrm>
            <a:prstGeom prst="rect">
              <a:avLst/>
            </a:prstGeom>
            <a:noFill/>
            <a:ln w="9525">
              <a:noFill/>
              <a:miter lim="800000"/>
              <a:headEnd/>
              <a:tailEnd/>
            </a:ln>
          </p:spPr>
          <p:txBody>
            <a:bodyPr wrap="none">
              <a:spAutoFit/>
            </a:bodyPr>
            <a:lstStyle/>
            <a:p>
              <a:r>
                <a:rPr lang="en-US" b="1" dirty="0"/>
                <a:t>1</a:t>
              </a:r>
            </a:p>
          </p:txBody>
        </p:sp>
        <p:sp>
          <p:nvSpPr>
            <p:cNvPr id="28" name="Text Box 27">
              <a:extLst>
                <a:ext uri="{FF2B5EF4-FFF2-40B4-BE49-F238E27FC236}">
                  <a16:creationId xmlns:a16="http://schemas.microsoft.com/office/drawing/2014/main" id="{5F9C6090-4301-AE5F-4653-01982A1997FF}"/>
                </a:ext>
              </a:extLst>
            </p:cNvPr>
            <p:cNvSpPr txBox="1">
              <a:spLocks noChangeArrowheads="1"/>
            </p:cNvSpPr>
            <p:nvPr>
              <p:custDataLst>
                <p:tags r:id="rId7"/>
              </p:custDataLst>
            </p:nvPr>
          </p:nvSpPr>
          <p:spPr bwMode="auto">
            <a:xfrm>
              <a:off x="3265700" y="3893270"/>
              <a:ext cx="306494" cy="369332"/>
            </a:xfrm>
            <a:prstGeom prst="rect">
              <a:avLst/>
            </a:prstGeom>
            <a:noFill/>
            <a:ln w="9525">
              <a:noFill/>
              <a:miter lim="800000"/>
              <a:headEnd/>
              <a:tailEnd/>
            </a:ln>
          </p:spPr>
          <p:txBody>
            <a:bodyPr wrap="none">
              <a:spAutoFit/>
            </a:bodyPr>
            <a:lstStyle/>
            <a:p>
              <a:r>
                <a:rPr lang="en-US" b="1" dirty="0"/>
                <a:t>1</a:t>
              </a:r>
            </a:p>
          </p:txBody>
        </p:sp>
        <p:sp>
          <p:nvSpPr>
            <p:cNvPr id="29" name="Text Box 27">
              <a:extLst>
                <a:ext uri="{FF2B5EF4-FFF2-40B4-BE49-F238E27FC236}">
                  <a16:creationId xmlns:a16="http://schemas.microsoft.com/office/drawing/2014/main" id="{53741420-F439-5B90-B640-6347667B30F6}"/>
                </a:ext>
              </a:extLst>
            </p:cNvPr>
            <p:cNvSpPr txBox="1">
              <a:spLocks noChangeArrowheads="1"/>
            </p:cNvSpPr>
            <p:nvPr>
              <p:custDataLst>
                <p:tags r:id="rId8"/>
              </p:custDataLst>
            </p:nvPr>
          </p:nvSpPr>
          <p:spPr bwMode="auto">
            <a:xfrm>
              <a:off x="1061553" y="4762184"/>
              <a:ext cx="336550" cy="457200"/>
            </a:xfrm>
            <a:prstGeom prst="rect">
              <a:avLst/>
            </a:prstGeom>
            <a:noFill/>
            <a:ln w="9525">
              <a:noFill/>
              <a:miter lim="800000"/>
              <a:headEnd/>
              <a:tailEnd/>
            </a:ln>
          </p:spPr>
          <p:txBody>
            <a:bodyPr wrap="none">
              <a:spAutoFit/>
            </a:bodyPr>
            <a:lstStyle/>
            <a:p>
              <a:r>
                <a:rPr lang="en-US" b="1" dirty="0"/>
                <a:t>2</a:t>
              </a:r>
            </a:p>
          </p:txBody>
        </p:sp>
        <p:sp>
          <p:nvSpPr>
            <p:cNvPr id="30" name="Text Box 27">
              <a:extLst>
                <a:ext uri="{FF2B5EF4-FFF2-40B4-BE49-F238E27FC236}">
                  <a16:creationId xmlns:a16="http://schemas.microsoft.com/office/drawing/2014/main" id="{1E4FB66B-0EDD-5F47-A51D-3DB2A4870C04}"/>
                </a:ext>
              </a:extLst>
            </p:cNvPr>
            <p:cNvSpPr txBox="1">
              <a:spLocks noChangeArrowheads="1"/>
            </p:cNvSpPr>
            <p:nvPr>
              <p:custDataLst>
                <p:tags r:id="rId9"/>
              </p:custDataLst>
            </p:nvPr>
          </p:nvSpPr>
          <p:spPr bwMode="auto">
            <a:xfrm>
              <a:off x="1862021" y="4552634"/>
              <a:ext cx="306494" cy="369332"/>
            </a:xfrm>
            <a:prstGeom prst="rect">
              <a:avLst/>
            </a:prstGeom>
            <a:noFill/>
            <a:ln w="9525">
              <a:noFill/>
              <a:miter lim="800000"/>
              <a:headEnd/>
              <a:tailEnd/>
            </a:ln>
          </p:spPr>
          <p:txBody>
            <a:bodyPr wrap="none">
              <a:spAutoFit/>
            </a:bodyPr>
            <a:lstStyle/>
            <a:p>
              <a:r>
                <a:rPr lang="en-US" b="1" dirty="0"/>
                <a:t>6</a:t>
              </a:r>
            </a:p>
          </p:txBody>
        </p:sp>
        <p:sp>
          <p:nvSpPr>
            <p:cNvPr id="31" name="Text Box 27">
              <a:extLst>
                <a:ext uri="{FF2B5EF4-FFF2-40B4-BE49-F238E27FC236}">
                  <a16:creationId xmlns:a16="http://schemas.microsoft.com/office/drawing/2014/main" id="{86B74619-9C2C-F6D0-E835-DCB4DB38627A}"/>
                </a:ext>
              </a:extLst>
            </p:cNvPr>
            <p:cNvSpPr txBox="1">
              <a:spLocks noChangeArrowheads="1"/>
            </p:cNvSpPr>
            <p:nvPr>
              <p:custDataLst>
                <p:tags r:id="rId10"/>
              </p:custDataLst>
            </p:nvPr>
          </p:nvSpPr>
          <p:spPr bwMode="auto">
            <a:xfrm>
              <a:off x="3040016" y="4565174"/>
              <a:ext cx="306494" cy="369332"/>
            </a:xfrm>
            <a:prstGeom prst="rect">
              <a:avLst/>
            </a:prstGeom>
            <a:noFill/>
            <a:ln w="9525">
              <a:noFill/>
              <a:miter lim="800000"/>
              <a:headEnd/>
              <a:tailEnd/>
            </a:ln>
          </p:spPr>
          <p:txBody>
            <a:bodyPr wrap="none">
              <a:spAutoFit/>
            </a:bodyPr>
            <a:lstStyle/>
            <a:p>
              <a:r>
                <a:rPr lang="en-US" b="1" dirty="0"/>
                <a:t>5</a:t>
              </a:r>
            </a:p>
          </p:txBody>
        </p:sp>
        <p:sp>
          <p:nvSpPr>
            <p:cNvPr id="32" name="Text Box 27">
              <a:extLst>
                <a:ext uri="{FF2B5EF4-FFF2-40B4-BE49-F238E27FC236}">
                  <a16:creationId xmlns:a16="http://schemas.microsoft.com/office/drawing/2014/main" id="{EF12B975-53EE-3D10-A345-B4F8651CA4F7}"/>
                </a:ext>
              </a:extLst>
            </p:cNvPr>
            <p:cNvSpPr txBox="1">
              <a:spLocks noChangeArrowheads="1"/>
            </p:cNvSpPr>
            <p:nvPr>
              <p:custDataLst>
                <p:tags r:id="rId11"/>
              </p:custDataLst>
            </p:nvPr>
          </p:nvSpPr>
          <p:spPr bwMode="auto">
            <a:xfrm>
              <a:off x="4015110" y="4879659"/>
              <a:ext cx="306494" cy="369332"/>
            </a:xfrm>
            <a:prstGeom prst="rect">
              <a:avLst/>
            </a:prstGeom>
            <a:noFill/>
            <a:ln w="9525">
              <a:noFill/>
              <a:miter lim="800000"/>
              <a:headEnd/>
              <a:tailEnd/>
            </a:ln>
          </p:spPr>
          <p:txBody>
            <a:bodyPr wrap="none">
              <a:spAutoFit/>
            </a:bodyPr>
            <a:lstStyle/>
            <a:p>
              <a:r>
                <a:rPr lang="en-US" b="1" dirty="0"/>
                <a:t>3</a:t>
              </a:r>
            </a:p>
          </p:txBody>
        </p:sp>
        <p:sp>
          <p:nvSpPr>
            <p:cNvPr id="33" name="Text Box 27">
              <a:extLst>
                <a:ext uri="{FF2B5EF4-FFF2-40B4-BE49-F238E27FC236}">
                  <a16:creationId xmlns:a16="http://schemas.microsoft.com/office/drawing/2014/main" id="{A3CBCA4E-B6A3-14A8-EA70-644734960BDF}"/>
                </a:ext>
              </a:extLst>
            </p:cNvPr>
            <p:cNvSpPr txBox="1">
              <a:spLocks noChangeArrowheads="1"/>
            </p:cNvSpPr>
            <p:nvPr>
              <p:custDataLst>
                <p:tags r:id="rId12"/>
              </p:custDataLst>
            </p:nvPr>
          </p:nvSpPr>
          <p:spPr bwMode="auto">
            <a:xfrm>
              <a:off x="2567493" y="5248327"/>
              <a:ext cx="428322" cy="369332"/>
            </a:xfrm>
            <a:prstGeom prst="rect">
              <a:avLst/>
            </a:prstGeom>
            <a:noFill/>
            <a:ln w="9525">
              <a:noFill/>
              <a:miter lim="800000"/>
              <a:headEnd/>
              <a:tailEnd/>
            </a:ln>
          </p:spPr>
          <p:txBody>
            <a:bodyPr wrap="none">
              <a:spAutoFit/>
            </a:bodyPr>
            <a:lstStyle/>
            <a:p>
              <a:r>
                <a:rPr lang="en-US" b="1" dirty="0"/>
                <a:t>10</a:t>
              </a:r>
            </a:p>
          </p:txBody>
        </p:sp>
        <p:sp>
          <p:nvSpPr>
            <p:cNvPr id="34" name="Text Box 27">
              <a:extLst>
                <a:ext uri="{FF2B5EF4-FFF2-40B4-BE49-F238E27FC236}">
                  <a16:creationId xmlns:a16="http://schemas.microsoft.com/office/drawing/2014/main" id="{C7B85BE6-BE2C-447D-884A-0D4686A9B38F}"/>
                </a:ext>
              </a:extLst>
            </p:cNvPr>
            <p:cNvSpPr txBox="1">
              <a:spLocks noChangeArrowheads="1"/>
            </p:cNvSpPr>
            <p:nvPr>
              <p:custDataLst>
                <p:tags r:id="rId13"/>
              </p:custDataLst>
            </p:nvPr>
          </p:nvSpPr>
          <p:spPr bwMode="auto">
            <a:xfrm>
              <a:off x="2731071" y="3390405"/>
              <a:ext cx="306494" cy="369332"/>
            </a:xfrm>
            <a:prstGeom prst="rect">
              <a:avLst/>
            </a:prstGeom>
            <a:noFill/>
            <a:ln w="9525">
              <a:noFill/>
              <a:miter lim="800000"/>
              <a:headEnd/>
              <a:tailEnd/>
            </a:ln>
          </p:spPr>
          <p:txBody>
            <a:bodyPr wrap="square">
              <a:spAutoFit/>
            </a:bodyPr>
            <a:lstStyle/>
            <a:p>
              <a:r>
                <a:rPr lang="en-US" b="1" dirty="0"/>
                <a:t>5</a:t>
              </a:r>
            </a:p>
          </p:txBody>
        </p:sp>
      </p:grpSp>
      <p:sp>
        <p:nvSpPr>
          <p:cNvPr id="38" name="Title 1">
            <a:extLst>
              <a:ext uri="{FF2B5EF4-FFF2-40B4-BE49-F238E27FC236}">
                <a16:creationId xmlns:a16="http://schemas.microsoft.com/office/drawing/2014/main" id="{304737B4-3878-BB84-2899-20894661C48D}"/>
              </a:ext>
            </a:extLst>
          </p:cNvPr>
          <p:cNvSpPr>
            <a:spLocks noGrp="1"/>
          </p:cNvSpPr>
          <p:nvPr>
            <p:ph type="title"/>
          </p:nvPr>
        </p:nvSpPr>
        <p:spPr>
          <a:xfrm>
            <a:off x="1143001" y="352906"/>
            <a:ext cx="9905998" cy="713893"/>
          </a:xfrm>
        </p:spPr>
        <p:txBody>
          <a:bodyPr/>
          <a:lstStyle/>
          <a:p>
            <a:pPr algn="ctr"/>
            <a:r>
              <a:rPr lang="en-US" dirty="0"/>
              <a:t>Example</a:t>
            </a:r>
          </a:p>
        </p:txBody>
      </p:sp>
    </p:spTree>
    <p:extLst>
      <p:ext uri="{BB962C8B-B14F-4D97-AF65-F5344CB8AC3E}">
        <p14:creationId xmlns:p14="http://schemas.microsoft.com/office/powerpoint/2010/main" val="1027958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sz="quarter" idx="1"/>
            <p:custDataLst>
              <p:tags r:id="rId1"/>
            </p:custDataLst>
          </p:nvPr>
        </p:nvSpPr>
        <p:spPr>
          <a:xfrm>
            <a:off x="1603465" y="1271451"/>
            <a:ext cx="6895011" cy="5065123"/>
          </a:xfrm>
          <a:solidFill>
            <a:schemeClr val="tx1">
              <a:lumMod val="95000"/>
            </a:schemeClr>
          </a:solidFill>
          <a:ln>
            <a:solidFill>
              <a:schemeClr val="bg1"/>
            </a:solidFill>
          </a:ln>
        </p:spPr>
        <p:txBody>
          <a:bodyPr anchor="ctr">
            <a:normAutofit fontScale="92500" lnSpcReduction="10000"/>
          </a:bodyPr>
          <a:lstStyle/>
          <a:p>
            <a:pPr eaLnBrk="1" hangingPunct="1">
              <a:lnSpc>
                <a:spcPct val="80000"/>
              </a:lnSpc>
              <a:buFontTx/>
              <a:buNone/>
            </a:pPr>
            <a:r>
              <a:rPr lang="en-US" sz="2400" b="1" dirty="0" err="1">
                <a:solidFill>
                  <a:schemeClr val="bg1"/>
                </a:solidFill>
                <a:latin typeface="Courier New" pitchFamily="49" charset="0"/>
              </a:rPr>
              <a:t>dijkstra</a:t>
            </a:r>
            <a:r>
              <a:rPr lang="en-US" sz="2400" b="1" dirty="0">
                <a:solidFill>
                  <a:schemeClr val="bg1"/>
                </a:solidFill>
                <a:latin typeface="Courier New" pitchFamily="49" charset="0"/>
              </a:rPr>
              <a:t>(Graph G, Vertex s):</a:t>
            </a:r>
          </a:p>
          <a:p>
            <a:pPr eaLnBrk="1" hangingPunct="1">
              <a:lnSpc>
                <a:spcPct val="80000"/>
              </a:lnSpc>
              <a:buFontTx/>
              <a:buNone/>
            </a:pPr>
            <a:r>
              <a:rPr lang="en-US" sz="2400" b="1" dirty="0">
                <a:solidFill>
                  <a:schemeClr val="bg1"/>
                </a:solidFill>
                <a:latin typeface="Courier New" pitchFamily="49" charset="0"/>
              </a:rPr>
              <a:t>  Vertex </a:t>
            </a:r>
            <a:r>
              <a:rPr lang="en-US" sz="2400" b="1" dirty="0" err="1">
                <a:solidFill>
                  <a:schemeClr val="bg1"/>
                </a:solidFill>
                <a:latin typeface="Courier New" pitchFamily="49" charset="0"/>
              </a:rPr>
              <a:t>v,w</a:t>
            </a:r>
            <a:endParaRPr lang="en-US" sz="2400" b="1" dirty="0">
              <a:solidFill>
                <a:schemeClr val="bg1"/>
              </a:solidFill>
              <a:latin typeface="Courier New" pitchFamily="49" charset="0"/>
            </a:endParaRPr>
          </a:p>
          <a:p>
            <a:pPr eaLnBrk="1" hangingPunct="1">
              <a:lnSpc>
                <a:spcPct val="80000"/>
              </a:lnSpc>
              <a:buFontTx/>
              <a:buNone/>
            </a:pPr>
            <a:r>
              <a:rPr lang="en-US" sz="2400" b="1" dirty="0">
                <a:solidFill>
                  <a:schemeClr val="bg1"/>
                </a:solidFill>
                <a:latin typeface="Courier New" pitchFamily="49" charset="0"/>
              </a:rPr>
              <a:t>  </a:t>
            </a:r>
            <a:r>
              <a:rPr lang="en-US" sz="2400" b="1" dirty="0" err="1">
                <a:solidFill>
                  <a:schemeClr val="bg1"/>
                </a:solidFill>
                <a:latin typeface="Courier New" pitchFamily="49" charset="0"/>
              </a:rPr>
              <a:t>s.dist</a:t>
            </a:r>
            <a:r>
              <a:rPr lang="en-US" sz="2400" b="1" dirty="0">
                <a:solidFill>
                  <a:schemeClr val="bg1"/>
                </a:solidFill>
                <a:latin typeface="Courier New" pitchFamily="49" charset="0"/>
              </a:rPr>
              <a:t> = 0</a:t>
            </a:r>
          </a:p>
          <a:p>
            <a:pPr eaLnBrk="1" hangingPunct="1">
              <a:lnSpc>
                <a:spcPct val="80000"/>
              </a:lnSpc>
              <a:buFontTx/>
              <a:buNone/>
            </a:pPr>
            <a:endParaRPr lang="en-US" sz="2400" b="1" dirty="0">
              <a:solidFill>
                <a:schemeClr val="bg1"/>
              </a:solidFill>
              <a:latin typeface="Courier New" pitchFamily="49" charset="0"/>
            </a:endParaRPr>
          </a:p>
          <a:p>
            <a:pPr eaLnBrk="1" hangingPunct="1">
              <a:lnSpc>
                <a:spcPct val="80000"/>
              </a:lnSpc>
              <a:buFontTx/>
              <a:buNone/>
            </a:pPr>
            <a:r>
              <a:rPr lang="en-US" sz="2400" b="1" dirty="0">
                <a:solidFill>
                  <a:schemeClr val="bg1"/>
                </a:solidFill>
                <a:latin typeface="Courier New" pitchFamily="49" charset="0"/>
              </a:rPr>
              <a:t>  while (</a:t>
            </a:r>
            <a:r>
              <a:rPr lang="en-US" sz="2400" b="1" dirty="0">
                <a:solidFill>
                  <a:schemeClr val="accent3"/>
                </a:solidFill>
                <a:latin typeface="Courier New" pitchFamily="49" charset="0"/>
              </a:rPr>
              <a:t>there exist unknown vertices</a:t>
            </a:r>
            <a:r>
              <a:rPr lang="en-US" b="1" dirty="0">
                <a:solidFill>
                  <a:schemeClr val="bg1"/>
                </a:solidFill>
                <a:latin typeface="Courier New" pitchFamily="49" charset="0"/>
              </a:rPr>
              <a:t>)</a:t>
            </a:r>
          </a:p>
          <a:p>
            <a:pPr eaLnBrk="1" hangingPunct="1">
              <a:lnSpc>
                <a:spcPct val="80000"/>
              </a:lnSpc>
              <a:buFontTx/>
              <a:buNone/>
            </a:pPr>
            <a:r>
              <a:rPr lang="en-US" sz="2400" b="1" dirty="0">
                <a:solidFill>
                  <a:schemeClr val="bg1"/>
                </a:solidFill>
                <a:latin typeface="Courier New" pitchFamily="49" charset="0"/>
              </a:rPr>
              <a:t>    </a:t>
            </a:r>
            <a:r>
              <a:rPr lang="en-US" sz="2400" b="1" dirty="0">
                <a:solidFill>
                  <a:schemeClr val="accent3"/>
                </a:solidFill>
                <a:latin typeface="Courier New" pitchFamily="49" charset="0"/>
              </a:rPr>
              <a:t>find the unknown v with lowest </a:t>
            </a:r>
            <a:r>
              <a:rPr lang="en-US" sz="2400" b="1" dirty="0" err="1">
                <a:solidFill>
                  <a:schemeClr val="accent3"/>
                </a:solidFill>
                <a:latin typeface="Courier New" pitchFamily="49" charset="0"/>
              </a:rPr>
              <a:t>dist</a:t>
            </a:r>
            <a:endParaRPr lang="en-US" sz="2400" b="1" dirty="0">
              <a:solidFill>
                <a:schemeClr val="accent3"/>
              </a:solidFill>
              <a:latin typeface="Courier New" pitchFamily="49" charset="0"/>
            </a:endParaRPr>
          </a:p>
          <a:p>
            <a:pPr eaLnBrk="1" hangingPunct="1">
              <a:lnSpc>
                <a:spcPct val="80000"/>
              </a:lnSpc>
              <a:buFontTx/>
              <a:buNone/>
            </a:pPr>
            <a:r>
              <a:rPr lang="en-US" sz="2400" b="1" dirty="0">
                <a:solidFill>
                  <a:schemeClr val="bg1"/>
                </a:solidFill>
                <a:latin typeface="Courier New" pitchFamily="49" charset="0"/>
              </a:rPr>
              <a:t>    </a:t>
            </a:r>
            <a:r>
              <a:rPr lang="en-US" sz="2400" b="1" dirty="0" err="1">
                <a:solidFill>
                  <a:schemeClr val="bg1"/>
                </a:solidFill>
                <a:latin typeface="Courier New" pitchFamily="49" charset="0"/>
              </a:rPr>
              <a:t>v.known</a:t>
            </a:r>
            <a:r>
              <a:rPr lang="en-US" sz="2400" b="1" dirty="0">
                <a:solidFill>
                  <a:schemeClr val="bg1"/>
                </a:solidFill>
                <a:latin typeface="Courier New" pitchFamily="49" charset="0"/>
              </a:rPr>
              <a:t> = true;</a:t>
            </a:r>
          </a:p>
          <a:p>
            <a:pPr eaLnBrk="1" hangingPunct="1">
              <a:lnSpc>
                <a:spcPct val="80000"/>
              </a:lnSpc>
              <a:buFontTx/>
              <a:buNone/>
            </a:pPr>
            <a:endParaRPr lang="en-US" sz="2400" b="1" dirty="0">
              <a:solidFill>
                <a:schemeClr val="bg1"/>
              </a:solidFill>
              <a:latin typeface="Courier New" pitchFamily="49" charset="0"/>
            </a:endParaRPr>
          </a:p>
          <a:p>
            <a:pPr eaLnBrk="1" hangingPunct="1">
              <a:lnSpc>
                <a:spcPct val="80000"/>
              </a:lnSpc>
              <a:buFontTx/>
              <a:buNone/>
            </a:pPr>
            <a:r>
              <a:rPr lang="en-US" sz="2400" b="1" dirty="0">
                <a:solidFill>
                  <a:schemeClr val="bg1"/>
                </a:solidFill>
                <a:latin typeface="Courier New" pitchFamily="49" charset="0"/>
              </a:rPr>
              <a:t>    for each w adjacent to v</a:t>
            </a:r>
          </a:p>
          <a:p>
            <a:pPr eaLnBrk="1" hangingPunct="1">
              <a:lnSpc>
                <a:spcPct val="80000"/>
              </a:lnSpc>
              <a:buFontTx/>
              <a:buNone/>
            </a:pPr>
            <a:r>
              <a:rPr lang="en-US" sz="2400" b="1" dirty="0">
                <a:solidFill>
                  <a:schemeClr val="bg1"/>
                </a:solidFill>
                <a:latin typeface="Courier New" pitchFamily="49" charset="0"/>
              </a:rPr>
              <a:t>      if (!</a:t>
            </a:r>
            <a:r>
              <a:rPr lang="en-US" sz="2400" b="1" dirty="0" err="1">
                <a:solidFill>
                  <a:schemeClr val="bg1"/>
                </a:solidFill>
                <a:latin typeface="Courier New" pitchFamily="49" charset="0"/>
              </a:rPr>
              <a:t>w.known</a:t>
            </a:r>
            <a:r>
              <a:rPr lang="en-US" sz="2400" b="1" dirty="0">
                <a:solidFill>
                  <a:schemeClr val="bg1"/>
                </a:solidFill>
                <a:latin typeface="Courier New" pitchFamily="49" charset="0"/>
              </a:rPr>
              <a:t>)</a:t>
            </a:r>
          </a:p>
          <a:p>
            <a:pPr eaLnBrk="1" hangingPunct="1">
              <a:lnSpc>
                <a:spcPct val="80000"/>
              </a:lnSpc>
              <a:buFontTx/>
              <a:buNone/>
            </a:pPr>
            <a:r>
              <a:rPr lang="en-US" sz="2400" b="1" dirty="0">
                <a:solidFill>
                  <a:schemeClr val="bg1"/>
                </a:solidFill>
                <a:latin typeface="Courier New" pitchFamily="49" charset="0"/>
              </a:rPr>
              <a:t>        if (</a:t>
            </a:r>
            <a:r>
              <a:rPr lang="en-US" sz="2400" b="1" dirty="0" err="1">
                <a:solidFill>
                  <a:schemeClr val="bg1"/>
                </a:solidFill>
                <a:latin typeface="Courier New" pitchFamily="49" charset="0"/>
              </a:rPr>
              <a:t>v.dist</a:t>
            </a:r>
            <a:r>
              <a:rPr lang="en-US" sz="2400" b="1" dirty="0">
                <a:solidFill>
                  <a:schemeClr val="bg1"/>
                </a:solidFill>
                <a:latin typeface="Courier New" pitchFamily="49" charset="0"/>
              </a:rPr>
              <a:t> + </a:t>
            </a:r>
            <a:r>
              <a:rPr lang="en-US" sz="2400" b="1" dirty="0" err="1">
                <a:solidFill>
                  <a:schemeClr val="bg1"/>
                </a:solidFill>
                <a:latin typeface="Courier New" pitchFamily="49" charset="0"/>
              </a:rPr>
              <a:t>Cost_VW</a:t>
            </a:r>
            <a:r>
              <a:rPr lang="en-US" sz="2400" b="1" dirty="0">
                <a:solidFill>
                  <a:schemeClr val="bg1"/>
                </a:solidFill>
                <a:latin typeface="Courier New" pitchFamily="49" charset="0"/>
              </a:rPr>
              <a:t> &lt; </a:t>
            </a:r>
            <a:r>
              <a:rPr lang="en-US" sz="2400" b="1" dirty="0" err="1">
                <a:solidFill>
                  <a:schemeClr val="bg1"/>
                </a:solidFill>
                <a:latin typeface="Courier New" pitchFamily="49" charset="0"/>
              </a:rPr>
              <a:t>w.dist</a:t>
            </a:r>
            <a:r>
              <a:rPr lang="en-US" b="1" dirty="0">
                <a:solidFill>
                  <a:schemeClr val="bg1"/>
                </a:solidFill>
                <a:latin typeface="Courier New" pitchFamily="49" charset="0"/>
              </a:rPr>
              <a:t>)</a:t>
            </a:r>
            <a:endParaRPr lang="en-US" sz="2400" b="1" dirty="0">
              <a:solidFill>
                <a:schemeClr val="bg1"/>
              </a:solidFill>
              <a:latin typeface="Courier New" pitchFamily="49" charset="0"/>
            </a:endParaRPr>
          </a:p>
          <a:p>
            <a:pPr eaLnBrk="1" hangingPunct="1">
              <a:lnSpc>
                <a:spcPct val="80000"/>
              </a:lnSpc>
              <a:buFontTx/>
              <a:buNone/>
            </a:pPr>
            <a:r>
              <a:rPr lang="en-US" b="1" dirty="0">
                <a:solidFill>
                  <a:schemeClr val="bg1"/>
                </a:solidFill>
                <a:latin typeface="Courier New" pitchFamily="49" charset="0"/>
              </a:rPr>
              <a:t>     </a:t>
            </a:r>
            <a:r>
              <a:rPr lang="en-US" sz="2400" b="1" dirty="0">
                <a:solidFill>
                  <a:schemeClr val="bg1"/>
                </a:solidFill>
                <a:latin typeface="Courier New" pitchFamily="49" charset="0"/>
              </a:rPr>
              <a:t>     </a:t>
            </a:r>
            <a:r>
              <a:rPr lang="en-US" sz="2400" b="1" dirty="0" err="1">
                <a:solidFill>
                  <a:schemeClr val="bg1"/>
                </a:solidFill>
                <a:latin typeface="Courier New" pitchFamily="49" charset="0"/>
              </a:rPr>
              <a:t>w.dist</a:t>
            </a:r>
            <a:r>
              <a:rPr lang="en-US" sz="2400" b="1" dirty="0">
                <a:solidFill>
                  <a:schemeClr val="bg1"/>
                </a:solidFill>
                <a:latin typeface="Courier New" pitchFamily="49" charset="0"/>
              </a:rPr>
              <a:t> = </a:t>
            </a:r>
            <a:r>
              <a:rPr lang="en-US" sz="2400" b="1" dirty="0" err="1">
                <a:solidFill>
                  <a:schemeClr val="bg1"/>
                </a:solidFill>
                <a:latin typeface="Courier New" pitchFamily="49" charset="0"/>
              </a:rPr>
              <a:t>v.dist</a:t>
            </a:r>
            <a:r>
              <a:rPr lang="en-US" sz="2400" b="1" dirty="0">
                <a:solidFill>
                  <a:schemeClr val="bg1"/>
                </a:solidFill>
                <a:latin typeface="Courier New" pitchFamily="49" charset="0"/>
              </a:rPr>
              <a:t> + </a:t>
            </a:r>
            <a:r>
              <a:rPr lang="en-US" sz="2400" b="1" dirty="0" err="1">
                <a:solidFill>
                  <a:schemeClr val="bg1"/>
                </a:solidFill>
                <a:latin typeface="Courier New" pitchFamily="49" charset="0"/>
              </a:rPr>
              <a:t>Cost_VW</a:t>
            </a:r>
            <a:r>
              <a:rPr lang="en-US" sz="2400" b="1" dirty="0">
                <a:solidFill>
                  <a:schemeClr val="bg1"/>
                </a:solidFill>
                <a:latin typeface="Courier New" pitchFamily="49" charset="0"/>
              </a:rPr>
              <a:t>;</a:t>
            </a:r>
          </a:p>
          <a:p>
            <a:pPr eaLnBrk="1" hangingPunct="1">
              <a:lnSpc>
                <a:spcPct val="80000"/>
              </a:lnSpc>
              <a:buFontTx/>
              <a:buNone/>
            </a:pPr>
            <a:r>
              <a:rPr lang="en-US" sz="2400" b="1" dirty="0">
                <a:solidFill>
                  <a:schemeClr val="bg1"/>
                </a:solidFill>
                <a:latin typeface="Courier New" pitchFamily="49" charset="0"/>
              </a:rPr>
              <a:t>          </a:t>
            </a:r>
            <a:r>
              <a:rPr lang="en-US" sz="2400" b="1" dirty="0" err="1">
                <a:solidFill>
                  <a:schemeClr val="bg1"/>
                </a:solidFill>
                <a:latin typeface="Courier New" pitchFamily="49" charset="0"/>
              </a:rPr>
              <a:t>w.path</a:t>
            </a:r>
            <a:r>
              <a:rPr lang="en-US" sz="2400" b="1" dirty="0">
                <a:solidFill>
                  <a:schemeClr val="bg1"/>
                </a:solidFill>
                <a:latin typeface="Courier New" pitchFamily="49" charset="0"/>
              </a:rPr>
              <a:t> = v;</a:t>
            </a:r>
          </a:p>
        </p:txBody>
      </p:sp>
      <p:sp>
        <p:nvSpPr>
          <p:cNvPr id="2" name="Title 1">
            <a:extLst>
              <a:ext uri="{FF2B5EF4-FFF2-40B4-BE49-F238E27FC236}">
                <a16:creationId xmlns:a16="http://schemas.microsoft.com/office/drawing/2014/main" id="{5DFCC702-0BBD-6880-5ABF-327A3E1956A2}"/>
              </a:ext>
            </a:extLst>
          </p:cNvPr>
          <p:cNvSpPr>
            <a:spLocks noGrp="1"/>
          </p:cNvSpPr>
          <p:nvPr>
            <p:ph type="title"/>
          </p:nvPr>
        </p:nvSpPr>
        <p:spPr>
          <a:xfrm>
            <a:off x="1143001" y="222277"/>
            <a:ext cx="9905998" cy="713893"/>
          </a:xfrm>
        </p:spPr>
        <p:txBody>
          <a:bodyPr/>
          <a:lstStyle/>
          <a:p>
            <a:pPr algn="ctr"/>
            <a:r>
              <a:rPr lang="en-US" dirty="0"/>
              <a:t>Dijkstra’s algorithm </a:t>
            </a:r>
            <a:r>
              <a:rPr lang="en-US" dirty="0" err="1"/>
              <a:t>Psuedocode</a:t>
            </a:r>
            <a:endParaRPr lang="en-US" dirty="0"/>
          </a:p>
        </p:txBody>
      </p:sp>
      <p:cxnSp>
        <p:nvCxnSpPr>
          <p:cNvPr id="5" name="Straight Connector 4">
            <a:extLst>
              <a:ext uri="{FF2B5EF4-FFF2-40B4-BE49-F238E27FC236}">
                <a16:creationId xmlns:a16="http://schemas.microsoft.com/office/drawing/2014/main" id="{4F87303D-9426-0F52-6B30-742F3B61B73E}"/>
              </a:ext>
            </a:extLst>
          </p:cNvPr>
          <p:cNvCxnSpPr>
            <a:cxnSpLocks/>
          </p:cNvCxnSpPr>
          <p:nvPr/>
        </p:nvCxnSpPr>
        <p:spPr>
          <a:xfrm flipV="1">
            <a:off x="8595360" y="2177143"/>
            <a:ext cx="957943" cy="79520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CEFE21A-04F9-956B-8240-6C2947E8F084}"/>
              </a:ext>
            </a:extLst>
          </p:cNvPr>
          <p:cNvSpPr txBox="1"/>
          <p:nvPr/>
        </p:nvSpPr>
        <p:spPr>
          <a:xfrm>
            <a:off x="9650187" y="1374414"/>
            <a:ext cx="1935481" cy="1200329"/>
          </a:xfrm>
          <a:prstGeom prst="rect">
            <a:avLst/>
          </a:prstGeom>
          <a:noFill/>
        </p:spPr>
        <p:txBody>
          <a:bodyPr wrap="square" rtlCol="0">
            <a:spAutoFit/>
          </a:bodyPr>
          <a:lstStyle/>
          <a:p>
            <a:r>
              <a:rPr lang="en-US" dirty="0"/>
              <a:t>Will need to figure out how to do these two purple items fast</a:t>
            </a:r>
          </a:p>
        </p:txBody>
      </p:sp>
      <p:cxnSp>
        <p:nvCxnSpPr>
          <p:cNvPr id="10" name="Straight Connector 9">
            <a:extLst>
              <a:ext uri="{FF2B5EF4-FFF2-40B4-BE49-F238E27FC236}">
                <a16:creationId xmlns:a16="http://schemas.microsoft.com/office/drawing/2014/main" id="{222D4477-704D-18A0-9B7A-5D3AFB455DDF}"/>
              </a:ext>
            </a:extLst>
          </p:cNvPr>
          <p:cNvCxnSpPr>
            <a:cxnSpLocks/>
          </p:cNvCxnSpPr>
          <p:nvPr/>
        </p:nvCxnSpPr>
        <p:spPr>
          <a:xfrm>
            <a:off x="8643802" y="3369944"/>
            <a:ext cx="478972" cy="434068"/>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66B5CC8-F93E-427F-BAA8-BF7377A58559}"/>
                  </a:ext>
                </a:extLst>
              </p:cNvPr>
              <p:cNvSpPr txBox="1"/>
              <p:nvPr/>
            </p:nvSpPr>
            <p:spPr>
              <a:xfrm>
                <a:off x="9149447" y="3767543"/>
                <a:ext cx="2392677" cy="2031325"/>
              </a:xfrm>
              <a:prstGeom prst="rect">
                <a:avLst/>
              </a:prstGeom>
              <a:noFill/>
            </p:spPr>
            <p:txBody>
              <a:bodyPr wrap="square" rtlCol="0">
                <a:spAutoFit/>
              </a:bodyPr>
              <a:lstStyle/>
              <a:p>
                <a:r>
                  <a:rPr lang="en-US" dirty="0"/>
                  <a:t>If nodes in list, then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d>
                  </m:oMath>
                </a14:m>
                <a:r>
                  <a:rPr lang="en-US" dirty="0"/>
                  <a:t> time to find next vertex. Need to run loop once per node and inner loop once per edge so total runtime is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endParaRPr lang="en-US" dirty="0"/>
              </a:p>
            </p:txBody>
          </p:sp>
        </mc:Choice>
        <mc:Fallback xmlns="">
          <p:sp>
            <p:nvSpPr>
              <p:cNvPr id="12" name="TextBox 11">
                <a:extLst>
                  <a:ext uri="{FF2B5EF4-FFF2-40B4-BE49-F238E27FC236}">
                    <a16:creationId xmlns:a16="http://schemas.microsoft.com/office/drawing/2014/main" id="{466B5CC8-F93E-427F-BAA8-BF7377A58559}"/>
                  </a:ext>
                </a:extLst>
              </p:cNvPr>
              <p:cNvSpPr txBox="1">
                <a:spLocks noRot="1" noChangeAspect="1" noMove="1" noResize="1" noEditPoints="1" noAdjustHandles="1" noChangeArrowheads="1" noChangeShapeType="1" noTextEdit="1"/>
              </p:cNvSpPr>
              <p:nvPr/>
            </p:nvSpPr>
            <p:spPr>
              <a:xfrm>
                <a:off x="9149447" y="3767543"/>
                <a:ext cx="2392677" cy="2031325"/>
              </a:xfrm>
              <a:prstGeom prst="rect">
                <a:avLst/>
              </a:prstGeom>
              <a:blipFill>
                <a:blip r:embed="rId4"/>
                <a:stretch>
                  <a:fillRect l="-2116" t="-1242" r="-4233" b="-1863"/>
                </a:stretch>
              </a:blipFill>
            </p:spPr>
            <p:txBody>
              <a:bodyPr/>
              <a:lstStyle/>
              <a:p>
                <a:r>
                  <a:rPr lang="en-US">
                    <a:noFill/>
                  </a:rPr>
                  <a:t> </a:t>
                </a:r>
              </a:p>
            </p:txBody>
          </p:sp>
        </mc:Fallback>
      </mc:AlternateContent>
    </p:spTree>
    <p:extLst>
      <p:ext uri="{BB962C8B-B14F-4D97-AF65-F5344CB8AC3E}">
        <p14:creationId xmlns:p14="http://schemas.microsoft.com/office/powerpoint/2010/main" val="1209695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3"/>
          <p:cNvSpPr>
            <a:spLocks noGrp="1" noChangeArrowheads="1"/>
          </p:cNvSpPr>
          <p:nvPr>
            <p:ph type="title"/>
            <p:custDataLst>
              <p:tags r:id="rId1"/>
            </p:custDataLst>
          </p:nvPr>
        </p:nvSpPr>
        <p:spPr>
          <a:xfrm>
            <a:off x="1143001" y="182880"/>
            <a:ext cx="9905998" cy="731311"/>
          </a:xfrm>
        </p:spPr>
        <p:txBody>
          <a:bodyPr/>
          <a:lstStyle/>
          <a:p>
            <a:pPr algn="ctr"/>
            <a:r>
              <a:rPr lang="en-US" dirty="0"/>
              <a:t>Dijkstra' Algorithm</a:t>
            </a:r>
          </a:p>
        </p:txBody>
      </p:sp>
      <p:sp>
        <p:nvSpPr>
          <p:cNvPr id="86019" name="Rectangle 2"/>
          <p:cNvSpPr>
            <a:spLocks noGrp="1" noChangeArrowheads="1"/>
          </p:cNvSpPr>
          <p:nvPr>
            <p:ph sz="quarter" idx="1"/>
            <p:custDataLst>
              <p:tags r:id="rId2"/>
            </p:custDataLst>
          </p:nvPr>
        </p:nvSpPr>
        <p:spPr>
          <a:xfrm>
            <a:off x="254222" y="1248588"/>
            <a:ext cx="7554686" cy="5037909"/>
          </a:xfrm>
          <a:solidFill>
            <a:schemeClr val="tx1">
              <a:lumMod val="95000"/>
            </a:schemeClr>
          </a:solidFill>
          <a:ln>
            <a:solidFill>
              <a:schemeClr val="bg1"/>
            </a:solidFill>
          </a:ln>
        </p:spPr>
        <p:txBody>
          <a:bodyPr anchor="ctr">
            <a:noAutofit/>
          </a:bodyPr>
          <a:lstStyle/>
          <a:p>
            <a:pPr>
              <a:lnSpc>
                <a:spcPct val="80000"/>
              </a:lnSpc>
              <a:buFont typeface="Monotype Sorts" charset="2"/>
              <a:buNone/>
            </a:pPr>
            <a:r>
              <a:rPr lang="en-US" sz="1600" b="1" dirty="0" err="1">
                <a:solidFill>
                  <a:schemeClr val="bg1"/>
                </a:solidFill>
                <a:latin typeface="Courier New" pitchFamily="49" charset="0"/>
              </a:rPr>
              <a:t>dijkstra</a:t>
            </a:r>
            <a:r>
              <a:rPr lang="en-US" sz="1600" b="1" dirty="0">
                <a:solidFill>
                  <a:schemeClr val="bg1"/>
                </a:solidFill>
                <a:latin typeface="Courier New" pitchFamily="49" charset="0"/>
              </a:rPr>
              <a:t>(G, s):</a:t>
            </a:r>
          </a:p>
          <a:p>
            <a:pPr>
              <a:lnSpc>
                <a:spcPct val="80000"/>
              </a:lnSpc>
              <a:buFont typeface="Monotype Sorts" charset="2"/>
              <a:buNone/>
            </a:pPr>
            <a:r>
              <a:rPr lang="en-US" sz="1600" b="1" dirty="0">
                <a:solidFill>
                  <a:schemeClr val="bg1"/>
                </a:solidFill>
                <a:latin typeface="Courier New" pitchFamily="49" charset="0"/>
              </a:rPr>
              <a:t>1. </a:t>
            </a:r>
            <a:r>
              <a:rPr lang="en-US" sz="1600" b="1" dirty="0">
                <a:solidFill>
                  <a:schemeClr val="accent3"/>
                </a:solidFill>
                <a:latin typeface="Courier New" pitchFamily="49" charset="0"/>
              </a:rPr>
              <a:t>init PQ to be empty</a:t>
            </a:r>
          </a:p>
          <a:p>
            <a:pPr>
              <a:lnSpc>
                <a:spcPct val="80000"/>
              </a:lnSpc>
              <a:buFont typeface="Monotype Sorts" charset="2"/>
              <a:buNone/>
            </a:pPr>
            <a:r>
              <a:rPr lang="en-US" sz="1600" b="1" dirty="0">
                <a:solidFill>
                  <a:schemeClr val="bg1"/>
                </a:solidFill>
                <a:latin typeface="Courier New" pitchFamily="49" charset="0"/>
              </a:rPr>
              <a:t>2. </a:t>
            </a:r>
            <a:r>
              <a:rPr lang="en-US" sz="1600" b="1" dirty="0" err="1">
                <a:solidFill>
                  <a:schemeClr val="accent3"/>
                </a:solidFill>
                <a:latin typeface="Courier New" pitchFamily="49" charset="0"/>
              </a:rPr>
              <a:t>PQ.Insert</a:t>
            </a:r>
            <a:r>
              <a:rPr lang="en-US" sz="1600" b="1" dirty="0">
                <a:solidFill>
                  <a:schemeClr val="accent3"/>
                </a:solidFill>
                <a:latin typeface="Courier New" pitchFamily="49" charset="0"/>
              </a:rPr>
              <a:t>(s, dist=0)</a:t>
            </a:r>
          </a:p>
          <a:p>
            <a:pPr>
              <a:lnSpc>
                <a:spcPct val="80000"/>
              </a:lnSpc>
              <a:buFont typeface="Monotype Sorts" charset="2"/>
              <a:buNone/>
            </a:pPr>
            <a:r>
              <a:rPr lang="en-US" sz="1600" b="1" dirty="0">
                <a:solidFill>
                  <a:schemeClr val="bg1"/>
                </a:solidFill>
                <a:latin typeface="Courier New" pitchFamily="49" charset="0"/>
                <a:sym typeface="Symbol" pitchFamily="18" charset="2"/>
              </a:rPr>
              <a:t>3. parent[s] = NULL; </a:t>
            </a:r>
            <a:r>
              <a:rPr lang="en-US" sz="1600" b="1" dirty="0" err="1">
                <a:solidFill>
                  <a:schemeClr val="bg1"/>
                </a:solidFill>
                <a:latin typeface="Courier New" pitchFamily="49" charset="0"/>
                <a:sym typeface="Symbol" pitchFamily="18" charset="2"/>
              </a:rPr>
              <a:t>dist</a:t>
            </a:r>
            <a:r>
              <a:rPr lang="en-US" sz="1600" b="1" dirty="0">
                <a:solidFill>
                  <a:schemeClr val="bg1"/>
                </a:solidFill>
                <a:latin typeface="Courier New" pitchFamily="49" charset="0"/>
                <a:sym typeface="Symbol" pitchFamily="18" charset="2"/>
              </a:rPr>
              <a:t>[s] = 0;</a:t>
            </a:r>
          </a:p>
          <a:p>
            <a:pPr>
              <a:lnSpc>
                <a:spcPct val="80000"/>
              </a:lnSpc>
              <a:buFont typeface="Monotype Sorts" charset="2"/>
              <a:buNone/>
            </a:pPr>
            <a:r>
              <a:rPr lang="en-US" sz="1600" b="1" dirty="0">
                <a:solidFill>
                  <a:schemeClr val="bg1"/>
                </a:solidFill>
                <a:latin typeface="Courier New" pitchFamily="49" charset="0"/>
                <a:sym typeface="Symbol" pitchFamily="18" charset="2"/>
              </a:rPr>
              <a:t>4. while (</a:t>
            </a:r>
            <a:r>
              <a:rPr lang="en-US" sz="1600" b="1" dirty="0">
                <a:solidFill>
                  <a:schemeClr val="accent3"/>
                </a:solidFill>
                <a:latin typeface="Courier New" pitchFamily="49" charset="0"/>
                <a:sym typeface="Symbol" pitchFamily="18" charset="2"/>
              </a:rPr>
              <a:t>PQ not empty</a:t>
            </a:r>
            <a:r>
              <a:rPr lang="en-US" sz="1600" b="1" dirty="0">
                <a:solidFill>
                  <a:schemeClr val="bg1"/>
                </a:solidFill>
                <a:latin typeface="Courier New" pitchFamily="49" charset="0"/>
                <a:sym typeface="Symbol" pitchFamily="18" charset="2"/>
              </a:rPr>
              <a:t>):</a:t>
            </a:r>
          </a:p>
          <a:p>
            <a:pPr>
              <a:lnSpc>
                <a:spcPct val="80000"/>
              </a:lnSpc>
              <a:buFont typeface="Monotype Sorts" charset="2"/>
              <a:buNone/>
            </a:pPr>
            <a:r>
              <a:rPr lang="en-US" sz="1600" b="1" dirty="0">
                <a:solidFill>
                  <a:schemeClr val="bg1"/>
                </a:solidFill>
                <a:latin typeface="Courier New" pitchFamily="49" charset="0"/>
                <a:sym typeface="Symbol" pitchFamily="18" charset="2"/>
              </a:rPr>
              <a:t>5.   v = </a:t>
            </a:r>
            <a:r>
              <a:rPr lang="en-US" sz="1600" b="1" dirty="0" err="1">
                <a:solidFill>
                  <a:schemeClr val="accent3"/>
                </a:solidFill>
                <a:latin typeface="Courier New" pitchFamily="49" charset="0"/>
                <a:sym typeface="Symbol" pitchFamily="18" charset="2"/>
              </a:rPr>
              <a:t>PQ.ExtractMin</a:t>
            </a:r>
            <a:r>
              <a:rPr lang="en-US" sz="1600" b="1" dirty="0">
                <a:solidFill>
                  <a:schemeClr val="accent3"/>
                </a:solidFill>
                <a:latin typeface="Courier New" pitchFamily="49" charset="0"/>
                <a:sym typeface="Symbol" pitchFamily="18" charset="2"/>
              </a:rPr>
              <a:t>()</a:t>
            </a:r>
          </a:p>
          <a:p>
            <a:pPr>
              <a:lnSpc>
                <a:spcPct val="80000"/>
              </a:lnSpc>
              <a:buFont typeface="Monotype Sorts" charset="2"/>
              <a:buNone/>
            </a:pPr>
            <a:r>
              <a:rPr lang="en-US" sz="1600" b="1" dirty="0">
                <a:solidFill>
                  <a:schemeClr val="bg1"/>
                </a:solidFill>
                <a:latin typeface="Courier New" pitchFamily="49" charset="0"/>
                <a:sym typeface="Symbol" pitchFamily="18" charset="2"/>
              </a:rPr>
              <a:t>6.   for each w</a:t>
            </a:r>
            <a:r>
              <a:rPr lang="en-US" sz="1600" b="1" dirty="0">
                <a:solidFill>
                  <a:schemeClr val="bg1"/>
                </a:solidFill>
                <a:latin typeface="Courier New" pitchFamily="49" charset="0"/>
              </a:rPr>
              <a:t> </a:t>
            </a:r>
            <a:r>
              <a:rPr lang="en-US" sz="1600" b="1" dirty="0" err="1">
                <a:solidFill>
                  <a:schemeClr val="bg1"/>
                </a:solidFill>
                <a:latin typeface="Courier New" pitchFamily="49" charset="0"/>
                <a:sym typeface="Symbol" pitchFamily="18" charset="2"/>
              </a:rPr>
              <a:t>adj</a:t>
            </a:r>
            <a:r>
              <a:rPr lang="en-US" sz="1600" b="1" dirty="0">
                <a:solidFill>
                  <a:schemeClr val="bg1"/>
                </a:solidFill>
                <a:latin typeface="Courier New" pitchFamily="49" charset="0"/>
                <a:sym typeface="Symbol" pitchFamily="18" charset="2"/>
              </a:rPr>
              <a:t> to v</a:t>
            </a:r>
          </a:p>
          <a:p>
            <a:pPr>
              <a:lnSpc>
                <a:spcPct val="80000"/>
              </a:lnSpc>
              <a:buFont typeface="Monotype Sorts" charset="2"/>
              <a:buNone/>
            </a:pPr>
            <a:r>
              <a:rPr lang="en-US" sz="1600" b="1" dirty="0">
                <a:solidFill>
                  <a:schemeClr val="bg1"/>
                </a:solidFill>
                <a:latin typeface="Courier New" pitchFamily="49" charset="0"/>
                <a:sym typeface="Symbol" pitchFamily="18" charset="2"/>
              </a:rPr>
              <a:t>7.     if (w</a:t>
            </a:r>
            <a:r>
              <a:rPr lang="en-US" sz="1600" b="1" dirty="0">
                <a:solidFill>
                  <a:schemeClr val="bg1"/>
                </a:solidFill>
                <a:latin typeface="Courier New" pitchFamily="49" charset="0"/>
              </a:rPr>
              <a:t> </a:t>
            </a:r>
            <a:r>
              <a:rPr lang="en-US" sz="1600" b="1" dirty="0">
                <a:solidFill>
                  <a:schemeClr val="bg1"/>
                </a:solidFill>
                <a:latin typeface="Courier New" pitchFamily="49" charset="0"/>
                <a:sym typeface="Symbol" pitchFamily="18" charset="2"/>
              </a:rPr>
              <a:t>is unseen):</a:t>
            </a:r>
          </a:p>
          <a:p>
            <a:pPr>
              <a:lnSpc>
                <a:spcPct val="80000"/>
              </a:lnSpc>
              <a:buFont typeface="Monotype Sorts" charset="2"/>
              <a:buNone/>
            </a:pPr>
            <a:r>
              <a:rPr lang="en-US" sz="1600" b="1" dirty="0">
                <a:solidFill>
                  <a:schemeClr val="bg1"/>
                </a:solidFill>
                <a:latin typeface="Courier New" pitchFamily="49" charset="0"/>
                <a:sym typeface="Symbol" pitchFamily="18" charset="2"/>
              </a:rPr>
              <a:t>8.        dist[w] = dist[v] + wt(</a:t>
            </a:r>
            <a:r>
              <a:rPr lang="en-US" sz="1600" b="1" dirty="0" err="1">
                <a:solidFill>
                  <a:schemeClr val="bg1"/>
                </a:solidFill>
                <a:latin typeface="Courier New" pitchFamily="49" charset="0"/>
                <a:sym typeface="Symbol" pitchFamily="18" charset="2"/>
              </a:rPr>
              <a:t>v,w</a:t>
            </a:r>
            <a:r>
              <a:rPr lang="en-US" sz="1600" b="1" dirty="0">
                <a:solidFill>
                  <a:schemeClr val="bg1"/>
                </a:solidFill>
                <a:latin typeface="Courier New" pitchFamily="49" charset="0"/>
                <a:sym typeface="Symbol" pitchFamily="18" charset="2"/>
              </a:rPr>
              <a:t>) </a:t>
            </a:r>
          </a:p>
          <a:p>
            <a:pPr>
              <a:lnSpc>
                <a:spcPct val="80000"/>
              </a:lnSpc>
              <a:buFont typeface="Monotype Sorts" charset="2"/>
              <a:buNone/>
            </a:pPr>
            <a:r>
              <a:rPr lang="en-US" sz="1600" b="1" dirty="0">
                <a:solidFill>
                  <a:schemeClr val="bg1"/>
                </a:solidFill>
                <a:latin typeface="Courier New" pitchFamily="49" charset="0"/>
                <a:sym typeface="Symbol" pitchFamily="18" charset="2"/>
              </a:rPr>
              <a:t>9.        </a:t>
            </a:r>
            <a:r>
              <a:rPr lang="en-US" sz="1600" b="1" dirty="0" err="1">
                <a:solidFill>
                  <a:schemeClr val="accent3"/>
                </a:solidFill>
                <a:latin typeface="Courier New" pitchFamily="49" charset="0"/>
                <a:sym typeface="Symbol" pitchFamily="18" charset="2"/>
              </a:rPr>
              <a:t>PQ.Insert</a:t>
            </a:r>
            <a:r>
              <a:rPr lang="en-US" sz="1600" b="1" dirty="0">
                <a:solidFill>
                  <a:schemeClr val="accent3"/>
                </a:solidFill>
                <a:latin typeface="Courier New" pitchFamily="49" charset="0"/>
                <a:sym typeface="Symbol" pitchFamily="18" charset="2"/>
              </a:rPr>
              <a:t>(w, dist[w] )</a:t>
            </a:r>
          </a:p>
          <a:p>
            <a:pPr>
              <a:lnSpc>
                <a:spcPct val="80000"/>
              </a:lnSpc>
              <a:buFont typeface="Monotype Sorts" charset="2"/>
              <a:buNone/>
            </a:pPr>
            <a:r>
              <a:rPr lang="en-US" sz="1600" b="1" dirty="0">
                <a:solidFill>
                  <a:schemeClr val="bg1"/>
                </a:solidFill>
                <a:latin typeface="Courier New" pitchFamily="49" charset="0"/>
                <a:sym typeface="Symbol" pitchFamily="18" charset="2"/>
              </a:rPr>
              <a:t>10.       parent[w] = v</a:t>
            </a:r>
          </a:p>
          <a:p>
            <a:pPr>
              <a:lnSpc>
                <a:spcPct val="80000"/>
              </a:lnSpc>
              <a:buFont typeface="Monotype Sorts" charset="2"/>
              <a:buNone/>
            </a:pPr>
            <a:r>
              <a:rPr lang="en-US" sz="1600" b="1" dirty="0">
                <a:solidFill>
                  <a:schemeClr val="bg1"/>
                </a:solidFill>
                <a:latin typeface="Courier New" pitchFamily="49" charset="0"/>
                <a:sym typeface="Symbol" pitchFamily="18" charset="2"/>
              </a:rPr>
              <a:t>11.    else if (w is fringe &amp;&amp; dist[v]+</a:t>
            </a:r>
            <a:r>
              <a:rPr lang="en-US" sz="1600" b="1" dirty="0" err="1">
                <a:solidFill>
                  <a:schemeClr val="bg1"/>
                </a:solidFill>
                <a:latin typeface="Courier New" pitchFamily="49" charset="0"/>
                <a:sym typeface="Symbol" pitchFamily="18" charset="2"/>
              </a:rPr>
              <a:t>wt</a:t>
            </a:r>
            <a:r>
              <a:rPr lang="en-US" sz="1600" b="1" dirty="0">
                <a:solidFill>
                  <a:schemeClr val="bg1"/>
                </a:solidFill>
                <a:latin typeface="Courier New" pitchFamily="49" charset="0"/>
                <a:sym typeface="Symbol" pitchFamily="18" charset="2"/>
              </a:rPr>
              <a:t>(</a:t>
            </a:r>
            <a:r>
              <a:rPr lang="en-US" sz="1600" b="1" dirty="0" err="1">
                <a:solidFill>
                  <a:schemeClr val="bg1"/>
                </a:solidFill>
                <a:latin typeface="Courier New" pitchFamily="49" charset="0"/>
                <a:sym typeface="Symbol" pitchFamily="18" charset="2"/>
              </a:rPr>
              <a:t>v,w</a:t>
            </a:r>
            <a:r>
              <a:rPr lang="en-US" sz="1600" b="1" dirty="0">
                <a:solidFill>
                  <a:schemeClr val="bg1"/>
                </a:solidFill>
                <a:latin typeface="Courier New" pitchFamily="49" charset="0"/>
                <a:sym typeface="Symbol" pitchFamily="18" charset="2"/>
              </a:rPr>
              <a:t>) &lt; dist[w]):</a:t>
            </a:r>
          </a:p>
          <a:p>
            <a:pPr>
              <a:lnSpc>
                <a:spcPct val="80000"/>
              </a:lnSpc>
              <a:buFont typeface="Monotype Sorts" charset="2"/>
              <a:buNone/>
            </a:pPr>
            <a:r>
              <a:rPr lang="en-US" sz="1600" b="1" dirty="0">
                <a:solidFill>
                  <a:schemeClr val="bg1"/>
                </a:solidFill>
                <a:latin typeface="Courier New" pitchFamily="49" charset="0"/>
                <a:sym typeface="Symbol" pitchFamily="18" charset="2"/>
              </a:rPr>
              <a:t>12.       </a:t>
            </a:r>
            <a:r>
              <a:rPr lang="en-US" sz="1600" b="1" dirty="0" err="1">
                <a:solidFill>
                  <a:schemeClr val="bg1"/>
                </a:solidFill>
                <a:latin typeface="Courier New" pitchFamily="49" charset="0"/>
                <a:sym typeface="Symbol" pitchFamily="18" charset="2"/>
              </a:rPr>
              <a:t>dist</a:t>
            </a:r>
            <a:r>
              <a:rPr lang="en-US" sz="1600" b="1" dirty="0">
                <a:solidFill>
                  <a:schemeClr val="bg1"/>
                </a:solidFill>
                <a:latin typeface="Courier New" pitchFamily="49" charset="0"/>
                <a:sym typeface="Symbol" pitchFamily="18" charset="2"/>
              </a:rPr>
              <a:t>[w] = dist[v] + wt(</a:t>
            </a:r>
            <a:r>
              <a:rPr lang="en-US" sz="1600" b="1" dirty="0" err="1">
                <a:solidFill>
                  <a:schemeClr val="bg1"/>
                </a:solidFill>
                <a:latin typeface="Courier New" pitchFamily="49" charset="0"/>
                <a:sym typeface="Symbol" pitchFamily="18" charset="2"/>
              </a:rPr>
              <a:t>v,w</a:t>
            </a:r>
            <a:r>
              <a:rPr lang="en-US" sz="1600" b="1" dirty="0">
                <a:solidFill>
                  <a:schemeClr val="bg1"/>
                </a:solidFill>
                <a:latin typeface="Courier New" pitchFamily="49" charset="0"/>
                <a:sym typeface="Symbol" pitchFamily="18" charset="2"/>
              </a:rPr>
              <a:t>)</a:t>
            </a:r>
          </a:p>
          <a:p>
            <a:pPr>
              <a:lnSpc>
                <a:spcPct val="80000"/>
              </a:lnSpc>
              <a:buFont typeface="Monotype Sorts" charset="2"/>
              <a:buNone/>
            </a:pPr>
            <a:r>
              <a:rPr lang="en-US" sz="1600" b="1" dirty="0">
                <a:solidFill>
                  <a:schemeClr val="accent3"/>
                </a:solidFill>
                <a:latin typeface="Courier New" pitchFamily="49" charset="0"/>
                <a:sym typeface="Symbol" pitchFamily="18" charset="2"/>
              </a:rPr>
              <a:t>13.       </a:t>
            </a:r>
            <a:r>
              <a:rPr lang="en-US" sz="1600" b="1" dirty="0" err="1">
                <a:solidFill>
                  <a:schemeClr val="accent3"/>
                </a:solidFill>
                <a:latin typeface="Courier New" pitchFamily="49" charset="0"/>
                <a:sym typeface="Symbol" pitchFamily="18" charset="2"/>
              </a:rPr>
              <a:t>PQ.decreaseKey</a:t>
            </a:r>
            <a:r>
              <a:rPr lang="en-US" sz="1600" b="1" dirty="0">
                <a:solidFill>
                  <a:schemeClr val="accent3"/>
                </a:solidFill>
                <a:latin typeface="Courier New" pitchFamily="49" charset="0"/>
                <a:sym typeface="Symbol" pitchFamily="18" charset="2"/>
              </a:rPr>
              <a:t>(w, dist[w])</a:t>
            </a:r>
          </a:p>
          <a:p>
            <a:pPr>
              <a:lnSpc>
                <a:spcPct val="80000"/>
              </a:lnSpc>
              <a:buFont typeface="Monotype Sorts" charset="2"/>
              <a:buNone/>
            </a:pPr>
            <a:r>
              <a:rPr lang="en-US" sz="1600" b="1" dirty="0">
                <a:solidFill>
                  <a:schemeClr val="bg1"/>
                </a:solidFill>
                <a:latin typeface="Courier New" pitchFamily="49" charset="0"/>
                <a:sym typeface="Symbol" pitchFamily="18" charset="2"/>
              </a:rPr>
              <a:t>14.       parent[w] = v</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2BD6531-E648-05A7-F86B-6582BABC7D63}"/>
                  </a:ext>
                </a:extLst>
              </p:cNvPr>
              <p:cNvSpPr txBox="1"/>
              <p:nvPr/>
            </p:nvSpPr>
            <p:spPr>
              <a:xfrm>
                <a:off x="7939454" y="1410782"/>
                <a:ext cx="3998324" cy="2933624"/>
              </a:xfrm>
              <a:prstGeom prst="rect">
                <a:avLst/>
              </a:prstGeom>
              <a:noFill/>
              <a:ln>
                <a:solidFill>
                  <a:schemeClr val="tx1">
                    <a:lumMod val="95000"/>
                  </a:schemeClr>
                </a:solidFill>
              </a:ln>
            </p:spPr>
            <p:txBody>
              <a:bodyPr wrap="square" rtlCol="0">
                <a:spAutoFit/>
              </a:bodyPr>
              <a:lstStyle/>
              <a:p>
                <a:r>
                  <a:rPr lang="en-US" dirty="0"/>
                  <a:t>What is the runtime now?</a:t>
                </a:r>
              </a:p>
              <a:p>
                <a:endParaRPr lang="en-US" dirty="0"/>
              </a:p>
              <a:p>
                <a:r>
                  <a:rPr lang="en-US" dirty="0"/>
                  <a:t>Extract min is </a:t>
                </a:r>
                <a14:m>
                  <m:oMath xmlns:m="http://schemas.openxmlformats.org/officeDocument/2006/math">
                    <m:r>
                      <m:rPr>
                        <m:sty m:val="p"/>
                      </m:rPr>
                      <a:rPr lang="en-US" b="0" i="0" smtClean="0">
                        <a:latin typeface="Cambria Math" panose="02040503050406030204" pitchFamily="18" charset="0"/>
                      </a:rPr>
                      <m:t>Θ</m:t>
                    </m:r>
                    <m:r>
                      <a:rPr lang="en-US" b="0" i="0" smtClean="0">
                        <a:latin typeface="Cambria Math" panose="02040503050406030204" pitchFamily="18" charset="0"/>
                      </a:rPr>
                      <m:t>(</m:t>
                    </m:r>
                    <m:r>
                      <m:rPr>
                        <m:sty m:val="p"/>
                      </m:rPr>
                      <a:rPr lang="en-US" b="0" i="0" smtClean="0">
                        <a:latin typeface="Cambria Math" panose="02040503050406030204" pitchFamily="18" charset="0"/>
                      </a:rPr>
                      <m:t>log</m:t>
                    </m:r>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V</m:t>
                        </m:r>
                      </m:e>
                    </m:d>
                    <m:r>
                      <a:rPr lang="en-US" b="0" i="0" smtClean="0">
                        <a:latin typeface="Cambria Math" panose="02040503050406030204" pitchFamily="18" charset="0"/>
                      </a:rPr>
                      <m:t>)</m:t>
                    </m:r>
                  </m:oMath>
                </a14:m>
                <a:endParaRPr lang="en-US" b="0" dirty="0"/>
              </a:p>
              <a:p>
                <a:r>
                  <a:rPr lang="en-US" dirty="0"/>
                  <a:t>Called </a:t>
                </a:r>
                <a14:m>
                  <m:oMath xmlns:m="http://schemas.openxmlformats.org/officeDocument/2006/math">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V</m:t>
                        </m:r>
                      </m:e>
                    </m:d>
                  </m:oMath>
                </a14:m>
                <a:r>
                  <a:rPr lang="en-US" dirty="0"/>
                  <a:t> times</a:t>
                </a:r>
              </a:p>
              <a:p>
                <a:endParaRPr lang="en-US" dirty="0"/>
              </a:p>
              <a:p>
                <a:r>
                  <a:rPr lang="en-US" dirty="0"/>
                  <a:t>Inner loop runs </a:t>
                </a:r>
                <a14:m>
                  <m:oMath xmlns:m="http://schemas.openxmlformats.org/officeDocument/2006/math">
                    <m:r>
                      <a:rPr lang="en-US" b="0" i="0" smtClean="0">
                        <a:latin typeface="Cambria Math" panose="02040503050406030204" pitchFamily="18" charset="0"/>
                      </a:rPr>
                      <m:t>|</m:t>
                    </m:r>
                    <m:r>
                      <m:rPr>
                        <m:sty m:val="p"/>
                      </m:rPr>
                      <a:rPr lang="en-US" b="0" i="0" smtClean="0">
                        <a:latin typeface="Cambria Math" panose="02040503050406030204" pitchFamily="18" charset="0"/>
                      </a:rPr>
                      <m:t>E</m:t>
                    </m:r>
                    <m:r>
                      <a:rPr lang="en-US" b="0" i="0" smtClean="0">
                        <a:latin typeface="Cambria Math" panose="02040503050406030204" pitchFamily="18" charset="0"/>
                      </a:rPr>
                      <m:t>|</m:t>
                    </m:r>
                  </m:oMath>
                </a14:m>
                <a:r>
                  <a:rPr lang="en-US" dirty="0"/>
                  <a:t> times</a:t>
                </a:r>
                <a:br>
                  <a:rPr lang="en-US" dirty="0"/>
                </a:br>
                <a:r>
                  <a:rPr lang="en-US" dirty="0"/>
                  <a:t>calls insert or </a:t>
                </a:r>
                <a:r>
                  <a:rPr lang="en-US" dirty="0" err="1"/>
                  <a:t>decreaseKey</a:t>
                </a:r>
                <a:r>
                  <a:rPr lang="en-US" dirty="0"/>
                  <a:t>: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V</m:t>
                                    </m:r>
                                  </m:e>
                                </m:d>
                              </m:e>
                            </m:d>
                          </m:e>
                        </m:func>
                      </m:e>
                    </m:d>
                  </m:oMath>
                </a14:m>
                <a:endParaRPr lang="en-US" b="0" dirty="0"/>
              </a:p>
              <a:p>
                <a:endParaRPr lang="en-US" dirty="0"/>
              </a:p>
              <a:p>
                <a:pPr/>
                <a:r>
                  <a:rPr lang="en-US" dirty="0"/>
                  <a:t>Total time:</a:t>
                </a:r>
                <a:br>
                  <a:rPr lang="en-US" dirty="0"/>
                </a:b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Vlog</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V</m:t>
                              </m:r>
                            </m:e>
                          </m:d>
                          <m:r>
                            <a:rPr lang="en-US" b="0" i="0" smtClean="0">
                              <a:latin typeface="Cambria Math" panose="02040503050406030204" pitchFamily="18" charset="0"/>
                            </a:rPr>
                            <m:t>+</m:t>
                          </m:r>
                          <m:r>
                            <m:rPr>
                              <m:sty m:val="p"/>
                            </m:rPr>
                            <a:rPr lang="en-US" b="0" i="0" smtClean="0">
                              <a:latin typeface="Cambria Math" panose="02040503050406030204" pitchFamily="18" charset="0"/>
                            </a:rPr>
                            <m:t>Elog</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V</m:t>
                              </m:r>
                            </m:e>
                          </m:d>
                        </m:e>
                      </m:d>
                      <m:r>
                        <a:rPr lang="en-US" b="0" i="0"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Elog</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V</m:t>
                              </m:r>
                            </m:e>
                          </m:d>
                        </m:e>
                      </m:d>
                    </m:oMath>
                  </m:oMathPara>
                </a14:m>
                <a:endParaRPr lang="en-US" b="0" dirty="0"/>
              </a:p>
            </p:txBody>
          </p:sp>
        </mc:Choice>
        <mc:Fallback xmlns="">
          <p:sp>
            <p:nvSpPr>
              <p:cNvPr id="2" name="TextBox 1">
                <a:extLst>
                  <a:ext uri="{FF2B5EF4-FFF2-40B4-BE49-F238E27FC236}">
                    <a16:creationId xmlns:a16="http://schemas.microsoft.com/office/drawing/2014/main" id="{12BD6531-E648-05A7-F86B-6582BABC7D63}"/>
                  </a:ext>
                </a:extLst>
              </p:cNvPr>
              <p:cNvSpPr txBox="1">
                <a:spLocks noRot="1" noChangeAspect="1" noMove="1" noResize="1" noEditPoints="1" noAdjustHandles="1" noChangeArrowheads="1" noChangeShapeType="1" noTextEdit="1"/>
              </p:cNvSpPr>
              <p:nvPr/>
            </p:nvSpPr>
            <p:spPr>
              <a:xfrm>
                <a:off x="7939454" y="1410782"/>
                <a:ext cx="3998324" cy="2933624"/>
              </a:xfrm>
              <a:prstGeom prst="rect">
                <a:avLst/>
              </a:prstGeom>
              <a:blipFill>
                <a:blip r:embed="rId4"/>
                <a:stretch>
                  <a:fillRect l="-946" t="-858"/>
                </a:stretch>
              </a:blipFill>
              <a:ln>
                <a:solidFill>
                  <a:schemeClr val="tx1">
                    <a:lumMod val="95000"/>
                  </a:schemeClr>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DED561AC-8582-4C51-9C11-093C540F2F17}"/>
              </a:ext>
            </a:extLst>
          </p:cNvPr>
          <p:cNvSpPr txBox="1"/>
          <p:nvPr/>
        </p:nvSpPr>
        <p:spPr>
          <a:xfrm>
            <a:off x="8515728" y="5350503"/>
            <a:ext cx="2705100" cy="1200329"/>
          </a:xfrm>
          <a:prstGeom prst="rect">
            <a:avLst/>
          </a:prstGeom>
          <a:noFill/>
          <a:ln>
            <a:noFill/>
          </a:ln>
        </p:spPr>
        <p:txBody>
          <a:bodyPr wrap="square" rtlCol="0">
            <a:spAutoFit/>
          </a:bodyPr>
          <a:lstStyle/>
          <a:p>
            <a:r>
              <a:rPr lang="en-US" i="1" dirty="0"/>
              <a:t>We will see how to actually implement </a:t>
            </a:r>
            <a:r>
              <a:rPr lang="en-US" i="1" dirty="0" err="1"/>
              <a:t>decreaseKey</a:t>
            </a:r>
            <a:r>
              <a:rPr lang="en-US" i="1" dirty="0"/>
              <a:t>() in logarithmic time at the end of this slide deck</a:t>
            </a:r>
            <a:endParaRPr lang="en-US" b="0" i="1" dirty="0"/>
          </a:p>
        </p:txBody>
      </p:sp>
      <p:cxnSp>
        <p:nvCxnSpPr>
          <p:cNvPr id="6" name="Straight Connector 5">
            <a:extLst>
              <a:ext uri="{FF2B5EF4-FFF2-40B4-BE49-F238E27FC236}">
                <a16:creationId xmlns:a16="http://schemas.microsoft.com/office/drawing/2014/main" id="{909C5C89-42A1-AB89-5D72-D8B3D1864C11}"/>
              </a:ext>
            </a:extLst>
          </p:cNvPr>
          <p:cNvCxnSpPr>
            <a:cxnSpLocks/>
          </p:cNvCxnSpPr>
          <p:nvPr/>
        </p:nvCxnSpPr>
        <p:spPr>
          <a:xfrm flipV="1">
            <a:off x="9205546" y="4510454"/>
            <a:ext cx="413239" cy="76493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196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Dijkstra’s Proof of Correctness</a:t>
            </a:r>
          </a:p>
        </p:txBody>
      </p:sp>
      <p:sp>
        <p:nvSpPr>
          <p:cNvPr id="6" name="Text Placeholder 5"/>
          <p:cNvSpPr>
            <a:spLocks noGrp="1"/>
          </p:cNvSpPr>
          <p:nvPr>
            <p:ph type="body" idx="1"/>
          </p:nvPr>
        </p:nvSpPr>
        <p:spPr/>
        <p:txBody>
          <a:bodyPr/>
          <a:lstStyle/>
          <a:p>
            <a:endParaRPr lang="en-US"/>
          </a:p>
        </p:txBody>
      </p:sp>
    </p:spTree>
    <p:extLst>
      <p:ext uri="{BB962C8B-B14F-4D97-AF65-F5344CB8AC3E}">
        <p14:creationId xmlns:p14="http://schemas.microsoft.com/office/powerpoint/2010/main" val="4099761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custDataLst>
              <p:tags r:id="rId1"/>
            </p:custDataLst>
          </p:nvPr>
        </p:nvSpPr>
        <p:spPr>
          <a:xfrm>
            <a:off x="1141412" y="354749"/>
            <a:ext cx="9905998" cy="779459"/>
          </a:xfrm>
        </p:spPr>
        <p:txBody>
          <a:bodyPr>
            <a:normAutofit/>
          </a:bodyPr>
          <a:lstStyle/>
          <a:p>
            <a:pPr algn="ctr"/>
            <a:r>
              <a:rPr lang="en-US" dirty="0"/>
              <a:t>How to Prove Correctness?</a:t>
            </a:r>
          </a:p>
        </p:txBody>
      </p:sp>
      <p:sp>
        <p:nvSpPr>
          <p:cNvPr id="37891" name="Rectangle 3"/>
          <p:cNvSpPr>
            <a:spLocks noGrp="1" noChangeArrowheads="1"/>
          </p:cNvSpPr>
          <p:nvPr>
            <p:ph sz="quarter" idx="1"/>
            <p:custDataLst>
              <p:tags r:id="rId2"/>
            </p:custDataLst>
          </p:nvPr>
        </p:nvSpPr>
        <p:spPr>
          <a:xfrm>
            <a:off x="4187275" y="2038131"/>
            <a:ext cx="3158026" cy="624927"/>
          </a:xfrm>
        </p:spPr>
        <p:txBody>
          <a:bodyPr/>
          <a:lstStyle/>
          <a:p>
            <a:pPr marL="0" indent="0">
              <a:buNone/>
            </a:pPr>
            <a:r>
              <a:rPr lang="en-US" dirty="0"/>
              <a:t>We want to prove that:</a:t>
            </a:r>
          </a:p>
        </p:txBody>
      </p:sp>
      <p:sp>
        <p:nvSpPr>
          <p:cNvPr id="2" name="Rectangle 3">
            <a:extLst>
              <a:ext uri="{FF2B5EF4-FFF2-40B4-BE49-F238E27FC236}">
                <a16:creationId xmlns:a16="http://schemas.microsoft.com/office/drawing/2014/main" id="{5A6FCA03-A175-FF79-EA2F-133D249B18D1}"/>
              </a:ext>
            </a:extLst>
          </p:cNvPr>
          <p:cNvSpPr txBox="1">
            <a:spLocks noChangeArrowheads="1"/>
          </p:cNvSpPr>
          <p:nvPr>
            <p:custDataLst>
              <p:tags r:id="rId3"/>
            </p:custDataLst>
          </p:nvPr>
        </p:nvSpPr>
        <p:spPr>
          <a:xfrm>
            <a:off x="3359208" y="5131316"/>
            <a:ext cx="5470405" cy="62492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Let’s do this by induction. I will draw it out!</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DE91909F-4AB1-3056-5C8A-A1BC7C2770FD}"/>
                  </a:ext>
                </a:extLst>
              </p:cNvPr>
              <p:cNvSpPr txBox="1">
                <a:spLocks noChangeArrowheads="1"/>
              </p:cNvSpPr>
              <p:nvPr>
                <p:custDataLst>
                  <p:tags r:id="rId4"/>
                </p:custDataLst>
              </p:nvPr>
            </p:nvSpPr>
            <p:spPr>
              <a:xfrm>
                <a:off x="4187275" y="2548758"/>
                <a:ext cx="3814272" cy="624928"/>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𝑣</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𝑉</m:t>
                      </m:r>
                      <m:r>
                        <a:rPr lang="en-US" i="1" smtClean="0">
                          <a:solidFill>
                            <a:schemeClr val="bg1"/>
                          </a:solidFill>
                          <a:latin typeface="Cambria Math" panose="02040503050406030204" pitchFamily="18" charset="0"/>
                        </a:rPr>
                        <m:t> </m:t>
                      </m:r>
                      <m:r>
                        <a:rPr lang="en-US" i="1" smtClean="0">
                          <a:solidFill>
                            <a:schemeClr val="bg1"/>
                          </a:solidFill>
                          <a:latin typeface="Cambria Math" panose="02040503050406030204" pitchFamily="18" charset="0"/>
                        </a:rPr>
                        <m:t>𝑣</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𝑑</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𝛿</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𝑠</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𝑣</m:t>
                      </m:r>
                      <m:r>
                        <a:rPr lang="en-US"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xmlns="">
          <p:sp>
            <p:nvSpPr>
              <p:cNvPr id="3" name="Rectangle 3">
                <a:extLst>
                  <a:ext uri="{FF2B5EF4-FFF2-40B4-BE49-F238E27FC236}">
                    <a16:creationId xmlns:a16="http://schemas.microsoft.com/office/drawing/2014/main" id="{DE91909F-4AB1-3056-5C8A-A1BC7C2770FD}"/>
                  </a:ext>
                </a:extLst>
              </p:cNvPr>
              <p:cNvSpPr txBox="1">
                <a:spLocks noRot="1" noChangeAspect="1" noMove="1" noResize="1" noEditPoints="1" noAdjustHandles="1" noChangeArrowheads="1" noChangeShapeType="1" noTextEdit="1"/>
              </p:cNvSpPr>
              <p:nvPr>
                <p:custDataLst>
                  <p:tags r:id="rId7"/>
                </p:custDataLst>
              </p:nvPr>
            </p:nvSpPr>
            <p:spPr>
              <a:xfrm>
                <a:off x="4187275" y="2548758"/>
                <a:ext cx="3814272" cy="624928"/>
              </a:xfrm>
              <a:prstGeom prst="rect">
                <a:avLst/>
              </a:prstGeom>
              <a:blipFill>
                <a:blip r:embed="rId8"/>
                <a:stretch>
                  <a:fillRect b="-1961"/>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6BA7208F-A4FF-B73E-3F62-E9FF4EAE691D}"/>
                  </a:ext>
                </a:extLst>
              </p:cNvPr>
              <p:cNvSpPr txBox="1">
                <a:spLocks noChangeArrowheads="1"/>
              </p:cNvSpPr>
              <p:nvPr>
                <p:custDataLst>
                  <p:tags r:id="rId5"/>
                </p:custDataLst>
              </p:nvPr>
            </p:nvSpPr>
            <p:spPr>
              <a:xfrm>
                <a:off x="8396655" y="3787104"/>
                <a:ext cx="2400300" cy="102836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Note that </a:t>
                </a:r>
                <a14:m>
                  <m:oMath xmlns:m="http://schemas.openxmlformats.org/officeDocument/2006/math">
                    <m:r>
                      <a:rPr lang="en-US" b="0" i="1" smtClean="0">
                        <a:latin typeface="Cambria Math" panose="02040503050406030204" pitchFamily="18" charset="0"/>
                      </a:rPr>
                      <m:t>𝛿</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𝑣</m:t>
                        </m:r>
                      </m:e>
                    </m:d>
                  </m:oMath>
                </a14:m>
                <a:r>
                  <a:rPr lang="en-US" dirty="0"/>
                  <a:t> represents the optimal weight possible to get from s to v</a:t>
                </a:r>
              </a:p>
            </p:txBody>
          </p:sp>
        </mc:Choice>
        <mc:Fallback xmlns="">
          <p:sp>
            <p:nvSpPr>
              <p:cNvPr id="5" name="Rectangle 3">
                <a:extLst>
                  <a:ext uri="{FF2B5EF4-FFF2-40B4-BE49-F238E27FC236}">
                    <a16:creationId xmlns:a16="http://schemas.microsoft.com/office/drawing/2014/main" id="{6BA7208F-A4FF-B73E-3F62-E9FF4EAE691D}"/>
                  </a:ext>
                </a:extLst>
              </p:cNvPr>
              <p:cNvSpPr txBox="1">
                <a:spLocks noRot="1" noChangeAspect="1" noMove="1" noResize="1" noEditPoints="1" noAdjustHandles="1" noChangeArrowheads="1" noChangeShapeType="1" noTextEdit="1"/>
              </p:cNvSpPr>
              <p:nvPr>
                <p:custDataLst>
                  <p:tags r:id="rId9"/>
                </p:custDataLst>
              </p:nvPr>
            </p:nvSpPr>
            <p:spPr>
              <a:xfrm>
                <a:off x="8396655" y="3787104"/>
                <a:ext cx="2400300" cy="1028362"/>
              </a:xfrm>
              <a:prstGeom prst="rect">
                <a:avLst/>
              </a:prstGeom>
              <a:blipFill>
                <a:blip r:embed="rId10"/>
                <a:stretch>
                  <a:fillRect l="-524" t="-1220"/>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98EEB930-947C-DCD7-F299-EA047230B369}"/>
              </a:ext>
            </a:extLst>
          </p:cNvPr>
          <p:cNvCxnSpPr/>
          <p:nvPr/>
        </p:nvCxnSpPr>
        <p:spPr>
          <a:xfrm>
            <a:off x="7156938" y="3349869"/>
            <a:ext cx="1195754" cy="60666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169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custDataLst>
              <p:tags r:id="rId1"/>
            </p:custDataLst>
          </p:nvPr>
        </p:nvSpPr>
        <p:spPr>
          <a:xfrm>
            <a:off x="1143001" y="322509"/>
            <a:ext cx="9905998" cy="744290"/>
          </a:xfrm>
        </p:spPr>
        <p:txBody>
          <a:bodyPr>
            <a:normAutofit/>
          </a:bodyPr>
          <a:lstStyle/>
          <a:p>
            <a:pPr algn="ctr"/>
            <a:r>
              <a:rPr lang="en-US" dirty="0"/>
              <a:t>Proof w/ Picture:</a:t>
            </a:r>
          </a:p>
        </p:txBody>
      </p:sp>
      <p:sp>
        <p:nvSpPr>
          <p:cNvPr id="37891" name="Rectangle 3"/>
          <p:cNvSpPr>
            <a:spLocks noGrp="1" noChangeArrowheads="1"/>
          </p:cNvSpPr>
          <p:nvPr>
            <p:ph sz="quarter" idx="1"/>
            <p:custDataLst>
              <p:tags r:id="rId2"/>
            </p:custDataLst>
          </p:nvPr>
        </p:nvSpPr>
        <p:spPr>
          <a:xfrm>
            <a:off x="1143000" y="1913582"/>
            <a:ext cx="2479431" cy="627857"/>
          </a:xfrm>
        </p:spPr>
        <p:txBody>
          <a:bodyPr>
            <a:normAutofit/>
          </a:bodyPr>
          <a:lstStyle/>
          <a:p>
            <a:pPr marL="0" indent="0">
              <a:buNone/>
            </a:pPr>
            <a:r>
              <a:rPr lang="en-US" b="1" i="1" u="sng" dirty="0"/>
              <a:t>Base Case (trivial)</a:t>
            </a:r>
            <a:r>
              <a:rPr lang="en-US" dirty="0"/>
              <a:t>:</a:t>
            </a:r>
          </a:p>
        </p:txBody>
      </p:sp>
      <p:sp>
        <p:nvSpPr>
          <p:cNvPr id="2" name="Rectangle 3">
            <a:extLst>
              <a:ext uri="{FF2B5EF4-FFF2-40B4-BE49-F238E27FC236}">
                <a16:creationId xmlns:a16="http://schemas.microsoft.com/office/drawing/2014/main" id="{919C15CD-AF2E-DDC1-6CAD-A890BF48E35F}"/>
              </a:ext>
            </a:extLst>
          </p:cNvPr>
          <p:cNvSpPr txBox="1">
            <a:spLocks noChangeArrowheads="1"/>
          </p:cNvSpPr>
          <p:nvPr>
            <p:custDataLst>
              <p:tags r:id="rId3"/>
            </p:custDataLst>
          </p:nvPr>
        </p:nvSpPr>
        <p:spPr>
          <a:xfrm>
            <a:off x="1142999" y="3811409"/>
            <a:ext cx="2734409" cy="65204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Inductive Hypothesis</a:t>
            </a:r>
            <a:r>
              <a:rPr lang="en-US" dirty="0"/>
              <a:t>:</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28C7CA1E-D919-07F5-AD6F-74E3E303EC98}"/>
                  </a:ext>
                </a:extLst>
              </p:cNvPr>
              <p:cNvSpPr txBox="1">
                <a:spLocks noChangeArrowheads="1"/>
              </p:cNvSpPr>
              <p:nvPr>
                <p:custDataLst>
                  <p:tags r:id="rId4"/>
                </p:custDataLst>
              </p:nvPr>
            </p:nvSpPr>
            <p:spPr>
              <a:xfrm>
                <a:off x="3701561" y="2064953"/>
                <a:ext cx="2394438" cy="1044698"/>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𝑠</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𝑑</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𝛿</m:t>
                      </m:r>
                      <m:d>
                        <m:dPr>
                          <m:ctrlPr>
                            <a:rPr lang="en-US" i="1" smtClean="0">
                              <a:solidFill>
                                <a:schemeClr val="bg1"/>
                              </a:solidFill>
                              <a:latin typeface="Cambria Math" panose="02040503050406030204" pitchFamily="18" charset="0"/>
                            </a:rPr>
                          </m:ctrlPr>
                        </m:dPr>
                        <m:e>
                          <m:r>
                            <a:rPr lang="en-US" i="1" smtClean="0">
                              <a:solidFill>
                                <a:schemeClr val="bg1"/>
                              </a:solidFill>
                              <a:latin typeface="Cambria Math" panose="02040503050406030204" pitchFamily="18" charset="0"/>
                            </a:rPr>
                            <m:t>𝑠</m:t>
                          </m:r>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𝑠</m:t>
                          </m:r>
                        </m:e>
                      </m:d>
                    </m:oMath>
                  </m:oMathPara>
                </a14:m>
                <a:endParaRPr lang="en-US" dirty="0">
                  <a:solidFill>
                    <a:schemeClr val="bg1"/>
                  </a:solidFill>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solidFill>
                            <a:schemeClr val="bg1"/>
                          </a:solidFill>
                          <a:latin typeface="Cambria Math" panose="02040503050406030204" pitchFamily="18" charset="0"/>
                        </a:rPr>
                        <m:t>0=0</m:t>
                      </m:r>
                    </m:oMath>
                  </m:oMathPara>
                </a14:m>
                <a:endParaRPr lang="en-US" dirty="0">
                  <a:solidFill>
                    <a:schemeClr val="bg1"/>
                  </a:solidFill>
                </a:endParaRPr>
              </a:p>
            </p:txBody>
          </p:sp>
        </mc:Choice>
        <mc:Fallback xmlns="">
          <p:sp>
            <p:nvSpPr>
              <p:cNvPr id="3" name="Rectangle 3">
                <a:extLst>
                  <a:ext uri="{FF2B5EF4-FFF2-40B4-BE49-F238E27FC236}">
                    <a16:creationId xmlns:a16="http://schemas.microsoft.com/office/drawing/2014/main" id="{28C7CA1E-D919-07F5-AD6F-74E3E303EC98}"/>
                  </a:ext>
                </a:extLst>
              </p:cNvPr>
              <p:cNvSpPr txBox="1">
                <a:spLocks noRot="1" noChangeAspect="1" noMove="1" noResize="1" noEditPoints="1" noAdjustHandles="1" noChangeArrowheads="1" noChangeShapeType="1" noTextEdit="1"/>
              </p:cNvSpPr>
              <p:nvPr>
                <p:custDataLst>
                  <p:tags r:id="rId8"/>
                </p:custDataLst>
              </p:nvPr>
            </p:nvSpPr>
            <p:spPr>
              <a:xfrm>
                <a:off x="3701561" y="2064953"/>
                <a:ext cx="2394438" cy="1044698"/>
              </a:xfrm>
              <a:prstGeom prst="rect">
                <a:avLst/>
              </a:prstGeom>
              <a:blipFill>
                <a:blip r:embed="rId9"/>
                <a:stretch>
                  <a:fillRect/>
                </a:stretch>
              </a:blipFill>
              <a:ln>
                <a:solidFill>
                  <a:schemeClr val="bg1"/>
                </a:solidFill>
              </a:ln>
            </p:spPr>
            <p:txBody>
              <a:bodyPr/>
              <a:lstStyle/>
              <a:p>
                <a:r>
                  <a:rPr lang="en-US">
                    <a:noFill/>
                  </a:rPr>
                  <a:t> </a:t>
                </a:r>
              </a:p>
            </p:txBody>
          </p:sp>
        </mc:Fallback>
      </mc:AlternateContent>
      <p:sp>
        <p:nvSpPr>
          <p:cNvPr id="5" name="Rectangle 3">
            <a:extLst>
              <a:ext uri="{FF2B5EF4-FFF2-40B4-BE49-F238E27FC236}">
                <a16:creationId xmlns:a16="http://schemas.microsoft.com/office/drawing/2014/main" id="{05C4A583-41A0-287B-3EF1-98006C903C50}"/>
              </a:ext>
            </a:extLst>
          </p:cNvPr>
          <p:cNvSpPr txBox="1">
            <a:spLocks noChangeArrowheads="1"/>
          </p:cNvSpPr>
          <p:nvPr>
            <p:custDataLst>
              <p:tags r:id="rId5"/>
            </p:custDataLst>
          </p:nvPr>
        </p:nvSpPr>
        <p:spPr>
          <a:xfrm>
            <a:off x="6175129" y="2303196"/>
            <a:ext cx="3267809" cy="47648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Algorithm sets </a:t>
            </a:r>
            <a:r>
              <a:rPr lang="en-US" sz="1800" i="1" dirty="0" err="1"/>
              <a:t>s.d</a:t>
            </a:r>
            <a:r>
              <a:rPr lang="en-US" sz="1800" i="1" dirty="0"/>
              <a:t> to 0 in line 3</a:t>
            </a:r>
          </a:p>
        </p:txBody>
      </p:sp>
      <p:sp>
        <p:nvSpPr>
          <p:cNvPr id="6" name="Rectangle 3">
            <a:extLst>
              <a:ext uri="{FF2B5EF4-FFF2-40B4-BE49-F238E27FC236}">
                <a16:creationId xmlns:a16="http://schemas.microsoft.com/office/drawing/2014/main" id="{6411C62A-D539-1638-42DC-B34C49507A08}"/>
              </a:ext>
            </a:extLst>
          </p:cNvPr>
          <p:cNvSpPr txBox="1">
            <a:spLocks noChangeArrowheads="1"/>
          </p:cNvSpPr>
          <p:nvPr>
            <p:custDataLst>
              <p:tags r:id="rId6"/>
            </p:custDataLst>
          </p:nvPr>
        </p:nvSpPr>
        <p:spPr>
          <a:xfrm>
            <a:off x="3739660" y="3900114"/>
            <a:ext cx="7499838" cy="1219838"/>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Suppose that the first k nodes that the algorithm makes known have optimal paths computed. </a:t>
            </a:r>
          </a:p>
        </p:txBody>
      </p:sp>
    </p:spTree>
    <p:extLst>
      <p:ext uri="{BB962C8B-B14F-4D97-AF65-F5344CB8AC3E}">
        <p14:creationId xmlns:p14="http://schemas.microsoft.com/office/powerpoint/2010/main" val="3378576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custDataLst>
              <p:tags r:id="rId1"/>
            </p:custDataLst>
          </p:nvPr>
        </p:nvSpPr>
        <p:spPr>
          <a:xfrm>
            <a:off x="1143001" y="228931"/>
            <a:ext cx="9905998" cy="735908"/>
          </a:xfrm>
        </p:spPr>
        <p:txBody>
          <a:bodyPr>
            <a:normAutofit/>
          </a:bodyPr>
          <a:lstStyle/>
          <a:p>
            <a:pPr algn="ctr"/>
            <a:r>
              <a:rPr lang="en-US" dirty="0"/>
              <a:t>Proof w/ Picture: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A80AF0C-1E58-F84D-B397-492549006E9C}"/>
                  </a:ext>
                </a:extLst>
              </p:cNvPr>
              <p:cNvSpPr txBox="1"/>
              <p:nvPr/>
            </p:nvSpPr>
            <p:spPr>
              <a:xfrm>
                <a:off x="6426265" y="2244779"/>
                <a:ext cx="5638800" cy="2308324"/>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 </m:t>
                    </m:r>
                    <m:r>
                      <a:rPr lang="en-US" b="0" i="1" smtClean="0">
                        <a:solidFill>
                          <a:schemeClr val="accent2"/>
                        </a:solidFill>
                        <a:latin typeface="Cambria Math" panose="02040503050406030204" pitchFamily="18" charset="0"/>
                      </a:rPr>
                      <m:t>𝛿</m:t>
                    </m:r>
                    <m:d>
                      <m:dPr>
                        <m:ctrlPr>
                          <a:rPr lang="en-US" b="0" i="1" smtClean="0">
                            <a:solidFill>
                              <a:schemeClr val="accent2"/>
                            </a:solidFill>
                            <a:latin typeface="Cambria Math" panose="02040503050406030204" pitchFamily="18" charset="0"/>
                          </a:rPr>
                        </m:ctrlPr>
                      </m:dPr>
                      <m:e>
                        <m:r>
                          <a:rPr lang="en-US" b="0" i="1" smtClean="0">
                            <a:solidFill>
                              <a:schemeClr val="accent2"/>
                            </a:solidFill>
                            <a:latin typeface="Cambria Math" panose="02040503050406030204" pitchFamily="18" charset="0"/>
                          </a:rPr>
                          <m:t>𝑠</m:t>
                        </m:r>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𝑢</m:t>
                        </m:r>
                      </m:e>
                    </m:d>
                    <m:r>
                      <a:rPr lang="en-US" b="0" i="1" smtClean="0">
                        <a:latin typeface="Cambria Math" panose="02040503050406030204" pitchFamily="18" charset="0"/>
                      </a:rPr>
                      <m:t>+</m:t>
                    </m:r>
                    <m:r>
                      <a:rPr lang="en-US" b="0" i="1" smtClean="0">
                        <a:solidFill>
                          <a:schemeClr val="accent3"/>
                        </a:solidFill>
                        <a:latin typeface="Cambria Math" panose="02040503050406030204" pitchFamily="18" charset="0"/>
                      </a:rPr>
                      <m:t>𝑐</m:t>
                    </m:r>
                    <m:r>
                      <a:rPr lang="en-US" b="0" i="1" smtClean="0">
                        <a:solidFill>
                          <a:schemeClr val="accent3"/>
                        </a:solidFill>
                        <a:latin typeface="Cambria Math" panose="02040503050406030204" pitchFamily="18" charset="0"/>
                      </a:rPr>
                      <m:t>(</m:t>
                    </m:r>
                    <m:r>
                      <a:rPr lang="en-US" b="0" i="1" smtClean="0">
                        <a:solidFill>
                          <a:schemeClr val="accent3"/>
                        </a:solidFill>
                        <a:latin typeface="Cambria Math" panose="02040503050406030204" pitchFamily="18" charset="0"/>
                      </a:rPr>
                      <m:t>𝑒</m:t>
                    </m:r>
                    <m:r>
                      <a:rPr lang="en-US" b="0" i="1" smtClean="0">
                        <a:solidFill>
                          <a:schemeClr val="accent3"/>
                        </a:solidFill>
                        <a:latin typeface="Cambria Math" panose="02040503050406030204" pitchFamily="18" charset="0"/>
                      </a:rPr>
                      <m:t>)</m:t>
                    </m:r>
                  </m:oMath>
                </a14:m>
                <a:r>
                  <a:rPr lang="en-US" dirty="0"/>
                  <a:t> was just made known by Dijkstra’s (and will never change)</a:t>
                </a:r>
              </a:p>
              <a:p>
                <a:endParaRPr lang="en-US" dirty="0"/>
              </a:p>
              <a:p>
                <a:r>
                  <a:rPr lang="en-US" dirty="0"/>
                  <a:t>Thus, by definition it is the lowest cost of any option of the form (path from s to known node + cost of edge to unknown node)</a:t>
                </a:r>
              </a:p>
              <a:p>
                <a:endParaRPr lang="en-US" dirty="0"/>
              </a:p>
              <a:p>
                <a:r>
                  <a:rPr lang="en-US" dirty="0"/>
                  <a:t>^^REMEMBER THIS</a:t>
                </a:r>
              </a:p>
            </p:txBody>
          </p:sp>
        </mc:Choice>
        <mc:Fallback xmlns="">
          <p:sp>
            <p:nvSpPr>
              <p:cNvPr id="6" name="TextBox 5">
                <a:extLst>
                  <a:ext uri="{FF2B5EF4-FFF2-40B4-BE49-F238E27FC236}">
                    <a16:creationId xmlns:a16="http://schemas.microsoft.com/office/drawing/2014/main" id="{5A80AF0C-1E58-F84D-B397-492549006E9C}"/>
                  </a:ext>
                </a:extLst>
              </p:cNvPr>
              <p:cNvSpPr txBox="1">
                <a:spLocks noRot="1" noChangeAspect="1" noMove="1" noResize="1" noEditPoints="1" noAdjustHandles="1" noChangeArrowheads="1" noChangeShapeType="1" noTextEdit="1"/>
              </p:cNvSpPr>
              <p:nvPr/>
            </p:nvSpPr>
            <p:spPr>
              <a:xfrm>
                <a:off x="6426265" y="2244779"/>
                <a:ext cx="5638800" cy="2308324"/>
              </a:xfrm>
              <a:prstGeom prst="rect">
                <a:avLst/>
              </a:prstGeom>
              <a:blipFill>
                <a:blip r:embed="rId3"/>
                <a:stretch>
                  <a:fillRect l="-674" t="-1093" r="-1798" b="-3279"/>
                </a:stretch>
              </a:blipFill>
            </p:spPr>
            <p:txBody>
              <a:bodyPr/>
              <a:lstStyle/>
              <a:p>
                <a:r>
                  <a:rPr lang="en-US">
                    <a:noFill/>
                  </a:rPr>
                  <a:t> </a:t>
                </a:r>
              </a:p>
            </p:txBody>
          </p:sp>
        </mc:Fallback>
      </mc:AlternateContent>
      <p:grpSp>
        <p:nvGrpSpPr>
          <p:cNvPr id="50" name="Group 49">
            <a:extLst>
              <a:ext uri="{FF2B5EF4-FFF2-40B4-BE49-F238E27FC236}">
                <a16:creationId xmlns:a16="http://schemas.microsoft.com/office/drawing/2014/main" id="{E948CF86-9BB4-79D3-F516-85182BCAADAD}"/>
              </a:ext>
            </a:extLst>
          </p:cNvPr>
          <p:cNvGrpSpPr/>
          <p:nvPr/>
        </p:nvGrpSpPr>
        <p:grpSpPr>
          <a:xfrm>
            <a:off x="553916" y="1648557"/>
            <a:ext cx="5794130" cy="3560885"/>
            <a:chOff x="1019909" y="1397977"/>
            <a:chExt cx="5794130" cy="3560885"/>
          </a:xfrm>
        </p:grpSpPr>
        <p:sp>
          <p:nvSpPr>
            <p:cNvPr id="49" name="Rectangle 48">
              <a:extLst>
                <a:ext uri="{FF2B5EF4-FFF2-40B4-BE49-F238E27FC236}">
                  <a16:creationId xmlns:a16="http://schemas.microsoft.com/office/drawing/2014/main" id="{893C05E2-98E6-8E23-7B1C-94566AA51C06}"/>
                </a:ext>
              </a:extLst>
            </p:cNvPr>
            <p:cNvSpPr/>
            <p:nvPr/>
          </p:nvSpPr>
          <p:spPr>
            <a:xfrm>
              <a:off x="1019909" y="1397977"/>
              <a:ext cx="5794130" cy="356088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CBA0458C-C54F-FFC7-2799-08EE08232DBB}"/>
                </a:ext>
              </a:extLst>
            </p:cNvPr>
            <p:cNvGrpSpPr/>
            <p:nvPr/>
          </p:nvGrpSpPr>
          <p:grpSpPr>
            <a:xfrm>
              <a:off x="1143001" y="1513261"/>
              <a:ext cx="5571856" cy="3320370"/>
              <a:chOff x="1872761" y="1502902"/>
              <a:chExt cx="5571856" cy="3320370"/>
            </a:xfrm>
          </p:grpSpPr>
          <p:sp>
            <p:nvSpPr>
              <p:cNvPr id="7" name="Freeform 6">
                <a:extLst>
                  <a:ext uri="{FF2B5EF4-FFF2-40B4-BE49-F238E27FC236}">
                    <a16:creationId xmlns:a16="http://schemas.microsoft.com/office/drawing/2014/main" id="{42FDC82E-E3C2-D282-F08E-2DC68F407C74}"/>
                  </a:ext>
                </a:extLst>
              </p:cNvPr>
              <p:cNvSpPr/>
              <p:nvPr/>
            </p:nvSpPr>
            <p:spPr>
              <a:xfrm>
                <a:off x="1872761" y="1502902"/>
                <a:ext cx="3792711" cy="2872614"/>
              </a:xfrm>
              <a:custGeom>
                <a:avLst/>
                <a:gdLst>
                  <a:gd name="connsiteX0" fmla="*/ 0 w 4667794"/>
                  <a:gd name="connsiteY0" fmla="*/ 940526 h 3500846"/>
                  <a:gd name="connsiteX1" fmla="*/ 0 w 4667794"/>
                  <a:gd name="connsiteY1" fmla="*/ 940526 h 3500846"/>
                  <a:gd name="connsiteX2" fmla="*/ 78377 w 4667794"/>
                  <a:gd name="connsiteY2" fmla="*/ 879566 h 3500846"/>
                  <a:gd name="connsiteX3" fmla="*/ 156754 w 4667794"/>
                  <a:gd name="connsiteY3" fmla="*/ 801189 h 3500846"/>
                  <a:gd name="connsiteX4" fmla="*/ 235131 w 4667794"/>
                  <a:gd name="connsiteY4" fmla="*/ 740229 h 3500846"/>
                  <a:gd name="connsiteX5" fmla="*/ 278674 w 4667794"/>
                  <a:gd name="connsiteY5" fmla="*/ 705395 h 3500846"/>
                  <a:gd name="connsiteX6" fmla="*/ 304800 w 4667794"/>
                  <a:gd name="connsiteY6" fmla="*/ 687977 h 3500846"/>
                  <a:gd name="connsiteX7" fmla="*/ 391885 w 4667794"/>
                  <a:gd name="connsiteY7" fmla="*/ 618309 h 3500846"/>
                  <a:gd name="connsiteX8" fmla="*/ 461554 w 4667794"/>
                  <a:gd name="connsiteY8" fmla="*/ 574766 h 3500846"/>
                  <a:gd name="connsiteX9" fmla="*/ 583474 w 4667794"/>
                  <a:gd name="connsiteY9" fmla="*/ 487680 h 3500846"/>
                  <a:gd name="connsiteX10" fmla="*/ 618308 w 4667794"/>
                  <a:gd name="connsiteY10" fmla="*/ 461555 h 3500846"/>
                  <a:gd name="connsiteX11" fmla="*/ 670560 w 4667794"/>
                  <a:gd name="connsiteY11" fmla="*/ 418012 h 3500846"/>
                  <a:gd name="connsiteX12" fmla="*/ 705394 w 4667794"/>
                  <a:gd name="connsiteY12" fmla="*/ 383177 h 3500846"/>
                  <a:gd name="connsiteX13" fmla="*/ 783771 w 4667794"/>
                  <a:gd name="connsiteY13" fmla="*/ 322217 h 3500846"/>
                  <a:gd name="connsiteX14" fmla="*/ 818605 w 4667794"/>
                  <a:gd name="connsiteY14" fmla="*/ 296092 h 3500846"/>
                  <a:gd name="connsiteX15" fmla="*/ 870857 w 4667794"/>
                  <a:gd name="connsiteY15" fmla="*/ 243840 h 3500846"/>
                  <a:gd name="connsiteX16" fmla="*/ 905691 w 4667794"/>
                  <a:gd name="connsiteY16" fmla="*/ 226423 h 3500846"/>
                  <a:gd name="connsiteX17" fmla="*/ 931817 w 4667794"/>
                  <a:gd name="connsiteY17" fmla="*/ 209006 h 3500846"/>
                  <a:gd name="connsiteX18" fmla="*/ 1010194 w 4667794"/>
                  <a:gd name="connsiteY18" fmla="*/ 165463 h 3500846"/>
                  <a:gd name="connsiteX19" fmla="*/ 1132114 w 4667794"/>
                  <a:gd name="connsiteY19" fmla="*/ 121920 h 3500846"/>
                  <a:gd name="connsiteX20" fmla="*/ 1227908 w 4667794"/>
                  <a:gd name="connsiteY20" fmla="*/ 69669 h 3500846"/>
                  <a:gd name="connsiteX21" fmla="*/ 1288868 w 4667794"/>
                  <a:gd name="connsiteY21" fmla="*/ 43543 h 3500846"/>
                  <a:gd name="connsiteX22" fmla="*/ 1358537 w 4667794"/>
                  <a:gd name="connsiteY22" fmla="*/ 26126 h 3500846"/>
                  <a:gd name="connsiteX23" fmla="*/ 1471748 w 4667794"/>
                  <a:gd name="connsiteY23" fmla="*/ 0 h 3500846"/>
                  <a:gd name="connsiteX24" fmla="*/ 1750422 w 4667794"/>
                  <a:gd name="connsiteY24" fmla="*/ 43543 h 3500846"/>
                  <a:gd name="connsiteX25" fmla="*/ 1811382 w 4667794"/>
                  <a:gd name="connsiteY25" fmla="*/ 69669 h 3500846"/>
                  <a:gd name="connsiteX26" fmla="*/ 1846217 w 4667794"/>
                  <a:gd name="connsiteY26" fmla="*/ 78377 h 3500846"/>
                  <a:gd name="connsiteX27" fmla="*/ 1968137 w 4667794"/>
                  <a:gd name="connsiteY27" fmla="*/ 139337 h 3500846"/>
                  <a:gd name="connsiteX28" fmla="*/ 2020388 w 4667794"/>
                  <a:gd name="connsiteY28" fmla="*/ 174172 h 3500846"/>
                  <a:gd name="connsiteX29" fmla="*/ 2098765 w 4667794"/>
                  <a:gd name="connsiteY29" fmla="*/ 243840 h 3500846"/>
                  <a:gd name="connsiteX30" fmla="*/ 2133600 w 4667794"/>
                  <a:gd name="connsiteY30" fmla="*/ 313509 h 3500846"/>
                  <a:gd name="connsiteX31" fmla="*/ 2151017 w 4667794"/>
                  <a:gd name="connsiteY31" fmla="*/ 348343 h 3500846"/>
                  <a:gd name="connsiteX32" fmla="*/ 2168434 w 4667794"/>
                  <a:gd name="connsiteY32" fmla="*/ 400595 h 3500846"/>
                  <a:gd name="connsiteX33" fmla="*/ 2185851 w 4667794"/>
                  <a:gd name="connsiteY33" fmla="*/ 426720 h 3500846"/>
                  <a:gd name="connsiteX34" fmla="*/ 2203268 w 4667794"/>
                  <a:gd name="connsiteY34" fmla="*/ 470263 h 3500846"/>
                  <a:gd name="connsiteX35" fmla="*/ 2220685 w 4667794"/>
                  <a:gd name="connsiteY35" fmla="*/ 505097 h 3500846"/>
                  <a:gd name="connsiteX36" fmla="*/ 2238102 w 4667794"/>
                  <a:gd name="connsiteY36" fmla="*/ 531223 h 3500846"/>
                  <a:gd name="connsiteX37" fmla="*/ 2246811 w 4667794"/>
                  <a:gd name="connsiteY37" fmla="*/ 557349 h 3500846"/>
                  <a:gd name="connsiteX38" fmla="*/ 2264228 w 4667794"/>
                  <a:gd name="connsiteY38" fmla="*/ 592183 h 3500846"/>
                  <a:gd name="connsiteX39" fmla="*/ 2290354 w 4667794"/>
                  <a:gd name="connsiteY39" fmla="*/ 661852 h 3500846"/>
                  <a:gd name="connsiteX40" fmla="*/ 2307771 w 4667794"/>
                  <a:gd name="connsiteY40" fmla="*/ 687977 h 3500846"/>
                  <a:gd name="connsiteX41" fmla="*/ 2325188 w 4667794"/>
                  <a:gd name="connsiteY41" fmla="*/ 731520 h 3500846"/>
                  <a:gd name="connsiteX42" fmla="*/ 2351314 w 4667794"/>
                  <a:gd name="connsiteY42" fmla="*/ 783772 h 3500846"/>
                  <a:gd name="connsiteX43" fmla="*/ 2394857 w 4667794"/>
                  <a:gd name="connsiteY43" fmla="*/ 818606 h 3500846"/>
                  <a:gd name="connsiteX44" fmla="*/ 2455817 w 4667794"/>
                  <a:gd name="connsiteY44" fmla="*/ 836023 h 3500846"/>
                  <a:gd name="connsiteX45" fmla="*/ 2629988 w 4667794"/>
                  <a:gd name="connsiteY45" fmla="*/ 827315 h 3500846"/>
                  <a:gd name="connsiteX46" fmla="*/ 2656114 w 4667794"/>
                  <a:gd name="connsiteY46" fmla="*/ 818606 h 3500846"/>
                  <a:gd name="connsiteX47" fmla="*/ 2699657 w 4667794"/>
                  <a:gd name="connsiteY47" fmla="*/ 801189 h 3500846"/>
                  <a:gd name="connsiteX48" fmla="*/ 2760617 w 4667794"/>
                  <a:gd name="connsiteY48" fmla="*/ 783772 h 3500846"/>
                  <a:gd name="connsiteX49" fmla="*/ 2795451 w 4667794"/>
                  <a:gd name="connsiteY49" fmla="*/ 775063 h 3500846"/>
                  <a:gd name="connsiteX50" fmla="*/ 2891245 w 4667794"/>
                  <a:gd name="connsiteY50" fmla="*/ 757646 h 3500846"/>
                  <a:gd name="connsiteX51" fmla="*/ 2934788 w 4667794"/>
                  <a:gd name="connsiteY51" fmla="*/ 740229 h 3500846"/>
                  <a:gd name="connsiteX52" fmla="*/ 2987040 w 4667794"/>
                  <a:gd name="connsiteY52" fmla="*/ 705395 h 3500846"/>
                  <a:gd name="connsiteX53" fmla="*/ 3074125 w 4667794"/>
                  <a:gd name="connsiteY53" fmla="*/ 679269 h 3500846"/>
                  <a:gd name="connsiteX54" fmla="*/ 3108960 w 4667794"/>
                  <a:gd name="connsiteY54" fmla="*/ 670560 h 3500846"/>
                  <a:gd name="connsiteX55" fmla="*/ 3135085 w 4667794"/>
                  <a:gd name="connsiteY55" fmla="*/ 661852 h 3500846"/>
                  <a:gd name="connsiteX56" fmla="*/ 3178628 w 4667794"/>
                  <a:gd name="connsiteY56" fmla="*/ 653143 h 3500846"/>
                  <a:gd name="connsiteX57" fmla="*/ 3248297 w 4667794"/>
                  <a:gd name="connsiteY57" fmla="*/ 627017 h 3500846"/>
                  <a:gd name="connsiteX58" fmla="*/ 3422468 w 4667794"/>
                  <a:gd name="connsiteY58" fmla="*/ 592183 h 3500846"/>
                  <a:gd name="connsiteX59" fmla="*/ 3457302 w 4667794"/>
                  <a:gd name="connsiteY59" fmla="*/ 583475 h 3500846"/>
                  <a:gd name="connsiteX60" fmla="*/ 3614057 w 4667794"/>
                  <a:gd name="connsiteY60" fmla="*/ 557349 h 3500846"/>
                  <a:gd name="connsiteX61" fmla="*/ 3796937 w 4667794"/>
                  <a:gd name="connsiteY61" fmla="*/ 566057 h 3500846"/>
                  <a:gd name="connsiteX62" fmla="*/ 3884022 w 4667794"/>
                  <a:gd name="connsiteY62" fmla="*/ 583475 h 3500846"/>
                  <a:gd name="connsiteX63" fmla="*/ 3936274 w 4667794"/>
                  <a:gd name="connsiteY63" fmla="*/ 600892 h 3500846"/>
                  <a:gd name="connsiteX64" fmla="*/ 4014651 w 4667794"/>
                  <a:gd name="connsiteY64" fmla="*/ 609600 h 3500846"/>
                  <a:gd name="connsiteX65" fmla="*/ 4093028 w 4667794"/>
                  <a:gd name="connsiteY65" fmla="*/ 635726 h 3500846"/>
                  <a:gd name="connsiteX66" fmla="*/ 4119154 w 4667794"/>
                  <a:gd name="connsiteY66" fmla="*/ 644435 h 3500846"/>
                  <a:gd name="connsiteX67" fmla="*/ 4232365 w 4667794"/>
                  <a:gd name="connsiteY67" fmla="*/ 679269 h 3500846"/>
                  <a:gd name="connsiteX68" fmla="*/ 4275908 w 4667794"/>
                  <a:gd name="connsiteY68" fmla="*/ 705395 h 3500846"/>
                  <a:gd name="connsiteX69" fmla="*/ 4310742 w 4667794"/>
                  <a:gd name="connsiteY69" fmla="*/ 731520 h 3500846"/>
                  <a:gd name="connsiteX70" fmla="*/ 4345577 w 4667794"/>
                  <a:gd name="connsiteY70" fmla="*/ 783772 h 3500846"/>
                  <a:gd name="connsiteX71" fmla="*/ 4362994 w 4667794"/>
                  <a:gd name="connsiteY71" fmla="*/ 809897 h 3500846"/>
                  <a:gd name="connsiteX72" fmla="*/ 4389120 w 4667794"/>
                  <a:gd name="connsiteY72" fmla="*/ 844732 h 3500846"/>
                  <a:gd name="connsiteX73" fmla="*/ 4415245 w 4667794"/>
                  <a:gd name="connsiteY73" fmla="*/ 896983 h 3500846"/>
                  <a:gd name="connsiteX74" fmla="*/ 4450080 w 4667794"/>
                  <a:gd name="connsiteY74" fmla="*/ 966652 h 3500846"/>
                  <a:gd name="connsiteX75" fmla="*/ 4467497 w 4667794"/>
                  <a:gd name="connsiteY75" fmla="*/ 1018903 h 3500846"/>
                  <a:gd name="connsiteX76" fmla="*/ 4519748 w 4667794"/>
                  <a:gd name="connsiteY76" fmla="*/ 1132115 h 3500846"/>
                  <a:gd name="connsiteX77" fmla="*/ 4545874 w 4667794"/>
                  <a:gd name="connsiteY77" fmla="*/ 1210492 h 3500846"/>
                  <a:gd name="connsiteX78" fmla="*/ 4563291 w 4667794"/>
                  <a:gd name="connsiteY78" fmla="*/ 1262743 h 3500846"/>
                  <a:gd name="connsiteX79" fmla="*/ 4606834 w 4667794"/>
                  <a:gd name="connsiteY79" fmla="*/ 1375955 h 3500846"/>
                  <a:gd name="connsiteX80" fmla="*/ 4624251 w 4667794"/>
                  <a:gd name="connsiteY80" fmla="*/ 1445623 h 3500846"/>
                  <a:gd name="connsiteX81" fmla="*/ 4632960 w 4667794"/>
                  <a:gd name="connsiteY81" fmla="*/ 1471749 h 3500846"/>
                  <a:gd name="connsiteX82" fmla="*/ 4650377 w 4667794"/>
                  <a:gd name="connsiteY82" fmla="*/ 1532709 h 3500846"/>
                  <a:gd name="connsiteX83" fmla="*/ 4659085 w 4667794"/>
                  <a:gd name="connsiteY83" fmla="*/ 1611086 h 3500846"/>
                  <a:gd name="connsiteX84" fmla="*/ 4667794 w 4667794"/>
                  <a:gd name="connsiteY84" fmla="*/ 1637212 h 3500846"/>
                  <a:gd name="connsiteX85" fmla="*/ 4659085 w 4667794"/>
                  <a:gd name="connsiteY85" fmla="*/ 1785257 h 3500846"/>
                  <a:gd name="connsiteX86" fmla="*/ 4650377 w 4667794"/>
                  <a:gd name="connsiteY86" fmla="*/ 1811383 h 3500846"/>
                  <a:gd name="connsiteX87" fmla="*/ 4624251 w 4667794"/>
                  <a:gd name="connsiteY87" fmla="*/ 1915886 h 3500846"/>
                  <a:gd name="connsiteX88" fmla="*/ 4606834 w 4667794"/>
                  <a:gd name="connsiteY88" fmla="*/ 1976846 h 3500846"/>
                  <a:gd name="connsiteX89" fmla="*/ 4580708 w 4667794"/>
                  <a:gd name="connsiteY89" fmla="*/ 2055223 h 3500846"/>
                  <a:gd name="connsiteX90" fmla="*/ 4563291 w 4667794"/>
                  <a:gd name="connsiteY90" fmla="*/ 2177143 h 3500846"/>
                  <a:gd name="connsiteX91" fmla="*/ 4528457 w 4667794"/>
                  <a:gd name="connsiteY91" fmla="*/ 2246812 h 3500846"/>
                  <a:gd name="connsiteX92" fmla="*/ 4511040 w 4667794"/>
                  <a:gd name="connsiteY92" fmla="*/ 2299063 h 3500846"/>
                  <a:gd name="connsiteX93" fmla="*/ 4484914 w 4667794"/>
                  <a:gd name="connsiteY93" fmla="*/ 2360023 h 3500846"/>
                  <a:gd name="connsiteX94" fmla="*/ 4458788 w 4667794"/>
                  <a:gd name="connsiteY94" fmla="*/ 2438400 h 3500846"/>
                  <a:gd name="connsiteX95" fmla="*/ 4432662 w 4667794"/>
                  <a:gd name="connsiteY95" fmla="*/ 2473235 h 3500846"/>
                  <a:gd name="connsiteX96" fmla="*/ 4380411 w 4667794"/>
                  <a:gd name="connsiteY96" fmla="*/ 2595155 h 3500846"/>
                  <a:gd name="connsiteX97" fmla="*/ 4354285 w 4667794"/>
                  <a:gd name="connsiteY97" fmla="*/ 2629989 h 3500846"/>
                  <a:gd name="connsiteX98" fmla="*/ 4328160 w 4667794"/>
                  <a:gd name="connsiteY98" fmla="*/ 2690949 h 3500846"/>
                  <a:gd name="connsiteX99" fmla="*/ 4275908 w 4667794"/>
                  <a:gd name="connsiteY99" fmla="*/ 2786743 h 3500846"/>
                  <a:gd name="connsiteX100" fmla="*/ 4249782 w 4667794"/>
                  <a:gd name="connsiteY100" fmla="*/ 2812869 h 3500846"/>
                  <a:gd name="connsiteX101" fmla="*/ 4180114 w 4667794"/>
                  <a:gd name="connsiteY101" fmla="*/ 2891246 h 3500846"/>
                  <a:gd name="connsiteX102" fmla="*/ 4145280 w 4667794"/>
                  <a:gd name="connsiteY102" fmla="*/ 2926080 h 3500846"/>
                  <a:gd name="connsiteX103" fmla="*/ 3988525 w 4667794"/>
                  <a:gd name="connsiteY103" fmla="*/ 3056709 h 3500846"/>
                  <a:gd name="connsiteX104" fmla="*/ 3918857 w 4667794"/>
                  <a:gd name="connsiteY104" fmla="*/ 3100252 h 3500846"/>
                  <a:gd name="connsiteX105" fmla="*/ 3840480 w 4667794"/>
                  <a:gd name="connsiteY105" fmla="*/ 3135086 h 3500846"/>
                  <a:gd name="connsiteX106" fmla="*/ 3753394 w 4667794"/>
                  <a:gd name="connsiteY106" fmla="*/ 3178629 h 3500846"/>
                  <a:gd name="connsiteX107" fmla="*/ 3666308 w 4667794"/>
                  <a:gd name="connsiteY107" fmla="*/ 3204755 h 3500846"/>
                  <a:gd name="connsiteX108" fmla="*/ 3483428 w 4667794"/>
                  <a:gd name="connsiteY108" fmla="*/ 3274423 h 3500846"/>
                  <a:gd name="connsiteX109" fmla="*/ 3344091 w 4667794"/>
                  <a:gd name="connsiteY109" fmla="*/ 3309257 h 3500846"/>
                  <a:gd name="connsiteX110" fmla="*/ 3248297 w 4667794"/>
                  <a:gd name="connsiteY110" fmla="*/ 3344092 h 3500846"/>
                  <a:gd name="connsiteX111" fmla="*/ 3204754 w 4667794"/>
                  <a:gd name="connsiteY111" fmla="*/ 3352800 h 3500846"/>
                  <a:gd name="connsiteX112" fmla="*/ 3021874 w 4667794"/>
                  <a:gd name="connsiteY112" fmla="*/ 3413760 h 3500846"/>
                  <a:gd name="connsiteX113" fmla="*/ 2882537 w 4667794"/>
                  <a:gd name="connsiteY113" fmla="*/ 3439886 h 3500846"/>
                  <a:gd name="connsiteX114" fmla="*/ 2786742 w 4667794"/>
                  <a:gd name="connsiteY114" fmla="*/ 3466012 h 3500846"/>
                  <a:gd name="connsiteX115" fmla="*/ 2638697 w 4667794"/>
                  <a:gd name="connsiteY115" fmla="*/ 3492137 h 3500846"/>
                  <a:gd name="connsiteX116" fmla="*/ 2481942 w 4667794"/>
                  <a:gd name="connsiteY116" fmla="*/ 3500846 h 3500846"/>
                  <a:gd name="connsiteX117" fmla="*/ 2151017 w 4667794"/>
                  <a:gd name="connsiteY117" fmla="*/ 3483429 h 3500846"/>
                  <a:gd name="connsiteX118" fmla="*/ 2098765 w 4667794"/>
                  <a:gd name="connsiteY118" fmla="*/ 3474720 h 3500846"/>
                  <a:gd name="connsiteX119" fmla="*/ 2002971 w 4667794"/>
                  <a:gd name="connsiteY119" fmla="*/ 3466012 h 3500846"/>
                  <a:gd name="connsiteX120" fmla="*/ 1811382 w 4667794"/>
                  <a:gd name="connsiteY120" fmla="*/ 3431177 h 3500846"/>
                  <a:gd name="connsiteX121" fmla="*/ 1741714 w 4667794"/>
                  <a:gd name="connsiteY121" fmla="*/ 3405052 h 3500846"/>
                  <a:gd name="connsiteX122" fmla="*/ 1637211 w 4667794"/>
                  <a:gd name="connsiteY122" fmla="*/ 3378926 h 3500846"/>
                  <a:gd name="connsiteX123" fmla="*/ 1576251 w 4667794"/>
                  <a:gd name="connsiteY123" fmla="*/ 3344092 h 3500846"/>
                  <a:gd name="connsiteX124" fmla="*/ 1550125 w 4667794"/>
                  <a:gd name="connsiteY124" fmla="*/ 3335383 h 3500846"/>
                  <a:gd name="connsiteX125" fmla="*/ 1489165 w 4667794"/>
                  <a:gd name="connsiteY125" fmla="*/ 3309257 h 3500846"/>
                  <a:gd name="connsiteX126" fmla="*/ 1384662 w 4667794"/>
                  <a:gd name="connsiteY126" fmla="*/ 3265715 h 3500846"/>
                  <a:gd name="connsiteX127" fmla="*/ 1123405 w 4667794"/>
                  <a:gd name="connsiteY127" fmla="*/ 3126377 h 3500846"/>
                  <a:gd name="connsiteX128" fmla="*/ 923108 w 4667794"/>
                  <a:gd name="connsiteY128" fmla="*/ 3021875 h 3500846"/>
                  <a:gd name="connsiteX129" fmla="*/ 757645 w 4667794"/>
                  <a:gd name="connsiteY129" fmla="*/ 2934789 h 3500846"/>
                  <a:gd name="connsiteX130" fmla="*/ 722811 w 4667794"/>
                  <a:gd name="connsiteY130" fmla="*/ 2908663 h 3500846"/>
                  <a:gd name="connsiteX131" fmla="*/ 679268 w 4667794"/>
                  <a:gd name="connsiteY131" fmla="*/ 2882537 h 3500846"/>
                  <a:gd name="connsiteX132" fmla="*/ 644434 w 4667794"/>
                  <a:gd name="connsiteY132" fmla="*/ 2856412 h 3500846"/>
                  <a:gd name="connsiteX133" fmla="*/ 539931 w 4667794"/>
                  <a:gd name="connsiteY133" fmla="*/ 2769326 h 3500846"/>
                  <a:gd name="connsiteX134" fmla="*/ 505097 w 4667794"/>
                  <a:gd name="connsiteY134" fmla="*/ 2725783 h 3500846"/>
                  <a:gd name="connsiteX135" fmla="*/ 426720 w 4667794"/>
                  <a:gd name="connsiteY135" fmla="*/ 2647406 h 3500846"/>
                  <a:gd name="connsiteX136" fmla="*/ 287382 w 4667794"/>
                  <a:gd name="connsiteY136" fmla="*/ 2490652 h 3500846"/>
                  <a:gd name="connsiteX137" fmla="*/ 261257 w 4667794"/>
                  <a:gd name="connsiteY137" fmla="*/ 2455817 h 3500846"/>
                  <a:gd name="connsiteX138" fmla="*/ 191588 w 4667794"/>
                  <a:gd name="connsiteY138" fmla="*/ 2325189 h 3500846"/>
                  <a:gd name="connsiteX139" fmla="*/ 121920 w 4667794"/>
                  <a:gd name="connsiteY139" fmla="*/ 2203269 h 3500846"/>
                  <a:gd name="connsiteX140" fmla="*/ 78377 w 4667794"/>
                  <a:gd name="connsiteY140" fmla="*/ 2055223 h 3500846"/>
                  <a:gd name="connsiteX141" fmla="*/ 69668 w 4667794"/>
                  <a:gd name="connsiteY141" fmla="*/ 1994263 h 3500846"/>
                  <a:gd name="connsiteX142" fmla="*/ 52251 w 4667794"/>
                  <a:gd name="connsiteY142" fmla="*/ 1759132 h 3500846"/>
                  <a:gd name="connsiteX143" fmla="*/ 69668 w 4667794"/>
                  <a:gd name="connsiteY143" fmla="*/ 1367246 h 3500846"/>
                  <a:gd name="connsiteX144" fmla="*/ 78377 w 4667794"/>
                  <a:gd name="connsiteY144" fmla="*/ 1341120 h 3500846"/>
                  <a:gd name="connsiteX145" fmla="*/ 87085 w 4667794"/>
                  <a:gd name="connsiteY145" fmla="*/ 1271452 h 3500846"/>
                  <a:gd name="connsiteX146" fmla="*/ 69668 w 4667794"/>
                  <a:gd name="connsiteY146" fmla="*/ 1079863 h 3500846"/>
                  <a:gd name="connsiteX147" fmla="*/ 52251 w 4667794"/>
                  <a:gd name="connsiteY147" fmla="*/ 1027612 h 3500846"/>
                  <a:gd name="connsiteX148" fmla="*/ 43542 w 4667794"/>
                  <a:gd name="connsiteY148" fmla="*/ 1001486 h 3500846"/>
                  <a:gd name="connsiteX149" fmla="*/ 26125 w 4667794"/>
                  <a:gd name="connsiteY149" fmla="*/ 975360 h 3500846"/>
                  <a:gd name="connsiteX150" fmla="*/ 0 w 4667794"/>
                  <a:gd name="connsiteY150" fmla="*/ 940526 h 350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4667794" h="3500846">
                    <a:moveTo>
                      <a:pt x="0" y="940526"/>
                    </a:moveTo>
                    <a:lnTo>
                      <a:pt x="0" y="940526"/>
                    </a:lnTo>
                    <a:cubicBezTo>
                      <a:pt x="26126" y="920206"/>
                      <a:pt x="53640" y="901555"/>
                      <a:pt x="78377" y="879566"/>
                    </a:cubicBezTo>
                    <a:cubicBezTo>
                      <a:pt x="105992" y="855020"/>
                      <a:pt x="127590" y="823872"/>
                      <a:pt x="156754" y="801189"/>
                    </a:cubicBezTo>
                    <a:lnTo>
                      <a:pt x="235131" y="740229"/>
                    </a:lnTo>
                    <a:cubicBezTo>
                      <a:pt x="249747" y="728745"/>
                      <a:pt x="263209" y="715706"/>
                      <a:pt x="278674" y="705395"/>
                    </a:cubicBezTo>
                    <a:cubicBezTo>
                      <a:pt x="287383" y="699589"/>
                      <a:pt x="296504" y="694359"/>
                      <a:pt x="304800" y="687977"/>
                    </a:cubicBezTo>
                    <a:cubicBezTo>
                      <a:pt x="334265" y="665311"/>
                      <a:pt x="358635" y="634934"/>
                      <a:pt x="391885" y="618309"/>
                    </a:cubicBezTo>
                    <a:cubicBezTo>
                      <a:pt x="449814" y="589345"/>
                      <a:pt x="405029" y="614334"/>
                      <a:pt x="461554" y="574766"/>
                    </a:cubicBezTo>
                    <a:cubicBezTo>
                      <a:pt x="588919" y="485610"/>
                      <a:pt x="426388" y="605494"/>
                      <a:pt x="583474" y="487680"/>
                    </a:cubicBezTo>
                    <a:cubicBezTo>
                      <a:pt x="595085" y="478972"/>
                      <a:pt x="607158" y="470847"/>
                      <a:pt x="618308" y="461555"/>
                    </a:cubicBezTo>
                    <a:cubicBezTo>
                      <a:pt x="635725" y="447041"/>
                      <a:pt x="653708" y="433179"/>
                      <a:pt x="670560" y="418012"/>
                    </a:cubicBezTo>
                    <a:cubicBezTo>
                      <a:pt x="682766" y="407027"/>
                      <a:pt x="692858" y="393784"/>
                      <a:pt x="705394" y="383177"/>
                    </a:cubicBezTo>
                    <a:cubicBezTo>
                      <a:pt x="730660" y="361798"/>
                      <a:pt x="757537" y="342397"/>
                      <a:pt x="783771" y="322217"/>
                    </a:cubicBezTo>
                    <a:cubicBezTo>
                      <a:pt x="795275" y="313368"/>
                      <a:pt x="808342" y="306355"/>
                      <a:pt x="818605" y="296092"/>
                    </a:cubicBezTo>
                    <a:cubicBezTo>
                      <a:pt x="836022" y="278675"/>
                      <a:pt x="848826" y="254856"/>
                      <a:pt x="870857" y="243840"/>
                    </a:cubicBezTo>
                    <a:cubicBezTo>
                      <a:pt x="882468" y="238034"/>
                      <a:pt x="894420" y="232864"/>
                      <a:pt x="905691" y="226423"/>
                    </a:cubicBezTo>
                    <a:cubicBezTo>
                      <a:pt x="914778" y="221230"/>
                      <a:pt x="922776" y="214280"/>
                      <a:pt x="931817" y="209006"/>
                    </a:cubicBezTo>
                    <a:cubicBezTo>
                      <a:pt x="957633" y="193947"/>
                      <a:pt x="983463" y="178829"/>
                      <a:pt x="1010194" y="165463"/>
                    </a:cubicBezTo>
                    <a:cubicBezTo>
                      <a:pt x="1131455" y="104832"/>
                      <a:pt x="1010822" y="170437"/>
                      <a:pt x="1132114" y="121920"/>
                    </a:cubicBezTo>
                    <a:cubicBezTo>
                      <a:pt x="1329429" y="42994"/>
                      <a:pt x="1132496" y="117375"/>
                      <a:pt x="1227908" y="69669"/>
                    </a:cubicBezTo>
                    <a:cubicBezTo>
                      <a:pt x="1247682" y="59782"/>
                      <a:pt x="1267895" y="50534"/>
                      <a:pt x="1288868" y="43543"/>
                    </a:cubicBezTo>
                    <a:cubicBezTo>
                      <a:pt x="1311577" y="35973"/>
                      <a:pt x="1335408" y="32294"/>
                      <a:pt x="1358537" y="26126"/>
                    </a:cubicBezTo>
                    <a:cubicBezTo>
                      <a:pt x="1451323" y="1383"/>
                      <a:pt x="1386246" y="14251"/>
                      <a:pt x="1471748" y="0"/>
                    </a:cubicBezTo>
                    <a:cubicBezTo>
                      <a:pt x="1605616" y="9562"/>
                      <a:pt x="1608339" y="3760"/>
                      <a:pt x="1750422" y="43543"/>
                    </a:cubicBezTo>
                    <a:cubicBezTo>
                      <a:pt x="1771711" y="49504"/>
                      <a:pt x="1790605" y="62114"/>
                      <a:pt x="1811382" y="69669"/>
                    </a:cubicBezTo>
                    <a:cubicBezTo>
                      <a:pt x="1822630" y="73759"/>
                      <a:pt x="1834969" y="74287"/>
                      <a:pt x="1846217" y="78377"/>
                    </a:cubicBezTo>
                    <a:cubicBezTo>
                      <a:pt x="1894191" y="95822"/>
                      <a:pt x="1924502" y="112485"/>
                      <a:pt x="1968137" y="139337"/>
                    </a:cubicBezTo>
                    <a:cubicBezTo>
                      <a:pt x="1985965" y="150308"/>
                      <a:pt x="2004187" y="160916"/>
                      <a:pt x="2020388" y="174172"/>
                    </a:cubicBezTo>
                    <a:cubicBezTo>
                      <a:pt x="2217614" y="335541"/>
                      <a:pt x="1946099" y="129342"/>
                      <a:pt x="2098765" y="243840"/>
                    </a:cubicBezTo>
                    <a:lnTo>
                      <a:pt x="2133600" y="313509"/>
                    </a:lnTo>
                    <a:cubicBezTo>
                      <a:pt x="2139406" y="325120"/>
                      <a:pt x="2146912" y="336027"/>
                      <a:pt x="2151017" y="348343"/>
                    </a:cubicBezTo>
                    <a:cubicBezTo>
                      <a:pt x="2156823" y="365760"/>
                      <a:pt x="2160978" y="383818"/>
                      <a:pt x="2168434" y="400595"/>
                    </a:cubicBezTo>
                    <a:cubicBezTo>
                      <a:pt x="2172685" y="410159"/>
                      <a:pt x="2181170" y="417359"/>
                      <a:pt x="2185851" y="426720"/>
                    </a:cubicBezTo>
                    <a:cubicBezTo>
                      <a:pt x="2192842" y="440702"/>
                      <a:pt x="2196919" y="455978"/>
                      <a:pt x="2203268" y="470263"/>
                    </a:cubicBezTo>
                    <a:cubicBezTo>
                      <a:pt x="2208540" y="482126"/>
                      <a:pt x="2214244" y="493826"/>
                      <a:pt x="2220685" y="505097"/>
                    </a:cubicBezTo>
                    <a:cubicBezTo>
                      <a:pt x="2225878" y="514184"/>
                      <a:pt x="2233421" y="521862"/>
                      <a:pt x="2238102" y="531223"/>
                    </a:cubicBezTo>
                    <a:cubicBezTo>
                      <a:pt x="2242207" y="539434"/>
                      <a:pt x="2243195" y="548911"/>
                      <a:pt x="2246811" y="557349"/>
                    </a:cubicBezTo>
                    <a:cubicBezTo>
                      <a:pt x="2251925" y="569281"/>
                      <a:pt x="2259114" y="580251"/>
                      <a:pt x="2264228" y="592183"/>
                    </a:cubicBezTo>
                    <a:cubicBezTo>
                      <a:pt x="2286837" y="644937"/>
                      <a:pt x="2254276" y="589695"/>
                      <a:pt x="2290354" y="661852"/>
                    </a:cubicBezTo>
                    <a:cubicBezTo>
                      <a:pt x="2295035" y="671213"/>
                      <a:pt x="2303090" y="678616"/>
                      <a:pt x="2307771" y="687977"/>
                    </a:cubicBezTo>
                    <a:cubicBezTo>
                      <a:pt x="2314762" y="701959"/>
                      <a:pt x="2319699" y="716883"/>
                      <a:pt x="2325188" y="731520"/>
                    </a:cubicBezTo>
                    <a:cubicBezTo>
                      <a:pt x="2333687" y="754184"/>
                      <a:pt x="2332818" y="765276"/>
                      <a:pt x="2351314" y="783772"/>
                    </a:cubicBezTo>
                    <a:cubicBezTo>
                      <a:pt x="2364457" y="796915"/>
                      <a:pt x="2379095" y="808755"/>
                      <a:pt x="2394857" y="818606"/>
                    </a:cubicBezTo>
                    <a:cubicBezTo>
                      <a:pt x="2403190" y="823814"/>
                      <a:pt x="2450081" y="834589"/>
                      <a:pt x="2455817" y="836023"/>
                    </a:cubicBezTo>
                    <a:cubicBezTo>
                      <a:pt x="2513874" y="833120"/>
                      <a:pt x="2572077" y="832351"/>
                      <a:pt x="2629988" y="827315"/>
                    </a:cubicBezTo>
                    <a:cubicBezTo>
                      <a:pt x="2639133" y="826520"/>
                      <a:pt x="2647519" y="821829"/>
                      <a:pt x="2656114" y="818606"/>
                    </a:cubicBezTo>
                    <a:cubicBezTo>
                      <a:pt x="2670751" y="813117"/>
                      <a:pt x="2684827" y="806132"/>
                      <a:pt x="2699657" y="801189"/>
                    </a:cubicBezTo>
                    <a:cubicBezTo>
                      <a:pt x="2719706" y="794506"/>
                      <a:pt x="2740229" y="789333"/>
                      <a:pt x="2760617" y="783772"/>
                    </a:cubicBezTo>
                    <a:cubicBezTo>
                      <a:pt x="2772164" y="780623"/>
                      <a:pt x="2783675" y="777204"/>
                      <a:pt x="2795451" y="775063"/>
                    </a:cubicBezTo>
                    <a:cubicBezTo>
                      <a:pt x="2835353" y="767808"/>
                      <a:pt x="2855685" y="769499"/>
                      <a:pt x="2891245" y="757646"/>
                    </a:cubicBezTo>
                    <a:cubicBezTo>
                      <a:pt x="2906075" y="752703"/>
                      <a:pt x="2921064" y="747715"/>
                      <a:pt x="2934788" y="740229"/>
                    </a:cubicBezTo>
                    <a:cubicBezTo>
                      <a:pt x="2953165" y="730205"/>
                      <a:pt x="2967181" y="712015"/>
                      <a:pt x="2987040" y="705395"/>
                    </a:cubicBezTo>
                    <a:cubicBezTo>
                      <a:pt x="3026722" y="692167"/>
                      <a:pt x="3019283" y="694226"/>
                      <a:pt x="3074125" y="679269"/>
                    </a:cubicBezTo>
                    <a:cubicBezTo>
                      <a:pt x="3085672" y="676120"/>
                      <a:pt x="3097451" y="673848"/>
                      <a:pt x="3108960" y="670560"/>
                    </a:cubicBezTo>
                    <a:cubicBezTo>
                      <a:pt x="3117786" y="668038"/>
                      <a:pt x="3126180" y="664078"/>
                      <a:pt x="3135085" y="661852"/>
                    </a:cubicBezTo>
                    <a:cubicBezTo>
                      <a:pt x="3149445" y="658262"/>
                      <a:pt x="3164268" y="656733"/>
                      <a:pt x="3178628" y="653143"/>
                    </a:cubicBezTo>
                    <a:cubicBezTo>
                      <a:pt x="3215633" y="643892"/>
                      <a:pt x="3202960" y="640352"/>
                      <a:pt x="3248297" y="627017"/>
                    </a:cubicBezTo>
                    <a:cubicBezTo>
                      <a:pt x="3384269" y="587025"/>
                      <a:pt x="3311458" y="610685"/>
                      <a:pt x="3422468" y="592183"/>
                    </a:cubicBezTo>
                    <a:cubicBezTo>
                      <a:pt x="3434274" y="590215"/>
                      <a:pt x="3445496" y="585443"/>
                      <a:pt x="3457302" y="583475"/>
                    </a:cubicBezTo>
                    <a:cubicBezTo>
                      <a:pt x="3629293" y="554809"/>
                      <a:pt x="3528251" y="578799"/>
                      <a:pt x="3614057" y="557349"/>
                    </a:cubicBezTo>
                    <a:cubicBezTo>
                      <a:pt x="3675017" y="560252"/>
                      <a:pt x="3736075" y="561549"/>
                      <a:pt x="3796937" y="566057"/>
                    </a:cubicBezTo>
                    <a:cubicBezTo>
                      <a:pt x="3817777" y="567601"/>
                      <a:pt x="3861352" y="576674"/>
                      <a:pt x="3884022" y="583475"/>
                    </a:cubicBezTo>
                    <a:cubicBezTo>
                      <a:pt x="3901607" y="588751"/>
                      <a:pt x="3918271" y="597292"/>
                      <a:pt x="3936274" y="600892"/>
                    </a:cubicBezTo>
                    <a:cubicBezTo>
                      <a:pt x="3962050" y="606047"/>
                      <a:pt x="3988525" y="606697"/>
                      <a:pt x="4014651" y="609600"/>
                    </a:cubicBezTo>
                    <a:lnTo>
                      <a:pt x="4093028" y="635726"/>
                    </a:lnTo>
                    <a:cubicBezTo>
                      <a:pt x="4101737" y="638629"/>
                      <a:pt x="4110327" y="641913"/>
                      <a:pt x="4119154" y="644435"/>
                    </a:cubicBezTo>
                    <a:cubicBezTo>
                      <a:pt x="4127153" y="646720"/>
                      <a:pt x="4221410" y="672696"/>
                      <a:pt x="4232365" y="679269"/>
                    </a:cubicBezTo>
                    <a:cubicBezTo>
                      <a:pt x="4246879" y="687978"/>
                      <a:pt x="4261824" y="696006"/>
                      <a:pt x="4275908" y="705395"/>
                    </a:cubicBezTo>
                    <a:cubicBezTo>
                      <a:pt x="4287984" y="713446"/>
                      <a:pt x="4301099" y="720672"/>
                      <a:pt x="4310742" y="731520"/>
                    </a:cubicBezTo>
                    <a:cubicBezTo>
                      <a:pt x="4324649" y="747166"/>
                      <a:pt x="4333965" y="766355"/>
                      <a:pt x="4345577" y="783772"/>
                    </a:cubicBezTo>
                    <a:cubicBezTo>
                      <a:pt x="4351383" y="792480"/>
                      <a:pt x="4356714" y="801524"/>
                      <a:pt x="4362994" y="809897"/>
                    </a:cubicBezTo>
                    <a:cubicBezTo>
                      <a:pt x="4371703" y="821509"/>
                      <a:pt x="4381652" y="832286"/>
                      <a:pt x="4389120" y="844732"/>
                    </a:cubicBezTo>
                    <a:cubicBezTo>
                      <a:pt x="4399139" y="861430"/>
                      <a:pt x="4407756" y="879008"/>
                      <a:pt x="4415245" y="896983"/>
                    </a:cubicBezTo>
                    <a:cubicBezTo>
                      <a:pt x="4443835" y="965600"/>
                      <a:pt x="4415844" y="932418"/>
                      <a:pt x="4450080" y="966652"/>
                    </a:cubicBezTo>
                    <a:cubicBezTo>
                      <a:pt x="4455886" y="984069"/>
                      <a:pt x="4460436" y="1001956"/>
                      <a:pt x="4467497" y="1018903"/>
                    </a:cubicBezTo>
                    <a:cubicBezTo>
                      <a:pt x="4520316" y="1145672"/>
                      <a:pt x="4466869" y="991107"/>
                      <a:pt x="4519748" y="1132115"/>
                    </a:cubicBezTo>
                    <a:cubicBezTo>
                      <a:pt x="4529418" y="1157900"/>
                      <a:pt x="4537165" y="1184366"/>
                      <a:pt x="4545874" y="1210492"/>
                    </a:cubicBezTo>
                    <a:cubicBezTo>
                      <a:pt x="4551680" y="1227909"/>
                      <a:pt x="4556473" y="1245697"/>
                      <a:pt x="4563291" y="1262743"/>
                    </a:cubicBezTo>
                    <a:cubicBezTo>
                      <a:pt x="4565337" y="1267857"/>
                      <a:pt x="4598866" y="1346739"/>
                      <a:pt x="4606834" y="1375955"/>
                    </a:cubicBezTo>
                    <a:cubicBezTo>
                      <a:pt x="4613132" y="1399049"/>
                      <a:pt x="4617953" y="1422529"/>
                      <a:pt x="4624251" y="1445623"/>
                    </a:cubicBezTo>
                    <a:cubicBezTo>
                      <a:pt x="4626666" y="1454479"/>
                      <a:pt x="4630322" y="1462956"/>
                      <a:pt x="4632960" y="1471749"/>
                    </a:cubicBezTo>
                    <a:cubicBezTo>
                      <a:pt x="4639033" y="1491991"/>
                      <a:pt x="4644571" y="1512389"/>
                      <a:pt x="4650377" y="1532709"/>
                    </a:cubicBezTo>
                    <a:cubicBezTo>
                      <a:pt x="4653280" y="1558835"/>
                      <a:pt x="4654764" y="1585157"/>
                      <a:pt x="4659085" y="1611086"/>
                    </a:cubicBezTo>
                    <a:cubicBezTo>
                      <a:pt x="4660594" y="1620141"/>
                      <a:pt x="4667794" y="1628032"/>
                      <a:pt x="4667794" y="1637212"/>
                    </a:cubicBezTo>
                    <a:cubicBezTo>
                      <a:pt x="4667794" y="1686646"/>
                      <a:pt x="4664004" y="1736069"/>
                      <a:pt x="4659085" y="1785257"/>
                    </a:cubicBezTo>
                    <a:cubicBezTo>
                      <a:pt x="4658172" y="1794391"/>
                      <a:pt x="4652742" y="1802513"/>
                      <a:pt x="4650377" y="1811383"/>
                    </a:cubicBezTo>
                    <a:cubicBezTo>
                      <a:pt x="4641125" y="1846077"/>
                      <a:pt x="4635606" y="1881822"/>
                      <a:pt x="4624251" y="1915886"/>
                    </a:cubicBezTo>
                    <a:cubicBezTo>
                      <a:pt x="4586603" y="2028824"/>
                      <a:pt x="4650564" y="1834724"/>
                      <a:pt x="4606834" y="1976846"/>
                    </a:cubicBezTo>
                    <a:cubicBezTo>
                      <a:pt x="4598735" y="2003167"/>
                      <a:pt x="4589417" y="2029097"/>
                      <a:pt x="4580708" y="2055223"/>
                    </a:cubicBezTo>
                    <a:cubicBezTo>
                      <a:pt x="4574902" y="2095863"/>
                      <a:pt x="4574093" y="2137537"/>
                      <a:pt x="4563291" y="2177143"/>
                    </a:cubicBezTo>
                    <a:cubicBezTo>
                      <a:pt x="4556459" y="2202192"/>
                      <a:pt x="4538685" y="2222947"/>
                      <a:pt x="4528457" y="2246812"/>
                    </a:cubicBezTo>
                    <a:cubicBezTo>
                      <a:pt x="4521225" y="2263687"/>
                      <a:pt x="4517631" y="2281928"/>
                      <a:pt x="4511040" y="2299063"/>
                    </a:cubicBezTo>
                    <a:cubicBezTo>
                      <a:pt x="4503104" y="2319697"/>
                      <a:pt x="4492677" y="2339323"/>
                      <a:pt x="4484914" y="2360023"/>
                    </a:cubicBezTo>
                    <a:cubicBezTo>
                      <a:pt x="4475244" y="2385808"/>
                      <a:pt x="4470328" y="2413396"/>
                      <a:pt x="4458788" y="2438400"/>
                    </a:cubicBezTo>
                    <a:cubicBezTo>
                      <a:pt x="4452706" y="2451579"/>
                      <a:pt x="4439153" y="2460253"/>
                      <a:pt x="4432662" y="2473235"/>
                    </a:cubicBezTo>
                    <a:cubicBezTo>
                      <a:pt x="4412889" y="2512782"/>
                      <a:pt x="4406940" y="2559783"/>
                      <a:pt x="4380411" y="2595155"/>
                    </a:cubicBezTo>
                    <a:cubicBezTo>
                      <a:pt x="4371702" y="2606766"/>
                      <a:pt x="4361235" y="2617247"/>
                      <a:pt x="4354285" y="2629989"/>
                    </a:cubicBezTo>
                    <a:cubicBezTo>
                      <a:pt x="4343699" y="2649397"/>
                      <a:pt x="4337308" y="2670823"/>
                      <a:pt x="4328160" y="2690949"/>
                    </a:cubicBezTo>
                    <a:cubicBezTo>
                      <a:pt x="4317049" y="2715394"/>
                      <a:pt x="4286944" y="2770977"/>
                      <a:pt x="4275908" y="2786743"/>
                    </a:cubicBezTo>
                    <a:cubicBezTo>
                      <a:pt x="4268845" y="2796833"/>
                      <a:pt x="4257171" y="2803016"/>
                      <a:pt x="4249782" y="2812869"/>
                    </a:cubicBezTo>
                    <a:cubicBezTo>
                      <a:pt x="4176990" y="2909927"/>
                      <a:pt x="4277620" y="2804575"/>
                      <a:pt x="4180114" y="2891246"/>
                    </a:cubicBezTo>
                    <a:cubicBezTo>
                      <a:pt x="4167841" y="2902155"/>
                      <a:pt x="4157346" y="2914942"/>
                      <a:pt x="4145280" y="2926080"/>
                    </a:cubicBezTo>
                    <a:cubicBezTo>
                      <a:pt x="4095443" y="2972083"/>
                      <a:pt x="4044047" y="3017517"/>
                      <a:pt x="3988525" y="3056709"/>
                    </a:cubicBezTo>
                    <a:cubicBezTo>
                      <a:pt x="3966152" y="3072502"/>
                      <a:pt x="3943060" y="3087439"/>
                      <a:pt x="3918857" y="3100252"/>
                    </a:cubicBezTo>
                    <a:cubicBezTo>
                      <a:pt x="3893590" y="3113629"/>
                      <a:pt x="3866318" y="3122847"/>
                      <a:pt x="3840480" y="3135086"/>
                    </a:cubicBezTo>
                    <a:cubicBezTo>
                      <a:pt x="3811149" y="3148980"/>
                      <a:pt x="3783528" y="3166575"/>
                      <a:pt x="3753394" y="3178629"/>
                    </a:cubicBezTo>
                    <a:cubicBezTo>
                      <a:pt x="3725255" y="3189885"/>
                      <a:pt x="3694870" y="3194620"/>
                      <a:pt x="3666308" y="3204755"/>
                    </a:cubicBezTo>
                    <a:cubicBezTo>
                      <a:pt x="3604830" y="3226570"/>
                      <a:pt x="3547395" y="3261629"/>
                      <a:pt x="3483428" y="3274423"/>
                    </a:cubicBezTo>
                    <a:cubicBezTo>
                      <a:pt x="3426368" y="3285835"/>
                      <a:pt x="3411819" y="3287707"/>
                      <a:pt x="3344091" y="3309257"/>
                    </a:cubicBezTo>
                    <a:cubicBezTo>
                      <a:pt x="3311713" y="3319559"/>
                      <a:pt x="3280727" y="3333957"/>
                      <a:pt x="3248297" y="3344092"/>
                    </a:cubicBezTo>
                    <a:cubicBezTo>
                      <a:pt x="3234169" y="3348507"/>
                      <a:pt x="3218882" y="3348385"/>
                      <a:pt x="3204754" y="3352800"/>
                    </a:cubicBezTo>
                    <a:cubicBezTo>
                      <a:pt x="3116304" y="3380441"/>
                      <a:pt x="3109548" y="3393528"/>
                      <a:pt x="3021874" y="3413760"/>
                    </a:cubicBezTo>
                    <a:cubicBezTo>
                      <a:pt x="2975829" y="3424386"/>
                      <a:pt x="2928127" y="3427452"/>
                      <a:pt x="2882537" y="3439886"/>
                    </a:cubicBezTo>
                    <a:cubicBezTo>
                      <a:pt x="2850605" y="3448595"/>
                      <a:pt x="2818852" y="3457985"/>
                      <a:pt x="2786742" y="3466012"/>
                    </a:cubicBezTo>
                    <a:cubicBezTo>
                      <a:pt x="2756818" y="3473493"/>
                      <a:pt x="2642686" y="3491738"/>
                      <a:pt x="2638697" y="3492137"/>
                    </a:cubicBezTo>
                    <a:cubicBezTo>
                      <a:pt x="2586624" y="3497344"/>
                      <a:pt x="2534194" y="3497943"/>
                      <a:pt x="2481942" y="3500846"/>
                    </a:cubicBezTo>
                    <a:cubicBezTo>
                      <a:pt x="2381119" y="3496813"/>
                      <a:pt x="2256022" y="3494482"/>
                      <a:pt x="2151017" y="3483429"/>
                    </a:cubicBezTo>
                    <a:cubicBezTo>
                      <a:pt x="2133456" y="3481581"/>
                      <a:pt x="2116302" y="3476783"/>
                      <a:pt x="2098765" y="3474720"/>
                    </a:cubicBezTo>
                    <a:cubicBezTo>
                      <a:pt x="2066922" y="3470974"/>
                      <a:pt x="2034902" y="3468915"/>
                      <a:pt x="2002971" y="3466012"/>
                    </a:cubicBezTo>
                    <a:cubicBezTo>
                      <a:pt x="1939108" y="3454400"/>
                      <a:pt x="1874594" y="3445926"/>
                      <a:pt x="1811382" y="3431177"/>
                    </a:cubicBezTo>
                    <a:cubicBezTo>
                      <a:pt x="1787229" y="3425541"/>
                      <a:pt x="1765470" y="3412179"/>
                      <a:pt x="1741714" y="3405052"/>
                    </a:cubicBezTo>
                    <a:cubicBezTo>
                      <a:pt x="1707322" y="3394734"/>
                      <a:pt x="1637211" y="3378926"/>
                      <a:pt x="1637211" y="3378926"/>
                    </a:cubicBezTo>
                    <a:cubicBezTo>
                      <a:pt x="1616891" y="3367315"/>
                      <a:pt x="1597184" y="3354558"/>
                      <a:pt x="1576251" y="3344092"/>
                    </a:cubicBezTo>
                    <a:cubicBezTo>
                      <a:pt x="1568040" y="3339987"/>
                      <a:pt x="1558648" y="3338792"/>
                      <a:pt x="1550125" y="3335383"/>
                    </a:cubicBezTo>
                    <a:cubicBezTo>
                      <a:pt x="1529599" y="3327172"/>
                      <a:pt x="1509198" y="3318606"/>
                      <a:pt x="1489165" y="3309257"/>
                    </a:cubicBezTo>
                    <a:cubicBezTo>
                      <a:pt x="1396429" y="3265980"/>
                      <a:pt x="1450385" y="3282144"/>
                      <a:pt x="1384662" y="3265715"/>
                    </a:cubicBezTo>
                    <a:cubicBezTo>
                      <a:pt x="1236076" y="3166656"/>
                      <a:pt x="1364804" y="3247076"/>
                      <a:pt x="1123405" y="3126377"/>
                    </a:cubicBezTo>
                    <a:cubicBezTo>
                      <a:pt x="1056049" y="3092699"/>
                      <a:pt x="990077" y="3056316"/>
                      <a:pt x="923108" y="3021875"/>
                    </a:cubicBezTo>
                    <a:cubicBezTo>
                      <a:pt x="866898" y="2992967"/>
                      <a:pt x="810821" y="2968628"/>
                      <a:pt x="757645" y="2934789"/>
                    </a:cubicBezTo>
                    <a:cubicBezTo>
                      <a:pt x="745400" y="2926997"/>
                      <a:pt x="734888" y="2916714"/>
                      <a:pt x="722811" y="2908663"/>
                    </a:cubicBezTo>
                    <a:cubicBezTo>
                      <a:pt x="708727" y="2899274"/>
                      <a:pt x="693352" y="2891926"/>
                      <a:pt x="679268" y="2882537"/>
                    </a:cubicBezTo>
                    <a:cubicBezTo>
                      <a:pt x="667192" y="2874486"/>
                      <a:pt x="656245" y="2864848"/>
                      <a:pt x="644434" y="2856412"/>
                    </a:cubicBezTo>
                    <a:cubicBezTo>
                      <a:pt x="590059" y="2817574"/>
                      <a:pt x="623339" y="2852735"/>
                      <a:pt x="539931" y="2769326"/>
                    </a:cubicBezTo>
                    <a:cubicBezTo>
                      <a:pt x="526788" y="2756183"/>
                      <a:pt x="517745" y="2739404"/>
                      <a:pt x="505097" y="2725783"/>
                    </a:cubicBezTo>
                    <a:cubicBezTo>
                      <a:pt x="479956" y="2698708"/>
                      <a:pt x="452846" y="2673532"/>
                      <a:pt x="426720" y="2647406"/>
                    </a:cubicBezTo>
                    <a:cubicBezTo>
                      <a:pt x="371704" y="2592390"/>
                      <a:pt x="344981" y="2567454"/>
                      <a:pt x="287382" y="2490652"/>
                    </a:cubicBezTo>
                    <a:cubicBezTo>
                      <a:pt x="278674" y="2479040"/>
                      <a:pt x="269049" y="2468062"/>
                      <a:pt x="261257" y="2455817"/>
                    </a:cubicBezTo>
                    <a:cubicBezTo>
                      <a:pt x="220082" y="2391113"/>
                      <a:pt x="229631" y="2394935"/>
                      <a:pt x="191588" y="2325189"/>
                    </a:cubicBezTo>
                    <a:cubicBezTo>
                      <a:pt x="169174" y="2284097"/>
                      <a:pt x="136722" y="2247674"/>
                      <a:pt x="121920" y="2203269"/>
                    </a:cubicBezTo>
                    <a:cubicBezTo>
                      <a:pt x="103573" y="2148231"/>
                      <a:pt x="92138" y="2117148"/>
                      <a:pt x="78377" y="2055223"/>
                    </a:cubicBezTo>
                    <a:cubicBezTo>
                      <a:pt x="73924" y="2035185"/>
                      <a:pt x="72214" y="2014631"/>
                      <a:pt x="69668" y="1994263"/>
                    </a:cubicBezTo>
                    <a:cubicBezTo>
                      <a:pt x="56631" y="1889965"/>
                      <a:pt x="59532" y="1890189"/>
                      <a:pt x="52251" y="1759132"/>
                    </a:cubicBezTo>
                    <a:cubicBezTo>
                      <a:pt x="53577" y="1708758"/>
                      <a:pt x="46829" y="1481440"/>
                      <a:pt x="69668" y="1367246"/>
                    </a:cubicBezTo>
                    <a:cubicBezTo>
                      <a:pt x="71468" y="1358244"/>
                      <a:pt x="75474" y="1349829"/>
                      <a:pt x="78377" y="1341120"/>
                    </a:cubicBezTo>
                    <a:cubicBezTo>
                      <a:pt x="81280" y="1317897"/>
                      <a:pt x="87085" y="1294855"/>
                      <a:pt x="87085" y="1271452"/>
                    </a:cubicBezTo>
                    <a:cubicBezTo>
                      <a:pt x="87085" y="1225688"/>
                      <a:pt x="85205" y="1136830"/>
                      <a:pt x="69668" y="1079863"/>
                    </a:cubicBezTo>
                    <a:cubicBezTo>
                      <a:pt x="64837" y="1062151"/>
                      <a:pt x="58057" y="1045029"/>
                      <a:pt x="52251" y="1027612"/>
                    </a:cubicBezTo>
                    <a:cubicBezTo>
                      <a:pt x="49348" y="1018903"/>
                      <a:pt x="48634" y="1009124"/>
                      <a:pt x="43542" y="1001486"/>
                    </a:cubicBezTo>
                    <a:lnTo>
                      <a:pt x="26125" y="975360"/>
                    </a:lnTo>
                    <a:cubicBezTo>
                      <a:pt x="15364" y="943077"/>
                      <a:pt x="4354" y="946332"/>
                      <a:pt x="0" y="940526"/>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6F677ED-B541-4811-C3B1-5B0DAA6BEABC}"/>
                  </a:ext>
                </a:extLst>
              </p:cNvPr>
              <p:cNvSpPr/>
              <p:nvPr/>
            </p:nvSpPr>
            <p:spPr>
              <a:xfrm>
                <a:off x="2121771" y="2732678"/>
                <a:ext cx="426720" cy="42672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t>
                </a:r>
              </a:p>
            </p:txBody>
          </p:sp>
          <p:sp>
            <p:nvSpPr>
              <p:cNvPr id="9" name="Oval 8">
                <a:extLst>
                  <a:ext uri="{FF2B5EF4-FFF2-40B4-BE49-F238E27FC236}">
                    <a16:creationId xmlns:a16="http://schemas.microsoft.com/office/drawing/2014/main" id="{79DC430E-50CA-A874-7331-3923F37565BA}"/>
                  </a:ext>
                </a:extLst>
              </p:cNvPr>
              <p:cNvSpPr/>
              <p:nvPr/>
            </p:nvSpPr>
            <p:spPr>
              <a:xfrm>
                <a:off x="4694467" y="2211435"/>
                <a:ext cx="426720" cy="42672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Oval 9">
                <a:extLst>
                  <a:ext uri="{FF2B5EF4-FFF2-40B4-BE49-F238E27FC236}">
                    <a16:creationId xmlns:a16="http://schemas.microsoft.com/office/drawing/2014/main" id="{5F57CE1A-349F-F7AD-A81B-686B2DBBD3AF}"/>
                  </a:ext>
                </a:extLst>
              </p:cNvPr>
              <p:cNvSpPr/>
              <p:nvPr/>
            </p:nvSpPr>
            <p:spPr>
              <a:xfrm>
                <a:off x="4890251" y="2889198"/>
                <a:ext cx="426720" cy="42672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u</a:t>
                </a:r>
              </a:p>
            </p:txBody>
          </p:sp>
          <p:sp>
            <p:nvSpPr>
              <p:cNvPr id="11" name="Oval 10">
                <a:extLst>
                  <a:ext uri="{FF2B5EF4-FFF2-40B4-BE49-F238E27FC236}">
                    <a16:creationId xmlns:a16="http://schemas.microsoft.com/office/drawing/2014/main" id="{51C53460-A1F6-924A-2ADF-45E1D6BF600B}"/>
                  </a:ext>
                </a:extLst>
              </p:cNvPr>
              <p:cNvSpPr/>
              <p:nvPr/>
            </p:nvSpPr>
            <p:spPr>
              <a:xfrm>
                <a:off x="4303491" y="3462931"/>
                <a:ext cx="426720" cy="42672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 name="Oval 13">
                <a:extLst>
                  <a:ext uri="{FF2B5EF4-FFF2-40B4-BE49-F238E27FC236}">
                    <a16:creationId xmlns:a16="http://schemas.microsoft.com/office/drawing/2014/main" id="{0869894D-952B-062F-EC82-C12F26C50E4F}"/>
                  </a:ext>
                </a:extLst>
              </p:cNvPr>
              <p:cNvSpPr/>
              <p:nvPr/>
            </p:nvSpPr>
            <p:spPr>
              <a:xfrm>
                <a:off x="6591177" y="1771696"/>
                <a:ext cx="426720" cy="426720"/>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Oval 14">
                <a:extLst>
                  <a:ext uri="{FF2B5EF4-FFF2-40B4-BE49-F238E27FC236}">
                    <a16:creationId xmlns:a16="http://schemas.microsoft.com/office/drawing/2014/main" id="{7645C823-B9E0-CE05-CC9A-6FCE470BA82E}"/>
                  </a:ext>
                </a:extLst>
              </p:cNvPr>
              <p:cNvSpPr/>
              <p:nvPr/>
            </p:nvSpPr>
            <p:spPr>
              <a:xfrm>
                <a:off x="7017897" y="2960086"/>
                <a:ext cx="426720" cy="426720"/>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v</a:t>
                </a:r>
              </a:p>
            </p:txBody>
          </p:sp>
          <p:sp>
            <p:nvSpPr>
              <p:cNvPr id="16" name="Oval 15">
                <a:extLst>
                  <a:ext uri="{FF2B5EF4-FFF2-40B4-BE49-F238E27FC236}">
                    <a16:creationId xmlns:a16="http://schemas.microsoft.com/office/drawing/2014/main" id="{F2DF0675-2E74-840B-E877-41084A51961D}"/>
                  </a:ext>
                </a:extLst>
              </p:cNvPr>
              <p:cNvSpPr/>
              <p:nvPr/>
            </p:nvSpPr>
            <p:spPr>
              <a:xfrm>
                <a:off x="6524069" y="4396552"/>
                <a:ext cx="426720" cy="426720"/>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7" name="Straight Connector 16">
                <a:extLst>
                  <a:ext uri="{FF2B5EF4-FFF2-40B4-BE49-F238E27FC236}">
                    <a16:creationId xmlns:a16="http://schemas.microsoft.com/office/drawing/2014/main" id="{9410A927-9B18-23A3-B593-C0EA777F8900}"/>
                  </a:ext>
                </a:extLst>
              </p:cNvPr>
              <p:cNvCxnSpPr>
                <a:stCxn id="9" idx="6"/>
                <a:endCxn id="14" idx="2"/>
              </p:cNvCxnSpPr>
              <p:nvPr/>
            </p:nvCxnSpPr>
            <p:spPr>
              <a:xfrm flipV="1">
                <a:off x="5121187" y="1985056"/>
                <a:ext cx="1469990" cy="439739"/>
              </a:xfrm>
              <a:prstGeom prst="line">
                <a:avLst/>
              </a:prstGeom>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D44798E8-4F80-3012-A095-F93F4C109FAE}"/>
                  </a:ext>
                </a:extLst>
              </p:cNvPr>
              <p:cNvCxnSpPr>
                <a:cxnSpLocks/>
                <a:stCxn id="10" idx="6"/>
                <a:endCxn id="15" idx="2"/>
              </p:cNvCxnSpPr>
              <p:nvPr/>
            </p:nvCxnSpPr>
            <p:spPr>
              <a:xfrm>
                <a:off x="5316971" y="3102558"/>
                <a:ext cx="1700926" cy="70888"/>
              </a:xfrm>
              <a:prstGeom prst="line">
                <a:avLst/>
              </a:prstGeom>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F02EB163-05CD-3119-7E65-90D79CCB8F95}"/>
                  </a:ext>
                </a:extLst>
              </p:cNvPr>
              <p:cNvCxnSpPr>
                <a:cxnSpLocks/>
                <a:stCxn id="11" idx="6"/>
                <a:endCxn id="16" idx="2"/>
              </p:cNvCxnSpPr>
              <p:nvPr/>
            </p:nvCxnSpPr>
            <p:spPr>
              <a:xfrm>
                <a:off x="4730211" y="3676291"/>
                <a:ext cx="1793858" cy="933621"/>
              </a:xfrm>
              <a:prstGeom prst="line">
                <a:avLst/>
              </a:prstGeom>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63B5B019-2C62-65F9-3CE2-054F5F379BCC}"/>
                  </a:ext>
                </a:extLst>
              </p:cNvPr>
              <p:cNvCxnSpPr>
                <a:cxnSpLocks/>
                <a:stCxn id="10" idx="7"/>
                <a:endCxn id="14" idx="3"/>
              </p:cNvCxnSpPr>
              <p:nvPr/>
            </p:nvCxnSpPr>
            <p:spPr>
              <a:xfrm flipV="1">
                <a:off x="5254479" y="2135924"/>
                <a:ext cx="1399190" cy="815766"/>
              </a:xfrm>
              <a:prstGeom prst="line">
                <a:avLst/>
              </a:prstGeom>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BB280641-483D-67AA-E973-72606D1D48E1}"/>
                  </a:ext>
                </a:extLst>
              </p:cNvPr>
              <p:cNvCxnSpPr>
                <a:cxnSpLocks/>
                <a:stCxn id="8" idx="6"/>
              </p:cNvCxnSpPr>
              <p:nvPr/>
            </p:nvCxnSpPr>
            <p:spPr>
              <a:xfrm flipV="1">
                <a:off x="2548491" y="2685635"/>
                <a:ext cx="440873" cy="260403"/>
              </a:xfrm>
              <a:prstGeom prst="line">
                <a:avLst/>
              </a:prstGeom>
            </p:spPr>
            <p:style>
              <a:lnRef idx="1">
                <a:schemeClr val="accent2"/>
              </a:lnRef>
              <a:fillRef idx="0">
                <a:schemeClr val="accent2"/>
              </a:fillRef>
              <a:effectRef idx="0">
                <a:schemeClr val="accent2"/>
              </a:effectRef>
              <a:fontRef idx="minor">
                <a:schemeClr val="tx1"/>
              </a:fontRef>
            </p:style>
          </p:cxnSp>
          <p:cxnSp>
            <p:nvCxnSpPr>
              <p:cNvPr id="32" name="Straight Connector 31">
                <a:extLst>
                  <a:ext uri="{FF2B5EF4-FFF2-40B4-BE49-F238E27FC236}">
                    <a16:creationId xmlns:a16="http://schemas.microsoft.com/office/drawing/2014/main" id="{F0567D34-EE85-BDB9-3EAD-AA82EEFF697C}"/>
                  </a:ext>
                </a:extLst>
              </p:cNvPr>
              <p:cNvCxnSpPr>
                <a:cxnSpLocks/>
              </p:cNvCxnSpPr>
              <p:nvPr/>
            </p:nvCxnSpPr>
            <p:spPr>
              <a:xfrm>
                <a:off x="2989364" y="2685635"/>
                <a:ext cx="234857" cy="567146"/>
              </a:xfrm>
              <a:prstGeom prst="line">
                <a:avLst/>
              </a:prstGeom>
            </p:spPr>
            <p:style>
              <a:lnRef idx="1">
                <a:schemeClr val="accent2"/>
              </a:lnRef>
              <a:fillRef idx="0">
                <a:schemeClr val="accent2"/>
              </a:fillRef>
              <a:effectRef idx="0">
                <a:schemeClr val="accent2"/>
              </a:effectRef>
              <a:fontRef idx="minor">
                <a:schemeClr val="tx1"/>
              </a:fontRef>
            </p:style>
          </p:cxnSp>
          <p:cxnSp>
            <p:nvCxnSpPr>
              <p:cNvPr id="35" name="Straight Connector 34">
                <a:extLst>
                  <a:ext uri="{FF2B5EF4-FFF2-40B4-BE49-F238E27FC236}">
                    <a16:creationId xmlns:a16="http://schemas.microsoft.com/office/drawing/2014/main" id="{C95E5708-77B0-E17A-3976-9B479523B1DC}"/>
                  </a:ext>
                </a:extLst>
              </p:cNvPr>
              <p:cNvCxnSpPr>
                <a:cxnSpLocks/>
              </p:cNvCxnSpPr>
              <p:nvPr/>
            </p:nvCxnSpPr>
            <p:spPr>
              <a:xfrm flipV="1">
                <a:off x="3236010" y="2732678"/>
                <a:ext cx="750920" cy="520103"/>
              </a:xfrm>
              <a:prstGeom prst="line">
                <a:avLst/>
              </a:prstGeom>
            </p:spPr>
            <p:style>
              <a:lnRef idx="1">
                <a:schemeClr val="accent2"/>
              </a:lnRef>
              <a:fillRef idx="0">
                <a:schemeClr val="accent2"/>
              </a:fillRef>
              <a:effectRef idx="0">
                <a:schemeClr val="accent2"/>
              </a:effectRef>
              <a:fontRef idx="minor">
                <a:schemeClr val="tx1"/>
              </a:fontRef>
            </p:style>
          </p:cxnSp>
          <p:cxnSp>
            <p:nvCxnSpPr>
              <p:cNvPr id="38" name="Straight Connector 37">
                <a:extLst>
                  <a:ext uri="{FF2B5EF4-FFF2-40B4-BE49-F238E27FC236}">
                    <a16:creationId xmlns:a16="http://schemas.microsoft.com/office/drawing/2014/main" id="{04A4DB89-E6DA-A154-DA3A-26F954481EBE}"/>
                  </a:ext>
                </a:extLst>
              </p:cNvPr>
              <p:cNvCxnSpPr>
                <a:cxnSpLocks/>
                <a:stCxn id="10" idx="2"/>
              </p:cNvCxnSpPr>
              <p:nvPr/>
            </p:nvCxnSpPr>
            <p:spPr>
              <a:xfrm flipH="1" flipV="1">
                <a:off x="3986930" y="2732678"/>
                <a:ext cx="903321" cy="369880"/>
              </a:xfrm>
              <a:prstGeom prst="line">
                <a:avLst/>
              </a:prstGeom>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9B2B764-978D-A5EE-623F-86F9DA54B3B3}"/>
                      </a:ext>
                    </a:extLst>
                  </p:cNvPr>
                  <p:cNvSpPr txBox="1"/>
                  <p:nvPr/>
                </p:nvSpPr>
                <p:spPr>
                  <a:xfrm>
                    <a:off x="3194756" y="2374001"/>
                    <a:ext cx="91121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𝛿</m:t>
                          </m:r>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𝑠</m:t>
                          </m:r>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𝑢</m:t>
                          </m:r>
                          <m:r>
                            <a:rPr lang="en-US" b="0" i="1" smtClean="0">
                              <a:solidFill>
                                <a:schemeClr val="accent2"/>
                              </a:solidFill>
                              <a:latin typeface="Cambria Math" panose="02040503050406030204" pitchFamily="18" charset="0"/>
                            </a:rPr>
                            <m:t>)</m:t>
                          </m:r>
                        </m:oMath>
                      </m:oMathPara>
                    </a14:m>
                    <a:endParaRPr lang="en-US" dirty="0">
                      <a:solidFill>
                        <a:schemeClr val="accent2"/>
                      </a:solidFill>
                    </a:endParaRPr>
                  </a:p>
                </p:txBody>
              </p:sp>
            </mc:Choice>
            <mc:Fallback xmlns="">
              <p:sp>
                <p:nvSpPr>
                  <p:cNvPr id="41" name="TextBox 40">
                    <a:extLst>
                      <a:ext uri="{FF2B5EF4-FFF2-40B4-BE49-F238E27FC236}">
                        <a16:creationId xmlns:a16="http://schemas.microsoft.com/office/drawing/2014/main" id="{A9B2B764-978D-A5EE-623F-86F9DA54B3B3}"/>
                      </a:ext>
                    </a:extLst>
                  </p:cNvPr>
                  <p:cNvSpPr txBox="1">
                    <a:spLocks noRot="1" noChangeAspect="1" noMove="1" noResize="1" noEditPoints="1" noAdjustHandles="1" noChangeArrowheads="1" noChangeShapeType="1" noTextEdit="1"/>
                  </p:cNvSpPr>
                  <p:nvPr/>
                </p:nvSpPr>
                <p:spPr>
                  <a:xfrm>
                    <a:off x="3194756" y="2374001"/>
                    <a:ext cx="911211"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A512CC7-FFA9-4E35-077E-17B7023F5589}"/>
                      </a:ext>
                    </a:extLst>
                  </p:cNvPr>
                  <p:cNvSpPr txBox="1"/>
                  <p:nvPr/>
                </p:nvSpPr>
                <p:spPr>
                  <a:xfrm>
                    <a:off x="5743691" y="2789149"/>
                    <a:ext cx="121860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3"/>
                              </a:solidFill>
                              <a:latin typeface="Cambria Math" panose="02040503050406030204" pitchFamily="18" charset="0"/>
                            </a:rPr>
                            <m:t>𝑒</m:t>
                          </m:r>
                          <m:r>
                            <a:rPr lang="en-US" b="0" i="1" smtClean="0">
                              <a:solidFill>
                                <a:schemeClr val="accent3"/>
                              </a:solidFill>
                              <a:latin typeface="Cambria Math" panose="02040503050406030204" pitchFamily="18" charset="0"/>
                            </a:rPr>
                            <m:t>=(</m:t>
                          </m:r>
                          <m:r>
                            <a:rPr lang="en-US" b="0" i="1" smtClean="0">
                              <a:solidFill>
                                <a:schemeClr val="accent3"/>
                              </a:solidFill>
                              <a:latin typeface="Cambria Math" panose="02040503050406030204" pitchFamily="18" charset="0"/>
                            </a:rPr>
                            <m:t>𝑢</m:t>
                          </m:r>
                          <m:r>
                            <a:rPr lang="en-US" b="0" i="1" smtClean="0">
                              <a:solidFill>
                                <a:schemeClr val="accent3"/>
                              </a:solidFill>
                              <a:latin typeface="Cambria Math" panose="02040503050406030204" pitchFamily="18" charset="0"/>
                            </a:rPr>
                            <m:t>,</m:t>
                          </m:r>
                          <m:r>
                            <a:rPr lang="en-US" b="0" i="1" smtClean="0">
                              <a:solidFill>
                                <a:schemeClr val="accent3"/>
                              </a:solidFill>
                              <a:latin typeface="Cambria Math" panose="02040503050406030204" pitchFamily="18" charset="0"/>
                            </a:rPr>
                            <m:t>𝑣</m:t>
                          </m:r>
                          <m:r>
                            <a:rPr lang="en-US" b="0" i="1" smtClean="0">
                              <a:solidFill>
                                <a:schemeClr val="accent3"/>
                              </a:solidFill>
                              <a:latin typeface="Cambria Math" panose="02040503050406030204" pitchFamily="18" charset="0"/>
                            </a:rPr>
                            <m:t>)</m:t>
                          </m:r>
                        </m:oMath>
                      </m:oMathPara>
                    </a14:m>
                    <a:endParaRPr lang="en-US" dirty="0">
                      <a:solidFill>
                        <a:schemeClr val="accent3"/>
                      </a:solidFill>
                    </a:endParaRPr>
                  </a:p>
                </p:txBody>
              </p:sp>
            </mc:Choice>
            <mc:Fallback xmlns="">
              <p:sp>
                <p:nvSpPr>
                  <p:cNvPr id="47" name="TextBox 46">
                    <a:extLst>
                      <a:ext uri="{FF2B5EF4-FFF2-40B4-BE49-F238E27FC236}">
                        <a16:creationId xmlns:a16="http://schemas.microsoft.com/office/drawing/2014/main" id="{CA512CC7-FFA9-4E35-077E-17B7023F5589}"/>
                      </a:ext>
                    </a:extLst>
                  </p:cNvPr>
                  <p:cNvSpPr txBox="1">
                    <a:spLocks noRot="1" noChangeAspect="1" noMove="1" noResize="1" noEditPoints="1" noAdjustHandles="1" noChangeArrowheads="1" noChangeShapeType="1" noTextEdit="1"/>
                  </p:cNvSpPr>
                  <p:nvPr/>
                </p:nvSpPr>
                <p:spPr>
                  <a:xfrm>
                    <a:off x="5743691" y="2789149"/>
                    <a:ext cx="1218603" cy="369332"/>
                  </a:xfrm>
                  <a:prstGeom prst="rect">
                    <a:avLst/>
                  </a:prstGeom>
                  <a:blipFill>
                    <a:blip r:embed="rId5"/>
                    <a:stretch>
                      <a:fillRect b="-13333"/>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1301128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custDataLst>
              <p:tags r:id="rId1"/>
            </p:custDataLst>
          </p:nvPr>
        </p:nvSpPr>
        <p:spPr>
          <a:xfrm>
            <a:off x="1143001" y="247758"/>
            <a:ext cx="9905998" cy="666227"/>
          </a:xfrm>
        </p:spPr>
        <p:txBody>
          <a:bodyPr>
            <a:normAutofit/>
          </a:bodyPr>
          <a:lstStyle/>
          <a:p>
            <a:pPr algn="ctr"/>
            <a:r>
              <a:rPr lang="en-US" dirty="0"/>
              <a:t>Proof w/ Picture:</a:t>
            </a:r>
          </a:p>
        </p:txBody>
      </p:sp>
      <p:sp>
        <p:nvSpPr>
          <p:cNvPr id="6" name="TextBox 5">
            <a:extLst>
              <a:ext uri="{FF2B5EF4-FFF2-40B4-BE49-F238E27FC236}">
                <a16:creationId xmlns:a16="http://schemas.microsoft.com/office/drawing/2014/main" id="{5A80AF0C-1E58-F84D-B397-492549006E9C}"/>
              </a:ext>
            </a:extLst>
          </p:cNvPr>
          <p:cNvSpPr txBox="1"/>
          <p:nvPr/>
        </p:nvSpPr>
        <p:spPr>
          <a:xfrm>
            <a:off x="7573583" y="1859572"/>
            <a:ext cx="4486532" cy="923330"/>
          </a:xfrm>
          <a:prstGeom prst="rect">
            <a:avLst/>
          </a:prstGeom>
          <a:noFill/>
        </p:spPr>
        <p:txBody>
          <a:bodyPr wrap="square" rtlCol="0">
            <a:spAutoFit/>
          </a:bodyPr>
          <a:lstStyle/>
          <a:p>
            <a:r>
              <a:rPr lang="en-US" dirty="0"/>
              <a:t>Suppose (For sake of contradiction):</a:t>
            </a:r>
          </a:p>
          <a:p>
            <a:endParaRPr lang="en-US" dirty="0"/>
          </a:p>
          <a:p>
            <a:r>
              <a:rPr lang="en-US" i="1" dirty="0">
                <a:solidFill>
                  <a:schemeClr val="accent5">
                    <a:lumMod val="60000"/>
                    <a:lumOff val="40000"/>
                  </a:schemeClr>
                </a:solidFill>
              </a:rPr>
              <a:t>s to u to v is NOT the optimal way to get to v</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D83879F-B122-D699-81BB-2F2238B55DDC}"/>
                  </a:ext>
                </a:extLst>
              </p:cNvPr>
              <p:cNvSpPr txBox="1"/>
              <p:nvPr/>
            </p:nvSpPr>
            <p:spPr>
              <a:xfrm>
                <a:off x="7491046" y="3425544"/>
                <a:ext cx="4486532" cy="1754326"/>
              </a:xfrm>
              <a:prstGeom prst="rect">
                <a:avLst/>
              </a:prstGeom>
              <a:noFill/>
            </p:spPr>
            <p:txBody>
              <a:bodyPr wrap="square" rtlCol="0">
                <a:spAutoFit/>
              </a:bodyPr>
              <a:lstStyle/>
              <a:p>
                <a:r>
                  <a:rPr lang="en-US" dirty="0"/>
                  <a:t>So there is a better way to get to v:</a:t>
                </a:r>
              </a:p>
              <a:p>
                <a:endParaRPr lang="en-US" dirty="0"/>
              </a:p>
              <a:p>
                <a:r>
                  <a:rPr lang="en-US" i="1" dirty="0">
                    <a:solidFill>
                      <a:schemeClr val="accent1">
                        <a:lumMod val="60000"/>
                        <a:lumOff val="40000"/>
                      </a:schemeClr>
                    </a:solidFill>
                  </a:rPr>
                  <a:t>The actual best way to get to v goes through some other node:</a:t>
                </a:r>
              </a:p>
              <a:p>
                <a:endParaRPr lang="en-US" i="1" dirty="0">
                  <a:solidFill>
                    <a:schemeClr val="accent1">
                      <a:lumMod val="60000"/>
                      <a:lumOff val="40000"/>
                    </a:schemeClr>
                  </a:solidFill>
                </a:endParaRPr>
              </a:p>
              <a:p>
                <a:pPr algn="ctr"/>
                <a14:m>
                  <m:oMath xmlns:m="http://schemas.openxmlformats.org/officeDocument/2006/math">
                    <m:r>
                      <a:rPr lang="en-US" b="0" i="1" smtClean="0">
                        <a:solidFill>
                          <a:schemeClr val="accent1">
                            <a:lumMod val="60000"/>
                            <a:lumOff val="40000"/>
                          </a:schemeClr>
                        </a:solidFill>
                        <a:latin typeface="Cambria Math" panose="02040503050406030204" pitchFamily="18" charset="0"/>
                      </a:rPr>
                      <m:t>𝛿</m:t>
                    </m:r>
                    <m:d>
                      <m:dPr>
                        <m:ctrlPr>
                          <a:rPr lang="en-US" b="0" i="1" smtClean="0">
                            <a:solidFill>
                              <a:schemeClr val="accent1">
                                <a:lumMod val="60000"/>
                                <a:lumOff val="40000"/>
                              </a:schemeClr>
                            </a:solidFill>
                            <a:latin typeface="Cambria Math" panose="02040503050406030204" pitchFamily="18" charset="0"/>
                          </a:rPr>
                        </m:ctrlPr>
                      </m:dPr>
                      <m:e>
                        <m:r>
                          <a:rPr lang="en-US" b="0" i="1" smtClean="0">
                            <a:solidFill>
                              <a:schemeClr val="accent1">
                                <a:lumMod val="60000"/>
                                <a:lumOff val="40000"/>
                              </a:schemeClr>
                            </a:solidFill>
                            <a:latin typeface="Cambria Math" panose="02040503050406030204" pitchFamily="18" charset="0"/>
                          </a:rPr>
                          <m:t>𝑠</m:t>
                        </m:r>
                        <m:r>
                          <a:rPr lang="en-US" b="0" i="1" smtClean="0">
                            <a:solidFill>
                              <a:schemeClr val="accent1">
                                <a:lumMod val="60000"/>
                                <a:lumOff val="40000"/>
                              </a:schemeClr>
                            </a:solidFill>
                            <a:latin typeface="Cambria Math" panose="02040503050406030204" pitchFamily="18" charset="0"/>
                          </a:rPr>
                          <m:t>,</m:t>
                        </m:r>
                        <m:sSup>
                          <m:sSupPr>
                            <m:ctrlPr>
                              <a:rPr lang="en-US" b="0" i="1" smtClean="0">
                                <a:solidFill>
                                  <a:schemeClr val="accent1">
                                    <a:lumMod val="60000"/>
                                    <a:lumOff val="40000"/>
                                  </a:schemeClr>
                                </a:solidFill>
                                <a:latin typeface="Cambria Math" panose="02040503050406030204" pitchFamily="18" charset="0"/>
                              </a:rPr>
                            </m:ctrlPr>
                          </m:sSupPr>
                          <m:e>
                            <m:r>
                              <a:rPr lang="en-US" b="0" i="1" smtClean="0">
                                <a:solidFill>
                                  <a:schemeClr val="accent1">
                                    <a:lumMod val="60000"/>
                                    <a:lumOff val="40000"/>
                                  </a:schemeClr>
                                </a:solidFill>
                                <a:latin typeface="Cambria Math" panose="02040503050406030204" pitchFamily="18" charset="0"/>
                              </a:rPr>
                              <m:t>𝑢</m:t>
                            </m:r>
                          </m:e>
                          <m:sup>
                            <m:r>
                              <a:rPr lang="en-US" b="0" i="1" smtClean="0">
                                <a:solidFill>
                                  <a:schemeClr val="accent1">
                                    <a:lumMod val="60000"/>
                                    <a:lumOff val="40000"/>
                                  </a:schemeClr>
                                </a:solidFill>
                                <a:latin typeface="Cambria Math" panose="02040503050406030204" pitchFamily="18" charset="0"/>
                              </a:rPr>
                              <m:t>′</m:t>
                            </m:r>
                          </m:sup>
                        </m:sSup>
                      </m:e>
                    </m:d>
                    <m:r>
                      <a:rPr lang="en-US" b="0" i="1" smtClean="0">
                        <a:solidFill>
                          <a:schemeClr val="accent1">
                            <a:lumMod val="60000"/>
                            <a:lumOff val="40000"/>
                          </a:schemeClr>
                        </a:solidFill>
                        <a:latin typeface="Cambria Math" panose="02040503050406030204" pitchFamily="18" charset="0"/>
                      </a:rPr>
                      <m:t>+</m:t>
                    </m:r>
                    <m:r>
                      <a:rPr lang="en-US" b="0" i="1" smtClean="0">
                        <a:solidFill>
                          <a:schemeClr val="accent1">
                            <a:lumMod val="60000"/>
                            <a:lumOff val="40000"/>
                          </a:schemeClr>
                        </a:solidFill>
                        <a:latin typeface="Cambria Math" panose="02040503050406030204" pitchFamily="18" charset="0"/>
                      </a:rPr>
                      <m:t>𝑐</m:t>
                    </m:r>
                    <m:d>
                      <m:dPr>
                        <m:ctrlPr>
                          <a:rPr lang="en-US" b="0" i="1" smtClean="0">
                            <a:solidFill>
                              <a:schemeClr val="accent1">
                                <a:lumMod val="60000"/>
                                <a:lumOff val="40000"/>
                              </a:schemeClr>
                            </a:solidFill>
                            <a:latin typeface="Cambria Math" panose="02040503050406030204" pitchFamily="18" charset="0"/>
                          </a:rPr>
                        </m:ctrlPr>
                      </m:dPr>
                      <m:e>
                        <m:sSup>
                          <m:sSupPr>
                            <m:ctrlPr>
                              <a:rPr lang="en-US" b="0" i="1" smtClean="0">
                                <a:solidFill>
                                  <a:schemeClr val="accent1">
                                    <a:lumMod val="60000"/>
                                    <a:lumOff val="40000"/>
                                  </a:schemeClr>
                                </a:solidFill>
                                <a:latin typeface="Cambria Math" panose="02040503050406030204" pitchFamily="18" charset="0"/>
                              </a:rPr>
                            </m:ctrlPr>
                          </m:sSupPr>
                          <m:e>
                            <m:r>
                              <a:rPr lang="en-US" b="0" i="1" smtClean="0">
                                <a:solidFill>
                                  <a:schemeClr val="accent1">
                                    <a:lumMod val="60000"/>
                                    <a:lumOff val="40000"/>
                                  </a:schemeClr>
                                </a:solidFill>
                                <a:latin typeface="Cambria Math" panose="02040503050406030204" pitchFamily="18" charset="0"/>
                              </a:rPr>
                              <m:t>𝑒</m:t>
                            </m:r>
                          </m:e>
                          <m:sup>
                            <m:r>
                              <a:rPr lang="en-US" b="0" i="1" smtClean="0">
                                <a:solidFill>
                                  <a:schemeClr val="accent1">
                                    <a:lumMod val="60000"/>
                                    <a:lumOff val="40000"/>
                                  </a:schemeClr>
                                </a:solidFill>
                                <a:latin typeface="Cambria Math" panose="02040503050406030204" pitchFamily="18" charset="0"/>
                              </a:rPr>
                              <m:t>′</m:t>
                            </m:r>
                          </m:sup>
                        </m:sSup>
                      </m:e>
                    </m:d>
                    <m:r>
                      <a:rPr lang="en-US" b="0" i="1" smtClean="0">
                        <a:solidFill>
                          <a:schemeClr val="accent1">
                            <a:lumMod val="60000"/>
                            <a:lumOff val="40000"/>
                          </a:schemeClr>
                        </a:solidFill>
                        <a:latin typeface="Cambria Math" panose="02040503050406030204" pitchFamily="18" charset="0"/>
                      </a:rPr>
                      <m:t>+</m:t>
                    </m:r>
                    <m:r>
                      <m:rPr>
                        <m:sty m:val="p"/>
                      </m:rPr>
                      <a:rPr lang="en-US" b="0" i="0" smtClean="0">
                        <a:solidFill>
                          <a:schemeClr val="accent1">
                            <a:lumMod val="60000"/>
                            <a:lumOff val="40000"/>
                          </a:schemeClr>
                        </a:solidFill>
                        <a:latin typeface="Cambria Math" panose="02040503050406030204" pitchFamily="18" charset="0"/>
                      </a:rPr>
                      <m:t>Δ</m:t>
                    </m:r>
                  </m:oMath>
                </a14:m>
                <a:r>
                  <a:rPr lang="en-US" i="1" dirty="0">
                    <a:solidFill>
                      <a:schemeClr val="accent1">
                        <a:lumMod val="60000"/>
                        <a:lumOff val="40000"/>
                      </a:schemeClr>
                    </a:solidFill>
                  </a:rPr>
                  <a:t> is better</a:t>
                </a:r>
              </a:p>
            </p:txBody>
          </p:sp>
        </mc:Choice>
        <mc:Fallback xmlns="">
          <p:sp>
            <p:nvSpPr>
              <p:cNvPr id="30" name="TextBox 29">
                <a:extLst>
                  <a:ext uri="{FF2B5EF4-FFF2-40B4-BE49-F238E27FC236}">
                    <a16:creationId xmlns:a16="http://schemas.microsoft.com/office/drawing/2014/main" id="{6D83879F-B122-D699-81BB-2F2238B55DDC}"/>
                  </a:ext>
                </a:extLst>
              </p:cNvPr>
              <p:cNvSpPr txBox="1">
                <a:spLocks noRot="1" noChangeAspect="1" noMove="1" noResize="1" noEditPoints="1" noAdjustHandles="1" noChangeArrowheads="1" noChangeShapeType="1" noTextEdit="1"/>
              </p:cNvSpPr>
              <p:nvPr/>
            </p:nvSpPr>
            <p:spPr>
              <a:xfrm>
                <a:off x="7491046" y="3425544"/>
                <a:ext cx="4486532" cy="1754326"/>
              </a:xfrm>
              <a:prstGeom prst="rect">
                <a:avLst/>
              </a:prstGeom>
              <a:blipFill>
                <a:blip r:embed="rId3"/>
                <a:stretch>
                  <a:fillRect l="-1127" t="-1429" b="-4286"/>
                </a:stretch>
              </a:blipFill>
            </p:spPr>
            <p:txBody>
              <a:bodyPr/>
              <a:lstStyle/>
              <a:p>
                <a:r>
                  <a:rPr lang="en-US">
                    <a:noFill/>
                  </a:rPr>
                  <a:t> </a:t>
                </a:r>
              </a:p>
            </p:txBody>
          </p:sp>
        </mc:Fallback>
      </mc:AlternateContent>
      <p:grpSp>
        <p:nvGrpSpPr>
          <p:cNvPr id="39936" name="Group 39935">
            <a:extLst>
              <a:ext uri="{FF2B5EF4-FFF2-40B4-BE49-F238E27FC236}">
                <a16:creationId xmlns:a16="http://schemas.microsoft.com/office/drawing/2014/main" id="{33EC3386-9C71-698E-1734-BE3426614D4F}"/>
              </a:ext>
            </a:extLst>
          </p:cNvPr>
          <p:cNvGrpSpPr/>
          <p:nvPr/>
        </p:nvGrpSpPr>
        <p:grpSpPr>
          <a:xfrm>
            <a:off x="826478" y="1859572"/>
            <a:ext cx="6541476" cy="3560885"/>
            <a:chOff x="826478" y="1859572"/>
            <a:chExt cx="6541476" cy="3560885"/>
          </a:xfrm>
        </p:grpSpPr>
        <p:sp>
          <p:nvSpPr>
            <p:cNvPr id="8" name="Rectangle 7">
              <a:extLst>
                <a:ext uri="{FF2B5EF4-FFF2-40B4-BE49-F238E27FC236}">
                  <a16:creationId xmlns:a16="http://schemas.microsoft.com/office/drawing/2014/main" id="{8CFA1CB9-73AB-825A-F4C7-6A6F17D63B55}"/>
                </a:ext>
              </a:extLst>
            </p:cNvPr>
            <p:cNvSpPr/>
            <p:nvPr/>
          </p:nvSpPr>
          <p:spPr>
            <a:xfrm>
              <a:off x="826478" y="1859572"/>
              <a:ext cx="6541476" cy="356088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5DB4ADF5-58D9-8AF7-801F-646B768B7542}"/>
                </a:ext>
              </a:extLst>
            </p:cNvPr>
            <p:cNvSpPr/>
            <p:nvPr/>
          </p:nvSpPr>
          <p:spPr>
            <a:xfrm>
              <a:off x="949570" y="1974856"/>
              <a:ext cx="3792711" cy="2872614"/>
            </a:xfrm>
            <a:custGeom>
              <a:avLst/>
              <a:gdLst>
                <a:gd name="connsiteX0" fmla="*/ 0 w 4667794"/>
                <a:gd name="connsiteY0" fmla="*/ 940526 h 3500846"/>
                <a:gd name="connsiteX1" fmla="*/ 0 w 4667794"/>
                <a:gd name="connsiteY1" fmla="*/ 940526 h 3500846"/>
                <a:gd name="connsiteX2" fmla="*/ 78377 w 4667794"/>
                <a:gd name="connsiteY2" fmla="*/ 879566 h 3500846"/>
                <a:gd name="connsiteX3" fmla="*/ 156754 w 4667794"/>
                <a:gd name="connsiteY3" fmla="*/ 801189 h 3500846"/>
                <a:gd name="connsiteX4" fmla="*/ 235131 w 4667794"/>
                <a:gd name="connsiteY4" fmla="*/ 740229 h 3500846"/>
                <a:gd name="connsiteX5" fmla="*/ 278674 w 4667794"/>
                <a:gd name="connsiteY5" fmla="*/ 705395 h 3500846"/>
                <a:gd name="connsiteX6" fmla="*/ 304800 w 4667794"/>
                <a:gd name="connsiteY6" fmla="*/ 687977 h 3500846"/>
                <a:gd name="connsiteX7" fmla="*/ 391885 w 4667794"/>
                <a:gd name="connsiteY7" fmla="*/ 618309 h 3500846"/>
                <a:gd name="connsiteX8" fmla="*/ 461554 w 4667794"/>
                <a:gd name="connsiteY8" fmla="*/ 574766 h 3500846"/>
                <a:gd name="connsiteX9" fmla="*/ 583474 w 4667794"/>
                <a:gd name="connsiteY9" fmla="*/ 487680 h 3500846"/>
                <a:gd name="connsiteX10" fmla="*/ 618308 w 4667794"/>
                <a:gd name="connsiteY10" fmla="*/ 461555 h 3500846"/>
                <a:gd name="connsiteX11" fmla="*/ 670560 w 4667794"/>
                <a:gd name="connsiteY11" fmla="*/ 418012 h 3500846"/>
                <a:gd name="connsiteX12" fmla="*/ 705394 w 4667794"/>
                <a:gd name="connsiteY12" fmla="*/ 383177 h 3500846"/>
                <a:gd name="connsiteX13" fmla="*/ 783771 w 4667794"/>
                <a:gd name="connsiteY13" fmla="*/ 322217 h 3500846"/>
                <a:gd name="connsiteX14" fmla="*/ 818605 w 4667794"/>
                <a:gd name="connsiteY14" fmla="*/ 296092 h 3500846"/>
                <a:gd name="connsiteX15" fmla="*/ 870857 w 4667794"/>
                <a:gd name="connsiteY15" fmla="*/ 243840 h 3500846"/>
                <a:gd name="connsiteX16" fmla="*/ 905691 w 4667794"/>
                <a:gd name="connsiteY16" fmla="*/ 226423 h 3500846"/>
                <a:gd name="connsiteX17" fmla="*/ 931817 w 4667794"/>
                <a:gd name="connsiteY17" fmla="*/ 209006 h 3500846"/>
                <a:gd name="connsiteX18" fmla="*/ 1010194 w 4667794"/>
                <a:gd name="connsiteY18" fmla="*/ 165463 h 3500846"/>
                <a:gd name="connsiteX19" fmla="*/ 1132114 w 4667794"/>
                <a:gd name="connsiteY19" fmla="*/ 121920 h 3500846"/>
                <a:gd name="connsiteX20" fmla="*/ 1227908 w 4667794"/>
                <a:gd name="connsiteY20" fmla="*/ 69669 h 3500846"/>
                <a:gd name="connsiteX21" fmla="*/ 1288868 w 4667794"/>
                <a:gd name="connsiteY21" fmla="*/ 43543 h 3500846"/>
                <a:gd name="connsiteX22" fmla="*/ 1358537 w 4667794"/>
                <a:gd name="connsiteY22" fmla="*/ 26126 h 3500846"/>
                <a:gd name="connsiteX23" fmla="*/ 1471748 w 4667794"/>
                <a:gd name="connsiteY23" fmla="*/ 0 h 3500846"/>
                <a:gd name="connsiteX24" fmla="*/ 1750422 w 4667794"/>
                <a:gd name="connsiteY24" fmla="*/ 43543 h 3500846"/>
                <a:gd name="connsiteX25" fmla="*/ 1811382 w 4667794"/>
                <a:gd name="connsiteY25" fmla="*/ 69669 h 3500846"/>
                <a:gd name="connsiteX26" fmla="*/ 1846217 w 4667794"/>
                <a:gd name="connsiteY26" fmla="*/ 78377 h 3500846"/>
                <a:gd name="connsiteX27" fmla="*/ 1968137 w 4667794"/>
                <a:gd name="connsiteY27" fmla="*/ 139337 h 3500846"/>
                <a:gd name="connsiteX28" fmla="*/ 2020388 w 4667794"/>
                <a:gd name="connsiteY28" fmla="*/ 174172 h 3500846"/>
                <a:gd name="connsiteX29" fmla="*/ 2098765 w 4667794"/>
                <a:gd name="connsiteY29" fmla="*/ 243840 h 3500846"/>
                <a:gd name="connsiteX30" fmla="*/ 2133600 w 4667794"/>
                <a:gd name="connsiteY30" fmla="*/ 313509 h 3500846"/>
                <a:gd name="connsiteX31" fmla="*/ 2151017 w 4667794"/>
                <a:gd name="connsiteY31" fmla="*/ 348343 h 3500846"/>
                <a:gd name="connsiteX32" fmla="*/ 2168434 w 4667794"/>
                <a:gd name="connsiteY32" fmla="*/ 400595 h 3500846"/>
                <a:gd name="connsiteX33" fmla="*/ 2185851 w 4667794"/>
                <a:gd name="connsiteY33" fmla="*/ 426720 h 3500846"/>
                <a:gd name="connsiteX34" fmla="*/ 2203268 w 4667794"/>
                <a:gd name="connsiteY34" fmla="*/ 470263 h 3500846"/>
                <a:gd name="connsiteX35" fmla="*/ 2220685 w 4667794"/>
                <a:gd name="connsiteY35" fmla="*/ 505097 h 3500846"/>
                <a:gd name="connsiteX36" fmla="*/ 2238102 w 4667794"/>
                <a:gd name="connsiteY36" fmla="*/ 531223 h 3500846"/>
                <a:gd name="connsiteX37" fmla="*/ 2246811 w 4667794"/>
                <a:gd name="connsiteY37" fmla="*/ 557349 h 3500846"/>
                <a:gd name="connsiteX38" fmla="*/ 2264228 w 4667794"/>
                <a:gd name="connsiteY38" fmla="*/ 592183 h 3500846"/>
                <a:gd name="connsiteX39" fmla="*/ 2290354 w 4667794"/>
                <a:gd name="connsiteY39" fmla="*/ 661852 h 3500846"/>
                <a:gd name="connsiteX40" fmla="*/ 2307771 w 4667794"/>
                <a:gd name="connsiteY40" fmla="*/ 687977 h 3500846"/>
                <a:gd name="connsiteX41" fmla="*/ 2325188 w 4667794"/>
                <a:gd name="connsiteY41" fmla="*/ 731520 h 3500846"/>
                <a:gd name="connsiteX42" fmla="*/ 2351314 w 4667794"/>
                <a:gd name="connsiteY42" fmla="*/ 783772 h 3500846"/>
                <a:gd name="connsiteX43" fmla="*/ 2394857 w 4667794"/>
                <a:gd name="connsiteY43" fmla="*/ 818606 h 3500846"/>
                <a:gd name="connsiteX44" fmla="*/ 2455817 w 4667794"/>
                <a:gd name="connsiteY44" fmla="*/ 836023 h 3500846"/>
                <a:gd name="connsiteX45" fmla="*/ 2629988 w 4667794"/>
                <a:gd name="connsiteY45" fmla="*/ 827315 h 3500846"/>
                <a:gd name="connsiteX46" fmla="*/ 2656114 w 4667794"/>
                <a:gd name="connsiteY46" fmla="*/ 818606 h 3500846"/>
                <a:gd name="connsiteX47" fmla="*/ 2699657 w 4667794"/>
                <a:gd name="connsiteY47" fmla="*/ 801189 h 3500846"/>
                <a:gd name="connsiteX48" fmla="*/ 2760617 w 4667794"/>
                <a:gd name="connsiteY48" fmla="*/ 783772 h 3500846"/>
                <a:gd name="connsiteX49" fmla="*/ 2795451 w 4667794"/>
                <a:gd name="connsiteY49" fmla="*/ 775063 h 3500846"/>
                <a:gd name="connsiteX50" fmla="*/ 2891245 w 4667794"/>
                <a:gd name="connsiteY50" fmla="*/ 757646 h 3500846"/>
                <a:gd name="connsiteX51" fmla="*/ 2934788 w 4667794"/>
                <a:gd name="connsiteY51" fmla="*/ 740229 h 3500846"/>
                <a:gd name="connsiteX52" fmla="*/ 2987040 w 4667794"/>
                <a:gd name="connsiteY52" fmla="*/ 705395 h 3500846"/>
                <a:gd name="connsiteX53" fmla="*/ 3074125 w 4667794"/>
                <a:gd name="connsiteY53" fmla="*/ 679269 h 3500846"/>
                <a:gd name="connsiteX54" fmla="*/ 3108960 w 4667794"/>
                <a:gd name="connsiteY54" fmla="*/ 670560 h 3500846"/>
                <a:gd name="connsiteX55" fmla="*/ 3135085 w 4667794"/>
                <a:gd name="connsiteY55" fmla="*/ 661852 h 3500846"/>
                <a:gd name="connsiteX56" fmla="*/ 3178628 w 4667794"/>
                <a:gd name="connsiteY56" fmla="*/ 653143 h 3500846"/>
                <a:gd name="connsiteX57" fmla="*/ 3248297 w 4667794"/>
                <a:gd name="connsiteY57" fmla="*/ 627017 h 3500846"/>
                <a:gd name="connsiteX58" fmla="*/ 3422468 w 4667794"/>
                <a:gd name="connsiteY58" fmla="*/ 592183 h 3500846"/>
                <a:gd name="connsiteX59" fmla="*/ 3457302 w 4667794"/>
                <a:gd name="connsiteY59" fmla="*/ 583475 h 3500846"/>
                <a:gd name="connsiteX60" fmla="*/ 3614057 w 4667794"/>
                <a:gd name="connsiteY60" fmla="*/ 557349 h 3500846"/>
                <a:gd name="connsiteX61" fmla="*/ 3796937 w 4667794"/>
                <a:gd name="connsiteY61" fmla="*/ 566057 h 3500846"/>
                <a:gd name="connsiteX62" fmla="*/ 3884022 w 4667794"/>
                <a:gd name="connsiteY62" fmla="*/ 583475 h 3500846"/>
                <a:gd name="connsiteX63" fmla="*/ 3936274 w 4667794"/>
                <a:gd name="connsiteY63" fmla="*/ 600892 h 3500846"/>
                <a:gd name="connsiteX64" fmla="*/ 4014651 w 4667794"/>
                <a:gd name="connsiteY64" fmla="*/ 609600 h 3500846"/>
                <a:gd name="connsiteX65" fmla="*/ 4093028 w 4667794"/>
                <a:gd name="connsiteY65" fmla="*/ 635726 h 3500846"/>
                <a:gd name="connsiteX66" fmla="*/ 4119154 w 4667794"/>
                <a:gd name="connsiteY66" fmla="*/ 644435 h 3500846"/>
                <a:gd name="connsiteX67" fmla="*/ 4232365 w 4667794"/>
                <a:gd name="connsiteY67" fmla="*/ 679269 h 3500846"/>
                <a:gd name="connsiteX68" fmla="*/ 4275908 w 4667794"/>
                <a:gd name="connsiteY68" fmla="*/ 705395 h 3500846"/>
                <a:gd name="connsiteX69" fmla="*/ 4310742 w 4667794"/>
                <a:gd name="connsiteY69" fmla="*/ 731520 h 3500846"/>
                <a:gd name="connsiteX70" fmla="*/ 4345577 w 4667794"/>
                <a:gd name="connsiteY70" fmla="*/ 783772 h 3500846"/>
                <a:gd name="connsiteX71" fmla="*/ 4362994 w 4667794"/>
                <a:gd name="connsiteY71" fmla="*/ 809897 h 3500846"/>
                <a:gd name="connsiteX72" fmla="*/ 4389120 w 4667794"/>
                <a:gd name="connsiteY72" fmla="*/ 844732 h 3500846"/>
                <a:gd name="connsiteX73" fmla="*/ 4415245 w 4667794"/>
                <a:gd name="connsiteY73" fmla="*/ 896983 h 3500846"/>
                <a:gd name="connsiteX74" fmla="*/ 4450080 w 4667794"/>
                <a:gd name="connsiteY74" fmla="*/ 966652 h 3500846"/>
                <a:gd name="connsiteX75" fmla="*/ 4467497 w 4667794"/>
                <a:gd name="connsiteY75" fmla="*/ 1018903 h 3500846"/>
                <a:gd name="connsiteX76" fmla="*/ 4519748 w 4667794"/>
                <a:gd name="connsiteY76" fmla="*/ 1132115 h 3500846"/>
                <a:gd name="connsiteX77" fmla="*/ 4545874 w 4667794"/>
                <a:gd name="connsiteY77" fmla="*/ 1210492 h 3500846"/>
                <a:gd name="connsiteX78" fmla="*/ 4563291 w 4667794"/>
                <a:gd name="connsiteY78" fmla="*/ 1262743 h 3500846"/>
                <a:gd name="connsiteX79" fmla="*/ 4606834 w 4667794"/>
                <a:gd name="connsiteY79" fmla="*/ 1375955 h 3500846"/>
                <a:gd name="connsiteX80" fmla="*/ 4624251 w 4667794"/>
                <a:gd name="connsiteY80" fmla="*/ 1445623 h 3500846"/>
                <a:gd name="connsiteX81" fmla="*/ 4632960 w 4667794"/>
                <a:gd name="connsiteY81" fmla="*/ 1471749 h 3500846"/>
                <a:gd name="connsiteX82" fmla="*/ 4650377 w 4667794"/>
                <a:gd name="connsiteY82" fmla="*/ 1532709 h 3500846"/>
                <a:gd name="connsiteX83" fmla="*/ 4659085 w 4667794"/>
                <a:gd name="connsiteY83" fmla="*/ 1611086 h 3500846"/>
                <a:gd name="connsiteX84" fmla="*/ 4667794 w 4667794"/>
                <a:gd name="connsiteY84" fmla="*/ 1637212 h 3500846"/>
                <a:gd name="connsiteX85" fmla="*/ 4659085 w 4667794"/>
                <a:gd name="connsiteY85" fmla="*/ 1785257 h 3500846"/>
                <a:gd name="connsiteX86" fmla="*/ 4650377 w 4667794"/>
                <a:gd name="connsiteY86" fmla="*/ 1811383 h 3500846"/>
                <a:gd name="connsiteX87" fmla="*/ 4624251 w 4667794"/>
                <a:gd name="connsiteY87" fmla="*/ 1915886 h 3500846"/>
                <a:gd name="connsiteX88" fmla="*/ 4606834 w 4667794"/>
                <a:gd name="connsiteY88" fmla="*/ 1976846 h 3500846"/>
                <a:gd name="connsiteX89" fmla="*/ 4580708 w 4667794"/>
                <a:gd name="connsiteY89" fmla="*/ 2055223 h 3500846"/>
                <a:gd name="connsiteX90" fmla="*/ 4563291 w 4667794"/>
                <a:gd name="connsiteY90" fmla="*/ 2177143 h 3500846"/>
                <a:gd name="connsiteX91" fmla="*/ 4528457 w 4667794"/>
                <a:gd name="connsiteY91" fmla="*/ 2246812 h 3500846"/>
                <a:gd name="connsiteX92" fmla="*/ 4511040 w 4667794"/>
                <a:gd name="connsiteY92" fmla="*/ 2299063 h 3500846"/>
                <a:gd name="connsiteX93" fmla="*/ 4484914 w 4667794"/>
                <a:gd name="connsiteY93" fmla="*/ 2360023 h 3500846"/>
                <a:gd name="connsiteX94" fmla="*/ 4458788 w 4667794"/>
                <a:gd name="connsiteY94" fmla="*/ 2438400 h 3500846"/>
                <a:gd name="connsiteX95" fmla="*/ 4432662 w 4667794"/>
                <a:gd name="connsiteY95" fmla="*/ 2473235 h 3500846"/>
                <a:gd name="connsiteX96" fmla="*/ 4380411 w 4667794"/>
                <a:gd name="connsiteY96" fmla="*/ 2595155 h 3500846"/>
                <a:gd name="connsiteX97" fmla="*/ 4354285 w 4667794"/>
                <a:gd name="connsiteY97" fmla="*/ 2629989 h 3500846"/>
                <a:gd name="connsiteX98" fmla="*/ 4328160 w 4667794"/>
                <a:gd name="connsiteY98" fmla="*/ 2690949 h 3500846"/>
                <a:gd name="connsiteX99" fmla="*/ 4275908 w 4667794"/>
                <a:gd name="connsiteY99" fmla="*/ 2786743 h 3500846"/>
                <a:gd name="connsiteX100" fmla="*/ 4249782 w 4667794"/>
                <a:gd name="connsiteY100" fmla="*/ 2812869 h 3500846"/>
                <a:gd name="connsiteX101" fmla="*/ 4180114 w 4667794"/>
                <a:gd name="connsiteY101" fmla="*/ 2891246 h 3500846"/>
                <a:gd name="connsiteX102" fmla="*/ 4145280 w 4667794"/>
                <a:gd name="connsiteY102" fmla="*/ 2926080 h 3500846"/>
                <a:gd name="connsiteX103" fmla="*/ 3988525 w 4667794"/>
                <a:gd name="connsiteY103" fmla="*/ 3056709 h 3500846"/>
                <a:gd name="connsiteX104" fmla="*/ 3918857 w 4667794"/>
                <a:gd name="connsiteY104" fmla="*/ 3100252 h 3500846"/>
                <a:gd name="connsiteX105" fmla="*/ 3840480 w 4667794"/>
                <a:gd name="connsiteY105" fmla="*/ 3135086 h 3500846"/>
                <a:gd name="connsiteX106" fmla="*/ 3753394 w 4667794"/>
                <a:gd name="connsiteY106" fmla="*/ 3178629 h 3500846"/>
                <a:gd name="connsiteX107" fmla="*/ 3666308 w 4667794"/>
                <a:gd name="connsiteY107" fmla="*/ 3204755 h 3500846"/>
                <a:gd name="connsiteX108" fmla="*/ 3483428 w 4667794"/>
                <a:gd name="connsiteY108" fmla="*/ 3274423 h 3500846"/>
                <a:gd name="connsiteX109" fmla="*/ 3344091 w 4667794"/>
                <a:gd name="connsiteY109" fmla="*/ 3309257 h 3500846"/>
                <a:gd name="connsiteX110" fmla="*/ 3248297 w 4667794"/>
                <a:gd name="connsiteY110" fmla="*/ 3344092 h 3500846"/>
                <a:gd name="connsiteX111" fmla="*/ 3204754 w 4667794"/>
                <a:gd name="connsiteY111" fmla="*/ 3352800 h 3500846"/>
                <a:gd name="connsiteX112" fmla="*/ 3021874 w 4667794"/>
                <a:gd name="connsiteY112" fmla="*/ 3413760 h 3500846"/>
                <a:gd name="connsiteX113" fmla="*/ 2882537 w 4667794"/>
                <a:gd name="connsiteY113" fmla="*/ 3439886 h 3500846"/>
                <a:gd name="connsiteX114" fmla="*/ 2786742 w 4667794"/>
                <a:gd name="connsiteY114" fmla="*/ 3466012 h 3500846"/>
                <a:gd name="connsiteX115" fmla="*/ 2638697 w 4667794"/>
                <a:gd name="connsiteY115" fmla="*/ 3492137 h 3500846"/>
                <a:gd name="connsiteX116" fmla="*/ 2481942 w 4667794"/>
                <a:gd name="connsiteY116" fmla="*/ 3500846 h 3500846"/>
                <a:gd name="connsiteX117" fmla="*/ 2151017 w 4667794"/>
                <a:gd name="connsiteY117" fmla="*/ 3483429 h 3500846"/>
                <a:gd name="connsiteX118" fmla="*/ 2098765 w 4667794"/>
                <a:gd name="connsiteY118" fmla="*/ 3474720 h 3500846"/>
                <a:gd name="connsiteX119" fmla="*/ 2002971 w 4667794"/>
                <a:gd name="connsiteY119" fmla="*/ 3466012 h 3500846"/>
                <a:gd name="connsiteX120" fmla="*/ 1811382 w 4667794"/>
                <a:gd name="connsiteY120" fmla="*/ 3431177 h 3500846"/>
                <a:gd name="connsiteX121" fmla="*/ 1741714 w 4667794"/>
                <a:gd name="connsiteY121" fmla="*/ 3405052 h 3500846"/>
                <a:gd name="connsiteX122" fmla="*/ 1637211 w 4667794"/>
                <a:gd name="connsiteY122" fmla="*/ 3378926 h 3500846"/>
                <a:gd name="connsiteX123" fmla="*/ 1576251 w 4667794"/>
                <a:gd name="connsiteY123" fmla="*/ 3344092 h 3500846"/>
                <a:gd name="connsiteX124" fmla="*/ 1550125 w 4667794"/>
                <a:gd name="connsiteY124" fmla="*/ 3335383 h 3500846"/>
                <a:gd name="connsiteX125" fmla="*/ 1489165 w 4667794"/>
                <a:gd name="connsiteY125" fmla="*/ 3309257 h 3500846"/>
                <a:gd name="connsiteX126" fmla="*/ 1384662 w 4667794"/>
                <a:gd name="connsiteY126" fmla="*/ 3265715 h 3500846"/>
                <a:gd name="connsiteX127" fmla="*/ 1123405 w 4667794"/>
                <a:gd name="connsiteY127" fmla="*/ 3126377 h 3500846"/>
                <a:gd name="connsiteX128" fmla="*/ 923108 w 4667794"/>
                <a:gd name="connsiteY128" fmla="*/ 3021875 h 3500846"/>
                <a:gd name="connsiteX129" fmla="*/ 757645 w 4667794"/>
                <a:gd name="connsiteY129" fmla="*/ 2934789 h 3500846"/>
                <a:gd name="connsiteX130" fmla="*/ 722811 w 4667794"/>
                <a:gd name="connsiteY130" fmla="*/ 2908663 h 3500846"/>
                <a:gd name="connsiteX131" fmla="*/ 679268 w 4667794"/>
                <a:gd name="connsiteY131" fmla="*/ 2882537 h 3500846"/>
                <a:gd name="connsiteX132" fmla="*/ 644434 w 4667794"/>
                <a:gd name="connsiteY132" fmla="*/ 2856412 h 3500846"/>
                <a:gd name="connsiteX133" fmla="*/ 539931 w 4667794"/>
                <a:gd name="connsiteY133" fmla="*/ 2769326 h 3500846"/>
                <a:gd name="connsiteX134" fmla="*/ 505097 w 4667794"/>
                <a:gd name="connsiteY134" fmla="*/ 2725783 h 3500846"/>
                <a:gd name="connsiteX135" fmla="*/ 426720 w 4667794"/>
                <a:gd name="connsiteY135" fmla="*/ 2647406 h 3500846"/>
                <a:gd name="connsiteX136" fmla="*/ 287382 w 4667794"/>
                <a:gd name="connsiteY136" fmla="*/ 2490652 h 3500846"/>
                <a:gd name="connsiteX137" fmla="*/ 261257 w 4667794"/>
                <a:gd name="connsiteY137" fmla="*/ 2455817 h 3500846"/>
                <a:gd name="connsiteX138" fmla="*/ 191588 w 4667794"/>
                <a:gd name="connsiteY138" fmla="*/ 2325189 h 3500846"/>
                <a:gd name="connsiteX139" fmla="*/ 121920 w 4667794"/>
                <a:gd name="connsiteY139" fmla="*/ 2203269 h 3500846"/>
                <a:gd name="connsiteX140" fmla="*/ 78377 w 4667794"/>
                <a:gd name="connsiteY140" fmla="*/ 2055223 h 3500846"/>
                <a:gd name="connsiteX141" fmla="*/ 69668 w 4667794"/>
                <a:gd name="connsiteY141" fmla="*/ 1994263 h 3500846"/>
                <a:gd name="connsiteX142" fmla="*/ 52251 w 4667794"/>
                <a:gd name="connsiteY142" fmla="*/ 1759132 h 3500846"/>
                <a:gd name="connsiteX143" fmla="*/ 69668 w 4667794"/>
                <a:gd name="connsiteY143" fmla="*/ 1367246 h 3500846"/>
                <a:gd name="connsiteX144" fmla="*/ 78377 w 4667794"/>
                <a:gd name="connsiteY144" fmla="*/ 1341120 h 3500846"/>
                <a:gd name="connsiteX145" fmla="*/ 87085 w 4667794"/>
                <a:gd name="connsiteY145" fmla="*/ 1271452 h 3500846"/>
                <a:gd name="connsiteX146" fmla="*/ 69668 w 4667794"/>
                <a:gd name="connsiteY146" fmla="*/ 1079863 h 3500846"/>
                <a:gd name="connsiteX147" fmla="*/ 52251 w 4667794"/>
                <a:gd name="connsiteY147" fmla="*/ 1027612 h 3500846"/>
                <a:gd name="connsiteX148" fmla="*/ 43542 w 4667794"/>
                <a:gd name="connsiteY148" fmla="*/ 1001486 h 3500846"/>
                <a:gd name="connsiteX149" fmla="*/ 26125 w 4667794"/>
                <a:gd name="connsiteY149" fmla="*/ 975360 h 3500846"/>
                <a:gd name="connsiteX150" fmla="*/ 0 w 4667794"/>
                <a:gd name="connsiteY150" fmla="*/ 940526 h 350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4667794" h="3500846">
                  <a:moveTo>
                    <a:pt x="0" y="940526"/>
                  </a:moveTo>
                  <a:lnTo>
                    <a:pt x="0" y="940526"/>
                  </a:lnTo>
                  <a:cubicBezTo>
                    <a:pt x="26126" y="920206"/>
                    <a:pt x="53640" y="901555"/>
                    <a:pt x="78377" y="879566"/>
                  </a:cubicBezTo>
                  <a:cubicBezTo>
                    <a:pt x="105992" y="855020"/>
                    <a:pt x="127590" y="823872"/>
                    <a:pt x="156754" y="801189"/>
                  </a:cubicBezTo>
                  <a:lnTo>
                    <a:pt x="235131" y="740229"/>
                  </a:lnTo>
                  <a:cubicBezTo>
                    <a:pt x="249747" y="728745"/>
                    <a:pt x="263209" y="715706"/>
                    <a:pt x="278674" y="705395"/>
                  </a:cubicBezTo>
                  <a:cubicBezTo>
                    <a:pt x="287383" y="699589"/>
                    <a:pt x="296504" y="694359"/>
                    <a:pt x="304800" y="687977"/>
                  </a:cubicBezTo>
                  <a:cubicBezTo>
                    <a:pt x="334265" y="665311"/>
                    <a:pt x="358635" y="634934"/>
                    <a:pt x="391885" y="618309"/>
                  </a:cubicBezTo>
                  <a:cubicBezTo>
                    <a:pt x="449814" y="589345"/>
                    <a:pt x="405029" y="614334"/>
                    <a:pt x="461554" y="574766"/>
                  </a:cubicBezTo>
                  <a:cubicBezTo>
                    <a:pt x="588919" y="485610"/>
                    <a:pt x="426388" y="605494"/>
                    <a:pt x="583474" y="487680"/>
                  </a:cubicBezTo>
                  <a:cubicBezTo>
                    <a:pt x="595085" y="478972"/>
                    <a:pt x="607158" y="470847"/>
                    <a:pt x="618308" y="461555"/>
                  </a:cubicBezTo>
                  <a:cubicBezTo>
                    <a:pt x="635725" y="447041"/>
                    <a:pt x="653708" y="433179"/>
                    <a:pt x="670560" y="418012"/>
                  </a:cubicBezTo>
                  <a:cubicBezTo>
                    <a:pt x="682766" y="407027"/>
                    <a:pt x="692858" y="393784"/>
                    <a:pt x="705394" y="383177"/>
                  </a:cubicBezTo>
                  <a:cubicBezTo>
                    <a:pt x="730660" y="361798"/>
                    <a:pt x="757537" y="342397"/>
                    <a:pt x="783771" y="322217"/>
                  </a:cubicBezTo>
                  <a:cubicBezTo>
                    <a:pt x="795275" y="313368"/>
                    <a:pt x="808342" y="306355"/>
                    <a:pt x="818605" y="296092"/>
                  </a:cubicBezTo>
                  <a:cubicBezTo>
                    <a:pt x="836022" y="278675"/>
                    <a:pt x="848826" y="254856"/>
                    <a:pt x="870857" y="243840"/>
                  </a:cubicBezTo>
                  <a:cubicBezTo>
                    <a:pt x="882468" y="238034"/>
                    <a:pt x="894420" y="232864"/>
                    <a:pt x="905691" y="226423"/>
                  </a:cubicBezTo>
                  <a:cubicBezTo>
                    <a:pt x="914778" y="221230"/>
                    <a:pt x="922776" y="214280"/>
                    <a:pt x="931817" y="209006"/>
                  </a:cubicBezTo>
                  <a:cubicBezTo>
                    <a:pt x="957633" y="193947"/>
                    <a:pt x="983463" y="178829"/>
                    <a:pt x="1010194" y="165463"/>
                  </a:cubicBezTo>
                  <a:cubicBezTo>
                    <a:pt x="1131455" y="104832"/>
                    <a:pt x="1010822" y="170437"/>
                    <a:pt x="1132114" y="121920"/>
                  </a:cubicBezTo>
                  <a:cubicBezTo>
                    <a:pt x="1329429" y="42994"/>
                    <a:pt x="1132496" y="117375"/>
                    <a:pt x="1227908" y="69669"/>
                  </a:cubicBezTo>
                  <a:cubicBezTo>
                    <a:pt x="1247682" y="59782"/>
                    <a:pt x="1267895" y="50534"/>
                    <a:pt x="1288868" y="43543"/>
                  </a:cubicBezTo>
                  <a:cubicBezTo>
                    <a:pt x="1311577" y="35973"/>
                    <a:pt x="1335408" y="32294"/>
                    <a:pt x="1358537" y="26126"/>
                  </a:cubicBezTo>
                  <a:cubicBezTo>
                    <a:pt x="1451323" y="1383"/>
                    <a:pt x="1386246" y="14251"/>
                    <a:pt x="1471748" y="0"/>
                  </a:cubicBezTo>
                  <a:cubicBezTo>
                    <a:pt x="1605616" y="9562"/>
                    <a:pt x="1608339" y="3760"/>
                    <a:pt x="1750422" y="43543"/>
                  </a:cubicBezTo>
                  <a:cubicBezTo>
                    <a:pt x="1771711" y="49504"/>
                    <a:pt x="1790605" y="62114"/>
                    <a:pt x="1811382" y="69669"/>
                  </a:cubicBezTo>
                  <a:cubicBezTo>
                    <a:pt x="1822630" y="73759"/>
                    <a:pt x="1834969" y="74287"/>
                    <a:pt x="1846217" y="78377"/>
                  </a:cubicBezTo>
                  <a:cubicBezTo>
                    <a:pt x="1894191" y="95822"/>
                    <a:pt x="1924502" y="112485"/>
                    <a:pt x="1968137" y="139337"/>
                  </a:cubicBezTo>
                  <a:cubicBezTo>
                    <a:pt x="1985965" y="150308"/>
                    <a:pt x="2004187" y="160916"/>
                    <a:pt x="2020388" y="174172"/>
                  </a:cubicBezTo>
                  <a:cubicBezTo>
                    <a:pt x="2217614" y="335541"/>
                    <a:pt x="1946099" y="129342"/>
                    <a:pt x="2098765" y="243840"/>
                  </a:cubicBezTo>
                  <a:lnTo>
                    <a:pt x="2133600" y="313509"/>
                  </a:lnTo>
                  <a:cubicBezTo>
                    <a:pt x="2139406" y="325120"/>
                    <a:pt x="2146912" y="336027"/>
                    <a:pt x="2151017" y="348343"/>
                  </a:cubicBezTo>
                  <a:cubicBezTo>
                    <a:pt x="2156823" y="365760"/>
                    <a:pt x="2160978" y="383818"/>
                    <a:pt x="2168434" y="400595"/>
                  </a:cubicBezTo>
                  <a:cubicBezTo>
                    <a:pt x="2172685" y="410159"/>
                    <a:pt x="2181170" y="417359"/>
                    <a:pt x="2185851" y="426720"/>
                  </a:cubicBezTo>
                  <a:cubicBezTo>
                    <a:pt x="2192842" y="440702"/>
                    <a:pt x="2196919" y="455978"/>
                    <a:pt x="2203268" y="470263"/>
                  </a:cubicBezTo>
                  <a:cubicBezTo>
                    <a:pt x="2208540" y="482126"/>
                    <a:pt x="2214244" y="493826"/>
                    <a:pt x="2220685" y="505097"/>
                  </a:cubicBezTo>
                  <a:cubicBezTo>
                    <a:pt x="2225878" y="514184"/>
                    <a:pt x="2233421" y="521862"/>
                    <a:pt x="2238102" y="531223"/>
                  </a:cubicBezTo>
                  <a:cubicBezTo>
                    <a:pt x="2242207" y="539434"/>
                    <a:pt x="2243195" y="548911"/>
                    <a:pt x="2246811" y="557349"/>
                  </a:cubicBezTo>
                  <a:cubicBezTo>
                    <a:pt x="2251925" y="569281"/>
                    <a:pt x="2259114" y="580251"/>
                    <a:pt x="2264228" y="592183"/>
                  </a:cubicBezTo>
                  <a:cubicBezTo>
                    <a:pt x="2286837" y="644937"/>
                    <a:pt x="2254276" y="589695"/>
                    <a:pt x="2290354" y="661852"/>
                  </a:cubicBezTo>
                  <a:cubicBezTo>
                    <a:pt x="2295035" y="671213"/>
                    <a:pt x="2303090" y="678616"/>
                    <a:pt x="2307771" y="687977"/>
                  </a:cubicBezTo>
                  <a:cubicBezTo>
                    <a:pt x="2314762" y="701959"/>
                    <a:pt x="2319699" y="716883"/>
                    <a:pt x="2325188" y="731520"/>
                  </a:cubicBezTo>
                  <a:cubicBezTo>
                    <a:pt x="2333687" y="754184"/>
                    <a:pt x="2332818" y="765276"/>
                    <a:pt x="2351314" y="783772"/>
                  </a:cubicBezTo>
                  <a:cubicBezTo>
                    <a:pt x="2364457" y="796915"/>
                    <a:pt x="2379095" y="808755"/>
                    <a:pt x="2394857" y="818606"/>
                  </a:cubicBezTo>
                  <a:cubicBezTo>
                    <a:pt x="2403190" y="823814"/>
                    <a:pt x="2450081" y="834589"/>
                    <a:pt x="2455817" y="836023"/>
                  </a:cubicBezTo>
                  <a:cubicBezTo>
                    <a:pt x="2513874" y="833120"/>
                    <a:pt x="2572077" y="832351"/>
                    <a:pt x="2629988" y="827315"/>
                  </a:cubicBezTo>
                  <a:cubicBezTo>
                    <a:pt x="2639133" y="826520"/>
                    <a:pt x="2647519" y="821829"/>
                    <a:pt x="2656114" y="818606"/>
                  </a:cubicBezTo>
                  <a:cubicBezTo>
                    <a:pt x="2670751" y="813117"/>
                    <a:pt x="2684827" y="806132"/>
                    <a:pt x="2699657" y="801189"/>
                  </a:cubicBezTo>
                  <a:cubicBezTo>
                    <a:pt x="2719706" y="794506"/>
                    <a:pt x="2740229" y="789333"/>
                    <a:pt x="2760617" y="783772"/>
                  </a:cubicBezTo>
                  <a:cubicBezTo>
                    <a:pt x="2772164" y="780623"/>
                    <a:pt x="2783675" y="777204"/>
                    <a:pt x="2795451" y="775063"/>
                  </a:cubicBezTo>
                  <a:cubicBezTo>
                    <a:pt x="2835353" y="767808"/>
                    <a:pt x="2855685" y="769499"/>
                    <a:pt x="2891245" y="757646"/>
                  </a:cubicBezTo>
                  <a:cubicBezTo>
                    <a:pt x="2906075" y="752703"/>
                    <a:pt x="2921064" y="747715"/>
                    <a:pt x="2934788" y="740229"/>
                  </a:cubicBezTo>
                  <a:cubicBezTo>
                    <a:pt x="2953165" y="730205"/>
                    <a:pt x="2967181" y="712015"/>
                    <a:pt x="2987040" y="705395"/>
                  </a:cubicBezTo>
                  <a:cubicBezTo>
                    <a:pt x="3026722" y="692167"/>
                    <a:pt x="3019283" y="694226"/>
                    <a:pt x="3074125" y="679269"/>
                  </a:cubicBezTo>
                  <a:cubicBezTo>
                    <a:pt x="3085672" y="676120"/>
                    <a:pt x="3097451" y="673848"/>
                    <a:pt x="3108960" y="670560"/>
                  </a:cubicBezTo>
                  <a:cubicBezTo>
                    <a:pt x="3117786" y="668038"/>
                    <a:pt x="3126180" y="664078"/>
                    <a:pt x="3135085" y="661852"/>
                  </a:cubicBezTo>
                  <a:cubicBezTo>
                    <a:pt x="3149445" y="658262"/>
                    <a:pt x="3164268" y="656733"/>
                    <a:pt x="3178628" y="653143"/>
                  </a:cubicBezTo>
                  <a:cubicBezTo>
                    <a:pt x="3215633" y="643892"/>
                    <a:pt x="3202960" y="640352"/>
                    <a:pt x="3248297" y="627017"/>
                  </a:cubicBezTo>
                  <a:cubicBezTo>
                    <a:pt x="3384269" y="587025"/>
                    <a:pt x="3311458" y="610685"/>
                    <a:pt x="3422468" y="592183"/>
                  </a:cubicBezTo>
                  <a:cubicBezTo>
                    <a:pt x="3434274" y="590215"/>
                    <a:pt x="3445496" y="585443"/>
                    <a:pt x="3457302" y="583475"/>
                  </a:cubicBezTo>
                  <a:cubicBezTo>
                    <a:pt x="3629293" y="554809"/>
                    <a:pt x="3528251" y="578799"/>
                    <a:pt x="3614057" y="557349"/>
                  </a:cubicBezTo>
                  <a:cubicBezTo>
                    <a:pt x="3675017" y="560252"/>
                    <a:pt x="3736075" y="561549"/>
                    <a:pt x="3796937" y="566057"/>
                  </a:cubicBezTo>
                  <a:cubicBezTo>
                    <a:pt x="3817777" y="567601"/>
                    <a:pt x="3861352" y="576674"/>
                    <a:pt x="3884022" y="583475"/>
                  </a:cubicBezTo>
                  <a:cubicBezTo>
                    <a:pt x="3901607" y="588751"/>
                    <a:pt x="3918271" y="597292"/>
                    <a:pt x="3936274" y="600892"/>
                  </a:cubicBezTo>
                  <a:cubicBezTo>
                    <a:pt x="3962050" y="606047"/>
                    <a:pt x="3988525" y="606697"/>
                    <a:pt x="4014651" y="609600"/>
                  </a:cubicBezTo>
                  <a:lnTo>
                    <a:pt x="4093028" y="635726"/>
                  </a:lnTo>
                  <a:cubicBezTo>
                    <a:pt x="4101737" y="638629"/>
                    <a:pt x="4110327" y="641913"/>
                    <a:pt x="4119154" y="644435"/>
                  </a:cubicBezTo>
                  <a:cubicBezTo>
                    <a:pt x="4127153" y="646720"/>
                    <a:pt x="4221410" y="672696"/>
                    <a:pt x="4232365" y="679269"/>
                  </a:cubicBezTo>
                  <a:cubicBezTo>
                    <a:pt x="4246879" y="687978"/>
                    <a:pt x="4261824" y="696006"/>
                    <a:pt x="4275908" y="705395"/>
                  </a:cubicBezTo>
                  <a:cubicBezTo>
                    <a:pt x="4287984" y="713446"/>
                    <a:pt x="4301099" y="720672"/>
                    <a:pt x="4310742" y="731520"/>
                  </a:cubicBezTo>
                  <a:cubicBezTo>
                    <a:pt x="4324649" y="747166"/>
                    <a:pt x="4333965" y="766355"/>
                    <a:pt x="4345577" y="783772"/>
                  </a:cubicBezTo>
                  <a:cubicBezTo>
                    <a:pt x="4351383" y="792480"/>
                    <a:pt x="4356714" y="801524"/>
                    <a:pt x="4362994" y="809897"/>
                  </a:cubicBezTo>
                  <a:cubicBezTo>
                    <a:pt x="4371703" y="821509"/>
                    <a:pt x="4381652" y="832286"/>
                    <a:pt x="4389120" y="844732"/>
                  </a:cubicBezTo>
                  <a:cubicBezTo>
                    <a:pt x="4399139" y="861430"/>
                    <a:pt x="4407756" y="879008"/>
                    <a:pt x="4415245" y="896983"/>
                  </a:cubicBezTo>
                  <a:cubicBezTo>
                    <a:pt x="4443835" y="965600"/>
                    <a:pt x="4415844" y="932418"/>
                    <a:pt x="4450080" y="966652"/>
                  </a:cubicBezTo>
                  <a:cubicBezTo>
                    <a:pt x="4455886" y="984069"/>
                    <a:pt x="4460436" y="1001956"/>
                    <a:pt x="4467497" y="1018903"/>
                  </a:cubicBezTo>
                  <a:cubicBezTo>
                    <a:pt x="4520316" y="1145672"/>
                    <a:pt x="4466869" y="991107"/>
                    <a:pt x="4519748" y="1132115"/>
                  </a:cubicBezTo>
                  <a:cubicBezTo>
                    <a:pt x="4529418" y="1157900"/>
                    <a:pt x="4537165" y="1184366"/>
                    <a:pt x="4545874" y="1210492"/>
                  </a:cubicBezTo>
                  <a:cubicBezTo>
                    <a:pt x="4551680" y="1227909"/>
                    <a:pt x="4556473" y="1245697"/>
                    <a:pt x="4563291" y="1262743"/>
                  </a:cubicBezTo>
                  <a:cubicBezTo>
                    <a:pt x="4565337" y="1267857"/>
                    <a:pt x="4598866" y="1346739"/>
                    <a:pt x="4606834" y="1375955"/>
                  </a:cubicBezTo>
                  <a:cubicBezTo>
                    <a:pt x="4613132" y="1399049"/>
                    <a:pt x="4617953" y="1422529"/>
                    <a:pt x="4624251" y="1445623"/>
                  </a:cubicBezTo>
                  <a:cubicBezTo>
                    <a:pt x="4626666" y="1454479"/>
                    <a:pt x="4630322" y="1462956"/>
                    <a:pt x="4632960" y="1471749"/>
                  </a:cubicBezTo>
                  <a:cubicBezTo>
                    <a:pt x="4639033" y="1491991"/>
                    <a:pt x="4644571" y="1512389"/>
                    <a:pt x="4650377" y="1532709"/>
                  </a:cubicBezTo>
                  <a:cubicBezTo>
                    <a:pt x="4653280" y="1558835"/>
                    <a:pt x="4654764" y="1585157"/>
                    <a:pt x="4659085" y="1611086"/>
                  </a:cubicBezTo>
                  <a:cubicBezTo>
                    <a:pt x="4660594" y="1620141"/>
                    <a:pt x="4667794" y="1628032"/>
                    <a:pt x="4667794" y="1637212"/>
                  </a:cubicBezTo>
                  <a:cubicBezTo>
                    <a:pt x="4667794" y="1686646"/>
                    <a:pt x="4664004" y="1736069"/>
                    <a:pt x="4659085" y="1785257"/>
                  </a:cubicBezTo>
                  <a:cubicBezTo>
                    <a:pt x="4658172" y="1794391"/>
                    <a:pt x="4652742" y="1802513"/>
                    <a:pt x="4650377" y="1811383"/>
                  </a:cubicBezTo>
                  <a:cubicBezTo>
                    <a:pt x="4641125" y="1846077"/>
                    <a:pt x="4635606" y="1881822"/>
                    <a:pt x="4624251" y="1915886"/>
                  </a:cubicBezTo>
                  <a:cubicBezTo>
                    <a:pt x="4586603" y="2028824"/>
                    <a:pt x="4650564" y="1834724"/>
                    <a:pt x="4606834" y="1976846"/>
                  </a:cubicBezTo>
                  <a:cubicBezTo>
                    <a:pt x="4598735" y="2003167"/>
                    <a:pt x="4589417" y="2029097"/>
                    <a:pt x="4580708" y="2055223"/>
                  </a:cubicBezTo>
                  <a:cubicBezTo>
                    <a:pt x="4574902" y="2095863"/>
                    <a:pt x="4574093" y="2137537"/>
                    <a:pt x="4563291" y="2177143"/>
                  </a:cubicBezTo>
                  <a:cubicBezTo>
                    <a:pt x="4556459" y="2202192"/>
                    <a:pt x="4538685" y="2222947"/>
                    <a:pt x="4528457" y="2246812"/>
                  </a:cubicBezTo>
                  <a:cubicBezTo>
                    <a:pt x="4521225" y="2263687"/>
                    <a:pt x="4517631" y="2281928"/>
                    <a:pt x="4511040" y="2299063"/>
                  </a:cubicBezTo>
                  <a:cubicBezTo>
                    <a:pt x="4503104" y="2319697"/>
                    <a:pt x="4492677" y="2339323"/>
                    <a:pt x="4484914" y="2360023"/>
                  </a:cubicBezTo>
                  <a:cubicBezTo>
                    <a:pt x="4475244" y="2385808"/>
                    <a:pt x="4470328" y="2413396"/>
                    <a:pt x="4458788" y="2438400"/>
                  </a:cubicBezTo>
                  <a:cubicBezTo>
                    <a:pt x="4452706" y="2451579"/>
                    <a:pt x="4439153" y="2460253"/>
                    <a:pt x="4432662" y="2473235"/>
                  </a:cubicBezTo>
                  <a:cubicBezTo>
                    <a:pt x="4412889" y="2512782"/>
                    <a:pt x="4406940" y="2559783"/>
                    <a:pt x="4380411" y="2595155"/>
                  </a:cubicBezTo>
                  <a:cubicBezTo>
                    <a:pt x="4371702" y="2606766"/>
                    <a:pt x="4361235" y="2617247"/>
                    <a:pt x="4354285" y="2629989"/>
                  </a:cubicBezTo>
                  <a:cubicBezTo>
                    <a:pt x="4343699" y="2649397"/>
                    <a:pt x="4337308" y="2670823"/>
                    <a:pt x="4328160" y="2690949"/>
                  </a:cubicBezTo>
                  <a:cubicBezTo>
                    <a:pt x="4317049" y="2715394"/>
                    <a:pt x="4286944" y="2770977"/>
                    <a:pt x="4275908" y="2786743"/>
                  </a:cubicBezTo>
                  <a:cubicBezTo>
                    <a:pt x="4268845" y="2796833"/>
                    <a:pt x="4257171" y="2803016"/>
                    <a:pt x="4249782" y="2812869"/>
                  </a:cubicBezTo>
                  <a:cubicBezTo>
                    <a:pt x="4176990" y="2909927"/>
                    <a:pt x="4277620" y="2804575"/>
                    <a:pt x="4180114" y="2891246"/>
                  </a:cubicBezTo>
                  <a:cubicBezTo>
                    <a:pt x="4167841" y="2902155"/>
                    <a:pt x="4157346" y="2914942"/>
                    <a:pt x="4145280" y="2926080"/>
                  </a:cubicBezTo>
                  <a:cubicBezTo>
                    <a:pt x="4095443" y="2972083"/>
                    <a:pt x="4044047" y="3017517"/>
                    <a:pt x="3988525" y="3056709"/>
                  </a:cubicBezTo>
                  <a:cubicBezTo>
                    <a:pt x="3966152" y="3072502"/>
                    <a:pt x="3943060" y="3087439"/>
                    <a:pt x="3918857" y="3100252"/>
                  </a:cubicBezTo>
                  <a:cubicBezTo>
                    <a:pt x="3893590" y="3113629"/>
                    <a:pt x="3866318" y="3122847"/>
                    <a:pt x="3840480" y="3135086"/>
                  </a:cubicBezTo>
                  <a:cubicBezTo>
                    <a:pt x="3811149" y="3148980"/>
                    <a:pt x="3783528" y="3166575"/>
                    <a:pt x="3753394" y="3178629"/>
                  </a:cubicBezTo>
                  <a:cubicBezTo>
                    <a:pt x="3725255" y="3189885"/>
                    <a:pt x="3694870" y="3194620"/>
                    <a:pt x="3666308" y="3204755"/>
                  </a:cubicBezTo>
                  <a:cubicBezTo>
                    <a:pt x="3604830" y="3226570"/>
                    <a:pt x="3547395" y="3261629"/>
                    <a:pt x="3483428" y="3274423"/>
                  </a:cubicBezTo>
                  <a:cubicBezTo>
                    <a:pt x="3426368" y="3285835"/>
                    <a:pt x="3411819" y="3287707"/>
                    <a:pt x="3344091" y="3309257"/>
                  </a:cubicBezTo>
                  <a:cubicBezTo>
                    <a:pt x="3311713" y="3319559"/>
                    <a:pt x="3280727" y="3333957"/>
                    <a:pt x="3248297" y="3344092"/>
                  </a:cubicBezTo>
                  <a:cubicBezTo>
                    <a:pt x="3234169" y="3348507"/>
                    <a:pt x="3218882" y="3348385"/>
                    <a:pt x="3204754" y="3352800"/>
                  </a:cubicBezTo>
                  <a:cubicBezTo>
                    <a:pt x="3116304" y="3380441"/>
                    <a:pt x="3109548" y="3393528"/>
                    <a:pt x="3021874" y="3413760"/>
                  </a:cubicBezTo>
                  <a:cubicBezTo>
                    <a:pt x="2975829" y="3424386"/>
                    <a:pt x="2928127" y="3427452"/>
                    <a:pt x="2882537" y="3439886"/>
                  </a:cubicBezTo>
                  <a:cubicBezTo>
                    <a:pt x="2850605" y="3448595"/>
                    <a:pt x="2818852" y="3457985"/>
                    <a:pt x="2786742" y="3466012"/>
                  </a:cubicBezTo>
                  <a:cubicBezTo>
                    <a:pt x="2756818" y="3473493"/>
                    <a:pt x="2642686" y="3491738"/>
                    <a:pt x="2638697" y="3492137"/>
                  </a:cubicBezTo>
                  <a:cubicBezTo>
                    <a:pt x="2586624" y="3497344"/>
                    <a:pt x="2534194" y="3497943"/>
                    <a:pt x="2481942" y="3500846"/>
                  </a:cubicBezTo>
                  <a:cubicBezTo>
                    <a:pt x="2381119" y="3496813"/>
                    <a:pt x="2256022" y="3494482"/>
                    <a:pt x="2151017" y="3483429"/>
                  </a:cubicBezTo>
                  <a:cubicBezTo>
                    <a:pt x="2133456" y="3481581"/>
                    <a:pt x="2116302" y="3476783"/>
                    <a:pt x="2098765" y="3474720"/>
                  </a:cubicBezTo>
                  <a:cubicBezTo>
                    <a:pt x="2066922" y="3470974"/>
                    <a:pt x="2034902" y="3468915"/>
                    <a:pt x="2002971" y="3466012"/>
                  </a:cubicBezTo>
                  <a:cubicBezTo>
                    <a:pt x="1939108" y="3454400"/>
                    <a:pt x="1874594" y="3445926"/>
                    <a:pt x="1811382" y="3431177"/>
                  </a:cubicBezTo>
                  <a:cubicBezTo>
                    <a:pt x="1787229" y="3425541"/>
                    <a:pt x="1765470" y="3412179"/>
                    <a:pt x="1741714" y="3405052"/>
                  </a:cubicBezTo>
                  <a:cubicBezTo>
                    <a:pt x="1707322" y="3394734"/>
                    <a:pt x="1637211" y="3378926"/>
                    <a:pt x="1637211" y="3378926"/>
                  </a:cubicBezTo>
                  <a:cubicBezTo>
                    <a:pt x="1616891" y="3367315"/>
                    <a:pt x="1597184" y="3354558"/>
                    <a:pt x="1576251" y="3344092"/>
                  </a:cubicBezTo>
                  <a:cubicBezTo>
                    <a:pt x="1568040" y="3339987"/>
                    <a:pt x="1558648" y="3338792"/>
                    <a:pt x="1550125" y="3335383"/>
                  </a:cubicBezTo>
                  <a:cubicBezTo>
                    <a:pt x="1529599" y="3327172"/>
                    <a:pt x="1509198" y="3318606"/>
                    <a:pt x="1489165" y="3309257"/>
                  </a:cubicBezTo>
                  <a:cubicBezTo>
                    <a:pt x="1396429" y="3265980"/>
                    <a:pt x="1450385" y="3282144"/>
                    <a:pt x="1384662" y="3265715"/>
                  </a:cubicBezTo>
                  <a:cubicBezTo>
                    <a:pt x="1236076" y="3166656"/>
                    <a:pt x="1364804" y="3247076"/>
                    <a:pt x="1123405" y="3126377"/>
                  </a:cubicBezTo>
                  <a:cubicBezTo>
                    <a:pt x="1056049" y="3092699"/>
                    <a:pt x="990077" y="3056316"/>
                    <a:pt x="923108" y="3021875"/>
                  </a:cubicBezTo>
                  <a:cubicBezTo>
                    <a:pt x="866898" y="2992967"/>
                    <a:pt x="810821" y="2968628"/>
                    <a:pt x="757645" y="2934789"/>
                  </a:cubicBezTo>
                  <a:cubicBezTo>
                    <a:pt x="745400" y="2926997"/>
                    <a:pt x="734888" y="2916714"/>
                    <a:pt x="722811" y="2908663"/>
                  </a:cubicBezTo>
                  <a:cubicBezTo>
                    <a:pt x="708727" y="2899274"/>
                    <a:pt x="693352" y="2891926"/>
                    <a:pt x="679268" y="2882537"/>
                  </a:cubicBezTo>
                  <a:cubicBezTo>
                    <a:pt x="667192" y="2874486"/>
                    <a:pt x="656245" y="2864848"/>
                    <a:pt x="644434" y="2856412"/>
                  </a:cubicBezTo>
                  <a:cubicBezTo>
                    <a:pt x="590059" y="2817574"/>
                    <a:pt x="623339" y="2852735"/>
                    <a:pt x="539931" y="2769326"/>
                  </a:cubicBezTo>
                  <a:cubicBezTo>
                    <a:pt x="526788" y="2756183"/>
                    <a:pt x="517745" y="2739404"/>
                    <a:pt x="505097" y="2725783"/>
                  </a:cubicBezTo>
                  <a:cubicBezTo>
                    <a:pt x="479956" y="2698708"/>
                    <a:pt x="452846" y="2673532"/>
                    <a:pt x="426720" y="2647406"/>
                  </a:cubicBezTo>
                  <a:cubicBezTo>
                    <a:pt x="371704" y="2592390"/>
                    <a:pt x="344981" y="2567454"/>
                    <a:pt x="287382" y="2490652"/>
                  </a:cubicBezTo>
                  <a:cubicBezTo>
                    <a:pt x="278674" y="2479040"/>
                    <a:pt x="269049" y="2468062"/>
                    <a:pt x="261257" y="2455817"/>
                  </a:cubicBezTo>
                  <a:cubicBezTo>
                    <a:pt x="220082" y="2391113"/>
                    <a:pt x="229631" y="2394935"/>
                    <a:pt x="191588" y="2325189"/>
                  </a:cubicBezTo>
                  <a:cubicBezTo>
                    <a:pt x="169174" y="2284097"/>
                    <a:pt x="136722" y="2247674"/>
                    <a:pt x="121920" y="2203269"/>
                  </a:cubicBezTo>
                  <a:cubicBezTo>
                    <a:pt x="103573" y="2148231"/>
                    <a:pt x="92138" y="2117148"/>
                    <a:pt x="78377" y="2055223"/>
                  </a:cubicBezTo>
                  <a:cubicBezTo>
                    <a:pt x="73924" y="2035185"/>
                    <a:pt x="72214" y="2014631"/>
                    <a:pt x="69668" y="1994263"/>
                  </a:cubicBezTo>
                  <a:cubicBezTo>
                    <a:pt x="56631" y="1889965"/>
                    <a:pt x="59532" y="1890189"/>
                    <a:pt x="52251" y="1759132"/>
                  </a:cubicBezTo>
                  <a:cubicBezTo>
                    <a:pt x="53577" y="1708758"/>
                    <a:pt x="46829" y="1481440"/>
                    <a:pt x="69668" y="1367246"/>
                  </a:cubicBezTo>
                  <a:cubicBezTo>
                    <a:pt x="71468" y="1358244"/>
                    <a:pt x="75474" y="1349829"/>
                    <a:pt x="78377" y="1341120"/>
                  </a:cubicBezTo>
                  <a:cubicBezTo>
                    <a:pt x="81280" y="1317897"/>
                    <a:pt x="87085" y="1294855"/>
                    <a:pt x="87085" y="1271452"/>
                  </a:cubicBezTo>
                  <a:cubicBezTo>
                    <a:pt x="87085" y="1225688"/>
                    <a:pt x="85205" y="1136830"/>
                    <a:pt x="69668" y="1079863"/>
                  </a:cubicBezTo>
                  <a:cubicBezTo>
                    <a:pt x="64837" y="1062151"/>
                    <a:pt x="58057" y="1045029"/>
                    <a:pt x="52251" y="1027612"/>
                  </a:cubicBezTo>
                  <a:cubicBezTo>
                    <a:pt x="49348" y="1018903"/>
                    <a:pt x="48634" y="1009124"/>
                    <a:pt x="43542" y="1001486"/>
                  </a:cubicBezTo>
                  <a:lnTo>
                    <a:pt x="26125" y="975360"/>
                  </a:lnTo>
                  <a:cubicBezTo>
                    <a:pt x="15364" y="943077"/>
                    <a:pt x="4354" y="946332"/>
                    <a:pt x="0" y="940526"/>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EA288DE-21EE-E3C0-1178-B4C258354A5D}"/>
                </a:ext>
              </a:extLst>
            </p:cNvPr>
            <p:cNvSpPr/>
            <p:nvPr/>
          </p:nvSpPr>
          <p:spPr>
            <a:xfrm>
              <a:off x="1198580" y="3204632"/>
              <a:ext cx="426720" cy="42672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t>
              </a:r>
            </a:p>
          </p:txBody>
        </p:sp>
        <p:sp>
          <p:nvSpPr>
            <p:cNvPr id="14" name="Oval 13">
              <a:extLst>
                <a:ext uri="{FF2B5EF4-FFF2-40B4-BE49-F238E27FC236}">
                  <a16:creationId xmlns:a16="http://schemas.microsoft.com/office/drawing/2014/main" id="{25D645CB-3CAE-2C35-B137-7D9C86750F18}"/>
                </a:ext>
              </a:extLst>
            </p:cNvPr>
            <p:cNvSpPr/>
            <p:nvPr/>
          </p:nvSpPr>
          <p:spPr>
            <a:xfrm>
              <a:off x="3771276" y="2683389"/>
              <a:ext cx="426720" cy="42672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Oval 14">
              <a:extLst>
                <a:ext uri="{FF2B5EF4-FFF2-40B4-BE49-F238E27FC236}">
                  <a16:creationId xmlns:a16="http://schemas.microsoft.com/office/drawing/2014/main" id="{339A09BD-4526-D9AB-B7F8-A85E2EB8AE7E}"/>
                </a:ext>
              </a:extLst>
            </p:cNvPr>
            <p:cNvSpPr/>
            <p:nvPr/>
          </p:nvSpPr>
          <p:spPr>
            <a:xfrm>
              <a:off x="3967060" y="3361152"/>
              <a:ext cx="426720" cy="42672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u</a:t>
              </a:r>
            </a:p>
          </p:txBody>
        </p:sp>
        <p:sp>
          <p:nvSpPr>
            <p:cNvPr id="16" name="Oval 15">
              <a:extLst>
                <a:ext uri="{FF2B5EF4-FFF2-40B4-BE49-F238E27FC236}">
                  <a16:creationId xmlns:a16="http://schemas.microsoft.com/office/drawing/2014/main" id="{BA08ED73-C373-5FE9-8AA4-25FBD8911DA5}"/>
                </a:ext>
              </a:extLst>
            </p:cNvPr>
            <p:cNvSpPr/>
            <p:nvPr/>
          </p:nvSpPr>
          <p:spPr>
            <a:xfrm>
              <a:off x="3358169" y="4022568"/>
              <a:ext cx="586760" cy="502845"/>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U’</a:t>
              </a:r>
            </a:p>
          </p:txBody>
        </p:sp>
        <p:sp>
          <p:nvSpPr>
            <p:cNvPr id="17" name="Oval 16">
              <a:extLst>
                <a:ext uri="{FF2B5EF4-FFF2-40B4-BE49-F238E27FC236}">
                  <a16:creationId xmlns:a16="http://schemas.microsoft.com/office/drawing/2014/main" id="{40471ACE-AD01-F2FB-0B33-8E805B062181}"/>
                </a:ext>
              </a:extLst>
            </p:cNvPr>
            <p:cNvSpPr/>
            <p:nvPr/>
          </p:nvSpPr>
          <p:spPr>
            <a:xfrm>
              <a:off x="5667986" y="2243650"/>
              <a:ext cx="426720" cy="426720"/>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Oval 17">
              <a:extLst>
                <a:ext uri="{FF2B5EF4-FFF2-40B4-BE49-F238E27FC236}">
                  <a16:creationId xmlns:a16="http://schemas.microsoft.com/office/drawing/2014/main" id="{4298FC48-EE73-D21E-BC0A-1096F1A07962}"/>
                </a:ext>
              </a:extLst>
            </p:cNvPr>
            <p:cNvSpPr/>
            <p:nvPr/>
          </p:nvSpPr>
          <p:spPr>
            <a:xfrm>
              <a:off x="6094706" y="3432040"/>
              <a:ext cx="426720" cy="426720"/>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v</a:t>
              </a:r>
            </a:p>
          </p:txBody>
        </p:sp>
        <p:sp>
          <p:nvSpPr>
            <p:cNvPr id="19" name="Oval 18">
              <a:extLst>
                <a:ext uri="{FF2B5EF4-FFF2-40B4-BE49-F238E27FC236}">
                  <a16:creationId xmlns:a16="http://schemas.microsoft.com/office/drawing/2014/main" id="{17BC8FDA-9966-DCF6-9E99-7CC8572DFEA3}"/>
                </a:ext>
              </a:extLst>
            </p:cNvPr>
            <p:cNvSpPr/>
            <p:nvPr/>
          </p:nvSpPr>
          <p:spPr>
            <a:xfrm>
              <a:off x="5600878" y="4756638"/>
              <a:ext cx="493828" cy="538588"/>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V’</a:t>
              </a:r>
            </a:p>
          </p:txBody>
        </p:sp>
        <p:cxnSp>
          <p:nvCxnSpPr>
            <p:cNvPr id="20" name="Straight Connector 19">
              <a:extLst>
                <a:ext uri="{FF2B5EF4-FFF2-40B4-BE49-F238E27FC236}">
                  <a16:creationId xmlns:a16="http://schemas.microsoft.com/office/drawing/2014/main" id="{C647CF7D-A3B1-D5AB-DAEA-582A0A4FE9E9}"/>
                </a:ext>
              </a:extLst>
            </p:cNvPr>
            <p:cNvCxnSpPr>
              <a:stCxn id="14" idx="6"/>
              <a:endCxn id="17" idx="2"/>
            </p:cNvCxnSpPr>
            <p:nvPr/>
          </p:nvCxnSpPr>
          <p:spPr>
            <a:xfrm flipV="1">
              <a:off x="4197996" y="2457010"/>
              <a:ext cx="1469990" cy="439739"/>
            </a:xfrm>
            <a:prstGeom prst="line">
              <a:avLst/>
            </a:prstGeom>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18BFAFE2-ABB9-E3DA-65F5-E44EA44ADFB3}"/>
                </a:ext>
              </a:extLst>
            </p:cNvPr>
            <p:cNvCxnSpPr>
              <a:cxnSpLocks/>
              <a:stCxn id="15" idx="6"/>
              <a:endCxn id="18" idx="2"/>
            </p:cNvCxnSpPr>
            <p:nvPr/>
          </p:nvCxnSpPr>
          <p:spPr>
            <a:xfrm>
              <a:off x="4393780" y="3574512"/>
              <a:ext cx="1700926" cy="70888"/>
            </a:xfrm>
            <a:prstGeom prst="line">
              <a:avLst/>
            </a:prstGeom>
            <a:ln>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id="{74B4663D-826C-0EDE-CC1B-46D2750D77F5}"/>
                </a:ext>
              </a:extLst>
            </p:cNvPr>
            <p:cNvCxnSpPr>
              <a:cxnSpLocks/>
              <a:stCxn id="16" idx="6"/>
              <a:endCxn id="19" idx="2"/>
            </p:cNvCxnSpPr>
            <p:nvPr/>
          </p:nvCxnSpPr>
          <p:spPr>
            <a:xfrm>
              <a:off x="3944929" y="4273991"/>
              <a:ext cx="1655949" cy="751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F9716EB-4C87-6D3C-44C1-12A5015165C0}"/>
                </a:ext>
              </a:extLst>
            </p:cNvPr>
            <p:cNvCxnSpPr>
              <a:cxnSpLocks/>
              <a:stCxn id="15" idx="7"/>
              <a:endCxn id="17" idx="3"/>
            </p:cNvCxnSpPr>
            <p:nvPr/>
          </p:nvCxnSpPr>
          <p:spPr>
            <a:xfrm flipV="1">
              <a:off x="4331288" y="2607878"/>
              <a:ext cx="1399190" cy="815766"/>
            </a:xfrm>
            <a:prstGeom prst="line">
              <a:avLst/>
            </a:prstGeom>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C6428683-70B7-8D18-E5BE-2C8DED7A75E6}"/>
                </a:ext>
              </a:extLst>
            </p:cNvPr>
            <p:cNvCxnSpPr>
              <a:cxnSpLocks/>
              <a:stCxn id="13" idx="6"/>
            </p:cNvCxnSpPr>
            <p:nvPr/>
          </p:nvCxnSpPr>
          <p:spPr>
            <a:xfrm flipV="1">
              <a:off x="1625300" y="3157589"/>
              <a:ext cx="440873" cy="260403"/>
            </a:xfrm>
            <a:prstGeom prst="line">
              <a:avLst/>
            </a:prstGeom>
            <a:ln>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1BBC41BB-C98A-1083-D609-EBB9C3A50122}"/>
                </a:ext>
              </a:extLst>
            </p:cNvPr>
            <p:cNvCxnSpPr>
              <a:cxnSpLocks/>
            </p:cNvCxnSpPr>
            <p:nvPr/>
          </p:nvCxnSpPr>
          <p:spPr>
            <a:xfrm>
              <a:off x="2066173" y="3157589"/>
              <a:ext cx="234857" cy="567146"/>
            </a:xfrm>
            <a:prstGeom prst="line">
              <a:avLst/>
            </a:prstGeom>
            <a:ln>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4ED3B244-4366-BBCE-111C-92D50035EF1D}"/>
                </a:ext>
              </a:extLst>
            </p:cNvPr>
            <p:cNvCxnSpPr>
              <a:cxnSpLocks/>
            </p:cNvCxnSpPr>
            <p:nvPr/>
          </p:nvCxnSpPr>
          <p:spPr>
            <a:xfrm flipV="1">
              <a:off x="2312819" y="3204632"/>
              <a:ext cx="750920" cy="520103"/>
            </a:xfrm>
            <a:prstGeom prst="line">
              <a:avLst/>
            </a:prstGeom>
            <a:ln>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7" name="Straight Connector 26">
              <a:extLst>
                <a:ext uri="{FF2B5EF4-FFF2-40B4-BE49-F238E27FC236}">
                  <a16:creationId xmlns:a16="http://schemas.microsoft.com/office/drawing/2014/main" id="{4CDEB1B5-E00B-0F07-AED9-7A391F3C009A}"/>
                </a:ext>
              </a:extLst>
            </p:cNvPr>
            <p:cNvCxnSpPr>
              <a:cxnSpLocks/>
              <a:stCxn id="15" idx="2"/>
            </p:cNvCxnSpPr>
            <p:nvPr/>
          </p:nvCxnSpPr>
          <p:spPr>
            <a:xfrm flipH="1" flipV="1">
              <a:off x="3063739" y="3204632"/>
              <a:ext cx="903321" cy="369880"/>
            </a:xfrm>
            <a:prstGeom prst="line">
              <a:avLst/>
            </a:prstGeom>
            <a:ln>
              <a:solidFill>
                <a:schemeClr val="accent5"/>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2ADE2EB-9BED-748C-C76C-A9425B6817B1}"/>
                    </a:ext>
                  </a:extLst>
                </p:cNvPr>
                <p:cNvSpPr txBox="1"/>
                <p:nvPr/>
              </p:nvSpPr>
              <p:spPr>
                <a:xfrm>
                  <a:off x="2271565" y="2845955"/>
                  <a:ext cx="911211"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𝛿</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𝑠</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𝑢</m:t>
                        </m:r>
                        <m:r>
                          <a:rPr lang="en-US" b="0" i="1" smtClean="0">
                            <a:solidFill>
                              <a:schemeClr val="accent5"/>
                            </a:solidFill>
                            <a:latin typeface="Cambria Math" panose="02040503050406030204" pitchFamily="18" charset="0"/>
                          </a:rPr>
                          <m:t>)</m:t>
                        </m:r>
                      </m:oMath>
                    </m:oMathPara>
                  </a14:m>
                  <a:endParaRPr lang="en-US" dirty="0">
                    <a:solidFill>
                      <a:schemeClr val="accent5"/>
                    </a:solidFill>
                  </a:endParaRPr>
                </a:p>
              </p:txBody>
            </p:sp>
          </mc:Choice>
          <mc:Fallback xmlns="">
            <p:sp>
              <p:nvSpPr>
                <p:cNvPr id="28" name="TextBox 27">
                  <a:extLst>
                    <a:ext uri="{FF2B5EF4-FFF2-40B4-BE49-F238E27FC236}">
                      <a16:creationId xmlns:a16="http://schemas.microsoft.com/office/drawing/2014/main" id="{C2ADE2EB-9BED-748C-C76C-A9425B6817B1}"/>
                    </a:ext>
                  </a:extLst>
                </p:cNvPr>
                <p:cNvSpPr txBox="1">
                  <a:spLocks noRot="1" noChangeAspect="1" noMove="1" noResize="1" noEditPoints="1" noAdjustHandles="1" noChangeArrowheads="1" noChangeShapeType="1" noTextEdit="1"/>
                </p:cNvSpPr>
                <p:nvPr/>
              </p:nvSpPr>
              <p:spPr>
                <a:xfrm>
                  <a:off x="2271565" y="2845955"/>
                  <a:ext cx="911211" cy="369332"/>
                </a:xfrm>
                <a:prstGeom prst="rect">
                  <a:avLst/>
                </a:prstGeom>
                <a:blipFill>
                  <a:blip r:embed="rId4"/>
                  <a:stretch>
                    <a:fillRect b="-1724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BFEA787-D3BE-F2BF-343C-4E7DFFB8E62E}"/>
                    </a:ext>
                  </a:extLst>
                </p:cNvPr>
                <p:cNvSpPr txBox="1"/>
                <p:nvPr/>
              </p:nvSpPr>
              <p:spPr>
                <a:xfrm>
                  <a:off x="4820500" y="3261103"/>
                  <a:ext cx="1218603"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𝑒</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𝑢</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𝑣</m:t>
                        </m:r>
                        <m:r>
                          <a:rPr lang="en-US" b="0" i="1" smtClean="0">
                            <a:solidFill>
                              <a:schemeClr val="accent5"/>
                            </a:solidFill>
                            <a:latin typeface="Cambria Math" panose="02040503050406030204" pitchFamily="18" charset="0"/>
                          </a:rPr>
                          <m:t>)</m:t>
                        </m:r>
                      </m:oMath>
                    </m:oMathPara>
                  </a14:m>
                  <a:endParaRPr lang="en-US" dirty="0">
                    <a:solidFill>
                      <a:schemeClr val="accent5"/>
                    </a:solidFill>
                  </a:endParaRPr>
                </a:p>
              </p:txBody>
            </p:sp>
          </mc:Choice>
          <mc:Fallback xmlns="">
            <p:sp>
              <p:nvSpPr>
                <p:cNvPr id="29" name="TextBox 28">
                  <a:extLst>
                    <a:ext uri="{FF2B5EF4-FFF2-40B4-BE49-F238E27FC236}">
                      <a16:creationId xmlns:a16="http://schemas.microsoft.com/office/drawing/2014/main" id="{5BFEA787-D3BE-F2BF-343C-4E7DFFB8E62E}"/>
                    </a:ext>
                  </a:extLst>
                </p:cNvPr>
                <p:cNvSpPr txBox="1">
                  <a:spLocks noRot="1" noChangeAspect="1" noMove="1" noResize="1" noEditPoints="1" noAdjustHandles="1" noChangeArrowheads="1" noChangeShapeType="1" noTextEdit="1"/>
                </p:cNvSpPr>
                <p:nvPr/>
              </p:nvSpPr>
              <p:spPr>
                <a:xfrm>
                  <a:off x="4820500" y="3261103"/>
                  <a:ext cx="1218603" cy="369332"/>
                </a:xfrm>
                <a:prstGeom prst="rect">
                  <a:avLst/>
                </a:prstGeom>
                <a:blipFill>
                  <a:blip r:embed="rId5"/>
                  <a:stretch>
                    <a:fillRect b="-9677"/>
                  </a:stretch>
                </a:blipFill>
                <a:ln>
                  <a:noFill/>
                </a:ln>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36D1DC42-CA21-8B5A-A8D5-39D509D0527B}"/>
                </a:ext>
              </a:extLst>
            </p:cNvPr>
            <p:cNvCxnSpPr>
              <a:cxnSpLocks/>
              <a:stCxn id="13" idx="5"/>
            </p:cNvCxnSpPr>
            <p:nvPr/>
          </p:nvCxnSpPr>
          <p:spPr>
            <a:xfrm>
              <a:off x="1562808" y="3568860"/>
              <a:ext cx="394327" cy="634498"/>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8E21BF-17B7-B9E3-8FC7-E8C2636943D5}"/>
                </a:ext>
              </a:extLst>
            </p:cNvPr>
            <p:cNvCxnSpPr>
              <a:cxnSpLocks/>
            </p:cNvCxnSpPr>
            <p:nvPr/>
          </p:nvCxnSpPr>
          <p:spPr>
            <a:xfrm flipH="1">
              <a:off x="1928693" y="3934885"/>
              <a:ext cx="641680" cy="268473"/>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F9C3AF4-2D30-6D2B-E86E-F18387C1D986}"/>
                </a:ext>
              </a:extLst>
            </p:cNvPr>
            <p:cNvCxnSpPr>
              <a:cxnSpLocks/>
              <a:endCxn id="16" idx="2"/>
            </p:cNvCxnSpPr>
            <p:nvPr/>
          </p:nvCxnSpPr>
          <p:spPr>
            <a:xfrm>
              <a:off x="2570373" y="3940537"/>
              <a:ext cx="787796" cy="333454"/>
            </a:xfrm>
            <a:prstGeom prst="line">
              <a:avLst/>
            </a:prstGeom>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1AEAC35-1157-5012-F6E8-0C47CCBCBEA9}"/>
                    </a:ext>
                  </a:extLst>
                </p:cNvPr>
                <p:cNvSpPr txBox="1"/>
                <p:nvPr/>
              </p:nvSpPr>
              <p:spPr>
                <a:xfrm>
                  <a:off x="2122014" y="4069121"/>
                  <a:ext cx="964688"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𝛿</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𝑠</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𝑢</m:t>
                        </m:r>
                        <m:r>
                          <a:rPr lang="en-US" b="0" i="1" smtClean="0">
                            <a:solidFill>
                              <a:schemeClr val="accent1"/>
                            </a:solidFill>
                            <a:latin typeface="Cambria Math" panose="02040503050406030204" pitchFamily="18" charset="0"/>
                          </a:rPr>
                          <m:t>′)</m:t>
                        </m:r>
                      </m:oMath>
                    </m:oMathPara>
                  </a14:m>
                  <a:endParaRPr lang="en-US" dirty="0">
                    <a:solidFill>
                      <a:schemeClr val="accent1"/>
                    </a:solidFill>
                  </a:endParaRPr>
                </a:p>
              </p:txBody>
            </p:sp>
          </mc:Choice>
          <mc:Fallback xmlns="">
            <p:sp>
              <p:nvSpPr>
                <p:cNvPr id="52" name="TextBox 51">
                  <a:extLst>
                    <a:ext uri="{FF2B5EF4-FFF2-40B4-BE49-F238E27FC236}">
                      <a16:creationId xmlns:a16="http://schemas.microsoft.com/office/drawing/2014/main" id="{71AEAC35-1157-5012-F6E8-0C47CCBCBEA9}"/>
                    </a:ext>
                  </a:extLst>
                </p:cNvPr>
                <p:cNvSpPr txBox="1">
                  <a:spLocks noRot="1" noChangeAspect="1" noMove="1" noResize="1" noEditPoints="1" noAdjustHandles="1" noChangeArrowheads="1" noChangeShapeType="1" noTextEdit="1"/>
                </p:cNvSpPr>
                <p:nvPr/>
              </p:nvSpPr>
              <p:spPr>
                <a:xfrm>
                  <a:off x="2122014" y="4069121"/>
                  <a:ext cx="964688" cy="369332"/>
                </a:xfrm>
                <a:prstGeom prst="rect">
                  <a:avLst/>
                </a:prstGeom>
                <a:blipFill>
                  <a:blip r:embed="rId6"/>
                  <a:stretch>
                    <a:fillRect b="-133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487ADEE-675C-5C03-849E-D989A3D07052}"/>
                    </a:ext>
                  </a:extLst>
                </p:cNvPr>
                <p:cNvSpPr txBox="1"/>
                <p:nvPr/>
              </p:nvSpPr>
              <p:spPr>
                <a:xfrm>
                  <a:off x="4548165" y="4253787"/>
                  <a:ext cx="1378903"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𝑒</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𝑢</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𝑣</m:t>
                        </m:r>
                        <m:r>
                          <a:rPr lang="en-US" b="0" i="1" smtClean="0">
                            <a:solidFill>
                              <a:schemeClr val="accent1"/>
                            </a:solidFill>
                            <a:latin typeface="Cambria Math" panose="02040503050406030204" pitchFamily="18" charset="0"/>
                          </a:rPr>
                          <m:t>′)</m:t>
                        </m:r>
                      </m:oMath>
                    </m:oMathPara>
                  </a14:m>
                  <a:endParaRPr lang="en-US" dirty="0">
                    <a:solidFill>
                      <a:schemeClr val="accent1"/>
                    </a:solidFill>
                  </a:endParaRPr>
                </a:p>
              </p:txBody>
            </p:sp>
          </mc:Choice>
          <mc:Fallback xmlns="">
            <p:sp>
              <p:nvSpPr>
                <p:cNvPr id="53" name="TextBox 52">
                  <a:extLst>
                    <a:ext uri="{FF2B5EF4-FFF2-40B4-BE49-F238E27FC236}">
                      <a16:creationId xmlns:a16="http://schemas.microsoft.com/office/drawing/2014/main" id="{C487ADEE-675C-5C03-849E-D989A3D07052}"/>
                    </a:ext>
                  </a:extLst>
                </p:cNvPr>
                <p:cNvSpPr txBox="1">
                  <a:spLocks noRot="1" noChangeAspect="1" noMove="1" noResize="1" noEditPoints="1" noAdjustHandles="1" noChangeArrowheads="1" noChangeShapeType="1" noTextEdit="1"/>
                </p:cNvSpPr>
                <p:nvPr/>
              </p:nvSpPr>
              <p:spPr>
                <a:xfrm>
                  <a:off x="4548165" y="4253787"/>
                  <a:ext cx="1378903" cy="369332"/>
                </a:xfrm>
                <a:prstGeom prst="rect">
                  <a:avLst/>
                </a:prstGeom>
                <a:blipFill>
                  <a:blip r:embed="rId7"/>
                  <a:stretch>
                    <a:fillRect b="-17241"/>
                  </a:stretch>
                </a:blipFill>
                <a:ln>
                  <a:noFill/>
                </a:ln>
              </p:spPr>
              <p:txBody>
                <a:bodyPr/>
                <a:lstStyle/>
                <a:p>
                  <a:r>
                    <a:rPr lang="en-US">
                      <a:noFill/>
                    </a:rPr>
                    <a:t> </a:t>
                  </a:r>
                </a:p>
              </p:txBody>
            </p:sp>
          </mc:Fallback>
        </mc:AlternateContent>
        <p:cxnSp>
          <p:nvCxnSpPr>
            <p:cNvPr id="54" name="Straight Connector 53">
              <a:extLst>
                <a:ext uri="{FF2B5EF4-FFF2-40B4-BE49-F238E27FC236}">
                  <a16:creationId xmlns:a16="http://schemas.microsoft.com/office/drawing/2014/main" id="{F99B7E44-8544-14A1-9158-0E2DB35D2F86}"/>
                </a:ext>
              </a:extLst>
            </p:cNvPr>
            <p:cNvCxnSpPr>
              <a:cxnSpLocks/>
              <a:stCxn id="19" idx="7"/>
            </p:cNvCxnSpPr>
            <p:nvPr/>
          </p:nvCxnSpPr>
          <p:spPr>
            <a:xfrm flipV="1">
              <a:off x="6022387" y="4469083"/>
              <a:ext cx="499039" cy="366429"/>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7080640-6638-F8DE-E0DB-BE291C5868E8}"/>
                </a:ext>
              </a:extLst>
            </p:cNvPr>
            <p:cNvCxnSpPr>
              <a:cxnSpLocks/>
            </p:cNvCxnSpPr>
            <p:nvPr/>
          </p:nvCxnSpPr>
          <p:spPr>
            <a:xfrm>
              <a:off x="6039103" y="4253787"/>
              <a:ext cx="477112" cy="215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CFB4BA8-59D7-5F6C-0B43-BB65E12DAC85}"/>
                </a:ext>
              </a:extLst>
            </p:cNvPr>
            <p:cNvCxnSpPr>
              <a:cxnSpLocks/>
              <a:endCxn id="18" idx="4"/>
            </p:cNvCxnSpPr>
            <p:nvPr/>
          </p:nvCxnSpPr>
          <p:spPr>
            <a:xfrm flipV="1">
              <a:off x="6033892" y="3858760"/>
              <a:ext cx="274174" cy="39502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66135EEA-07DE-7F4D-7F93-58EFFBF06170}"/>
                    </a:ext>
                  </a:extLst>
                </p:cNvPr>
                <p:cNvSpPr txBox="1"/>
                <p:nvPr/>
              </p:nvSpPr>
              <p:spPr>
                <a:xfrm>
                  <a:off x="6340017" y="4056273"/>
                  <a:ext cx="816249" cy="369332"/>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chemeClr val="accent1"/>
                            </a:solidFill>
                            <a:latin typeface="Cambria Math" panose="02040503050406030204" pitchFamily="18" charset="0"/>
                          </a:rPr>
                          <m:t>Δ</m:t>
                        </m:r>
                        <m:r>
                          <a:rPr lang="en-US" b="0" i="1" smtClean="0">
                            <a:solidFill>
                              <a:schemeClr val="accent1"/>
                            </a:solidFill>
                            <a:latin typeface="Cambria Math" panose="02040503050406030204" pitchFamily="18" charset="0"/>
                          </a:rPr>
                          <m:t>≥0</m:t>
                        </m:r>
                      </m:oMath>
                    </m:oMathPara>
                  </a14:m>
                  <a:endParaRPr lang="en-US" dirty="0">
                    <a:solidFill>
                      <a:schemeClr val="accent1"/>
                    </a:solidFill>
                  </a:endParaRPr>
                </a:p>
              </p:txBody>
            </p:sp>
          </mc:Choice>
          <mc:Fallback xmlns="">
            <p:sp>
              <p:nvSpPr>
                <p:cNvPr id="63" name="TextBox 62">
                  <a:extLst>
                    <a:ext uri="{FF2B5EF4-FFF2-40B4-BE49-F238E27FC236}">
                      <a16:creationId xmlns:a16="http://schemas.microsoft.com/office/drawing/2014/main" id="{66135EEA-07DE-7F4D-7F93-58EFFBF06170}"/>
                    </a:ext>
                  </a:extLst>
                </p:cNvPr>
                <p:cNvSpPr txBox="1">
                  <a:spLocks noRot="1" noChangeAspect="1" noMove="1" noResize="1" noEditPoints="1" noAdjustHandles="1" noChangeArrowheads="1" noChangeShapeType="1" noTextEdit="1"/>
                </p:cNvSpPr>
                <p:nvPr/>
              </p:nvSpPr>
              <p:spPr>
                <a:xfrm>
                  <a:off x="6340017" y="4056273"/>
                  <a:ext cx="816249" cy="369332"/>
                </a:xfrm>
                <a:prstGeom prst="rect">
                  <a:avLst/>
                </a:prstGeom>
                <a:blipFill>
                  <a:blip r:embed="rId8"/>
                  <a:stretch>
                    <a:fillRect/>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904370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custDataLst>
              <p:tags r:id="rId1"/>
            </p:custDataLst>
          </p:nvPr>
        </p:nvSpPr>
        <p:spPr>
          <a:xfrm>
            <a:off x="1143001" y="228600"/>
            <a:ext cx="9905998" cy="646331"/>
          </a:xfrm>
        </p:spPr>
        <p:txBody>
          <a:bodyPr>
            <a:normAutofit/>
          </a:bodyPr>
          <a:lstStyle/>
          <a:p>
            <a:pPr algn="ctr"/>
            <a:r>
              <a:rPr lang="en-US" dirty="0"/>
              <a:t>Formulas</a:t>
            </a:r>
          </a:p>
        </p:txBody>
      </p:sp>
      <mc:AlternateContent xmlns:mc="http://schemas.openxmlformats.org/markup-compatibility/2006" xmlns:a14="http://schemas.microsoft.com/office/drawing/2010/main">
        <mc:Choice Requires="a14">
          <p:sp>
            <p:nvSpPr>
              <p:cNvPr id="37891" name="Rectangle 3"/>
              <p:cNvSpPr>
                <a:spLocks noGrp="1" noChangeArrowheads="1"/>
              </p:cNvSpPr>
              <p:nvPr>
                <p:ph sz="quarter" idx="1"/>
                <p:custDataLst>
                  <p:tags r:id="rId2"/>
                </p:custDataLst>
              </p:nvPr>
            </p:nvSpPr>
            <p:spPr>
              <a:xfrm>
                <a:off x="2200742" y="1489589"/>
                <a:ext cx="2438400" cy="1066800"/>
              </a:xfrm>
              <a:solidFill>
                <a:schemeClr val="tx1">
                  <a:lumMod val="95000"/>
                </a:schemeClr>
              </a:solidFill>
              <a:ln>
                <a:solidFill>
                  <a:schemeClr val="bg1"/>
                </a:solidFill>
              </a:ln>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𝑢</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𝑑</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𝑐</m:t>
                      </m:r>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𝑒</m:t>
                          </m:r>
                        </m:e>
                      </m:d>
                    </m:oMath>
                  </m:oMathPara>
                </a14:m>
                <a:endParaRPr lang="en-US" b="0" dirty="0">
                  <a:solidFill>
                    <a:schemeClr val="accent5"/>
                  </a:solidFill>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accent5"/>
                          </a:solidFill>
                          <a:latin typeface="Cambria Math" panose="02040503050406030204" pitchFamily="18" charset="0"/>
                        </a:rPr>
                        <m:t>𝛿</m:t>
                      </m:r>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𝑠</m:t>
                          </m:r>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𝑢</m:t>
                          </m:r>
                        </m:e>
                      </m:d>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𝑐</m:t>
                      </m:r>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𝑒</m:t>
                          </m:r>
                        </m:e>
                      </m:d>
                    </m:oMath>
                  </m:oMathPara>
                </a14:m>
                <a:endParaRPr lang="en-US" b="0" dirty="0">
                  <a:solidFill>
                    <a:schemeClr val="accent5"/>
                  </a:solidFill>
                </a:endParaRPr>
              </a:p>
            </p:txBody>
          </p:sp>
        </mc:Choice>
        <mc:Fallback xmlns="">
          <p:sp>
            <p:nvSpPr>
              <p:cNvPr id="37891" name="Rectangle 3"/>
              <p:cNvSpPr>
                <a:spLocks noGrp="1" noRot="1" noChangeAspect="1" noMove="1" noResize="1" noEditPoints="1" noAdjustHandles="1" noChangeArrowheads="1" noChangeShapeType="1" noTextEdit="1"/>
              </p:cNvSpPr>
              <p:nvPr>
                <p:ph sz="quarter" idx="1"/>
                <p:custDataLst>
                  <p:tags r:id="rId7"/>
                </p:custDataLst>
              </p:nvPr>
            </p:nvSpPr>
            <p:spPr>
              <a:xfrm>
                <a:off x="2200742" y="1489589"/>
                <a:ext cx="2438400" cy="1066800"/>
              </a:xfrm>
              <a:blipFill>
                <a:blip r:embed="rId8"/>
                <a:stretch>
                  <a:fillRect/>
                </a:stretch>
              </a:blipFill>
              <a:ln>
                <a:solidFill>
                  <a:schemeClr val="bg1"/>
                </a:solidFill>
              </a:ln>
            </p:spPr>
            <p:txBody>
              <a:bodyPr/>
              <a:lstStyle/>
              <a:p>
                <a:r>
                  <a:rPr lang="en-US">
                    <a:noFill/>
                  </a:rPr>
                  <a:t> </a:t>
                </a:r>
              </a:p>
            </p:txBody>
          </p:sp>
        </mc:Fallback>
      </mc:AlternateContent>
      <p:sp>
        <p:nvSpPr>
          <p:cNvPr id="5" name="Rectangle 3">
            <a:extLst>
              <a:ext uri="{FF2B5EF4-FFF2-40B4-BE49-F238E27FC236}">
                <a16:creationId xmlns:a16="http://schemas.microsoft.com/office/drawing/2014/main" id="{3709DC4E-C2AC-E547-AFEF-1215DDE3ED8C}"/>
              </a:ext>
            </a:extLst>
          </p:cNvPr>
          <p:cNvSpPr txBox="1">
            <a:spLocks noChangeArrowheads="1"/>
          </p:cNvSpPr>
          <p:nvPr>
            <p:custDataLst>
              <p:tags r:id="rId3"/>
            </p:custDataLst>
          </p:nvPr>
        </p:nvSpPr>
        <p:spPr>
          <a:xfrm>
            <a:off x="6248400" y="1219200"/>
            <a:ext cx="5791200" cy="5410200"/>
          </a:xfrm>
          <a:prstGeom prst="rect">
            <a:avLst/>
          </a:prstGeom>
        </p:spPr>
        <p:txBody>
          <a:bodyPr vert="horz">
            <a:normAutofit/>
          </a:bodyPr>
          <a:lstStyle>
            <a:lvl1pPr marL="274320" indent="-274320" algn="just"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just"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just"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just"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just"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fontAlgn="auto">
              <a:spcAft>
                <a:spcPts val="0"/>
              </a:spcAft>
              <a:buFont typeface="Wingdings 3"/>
              <a:buNone/>
            </a:pPr>
            <a:endParaRPr lang="en-US" dirty="0"/>
          </a:p>
          <a:p>
            <a:pPr marL="0" indent="0" fontAlgn="auto">
              <a:spcAft>
                <a:spcPts val="0"/>
              </a:spcAft>
              <a:buFont typeface="Wingdings 3"/>
              <a:buNone/>
            </a:pPr>
            <a:endParaRPr lang="en-US" dirty="0"/>
          </a:p>
        </p:txBody>
      </p:sp>
      <p:sp>
        <p:nvSpPr>
          <p:cNvPr id="2" name="TextBox 1">
            <a:extLst>
              <a:ext uri="{FF2B5EF4-FFF2-40B4-BE49-F238E27FC236}">
                <a16:creationId xmlns:a16="http://schemas.microsoft.com/office/drawing/2014/main" id="{613E31DD-FA5D-084C-8274-4FB7C921A6E7}"/>
              </a:ext>
            </a:extLst>
          </p:cNvPr>
          <p:cNvSpPr txBox="1"/>
          <p:nvPr/>
        </p:nvSpPr>
        <p:spPr>
          <a:xfrm>
            <a:off x="4756906" y="1818116"/>
            <a:ext cx="4448640" cy="369332"/>
          </a:xfrm>
          <a:prstGeom prst="rect">
            <a:avLst/>
          </a:prstGeom>
          <a:noFill/>
          <a:ln>
            <a:solidFill>
              <a:schemeClr val="tx1">
                <a:lumMod val="95000"/>
              </a:schemeClr>
            </a:solidFill>
          </a:ln>
        </p:spPr>
        <p:txBody>
          <a:bodyPr wrap="square" rtlCol="0">
            <a:spAutoFit/>
          </a:bodyPr>
          <a:lstStyle/>
          <a:p>
            <a:r>
              <a:rPr lang="en-US" sz="1800" dirty="0"/>
              <a:t>Path that Dijkstra chose. Best path of this form</a:t>
            </a:r>
          </a:p>
        </p:txBody>
      </p:sp>
      <p:sp>
        <p:nvSpPr>
          <p:cNvPr id="7" name="TextBox 6">
            <a:extLst>
              <a:ext uri="{FF2B5EF4-FFF2-40B4-BE49-F238E27FC236}">
                <a16:creationId xmlns:a16="http://schemas.microsoft.com/office/drawing/2014/main" id="{517FE774-9A8F-834A-9A81-21C8AF96D516}"/>
              </a:ext>
            </a:extLst>
          </p:cNvPr>
          <p:cNvSpPr txBox="1"/>
          <p:nvPr/>
        </p:nvSpPr>
        <p:spPr>
          <a:xfrm>
            <a:off x="6078416" y="3130633"/>
            <a:ext cx="5715000" cy="646331"/>
          </a:xfrm>
          <a:prstGeom prst="rect">
            <a:avLst/>
          </a:prstGeom>
          <a:noFill/>
          <a:ln>
            <a:solidFill>
              <a:schemeClr val="tx1">
                <a:lumMod val="95000"/>
              </a:schemeClr>
            </a:solidFill>
          </a:ln>
        </p:spPr>
        <p:txBody>
          <a:bodyPr wrap="square" rtlCol="0">
            <a:spAutoFit/>
          </a:bodyPr>
          <a:lstStyle/>
          <a:p>
            <a:r>
              <a:rPr lang="en-US" sz="1800" dirty="0"/>
              <a:t>Suppose there is a better path s (start) to u’ (known node) to v’ (unknown node) to v (end node) where e’ = (u’, v’)</a:t>
            </a:r>
          </a:p>
        </p:txBody>
      </p:sp>
      <p:sp>
        <p:nvSpPr>
          <p:cNvPr id="8" name="TextBox 7">
            <a:extLst>
              <a:ext uri="{FF2B5EF4-FFF2-40B4-BE49-F238E27FC236}">
                <a16:creationId xmlns:a16="http://schemas.microsoft.com/office/drawing/2014/main" id="{270682A3-843C-0246-AD6D-D7ECDC2E2A9B}"/>
              </a:ext>
            </a:extLst>
          </p:cNvPr>
          <p:cNvSpPr txBox="1"/>
          <p:nvPr/>
        </p:nvSpPr>
        <p:spPr>
          <a:xfrm>
            <a:off x="4346331" y="4664630"/>
            <a:ext cx="6418118" cy="369332"/>
          </a:xfrm>
          <a:prstGeom prst="rect">
            <a:avLst/>
          </a:prstGeom>
          <a:noFill/>
          <a:ln>
            <a:solidFill>
              <a:schemeClr val="tx1">
                <a:lumMod val="95000"/>
              </a:schemeClr>
            </a:solidFill>
          </a:ln>
        </p:spPr>
        <p:txBody>
          <a:bodyPr wrap="square" rtlCol="0">
            <a:spAutoFit/>
          </a:bodyPr>
          <a:lstStyle/>
          <a:p>
            <a:r>
              <a:rPr lang="en-US" sz="1800" dirty="0"/>
              <a:t>Delta must be greater than 0 because this is requirement of input</a:t>
            </a: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39EE796D-6FDB-2382-D169-0F1ECC924F92}"/>
                  </a:ext>
                </a:extLst>
              </p:cNvPr>
              <p:cNvSpPr txBox="1">
                <a:spLocks noChangeArrowheads="1"/>
              </p:cNvSpPr>
              <p:nvPr>
                <p:custDataLst>
                  <p:tags r:id="rId4"/>
                </p:custDataLst>
              </p:nvPr>
            </p:nvSpPr>
            <p:spPr>
              <a:xfrm>
                <a:off x="903876" y="3186069"/>
                <a:ext cx="5032130" cy="57681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𝛿</m:t>
                      </m:r>
                      <m:d>
                        <m:dPr>
                          <m:ctrlPr>
                            <a:rPr lang="en-US" i="1" smtClean="0">
                              <a:solidFill>
                                <a:schemeClr val="accent1"/>
                              </a:solidFill>
                              <a:latin typeface="Cambria Math" panose="02040503050406030204" pitchFamily="18" charset="0"/>
                            </a:rPr>
                          </m:ctrlPr>
                        </m:dPr>
                        <m:e>
                          <m:r>
                            <a:rPr lang="en-US" i="1" smtClean="0">
                              <a:solidFill>
                                <a:schemeClr val="accent1"/>
                              </a:solidFill>
                              <a:latin typeface="Cambria Math" panose="02040503050406030204" pitchFamily="18" charset="0"/>
                            </a:rPr>
                            <m:t>𝑠</m:t>
                          </m:r>
                          <m:r>
                            <a:rPr lang="en-US" i="1" smtClean="0">
                              <a:solidFill>
                                <a:schemeClr val="accent1"/>
                              </a:solidFill>
                              <a:latin typeface="Cambria Math" panose="02040503050406030204" pitchFamily="18" charset="0"/>
                            </a:rPr>
                            <m:t>,</m:t>
                          </m:r>
                          <m:sSup>
                            <m:sSupPr>
                              <m:ctrlPr>
                                <a:rPr lang="en-US" i="1" smtClean="0">
                                  <a:solidFill>
                                    <a:schemeClr val="accent1"/>
                                  </a:solidFill>
                                  <a:latin typeface="Cambria Math" panose="02040503050406030204" pitchFamily="18" charset="0"/>
                                </a:rPr>
                              </m:ctrlPr>
                            </m:sSupPr>
                            <m:e>
                              <m:r>
                                <a:rPr lang="en-US" i="1" smtClean="0">
                                  <a:solidFill>
                                    <a:schemeClr val="accent1"/>
                                  </a:solidFill>
                                  <a:latin typeface="Cambria Math" panose="02040503050406030204" pitchFamily="18" charset="0"/>
                                </a:rPr>
                                <m:t>𝑢</m:t>
                              </m:r>
                            </m:e>
                            <m:sup>
                              <m:r>
                                <a:rPr lang="en-US" i="1" smtClean="0">
                                  <a:solidFill>
                                    <a:schemeClr val="accent1"/>
                                  </a:solidFill>
                                  <a:latin typeface="Cambria Math" panose="02040503050406030204" pitchFamily="18" charset="0"/>
                                </a:rPr>
                                <m:t>′</m:t>
                              </m:r>
                            </m:sup>
                          </m:sSup>
                        </m:e>
                      </m:d>
                      <m:r>
                        <a:rPr lang="en-US" i="1" smtClean="0">
                          <a:solidFill>
                            <a:schemeClr val="accent1"/>
                          </a:solidFill>
                          <a:latin typeface="Cambria Math" panose="02040503050406030204" pitchFamily="18" charset="0"/>
                        </a:rPr>
                        <m:t>+</m:t>
                      </m:r>
                      <m:r>
                        <a:rPr lang="en-US" i="1" smtClean="0">
                          <a:solidFill>
                            <a:schemeClr val="accent1"/>
                          </a:solidFill>
                          <a:latin typeface="Cambria Math" panose="02040503050406030204" pitchFamily="18" charset="0"/>
                        </a:rPr>
                        <m:t>𝑐</m:t>
                      </m:r>
                      <m:d>
                        <m:dPr>
                          <m:ctrlPr>
                            <a:rPr lang="en-US" i="1" smtClean="0">
                              <a:solidFill>
                                <a:schemeClr val="accent1"/>
                              </a:solidFill>
                              <a:latin typeface="Cambria Math" panose="02040503050406030204" pitchFamily="18" charset="0"/>
                            </a:rPr>
                          </m:ctrlPr>
                        </m:dPr>
                        <m:e>
                          <m:sSup>
                            <m:sSupPr>
                              <m:ctrlPr>
                                <a:rPr lang="en-US" i="1" smtClean="0">
                                  <a:solidFill>
                                    <a:schemeClr val="accent1"/>
                                  </a:solidFill>
                                  <a:latin typeface="Cambria Math" panose="02040503050406030204" pitchFamily="18" charset="0"/>
                                </a:rPr>
                              </m:ctrlPr>
                            </m:sSupPr>
                            <m:e>
                              <m:r>
                                <a:rPr lang="en-US" i="1" smtClean="0">
                                  <a:solidFill>
                                    <a:schemeClr val="accent1"/>
                                  </a:solidFill>
                                  <a:latin typeface="Cambria Math" panose="02040503050406030204" pitchFamily="18" charset="0"/>
                                </a:rPr>
                                <m:t>𝑒</m:t>
                              </m:r>
                            </m:e>
                            <m:sup>
                              <m:r>
                                <a:rPr lang="en-US" i="1" smtClean="0">
                                  <a:solidFill>
                                    <a:schemeClr val="accent1"/>
                                  </a:solidFill>
                                  <a:latin typeface="Cambria Math" panose="02040503050406030204" pitchFamily="18" charset="0"/>
                                </a:rPr>
                                <m:t>′</m:t>
                              </m:r>
                            </m:sup>
                          </m:sSup>
                        </m:e>
                      </m:d>
                      <m:r>
                        <a:rPr lang="en-US" i="1" smtClean="0">
                          <a:solidFill>
                            <a:schemeClr val="accent1"/>
                          </a:solidFill>
                          <a:latin typeface="Cambria Math" panose="02040503050406030204" pitchFamily="18" charset="0"/>
                        </a:rPr>
                        <m:t>+</m:t>
                      </m:r>
                      <m:r>
                        <m:rPr>
                          <m:sty m:val="p"/>
                        </m:rPr>
                        <a:rPr lang="en-US" smtClean="0">
                          <a:solidFill>
                            <a:schemeClr val="accent1"/>
                          </a:solidFill>
                          <a:latin typeface="Cambria Math" panose="02040503050406030204" pitchFamily="18" charset="0"/>
                        </a:rPr>
                        <m:t>Δ</m:t>
                      </m:r>
                      <m:r>
                        <a:rPr lang="en-US" i="1" smtClean="0">
                          <a:solidFill>
                            <a:schemeClr val="bg1"/>
                          </a:solidFill>
                          <a:latin typeface="Cambria Math" panose="02040503050406030204" pitchFamily="18" charset="0"/>
                        </a:rPr>
                        <m:t>&lt;</m:t>
                      </m:r>
                      <m:r>
                        <a:rPr lang="en-US" i="1" smtClean="0">
                          <a:solidFill>
                            <a:schemeClr val="accent5"/>
                          </a:solidFill>
                          <a:latin typeface="Cambria Math" panose="02040503050406030204" pitchFamily="18" charset="0"/>
                        </a:rPr>
                        <m:t>𝛿</m:t>
                      </m:r>
                      <m:d>
                        <m:dPr>
                          <m:ctrlPr>
                            <a:rPr lang="en-US" i="1" smtClean="0">
                              <a:solidFill>
                                <a:schemeClr val="accent5"/>
                              </a:solidFill>
                              <a:latin typeface="Cambria Math" panose="02040503050406030204" pitchFamily="18" charset="0"/>
                            </a:rPr>
                          </m:ctrlPr>
                        </m:dPr>
                        <m:e>
                          <m:r>
                            <a:rPr lang="en-US" i="1" smtClean="0">
                              <a:solidFill>
                                <a:schemeClr val="accent5"/>
                              </a:solidFill>
                              <a:latin typeface="Cambria Math" panose="02040503050406030204" pitchFamily="18" charset="0"/>
                            </a:rPr>
                            <m:t>𝑠</m:t>
                          </m:r>
                          <m:r>
                            <a:rPr lang="en-US" i="1" smtClean="0">
                              <a:solidFill>
                                <a:schemeClr val="accent5"/>
                              </a:solidFill>
                              <a:latin typeface="Cambria Math" panose="02040503050406030204" pitchFamily="18" charset="0"/>
                            </a:rPr>
                            <m:t>,</m:t>
                          </m:r>
                          <m:r>
                            <a:rPr lang="en-US" i="1" smtClean="0">
                              <a:solidFill>
                                <a:schemeClr val="accent5"/>
                              </a:solidFill>
                              <a:latin typeface="Cambria Math" panose="02040503050406030204" pitchFamily="18" charset="0"/>
                            </a:rPr>
                            <m:t>𝑢</m:t>
                          </m:r>
                        </m:e>
                      </m:d>
                      <m:r>
                        <a:rPr lang="en-US" i="1" smtClean="0">
                          <a:solidFill>
                            <a:schemeClr val="accent5"/>
                          </a:solidFill>
                          <a:latin typeface="Cambria Math" panose="02040503050406030204" pitchFamily="18" charset="0"/>
                        </a:rPr>
                        <m:t>+</m:t>
                      </m:r>
                      <m:r>
                        <a:rPr lang="en-US" i="1" smtClean="0">
                          <a:solidFill>
                            <a:schemeClr val="accent5"/>
                          </a:solidFill>
                          <a:latin typeface="Cambria Math" panose="02040503050406030204" pitchFamily="18" charset="0"/>
                        </a:rPr>
                        <m:t>𝑐</m:t>
                      </m:r>
                      <m:d>
                        <m:dPr>
                          <m:ctrlPr>
                            <a:rPr lang="en-US" i="1" smtClean="0">
                              <a:solidFill>
                                <a:schemeClr val="accent5"/>
                              </a:solidFill>
                              <a:latin typeface="Cambria Math" panose="02040503050406030204" pitchFamily="18" charset="0"/>
                            </a:rPr>
                          </m:ctrlPr>
                        </m:dPr>
                        <m:e>
                          <m:r>
                            <a:rPr lang="en-US" i="1" smtClean="0">
                              <a:solidFill>
                                <a:schemeClr val="accent5"/>
                              </a:solidFill>
                              <a:latin typeface="Cambria Math" panose="02040503050406030204" pitchFamily="18" charset="0"/>
                            </a:rPr>
                            <m:t>𝑒</m:t>
                          </m:r>
                        </m:e>
                      </m:d>
                    </m:oMath>
                  </m:oMathPara>
                </a14:m>
                <a:endParaRPr lang="en-US" dirty="0">
                  <a:solidFill>
                    <a:schemeClr val="accent5"/>
                  </a:solidFill>
                </a:endParaRPr>
              </a:p>
              <a:p>
                <a:pPr marL="0" indent="0">
                  <a:buFont typeface="Arial" panose="020B0604020202020204" pitchFamily="34" charset="0"/>
                  <a:buNone/>
                </a:pPr>
                <a:endParaRPr lang="en-US" dirty="0">
                  <a:solidFill>
                    <a:schemeClr val="bg1"/>
                  </a:solidFill>
                </a:endParaRPr>
              </a:p>
            </p:txBody>
          </p:sp>
        </mc:Choice>
        <mc:Fallback xmlns="">
          <p:sp>
            <p:nvSpPr>
              <p:cNvPr id="3" name="Rectangle 3">
                <a:extLst>
                  <a:ext uri="{FF2B5EF4-FFF2-40B4-BE49-F238E27FC236}">
                    <a16:creationId xmlns:a16="http://schemas.microsoft.com/office/drawing/2014/main" id="{39EE796D-6FDB-2382-D169-0F1ECC924F92}"/>
                  </a:ext>
                </a:extLst>
              </p:cNvPr>
              <p:cNvSpPr txBox="1">
                <a:spLocks noRot="1" noChangeAspect="1" noMove="1" noResize="1" noEditPoints="1" noAdjustHandles="1" noChangeArrowheads="1" noChangeShapeType="1" noTextEdit="1"/>
              </p:cNvSpPr>
              <p:nvPr>
                <p:custDataLst>
                  <p:tags r:id="rId9"/>
                </p:custDataLst>
              </p:nvPr>
            </p:nvSpPr>
            <p:spPr>
              <a:xfrm>
                <a:off x="903876" y="3186069"/>
                <a:ext cx="5032130" cy="576814"/>
              </a:xfrm>
              <a:prstGeom prst="rect">
                <a:avLst/>
              </a:prstGeom>
              <a:blipFill>
                <a:blip r:embed="rId1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3">
                <a:extLst>
                  <a:ext uri="{FF2B5EF4-FFF2-40B4-BE49-F238E27FC236}">
                    <a16:creationId xmlns:a16="http://schemas.microsoft.com/office/drawing/2014/main" id="{1812C250-8E92-38DD-819D-EF20A5467443}"/>
                  </a:ext>
                </a:extLst>
              </p:cNvPr>
              <p:cNvSpPr txBox="1">
                <a:spLocks noChangeArrowheads="1"/>
              </p:cNvSpPr>
              <p:nvPr>
                <p:custDataLst>
                  <p:tags r:id="rId5"/>
                </p:custDataLst>
              </p:nvPr>
            </p:nvSpPr>
            <p:spPr>
              <a:xfrm>
                <a:off x="2647684" y="4555626"/>
                <a:ext cx="1544515" cy="587340"/>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Δ</m:t>
                      </m:r>
                      <m:r>
                        <a:rPr lang="en-US" i="1" smtClean="0">
                          <a:solidFill>
                            <a:schemeClr val="bg1"/>
                          </a:solidFill>
                          <a:latin typeface="Cambria Math" panose="02040503050406030204" pitchFamily="18" charset="0"/>
                        </a:rPr>
                        <m:t>≥0</m:t>
                      </m:r>
                    </m:oMath>
                  </m:oMathPara>
                </a14:m>
                <a:endParaRPr lang="en-US" dirty="0">
                  <a:solidFill>
                    <a:schemeClr val="bg1"/>
                  </a:solidFill>
                </a:endParaRPr>
              </a:p>
            </p:txBody>
          </p:sp>
        </mc:Choice>
        <mc:Fallback xmlns="">
          <p:sp>
            <p:nvSpPr>
              <p:cNvPr id="6" name="Rectangle 3">
                <a:extLst>
                  <a:ext uri="{FF2B5EF4-FFF2-40B4-BE49-F238E27FC236}">
                    <a16:creationId xmlns:a16="http://schemas.microsoft.com/office/drawing/2014/main" id="{1812C250-8E92-38DD-819D-EF20A5467443}"/>
                  </a:ext>
                </a:extLst>
              </p:cNvPr>
              <p:cNvSpPr txBox="1">
                <a:spLocks noRot="1" noChangeAspect="1" noMove="1" noResize="1" noEditPoints="1" noAdjustHandles="1" noChangeArrowheads="1" noChangeShapeType="1" noTextEdit="1"/>
              </p:cNvSpPr>
              <p:nvPr>
                <p:custDataLst>
                  <p:tags r:id="rId11"/>
                </p:custDataLst>
              </p:nvPr>
            </p:nvSpPr>
            <p:spPr>
              <a:xfrm>
                <a:off x="2647684" y="4555626"/>
                <a:ext cx="1544515" cy="587340"/>
              </a:xfrm>
              <a:prstGeom prst="rect">
                <a:avLst/>
              </a:prstGeom>
              <a:blipFill>
                <a:blip r:embed="rId12"/>
                <a:stretch>
                  <a:fillRect/>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283610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custDataLst>
              <p:tags r:id="rId1"/>
            </p:custDataLst>
          </p:nvPr>
        </p:nvSpPr>
        <p:spPr>
          <a:xfrm>
            <a:off x="1143001" y="281842"/>
            <a:ext cx="9905998" cy="646331"/>
          </a:xfrm>
        </p:spPr>
        <p:txBody>
          <a:bodyPr>
            <a:normAutofit/>
          </a:bodyPr>
          <a:lstStyle/>
          <a:p>
            <a:pPr algn="ctr"/>
            <a:r>
              <a:rPr lang="en-US" dirty="0"/>
              <a:t>Formulas</a:t>
            </a:r>
          </a:p>
        </p:txBody>
      </p:sp>
      <p:sp>
        <p:nvSpPr>
          <p:cNvPr id="5" name="Rectangle 3">
            <a:extLst>
              <a:ext uri="{FF2B5EF4-FFF2-40B4-BE49-F238E27FC236}">
                <a16:creationId xmlns:a16="http://schemas.microsoft.com/office/drawing/2014/main" id="{3709DC4E-C2AC-E547-AFEF-1215DDE3ED8C}"/>
              </a:ext>
            </a:extLst>
          </p:cNvPr>
          <p:cNvSpPr txBox="1">
            <a:spLocks noChangeArrowheads="1"/>
          </p:cNvSpPr>
          <p:nvPr>
            <p:custDataLst>
              <p:tags r:id="rId2"/>
            </p:custDataLst>
          </p:nvPr>
        </p:nvSpPr>
        <p:spPr>
          <a:xfrm>
            <a:off x="6248400" y="1219200"/>
            <a:ext cx="5791200" cy="5410200"/>
          </a:xfrm>
          <a:prstGeom prst="rect">
            <a:avLst/>
          </a:prstGeom>
        </p:spPr>
        <p:txBody>
          <a:bodyPr vert="horz">
            <a:normAutofit/>
          </a:bodyPr>
          <a:lstStyle>
            <a:lvl1pPr marL="274320" indent="-274320" algn="just"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just"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just"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just"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just"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fontAlgn="auto">
              <a:spcAft>
                <a:spcPts val="0"/>
              </a:spcAft>
              <a:buFont typeface="Wingdings 3"/>
              <a:buNone/>
            </a:pPr>
            <a:endParaRPr lang="en-US" dirty="0"/>
          </a:p>
          <a:p>
            <a:pPr marL="0" indent="0" fontAlgn="auto">
              <a:spcAft>
                <a:spcPts val="0"/>
              </a:spcAft>
              <a:buFont typeface="Wingdings 3"/>
              <a:buNone/>
            </a:pPr>
            <a:endParaRPr lang="en-US" dirty="0"/>
          </a:p>
        </p:txBody>
      </p:sp>
      <p:sp>
        <p:nvSpPr>
          <p:cNvPr id="9" name="TextBox 8">
            <a:extLst>
              <a:ext uri="{FF2B5EF4-FFF2-40B4-BE49-F238E27FC236}">
                <a16:creationId xmlns:a16="http://schemas.microsoft.com/office/drawing/2014/main" id="{83ACEC02-B328-3749-8723-97E81067C5CF}"/>
              </a:ext>
            </a:extLst>
          </p:cNvPr>
          <p:cNvSpPr txBox="1"/>
          <p:nvPr/>
        </p:nvSpPr>
        <p:spPr>
          <a:xfrm>
            <a:off x="6034454" y="3429000"/>
            <a:ext cx="5624146" cy="1754326"/>
          </a:xfrm>
          <a:prstGeom prst="rect">
            <a:avLst/>
          </a:prstGeom>
          <a:noFill/>
          <a:ln>
            <a:solidFill>
              <a:schemeClr val="tx1">
                <a:lumMod val="95000"/>
              </a:schemeClr>
            </a:solidFill>
          </a:ln>
        </p:spPr>
        <p:txBody>
          <a:bodyPr wrap="square" rtlCol="0">
            <a:spAutoFit/>
          </a:bodyPr>
          <a:lstStyle/>
          <a:p>
            <a:r>
              <a:rPr lang="en-US" sz="1800" dirty="0"/>
              <a:t>Delta gets removed and inequality still holds (left side may get even smaller</a:t>
            </a:r>
          </a:p>
          <a:p>
            <a:endParaRPr lang="en-US" sz="1800" dirty="0"/>
          </a:p>
          <a:p>
            <a:r>
              <a:rPr lang="en-US" sz="1800" dirty="0"/>
              <a:t>This is a CONTRADICTION. If this equation were true, Dijkstra’s algorithm would have selected v’ as the next known node.</a:t>
            </a:r>
          </a:p>
        </p:txBody>
      </p:sp>
      <mc:AlternateContent xmlns:mc="http://schemas.openxmlformats.org/markup-compatibility/2006" xmlns:a14="http://schemas.microsoft.com/office/drawing/2010/main">
        <mc:Choice Requires="a14">
          <p:sp>
            <p:nvSpPr>
              <p:cNvPr id="10" name="Rectangle 3">
                <a:extLst>
                  <a:ext uri="{FF2B5EF4-FFF2-40B4-BE49-F238E27FC236}">
                    <a16:creationId xmlns:a16="http://schemas.microsoft.com/office/drawing/2014/main" id="{7D05EA12-899F-F63B-AE96-CE030720D669}"/>
                  </a:ext>
                </a:extLst>
              </p:cNvPr>
              <p:cNvSpPr txBox="1">
                <a:spLocks noChangeArrowheads="1"/>
              </p:cNvSpPr>
              <p:nvPr>
                <p:custDataLst>
                  <p:tags r:id="rId3"/>
                </p:custDataLst>
              </p:nvPr>
            </p:nvSpPr>
            <p:spPr>
              <a:xfrm>
                <a:off x="884826" y="1752247"/>
                <a:ext cx="5032130" cy="57681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𝛿</m:t>
                      </m:r>
                      <m:d>
                        <m:dPr>
                          <m:ctrlPr>
                            <a:rPr lang="en-US" i="1" smtClean="0">
                              <a:solidFill>
                                <a:schemeClr val="accent1"/>
                              </a:solidFill>
                              <a:latin typeface="Cambria Math" panose="02040503050406030204" pitchFamily="18" charset="0"/>
                            </a:rPr>
                          </m:ctrlPr>
                        </m:dPr>
                        <m:e>
                          <m:r>
                            <a:rPr lang="en-US" i="1" smtClean="0">
                              <a:solidFill>
                                <a:schemeClr val="accent1"/>
                              </a:solidFill>
                              <a:latin typeface="Cambria Math" panose="02040503050406030204" pitchFamily="18" charset="0"/>
                            </a:rPr>
                            <m:t>𝑠</m:t>
                          </m:r>
                          <m:r>
                            <a:rPr lang="en-US" i="1" smtClean="0">
                              <a:solidFill>
                                <a:schemeClr val="accent1"/>
                              </a:solidFill>
                              <a:latin typeface="Cambria Math" panose="02040503050406030204" pitchFamily="18" charset="0"/>
                            </a:rPr>
                            <m:t>,</m:t>
                          </m:r>
                          <m:sSup>
                            <m:sSupPr>
                              <m:ctrlPr>
                                <a:rPr lang="en-US" i="1" smtClean="0">
                                  <a:solidFill>
                                    <a:schemeClr val="accent1"/>
                                  </a:solidFill>
                                  <a:latin typeface="Cambria Math" panose="02040503050406030204" pitchFamily="18" charset="0"/>
                                </a:rPr>
                              </m:ctrlPr>
                            </m:sSupPr>
                            <m:e>
                              <m:r>
                                <a:rPr lang="en-US" i="1" smtClean="0">
                                  <a:solidFill>
                                    <a:schemeClr val="accent1"/>
                                  </a:solidFill>
                                  <a:latin typeface="Cambria Math" panose="02040503050406030204" pitchFamily="18" charset="0"/>
                                </a:rPr>
                                <m:t>𝑢</m:t>
                              </m:r>
                            </m:e>
                            <m:sup>
                              <m:r>
                                <a:rPr lang="en-US" i="1" smtClean="0">
                                  <a:solidFill>
                                    <a:schemeClr val="accent1"/>
                                  </a:solidFill>
                                  <a:latin typeface="Cambria Math" panose="02040503050406030204" pitchFamily="18" charset="0"/>
                                </a:rPr>
                                <m:t>′</m:t>
                              </m:r>
                            </m:sup>
                          </m:sSup>
                        </m:e>
                      </m:d>
                      <m:r>
                        <a:rPr lang="en-US" i="1" smtClean="0">
                          <a:solidFill>
                            <a:schemeClr val="accent1"/>
                          </a:solidFill>
                          <a:latin typeface="Cambria Math" panose="02040503050406030204" pitchFamily="18" charset="0"/>
                        </a:rPr>
                        <m:t>+</m:t>
                      </m:r>
                      <m:r>
                        <a:rPr lang="en-US" i="1" smtClean="0">
                          <a:solidFill>
                            <a:schemeClr val="accent1"/>
                          </a:solidFill>
                          <a:latin typeface="Cambria Math" panose="02040503050406030204" pitchFamily="18" charset="0"/>
                        </a:rPr>
                        <m:t>𝑐</m:t>
                      </m:r>
                      <m:d>
                        <m:dPr>
                          <m:ctrlPr>
                            <a:rPr lang="en-US" i="1" smtClean="0">
                              <a:solidFill>
                                <a:schemeClr val="accent1"/>
                              </a:solidFill>
                              <a:latin typeface="Cambria Math" panose="02040503050406030204" pitchFamily="18" charset="0"/>
                            </a:rPr>
                          </m:ctrlPr>
                        </m:dPr>
                        <m:e>
                          <m:sSup>
                            <m:sSupPr>
                              <m:ctrlPr>
                                <a:rPr lang="en-US" i="1" smtClean="0">
                                  <a:solidFill>
                                    <a:schemeClr val="accent1"/>
                                  </a:solidFill>
                                  <a:latin typeface="Cambria Math" panose="02040503050406030204" pitchFamily="18" charset="0"/>
                                </a:rPr>
                              </m:ctrlPr>
                            </m:sSupPr>
                            <m:e>
                              <m:r>
                                <a:rPr lang="en-US" i="1" smtClean="0">
                                  <a:solidFill>
                                    <a:schemeClr val="accent1"/>
                                  </a:solidFill>
                                  <a:latin typeface="Cambria Math" panose="02040503050406030204" pitchFamily="18" charset="0"/>
                                </a:rPr>
                                <m:t>𝑒</m:t>
                              </m:r>
                            </m:e>
                            <m:sup>
                              <m:r>
                                <a:rPr lang="en-US" i="1" smtClean="0">
                                  <a:solidFill>
                                    <a:schemeClr val="accent1"/>
                                  </a:solidFill>
                                  <a:latin typeface="Cambria Math" panose="02040503050406030204" pitchFamily="18" charset="0"/>
                                </a:rPr>
                                <m:t>′</m:t>
                              </m:r>
                            </m:sup>
                          </m:sSup>
                        </m:e>
                      </m:d>
                      <m:r>
                        <a:rPr lang="en-US" i="1" smtClean="0">
                          <a:solidFill>
                            <a:schemeClr val="accent1"/>
                          </a:solidFill>
                          <a:latin typeface="Cambria Math" panose="02040503050406030204" pitchFamily="18" charset="0"/>
                        </a:rPr>
                        <m:t>+</m:t>
                      </m:r>
                      <m:r>
                        <m:rPr>
                          <m:sty m:val="p"/>
                        </m:rPr>
                        <a:rPr lang="en-US" smtClean="0">
                          <a:solidFill>
                            <a:schemeClr val="accent1"/>
                          </a:solidFill>
                          <a:latin typeface="Cambria Math" panose="02040503050406030204" pitchFamily="18" charset="0"/>
                        </a:rPr>
                        <m:t>Δ</m:t>
                      </m:r>
                      <m:r>
                        <a:rPr lang="en-US" i="1" smtClean="0">
                          <a:solidFill>
                            <a:schemeClr val="bg1"/>
                          </a:solidFill>
                          <a:latin typeface="Cambria Math" panose="02040503050406030204" pitchFamily="18" charset="0"/>
                        </a:rPr>
                        <m:t>&lt;</m:t>
                      </m:r>
                      <m:r>
                        <a:rPr lang="en-US" i="1" smtClean="0">
                          <a:solidFill>
                            <a:schemeClr val="accent5"/>
                          </a:solidFill>
                          <a:latin typeface="Cambria Math" panose="02040503050406030204" pitchFamily="18" charset="0"/>
                        </a:rPr>
                        <m:t>𝛿</m:t>
                      </m:r>
                      <m:d>
                        <m:dPr>
                          <m:ctrlPr>
                            <a:rPr lang="en-US" i="1" smtClean="0">
                              <a:solidFill>
                                <a:schemeClr val="accent5"/>
                              </a:solidFill>
                              <a:latin typeface="Cambria Math" panose="02040503050406030204" pitchFamily="18" charset="0"/>
                            </a:rPr>
                          </m:ctrlPr>
                        </m:dPr>
                        <m:e>
                          <m:r>
                            <a:rPr lang="en-US" i="1" smtClean="0">
                              <a:solidFill>
                                <a:schemeClr val="accent5"/>
                              </a:solidFill>
                              <a:latin typeface="Cambria Math" panose="02040503050406030204" pitchFamily="18" charset="0"/>
                            </a:rPr>
                            <m:t>𝑠</m:t>
                          </m:r>
                          <m:r>
                            <a:rPr lang="en-US" i="1" smtClean="0">
                              <a:solidFill>
                                <a:schemeClr val="accent5"/>
                              </a:solidFill>
                              <a:latin typeface="Cambria Math" panose="02040503050406030204" pitchFamily="18" charset="0"/>
                            </a:rPr>
                            <m:t>,</m:t>
                          </m:r>
                          <m:r>
                            <a:rPr lang="en-US" i="1" smtClean="0">
                              <a:solidFill>
                                <a:schemeClr val="accent5"/>
                              </a:solidFill>
                              <a:latin typeface="Cambria Math" panose="02040503050406030204" pitchFamily="18" charset="0"/>
                            </a:rPr>
                            <m:t>𝑢</m:t>
                          </m:r>
                        </m:e>
                      </m:d>
                      <m:r>
                        <a:rPr lang="en-US" i="1" smtClean="0">
                          <a:solidFill>
                            <a:schemeClr val="accent5"/>
                          </a:solidFill>
                          <a:latin typeface="Cambria Math" panose="02040503050406030204" pitchFamily="18" charset="0"/>
                        </a:rPr>
                        <m:t>+</m:t>
                      </m:r>
                      <m:r>
                        <a:rPr lang="en-US" i="1" smtClean="0">
                          <a:solidFill>
                            <a:schemeClr val="accent5"/>
                          </a:solidFill>
                          <a:latin typeface="Cambria Math" panose="02040503050406030204" pitchFamily="18" charset="0"/>
                        </a:rPr>
                        <m:t>𝑐</m:t>
                      </m:r>
                      <m:d>
                        <m:dPr>
                          <m:ctrlPr>
                            <a:rPr lang="en-US" i="1" smtClean="0">
                              <a:solidFill>
                                <a:schemeClr val="accent5"/>
                              </a:solidFill>
                              <a:latin typeface="Cambria Math" panose="02040503050406030204" pitchFamily="18" charset="0"/>
                            </a:rPr>
                          </m:ctrlPr>
                        </m:dPr>
                        <m:e>
                          <m:r>
                            <a:rPr lang="en-US" i="1" smtClean="0">
                              <a:solidFill>
                                <a:schemeClr val="accent5"/>
                              </a:solidFill>
                              <a:latin typeface="Cambria Math" panose="02040503050406030204" pitchFamily="18" charset="0"/>
                            </a:rPr>
                            <m:t>𝑒</m:t>
                          </m:r>
                        </m:e>
                      </m:d>
                    </m:oMath>
                  </m:oMathPara>
                </a14:m>
                <a:endParaRPr lang="en-US" dirty="0">
                  <a:solidFill>
                    <a:schemeClr val="accent5"/>
                  </a:solidFill>
                </a:endParaRPr>
              </a:p>
              <a:p>
                <a:pPr marL="0" indent="0">
                  <a:buFont typeface="Arial" panose="020B0604020202020204" pitchFamily="34" charset="0"/>
                  <a:buNone/>
                </a:pPr>
                <a:endParaRPr lang="en-US" dirty="0">
                  <a:solidFill>
                    <a:schemeClr val="bg1"/>
                  </a:solidFill>
                </a:endParaRPr>
              </a:p>
            </p:txBody>
          </p:sp>
        </mc:Choice>
        <mc:Fallback xmlns="">
          <p:sp>
            <p:nvSpPr>
              <p:cNvPr id="10" name="Rectangle 3">
                <a:extLst>
                  <a:ext uri="{FF2B5EF4-FFF2-40B4-BE49-F238E27FC236}">
                    <a16:creationId xmlns:a16="http://schemas.microsoft.com/office/drawing/2014/main" id="{7D05EA12-899F-F63B-AE96-CE030720D669}"/>
                  </a:ext>
                </a:extLst>
              </p:cNvPr>
              <p:cNvSpPr txBox="1">
                <a:spLocks noRot="1" noChangeAspect="1" noMove="1" noResize="1" noEditPoints="1" noAdjustHandles="1" noChangeArrowheads="1" noChangeShapeType="1" noTextEdit="1"/>
              </p:cNvSpPr>
              <p:nvPr>
                <p:custDataLst>
                  <p:tags r:id="rId7"/>
                </p:custDataLst>
              </p:nvPr>
            </p:nvSpPr>
            <p:spPr>
              <a:xfrm>
                <a:off x="884826" y="1752247"/>
                <a:ext cx="5032130" cy="576814"/>
              </a:xfrm>
              <a:prstGeom prst="rect">
                <a:avLst/>
              </a:prstGeom>
              <a:blipFill>
                <a:blip r:embed="rId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3">
                <a:extLst>
                  <a:ext uri="{FF2B5EF4-FFF2-40B4-BE49-F238E27FC236}">
                    <a16:creationId xmlns:a16="http://schemas.microsoft.com/office/drawing/2014/main" id="{89FA79EB-3E78-3CC2-BF91-875F01368656}"/>
                  </a:ext>
                </a:extLst>
              </p:cNvPr>
              <p:cNvSpPr txBox="1">
                <a:spLocks noChangeArrowheads="1"/>
              </p:cNvSpPr>
              <p:nvPr>
                <p:custDataLst>
                  <p:tags r:id="rId4"/>
                </p:custDataLst>
              </p:nvPr>
            </p:nvSpPr>
            <p:spPr>
              <a:xfrm>
                <a:off x="2628634" y="2383170"/>
                <a:ext cx="1544515" cy="587340"/>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Δ</m:t>
                      </m:r>
                      <m:r>
                        <a:rPr lang="en-US" i="1" smtClean="0">
                          <a:solidFill>
                            <a:schemeClr val="bg1"/>
                          </a:solidFill>
                          <a:latin typeface="Cambria Math" panose="02040503050406030204" pitchFamily="18" charset="0"/>
                        </a:rPr>
                        <m:t>≥0</m:t>
                      </m:r>
                    </m:oMath>
                  </m:oMathPara>
                </a14:m>
                <a:endParaRPr lang="en-US" dirty="0">
                  <a:solidFill>
                    <a:schemeClr val="bg1"/>
                  </a:solidFill>
                </a:endParaRPr>
              </a:p>
            </p:txBody>
          </p:sp>
        </mc:Choice>
        <mc:Fallback xmlns="">
          <p:sp>
            <p:nvSpPr>
              <p:cNvPr id="11" name="Rectangle 3">
                <a:extLst>
                  <a:ext uri="{FF2B5EF4-FFF2-40B4-BE49-F238E27FC236}">
                    <a16:creationId xmlns:a16="http://schemas.microsoft.com/office/drawing/2014/main" id="{89FA79EB-3E78-3CC2-BF91-875F01368656}"/>
                  </a:ext>
                </a:extLst>
              </p:cNvPr>
              <p:cNvSpPr txBox="1">
                <a:spLocks noRot="1" noChangeAspect="1" noMove="1" noResize="1" noEditPoints="1" noAdjustHandles="1" noChangeArrowheads="1" noChangeShapeType="1" noTextEdit="1"/>
              </p:cNvSpPr>
              <p:nvPr>
                <p:custDataLst>
                  <p:tags r:id="rId9"/>
                </p:custDataLst>
              </p:nvPr>
            </p:nvSpPr>
            <p:spPr>
              <a:xfrm>
                <a:off x="2628634" y="2383170"/>
                <a:ext cx="1544515" cy="587340"/>
              </a:xfrm>
              <a:prstGeom prst="rect">
                <a:avLst/>
              </a:prstGeom>
              <a:blipFill>
                <a:blip r:embed="rId10"/>
                <a:stretch>
                  <a:fillRect/>
                </a:stretch>
              </a:blipFill>
              <a:ln>
                <a:solidFill>
                  <a:schemeClr val="bg1"/>
                </a:solidFill>
              </a:ln>
            </p:spPr>
            <p:txBody>
              <a:bodyPr/>
              <a:lstStyle/>
              <a:p>
                <a:r>
                  <a:rPr lang="en-US">
                    <a:noFill/>
                  </a:rPr>
                  <a:t> </a:t>
                </a:r>
              </a:p>
            </p:txBody>
          </p:sp>
        </mc:Fallback>
      </mc:AlternateContent>
      <p:sp>
        <p:nvSpPr>
          <p:cNvPr id="12" name="TextBox 11">
            <a:extLst>
              <a:ext uri="{FF2B5EF4-FFF2-40B4-BE49-F238E27FC236}">
                <a16:creationId xmlns:a16="http://schemas.microsoft.com/office/drawing/2014/main" id="{D25DEC13-79AB-AAA8-F1FB-9A7F3C2B9940}"/>
              </a:ext>
            </a:extLst>
          </p:cNvPr>
          <p:cNvSpPr txBox="1"/>
          <p:nvPr/>
        </p:nvSpPr>
        <p:spPr>
          <a:xfrm>
            <a:off x="6034454" y="1855988"/>
            <a:ext cx="2259622" cy="369332"/>
          </a:xfrm>
          <a:prstGeom prst="rect">
            <a:avLst/>
          </a:prstGeom>
          <a:noFill/>
        </p:spPr>
        <p:txBody>
          <a:bodyPr wrap="square" rtlCol="0">
            <a:spAutoFit/>
          </a:bodyPr>
          <a:lstStyle/>
          <a:p>
            <a:r>
              <a:rPr lang="en-US" sz="1800" dirty="0"/>
              <a:t>…From previous slide</a:t>
            </a:r>
          </a:p>
        </p:txBody>
      </p:sp>
      <mc:AlternateContent xmlns:mc="http://schemas.openxmlformats.org/markup-compatibility/2006" xmlns:a14="http://schemas.microsoft.com/office/drawing/2010/main">
        <mc:Choice Requires="a14">
          <p:sp>
            <p:nvSpPr>
              <p:cNvPr id="13" name="Rectangle 3">
                <a:extLst>
                  <a:ext uri="{FF2B5EF4-FFF2-40B4-BE49-F238E27FC236}">
                    <a16:creationId xmlns:a16="http://schemas.microsoft.com/office/drawing/2014/main" id="{35DB6C37-2254-2090-C59C-6FFA48173223}"/>
                  </a:ext>
                </a:extLst>
              </p:cNvPr>
              <p:cNvSpPr txBox="1">
                <a:spLocks noChangeArrowheads="1"/>
              </p:cNvSpPr>
              <p:nvPr>
                <p:custDataLst>
                  <p:tags r:id="rId5"/>
                </p:custDataLst>
              </p:nvPr>
            </p:nvSpPr>
            <p:spPr>
              <a:xfrm>
                <a:off x="884826" y="3862852"/>
                <a:ext cx="5032130" cy="57681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𝛿</m:t>
                      </m:r>
                      <m:d>
                        <m:dPr>
                          <m:ctrlPr>
                            <a:rPr lang="en-US" i="1" smtClean="0">
                              <a:solidFill>
                                <a:schemeClr val="accent1"/>
                              </a:solidFill>
                              <a:latin typeface="Cambria Math" panose="02040503050406030204" pitchFamily="18" charset="0"/>
                            </a:rPr>
                          </m:ctrlPr>
                        </m:dPr>
                        <m:e>
                          <m:r>
                            <a:rPr lang="en-US" i="1" smtClean="0">
                              <a:solidFill>
                                <a:schemeClr val="accent1"/>
                              </a:solidFill>
                              <a:latin typeface="Cambria Math" panose="02040503050406030204" pitchFamily="18" charset="0"/>
                            </a:rPr>
                            <m:t>𝑠</m:t>
                          </m:r>
                          <m:r>
                            <a:rPr lang="en-US" i="1" smtClean="0">
                              <a:solidFill>
                                <a:schemeClr val="accent1"/>
                              </a:solidFill>
                              <a:latin typeface="Cambria Math" panose="02040503050406030204" pitchFamily="18" charset="0"/>
                            </a:rPr>
                            <m:t>,</m:t>
                          </m:r>
                          <m:sSup>
                            <m:sSupPr>
                              <m:ctrlPr>
                                <a:rPr lang="en-US" i="1" smtClean="0">
                                  <a:solidFill>
                                    <a:schemeClr val="accent1"/>
                                  </a:solidFill>
                                  <a:latin typeface="Cambria Math" panose="02040503050406030204" pitchFamily="18" charset="0"/>
                                </a:rPr>
                              </m:ctrlPr>
                            </m:sSupPr>
                            <m:e>
                              <m:r>
                                <a:rPr lang="en-US" i="1" smtClean="0">
                                  <a:solidFill>
                                    <a:schemeClr val="accent1"/>
                                  </a:solidFill>
                                  <a:latin typeface="Cambria Math" panose="02040503050406030204" pitchFamily="18" charset="0"/>
                                </a:rPr>
                                <m:t>𝑢</m:t>
                              </m:r>
                            </m:e>
                            <m:sup>
                              <m:r>
                                <a:rPr lang="en-US" i="1" smtClean="0">
                                  <a:solidFill>
                                    <a:schemeClr val="accent1"/>
                                  </a:solidFill>
                                  <a:latin typeface="Cambria Math" panose="02040503050406030204" pitchFamily="18" charset="0"/>
                                </a:rPr>
                                <m:t>′</m:t>
                              </m:r>
                            </m:sup>
                          </m:sSup>
                        </m:e>
                      </m:d>
                      <m:r>
                        <a:rPr lang="en-US" i="1" smtClean="0">
                          <a:solidFill>
                            <a:schemeClr val="accent1"/>
                          </a:solidFill>
                          <a:latin typeface="Cambria Math" panose="02040503050406030204" pitchFamily="18" charset="0"/>
                        </a:rPr>
                        <m:t>+</m:t>
                      </m:r>
                      <m:r>
                        <a:rPr lang="en-US" i="1" smtClean="0">
                          <a:solidFill>
                            <a:schemeClr val="accent1"/>
                          </a:solidFill>
                          <a:latin typeface="Cambria Math" panose="02040503050406030204" pitchFamily="18" charset="0"/>
                        </a:rPr>
                        <m:t>𝑐</m:t>
                      </m:r>
                      <m:d>
                        <m:dPr>
                          <m:ctrlPr>
                            <a:rPr lang="en-US" i="1" smtClean="0">
                              <a:solidFill>
                                <a:schemeClr val="accent1"/>
                              </a:solidFill>
                              <a:latin typeface="Cambria Math" panose="02040503050406030204" pitchFamily="18" charset="0"/>
                            </a:rPr>
                          </m:ctrlPr>
                        </m:dPr>
                        <m:e>
                          <m:sSup>
                            <m:sSupPr>
                              <m:ctrlPr>
                                <a:rPr lang="en-US" i="1" smtClean="0">
                                  <a:solidFill>
                                    <a:schemeClr val="accent1"/>
                                  </a:solidFill>
                                  <a:latin typeface="Cambria Math" panose="02040503050406030204" pitchFamily="18" charset="0"/>
                                </a:rPr>
                              </m:ctrlPr>
                            </m:sSupPr>
                            <m:e>
                              <m:r>
                                <a:rPr lang="en-US" i="1" smtClean="0">
                                  <a:solidFill>
                                    <a:schemeClr val="accent1"/>
                                  </a:solidFill>
                                  <a:latin typeface="Cambria Math" panose="02040503050406030204" pitchFamily="18" charset="0"/>
                                </a:rPr>
                                <m:t>𝑒</m:t>
                              </m:r>
                            </m:e>
                            <m:sup>
                              <m:r>
                                <a:rPr lang="en-US" i="1" smtClean="0">
                                  <a:solidFill>
                                    <a:schemeClr val="accent1"/>
                                  </a:solidFill>
                                  <a:latin typeface="Cambria Math" panose="02040503050406030204" pitchFamily="18" charset="0"/>
                                </a:rPr>
                                <m:t>′</m:t>
                              </m:r>
                            </m:sup>
                          </m:sSup>
                        </m:e>
                      </m:d>
                      <m:r>
                        <a:rPr lang="en-US" i="1" smtClean="0">
                          <a:solidFill>
                            <a:schemeClr val="bg1"/>
                          </a:solidFill>
                          <a:latin typeface="Cambria Math" panose="02040503050406030204" pitchFamily="18" charset="0"/>
                        </a:rPr>
                        <m:t>&lt;</m:t>
                      </m:r>
                      <m:r>
                        <a:rPr lang="en-US" i="1" smtClean="0">
                          <a:solidFill>
                            <a:schemeClr val="accent5"/>
                          </a:solidFill>
                          <a:latin typeface="Cambria Math" panose="02040503050406030204" pitchFamily="18" charset="0"/>
                        </a:rPr>
                        <m:t>𝛿</m:t>
                      </m:r>
                      <m:d>
                        <m:dPr>
                          <m:ctrlPr>
                            <a:rPr lang="en-US" i="1" smtClean="0">
                              <a:solidFill>
                                <a:schemeClr val="accent5"/>
                              </a:solidFill>
                              <a:latin typeface="Cambria Math" panose="02040503050406030204" pitchFamily="18" charset="0"/>
                            </a:rPr>
                          </m:ctrlPr>
                        </m:dPr>
                        <m:e>
                          <m:r>
                            <a:rPr lang="en-US" i="1" smtClean="0">
                              <a:solidFill>
                                <a:schemeClr val="accent5"/>
                              </a:solidFill>
                              <a:latin typeface="Cambria Math" panose="02040503050406030204" pitchFamily="18" charset="0"/>
                            </a:rPr>
                            <m:t>𝑠</m:t>
                          </m:r>
                          <m:r>
                            <a:rPr lang="en-US" i="1" smtClean="0">
                              <a:solidFill>
                                <a:schemeClr val="accent5"/>
                              </a:solidFill>
                              <a:latin typeface="Cambria Math" panose="02040503050406030204" pitchFamily="18" charset="0"/>
                            </a:rPr>
                            <m:t>,</m:t>
                          </m:r>
                          <m:r>
                            <a:rPr lang="en-US" i="1" smtClean="0">
                              <a:solidFill>
                                <a:schemeClr val="accent5"/>
                              </a:solidFill>
                              <a:latin typeface="Cambria Math" panose="02040503050406030204" pitchFamily="18" charset="0"/>
                            </a:rPr>
                            <m:t>𝑢</m:t>
                          </m:r>
                        </m:e>
                      </m:d>
                      <m:r>
                        <a:rPr lang="en-US" i="1" smtClean="0">
                          <a:solidFill>
                            <a:schemeClr val="accent5"/>
                          </a:solidFill>
                          <a:latin typeface="Cambria Math" panose="02040503050406030204" pitchFamily="18" charset="0"/>
                        </a:rPr>
                        <m:t>+</m:t>
                      </m:r>
                      <m:r>
                        <a:rPr lang="en-US" i="1" smtClean="0">
                          <a:solidFill>
                            <a:schemeClr val="accent5"/>
                          </a:solidFill>
                          <a:latin typeface="Cambria Math" panose="02040503050406030204" pitchFamily="18" charset="0"/>
                        </a:rPr>
                        <m:t>𝑐</m:t>
                      </m:r>
                      <m:d>
                        <m:dPr>
                          <m:ctrlPr>
                            <a:rPr lang="en-US" i="1" smtClean="0">
                              <a:solidFill>
                                <a:schemeClr val="accent5"/>
                              </a:solidFill>
                              <a:latin typeface="Cambria Math" panose="02040503050406030204" pitchFamily="18" charset="0"/>
                            </a:rPr>
                          </m:ctrlPr>
                        </m:dPr>
                        <m:e>
                          <m:r>
                            <a:rPr lang="en-US" i="1" smtClean="0">
                              <a:solidFill>
                                <a:schemeClr val="accent5"/>
                              </a:solidFill>
                              <a:latin typeface="Cambria Math" panose="02040503050406030204" pitchFamily="18" charset="0"/>
                            </a:rPr>
                            <m:t>𝑒</m:t>
                          </m:r>
                        </m:e>
                      </m:d>
                    </m:oMath>
                  </m:oMathPara>
                </a14:m>
                <a:endParaRPr lang="en-US" dirty="0">
                  <a:solidFill>
                    <a:schemeClr val="accent5"/>
                  </a:solidFill>
                </a:endParaRPr>
              </a:p>
              <a:p>
                <a:pPr marL="0" indent="0">
                  <a:buFont typeface="Arial" panose="020B0604020202020204" pitchFamily="34" charset="0"/>
                  <a:buNone/>
                </a:pPr>
                <a:endParaRPr lang="en-US" dirty="0">
                  <a:solidFill>
                    <a:schemeClr val="bg1"/>
                  </a:solidFill>
                </a:endParaRPr>
              </a:p>
            </p:txBody>
          </p:sp>
        </mc:Choice>
        <mc:Fallback xmlns="">
          <p:sp>
            <p:nvSpPr>
              <p:cNvPr id="13" name="Rectangle 3">
                <a:extLst>
                  <a:ext uri="{FF2B5EF4-FFF2-40B4-BE49-F238E27FC236}">
                    <a16:creationId xmlns:a16="http://schemas.microsoft.com/office/drawing/2014/main" id="{35DB6C37-2254-2090-C59C-6FFA48173223}"/>
                  </a:ext>
                </a:extLst>
              </p:cNvPr>
              <p:cNvSpPr txBox="1">
                <a:spLocks noRot="1" noChangeAspect="1" noMove="1" noResize="1" noEditPoints="1" noAdjustHandles="1" noChangeArrowheads="1" noChangeShapeType="1" noTextEdit="1"/>
              </p:cNvSpPr>
              <p:nvPr>
                <p:custDataLst>
                  <p:tags r:id="rId11"/>
                </p:custDataLst>
              </p:nvPr>
            </p:nvSpPr>
            <p:spPr>
              <a:xfrm>
                <a:off x="884826" y="3862852"/>
                <a:ext cx="5032130" cy="576814"/>
              </a:xfrm>
              <a:prstGeom prst="rect">
                <a:avLst/>
              </a:prstGeom>
              <a:blipFill>
                <a:blip r:embed="rId12"/>
                <a:stretch>
                  <a:fillRect/>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969207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Minimum-Spanning Trees</a:t>
            </a:r>
          </a:p>
        </p:txBody>
      </p:sp>
      <p:sp>
        <p:nvSpPr>
          <p:cNvPr id="6" name="Text Placeholder 5"/>
          <p:cNvSpPr>
            <a:spLocks noGrp="1"/>
          </p:cNvSpPr>
          <p:nvPr>
            <p:ph type="body" idx="1"/>
          </p:nvPr>
        </p:nvSpPr>
        <p:spPr/>
        <p:txBody>
          <a:bodyPr/>
          <a:lstStyle/>
          <a:p>
            <a:endParaRPr lang="en-US"/>
          </a:p>
        </p:txBody>
      </p:sp>
    </p:spTree>
    <p:extLst>
      <p:ext uri="{BB962C8B-B14F-4D97-AF65-F5344CB8AC3E}">
        <p14:creationId xmlns:p14="http://schemas.microsoft.com/office/powerpoint/2010/main" val="1834445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custDataLst>
              <p:tags r:id="rId1"/>
            </p:custDataLst>
          </p:nvPr>
        </p:nvSpPr>
        <p:spPr>
          <a:xfrm>
            <a:off x="1143001" y="265433"/>
            <a:ext cx="9905998" cy="630860"/>
          </a:xfrm>
        </p:spPr>
        <p:txBody>
          <a:bodyPr/>
          <a:lstStyle/>
          <a:p>
            <a:pPr algn="ctr" eaLnBrk="1" hangingPunct="1"/>
            <a:r>
              <a:rPr lang="en-US" dirty="0"/>
              <a:t>Spanning Tree</a:t>
            </a:r>
          </a:p>
        </p:txBody>
      </p:sp>
      <p:sp>
        <p:nvSpPr>
          <p:cNvPr id="66563" name="Rectangle 3"/>
          <p:cNvSpPr>
            <a:spLocks noGrp="1" noChangeArrowheads="1"/>
          </p:cNvSpPr>
          <p:nvPr>
            <p:ph sz="quarter" idx="1"/>
            <p:custDataLst>
              <p:tags r:id="rId2"/>
            </p:custDataLst>
          </p:nvPr>
        </p:nvSpPr>
        <p:spPr>
          <a:xfrm>
            <a:off x="1143000" y="2046084"/>
            <a:ext cx="9905999" cy="1222218"/>
          </a:xfrm>
          <a:solidFill>
            <a:schemeClr val="tx1">
              <a:lumMod val="95000"/>
            </a:schemeClr>
          </a:solidFill>
          <a:ln>
            <a:solidFill>
              <a:schemeClr val="bg1"/>
            </a:solidFill>
          </a:ln>
        </p:spPr>
        <p:txBody>
          <a:bodyPr anchor="ctr"/>
          <a:lstStyle/>
          <a:p>
            <a:pPr marL="0" indent="0" algn="ctr" eaLnBrk="1" hangingPunct="1">
              <a:buNone/>
            </a:pPr>
            <a:r>
              <a:rPr lang="en-US" dirty="0">
                <a:solidFill>
                  <a:sysClr val="windowText" lastClr="000000"/>
                </a:solidFill>
              </a:rPr>
              <a:t>A </a:t>
            </a:r>
            <a:r>
              <a:rPr lang="en-US" b="1" i="1" dirty="0">
                <a:solidFill>
                  <a:sysClr val="windowText" lastClr="000000"/>
                </a:solidFill>
              </a:rPr>
              <a:t>spanning tree </a:t>
            </a:r>
            <a:r>
              <a:rPr lang="en-US" dirty="0">
                <a:solidFill>
                  <a:sysClr val="windowText" lastClr="000000"/>
                </a:solidFill>
              </a:rPr>
              <a:t>of a graph G is a subgraph of G that contains every vertex in G and is also a </a:t>
            </a:r>
            <a:r>
              <a:rPr lang="en-US" b="1" i="1" dirty="0">
                <a:solidFill>
                  <a:sysClr val="windowText" lastClr="000000"/>
                </a:solidFill>
              </a:rPr>
              <a:t>tree </a:t>
            </a:r>
            <a:r>
              <a:rPr lang="en-US" dirty="0">
                <a:solidFill>
                  <a:sysClr val="windowText" lastClr="000000"/>
                </a:solidFill>
              </a:rPr>
              <a:t>(i.e., it has no cycles)</a:t>
            </a:r>
          </a:p>
        </p:txBody>
      </p:sp>
    </p:spTree>
    <p:extLst>
      <p:ext uri="{BB962C8B-B14F-4D97-AF65-F5344CB8AC3E}">
        <p14:creationId xmlns:p14="http://schemas.microsoft.com/office/powerpoint/2010/main" val="3018312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custDataLst>
              <p:tags r:id="rId1"/>
            </p:custDataLst>
          </p:nvPr>
        </p:nvSpPr>
        <p:spPr>
          <a:xfrm>
            <a:off x="1143001" y="333071"/>
            <a:ext cx="9905998" cy="705456"/>
          </a:xfrm>
        </p:spPr>
        <p:txBody>
          <a:bodyPr/>
          <a:lstStyle/>
          <a:p>
            <a:pPr algn="ctr" eaLnBrk="1" hangingPunct="1"/>
            <a:r>
              <a:rPr lang="en-US" dirty="0"/>
              <a:t>Spanning Tree: Example</a:t>
            </a:r>
          </a:p>
        </p:txBody>
      </p:sp>
      <p:sp>
        <p:nvSpPr>
          <p:cNvPr id="66563" name="Rectangle 3"/>
          <p:cNvSpPr>
            <a:spLocks noGrp="1" noChangeArrowheads="1"/>
          </p:cNvSpPr>
          <p:nvPr>
            <p:ph sz="quarter" idx="1"/>
            <p:custDataLst>
              <p:tags r:id="rId2"/>
            </p:custDataLst>
          </p:nvPr>
        </p:nvSpPr>
        <p:spPr>
          <a:xfrm>
            <a:off x="2564035" y="1518620"/>
            <a:ext cx="2153201" cy="564333"/>
          </a:xfrm>
        </p:spPr>
        <p:txBody>
          <a:bodyPr>
            <a:normAutofit/>
          </a:bodyPr>
          <a:lstStyle/>
          <a:p>
            <a:pPr marL="0" indent="0" eaLnBrk="1" hangingPunct="1">
              <a:buNone/>
            </a:pPr>
            <a:r>
              <a:rPr lang="en-US" dirty="0"/>
              <a:t>Original Graph:</a:t>
            </a:r>
          </a:p>
        </p:txBody>
      </p:sp>
      <p:grpSp>
        <p:nvGrpSpPr>
          <p:cNvPr id="29" name="Group 28">
            <a:extLst>
              <a:ext uri="{FF2B5EF4-FFF2-40B4-BE49-F238E27FC236}">
                <a16:creationId xmlns:a16="http://schemas.microsoft.com/office/drawing/2014/main" id="{0D95BC4F-BC55-EC41-DDC5-AB3FDD87255A}"/>
              </a:ext>
            </a:extLst>
          </p:cNvPr>
          <p:cNvGrpSpPr/>
          <p:nvPr/>
        </p:nvGrpSpPr>
        <p:grpSpPr>
          <a:xfrm>
            <a:off x="4753069" y="1385178"/>
            <a:ext cx="2885041" cy="1837853"/>
            <a:chOff x="4753069" y="1140737"/>
            <a:chExt cx="2885041" cy="1837853"/>
          </a:xfrm>
        </p:grpSpPr>
        <p:sp>
          <p:nvSpPr>
            <p:cNvPr id="28" name="Rectangle 27">
              <a:extLst>
                <a:ext uri="{FF2B5EF4-FFF2-40B4-BE49-F238E27FC236}">
                  <a16:creationId xmlns:a16="http://schemas.microsoft.com/office/drawing/2014/main" id="{5C42B411-D719-844C-49D7-E50F8BC8EAEE}"/>
                </a:ext>
              </a:extLst>
            </p:cNvPr>
            <p:cNvSpPr/>
            <p:nvPr/>
          </p:nvSpPr>
          <p:spPr>
            <a:xfrm>
              <a:off x="4753069" y="1140737"/>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CAC501F6-9261-8D14-C0F9-3F45925F0842}"/>
                </a:ext>
              </a:extLst>
            </p:cNvPr>
            <p:cNvSpPr/>
            <p:nvPr/>
          </p:nvSpPr>
          <p:spPr>
            <a:xfrm>
              <a:off x="4824735" y="168427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D8A12B1-2312-D732-997E-412A19F1CCE7}"/>
                </a:ext>
              </a:extLst>
            </p:cNvPr>
            <p:cNvSpPr/>
            <p:nvPr/>
          </p:nvSpPr>
          <p:spPr>
            <a:xfrm>
              <a:off x="5824396" y="1304358"/>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070E913-44D8-9B89-21E1-0776F6F13590}"/>
                </a:ext>
              </a:extLst>
            </p:cNvPr>
            <p:cNvSpPr/>
            <p:nvPr/>
          </p:nvSpPr>
          <p:spPr>
            <a:xfrm>
              <a:off x="6963619" y="126512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1241F2B-487C-32C0-E031-594CEAC7F385}"/>
                </a:ext>
              </a:extLst>
            </p:cNvPr>
            <p:cNvSpPr/>
            <p:nvPr/>
          </p:nvSpPr>
          <p:spPr>
            <a:xfrm>
              <a:off x="5824396" y="223352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A7AAA91-B48D-533A-4CC7-6AB3012FC6BD}"/>
                </a:ext>
              </a:extLst>
            </p:cNvPr>
            <p:cNvSpPr/>
            <p:nvPr/>
          </p:nvSpPr>
          <p:spPr>
            <a:xfrm>
              <a:off x="6972678" y="220334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5324933E-8CE2-9E43-96C0-775B4091949E}"/>
                </a:ext>
              </a:extLst>
            </p:cNvPr>
            <p:cNvCxnSpPr>
              <a:cxnSpLocks/>
              <a:stCxn id="4" idx="7"/>
              <a:endCxn id="8" idx="2"/>
            </p:cNvCxnSpPr>
            <p:nvPr/>
          </p:nvCxnSpPr>
          <p:spPr>
            <a:xfrm flipV="1">
              <a:off x="5288392" y="1575962"/>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142E456-1565-0B04-F28C-C3FE737ED776}"/>
                </a:ext>
              </a:extLst>
            </p:cNvPr>
            <p:cNvCxnSpPr>
              <a:cxnSpLocks/>
              <a:stCxn id="8" idx="6"/>
              <a:endCxn id="9" idx="2"/>
            </p:cNvCxnSpPr>
            <p:nvPr/>
          </p:nvCxnSpPr>
          <p:spPr>
            <a:xfrm flipV="1">
              <a:off x="6367604" y="1536730"/>
              <a:ext cx="596015" cy="39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8801C7E-ED97-5FA6-1E90-A1EDDAE25AE8}"/>
                </a:ext>
              </a:extLst>
            </p:cNvPr>
            <p:cNvCxnSpPr>
              <a:cxnSpLocks/>
              <a:stCxn id="10" idx="0"/>
              <a:endCxn id="8" idx="4"/>
            </p:cNvCxnSpPr>
            <p:nvPr/>
          </p:nvCxnSpPr>
          <p:spPr>
            <a:xfrm flipV="1">
              <a:off x="6096000" y="1847566"/>
              <a:ext cx="0" cy="3859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19B0EE5-BA13-2DEB-E982-24C925970044}"/>
                </a:ext>
              </a:extLst>
            </p:cNvPr>
            <p:cNvCxnSpPr>
              <a:cxnSpLocks/>
              <a:stCxn id="10" idx="6"/>
              <a:endCxn id="11" idx="2"/>
            </p:cNvCxnSpPr>
            <p:nvPr/>
          </p:nvCxnSpPr>
          <p:spPr>
            <a:xfrm flipV="1">
              <a:off x="6367604" y="2474946"/>
              <a:ext cx="605074" cy="30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DFFDAC3-FB92-EDC3-F0C9-B5431B4058D3}"/>
                </a:ext>
              </a:extLst>
            </p:cNvPr>
            <p:cNvCxnSpPr>
              <a:cxnSpLocks/>
              <a:stCxn id="9" idx="4"/>
              <a:endCxn id="11" idx="0"/>
            </p:cNvCxnSpPr>
            <p:nvPr/>
          </p:nvCxnSpPr>
          <p:spPr>
            <a:xfrm>
              <a:off x="7235223" y="1808334"/>
              <a:ext cx="9059" cy="395008"/>
            </a:xfrm>
            <a:prstGeom prst="line">
              <a:avLst/>
            </a:prstGeom>
          </p:spPr>
          <p:style>
            <a:lnRef idx="1">
              <a:schemeClr val="accent1"/>
            </a:lnRef>
            <a:fillRef idx="0">
              <a:schemeClr val="accent1"/>
            </a:fillRef>
            <a:effectRef idx="0">
              <a:schemeClr val="accent1"/>
            </a:effectRef>
            <a:fontRef idx="minor">
              <a:schemeClr val="tx1"/>
            </a:fontRef>
          </p:style>
        </p:cxnSp>
      </p:grpSp>
      <p:sp>
        <p:nvSpPr>
          <p:cNvPr id="30" name="Rectangle 3">
            <a:extLst>
              <a:ext uri="{FF2B5EF4-FFF2-40B4-BE49-F238E27FC236}">
                <a16:creationId xmlns:a16="http://schemas.microsoft.com/office/drawing/2014/main" id="{CFA75FA1-A302-F719-7AC7-AAE73DEBD392}"/>
              </a:ext>
            </a:extLst>
          </p:cNvPr>
          <p:cNvSpPr txBox="1">
            <a:spLocks noChangeArrowheads="1"/>
          </p:cNvSpPr>
          <p:nvPr>
            <p:custDataLst>
              <p:tags r:id="rId3"/>
            </p:custDataLst>
          </p:nvPr>
        </p:nvSpPr>
        <p:spPr>
          <a:xfrm>
            <a:off x="2564034" y="3798584"/>
            <a:ext cx="3260362" cy="56433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All possible spanning trees:</a:t>
            </a:r>
          </a:p>
        </p:txBody>
      </p:sp>
      <p:grpSp>
        <p:nvGrpSpPr>
          <p:cNvPr id="31" name="Group 30">
            <a:extLst>
              <a:ext uri="{FF2B5EF4-FFF2-40B4-BE49-F238E27FC236}">
                <a16:creationId xmlns:a16="http://schemas.microsoft.com/office/drawing/2014/main" id="{D7351522-692E-7798-CB56-90CAD9A866E0}"/>
              </a:ext>
            </a:extLst>
          </p:cNvPr>
          <p:cNvGrpSpPr/>
          <p:nvPr/>
        </p:nvGrpSpPr>
        <p:grpSpPr>
          <a:xfrm>
            <a:off x="188617" y="4425636"/>
            <a:ext cx="2885041" cy="1837853"/>
            <a:chOff x="4753069" y="1140737"/>
            <a:chExt cx="2885041" cy="1837853"/>
          </a:xfrm>
        </p:grpSpPr>
        <p:sp>
          <p:nvSpPr>
            <p:cNvPr id="32" name="Rectangle 31">
              <a:extLst>
                <a:ext uri="{FF2B5EF4-FFF2-40B4-BE49-F238E27FC236}">
                  <a16:creationId xmlns:a16="http://schemas.microsoft.com/office/drawing/2014/main" id="{956CA176-7BD0-5326-175E-C0F7702B48C5}"/>
                </a:ext>
              </a:extLst>
            </p:cNvPr>
            <p:cNvSpPr/>
            <p:nvPr/>
          </p:nvSpPr>
          <p:spPr>
            <a:xfrm>
              <a:off x="4753069" y="1140737"/>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29D8C66-1C5C-4CD7-1AA8-8EABB21EAA34}"/>
                </a:ext>
              </a:extLst>
            </p:cNvPr>
            <p:cNvSpPr/>
            <p:nvPr/>
          </p:nvSpPr>
          <p:spPr>
            <a:xfrm>
              <a:off x="4824735" y="168427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957A825-0518-2E5C-A62F-585D0355CE99}"/>
                </a:ext>
              </a:extLst>
            </p:cNvPr>
            <p:cNvSpPr/>
            <p:nvPr/>
          </p:nvSpPr>
          <p:spPr>
            <a:xfrm>
              <a:off x="5824396" y="1304358"/>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04483C1-360A-ED07-4B19-95E6C31B5DC9}"/>
                </a:ext>
              </a:extLst>
            </p:cNvPr>
            <p:cNvSpPr/>
            <p:nvPr/>
          </p:nvSpPr>
          <p:spPr>
            <a:xfrm>
              <a:off x="6963619" y="126512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801789E-6B34-B132-9546-433F9A1111F6}"/>
                </a:ext>
              </a:extLst>
            </p:cNvPr>
            <p:cNvSpPr/>
            <p:nvPr/>
          </p:nvSpPr>
          <p:spPr>
            <a:xfrm>
              <a:off x="5824396" y="223352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58AB6FE-C6A4-7EBF-F951-FA862B5F961C}"/>
                </a:ext>
              </a:extLst>
            </p:cNvPr>
            <p:cNvSpPr/>
            <p:nvPr/>
          </p:nvSpPr>
          <p:spPr>
            <a:xfrm>
              <a:off x="6972678" y="220334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0A147D9A-9B83-2827-D8DB-5451EF130996}"/>
                </a:ext>
              </a:extLst>
            </p:cNvPr>
            <p:cNvCxnSpPr>
              <a:cxnSpLocks/>
              <a:stCxn id="33" idx="7"/>
              <a:endCxn id="34" idx="2"/>
            </p:cNvCxnSpPr>
            <p:nvPr/>
          </p:nvCxnSpPr>
          <p:spPr>
            <a:xfrm flipV="1">
              <a:off x="5288392" y="1575962"/>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D2976A9-B25B-CE08-87F3-C18EDB26FF64}"/>
                </a:ext>
              </a:extLst>
            </p:cNvPr>
            <p:cNvCxnSpPr>
              <a:cxnSpLocks/>
              <a:stCxn id="36" idx="0"/>
              <a:endCxn id="34" idx="4"/>
            </p:cNvCxnSpPr>
            <p:nvPr/>
          </p:nvCxnSpPr>
          <p:spPr>
            <a:xfrm flipV="1">
              <a:off x="6096000" y="1847566"/>
              <a:ext cx="0" cy="3859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D303755-F0C9-FAF6-6983-1F8AE19B94E5}"/>
                </a:ext>
              </a:extLst>
            </p:cNvPr>
            <p:cNvCxnSpPr>
              <a:cxnSpLocks/>
              <a:stCxn id="36" idx="6"/>
              <a:endCxn id="37" idx="2"/>
            </p:cNvCxnSpPr>
            <p:nvPr/>
          </p:nvCxnSpPr>
          <p:spPr>
            <a:xfrm flipV="1">
              <a:off x="6367604" y="2474946"/>
              <a:ext cx="605074" cy="30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E9C39E5-9B44-47BC-4659-E79D587F463F}"/>
                </a:ext>
              </a:extLst>
            </p:cNvPr>
            <p:cNvCxnSpPr>
              <a:cxnSpLocks/>
              <a:stCxn id="35" idx="4"/>
              <a:endCxn id="37" idx="0"/>
            </p:cNvCxnSpPr>
            <p:nvPr/>
          </p:nvCxnSpPr>
          <p:spPr>
            <a:xfrm>
              <a:off x="7235223" y="1808334"/>
              <a:ext cx="9059" cy="39500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A6076381-2442-5E86-1BAC-9E78DD9996B0}"/>
              </a:ext>
            </a:extLst>
          </p:cNvPr>
          <p:cNvGrpSpPr/>
          <p:nvPr/>
        </p:nvGrpSpPr>
        <p:grpSpPr>
          <a:xfrm>
            <a:off x="3167212" y="4425636"/>
            <a:ext cx="2885041" cy="1837853"/>
            <a:chOff x="4753069" y="1140737"/>
            <a:chExt cx="2885041" cy="1837853"/>
          </a:xfrm>
        </p:grpSpPr>
        <p:sp>
          <p:nvSpPr>
            <p:cNvPr id="44" name="Rectangle 43">
              <a:extLst>
                <a:ext uri="{FF2B5EF4-FFF2-40B4-BE49-F238E27FC236}">
                  <a16:creationId xmlns:a16="http://schemas.microsoft.com/office/drawing/2014/main" id="{F267221C-AE00-8DDA-5325-C7EF9CAC41C8}"/>
                </a:ext>
              </a:extLst>
            </p:cNvPr>
            <p:cNvSpPr/>
            <p:nvPr/>
          </p:nvSpPr>
          <p:spPr>
            <a:xfrm>
              <a:off x="4753069" y="1140737"/>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405419B-D8FB-E202-AAB8-D7C425853622}"/>
                </a:ext>
              </a:extLst>
            </p:cNvPr>
            <p:cNvSpPr/>
            <p:nvPr/>
          </p:nvSpPr>
          <p:spPr>
            <a:xfrm>
              <a:off x="4824735" y="168427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7E2E7E5-DA4B-38E5-6CBB-65AA60AC149D}"/>
                </a:ext>
              </a:extLst>
            </p:cNvPr>
            <p:cNvSpPr/>
            <p:nvPr/>
          </p:nvSpPr>
          <p:spPr>
            <a:xfrm>
              <a:off x="5824396" y="1304358"/>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BA767FB7-236F-6976-2024-BE815B945709}"/>
                </a:ext>
              </a:extLst>
            </p:cNvPr>
            <p:cNvSpPr/>
            <p:nvPr/>
          </p:nvSpPr>
          <p:spPr>
            <a:xfrm>
              <a:off x="6963619" y="126512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17E496D-F38B-707A-8D2A-C1E1F5D5AD53}"/>
                </a:ext>
              </a:extLst>
            </p:cNvPr>
            <p:cNvSpPr/>
            <p:nvPr/>
          </p:nvSpPr>
          <p:spPr>
            <a:xfrm>
              <a:off x="5824396" y="223352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5F0F45CB-6E9D-1ADA-93B3-99E3DF0FB6B9}"/>
                </a:ext>
              </a:extLst>
            </p:cNvPr>
            <p:cNvSpPr/>
            <p:nvPr/>
          </p:nvSpPr>
          <p:spPr>
            <a:xfrm>
              <a:off x="6972678" y="220334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37D5AD0F-8642-106E-5BD0-BE338C126175}"/>
                </a:ext>
              </a:extLst>
            </p:cNvPr>
            <p:cNvCxnSpPr>
              <a:cxnSpLocks/>
              <a:stCxn id="45" idx="7"/>
              <a:endCxn id="46" idx="2"/>
            </p:cNvCxnSpPr>
            <p:nvPr/>
          </p:nvCxnSpPr>
          <p:spPr>
            <a:xfrm flipV="1">
              <a:off x="5288392" y="1575962"/>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0EC9F0E-57CB-6F0A-D338-BFE4904FB0DC}"/>
                </a:ext>
              </a:extLst>
            </p:cNvPr>
            <p:cNvCxnSpPr>
              <a:cxnSpLocks/>
              <a:stCxn id="46" idx="6"/>
              <a:endCxn id="47" idx="2"/>
            </p:cNvCxnSpPr>
            <p:nvPr/>
          </p:nvCxnSpPr>
          <p:spPr>
            <a:xfrm flipV="1">
              <a:off x="6367604" y="1536730"/>
              <a:ext cx="596015" cy="39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57DEA3C-1279-BCB2-ADC7-32D0A3FFD483}"/>
                </a:ext>
              </a:extLst>
            </p:cNvPr>
            <p:cNvCxnSpPr>
              <a:cxnSpLocks/>
              <a:stCxn id="48" idx="6"/>
              <a:endCxn id="49" idx="2"/>
            </p:cNvCxnSpPr>
            <p:nvPr/>
          </p:nvCxnSpPr>
          <p:spPr>
            <a:xfrm flipV="1">
              <a:off x="6367604" y="2474946"/>
              <a:ext cx="605074" cy="30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5F25697-F7A0-8EB0-C182-4AADEE7DD1D7}"/>
                </a:ext>
              </a:extLst>
            </p:cNvPr>
            <p:cNvCxnSpPr>
              <a:cxnSpLocks/>
              <a:stCxn id="47" idx="4"/>
              <a:endCxn id="49" idx="0"/>
            </p:cNvCxnSpPr>
            <p:nvPr/>
          </p:nvCxnSpPr>
          <p:spPr>
            <a:xfrm>
              <a:off x="7235223" y="1808334"/>
              <a:ext cx="9059" cy="39500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DB935291-18B6-CDD0-BAC2-6819A01A1C56}"/>
              </a:ext>
            </a:extLst>
          </p:cNvPr>
          <p:cNvGrpSpPr/>
          <p:nvPr/>
        </p:nvGrpSpPr>
        <p:grpSpPr>
          <a:xfrm>
            <a:off x="6177493" y="4425635"/>
            <a:ext cx="2885041" cy="1837853"/>
            <a:chOff x="4753069" y="1140737"/>
            <a:chExt cx="2885041" cy="1837853"/>
          </a:xfrm>
        </p:grpSpPr>
        <p:sp>
          <p:nvSpPr>
            <p:cNvPr id="56" name="Rectangle 55">
              <a:extLst>
                <a:ext uri="{FF2B5EF4-FFF2-40B4-BE49-F238E27FC236}">
                  <a16:creationId xmlns:a16="http://schemas.microsoft.com/office/drawing/2014/main" id="{E1BCC9AA-0CDE-A95E-1765-233BDF1F3DF2}"/>
                </a:ext>
              </a:extLst>
            </p:cNvPr>
            <p:cNvSpPr/>
            <p:nvPr/>
          </p:nvSpPr>
          <p:spPr>
            <a:xfrm>
              <a:off x="4753069" y="1140737"/>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69EC9A1F-CC4A-59F2-D28B-6FB519169C3F}"/>
                </a:ext>
              </a:extLst>
            </p:cNvPr>
            <p:cNvSpPr/>
            <p:nvPr/>
          </p:nvSpPr>
          <p:spPr>
            <a:xfrm>
              <a:off x="4824735" y="168427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67471A0-A34E-6DA3-08F2-A5001BF30588}"/>
                </a:ext>
              </a:extLst>
            </p:cNvPr>
            <p:cNvSpPr/>
            <p:nvPr/>
          </p:nvSpPr>
          <p:spPr>
            <a:xfrm>
              <a:off x="5824396" y="1304358"/>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0C026AB4-1774-932E-C1AC-F97DD8B6AD5B}"/>
                </a:ext>
              </a:extLst>
            </p:cNvPr>
            <p:cNvSpPr/>
            <p:nvPr/>
          </p:nvSpPr>
          <p:spPr>
            <a:xfrm>
              <a:off x="6963619" y="126512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F10382-93E3-BA2F-D649-E65392E1CF3C}"/>
                </a:ext>
              </a:extLst>
            </p:cNvPr>
            <p:cNvSpPr/>
            <p:nvPr/>
          </p:nvSpPr>
          <p:spPr>
            <a:xfrm>
              <a:off x="5824396" y="223352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989EA419-1917-E823-5BE5-18EE06BDB3B3}"/>
                </a:ext>
              </a:extLst>
            </p:cNvPr>
            <p:cNvSpPr/>
            <p:nvPr/>
          </p:nvSpPr>
          <p:spPr>
            <a:xfrm>
              <a:off x="6972678" y="220334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B67EC6D9-9A8A-59DE-9F2C-C6B40C4AD96C}"/>
                </a:ext>
              </a:extLst>
            </p:cNvPr>
            <p:cNvCxnSpPr>
              <a:cxnSpLocks/>
              <a:stCxn id="57" idx="7"/>
              <a:endCxn id="58" idx="2"/>
            </p:cNvCxnSpPr>
            <p:nvPr/>
          </p:nvCxnSpPr>
          <p:spPr>
            <a:xfrm flipV="1">
              <a:off x="5288392" y="1575962"/>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8787234-5731-E57B-75F4-9C1353ACB536}"/>
                </a:ext>
              </a:extLst>
            </p:cNvPr>
            <p:cNvCxnSpPr>
              <a:cxnSpLocks/>
              <a:stCxn id="58" idx="6"/>
              <a:endCxn id="59" idx="2"/>
            </p:cNvCxnSpPr>
            <p:nvPr/>
          </p:nvCxnSpPr>
          <p:spPr>
            <a:xfrm flipV="1">
              <a:off x="6367604" y="1536730"/>
              <a:ext cx="596015" cy="39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560" name="Straight Connector 66559">
              <a:extLst>
                <a:ext uri="{FF2B5EF4-FFF2-40B4-BE49-F238E27FC236}">
                  <a16:creationId xmlns:a16="http://schemas.microsoft.com/office/drawing/2014/main" id="{9FF5E6FD-20D5-9E31-04C7-DF0E782F08A0}"/>
                </a:ext>
              </a:extLst>
            </p:cNvPr>
            <p:cNvCxnSpPr>
              <a:cxnSpLocks/>
              <a:stCxn id="60" idx="0"/>
              <a:endCxn id="58" idx="4"/>
            </p:cNvCxnSpPr>
            <p:nvPr/>
          </p:nvCxnSpPr>
          <p:spPr>
            <a:xfrm flipV="1">
              <a:off x="6096000" y="1847566"/>
              <a:ext cx="0" cy="3859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6564" name="Straight Connector 66563">
              <a:extLst>
                <a:ext uri="{FF2B5EF4-FFF2-40B4-BE49-F238E27FC236}">
                  <a16:creationId xmlns:a16="http://schemas.microsoft.com/office/drawing/2014/main" id="{70F481C2-E4E1-2E76-8740-ADA3D7193451}"/>
                </a:ext>
              </a:extLst>
            </p:cNvPr>
            <p:cNvCxnSpPr>
              <a:cxnSpLocks/>
              <a:stCxn id="59" idx="4"/>
              <a:endCxn id="61" idx="0"/>
            </p:cNvCxnSpPr>
            <p:nvPr/>
          </p:nvCxnSpPr>
          <p:spPr>
            <a:xfrm>
              <a:off x="7235223" y="1808334"/>
              <a:ext cx="9059" cy="39500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6565" name="Group 66564">
            <a:extLst>
              <a:ext uri="{FF2B5EF4-FFF2-40B4-BE49-F238E27FC236}">
                <a16:creationId xmlns:a16="http://schemas.microsoft.com/office/drawing/2014/main" id="{04E3B552-B2CF-4EA8-E5A7-A658ED14949B}"/>
              </a:ext>
            </a:extLst>
          </p:cNvPr>
          <p:cNvGrpSpPr/>
          <p:nvPr/>
        </p:nvGrpSpPr>
        <p:grpSpPr>
          <a:xfrm>
            <a:off x="9156086" y="4425635"/>
            <a:ext cx="2885041" cy="1837853"/>
            <a:chOff x="4753069" y="1140737"/>
            <a:chExt cx="2885041" cy="1837853"/>
          </a:xfrm>
        </p:grpSpPr>
        <p:sp>
          <p:nvSpPr>
            <p:cNvPr id="66566" name="Rectangle 66565">
              <a:extLst>
                <a:ext uri="{FF2B5EF4-FFF2-40B4-BE49-F238E27FC236}">
                  <a16:creationId xmlns:a16="http://schemas.microsoft.com/office/drawing/2014/main" id="{701FC30C-A0F7-BFE2-D646-E78E46DB748C}"/>
                </a:ext>
              </a:extLst>
            </p:cNvPr>
            <p:cNvSpPr/>
            <p:nvPr/>
          </p:nvSpPr>
          <p:spPr>
            <a:xfrm>
              <a:off x="4753069" y="1140737"/>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67" name="Oval 66566">
              <a:extLst>
                <a:ext uri="{FF2B5EF4-FFF2-40B4-BE49-F238E27FC236}">
                  <a16:creationId xmlns:a16="http://schemas.microsoft.com/office/drawing/2014/main" id="{41282829-D061-E37C-059C-64D79162C7F6}"/>
                </a:ext>
              </a:extLst>
            </p:cNvPr>
            <p:cNvSpPr/>
            <p:nvPr/>
          </p:nvSpPr>
          <p:spPr>
            <a:xfrm>
              <a:off x="4824735" y="168427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68" name="Oval 66567">
              <a:extLst>
                <a:ext uri="{FF2B5EF4-FFF2-40B4-BE49-F238E27FC236}">
                  <a16:creationId xmlns:a16="http://schemas.microsoft.com/office/drawing/2014/main" id="{3DFD6D64-E6DB-9E9B-4DAF-C0514C3D6128}"/>
                </a:ext>
              </a:extLst>
            </p:cNvPr>
            <p:cNvSpPr/>
            <p:nvPr/>
          </p:nvSpPr>
          <p:spPr>
            <a:xfrm>
              <a:off x="5824396" y="1304358"/>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69" name="Oval 66568">
              <a:extLst>
                <a:ext uri="{FF2B5EF4-FFF2-40B4-BE49-F238E27FC236}">
                  <a16:creationId xmlns:a16="http://schemas.microsoft.com/office/drawing/2014/main" id="{787CD425-ED11-A92A-655B-2E5D75FCFE93}"/>
                </a:ext>
              </a:extLst>
            </p:cNvPr>
            <p:cNvSpPr/>
            <p:nvPr/>
          </p:nvSpPr>
          <p:spPr>
            <a:xfrm>
              <a:off x="6963619" y="1265126"/>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70" name="Oval 66569">
              <a:extLst>
                <a:ext uri="{FF2B5EF4-FFF2-40B4-BE49-F238E27FC236}">
                  <a16:creationId xmlns:a16="http://schemas.microsoft.com/office/drawing/2014/main" id="{F2138803-8F93-A0C2-B8F3-B39C4D6B49E1}"/>
                </a:ext>
              </a:extLst>
            </p:cNvPr>
            <p:cNvSpPr/>
            <p:nvPr/>
          </p:nvSpPr>
          <p:spPr>
            <a:xfrm>
              <a:off x="5824396" y="223352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71" name="Oval 66570">
              <a:extLst>
                <a:ext uri="{FF2B5EF4-FFF2-40B4-BE49-F238E27FC236}">
                  <a16:creationId xmlns:a16="http://schemas.microsoft.com/office/drawing/2014/main" id="{0556DAF6-A279-B57B-D4C0-F2B90905A02F}"/>
                </a:ext>
              </a:extLst>
            </p:cNvPr>
            <p:cNvSpPr/>
            <p:nvPr/>
          </p:nvSpPr>
          <p:spPr>
            <a:xfrm>
              <a:off x="6972678" y="2203342"/>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572" name="Straight Connector 66571">
              <a:extLst>
                <a:ext uri="{FF2B5EF4-FFF2-40B4-BE49-F238E27FC236}">
                  <a16:creationId xmlns:a16="http://schemas.microsoft.com/office/drawing/2014/main" id="{BAB8999B-7B39-22B0-1399-C61E4796F8EE}"/>
                </a:ext>
              </a:extLst>
            </p:cNvPr>
            <p:cNvCxnSpPr>
              <a:cxnSpLocks/>
              <a:stCxn id="66567" idx="7"/>
              <a:endCxn id="66568" idx="2"/>
            </p:cNvCxnSpPr>
            <p:nvPr/>
          </p:nvCxnSpPr>
          <p:spPr>
            <a:xfrm flipV="1">
              <a:off x="5288392" y="1575962"/>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66573" name="Straight Connector 66572">
              <a:extLst>
                <a:ext uri="{FF2B5EF4-FFF2-40B4-BE49-F238E27FC236}">
                  <a16:creationId xmlns:a16="http://schemas.microsoft.com/office/drawing/2014/main" id="{8BAB00E9-7EDC-3B80-D394-0D056B9AFABC}"/>
                </a:ext>
              </a:extLst>
            </p:cNvPr>
            <p:cNvCxnSpPr>
              <a:cxnSpLocks/>
              <a:stCxn id="66568" idx="6"/>
              <a:endCxn id="66569" idx="2"/>
            </p:cNvCxnSpPr>
            <p:nvPr/>
          </p:nvCxnSpPr>
          <p:spPr>
            <a:xfrm flipV="1">
              <a:off x="6367604" y="1536730"/>
              <a:ext cx="596015" cy="39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574" name="Straight Connector 66573">
              <a:extLst>
                <a:ext uri="{FF2B5EF4-FFF2-40B4-BE49-F238E27FC236}">
                  <a16:creationId xmlns:a16="http://schemas.microsoft.com/office/drawing/2014/main" id="{556FBD05-C985-B5AB-28E9-A6BAA10BBCE8}"/>
                </a:ext>
              </a:extLst>
            </p:cNvPr>
            <p:cNvCxnSpPr>
              <a:cxnSpLocks/>
              <a:stCxn id="66570" idx="0"/>
              <a:endCxn id="66568" idx="4"/>
            </p:cNvCxnSpPr>
            <p:nvPr/>
          </p:nvCxnSpPr>
          <p:spPr>
            <a:xfrm flipV="1">
              <a:off x="6096000" y="1847566"/>
              <a:ext cx="0" cy="385956"/>
            </a:xfrm>
            <a:prstGeom prst="line">
              <a:avLst/>
            </a:prstGeom>
          </p:spPr>
          <p:style>
            <a:lnRef idx="1">
              <a:schemeClr val="accent1"/>
            </a:lnRef>
            <a:fillRef idx="0">
              <a:schemeClr val="accent1"/>
            </a:fillRef>
            <a:effectRef idx="0">
              <a:schemeClr val="accent1"/>
            </a:effectRef>
            <a:fontRef idx="minor">
              <a:schemeClr val="tx1"/>
            </a:fontRef>
          </p:style>
        </p:cxnSp>
        <p:cxnSp>
          <p:nvCxnSpPr>
            <p:cNvPr id="66575" name="Straight Connector 66574">
              <a:extLst>
                <a:ext uri="{FF2B5EF4-FFF2-40B4-BE49-F238E27FC236}">
                  <a16:creationId xmlns:a16="http://schemas.microsoft.com/office/drawing/2014/main" id="{253C6DA5-39FD-4D52-71C6-5544CC573893}"/>
                </a:ext>
              </a:extLst>
            </p:cNvPr>
            <p:cNvCxnSpPr>
              <a:cxnSpLocks/>
              <a:stCxn id="66570" idx="6"/>
              <a:endCxn id="66571" idx="2"/>
            </p:cNvCxnSpPr>
            <p:nvPr/>
          </p:nvCxnSpPr>
          <p:spPr>
            <a:xfrm flipV="1">
              <a:off x="6367604" y="2474946"/>
              <a:ext cx="605074" cy="3018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1682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custDataLst>
              <p:tags r:id="rId1"/>
            </p:custDataLst>
          </p:nvPr>
        </p:nvSpPr>
        <p:spPr>
          <a:xfrm>
            <a:off x="1143001" y="274487"/>
            <a:ext cx="9905998" cy="692038"/>
          </a:xfrm>
        </p:spPr>
        <p:txBody>
          <a:bodyPr/>
          <a:lstStyle/>
          <a:p>
            <a:pPr algn="ctr" eaLnBrk="1" hangingPunct="1"/>
            <a:r>
              <a:rPr lang="en-US" dirty="0"/>
              <a:t>Spanning Tree: Example (almost)</a:t>
            </a:r>
          </a:p>
        </p:txBody>
      </p:sp>
      <p:pic>
        <p:nvPicPr>
          <p:cNvPr id="8" name="Picture 7">
            <a:extLst>
              <a:ext uri="{FF2B5EF4-FFF2-40B4-BE49-F238E27FC236}">
                <a16:creationId xmlns:a16="http://schemas.microsoft.com/office/drawing/2014/main" id="{5F1FF9BA-E37F-6A43-B616-1A8368B085B9}"/>
              </a:ext>
            </a:extLst>
          </p:cNvPr>
          <p:cNvPicPr>
            <a:picLocks noChangeAspect="1"/>
          </p:cNvPicPr>
          <p:nvPr/>
        </p:nvPicPr>
        <p:blipFill>
          <a:blip r:embed="rId3"/>
          <a:stretch>
            <a:fillRect/>
          </a:stretch>
        </p:blipFill>
        <p:spPr>
          <a:xfrm>
            <a:off x="2300573" y="1138541"/>
            <a:ext cx="7590853" cy="5353463"/>
          </a:xfrm>
          <a:prstGeom prst="rect">
            <a:avLst/>
          </a:prstGeom>
        </p:spPr>
      </p:pic>
    </p:spTree>
    <p:extLst>
      <p:ext uri="{BB962C8B-B14F-4D97-AF65-F5344CB8AC3E}">
        <p14:creationId xmlns:p14="http://schemas.microsoft.com/office/powerpoint/2010/main" val="109344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custDataLst>
              <p:tags r:id="rId1"/>
            </p:custDataLst>
          </p:nvPr>
        </p:nvSpPr>
        <p:spPr>
          <a:xfrm>
            <a:off x="1143001" y="435939"/>
            <a:ext cx="9905998" cy="630860"/>
          </a:xfrm>
        </p:spPr>
        <p:txBody>
          <a:bodyPr/>
          <a:lstStyle/>
          <a:p>
            <a:pPr algn="ctr" eaLnBrk="1" hangingPunct="1"/>
            <a:r>
              <a:rPr lang="en-US" dirty="0"/>
              <a:t>Minimum Spanning Tree</a:t>
            </a:r>
          </a:p>
        </p:txBody>
      </p:sp>
      <p:sp>
        <p:nvSpPr>
          <p:cNvPr id="2" name="Rectangle 3">
            <a:extLst>
              <a:ext uri="{FF2B5EF4-FFF2-40B4-BE49-F238E27FC236}">
                <a16:creationId xmlns:a16="http://schemas.microsoft.com/office/drawing/2014/main" id="{34685486-D297-F71A-8193-E48619AA277C}"/>
              </a:ext>
            </a:extLst>
          </p:cNvPr>
          <p:cNvSpPr txBox="1">
            <a:spLocks noChangeArrowheads="1"/>
          </p:cNvSpPr>
          <p:nvPr>
            <p:custDataLst>
              <p:tags r:id="rId2"/>
            </p:custDataLst>
          </p:nvPr>
        </p:nvSpPr>
        <p:spPr>
          <a:xfrm>
            <a:off x="1141412" y="1421395"/>
            <a:ext cx="9905999" cy="1222218"/>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ysClr val="windowText" lastClr="000000"/>
                </a:solidFill>
              </a:rPr>
              <a:t>A </a:t>
            </a:r>
            <a:r>
              <a:rPr lang="en-US" b="1" i="1" dirty="0">
                <a:solidFill>
                  <a:sysClr val="windowText" lastClr="000000"/>
                </a:solidFill>
              </a:rPr>
              <a:t>minimum spanning tree </a:t>
            </a:r>
            <a:r>
              <a:rPr lang="en-US" dirty="0">
                <a:solidFill>
                  <a:sysClr val="windowText" lastClr="000000"/>
                </a:solidFill>
              </a:rPr>
              <a:t>of a weighted graph G is the spanning tree that has the lowest overall cost (sum of the cost of the edges in the spanning tree)</a:t>
            </a:r>
          </a:p>
        </p:txBody>
      </p:sp>
      <p:sp>
        <p:nvSpPr>
          <p:cNvPr id="5" name="Rectangle 3">
            <a:extLst>
              <a:ext uri="{FF2B5EF4-FFF2-40B4-BE49-F238E27FC236}">
                <a16:creationId xmlns:a16="http://schemas.microsoft.com/office/drawing/2014/main" id="{6188E75A-660A-D6B7-9518-D4F494D551DD}"/>
              </a:ext>
            </a:extLst>
          </p:cNvPr>
          <p:cNvSpPr>
            <a:spLocks noGrp="1" noChangeArrowheads="1"/>
          </p:cNvSpPr>
          <p:nvPr>
            <p:ph sz="quarter" idx="1"/>
            <p:custDataLst>
              <p:tags r:id="rId3"/>
            </p:custDataLst>
          </p:nvPr>
        </p:nvSpPr>
        <p:spPr>
          <a:xfrm>
            <a:off x="382150" y="3854414"/>
            <a:ext cx="2153201" cy="564333"/>
          </a:xfrm>
        </p:spPr>
        <p:txBody>
          <a:bodyPr>
            <a:normAutofit/>
          </a:bodyPr>
          <a:lstStyle/>
          <a:p>
            <a:pPr marL="0" indent="0" eaLnBrk="1" hangingPunct="1">
              <a:buNone/>
            </a:pPr>
            <a:r>
              <a:rPr lang="en-US" dirty="0"/>
              <a:t>Original Graph:</a:t>
            </a:r>
          </a:p>
        </p:txBody>
      </p:sp>
      <p:grpSp>
        <p:nvGrpSpPr>
          <p:cNvPr id="23" name="Group 22">
            <a:extLst>
              <a:ext uri="{FF2B5EF4-FFF2-40B4-BE49-F238E27FC236}">
                <a16:creationId xmlns:a16="http://schemas.microsoft.com/office/drawing/2014/main" id="{9558EACD-8FBD-B9ED-E85E-ED5B6F10792A}"/>
              </a:ext>
            </a:extLst>
          </p:cNvPr>
          <p:cNvGrpSpPr/>
          <p:nvPr/>
        </p:nvGrpSpPr>
        <p:grpSpPr>
          <a:xfrm>
            <a:off x="2571184" y="3720972"/>
            <a:ext cx="2885041" cy="1837853"/>
            <a:chOff x="2571184" y="3720972"/>
            <a:chExt cx="2885041" cy="1837853"/>
          </a:xfrm>
        </p:grpSpPr>
        <p:sp>
          <p:nvSpPr>
            <p:cNvPr id="7" name="Rectangle 6">
              <a:extLst>
                <a:ext uri="{FF2B5EF4-FFF2-40B4-BE49-F238E27FC236}">
                  <a16:creationId xmlns:a16="http://schemas.microsoft.com/office/drawing/2014/main" id="{0F31628E-2582-B67E-D20F-E98EDF8084C4}"/>
                </a:ext>
              </a:extLst>
            </p:cNvPr>
            <p:cNvSpPr/>
            <p:nvPr/>
          </p:nvSpPr>
          <p:spPr>
            <a:xfrm>
              <a:off x="2571184" y="3720972"/>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8" name="Oval 7">
              <a:extLst>
                <a:ext uri="{FF2B5EF4-FFF2-40B4-BE49-F238E27FC236}">
                  <a16:creationId xmlns:a16="http://schemas.microsoft.com/office/drawing/2014/main" id="{C0C247BC-C5F0-8F3F-A9D2-7416E589DC51}"/>
                </a:ext>
              </a:extLst>
            </p:cNvPr>
            <p:cNvSpPr/>
            <p:nvPr/>
          </p:nvSpPr>
          <p:spPr>
            <a:xfrm>
              <a:off x="2642850" y="4264511"/>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AAA067A-7C85-62C1-01BC-1E5CB92A7C6D}"/>
                </a:ext>
              </a:extLst>
            </p:cNvPr>
            <p:cNvSpPr/>
            <p:nvPr/>
          </p:nvSpPr>
          <p:spPr>
            <a:xfrm>
              <a:off x="3642511" y="3884593"/>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649DDD1-ED25-9CF8-4685-771BDA498C42}"/>
                </a:ext>
              </a:extLst>
            </p:cNvPr>
            <p:cNvSpPr/>
            <p:nvPr/>
          </p:nvSpPr>
          <p:spPr>
            <a:xfrm>
              <a:off x="4781734" y="3845361"/>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3360793-E830-90CE-983C-6C9967BE27C3}"/>
                </a:ext>
              </a:extLst>
            </p:cNvPr>
            <p:cNvSpPr/>
            <p:nvPr/>
          </p:nvSpPr>
          <p:spPr>
            <a:xfrm>
              <a:off x="3642511" y="4813757"/>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B6EB2E9-7473-5F71-F2C0-72D625D89180}"/>
                </a:ext>
              </a:extLst>
            </p:cNvPr>
            <p:cNvSpPr/>
            <p:nvPr/>
          </p:nvSpPr>
          <p:spPr>
            <a:xfrm>
              <a:off x="4790793" y="4783577"/>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85A94818-4DBA-90C4-2897-956E8AD458C1}"/>
                </a:ext>
              </a:extLst>
            </p:cNvPr>
            <p:cNvCxnSpPr>
              <a:cxnSpLocks/>
              <a:stCxn id="8" idx="7"/>
              <a:endCxn id="9" idx="2"/>
            </p:cNvCxnSpPr>
            <p:nvPr/>
          </p:nvCxnSpPr>
          <p:spPr>
            <a:xfrm flipV="1">
              <a:off x="3106507" y="4156197"/>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FC06F73-8559-1BBC-904D-DEA665B834B3}"/>
                </a:ext>
              </a:extLst>
            </p:cNvPr>
            <p:cNvCxnSpPr>
              <a:cxnSpLocks/>
              <a:stCxn id="9" idx="6"/>
              <a:endCxn id="10" idx="2"/>
            </p:cNvCxnSpPr>
            <p:nvPr/>
          </p:nvCxnSpPr>
          <p:spPr>
            <a:xfrm flipV="1">
              <a:off x="4185719" y="4116965"/>
              <a:ext cx="596015" cy="39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83EB3AE-8A71-BCEC-4C44-DF59AF6D52E0}"/>
                </a:ext>
              </a:extLst>
            </p:cNvPr>
            <p:cNvCxnSpPr>
              <a:cxnSpLocks/>
              <a:stCxn id="11" idx="0"/>
              <a:endCxn id="9" idx="4"/>
            </p:cNvCxnSpPr>
            <p:nvPr/>
          </p:nvCxnSpPr>
          <p:spPr>
            <a:xfrm flipV="1">
              <a:off x="3914115" y="4427801"/>
              <a:ext cx="0" cy="3859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5401491-EBD2-CF2A-0B26-44BFF1B59F62}"/>
                </a:ext>
              </a:extLst>
            </p:cNvPr>
            <p:cNvCxnSpPr>
              <a:cxnSpLocks/>
              <a:stCxn id="11" idx="6"/>
              <a:endCxn id="12" idx="2"/>
            </p:cNvCxnSpPr>
            <p:nvPr/>
          </p:nvCxnSpPr>
          <p:spPr>
            <a:xfrm flipV="1">
              <a:off x="4185719" y="5055181"/>
              <a:ext cx="605074" cy="30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A997722-0E23-85AC-2608-F4D76E152EC0}"/>
                </a:ext>
              </a:extLst>
            </p:cNvPr>
            <p:cNvCxnSpPr>
              <a:cxnSpLocks/>
              <a:stCxn id="10" idx="4"/>
              <a:endCxn id="12" idx="0"/>
            </p:cNvCxnSpPr>
            <p:nvPr/>
          </p:nvCxnSpPr>
          <p:spPr>
            <a:xfrm>
              <a:off x="5053338" y="4388569"/>
              <a:ext cx="9059" cy="395008"/>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CBC6B55-D4D6-9DB3-CC08-976BE9E4F90B}"/>
                </a:ext>
              </a:extLst>
            </p:cNvPr>
            <p:cNvSpPr txBox="1"/>
            <p:nvPr/>
          </p:nvSpPr>
          <p:spPr>
            <a:xfrm>
              <a:off x="3146358" y="3917374"/>
              <a:ext cx="311304" cy="369332"/>
            </a:xfrm>
            <a:prstGeom prst="rect">
              <a:avLst/>
            </a:prstGeom>
            <a:noFill/>
          </p:spPr>
          <p:txBody>
            <a:bodyPr wrap="none" rtlCol="0">
              <a:spAutoFit/>
            </a:bodyPr>
            <a:lstStyle/>
            <a:p>
              <a:r>
                <a:rPr lang="en-US" dirty="0">
                  <a:solidFill>
                    <a:sysClr val="windowText" lastClr="000000"/>
                  </a:solidFill>
                </a:rPr>
                <a:t>3</a:t>
              </a:r>
            </a:p>
          </p:txBody>
        </p:sp>
        <p:sp>
          <p:nvSpPr>
            <p:cNvPr id="19" name="TextBox 18">
              <a:extLst>
                <a:ext uri="{FF2B5EF4-FFF2-40B4-BE49-F238E27FC236}">
                  <a16:creationId xmlns:a16="http://schemas.microsoft.com/office/drawing/2014/main" id="{4EB14EAE-D63E-C3EA-8BFF-16B82A7E8F76}"/>
                </a:ext>
              </a:extLst>
            </p:cNvPr>
            <p:cNvSpPr txBox="1"/>
            <p:nvPr/>
          </p:nvSpPr>
          <p:spPr>
            <a:xfrm>
              <a:off x="4301671" y="3786865"/>
              <a:ext cx="311304" cy="369332"/>
            </a:xfrm>
            <a:prstGeom prst="rect">
              <a:avLst/>
            </a:prstGeom>
            <a:noFill/>
          </p:spPr>
          <p:txBody>
            <a:bodyPr wrap="none" rtlCol="0">
              <a:spAutoFit/>
            </a:bodyPr>
            <a:lstStyle/>
            <a:p>
              <a:r>
                <a:rPr lang="en-US" dirty="0">
                  <a:solidFill>
                    <a:sysClr val="windowText" lastClr="000000"/>
                  </a:solidFill>
                </a:rPr>
                <a:t>8</a:t>
              </a:r>
            </a:p>
          </p:txBody>
        </p:sp>
        <p:sp>
          <p:nvSpPr>
            <p:cNvPr id="20" name="TextBox 19">
              <a:extLst>
                <a:ext uri="{FF2B5EF4-FFF2-40B4-BE49-F238E27FC236}">
                  <a16:creationId xmlns:a16="http://schemas.microsoft.com/office/drawing/2014/main" id="{FF8DD0BE-06C2-995F-A4CC-2C461E1CAEF7}"/>
                </a:ext>
              </a:extLst>
            </p:cNvPr>
            <p:cNvSpPr txBox="1"/>
            <p:nvPr/>
          </p:nvSpPr>
          <p:spPr>
            <a:xfrm>
              <a:off x="3898025" y="4427801"/>
              <a:ext cx="311304" cy="369332"/>
            </a:xfrm>
            <a:prstGeom prst="rect">
              <a:avLst/>
            </a:prstGeom>
            <a:noFill/>
          </p:spPr>
          <p:txBody>
            <a:bodyPr wrap="none" rtlCol="0">
              <a:spAutoFit/>
            </a:bodyPr>
            <a:lstStyle/>
            <a:p>
              <a:r>
                <a:rPr lang="en-US" dirty="0">
                  <a:solidFill>
                    <a:sysClr val="windowText" lastClr="000000"/>
                  </a:solidFill>
                </a:rPr>
                <a:t>4</a:t>
              </a:r>
            </a:p>
          </p:txBody>
        </p:sp>
        <p:sp>
          <p:nvSpPr>
            <p:cNvPr id="21" name="TextBox 20">
              <a:extLst>
                <a:ext uri="{FF2B5EF4-FFF2-40B4-BE49-F238E27FC236}">
                  <a16:creationId xmlns:a16="http://schemas.microsoft.com/office/drawing/2014/main" id="{915DAF6C-8ADD-8817-C139-729737521E83}"/>
                </a:ext>
              </a:extLst>
            </p:cNvPr>
            <p:cNvSpPr txBox="1"/>
            <p:nvPr/>
          </p:nvSpPr>
          <p:spPr>
            <a:xfrm>
              <a:off x="4344409" y="5048890"/>
              <a:ext cx="311304" cy="369332"/>
            </a:xfrm>
            <a:prstGeom prst="rect">
              <a:avLst/>
            </a:prstGeom>
            <a:noFill/>
          </p:spPr>
          <p:txBody>
            <a:bodyPr wrap="none" rtlCol="0">
              <a:spAutoFit/>
            </a:bodyPr>
            <a:lstStyle/>
            <a:p>
              <a:r>
                <a:rPr lang="en-US" dirty="0">
                  <a:solidFill>
                    <a:sysClr val="windowText" lastClr="000000"/>
                  </a:solidFill>
                </a:rPr>
                <a:t>5</a:t>
              </a:r>
            </a:p>
          </p:txBody>
        </p:sp>
        <p:sp>
          <p:nvSpPr>
            <p:cNvPr id="22" name="TextBox 21">
              <a:extLst>
                <a:ext uri="{FF2B5EF4-FFF2-40B4-BE49-F238E27FC236}">
                  <a16:creationId xmlns:a16="http://schemas.microsoft.com/office/drawing/2014/main" id="{C16E30D3-5A17-854A-2E73-E28FC150BDE0}"/>
                </a:ext>
              </a:extLst>
            </p:cNvPr>
            <p:cNvSpPr txBox="1"/>
            <p:nvPr/>
          </p:nvSpPr>
          <p:spPr>
            <a:xfrm>
              <a:off x="4742034" y="4414245"/>
              <a:ext cx="311304" cy="369332"/>
            </a:xfrm>
            <a:prstGeom prst="rect">
              <a:avLst/>
            </a:prstGeom>
            <a:noFill/>
          </p:spPr>
          <p:txBody>
            <a:bodyPr wrap="none" rtlCol="0">
              <a:spAutoFit/>
            </a:bodyPr>
            <a:lstStyle/>
            <a:p>
              <a:r>
                <a:rPr lang="en-US" dirty="0">
                  <a:solidFill>
                    <a:sysClr val="windowText" lastClr="000000"/>
                  </a:solidFill>
                </a:rPr>
                <a:t>6</a:t>
              </a:r>
            </a:p>
          </p:txBody>
        </p:sp>
      </p:grpSp>
      <p:sp>
        <p:nvSpPr>
          <p:cNvPr id="24" name="Rectangle 3">
            <a:extLst>
              <a:ext uri="{FF2B5EF4-FFF2-40B4-BE49-F238E27FC236}">
                <a16:creationId xmlns:a16="http://schemas.microsoft.com/office/drawing/2014/main" id="{A0C51285-15F9-F83E-1FA1-6AA157623A42}"/>
              </a:ext>
            </a:extLst>
          </p:cNvPr>
          <p:cNvSpPr txBox="1">
            <a:spLocks noChangeArrowheads="1"/>
          </p:cNvSpPr>
          <p:nvPr>
            <p:custDataLst>
              <p:tags r:id="rId4"/>
            </p:custDataLst>
          </p:nvPr>
        </p:nvSpPr>
        <p:spPr>
          <a:xfrm>
            <a:off x="6880637" y="3824236"/>
            <a:ext cx="922959" cy="5643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MST:</a:t>
            </a:r>
          </a:p>
        </p:txBody>
      </p:sp>
      <p:grpSp>
        <p:nvGrpSpPr>
          <p:cNvPr id="25" name="Group 24">
            <a:extLst>
              <a:ext uri="{FF2B5EF4-FFF2-40B4-BE49-F238E27FC236}">
                <a16:creationId xmlns:a16="http://schemas.microsoft.com/office/drawing/2014/main" id="{59EF6E7D-5954-4E3F-DA43-0A1C93074501}"/>
              </a:ext>
            </a:extLst>
          </p:cNvPr>
          <p:cNvGrpSpPr/>
          <p:nvPr/>
        </p:nvGrpSpPr>
        <p:grpSpPr>
          <a:xfrm>
            <a:off x="7839429" y="3690794"/>
            <a:ext cx="2885041" cy="1837853"/>
            <a:chOff x="2571184" y="3720972"/>
            <a:chExt cx="2885041" cy="1837853"/>
          </a:xfrm>
        </p:grpSpPr>
        <p:sp>
          <p:nvSpPr>
            <p:cNvPr id="26" name="Rectangle 25">
              <a:extLst>
                <a:ext uri="{FF2B5EF4-FFF2-40B4-BE49-F238E27FC236}">
                  <a16:creationId xmlns:a16="http://schemas.microsoft.com/office/drawing/2014/main" id="{C9819D97-A761-47E3-6206-6A58D93C0FC5}"/>
                </a:ext>
              </a:extLst>
            </p:cNvPr>
            <p:cNvSpPr/>
            <p:nvPr/>
          </p:nvSpPr>
          <p:spPr>
            <a:xfrm>
              <a:off x="2571184" y="3720972"/>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27" name="Oval 26">
              <a:extLst>
                <a:ext uri="{FF2B5EF4-FFF2-40B4-BE49-F238E27FC236}">
                  <a16:creationId xmlns:a16="http://schemas.microsoft.com/office/drawing/2014/main" id="{8FCDFEF8-1C13-A6A3-5D3B-2F74E02C05BA}"/>
                </a:ext>
              </a:extLst>
            </p:cNvPr>
            <p:cNvSpPr/>
            <p:nvPr/>
          </p:nvSpPr>
          <p:spPr>
            <a:xfrm>
              <a:off x="2642850" y="4264511"/>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4597030-32F4-25FC-2234-A164ABCAEC46}"/>
                </a:ext>
              </a:extLst>
            </p:cNvPr>
            <p:cNvSpPr/>
            <p:nvPr/>
          </p:nvSpPr>
          <p:spPr>
            <a:xfrm>
              <a:off x="3642511" y="3884593"/>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EC11710-F180-8019-B3C0-2DA90DD47011}"/>
                </a:ext>
              </a:extLst>
            </p:cNvPr>
            <p:cNvSpPr/>
            <p:nvPr/>
          </p:nvSpPr>
          <p:spPr>
            <a:xfrm>
              <a:off x="4781734" y="3845361"/>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56D63817-EBF0-799B-0DD6-4604F8B7997F}"/>
                </a:ext>
              </a:extLst>
            </p:cNvPr>
            <p:cNvSpPr/>
            <p:nvPr/>
          </p:nvSpPr>
          <p:spPr>
            <a:xfrm>
              <a:off x="3642511" y="4813757"/>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9717A5E-E50D-6906-E67B-908CB3B22923}"/>
                </a:ext>
              </a:extLst>
            </p:cNvPr>
            <p:cNvSpPr/>
            <p:nvPr/>
          </p:nvSpPr>
          <p:spPr>
            <a:xfrm>
              <a:off x="4790793" y="4783577"/>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72654F6D-0AF8-E951-0573-F82D15231323}"/>
                </a:ext>
              </a:extLst>
            </p:cNvPr>
            <p:cNvCxnSpPr>
              <a:cxnSpLocks/>
              <a:stCxn id="27" idx="7"/>
              <a:endCxn id="28" idx="2"/>
            </p:cNvCxnSpPr>
            <p:nvPr/>
          </p:nvCxnSpPr>
          <p:spPr>
            <a:xfrm flipV="1">
              <a:off x="3106507" y="4156197"/>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B7B3C14-DD0A-CE4C-986F-701E2E942400}"/>
                </a:ext>
              </a:extLst>
            </p:cNvPr>
            <p:cNvCxnSpPr>
              <a:cxnSpLocks/>
              <a:stCxn id="30" idx="0"/>
              <a:endCxn id="28" idx="4"/>
            </p:cNvCxnSpPr>
            <p:nvPr/>
          </p:nvCxnSpPr>
          <p:spPr>
            <a:xfrm flipV="1">
              <a:off x="3914115" y="4427801"/>
              <a:ext cx="0" cy="3859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157E319-9FE0-927B-DF8E-608B6CCF3256}"/>
                </a:ext>
              </a:extLst>
            </p:cNvPr>
            <p:cNvCxnSpPr>
              <a:cxnSpLocks/>
              <a:stCxn id="30" idx="6"/>
              <a:endCxn id="31" idx="2"/>
            </p:cNvCxnSpPr>
            <p:nvPr/>
          </p:nvCxnSpPr>
          <p:spPr>
            <a:xfrm flipV="1">
              <a:off x="4185719" y="5055181"/>
              <a:ext cx="605074" cy="30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38BF848-F455-6D4E-F7FE-B247DAE79C54}"/>
                </a:ext>
              </a:extLst>
            </p:cNvPr>
            <p:cNvCxnSpPr>
              <a:cxnSpLocks/>
              <a:stCxn id="29" idx="4"/>
              <a:endCxn id="31" idx="0"/>
            </p:cNvCxnSpPr>
            <p:nvPr/>
          </p:nvCxnSpPr>
          <p:spPr>
            <a:xfrm>
              <a:off x="5053338" y="4388569"/>
              <a:ext cx="9059" cy="395008"/>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C94DC0B-5E6D-3B64-123F-A54D944D37F5}"/>
                </a:ext>
              </a:extLst>
            </p:cNvPr>
            <p:cNvSpPr txBox="1"/>
            <p:nvPr/>
          </p:nvSpPr>
          <p:spPr>
            <a:xfrm>
              <a:off x="3146358" y="3917374"/>
              <a:ext cx="311304" cy="369332"/>
            </a:xfrm>
            <a:prstGeom prst="rect">
              <a:avLst/>
            </a:prstGeom>
            <a:noFill/>
          </p:spPr>
          <p:txBody>
            <a:bodyPr wrap="none" rtlCol="0">
              <a:spAutoFit/>
            </a:bodyPr>
            <a:lstStyle/>
            <a:p>
              <a:r>
                <a:rPr lang="en-US" dirty="0">
                  <a:solidFill>
                    <a:sysClr val="windowText" lastClr="000000"/>
                  </a:solidFill>
                </a:rPr>
                <a:t>3</a:t>
              </a:r>
            </a:p>
          </p:txBody>
        </p:sp>
        <p:sp>
          <p:nvSpPr>
            <p:cNvPr id="39" name="TextBox 38">
              <a:extLst>
                <a:ext uri="{FF2B5EF4-FFF2-40B4-BE49-F238E27FC236}">
                  <a16:creationId xmlns:a16="http://schemas.microsoft.com/office/drawing/2014/main" id="{9ED5E424-8E9E-C3E0-EC08-D147F2614827}"/>
                </a:ext>
              </a:extLst>
            </p:cNvPr>
            <p:cNvSpPr txBox="1"/>
            <p:nvPr/>
          </p:nvSpPr>
          <p:spPr>
            <a:xfrm>
              <a:off x="3898025" y="4427801"/>
              <a:ext cx="311304" cy="369332"/>
            </a:xfrm>
            <a:prstGeom prst="rect">
              <a:avLst/>
            </a:prstGeom>
            <a:noFill/>
          </p:spPr>
          <p:txBody>
            <a:bodyPr wrap="none" rtlCol="0">
              <a:spAutoFit/>
            </a:bodyPr>
            <a:lstStyle/>
            <a:p>
              <a:r>
                <a:rPr lang="en-US" dirty="0">
                  <a:solidFill>
                    <a:sysClr val="windowText" lastClr="000000"/>
                  </a:solidFill>
                </a:rPr>
                <a:t>4</a:t>
              </a:r>
            </a:p>
          </p:txBody>
        </p:sp>
        <p:sp>
          <p:nvSpPr>
            <p:cNvPr id="40" name="TextBox 39">
              <a:extLst>
                <a:ext uri="{FF2B5EF4-FFF2-40B4-BE49-F238E27FC236}">
                  <a16:creationId xmlns:a16="http://schemas.microsoft.com/office/drawing/2014/main" id="{B4047B91-25BC-7EF5-2868-D81EE93CA6CC}"/>
                </a:ext>
              </a:extLst>
            </p:cNvPr>
            <p:cNvSpPr txBox="1"/>
            <p:nvPr/>
          </p:nvSpPr>
          <p:spPr>
            <a:xfrm>
              <a:off x="4344409" y="5048890"/>
              <a:ext cx="311304" cy="369332"/>
            </a:xfrm>
            <a:prstGeom prst="rect">
              <a:avLst/>
            </a:prstGeom>
            <a:noFill/>
          </p:spPr>
          <p:txBody>
            <a:bodyPr wrap="none" rtlCol="0">
              <a:spAutoFit/>
            </a:bodyPr>
            <a:lstStyle/>
            <a:p>
              <a:r>
                <a:rPr lang="en-US" dirty="0">
                  <a:solidFill>
                    <a:sysClr val="windowText" lastClr="000000"/>
                  </a:solidFill>
                </a:rPr>
                <a:t>5</a:t>
              </a:r>
            </a:p>
          </p:txBody>
        </p:sp>
        <p:sp>
          <p:nvSpPr>
            <p:cNvPr id="41" name="TextBox 40">
              <a:extLst>
                <a:ext uri="{FF2B5EF4-FFF2-40B4-BE49-F238E27FC236}">
                  <a16:creationId xmlns:a16="http://schemas.microsoft.com/office/drawing/2014/main" id="{DEF6143C-925F-E04A-C984-A447AB92EC42}"/>
                </a:ext>
              </a:extLst>
            </p:cNvPr>
            <p:cNvSpPr txBox="1"/>
            <p:nvPr/>
          </p:nvSpPr>
          <p:spPr>
            <a:xfrm>
              <a:off x="4742034" y="4414245"/>
              <a:ext cx="311304" cy="369332"/>
            </a:xfrm>
            <a:prstGeom prst="rect">
              <a:avLst/>
            </a:prstGeom>
            <a:noFill/>
          </p:spPr>
          <p:txBody>
            <a:bodyPr wrap="none" rtlCol="0">
              <a:spAutoFit/>
            </a:bodyPr>
            <a:lstStyle/>
            <a:p>
              <a:r>
                <a:rPr lang="en-US" dirty="0">
                  <a:solidFill>
                    <a:sysClr val="windowText" lastClr="000000"/>
                  </a:solidFill>
                </a:rPr>
                <a:t>6</a:t>
              </a:r>
            </a:p>
          </p:txBody>
        </p:sp>
      </p:grpSp>
    </p:spTree>
    <p:extLst>
      <p:ext uri="{BB962C8B-B14F-4D97-AF65-F5344CB8AC3E}">
        <p14:creationId xmlns:p14="http://schemas.microsoft.com/office/powerpoint/2010/main" val="3280871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FAFE9-43A7-70BF-387D-6C058AE73DAF}"/>
            </a:ext>
          </a:extLst>
        </p:cNvPr>
        <p:cNvGrpSpPr/>
        <p:nvPr/>
      </p:nvGrpSpPr>
      <p:grpSpPr>
        <a:xfrm>
          <a:off x="0" y="0"/>
          <a:ext cx="0" cy="0"/>
          <a:chOff x="0" y="0"/>
          <a:chExt cx="0" cy="0"/>
        </a:xfrm>
      </p:grpSpPr>
      <p:sp>
        <p:nvSpPr>
          <p:cNvPr id="66562" name="Rectangle 2">
            <a:extLst>
              <a:ext uri="{FF2B5EF4-FFF2-40B4-BE49-F238E27FC236}">
                <a16:creationId xmlns:a16="http://schemas.microsoft.com/office/drawing/2014/main" id="{BFAEE3B3-DBC3-AACE-6C81-60225AC635B1}"/>
              </a:ext>
            </a:extLst>
          </p:cNvPr>
          <p:cNvSpPr>
            <a:spLocks noGrp="1" noChangeArrowheads="1"/>
          </p:cNvSpPr>
          <p:nvPr>
            <p:ph type="title"/>
            <p:custDataLst>
              <p:tags r:id="rId1"/>
            </p:custDataLst>
          </p:nvPr>
        </p:nvSpPr>
        <p:spPr>
          <a:xfrm>
            <a:off x="1143001" y="57563"/>
            <a:ext cx="9905998" cy="630860"/>
          </a:xfrm>
        </p:spPr>
        <p:txBody>
          <a:bodyPr>
            <a:normAutofit fontScale="90000"/>
          </a:bodyPr>
          <a:lstStyle/>
          <a:p>
            <a:pPr algn="ctr" eaLnBrk="1" hangingPunct="1"/>
            <a:r>
              <a:rPr lang="en-US" dirty="0"/>
              <a:t>Minimum Spanning Tree: Optimal Substructure</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18052871-236C-EE95-065D-08DFF7C0B259}"/>
                  </a:ext>
                </a:extLst>
              </p:cNvPr>
              <p:cNvSpPr txBox="1">
                <a:spLocks noChangeArrowheads="1"/>
              </p:cNvSpPr>
              <p:nvPr>
                <p:custDataLst>
                  <p:tags r:id="rId2"/>
                </p:custDataLst>
              </p:nvPr>
            </p:nvSpPr>
            <p:spPr>
              <a:xfrm>
                <a:off x="1141412" y="759238"/>
                <a:ext cx="9905999" cy="1222218"/>
              </a:xfrm>
              <a:prstGeom prst="rect">
                <a:avLst/>
              </a:prstGeom>
              <a:solidFill>
                <a:schemeClr val="tx1">
                  <a:lumMod val="95000"/>
                </a:schemeClr>
              </a:solidFill>
              <a:ln>
                <a:solidFill>
                  <a:schemeClr val="bg1"/>
                </a:solidFill>
              </a:ln>
            </p:spPr>
            <p:txBody>
              <a:bodyPr vert="horz" lIns="91440" tIns="45720" rIns="91440" bIns="45720" rtlCol="0" anchor="ctr">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b="1" i="1" u="sng" dirty="0">
                    <a:solidFill>
                      <a:sysClr val="windowText" lastClr="000000"/>
                    </a:solidFill>
                  </a:rPr>
                  <a:t>Optimal Substructure</a:t>
                </a:r>
                <a:r>
                  <a:rPr lang="en-US" dirty="0">
                    <a:solidFill>
                      <a:sysClr val="windowText" lastClr="000000"/>
                    </a:solidFill>
                  </a:rPr>
                  <a:t>: If </a:t>
                </a:r>
                <a14:m>
                  <m:oMath xmlns:m="http://schemas.openxmlformats.org/officeDocument/2006/math">
                    <m:r>
                      <a:rPr lang="en-US" b="0" i="1" smtClean="0">
                        <a:solidFill>
                          <a:sysClr val="windowText" lastClr="000000"/>
                        </a:solidFill>
                        <a:latin typeface="Cambria Math" panose="02040503050406030204" pitchFamily="18" charset="0"/>
                      </a:rPr>
                      <m:t>𝑇</m:t>
                    </m:r>
                  </m:oMath>
                </a14:m>
                <a:r>
                  <a:rPr lang="en-US" dirty="0">
                    <a:solidFill>
                      <a:sysClr val="windowText" lastClr="000000"/>
                    </a:solidFill>
                  </a:rPr>
                  <a:t> is a minimum-spanning tree for a graph </a:t>
                </a:r>
                <a14:m>
                  <m:oMath xmlns:m="http://schemas.openxmlformats.org/officeDocument/2006/math">
                    <m:r>
                      <a:rPr lang="en-US" b="0" i="1" smtClean="0">
                        <a:solidFill>
                          <a:sysClr val="windowText" lastClr="000000"/>
                        </a:solidFill>
                        <a:latin typeface="Cambria Math" panose="02040503050406030204" pitchFamily="18" charset="0"/>
                      </a:rPr>
                      <m:t>𝐺</m:t>
                    </m:r>
                  </m:oMath>
                </a14:m>
                <a:r>
                  <a:rPr lang="en-US" dirty="0">
                    <a:solidFill>
                      <a:sysClr val="windowText" lastClr="000000"/>
                    </a:solidFill>
                  </a:rPr>
                  <a:t>, then remove any arbitrary edge </a:t>
                </a:r>
                <a14:m>
                  <m:oMath xmlns:m="http://schemas.openxmlformats.org/officeDocument/2006/math">
                    <m:r>
                      <a:rPr lang="en-US" b="0" i="1" smtClean="0">
                        <a:solidFill>
                          <a:sysClr val="windowText" lastClr="000000"/>
                        </a:solidFill>
                        <a:latin typeface="Cambria Math" panose="02040503050406030204" pitchFamily="18" charset="0"/>
                      </a:rPr>
                      <m:t>𝑒</m:t>
                    </m:r>
                  </m:oMath>
                </a14:m>
                <a:r>
                  <a:rPr lang="en-US" dirty="0">
                    <a:solidFill>
                      <a:sysClr val="windowText" lastClr="000000"/>
                    </a:solidFill>
                  </a:rPr>
                  <a:t> and the two trees resulting from this removal are minimum-spanning trees of their respective subgraphs.</a:t>
                </a:r>
              </a:p>
            </p:txBody>
          </p:sp>
        </mc:Choice>
        <mc:Fallback xmlns="">
          <p:sp>
            <p:nvSpPr>
              <p:cNvPr id="2" name="Rectangle 3">
                <a:extLst>
                  <a:ext uri="{FF2B5EF4-FFF2-40B4-BE49-F238E27FC236}">
                    <a16:creationId xmlns:a16="http://schemas.microsoft.com/office/drawing/2014/main" id="{18052871-236C-EE95-065D-08DFF7C0B259}"/>
                  </a:ext>
                </a:extLst>
              </p:cNvPr>
              <p:cNvSpPr txBox="1">
                <a:spLocks noRot="1" noChangeAspect="1" noMove="1" noResize="1" noEditPoints="1" noAdjustHandles="1" noChangeArrowheads="1" noChangeShapeType="1" noTextEdit="1"/>
              </p:cNvSpPr>
              <p:nvPr>
                <p:custDataLst>
                  <p:tags r:id="rId6"/>
                </p:custDataLst>
              </p:nvPr>
            </p:nvSpPr>
            <p:spPr>
              <a:xfrm>
                <a:off x="1141412" y="759238"/>
                <a:ext cx="9905999" cy="1222218"/>
              </a:xfrm>
              <a:prstGeom prst="rect">
                <a:avLst/>
              </a:prstGeom>
              <a:blipFill>
                <a:blip r:embed="rId7"/>
                <a:stretch>
                  <a:fillRect r="-512" b="-8163"/>
                </a:stretch>
              </a:blipFill>
              <a:ln>
                <a:solidFill>
                  <a:schemeClr val="bg1"/>
                </a:solidFill>
              </a:ln>
            </p:spPr>
            <p:txBody>
              <a:bodyPr/>
              <a:lstStyle/>
              <a:p>
                <a:r>
                  <a:rPr lang="en-US">
                    <a:noFill/>
                  </a:rPr>
                  <a:t> </a:t>
                </a:r>
              </a:p>
            </p:txBody>
          </p:sp>
        </mc:Fallback>
      </mc:AlternateContent>
      <p:sp>
        <p:nvSpPr>
          <p:cNvPr id="5" name="Rectangle 3">
            <a:extLst>
              <a:ext uri="{FF2B5EF4-FFF2-40B4-BE49-F238E27FC236}">
                <a16:creationId xmlns:a16="http://schemas.microsoft.com/office/drawing/2014/main" id="{279F4CCD-7BAB-BF06-0A8D-676E67A15E41}"/>
              </a:ext>
            </a:extLst>
          </p:cNvPr>
          <p:cNvSpPr>
            <a:spLocks noGrp="1" noChangeArrowheads="1"/>
          </p:cNvSpPr>
          <p:nvPr>
            <p:ph sz="quarter" idx="1"/>
            <p:custDataLst>
              <p:tags r:id="rId3"/>
            </p:custDataLst>
          </p:nvPr>
        </p:nvSpPr>
        <p:spPr>
          <a:xfrm>
            <a:off x="4602708" y="2578505"/>
            <a:ext cx="1167942" cy="917775"/>
          </a:xfrm>
        </p:spPr>
        <p:txBody>
          <a:bodyPr>
            <a:normAutofit fontScale="92500"/>
          </a:bodyPr>
          <a:lstStyle/>
          <a:p>
            <a:pPr marL="0" indent="0" eaLnBrk="1" hangingPunct="1">
              <a:buNone/>
            </a:pPr>
            <a:r>
              <a:rPr lang="en-US" dirty="0"/>
              <a:t>Original Graph:</a:t>
            </a:r>
          </a:p>
        </p:txBody>
      </p:sp>
      <p:grpSp>
        <p:nvGrpSpPr>
          <p:cNvPr id="46" name="Group 45">
            <a:extLst>
              <a:ext uri="{FF2B5EF4-FFF2-40B4-BE49-F238E27FC236}">
                <a16:creationId xmlns:a16="http://schemas.microsoft.com/office/drawing/2014/main" id="{47607BF9-F039-BC4E-E28F-5A92AD939157}"/>
              </a:ext>
            </a:extLst>
          </p:cNvPr>
          <p:cNvGrpSpPr/>
          <p:nvPr/>
        </p:nvGrpSpPr>
        <p:grpSpPr>
          <a:xfrm>
            <a:off x="1617013" y="2147465"/>
            <a:ext cx="2885041" cy="1837853"/>
            <a:chOff x="4431515" y="2510073"/>
            <a:chExt cx="2885041" cy="1837853"/>
          </a:xfrm>
        </p:grpSpPr>
        <p:grpSp>
          <p:nvGrpSpPr>
            <p:cNvPr id="23" name="Group 22">
              <a:extLst>
                <a:ext uri="{FF2B5EF4-FFF2-40B4-BE49-F238E27FC236}">
                  <a16:creationId xmlns:a16="http://schemas.microsoft.com/office/drawing/2014/main" id="{22643FC5-3741-6E9E-6D80-B0A156E14A51}"/>
                </a:ext>
              </a:extLst>
            </p:cNvPr>
            <p:cNvGrpSpPr/>
            <p:nvPr/>
          </p:nvGrpSpPr>
          <p:grpSpPr>
            <a:xfrm>
              <a:off x="4431515" y="2510073"/>
              <a:ext cx="2885041" cy="1837853"/>
              <a:chOff x="2571184" y="3720972"/>
              <a:chExt cx="2885041" cy="1837853"/>
            </a:xfrm>
          </p:grpSpPr>
          <p:sp>
            <p:nvSpPr>
              <p:cNvPr id="7" name="Rectangle 6">
                <a:extLst>
                  <a:ext uri="{FF2B5EF4-FFF2-40B4-BE49-F238E27FC236}">
                    <a16:creationId xmlns:a16="http://schemas.microsoft.com/office/drawing/2014/main" id="{971C6438-9968-71DA-DE56-DE482F1F1EEC}"/>
                  </a:ext>
                </a:extLst>
              </p:cNvPr>
              <p:cNvSpPr/>
              <p:nvPr/>
            </p:nvSpPr>
            <p:spPr>
              <a:xfrm>
                <a:off x="2571184" y="3720972"/>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8" name="Oval 7">
                <a:extLst>
                  <a:ext uri="{FF2B5EF4-FFF2-40B4-BE49-F238E27FC236}">
                    <a16:creationId xmlns:a16="http://schemas.microsoft.com/office/drawing/2014/main" id="{9F0FC3CC-4CF2-7FE8-4BF1-9F3E3B99286F}"/>
                  </a:ext>
                </a:extLst>
              </p:cNvPr>
              <p:cNvSpPr/>
              <p:nvPr/>
            </p:nvSpPr>
            <p:spPr>
              <a:xfrm>
                <a:off x="2642850" y="4264511"/>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FD51D38-D7FB-DC44-DC4C-556E8B051DBC}"/>
                  </a:ext>
                </a:extLst>
              </p:cNvPr>
              <p:cNvSpPr/>
              <p:nvPr/>
            </p:nvSpPr>
            <p:spPr>
              <a:xfrm>
                <a:off x="3642511" y="3884593"/>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9D333D3-AB0E-79E3-FD89-957AECD94E51}"/>
                  </a:ext>
                </a:extLst>
              </p:cNvPr>
              <p:cNvSpPr/>
              <p:nvPr/>
            </p:nvSpPr>
            <p:spPr>
              <a:xfrm>
                <a:off x="4781734" y="3845361"/>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D05CB92-50EB-B285-3756-626979BABD52}"/>
                  </a:ext>
                </a:extLst>
              </p:cNvPr>
              <p:cNvSpPr/>
              <p:nvPr/>
            </p:nvSpPr>
            <p:spPr>
              <a:xfrm>
                <a:off x="3642511" y="4813757"/>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E3DC244-647D-15F4-884C-5116CE356782}"/>
                  </a:ext>
                </a:extLst>
              </p:cNvPr>
              <p:cNvSpPr/>
              <p:nvPr/>
            </p:nvSpPr>
            <p:spPr>
              <a:xfrm>
                <a:off x="4790793" y="4783577"/>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F6C9A831-B16A-5733-4936-6D657A14E7D2}"/>
                  </a:ext>
                </a:extLst>
              </p:cNvPr>
              <p:cNvCxnSpPr>
                <a:cxnSpLocks/>
                <a:stCxn id="8" idx="7"/>
                <a:endCxn id="9" idx="2"/>
              </p:cNvCxnSpPr>
              <p:nvPr/>
            </p:nvCxnSpPr>
            <p:spPr>
              <a:xfrm flipV="1">
                <a:off x="3106507" y="4156197"/>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9FE37A0-089C-FCDA-9E2C-ED7A522625C3}"/>
                  </a:ext>
                </a:extLst>
              </p:cNvPr>
              <p:cNvCxnSpPr>
                <a:cxnSpLocks/>
                <a:stCxn id="9" idx="6"/>
                <a:endCxn id="10" idx="2"/>
              </p:cNvCxnSpPr>
              <p:nvPr/>
            </p:nvCxnSpPr>
            <p:spPr>
              <a:xfrm flipV="1">
                <a:off x="4185719" y="4116965"/>
                <a:ext cx="596015" cy="392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FF560B-7E34-2429-3DB6-61C27BDD9EB5}"/>
                  </a:ext>
                </a:extLst>
              </p:cNvPr>
              <p:cNvCxnSpPr>
                <a:cxnSpLocks/>
                <a:stCxn id="11" idx="0"/>
                <a:endCxn id="9" idx="4"/>
              </p:cNvCxnSpPr>
              <p:nvPr/>
            </p:nvCxnSpPr>
            <p:spPr>
              <a:xfrm flipV="1">
                <a:off x="3914115" y="4427801"/>
                <a:ext cx="0" cy="3859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57D9B94-7C40-91D5-338D-926D85FCB0FA}"/>
                  </a:ext>
                </a:extLst>
              </p:cNvPr>
              <p:cNvCxnSpPr>
                <a:cxnSpLocks/>
                <a:stCxn id="11" idx="6"/>
                <a:endCxn id="12" idx="2"/>
              </p:cNvCxnSpPr>
              <p:nvPr/>
            </p:nvCxnSpPr>
            <p:spPr>
              <a:xfrm flipV="1">
                <a:off x="4185719" y="5055181"/>
                <a:ext cx="605074" cy="301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6D56D78-FAF6-5874-82F0-4C12B40BDDC0}"/>
                  </a:ext>
                </a:extLst>
              </p:cNvPr>
              <p:cNvCxnSpPr>
                <a:cxnSpLocks/>
                <a:stCxn id="10" idx="4"/>
                <a:endCxn id="12" idx="0"/>
              </p:cNvCxnSpPr>
              <p:nvPr/>
            </p:nvCxnSpPr>
            <p:spPr>
              <a:xfrm>
                <a:off x="5053338" y="4388569"/>
                <a:ext cx="9059" cy="395008"/>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2A7D4D8-554B-06B9-7060-D9385D840AF4}"/>
                  </a:ext>
                </a:extLst>
              </p:cNvPr>
              <p:cNvSpPr txBox="1"/>
              <p:nvPr/>
            </p:nvSpPr>
            <p:spPr>
              <a:xfrm>
                <a:off x="3146358" y="3917374"/>
                <a:ext cx="311304" cy="369332"/>
              </a:xfrm>
              <a:prstGeom prst="rect">
                <a:avLst/>
              </a:prstGeom>
              <a:noFill/>
            </p:spPr>
            <p:txBody>
              <a:bodyPr wrap="none" rtlCol="0">
                <a:spAutoFit/>
              </a:bodyPr>
              <a:lstStyle/>
              <a:p>
                <a:r>
                  <a:rPr lang="en-US" dirty="0">
                    <a:solidFill>
                      <a:sysClr val="windowText" lastClr="000000"/>
                    </a:solidFill>
                  </a:rPr>
                  <a:t>3</a:t>
                </a:r>
              </a:p>
            </p:txBody>
          </p:sp>
          <p:sp>
            <p:nvSpPr>
              <p:cNvPr id="19" name="TextBox 18">
                <a:extLst>
                  <a:ext uri="{FF2B5EF4-FFF2-40B4-BE49-F238E27FC236}">
                    <a16:creationId xmlns:a16="http://schemas.microsoft.com/office/drawing/2014/main" id="{E52541A6-E9D3-5B43-2509-654A69D44584}"/>
                  </a:ext>
                </a:extLst>
              </p:cNvPr>
              <p:cNvSpPr txBox="1"/>
              <p:nvPr/>
            </p:nvSpPr>
            <p:spPr>
              <a:xfrm>
                <a:off x="4301671" y="3786865"/>
                <a:ext cx="311304" cy="369332"/>
              </a:xfrm>
              <a:prstGeom prst="rect">
                <a:avLst/>
              </a:prstGeom>
              <a:noFill/>
            </p:spPr>
            <p:txBody>
              <a:bodyPr wrap="none" rtlCol="0">
                <a:spAutoFit/>
              </a:bodyPr>
              <a:lstStyle/>
              <a:p>
                <a:r>
                  <a:rPr lang="en-US" dirty="0">
                    <a:solidFill>
                      <a:sysClr val="windowText" lastClr="000000"/>
                    </a:solidFill>
                  </a:rPr>
                  <a:t>8</a:t>
                </a:r>
              </a:p>
            </p:txBody>
          </p:sp>
          <p:sp>
            <p:nvSpPr>
              <p:cNvPr id="20" name="TextBox 19">
                <a:extLst>
                  <a:ext uri="{FF2B5EF4-FFF2-40B4-BE49-F238E27FC236}">
                    <a16:creationId xmlns:a16="http://schemas.microsoft.com/office/drawing/2014/main" id="{5E42CFA4-69C0-0E6E-992B-CA4F13BE8022}"/>
                  </a:ext>
                </a:extLst>
              </p:cNvPr>
              <p:cNvSpPr txBox="1"/>
              <p:nvPr/>
            </p:nvSpPr>
            <p:spPr>
              <a:xfrm>
                <a:off x="4188757" y="4346697"/>
                <a:ext cx="311304" cy="369332"/>
              </a:xfrm>
              <a:prstGeom prst="rect">
                <a:avLst/>
              </a:prstGeom>
              <a:noFill/>
            </p:spPr>
            <p:txBody>
              <a:bodyPr wrap="none" rtlCol="0">
                <a:spAutoFit/>
              </a:bodyPr>
              <a:lstStyle/>
              <a:p>
                <a:r>
                  <a:rPr lang="en-US" dirty="0">
                    <a:solidFill>
                      <a:sysClr val="windowText" lastClr="000000"/>
                    </a:solidFill>
                  </a:rPr>
                  <a:t>4</a:t>
                </a:r>
              </a:p>
            </p:txBody>
          </p:sp>
          <p:sp>
            <p:nvSpPr>
              <p:cNvPr id="21" name="TextBox 20">
                <a:extLst>
                  <a:ext uri="{FF2B5EF4-FFF2-40B4-BE49-F238E27FC236}">
                    <a16:creationId xmlns:a16="http://schemas.microsoft.com/office/drawing/2014/main" id="{A713B5AF-DF93-CED1-FF22-F323A1D5D6A8}"/>
                  </a:ext>
                </a:extLst>
              </p:cNvPr>
              <p:cNvSpPr txBox="1"/>
              <p:nvPr/>
            </p:nvSpPr>
            <p:spPr>
              <a:xfrm>
                <a:off x="4344409" y="5048890"/>
                <a:ext cx="311304" cy="369332"/>
              </a:xfrm>
              <a:prstGeom prst="rect">
                <a:avLst/>
              </a:prstGeom>
              <a:noFill/>
            </p:spPr>
            <p:txBody>
              <a:bodyPr wrap="none" rtlCol="0">
                <a:spAutoFit/>
              </a:bodyPr>
              <a:lstStyle/>
              <a:p>
                <a:r>
                  <a:rPr lang="en-US" dirty="0">
                    <a:solidFill>
                      <a:sysClr val="windowText" lastClr="000000"/>
                    </a:solidFill>
                  </a:rPr>
                  <a:t>5</a:t>
                </a:r>
              </a:p>
            </p:txBody>
          </p:sp>
          <p:sp>
            <p:nvSpPr>
              <p:cNvPr id="22" name="TextBox 21">
                <a:extLst>
                  <a:ext uri="{FF2B5EF4-FFF2-40B4-BE49-F238E27FC236}">
                    <a16:creationId xmlns:a16="http://schemas.microsoft.com/office/drawing/2014/main" id="{C1465A19-F335-44E3-AC5B-6CBF20A1E969}"/>
                  </a:ext>
                </a:extLst>
              </p:cNvPr>
              <p:cNvSpPr txBox="1"/>
              <p:nvPr/>
            </p:nvSpPr>
            <p:spPr>
              <a:xfrm>
                <a:off x="5001771" y="4382314"/>
                <a:ext cx="311304" cy="369332"/>
              </a:xfrm>
              <a:prstGeom prst="rect">
                <a:avLst/>
              </a:prstGeom>
              <a:noFill/>
            </p:spPr>
            <p:txBody>
              <a:bodyPr wrap="none" rtlCol="0">
                <a:spAutoFit/>
              </a:bodyPr>
              <a:lstStyle/>
              <a:p>
                <a:r>
                  <a:rPr lang="en-US" dirty="0">
                    <a:solidFill>
                      <a:sysClr val="windowText" lastClr="000000"/>
                    </a:solidFill>
                  </a:rPr>
                  <a:t>6</a:t>
                </a:r>
              </a:p>
            </p:txBody>
          </p:sp>
        </p:grpSp>
        <p:cxnSp>
          <p:nvCxnSpPr>
            <p:cNvPr id="3" name="Straight Connector 2">
              <a:extLst>
                <a:ext uri="{FF2B5EF4-FFF2-40B4-BE49-F238E27FC236}">
                  <a16:creationId xmlns:a16="http://schemas.microsoft.com/office/drawing/2014/main" id="{0CDAA4A5-0D19-4FC3-3F28-27B301D318DA}"/>
                </a:ext>
              </a:extLst>
            </p:cNvPr>
            <p:cNvCxnSpPr>
              <a:cxnSpLocks/>
              <a:stCxn id="8" idx="5"/>
              <a:endCxn id="11" idx="2"/>
            </p:cNvCxnSpPr>
            <p:nvPr/>
          </p:nvCxnSpPr>
          <p:spPr>
            <a:xfrm>
              <a:off x="4966838" y="3517269"/>
              <a:ext cx="536004" cy="357193"/>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6609301-BCF9-8A24-EB14-2522FABF194E}"/>
                </a:ext>
              </a:extLst>
            </p:cNvPr>
            <p:cNvSpPr txBox="1"/>
            <p:nvPr/>
          </p:nvSpPr>
          <p:spPr>
            <a:xfrm>
              <a:off x="5118055" y="3347411"/>
              <a:ext cx="311304" cy="369332"/>
            </a:xfrm>
            <a:prstGeom prst="rect">
              <a:avLst/>
            </a:prstGeom>
            <a:noFill/>
          </p:spPr>
          <p:txBody>
            <a:bodyPr wrap="none" rtlCol="0">
              <a:spAutoFit/>
            </a:bodyPr>
            <a:lstStyle/>
            <a:p>
              <a:r>
                <a:rPr lang="en-US" dirty="0">
                  <a:solidFill>
                    <a:sysClr val="windowText" lastClr="000000"/>
                  </a:solidFill>
                </a:rPr>
                <a:t>2</a:t>
              </a:r>
            </a:p>
          </p:txBody>
        </p:sp>
        <p:cxnSp>
          <p:nvCxnSpPr>
            <p:cNvPr id="42" name="Straight Connector 41">
              <a:extLst>
                <a:ext uri="{FF2B5EF4-FFF2-40B4-BE49-F238E27FC236}">
                  <a16:creationId xmlns:a16="http://schemas.microsoft.com/office/drawing/2014/main" id="{D417870D-A730-CFF2-BE15-87B2B0684051}"/>
                </a:ext>
              </a:extLst>
            </p:cNvPr>
            <p:cNvCxnSpPr>
              <a:cxnSpLocks/>
              <a:stCxn id="11" idx="7"/>
              <a:endCxn id="10" idx="3"/>
            </p:cNvCxnSpPr>
            <p:nvPr/>
          </p:nvCxnSpPr>
          <p:spPr>
            <a:xfrm flipV="1">
              <a:off x="5966499" y="3098119"/>
              <a:ext cx="755117" cy="584290"/>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9EAEE38-FF5A-5F55-1E70-06610F94362B}"/>
                </a:ext>
              </a:extLst>
            </p:cNvPr>
            <p:cNvSpPr txBox="1"/>
            <p:nvPr/>
          </p:nvSpPr>
          <p:spPr>
            <a:xfrm>
              <a:off x="5507610" y="3203346"/>
              <a:ext cx="311304" cy="369332"/>
            </a:xfrm>
            <a:prstGeom prst="rect">
              <a:avLst/>
            </a:prstGeom>
            <a:noFill/>
          </p:spPr>
          <p:txBody>
            <a:bodyPr wrap="none" rtlCol="0">
              <a:spAutoFit/>
            </a:bodyPr>
            <a:lstStyle/>
            <a:p>
              <a:r>
                <a:rPr lang="en-US" dirty="0">
                  <a:solidFill>
                    <a:sysClr val="windowText" lastClr="000000"/>
                  </a:solidFill>
                </a:rPr>
                <a:t>7</a:t>
              </a:r>
            </a:p>
          </p:txBody>
        </p:sp>
      </p:grpSp>
      <p:grpSp>
        <p:nvGrpSpPr>
          <p:cNvPr id="47" name="Group 46">
            <a:extLst>
              <a:ext uri="{FF2B5EF4-FFF2-40B4-BE49-F238E27FC236}">
                <a16:creationId xmlns:a16="http://schemas.microsoft.com/office/drawing/2014/main" id="{FD946299-DF20-2F21-CBE3-108EDCE612AD}"/>
              </a:ext>
            </a:extLst>
          </p:cNvPr>
          <p:cNvGrpSpPr/>
          <p:nvPr/>
        </p:nvGrpSpPr>
        <p:grpSpPr>
          <a:xfrm>
            <a:off x="1619656" y="4254791"/>
            <a:ext cx="2885041" cy="1837853"/>
            <a:chOff x="4431515" y="2510073"/>
            <a:chExt cx="2885041" cy="1837853"/>
          </a:xfrm>
        </p:grpSpPr>
        <p:grpSp>
          <p:nvGrpSpPr>
            <p:cNvPr id="48" name="Group 47">
              <a:extLst>
                <a:ext uri="{FF2B5EF4-FFF2-40B4-BE49-F238E27FC236}">
                  <a16:creationId xmlns:a16="http://schemas.microsoft.com/office/drawing/2014/main" id="{8AA0ED3A-42BB-8D58-268E-DBDA5857EF3B}"/>
                </a:ext>
              </a:extLst>
            </p:cNvPr>
            <p:cNvGrpSpPr/>
            <p:nvPr/>
          </p:nvGrpSpPr>
          <p:grpSpPr>
            <a:xfrm>
              <a:off x="4431515" y="2510073"/>
              <a:ext cx="2885041" cy="1837853"/>
              <a:chOff x="2571184" y="3720972"/>
              <a:chExt cx="2885041" cy="1837853"/>
            </a:xfrm>
          </p:grpSpPr>
          <p:sp>
            <p:nvSpPr>
              <p:cNvPr id="53" name="Rectangle 52">
                <a:extLst>
                  <a:ext uri="{FF2B5EF4-FFF2-40B4-BE49-F238E27FC236}">
                    <a16:creationId xmlns:a16="http://schemas.microsoft.com/office/drawing/2014/main" id="{7F254892-49A6-FFBF-1676-23937900DF64}"/>
                  </a:ext>
                </a:extLst>
              </p:cNvPr>
              <p:cNvSpPr/>
              <p:nvPr/>
            </p:nvSpPr>
            <p:spPr>
              <a:xfrm>
                <a:off x="2571184" y="3720972"/>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54" name="Oval 53">
                <a:extLst>
                  <a:ext uri="{FF2B5EF4-FFF2-40B4-BE49-F238E27FC236}">
                    <a16:creationId xmlns:a16="http://schemas.microsoft.com/office/drawing/2014/main" id="{1A9626AD-DCAF-A7AE-0929-93516893E640}"/>
                  </a:ext>
                </a:extLst>
              </p:cNvPr>
              <p:cNvSpPr/>
              <p:nvPr/>
            </p:nvSpPr>
            <p:spPr>
              <a:xfrm>
                <a:off x="2642850" y="4264511"/>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976DAE0-C10E-85F3-A477-CB55280A85F0}"/>
                  </a:ext>
                </a:extLst>
              </p:cNvPr>
              <p:cNvSpPr/>
              <p:nvPr/>
            </p:nvSpPr>
            <p:spPr>
              <a:xfrm>
                <a:off x="3642511" y="3884593"/>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9BECA91-B6C8-B9D1-728E-1F3C173495E1}"/>
                  </a:ext>
                </a:extLst>
              </p:cNvPr>
              <p:cNvSpPr/>
              <p:nvPr/>
            </p:nvSpPr>
            <p:spPr>
              <a:xfrm>
                <a:off x="4781734" y="3845361"/>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45A76B50-1356-0C66-F41D-147867A9290C}"/>
                  </a:ext>
                </a:extLst>
              </p:cNvPr>
              <p:cNvSpPr/>
              <p:nvPr/>
            </p:nvSpPr>
            <p:spPr>
              <a:xfrm>
                <a:off x="3642511" y="4813757"/>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8A5AAABA-B7CE-E902-1BB7-602996BFB6B0}"/>
                  </a:ext>
                </a:extLst>
              </p:cNvPr>
              <p:cNvSpPr/>
              <p:nvPr/>
            </p:nvSpPr>
            <p:spPr>
              <a:xfrm>
                <a:off x="4790793" y="4783577"/>
                <a:ext cx="543208" cy="5432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FC27EB31-20CD-4AEC-21B0-CDE818EB44DA}"/>
                  </a:ext>
                </a:extLst>
              </p:cNvPr>
              <p:cNvCxnSpPr>
                <a:cxnSpLocks/>
                <a:stCxn id="54" idx="7"/>
                <a:endCxn id="55" idx="2"/>
              </p:cNvCxnSpPr>
              <p:nvPr/>
            </p:nvCxnSpPr>
            <p:spPr>
              <a:xfrm flipV="1">
                <a:off x="3106507" y="4156197"/>
                <a:ext cx="536004" cy="187865"/>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0829C78-4877-E9ED-399F-351605B04AED}"/>
                  </a:ext>
                </a:extLst>
              </p:cNvPr>
              <p:cNvCxnSpPr>
                <a:cxnSpLocks/>
                <a:stCxn id="57" idx="6"/>
                <a:endCxn id="58" idx="2"/>
              </p:cNvCxnSpPr>
              <p:nvPr/>
            </p:nvCxnSpPr>
            <p:spPr>
              <a:xfrm flipV="1">
                <a:off x="4185719" y="5055181"/>
                <a:ext cx="605074" cy="30180"/>
              </a:xfrm>
              <a:prstGeom prst="line">
                <a:avLst/>
              </a:prstGeom>
            </p:spPr>
            <p:style>
              <a:lnRef idx="1">
                <a:schemeClr val="accent1"/>
              </a:lnRef>
              <a:fillRef idx="0">
                <a:schemeClr val="accent1"/>
              </a:fillRef>
              <a:effectRef idx="0">
                <a:schemeClr val="accent1"/>
              </a:effectRef>
              <a:fontRef idx="minor">
                <a:schemeClr val="tx1"/>
              </a:fontRef>
            </p:style>
          </p:cxnSp>
          <p:sp>
            <p:nvSpPr>
              <p:cNvPr id="66560" name="TextBox 66559">
                <a:extLst>
                  <a:ext uri="{FF2B5EF4-FFF2-40B4-BE49-F238E27FC236}">
                    <a16:creationId xmlns:a16="http://schemas.microsoft.com/office/drawing/2014/main" id="{2C159395-1BDD-C9E1-47D5-1128C503D0EA}"/>
                  </a:ext>
                </a:extLst>
              </p:cNvPr>
              <p:cNvSpPr txBox="1"/>
              <p:nvPr/>
            </p:nvSpPr>
            <p:spPr>
              <a:xfrm>
                <a:off x="3146358" y="3917374"/>
                <a:ext cx="311304" cy="369332"/>
              </a:xfrm>
              <a:prstGeom prst="rect">
                <a:avLst/>
              </a:prstGeom>
              <a:noFill/>
            </p:spPr>
            <p:txBody>
              <a:bodyPr wrap="none" rtlCol="0">
                <a:spAutoFit/>
              </a:bodyPr>
              <a:lstStyle/>
              <a:p>
                <a:r>
                  <a:rPr lang="en-US" dirty="0">
                    <a:solidFill>
                      <a:sysClr val="windowText" lastClr="000000"/>
                    </a:solidFill>
                  </a:rPr>
                  <a:t>3</a:t>
                </a:r>
              </a:p>
            </p:txBody>
          </p:sp>
          <p:sp>
            <p:nvSpPr>
              <p:cNvPr id="66563" name="TextBox 66562">
                <a:extLst>
                  <a:ext uri="{FF2B5EF4-FFF2-40B4-BE49-F238E27FC236}">
                    <a16:creationId xmlns:a16="http://schemas.microsoft.com/office/drawing/2014/main" id="{0377C509-CAD1-8CAE-BF60-224624B78819}"/>
                  </a:ext>
                </a:extLst>
              </p:cNvPr>
              <p:cNvSpPr txBox="1"/>
              <p:nvPr/>
            </p:nvSpPr>
            <p:spPr>
              <a:xfrm>
                <a:off x="4188757" y="4346697"/>
                <a:ext cx="311304" cy="369332"/>
              </a:xfrm>
              <a:prstGeom prst="rect">
                <a:avLst/>
              </a:prstGeom>
              <a:noFill/>
            </p:spPr>
            <p:txBody>
              <a:bodyPr wrap="none" rtlCol="0">
                <a:spAutoFit/>
              </a:bodyPr>
              <a:lstStyle/>
              <a:p>
                <a:r>
                  <a:rPr lang="en-US" dirty="0">
                    <a:solidFill>
                      <a:sysClr val="windowText" lastClr="000000"/>
                    </a:solidFill>
                  </a:rPr>
                  <a:t>4</a:t>
                </a:r>
              </a:p>
            </p:txBody>
          </p:sp>
          <p:sp>
            <p:nvSpPr>
              <p:cNvPr id="66564" name="TextBox 66563">
                <a:extLst>
                  <a:ext uri="{FF2B5EF4-FFF2-40B4-BE49-F238E27FC236}">
                    <a16:creationId xmlns:a16="http://schemas.microsoft.com/office/drawing/2014/main" id="{E6E3E186-67E4-24E2-149C-0063FF19A969}"/>
                  </a:ext>
                </a:extLst>
              </p:cNvPr>
              <p:cNvSpPr txBox="1"/>
              <p:nvPr/>
            </p:nvSpPr>
            <p:spPr>
              <a:xfrm>
                <a:off x="4344409" y="5048890"/>
                <a:ext cx="311304" cy="369332"/>
              </a:xfrm>
              <a:prstGeom prst="rect">
                <a:avLst/>
              </a:prstGeom>
              <a:noFill/>
            </p:spPr>
            <p:txBody>
              <a:bodyPr wrap="none" rtlCol="0">
                <a:spAutoFit/>
              </a:bodyPr>
              <a:lstStyle/>
              <a:p>
                <a:r>
                  <a:rPr lang="en-US" dirty="0">
                    <a:solidFill>
                      <a:sysClr val="windowText" lastClr="000000"/>
                    </a:solidFill>
                  </a:rPr>
                  <a:t>5</a:t>
                </a:r>
              </a:p>
            </p:txBody>
          </p:sp>
        </p:grpSp>
        <p:cxnSp>
          <p:nvCxnSpPr>
            <p:cNvPr id="49" name="Straight Connector 48">
              <a:extLst>
                <a:ext uri="{FF2B5EF4-FFF2-40B4-BE49-F238E27FC236}">
                  <a16:creationId xmlns:a16="http://schemas.microsoft.com/office/drawing/2014/main" id="{57A68D3F-D8C4-D3D5-0ED7-5BAFC02F9FF8}"/>
                </a:ext>
              </a:extLst>
            </p:cNvPr>
            <p:cNvCxnSpPr>
              <a:cxnSpLocks/>
              <a:stCxn id="54" idx="5"/>
              <a:endCxn id="57" idx="2"/>
            </p:cNvCxnSpPr>
            <p:nvPr/>
          </p:nvCxnSpPr>
          <p:spPr>
            <a:xfrm>
              <a:off x="4966838" y="3517269"/>
              <a:ext cx="536004" cy="357193"/>
            </a:xfrm>
            <a:prstGeom prst="line">
              <a:avLst/>
            </a:prstGeom>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F385E3F-EA54-413B-D46A-7BF8ACB3D5EC}"/>
                </a:ext>
              </a:extLst>
            </p:cNvPr>
            <p:cNvSpPr txBox="1"/>
            <p:nvPr/>
          </p:nvSpPr>
          <p:spPr>
            <a:xfrm>
              <a:off x="5118055" y="3347411"/>
              <a:ext cx="311304" cy="369332"/>
            </a:xfrm>
            <a:prstGeom prst="rect">
              <a:avLst/>
            </a:prstGeom>
            <a:noFill/>
          </p:spPr>
          <p:txBody>
            <a:bodyPr wrap="none" rtlCol="0">
              <a:spAutoFit/>
            </a:bodyPr>
            <a:lstStyle/>
            <a:p>
              <a:r>
                <a:rPr lang="en-US" dirty="0">
                  <a:solidFill>
                    <a:sysClr val="windowText" lastClr="000000"/>
                  </a:solidFill>
                </a:rPr>
                <a:t>2</a:t>
              </a:r>
            </a:p>
          </p:txBody>
        </p:sp>
        <p:cxnSp>
          <p:nvCxnSpPr>
            <p:cNvPr id="51" name="Straight Connector 50">
              <a:extLst>
                <a:ext uri="{FF2B5EF4-FFF2-40B4-BE49-F238E27FC236}">
                  <a16:creationId xmlns:a16="http://schemas.microsoft.com/office/drawing/2014/main" id="{00EB196C-DA1D-2F36-D3FB-131CF07C89BF}"/>
                </a:ext>
              </a:extLst>
            </p:cNvPr>
            <p:cNvCxnSpPr>
              <a:cxnSpLocks/>
              <a:stCxn id="57" idx="7"/>
              <a:endCxn id="56" idx="3"/>
            </p:cNvCxnSpPr>
            <p:nvPr/>
          </p:nvCxnSpPr>
          <p:spPr>
            <a:xfrm flipV="1">
              <a:off x="5966499" y="3098119"/>
              <a:ext cx="755117" cy="58429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6567" name="Straight Connector 66566">
            <a:extLst>
              <a:ext uri="{FF2B5EF4-FFF2-40B4-BE49-F238E27FC236}">
                <a16:creationId xmlns:a16="http://schemas.microsoft.com/office/drawing/2014/main" id="{F596A122-6967-1B50-4098-C7BAE46D1F95}"/>
              </a:ext>
            </a:extLst>
          </p:cNvPr>
          <p:cNvCxnSpPr>
            <a:cxnSpLocks/>
          </p:cNvCxnSpPr>
          <p:nvPr/>
        </p:nvCxnSpPr>
        <p:spPr>
          <a:xfrm>
            <a:off x="504498" y="4169980"/>
            <a:ext cx="11075275"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66569" name="TextBox 66568">
            <a:extLst>
              <a:ext uri="{FF2B5EF4-FFF2-40B4-BE49-F238E27FC236}">
                <a16:creationId xmlns:a16="http://schemas.microsoft.com/office/drawing/2014/main" id="{0F03F488-BCAF-BCBC-F4D3-4CC2C120297D}"/>
              </a:ext>
            </a:extLst>
          </p:cNvPr>
          <p:cNvSpPr txBox="1"/>
          <p:nvPr/>
        </p:nvSpPr>
        <p:spPr>
          <a:xfrm>
            <a:off x="1487554" y="6200958"/>
            <a:ext cx="3139257" cy="369332"/>
          </a:xfrm>
          <a:prstGeom prst="rect">
            <a:avLst/>
          </a:prstGeom>
          <a:noFill/>
        </p:spPr>
        <p:txBody>
          <a:bodyPr wrap="none" rtlCol="0">
            <a:spAutoFit/>
          </a:bodyPr>
          <a:lstStyle/>
          <a:p>
            <a:r>
              <a:rPr lang="en-US" dirty="0"/>
              <a:t>If this is MST </a:t>
            </a:r>
            <a:r>
              <a:rPr lang="en-US" dirty="0">
                <a:solidFill>
                  <a:schemeClr val="accent1">
                    <a:lumMod val="60000"/>
                    <a:lumOff val="40000"/>
                  </a:schemeClr>
                </a:solidFill>
              </a:rPr>
              <a:t>T of original graph</a:t>
            </a:r>
          </a:p>
        </p:txBody>
      </p:sp>
      <p:grpSp>
        <p:nvGrpSpPr>
          <p:cNvPr id="66611" name="Group 66610">
            <a:extLst>
              <a:ext uri="{FF2B5EF4-FFF2-40B4-BE49-F238E27FC236}">
                <a16:creationId xmlns:a16="http://schemas.microsoft.com/office/drawing/2014/main" id="{D68549DA-4CA0-C3FD-0795-EC3EFDB6B08A}"/>
              </a:ext>
            </a:extLst>
          </p:cNvPr>
          <p:cNvGrpSpPr/>
          <p:nvPr/>
        </p:nvGrpSpPr>
        <p:grpSpPr>
          <a:xfrm>
            <a:off x="7329401" y="4254791"/>
            <a:ext cx="2885041" cy="1837853"/>
            <a:chOff x="7329401" y="4254791"/>
            <a:chExt cx="2885041" cy="1837853"/>
          </a:xfrm>
        </p:grpSpPr>
        <p:sp>
          <p:nvSpPr>
            <p:cNvPr id="66575" name="Rectangle 66574">
              <a:extLst>
                <a:ext uri="{FF2B5EF4-FFF2-40B4-BE49-F238E27FC236}">
                  <a16:creationId xmlns:a16="http://schemas.microsoft.com/office/drawing/2014/main" id="{983EB123-418F-809D-CA3A-68899F1BC9AF}"/>
                </a:ext>
              </a:extLst>
            </p:cNvPr>
            <p:cNvSpPr/>
            <p:nvPr/>
          </p:nvSpPr>
          <p:spPr>
            <a:xfrm>
              <a:off x="7329401" y="4254791"/>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66576" name="Oval 66575">
              <a:extLst>
                <a:ext uri="{FF2B5EF4-FFF2-40B4-BE49-F238E27FC236}">
                  <a16:creationId xmlns:a16="http://schemas.microsoft.com/office/drawing/2014/main" id="{BD1DBC1D-3B3D-5534-54B0-667F4C13EB45}"/>
                </a:ext>
              </a:extLst>
            </p:cNvPr>
            <p:cNvSpPr/>
            <p:nvPr/>
          </p:nvSpPr>
          <p:spPr>
            <a:xfrm>
              <a:off x="7401067" y="4798330"/>
              <a:ext cx="543208" cy="543208"/>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66577" name="Oval 66576">
              <a:extLst>
                <a:ext uri="{FF2B5EF4-FFF2-40B4-BE49-F238E27FC236}">
                  <a16:creationId xmlns:a16="http://schemas.microsoft.com/office/drawing/2014/main" id="{15231DEB-B7FF-49CD-6C60-FFEE3CCB1E2C}"/>
                </a:ext>
              </a:extLst>
            </p:cNvPr>
            <p:cNvSpPr/>
            <p:nvPr/>
          </p:nvSpPr>
          <p:spPr>
            <a:xfrm>
              <a:off x="8400728" y="4418412"/>
              <a:ext cx="543208" cy="543208"/>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66578" name="Oval 66577">
              <a:extLst>
                <a:ext uri="{FF2B5EF4-FFF2-40B4-BE49-F238E27FC236}">
                  <a16:creationId xmlns:a16="http://schemas.microsoft.com/office/drawing/2014/main" id="{67E4B1C9-BE58-3C68-1D31-13D9537C201D}"/>
                </a:ext>
              </a:extLst>
            </p:cNvPr>
            <p:cNvSpPr/>
            <p:nvPr/>
          </p:nvSpPr>
          <p:spPr>
            <a:xfrm>
              <a:off x="9539951" y="4379180"/>
              <a:ext cx="543208" cy="54320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sp>
          <p:nvSpPr>
            <p:cNvPr id="66579" name="Oval 66578">
              <a:extLst>
                <a:ext uri="{FF2B5EF4-FFF2-40B4-BE49-F238E27FC236}">
                  <a16:creationId xmlns:a16="http://schemas.microsoft.com/office/drawing/2014/main" id="{FF35681F-0E36-F379-2D8C-BDAB3C2C1BB8}"/>
                </a:ext>
              </a:extLst>
            </p:cNvPr>
            <p:cNvSpPr/>
            <p:nvPr/>
          </p:nvSpPr>
          <p:spPr>
            <a:xfrm>
              <a:off x="8400728" y="5347576"/>
              <a:ext cx="543208" cy="54320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sp>
          <p:nvSpPr>
            <p:cNvPr id="66580" name="Oval 66579">
              <a:extLst>
                <a:ext uri="{FF2B5EF4-FFF2-40B4-BE49-F238E27FC236}">
                  <a16:creationId xmlns:a16="http://schemas.microsoft.com/office/drawing/2014/main" id="{B76EDB6F-A044-439C-CC76-BCADDD1720B8}"/>
                </a:ext>
              </a:extLst>
            </p:cNvPr>
            <p:cNvSpPr/>
            <p:nvPr/>
          </p:nvSpPr>
          <p:spPr>
            <a:xfrm>
              <a:off x="9549010" y="5317396"/>
              <a:ext cx="543208" cy="54320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solidFill>
              </a:endParaRPr>
            </a:p>
          </p:txBody>
        </p:sp>
        <p:cxnSp>
          <p:nvCxnSpPr>
            <p:cNvPr id="66581" name="Straight Connector 66580">
              <a:extLst>
                <a:ext uri="{FF2B5EF4-FFF2-40B4-BE49-F238E27FC236}">
                  <a16:creationId xmlns:a16="http://schemas.microsoft.com/office/drawing/2014/main" id="{DB771B02-26C3-0909-57CE-6793C124335C}"/>
                </a:ext>
              </a:extLst>
            </p:cNvPr>
            <p:cNvCxnSpPr>
              <a:cxnSpLocks/>
              <a:stCxn id="66576" idx="7"/>
              <a:endCxn id="66577" idx="2"/>
            </p:cNvCxnSpPr>
            <p:nvPr/>
          </p:nvCxnSpPr>
          <p:spPr>
            <a:xfrm flipV="1">
              <a:off x="7864724" y="4690016"/>
              <a:ext cx="536004" cy="18786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6582" name="Straight Connector 66581">
              <a:extLst>
                <a:ext uri="{FF2B5EF4-FFF2-40B4-BE49-F238E27FC236}">
                  <a16:creationId xmlns:a16="http://schemas.microsoft.com/office/drawing/2014/main" id="{1B8A4B73-E246-D4ED-05E1-2D9780A0C60F}"/>
                </a:ext>
              </a:extLst>
            </p:cNvPr>
            <p:cNvCxnSpPr>
              <a:cxnSpLocks/>
              <a:stCxn id="66579" idx="6"/>
              <a:endCxn id="66580" idx="2"/>
            </p:cNvCxnSpPr>
            <p:nvPr/>
          </p:nvCxnSpPr>
          <p:spPr>
            <a:xfrm flipV="1">
              <a:off x="8943936" y="5589000"/>
              <a:ext cx="605074" cy="301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6583" name="TextBox 66582">
              <a:extLst>
                <a:ext uri="{FF2B5EF4-FFF2-40B4-BE49-F238E27FC236}">
                  <a16:creationId xmlns:a16="http://schemas.microsoft.com/office/drawing/2014/main" id="{CE12233A-3E14-BA63-5B29-7E4AC46DCFF2}"/>
                </a:ext>
              </a:extLst>
            </p:cNvPr>
            <p:cNvSpPr txBox="1"/>
            <p:nvPr/>
          </p:nvSpPr>
          <p:spPr>
            <a:xfrm>
              <a:off x="7904575" y="4451193"/>
              <a:ext cx="311304" cy="369332"/>
            </a:xfrm>
            <a:prstGeom prst="rect">
              <a:avLst/>
            </a:prstGeom>
            <a:noFill/>
          </p:spPr>
          <p:txBody>
            <a:bodyPr wrap="none" rtlCol="0">
              <a:spAutoFit/>
            </a:bodyPr>
            <a:lstStyle/>
            <a:p>
              <a:r>
                <a:rPr lang="en-US" dirty="0">
                  <a:solidFill>
                    <a:schemeClr val="accent3"/>
                  </a:solidFill>
                </a:rPr>
                <a:t>3</a:t>
              </a:r>
            </a:p>
          </p:txBody>
        </p:sp>
        <p:sp>
          <p:nvSpPr>
            <p:cNvPr id="66584" name="TextBox 66583">
              <a:extLst>
                <a:ext uri="{FF2B5EF4-FFF2-40B4-BE49-F238E27FC236}">
                  <a16:creationId xmlns:a16="http://schemas.microsoft.com/office/drawing/2014/main" id="{C1902217-F1D4-9012-4378-C9A08D59F1C6}"/>
                </a:ext>
              </a:extLst>
            </p:cNvPr>
            <p:cNvSpPr txBox="1"/>
            <p:nvPr/>
          </p:nvSpPr>
          <p:spPr>
            <a:xfrm>
              <a:off x="8946974" y="4880516"/>
              <a:ext cx="311304" cy="369332"/>
            </a:xfrm>
            <a:prstGeom prst="rect">
              <a:avLst/>
            </a:prstGeom>
            <a:noFill/>
          </p:spPr>
          <p:txBody>
            <a:bodyPr wrap="none" rtlCol="0">
              <a:spAutoFit/>
            </a:bodyPr>
            <a:lstStyle/>
            <a:p>
              <a:r>
                <a:rPr lang="en-US" dirty="0">
                  <a:solidFill>
                    <a:schemeClr val="accent2"/>
                  </a:solidFill>
                </a:rPr>
                <a:t>4</a:t>
              </a:r>
            </a:p>
          </p:txBody>
        </p:sp>
        <p:sp>
          <p:nvSpPr>
            <p:cNvPr id="66585" name="TextBox 66584">
              <a:extLst>
                <a:ext uri="{FF2B5EF4-FFF2-40B4-BE49-F238E27FC236}">
                  <a16:creationId xmlns:a16="http://schemas.microsoft.com/office/drawing/2014/main" id="{71FEDE6B-85A6-079D-C209-FFAF99C42AD6}"/>
                </a:ext>
              </a:extLst>
            </p:cNvPr>
            <p:cNvSpPr txBox="1"/>
            <p:nvPr/>
          </p:nvSpPr>
          <p:spPr>
            <a:xfrm>
              <a:off x="9102626" y="5582709"/>
              <a:ext cx="311304" cy="369332"/>
            </a:xfrm>
            <a:prstGeom prst="rect">
              <a:avLst/>
            </a:prstGeom>
            <a:noFill/>
          </p:spPr>
          <p:txBody>
            <a:bodyPr wrap="none" rtlCol="0">
              <a:spAutoFit/>
            </a:bodyPr>
            <a:lstStyle/>
            <a:p>
              <a:r>
                <a:rPr lang="en-US" dirty="0">
                  <a:solidFill>
                    <a:schemeClr val="accent2"/>
                  </a:solidFill>
                </a:rPr>
                <a:t>5</a:t>
              </a:r>
            </a:p>
          </p:txBody>
        </p:sp>
        <p:cxnSp>
          <p:nvCxnSpPr>
            <p:cNvPr id="66574" name="Straight Connector 66573">
              <a:extLst>
                <a:ext uri="{FF2B5EF4-FFF2-40B4-BE49-F238E27FC236}">
                  <a16:creationId xmlns:a16="http://schemas.microsoft.com/office/drawing/2014/main" id="{DE8F51BA-69C4-D21E-F3FA-48906110D0F1}"/>
                </a:ext>
              </a:extLst>
            </p:cNvPr>
            <p:cNvCxnSpPr>
              <a:cxnSpLocks/>
              <a:stCxn id="66579" idx="7"/>
              <a:endCxn id="66578" idx="3"/>
            </p:cNvCxnSpPr>
            <p:nvPr/>
          </p:nvCxnSpPr>
          <p:spPr>
            <a:xfrm flipV="1">
              <a:off x="8864385" y="4842837"/>
              <a:ext cx="755117" cy="5842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66586" name="TextBox 66585">
            <a:extLst>
              <a:ext uri="{FF2B5EF4-FFF2-40B4-BE49-F238E27FC236}">
                <a16:creationId xmlns:a16="http://schemas.microsoft.com/office/drawing/2014/main" id="{B1ABB87E-ED2D-9840-5D49-C9A7AC701AEF}"/>
              </a:ext>
            </a:extLst>
          </p:cNvPr>
          <p:cNvSpPr txBox="1"/>
          <p:nvPr/>
        </p:nvSpPr>
        <p:spPr>
          <a:xfrm>
            <a:off x="7161306" y="6169709"/>
            <a:ext cx="3236053" cy="646331"/>
          </a:xfrm>
          <a:prstGeom prst="rect">
            <a:avLst/>
          </a:prstGeom>
          <a:noFill/>
        </p:spPr>
        <p:txBody>
          <a:bodyPr wrap="square" rtlCol="0">
            <a:spAutoFit/>
          </a:bodyPr>
          <a:lstStyle/>
          <a:p>
            <a:pPr algn="ctr"/>
            <a:r>
              <a:rPr lang="en-US" dirty="0"/>
              <a:t>Then trees </a:t>
            </a:r>
            <a:r>
              <a:rPr lang="en-US" dirty="0">
                <a:solidFill>
                  <a:schemeClr val="accent3">
                    <a:lumMod val="60000"/>
                    <a:lumOff val="40000"/>
                  </a:schemeClr>
                </a:solidFill>
              </a:rPr>
              <a:t>T’</a:t>
            </a:r>
            <a:r>
              <a:rPr lang="en-US" dirty="0"/>
              <a:t> and </a:t>
            </a:r>
            <a:r>
              <a:rPr lang="en-US" dirty="0">
                <a:solidFill>
                  <a:schemeClr val="accent2">
                    <a:lumMod val="60000"/>
                    <a:lumOff val="40000"/>
                  </a:schemeClr>
                </a:solidFill>
              </a:rPr>
              <a:t>T’’</a:t>
            </a:r>
            <a:r>
              <a:rPr lang="en-US" dirty="0"/>
              <a:t> are MST of respective subgraphs</a:t>
            </a:r>
          </a:p>
        </p:txBody>
      </p:sp>
      <p:sp>
        <p:nvSpPr>
          <p:cNvPr id="66587" name="Right Arrow 66586">
            <a:extLst>
              <a:ext uri="{FF2B5EF4-FFF2-40B4-BE49-F238E27FC236}">
                <a16:creationId xmlns:a16="http://schemas.microsoft.com/office/drawing/2014/main" id="{2951BB8F-C7DE-8F5F-4152-881B3B9D2001}"/>
              </a:ext>
            </a:extLst>
          </p:cNvPr>
          <p:cNvSpPr/>
          <p:nvPr/>
        </p:nvSpPr>
        <p:spPr>
          <a:xfrm>
            <a:off x="4755088" y="4953920"/>
            <a:ext cx="2419547" cy="327460"/>
          </a:xfrm>
          <a:prstGeom prst="right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88" name="Rectangle 3">
            <a:extLst>
              <a:ext uri="{FF2B5EF4-FFF2-40B4-BE49-F238E27FC236}">
                <a16:creationId xmlns:a16="http://schemas.microsoft.com/office/drawing/2014/main" id="{62128EAF-9067-6AAD-6A0D-5FA275CB8BFE}"/>
              </a:ext>
            </a:extLst>
          </p:cNvPr>
          <p:cNvSpPr txBox="1">
            <a:spLocks noChangeArrowheads="1"/>
          </p:cNvSpPr>
          <p:nvPr>
            <p:custDataLst>
              <p:tags r:id="rId4"/>
            </p:custDataLst>
          </p:nvPr>
        </p:nvSpPr>
        <p:spPr>
          <a:xfrm>
            <a:off x="10330994" y="2588674"/>
            <a:ext cx="1167942" cy="9177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Sub Graphs:</a:t>
            </a:r>
          </a:p>
        </p:txBody>
      </p:sp>
      <p:grpSp>
        <p:nvGrpSpPr>
          <p:cNvPr id="66589" name="Group 66588">
            <a:extLst>
              <a:ext uri="{FF2B5EF4-FFF2-40B4-BE49-F238E27FC236}">
                <a16:creationId xmlns:a16="http://schemas.microsoft.com/office/drawing/2014/main" id="{E25D426E-8C3C-2C18-C35E-83E4B85106D0}"/>
              </a:ext>
            </a:extLst>
          </p:cNvPr>
          <p:cNvGrpSpPr/>
          <p:nvPr/>
        </p:nvGrpSpPr>
        <p:grpSpPr>
          <a:xfrm>
            <a:off x="7345299" y="2157634"/>
            <a:ext cx="2885041" cy="1837853"/>
            <a:chOff x="4431515" y="2510073"/>
            <a:chExt cx="2885041" cy="1837853"/>
          </a:xfrm>
        </p:grpSpPr>
        <p:grpSp>
          <p:nvGrpSpPr>
            <p:cNvPr id="66590" name="Group 66589">
              <a:extLst>
                <a:ext uri="{FF2B5EF4-FFF2-40B4-BE49-F238E27FC236}">
                  <a16:creationId xmlns:a16="http://schemas.microsoft.com/office/drawing/2014/main" id="{9E11DDA1-55F8-C1F4-32C6-08EAFABED640}"/>
                </a:ext>
              </a:extLst>
            </p:cNvPr>
            <p:cNvGrpSpPr/>
            <p:nvPr/>
          </p:nvGrpSpPr>
          <p:grpSpPr>
            <a:xfrm>
              <a:off x="4431515" y="2510073"/>
              <a:ext cx="2885041" cy="1837853"/>
              <a:chOff x="2571184" y="3720972"/>
              <a:chExt cx="2885041" cy="1837853"/>
            </a:xfrm>
          </p:grpSpPr>
          <p:sp>
            <p:nvSpPr>
              <p:cNvPr id="66595" name="Rectangle 66594">
                <a:extLst>
                  <a:ext uri="{FF2B5EF4-FFF2-40B4-BE49-F238E27FC236}">
                    <a16:creationId xmlns:a16="http://schemas.microsoft.com/office/drawing/2014/main" id="{1E5EE910-0A50-5987-DAE7-C7A8298F12F4}"/>
                  </a:ext>
                </a:extLst>
              </p:cNvPr>
              <p:cNvSpPr/>
              <p:nvPr/>
            </p:nvSpPr>
            <p:spPr>
              <a:xfrm>
                <a:off x="2571184" y="3720972"/>
                <a:ext cx="2885041" cy="183785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66596" name="Oval 66595">
                <a:extLst>
                  <a:ext uri="{FF2B5EF4-FFF2-40B4-BE49-F238E27FC236}">
                    <a16:creationId xmlns:a16="http://schemas.microsoft.com/office/drawing/2014/main" id="{D47A7E27-65E8-96EE-BDC1-1D2F8F3031E1}"/>
                  </a:ext>
                </a:extLst>
              </p:cNvPr>
              <p:cNvSpPr/>
              <p:nvPr/>
            </p:nvSpPr>
            <p:spPr>
              <a:xfrm>
                <a:off x="2642850" y="4264511"/>
                <a:ext cx="543208" cy="543208"/>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97" name="Oval 66596">
                <a:extLst>
                  <a:ext uri="{FF2B5EF4-FFF2-40B4-BE49-F238E27FC236}">
                    <a16:creationId xmlns:a16="http://schemas.microsoft.com/office/drawing/2014/main" id="{E66CE391-E968-2B25-A7BE-FC64B8D61D3D}"/>
                  </a:ext>
                </a:extLst>
              </p:cNvPr>
              <p:cNvSpPr/>
              <p:nvPr/>
            </p:nvSpPr>
            <p:spPr>
              <a:xfrm>
                <a:off x="3642511" y="3884593"/>
                <a:ext cx="543208" cy="543208"/>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98" name="Oval 66597">
                <a:extLst>
                  <a:ext uri="{FF2B5EF4-FFF2-40B4-BE49-F238E27FC236}">
                    <a16:creationId xmlns:a16="http://schemas.microsoft.com/office/drawing/2014/main" id="{49FFCB1A-0D43-AF2D-DE66-C58AB9C0B09E}"/>
                  </a:ext>
                </a:extLst>
              </p:cNvPr>
              <p:cNvSpPr/>
              <p:nvPr/>
            </p:nvSpPr>
            <p:spPr>
              <a:xfrm>
                <a:off x="4781734" y="3845361"/>
                <a:ext cx="543208" cy="54320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99" name="Oval 66598">
                <a:extLst>
                  <a:ext uri="{FF2B5EF4-FFF2-40B4-BE49-F238E27FC236}">
                    <a16:creationId xmlns:a16="http://schemas.microsoft.com/office/drawing/2014/main" id="{B9E384B6-26A9-A0AA-6047-C90384B4D262}"/>
                  </a:ext>
                </a:extLst>
              </p:cNvPr>
              <p:cNvSpPr/>
              <p:nvPr/>
            </p:nvSpPr>
            <p:spPr>
              <a:xfrm>
                <a:off x="3642511" y="4813757"/>
                <a:ext cx="543208" cy="54320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00" name="Oval 66599">
                <a:extLst>
                  <a:ext uri="{FF2B5EF4-FFF2-40B4-BE49-F238E27FC236}">
                    <a16:creationId xmlns:a16="http://schemas.microsoft.com/office/drawing/2014/main" id="{6A44E41C-70FB-1557-1EB8-E2ADBEF72D16}"/>
                  </a:ext>
                </a:extLst>
              </p:cNvPr>
              <p:cNvSpPr/>
              <p:nvPr/>
            </p:nvSpPr>
            <p:spPr>
              <a:xfrm>
                <a:off x="4790793" y="4783577"/>
                <a:ext cx="543208" cy="54320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601" name="Straight Connector 66600">
                <a:extLst>
                  <a:ext uri="{FF2B5EF4-FFF2-40B4-BE49-F238E27FC236}">
                    <a16:creationId xmlns:a16="http://schemas.microsoft.com/office/drawing/2014/main" id="{43127C3B-14B1-666F-205B-C87EE0D8588F}"/>
                  </a:ext>
                </a:extLst>
              </p:cNvPr>
              <p:cNvCxnSpPr>
                <a:cxnSpLocks/>
                <a:stCxn id="66596" idx="7"/>
                <a:endCxn id="66597" idx="2"/>
              </p:cNvCxnSpPr>
              <p:nvPr/>
            </p:nvCxnSpPr>
            <p:spPr>
              <a:xfrm flipV="1">
                <a:off x="3106507" y="4156197"/>
                <a:ext cx="536004" cy="18786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6604" name="Straight Connector 66603">
                <a:extLst>
                  <a:ext uri="{FF2B5EF4-FFF2-40B4-BE49-F238E27FC236}">
                    <a16:creationId xmlns:a16="http://schemas.microsoft.com/office/drawing/2014/main" id="{1F2E33DB-AABE-3D9D-FD20-69F56066DBD8}"/>
                  </a:ext>
                </a:extLst>
              </p:cNvPr>
              <p:cNvCxnSpPr>
                <a:cxnSpLocks/>
                <a:stCxn id="66599" idx="6"/>
                <a:endCxn id="66600" idx="2"/>
              </p:cNvCxnSpPr>
              <p:nvPr/>
            </p:nvCxnSpPr>
            <p:spPr>
              <a:xfrm flipV="1">
                <a:off x="4185719" y="5055181"/>
                <a:ext cx="605074" cy="301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6605" name="Straight Connector 66604">
                <a:extLst>
                  <a:ext uri="{FF2B5EF4-FFF2-40B4-BE49-F238E27FC236}">
                    <a16:creationId xmlns:a16="http://schemas.microsoft.com/office/drawing/2014/main" id="{5D3D3D2E-36F6-A52A-C892-B7B299DBDF82}"/>
                  </a:ext>
                </a:extLst>
              </p:cNvPr>
              <p:cNvCxnSpPr>
                <a:cxnSpLocks/>
                <a:stCxn id="66598" idx="4"/>
                <a:endCxn id="66600" idx="0"/>
              </p:cNvCxnSpPr>
              <p:nvPr/>
            </p:nvCxnSpPr>
            <p:spPr>
              <a:xfrm>
                <a:off x="5053338" y="4388569"/>
                <a:ext cx="9059" cy="39500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6606" name="TextBox 66605">
                <a:extLst>
                  <a:ext uri="{FF2B5EF4-FFF2-40B4-BE49-F238E27FC236}">
                    <a16:creationId xmlns:a16="http://schemas.microsoft.com/office/drawing/2014/main" id="{F7F696AE-A8EB-4FBC-E0E4-3BCB5B266DB3}"/>
                  </a:ext>
                </a:extLst>
              </p:cNvPr>
              <p:cNvSpPr txBox="1"/>
              <p:nvPr/>
            </p:nvSpPr>
            <p:spPr>
              <a:xfrm>
                <a:off x="3146358" y="3917374"/>
                <a:ext cx="311304" cy="369332"/>
              </a:xfrm>
              <a:prstGeom prst="rect">
                <a:avLst/>
              </a:prstGeom>
              <a:noFill/>
            </p:spPr>
            <p:txBody>
              <a:bodyPr wrap="none" rtlCol="0">
                <a:spAutoFit/>
              </a:bodyPr>
              <a:lstStyle/>
              <a:p>
                <a:r>
                  <a:rPr lang="en-US" dirty="0">
                    <a:solidFill>
                      <a:schemeClr val="accent3"/>
                    </a:solidFill>
                  </a:rPr>
                  <a:t>3</a:t>
                </a:r>
              </a:p>
            </p:txBody>
          </p:sp>
          <p:sp>
            <p:nvSpPr>
              <p:cNvPr id="66608" name="TextBox 66607">
                <a:extLst>
                  <a:ext uri="{FF2B5EF4-FFF2-40B4-BE49-F238E27FC236}">
                    <a16:creationId xmlns:a16="http://schemas.microsoft.com/office/drawing/2014/main" id="{0BDE204F-7AB3-54BB-7C2F-EB8255E9B512}"/>
                  </a:ext>
                </a:extLst>
              </p:cNvPr>
              <p:cNvSpPr txBox="1"/>
              <p:nvPr/>
            </p:nvSpPr>
            <p:spPr>
              <a:xfrm>
                <a:off x="4188757" y="4346697"/>
                <a:ext cx="311304" cy="369332"/>
              </a:xfrm>
              <a:prstGeom prst="rect">
                <a:avLst/>
              </a:prstGeom>
              <a:noFill/>
            </p:spPr>
            <p:txBody>
              <a:bodyPr wrap="none" rtlCol="0">
                <a:spAutoFit/>
              </a:bodyPr>
              <a:lstStyle/>
              <a:p>
                <a:r>
                  <a:rPr lang="en-US" dirty="0">
                    <a:solidFill>
                      <a:schemeClr val="accent2"/>
                    </a:solidFill>
                  </a:rPr>
                  <a:t>4</a:t>
                </a:r>
              </a:p>
            </p:txBody>
          </p:sp>
          <p:sp>
            <p:nvSpPr>
              <p:cNvPr id="66609" name="TextBox 66608">
                <a:extLst>
                  <a:ext uri="{FF2B5EF4-FFF2-40B4-BE49-F238E27FC236}">
                    <a16:creationId xmlns:a16="http://schemas.microsoft.com/office/drawing/2014/main" id="{40AD4324-A1A7-C242-2483-19F7E19BC94C}"/>
                  </a:ext>
                </a:extLst>
              </p:cNvPr>
              <p:cNvSpPr txBox="1"/>
              <p:nvPr/>
            </p:nvSpPr>
            <p:spPr>
              <a:xfrm>
                <a:off x="4344409" y="5048890"/>
                <a:ext cx="311304" cy="369332"/>
              </a:xfrm>
              <a:prstGeom prst="rect">
                <a:avLst/>
              </a:prstGeom>
              <a:noFill/>
            </p:spPr>
            <p:txBody>
              <a:bodyPr wrap="none" rtlCol="0">
                <a:spAutoFit/>
              </a:bodyPr>
              <a:lstStyle/>
              <a:p>
                <a:r>
                  <a:rPr lang="en-US" dirty="0">
                    <a:solidFill>
                      <a:schemeClr val="accent2"/>
                    </a:solidFill>
                  </a:rPr>
                  <a:t>5</a:t>
                </a:r>
              </a:p>
            </p:txBody>
          </p:sp>
          <p:sp>
            <p:nvSpPr>
              <p:cNvPr id="66610" name="TextBox 66609">
                <a:extLst>
                  <a:ext uri="{FF2B5EF4-FFF2-40B4-BE49-F238E27FC236}">
                    <a16:creationId xmlns:a16="http://schemas.microsoft.com/office/drawing/2014/main" id="{C8885B1E-6F02-C288-153E-F51D9FBAAD88}"/>
                  </a:ext>
                </a:extLst>
              </p:cNvPr>
              <p:cNvSpPr txBox="1"/>
              <p:nvPr/>
            </p:nvSpPr>
            <p:spPr>
              <a:xfrm>
                <a:off x="5032823" y="4379785"/>
                <a:ext cx="311304" cy="369332"/>
              </a:xfrm>
              <a:prstGeom prst="rect">
                <a:avLst/>
              </a:prstGeom>
              <a:noFill/>
            </p:spPr>
            <p:txBody>
              <a:bodyPr wrap="none" rtlCol="0">
                <a:spAutoFit/>
              </a:bodyPr>
              <a:lstStyle/>
              <a:p>
                <a:r>
                  <a:rPr lang="en-US" dirty="0">
                    <a:solidFill>
                      <a:schemeClr val="accent2"/>
                    </a:solidFill>
                  </a:rPr>
                  <a:t>6</a:t>
                </a:r>
              </a:p>
            </p:txBody>
          </p:sp>
        </p:grpSp>
        <p:cxnSp>
          <p:nvCxnSpPr>
            <p:cNvPr id="66593" name="Straight Connector 66592">
              <a:extLst>
                <a:ext uri="{FF2B5EF4-FFF2-40B4-BE49-F238E27FC236}">
                  <a16:creationId xmlns:a16="http://schemas.microsoft.com/office/drawing/2014/main" id="{386A4208-7F9B-26E9-F74C-045B430C9FD1}"/>
                </a:ext>
              </a:extLst>
            </p:cNvPr>
            <p:cNvCxnSpPr>
              <a:cxnSpLocks/>
              <a:stCxn id="66599" idx="7"/>
              <a:endCxn id="66598" idx="3"/>
            </p:cNvCxnSpPr>
            <p:nvPr/>
          </p:nvCxnSpPr>
          <p:spPr>
            <a:xfrm flipV="1">
              <a:off x="5966499" y="3098119"/>
              <a:ext cx="755117" cy="5842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4763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5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8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6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5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58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9" grpId="0"/>
      <p:bldP spid="66586" grpId="0"/>
      <p:bldP spid="66587" grpId="0" animBg="1"/>
      <p:bldP spid="6658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C7F29-3230-479E-32FA-01B327094C77}"/>
            </a:ext>
          </a:extLst>
        </p:cNvPr>
        <p:cNvGrpSpPr/>
        <p:nvPr/>
      </p:nvGrpSpPr>
      <p:grpSpPr>
        <a:xfrm>
          <a:off x="0" y="0"/>
          <a:ext cx="0" cy="0"/>
          <a:chOff x="0" y="0"/>
          <a:chExt cx="0" cy="0"/>
        </a:xfrm>
      </p:grpSpPr>
      <p:sp>
        <p:nvSpPr>
          <p:cNvPr id="66562" name="Rectangle 2">
            <a:extLst>
              <a:ext uri="{FF2B5EF4-FFF2-40B4-BE49-F238E27FC236}">
                <a16:creationId xmlns:a16="http://schemas.microsoft.com/office/drawing/2014/main" id="{B66B87E9-AEA9-673C-CD92-7CF4914D5172}"/>
              </a:ext>
            </a:extLst>
          </p:cNvPr>
          <p:cNvSpPr>
            <a:spLocks noGrp="1" noChangeArrowheads="1"/>
          </p:cNvSpPr>
          <p:nvPr>
            <p:ph type="title"/>
            <p:custDataLst>
              <p:tags r:id="rId1"/>
            </p:custDataLst>
          </p:nvPr>
        </p:nvSpPr>
        <p:spPr>
          <a:xfrm>
            <a:off x="1143001" y="57563"/>
            <a:ext cx="9905998" cy="630860"/>
          </a:xfrm>
        </p:spPr>
        <p:txBody>
          <a:bodyPr>
            <a:normAutofit fontScale="90000"/>
          </a:bodyPr>
          <a:lstStyle/>
          <a:p>
            <a:pPr algn="ctr" eaLnBrk="1" hangingPunct="1"/>
            <a:r>
              <a:rPr lang="en-US" dirty="0"/>
              <a:t>Minimum Spanning Tree: Optimal Substructure</a:t>
            </a:r>
          </a:p>
        </p:txBody>
      </p:sp>
      <p:sp>
        <p:nvSpPr>
          <p:cNvPr id="2" name="Rectangle 3">
            <a:extLst>
              <a:ext uri="{FF2B5EF4-FFF2-40B4-BE49-F238E27FC236}">
                <a16:creationId xmlns:a16="http://schemas.microsoft.com/office/drawing/2014/main" id="{F945AD85-E49C-66B1-00ED-F9DD94928502}"/>
              </a:ext>
            </a:extLst>
          </p:cNvPr>
          <p:cNvSpPr txBox="1">
            <a:spLocks noChangeArrowheads="1"/>
          </p:cNvSpPr>
          <p:nvPr>
            <p:custDataLst>
              <p:tags r:id="rId2"/>
            </p:custDataLst>
          </p:nvPr>
        </p:nvSpPr>
        <p:spPr>
          <a:xfrm>
            <a:off x="1141412" y="710599"/>
            <a:ext cx="9905999" cy="555005"/>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ysClr val="windowText" lastClr="000000"/>
                </a:solidFill>
              </a:rPr>
              <a:t>Step 1) Assume, </a:t>
            </a:r>
            <a:r>
              <a:rPr lang="en-US" dirty="0" err="1">
                <a:solidFill>
                  <a:sysClr val="windowText" lastClr="000000"/>
                </a:solidFill>
              </a:rPr>
              <a:t>f.s.o.c</a:t>
            </a:r>
            <a:r>
              <a:rPr lang="en-US" dirty="0">
                <a:solidFill>
                  <a:sysClr val="windowText" lastClr="000000"/>
                </a:solidFill>
              </a:rPr>
              <a:t>., that </a:t>
            </a:r>
            <a:r>
              <a:rPr lang="en-US" dirty="0">
                <a:solidFill>
                  <a:schemeClr val="accent1"/>
                </a:solidFill>
              </a:rPr>
              <a:t>MST T</a:t>
            </a:r>
            <a:r>
              <a:rPr lang="en-US" dirty="0">
                <a:solidFill>
                  <a:sysClr val="windowText" lastClr="000000"/>
                </a:solidFill>
              </a:rPr>
              <a:t> is optimal but </a:t>
            </a:r>
            <a:r>
              <a:rPr lang="en-US" dirty="0">
                <a:solidFill>
                  <a:schemeClr val="accent5"/>
                </a:solidFill>
              </a:rPr>
              <a:t>sub-MST T’ is NOT optimal</a:t>
            </a:r>
          </a:p>
        </p:txBody>
      </p:sp>
      <p:grpSp>
        <p:nvGrpSpPr>
          <p:cNvPr id="66594" name="Group 66593">
            <a:extLst>
              <a:ext uri="{FF2B5EF4-FFF2-40B4-BE49-F238E27FC236}">
                <a16:creationId xmlns:a16="http://schemas.microsoft.com/office/drawing/2014/main" id="{7B5F250A-F0CD-8540-BFF0-E9A2DD90D87A}"/>
              </a:ext>
            </a:extLst>
          </p:cNvPr>
          <p:cNvGrpSpPr/>
          <p:nvPr/>
        </p:nvGrpSpPr>
        <p:grpSpPr>
          <a:xfrm>
            <a:off x="2917922" y="1899976"/>
            <a:ext cx="8061364" cy="3156001"/>
            <a:chOff x="1954883" y="2454981"/>
            <a:chExt cx="8061364" cy="3156001"/>
          </a:xfrm>
        </p:grpSpPr>
        <p:sp>
          <p:nvSpPr>
            <p:cNvPr id="24" name="Oval 23">
              <a:extLst>
                <a:ext uri="{FF2B5EF4-FFF2-40B4-BE49-F238E27FC236}">
                  <a16:creationId xmlns:a16="http://schemas.microsoft.com/office/drawing/2014/main" id="{1294E7C2-200B-B4B3-73AF-2EB40EBD3FC6}"/>
                </a:ext>
              </a:extLst>
            </p:cNvPr>
            <p:cNvSpPr/>
            <p:nvPr/>
          </p:nvSpPr>
          <p:spPr>
            <a:xfrm>
              <a:off x="2564860" y="2454981"/>
              <a:ext cx="943583" cy="943583"/>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C630C50-6D8B-8DD6-9DD6-B2F39D26C544}"/>
                </a:ext>
              </a:extLst>
            </p:cNvPr>
            <p:cNvSpPr/>
            <p:nvPr/>
          </p:nvSpPr>
          <p:spPr>
            <a:xfrm>
              <a:off x="1954883" y="4667398"/>
              <a:ext cx="943583" cy="943583"/>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D0E38B9-AF1F-5B7E-0C61-D1395EFF79CC}"/>
                </a:ext>
              </a:extLst>
            </p:cNvPr>
            <p:cNvSpPr/>
            <p:nvPr/>
          </p:nvSpPr>
          <p:spPr>
            <a:xfrm>
              <a:off x="3842049" y="3886199"/>
              <a:ext cx="943583" cy="943583"/>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3EEC6B3-616C-0CE8-1381-73FBC245D86C}"/>
                </a:ext>
              </a:extLst>
            </p:cNvPr>
            <p:cNvSpPr/>
            <p:nvPr/>
          </p:nvSpPr>
          <p:spPr>
            <a:xfrm>
              <a:off x="6776937" y="2597284"/>
              <a:ext cx="943583" cy="943583"/>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1D6A8C9-BB04-EC76-8C61-6C6886F281AC}"/>
                </a:ext>
              </a:extLst>
            </p:cNvPr>
            <p:cNvSpPr/>
            <p:nvPr/>
          </p:nvSpPr>
          <p:spPr>
            <a:xfrm>
              <a:off x="6932579" y="4539574"/>
              <a:ext cx="943583" cy="943583"/>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880215F-8411-5727-1760-E222A9659763}"/>
                </a:ext>
              </a:extLst>
            </p:cNvPr>
            <p:cNvSpPr/>
            <p:nvPr/>
          </p:nvSpPr>
          <p:spPr>
            <a:xfrm>
              <a:off x="8839200" y="2801565"/>
              <a:ext cx="943583" cy="943583"/>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28BC8CB-6F4B-2F3A-CC89-45312675F4F2}"/>
                </a:ext>
              </a:extLst>
            </p:cNvPr>
            <p:cNvSpPr/>
            <p:nvPr/>
          </p:nvSpPr>
          <p:spPr>
            <a:xfrm>
              <a:off x="9072664" y="4667399"/>
              <a:ext cx="943583" cy="943583"/>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BCC29F98-271E-8924-B5A8-7E164B7EC417}"/>
                </a:ext>
              </a:extLst>
            </p:cNvPr>
            <p:cNvCxnSpPr>
              <a:stCxn id="24" idx="5"/>
              <a:endCxn id="26" idx="1"/>
            </p:cNvCxnSpPr>
            <p:nvPr/>
          </p:nvCxnSpPr>
          <p:spPr>
            <a:xfrm>
              <a:off x="3370258" y="3260379"/>
              <a:ext cx="609976" cy="764005"/>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2B15214-2A65-9D37-C988-F418F60EA31D}"/>
                </a:ext>
              </a:extLst>
            </p:cNvPr>
            <p:cNvCxnSpPr>
              <a:cxnSpLocks/>
              <a:stCxn id="25" idx="6"/>
              <a:endCxn id="26" idx="3"/>
            </p:cNvCxnSpPr>
            <p:nvPr/>
          </p:nvCxnSpPr>
          <p:spPr>
            <a:xfrm flipV="1">
              <a:off x="2898466" y="4691597"/>
              <a:ext cx="1081768" cy="447593"/>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C15DFB1-213F-D77D-6283-DD8F8149A70A}"/>
                </a:ext>
              </a:extLst>
            </p:cNvPr>
            <p:cNvCxnSpPr>
              <a:cxnSpLocks/>
              <a:stCxn id="27" idx="4"/>
              <a:endCxn id="28" idx="0"/>
            </p:cNvCxnSpPr>
            <p:nvPr/>
          </p:nvCxnSpPr>
          <p:spPr>
            <a:xfrm>
              <a:off x="7248729" y="3540867"/>
              <a:ext cx="155642" cy="998707"/>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CDC786C-1FAD-911B-F777-E31D351D0C52}"/>
                </a:ext>
              </a:extLst>
            </p:cNvPr>
            <p:cNvCxnSpPr>
              <a:cxnSpLocks/>
              <a:stCxn id="29" idx="3"/>
              <a:endCxn id="28" idx="7"/>
            </p:cNvCxnSpPr>
            <p:nvPr/>
          </p:nvCxnSpPr>
          <p:spPr>
            <a:xfrm flipH="1">
              <a:off x="7737977" y="3606963"/>
              <a:ext cx="1239408" cy="1070796"/>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B97A8EE-5CCC-4F0D-68DA-79E742F1DA8B}"/>
                </a:ext>
              </a:extLst>
            </p:cNvPr>
            <p:cNvCxnSpPr>
              <a:cxnSpLocks/>
              <a:stCxn id="28" idx="6"/>
              <a:endCxn id="30" idx="2"/>
            </p:cNvCxnSpPr>
            <p:nvPr/>
          </p:nvCxnSpPr>
          <p:spPr>
            <a:xfrm>
              <a:off x="7876162" y="5011366"/>
              <a:ext cx="1196502" cy="127825"/>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A71044-18C1-04DE-E627-15142B72853D}"/>
                </a:ext>
              </a:extLst>
            </p:cNvPr>
            <p:cNvCxnSpPr>
              <a:cxnSpLocks/>
              <a:stCxn id="26" idx="7"/>
              <a:endCxn id="27" idx="2"/>
            </p:cNvCxnSpPr>
            <p:nvPr/>
          </p:nvCxnSpPr>
          <p:spPr>
            <a:xfrm flipV="1">
              <a:off x="4647447" y="3069076"/>
              <a:ext cx="2129490" cy="955308"/>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6592" name="TextBox 66591">
              <a:extLst>
                <a:ext uri="{FF2B5EF4-FFF2-40B4-BE49-F238E27FC236}">
                  <a16:creationId xmlns:a16="http://schemas.microsoft.com/office/drawing/2014/main" id="{F928797B-4EC2-4BFD-7081-02DDB115D978}"/>
                </a:ext>
              </a:extLst>
            </p:cNvPr>
            <p:cNvSpPr txBox="1"/>
            <p:nvPr/>
          </p:nvSpPr>
          <p:spPr>
            <a:xfrm>
              <a:off x="5466944" y="3020436"/>
              <a:ext cx="364202" cy="523220"/>
            </a:xfrm>
            <a:prstGeom prst="rect">
              <a:avLst/>
            </a:prstGeom>
            <a:noFill/>
          </p:spPr>
          <p:txBody>
            <a:bodyPr wrap="none" rtlCol="0">
              <a:spAutoFit/>
            </a:bodyPr>
            <a:lstStyle/>
            <a:p>
              <a:r>
                <a:rPr lang="en-US" sz="2800" dirty="0">
                  <a:solidFill>
                    <a:schemeClr val="accent3">
                      <a:lumMod val="60000"/>
                      <a:lumOff val="40000"/>
                    </a:schemeClr>
                  </a:solidFill>
                </a:rPr>
                <a:t>e</a:t>
              </a:r>
            </a:p>
          </p:txBody>
        </p:sp>
      </p:grpSp>
      <p:sp>
        <p:nvSpPr>
          <p:cNvPr id="66602" name="Left Brace 66601">
            <a:extLst>
              <a:ext uri="{FF2B5EF4-FFF2-40B4-BE49-F238E27FC236}">
                <a16:creationId xmlns:a16="http://schemas.microsoft.com/office/drawing/2014/main" id="{3F623FB7-9966-E8AD-C61A-34F7657919C7}"/>
              </a:ext>
            </a:extLst>
          </p:cNvPr>
          <p:cNvSpPr/>
          <p:nvPr/>
        </p:nvSpPr>
        <p:spPr>
          <a:xfrm>
            <a:off x="2295728" y="1877438"/>
            <a:ext cx="564205" cy="3336588"/>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6603" name="TextBox 66602">
                <a:extLst>
                  <a:ext uri="{FF2B5EF4-FFF2-40B4-BE49-F238E27FC236}">
                    <a16:creationId xmlns:a16="http://schemas.microsoft.com/office/drawing/2014/main" id="{8B0A4FCB-D59F-9312-8BA1-93938F284D03}"/>
                  </a:ext>
                </a:extLst>
              </p:cNvPr>
              <p:cNvSpPr txBox="1"/>
              <p:nvPr/>
            </p:nvSpPr>
            <p:spPr>
              <a:xfrm>
                <a:off x="379379" y="3051958"/>
                <a:ext cx="1962612" cy="1200329"/>
              </a:xfrm>
              <a:prstGeom prst="rect">
                <a:avLst/>
              </a:prstGeom>
              <a:noFill/>
            </p:spPr>
            <p:txBody>
              <a:bodyPr wrap="square" rtlCol="0">
                <a:spAutoFit/>
              </a:bodyPr>
              <a:lstStyle/>
              <a:p>
                <a:pPr algn="ctr"/>
                <a:r>
                  <a:rPr lang="en-US" dirty="0"/>
                  <a:t>Assume the </a:t>
                </a:r>
                <a:r>
                  <a:rPr lang="en-US" dirty="0">
                    <a:solidFill>
                      <a:schemeClr val="accent1">
                        <a:lumMod val="60000"/>
                        <a:lumOff val="40000"/>
                      </a:schemeClr>
                    </a:solidFill>
                  </a:rPr>
                  <a:t>entire MST</a:t>
                </a:r>
              </a:p>
              <a:p>
                <a:pPr algn="ctr"/>
                <a:r>
                  <a:rPr lang="en-US" dirty="0"/>
                  <a:t>IS the optimal MST:</a:t>
                </a:r>
                <a:br>
                  <a:rPr lang="en-US" dirty="0"/>
                </a:br>
                <a:r>
                  <a:rPr lang="en-US" dirty="0"/>
                  <a:t>Cost is </a:t>
                </a:r>
                <a14:m>
                  <m:oMath xmlns:m="http://schemas.openxmlformats.org/officeDocument/2006/math">
                    <m:r>
                      <a:rPr lang="en-US" b="0" i="1" smtClean="0">
                        <a:solidFill>
                          <a:schemeClr val="accent1">
                            <a:lumMod val="60000"/>
                            <a:lumOff val="40000"/>
                          </a:schemeClr>
                        </a:solidFill>
                        <a:latin typeface="Cambria Math" panose="02040503050406030204" pitchFamily="18" charset="0"/>
                      </a:rPr>
                      <m:t>𝑐</m:t>
                    </m:r>
                  </m:oMath>
                </a14:m>
                <a:endParaRPr lang="en-US" dirty="0"/>
              </a:p>
            </p:txBody>
          </p:sp>
        </mc:Choice>
        <mc:Fallback xmlns="">
          <p:sp>
            <p:nvSpPr>
              <p:cNvPr id="66603" name="TextBox 66602">
                <a:extLst>
                  <a:ext uri="{FF2B5EF4-FFF2-40B4-BE49-F238E27FC236}">
                    <a16:creationId xmlns:a16="http://schemas.microsoft.com/office/drawing/2014/main" id="{8B0A4FCB-D59F-9312-8BA1-93938F284D03}"/>
                  </a:ext>
                </a:extLst>
              </p:cNvPr>
              <p:cNvSpPr txBox="1">
                <a:spLocks noRot="1" noChangeAspect="1" noMove="1" noResize="1" noEditPoints="1" noAdjustHandles="1" noChangeArrowheads="1" noChangeShapeType="1" noTextEdit="1"/>
              </p:cNvSpPr>
              <p:nvPr/>
            </p:nvSpPr>
            <p:spPr>
              <a:xfrm>
                <a:off x="379379" y="3051958"/>
                <a:ext cx="1962612" cy="1200329"/>
              </a:xfrm>
              <a:prstGeom prst="rect">
                <a:avLst/>
              </a:prstGeom>
              <a:blipFill>
                <a:blip r:embed="rId4"/>
                <a:stretch>
                  <a:fillRect l="-1923" t="-2083" r="-1923" b="-7292"/>
                </a:stretch>
              </a:blipFill>
            </p:spPr>
            <p:txBody>
              <a:bodyPr/>
              <a:lstStyle/>
              <a:p>
                <a:r>
                  <a:rPr lang="en-US">
                    <a:noFill/>
                  </a:rPr>
                  <a:t> </a:t>
                </a:r>
              </a:p>
            </p:txBody>
          </p:sp>
        </mc:Fallback>
      </mc:AlternateContent>
      <p:sp>
        <p:nvSpPr>
          <p:cNvPr id="66607" name="Left Brace 66606">
            <a:extLst>
              <a:ext uri="{FF2B5EF4-FFF2-40B4-BE49-F238E27FC236}">
                <a16:creationId xmlns:a16="http://schemas.microsoft.com/office/drawing/2014/main" id="{B6AAE631-5ADA-BF82-225C-E205E084A798}"/>
              </a:ext>
            </a:extLst>
          </p:cNvPr>
          <p:cNvSpPr/>
          <p:nvPr/>
        </p:nvSpPr>
        <p:spPr>
          <a:xfrm rot="16200000">
            <a:off x="9126168" y="3691143"/>
            <a:ext cx="564205" cy="3336588"/>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612" name="TextBox 66611">
            <a:extLst>
              <a:ext uri="{FF2B5EF4-FFF2-40B4-BE49-F238E27FC236}">
                <a16:creationId xmlns:a16="http://schemas.microsoft.com/office/drawing/2014/main" id="{8EAD0D0E-E333-E314-140F-524226C9B96E}"/>
              </a:ext>
            </a:extLst>
          </p:cNvPr>
          <p:cNvSpPr txBox="1"/>
          <p:nvPr/>
        </p:nvSpPr>
        <p:spPr>
          <a:xfrm>
            <a:off x="7358107" y="5704827"/>
            <a:ext cx="3828701" cy="923330"/>
          </a:xfrm>
          <a:prstGeom prst="rect">
            <a:avLst/>
          </a:prstGeom>
          <a:noFill/>
        </p:spPr>
        <p:txBody>
          <a:bodyPr wrap="square" rtlCol="0">
            <a:spAutoFit/>
          </a:bodyPr>
          <a:lstStyle/>
          <a:p>
            <a:pPr algn="ctr"/>
            <a:r>
              <a:rPr lang="en-US" dirty="0"/>
              <a:t>Yet somehow </a:t>
            </a:r>
            <a:r>
              <a:rPr lang="en-US" dirty="0">
                <a:solidFill>
                  <a:schemeClr val="accent5">
                    <a:lumMod val="60000"/>
                    <a:lumOff val="40000"/>
                  </a:schemeClr>
                </a:solidFill>
              </a:rPr>
              <a:t>this subset of the MST </a:t>
            </a:r>
            <a:r>
              <a:rPr lang="en-US" dirty="0"/>
              <a:t>is NOT optimal for its subgraph</a:t>
            </a:r>
            <a:br>
              <a:rPr lang="en-US" dirty="0"/>
            </a:br>
            <a:r>
              <a:rPr lang="en-US" dirty="0"/>
              <a:t>Cost is </a:t>
            </a:r>
            <a:r>
              <a:rPr lang="en-US" dirty="0">
                <a:solidFill>
                  <a:schemeClr val="accent5">
                    <a:lumMod val="60000"/>
                    <a:lumOff val="40000"/>
                  </a:schemeClr>
                </a:solidFill>
              </a:rPr>
              <a:t>c’</a:t>
            </a:r>
          </a:p>
        </p:txBody>
      </p:sp>
    </p:spTree>
    <p:extLst>
      <p:ext uri="{BB962C8B-B14F-4D97-AF65-F5344CB8AC3E}">
        <p14:creationId xmlns:p14="http://schemas.microsoft.com/office/powerpoint/2010/main" val="2358276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E896C-A0C6-20B3-407F-551D8526FA8C}"/>
            </a:ext>
          </a:extLst>
        </p:cNvPr>
        <p:cNvGrpSpPr/>
        <p:nvPr/>
      </p:nvGrpSpPr>
      <p:grpSpPr>
        <a:xfrm>
          <a:off x="0" y="0"/>
          <a:ext cx="0" cy="0"/>
          <a:chOff x="0" y="0"/>
          <a:chExt cx="0" cy="0"/>
        </a:xfrm>
      </p:grpSpPr>
      <p:sp>
        <p:nvSpPr>
          <p:cNvPr id="66562" name="Rectangle 2">
            <a:extLst>
              <a:ext uri="{FF2B5EF4-FFF2-40B4-BE49-F238E27FC236}">
                <a16:creationId xmlns:a16="http://schemas.microsoft.com/office/drawing/2014/main" id="{694EB36F-1979-7856-DEE6-CA5008AF4960}"/>
              </a:ext>
            </a:extLst>
          </p:cNvPr>
          <p:cNvSpPr>
            <a:spLocks noGrp="1" noChangeArrowheads="1"/>
          </p:cNvSpPr>
          <p:nvPr>
            <p:ph type="title"/>
            <p:custDataLst>
              <p:tags r:id="rId1"/>
            </p:custDataLst>
          </p:nvPr>
        </p:nvSpPr>
        <p:spPr>
          <a:xfrm>
            <a:off x="1143001" y="57563"/>
            <a:ext cx="9905998" cy="630860"/>
          </a:xfrm>
        </p:spPr>
        <p:txBody>
          <a:bodyPr>
            <a:normAutofit fontScale="90000"/>
          </a:bodyPr>
          <a:lstStyle/>
          <a:p>
            <a:pPr algn="ctr" eaLnBrk="1" hangingPunct="1"/>
            <a:r>
              <a:rPr lang="en-US" dirty="0"/>
              <a:t>Minimum Spanning Tree: Optimal Substructure</a:t>
            </a:r>
          </a:p>
        </p:txBody>
      </p:sp>
      <p:sp>
        <p:nvSpPr>
          <p:cNvPr id="3" name="Rectangle 3">
            <a:extLst>
              <a:ext uri="{FF2B5EF4-FFF2-40B4-BE49-F238E27FC236}">
                <a16:creationId xmlns:a16="http://schemas.microsoft.com/office/drawing/2014/main" id="{A4374FB2-8CEF-A84B-7756-15DB41219905}"/>
              </a:ext>
            </a:extLst>
          </p:cNvPr>
          <p:cNvSpPr txBox="1">
            <a:spLocks noChangeArrowheads="1"/>
          </p:cNvSpPr>
          <p:nvPr>
            <p:custDataLst>
              <p:tags r:id="rId2"/>
            </p:custDataLst>
          </p:nvPr>
        </p:nvSpPr>
        <p:spPr>
          <a:xfrm>
            <a:off x="1141412" y="1350340"/>
            <a:ext cx="9905999" cy="555005"/>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ysClr val="windowText" lastClr="000000"/>
                </a:solidFill>
              </a:rPr>
              <a:t>Step 2) Thus, there is a </a:t>
            </a:r>
            <a:r>
              <a:rPr lang="en-US" dirty="0">
                <a:solidFill>
                  <a:schemeClr val="accent2"/>
                </a:solidFill>
              </a:rPr>
              <a:t>better MST T’’ for the subgraph </a:t>
            </a:r>
            <a:r>
              <a:rPr lang="en-US" dirty="0">
                <a:solidFill>
                  <a:sysClr val="windowText" lastClr="000000"/>
                </a:solidFill>
              </a:rPr>
              <a:t>with better </a:t>
            </a:r>
            <a:r>
              <a:rPr lang="en-US" dirty="0">
                <a:solidFill>
                  <a:schemeClr val="accent2"/>
                </a:solidFill>
              </a:rPr>
              <a:t>cost c’’</a:t>
            </a:r>
          </a:p>
        </p:txBody>
      </p:sp>
      <p:sp>
        <p:nvSpPr>
          <p:cNvPr id="4" name="Rectangle 3">
            <a:extLst>
              <a:ext uri="{FF2B5EF4-FFF2-40B4-BE49-F238E27FC236}">
                <a16:creationId xmlns:a16="http://schemas.microsoft.com/office/drawing/2014/main" id="{504A1EA3-C451-32C1-9EE2-41944643B728}"/>
              </a:ext>
            </a:extLst>
          </p:cNvPr>
          <p:cNvSpPr txBox="1">
            <a:spLocks noChangeArrowheads="1"/>
          </p:cNvSpPr>
          <p:nvPr>
            <p:custDataLst>
              <p:tags r:id="rId3"/>
            </p:custDataLst>
          </p:nvPr>
        </p:nvSpPr>
        <p:spPr>
          <a:xfrm>
            <a:off x="1141412" y="710599"/>
            <a:ext cx="9905999" cy="555005"/>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ysClr val="windowText" lastClr="000000"/>
                </a:solidFill>
              </a:rPr>
              <a:t>Step 1) Assume, </a:t>
            </a:r>
            <a:r>
              <a:rPr lang="en-US" dirty="0" err="1">
                <a:solidFill>
                  <a:sysClr val="windowText" lastClr="000000"/>
                </a:solidFill>
              </a:rPr>
              <a:t>f.s.o.c</a:t>
            </a:r>
            <a:r>
              <a:rPr lang="en-US" dirty="0">
                <a:solidFill>
                  <a:sysClr val="windowText" lastClr="000000"/>
                </a:solidFill>
              </a:rPr>
              <a:t>., that </a:t>
            </a:r>
            <a:r>
              <a:rPr lang="en-US" dirty="0">
                <a:solidFill>
                  <a:schemeClr val="accent1"/>
                </a:solidFill>
              </a:rPr>
              <a:t>MST T</a:t>
            </a:r>
            <a:r>
              <a:rPr lang="en-US" dirty="0">
                <a:solidFill>
                  <a:sysClr val="windowText" lastClr="000000"/>
                </a:solidFill>
              </a:rPr>
              <a:t> is optimal but </a:t>
            </a:r>
            <a:r>
              <a:rPr lang="en-US" dirty="0">
                <a:solidFill>
                  <a:schemeClr val="accent5"/>
                </a:solidFill>
              </a:rPr>
              <a:t>sub-MST T’ is NOT optimal</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0E325DD-4E5F-22F9-CDCB-72C1BA05B042}"/>
                  </a:ext>
                </a:extLst>
              </p:cNvPr>
              <p:cNvSpPr txBox="1"/>
              <p:nvPr/>
            </p:nvSpPr>
            <p:spPr>
              <a:xfrm>
                <a:off x="7433504" y="2758520"/>
                <a:ext cx="3010761" cy="369332"/>
              </a:xfrm>
              <a:prstGeom prst="rect">
                <a:avLst/>
              </a:prstGeom>
              <a:noFill/>
            </p:spPr>
            <p:txBody>
              <a:bodyPr wrap="none" rtlCol="0">
                <a:spAutoFit/>
              </a:bodyPr>
              <a:lstStyle/>
              <a:p>
                <a:r>
                  <a:rPr lang="en-US" dirty="0"/>
                  <a:t>Better </a:t>
                </a:r>
                <a:r>
                  <a:rPr lang="en-US" dirty="0">
                    <a:solidFill>
                      <a:schemeClr val="accent2">
                        <a:lumMod val="60000"/>
                        <a:lumOff val="40000"/>
                      </a:schemeClr>
                    </a:solidFill>
                  </a:rPr>
                  <a:t>MST T’’ </a:t>
                </a:r>
                <a:r>
                  <a:rPr lang="en-US" dirty="0"/>
                  <a:t>has cost </a:t>
                </a:r>
                <a14:m>
                  <m:oMath xmlns:m="http://schemas.openxmlformats.org/officeDocument/2006/math">
                    <m:sSup>
                      <m:sSupPr>
                        <m:ctrlPr>
                          <a:rPr lang="en-US" b="0" i="1" smtClean="0">
                            <a:solidFill>
                              <a:schemeClr val="accent2">
                                <a:lumMod val="60000"/>
                                <a:lumOff val="40000"/>
                              </a:schemeClr>
                            </a:solidFill>
                            <a:latin typeface="Cambria Math" panose="02040503050406030204" pitchFamily="18" charset="0"/>
                          </a:rPr>
                        </m:ctrlPr>
                      </m:sSupPr>
                      <m:e>
                        <m:r>
                          <a:rPr lang="en-US" b="0" i="1" smtClean="0">
                            <a:solidFill>
                              <a:schemeClr val="accent2">
                                <a:lumMod val="60000"/>
                                <a:lumOff val="40000"/>
                              </a:schemeClr>
                            </a:solidFill>
                            <a:latin typeface="Cambria Math" panose="02040503050406030204" pitchFamily="18" charset="0"/>
                          </a:rPr>
                          <m:t>𝑐</m:t>
                        </m:r>
                      </m:e>
                      <m:sup>
                        <m:r>
                          <a:rPr lang="en-US" b="0" i="1" smtClean="0">
                            <a:solidFill>
                              <a:schemeClr val="accent2">
                                <a:lumMod val="60000"/>
                                <a:lumOff val="40000"/>
                              </a:schemeClr>
                            </a:solidFill>
                            <a:latin typeface="Cambria Math" panose="02040503050406030204" pitchFamily="18" charset="0"/>
                          </a:rPr>
                          <m:t>′′</m:t>
                        </m:r>
                      </m:sup>
                    </m:sSup>
                    <m:r>
                      <a:rPr lang="en-US" b="0" i="1" smtClean="0">
                        <a:latin typeface="Cambria Math" panose="02040503050406030204" pitchFamily="18" charset="0"/>
                      </a:rPr>
                      <m:t>&lt;</m:t>
                    </m:r>
                    <m:r>
                      <a:rPr lang="en-US" b="0" i="1" smtClean="0">
                        <a:solidFill>
                          <a:schemeClr val="accent5">
                            <a:lumMod val="60000"/>
                            <a:lumOff val="40000"/>
                          </a:schemeClr>
                        </a:solidFill>
                        <a:latin typeface="Cambria Math" panose="02040503050406030204" pitchFamily="18" charset="0"/>
                      </a:rPr>
                      <m:t>𝑐</m:t>
                    </m:r>
                    <m:r>
                      <a:rPr lang="en-US" b="0" i="1" smtClean="0">
                        <a:solidFill>
                          <a:schemeClr val="accent5">
                            <a:lumMod val="60000"/>
                            <a:lumOff val="40000"/>
                          </a:schemeClr>
                        </a:solidFill>
                        <a:latin typeface="Cambria Math" panose="02040503050406030204" pitchFamily="18" charset="0"/>
                      </a:rPr>
                      <m:t>′</m:t>
                    </m:r>
                  </m:oMath>
                </a14:m>
                <a:endParaRPr lang="en-US" dirty="0"/>
              </a:p>
            </p:txBody>
          </p:sp>
        </mc:Choice>
        <mc:Fallback xmlns="">
          <p:sp>
            <p:nvSpPr>
              <p:cNvPr id="11" name="TextBox 10">
                <a:extLst>
                  <a:ext uri="{FF2B5EF4-FFF2-40B4-BE49-F238E27FC236}">
                    <a16:creationId xmlns:a16="http://schemas.microsoft.com/office/drawing/2014/main" id="{30E325DD-4E5F-22F9-CDCB-72C1BA05B042}"/>
                  </a:ext>
                </a:extLst>
              </p:cNvPr>
              <p:cNvSpPr txBox="1">
                <a:spLocks noRot="1" noChangeAspect="1" noMove="1" noResize="1" noEditPoints="1" noAdjustHandles="1" noChangeArrowheads="1" noChangeShapeType="1" noTextEdit="1"/>
              </p:cNvSpPr>
              <p:nvPr/>
            </p:nvSpPr>
            <p:spPr>
              <a:xfrm>
                <a:off x="7433504" y="2758520"/>
                <a:ext cx="3010761" cy="369332"/>
              </a:xfrm>
              <a:prstGeom prst="rect">
                <a:avLst/>
              </a:prstGeom>
              <a:blipFill>
                <a:blip r:embed="rId5"/>
                <a:stretch>
                  <a:fillRect l="-1681" t="-6667" b="-23333"/>
                </a:stretch>
              </a:blipFill>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A3000528-594E-F990-5A91-8E5EEC9C4FC2}"/>
              </a:ext>
            </a:extLst>
          </p:cNvPr>
          <p:cNvGrpSpPr/>
          <p:nvPr/>
        </p:nvGrpSpPr>
        <p:grpSpPr>
          <a:xfrm>
            <a:off x="679502" y="3384696"/>
            <a:ext cx="4138825" cy="3013698"/>
            <a:chOff x="679502" y="3384696"/>
            <a:chExt cx="4138825" cy="3013698"/>
          </a:xfrm>
        </p:grpSpPr>
        <p:sp>
          <p:nvSpPr>
            <p:cNvPr id="16" name="Oval 15">
              <a:extLst>
                <a:ext uri="{FF2B5EF4-FFF2-40B4-BE49-F238E27FC236}">
                  <a16:creationId xmlns:a16="http://schemas.microsoft.com/office/drawing/2014/main" id="{A9956CE4-8EF8-AC5F-5733-E66043A44DA7}"/>
                </a:ext>
              </a:extLst>
            </p:cNvPr>
            <p:cNvSpPr/>
            <p:nvPr/>
          </p:nvSpPr>
          <p:spPr>
            <a:xfrm>
              <a:off x="1579017" y="3384696"/>
              <a:ext cx="943583" cy="943583"/>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B231CE6-9B31-A914-2E1B-799BA90665C8}"/>
                </a:ext>
              </a:extLst>
            </p:cNvPr>
            <p:cNvSpPr/>
            <p:nvPr/>
          </p:nvSpPr>
          <p:spPr>
            <a:xfrm>
              <a:off x="1734659" y="5326986"/>
              <a:ext cx="943583" cy="943583"/>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CEAC24-82FD-85B8-6F97-A36CC7A095A4}"/>
                </a:ext>
              </a:extLst>
            </p:cNvPr>
            <p:cNvSpPr/>
            <p:nvPr/>
          </p:nvSpPr>
          <p:spPr>
            <a:xfrm>
              <a:off x="3641280" y="3588977"/>
              <a:ext cx="943583" cy="943583"/>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9D0B6E7-0E74-8728-7DB3-233B579D4E3F}"/>
                </a:ext>
              </a:extLst>
            </p:cNvPr>
            <p:cNvSpPr/>
            <p:nvPr/>
          </p:nvSpPr>
          <p:spPr>
            <a:xfrm>
              <a:off x="3874744" y="5454811"/>
              <a:ext cx="943583" cy="943583"/>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510C66F1-F389-B8E1-59A6-9A43255AB4CF}"/>
                </a:ext>
              </a:extLst>
            </p:cNvPr>
            <p:cNvCxnSpPr>
              <a:cxnSpLocks/>
              <a:stCxn id="16" idx="4"/>
              <a:endCxn id="17" idx="0"/>
            </p:cNvCxnSpPr>
            <p:nvPr/>
          </p:nvCxnSpPr>
          <p:spPr>
            <a:xfrm>
              <a:off x="2050809" y="4328279"/>
              <a:ext cx="155642" cy="998707"/>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41E2146-C8EC-A24E-D8F0-9052032570FB}"/>
                </a:ext>
              </a:extLst>
            </p:cNvPr>
            <p:cNvCxnSpPr>
              <a:cxnSpLocks/>
              <a:stCxn id="18" idx="3"/>
              <a:endCxn id="17" idx="7"/>
            </p:cNvCxnSpPr>
            <p:nvPr/>
          </p:nvCxnSpPr>
          <p:spPr>
            <a:xfrm flipH="1">
              <a:off x="2540057" y="4394375"/>
              <a:ext cx="1239408" cy="1070796"/>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40DB1F-6A06-2C42-9AB0-FBD7649797B6}"/>
                </a:ext>
              </a:extLst>
            </p:cNvPr>
            <p:cNvCxnSpPr>
              <a:cxnSpLocks/>
              <a:stCxn id="17" idx="6"/>
              <a:endCxn id="19" idx="2"/>
            </p:cNvCxnSpPr>
            <p:nvPr/>
          </p:nvCxnSpPr>
          <p:spPr>
            <a:xfrm>
              <a:off x="2678242" y="5798778"/>
              <a:ext cx="1196502" cy="127825"/>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C6FFE62-109B-F0BC-6B2E-DD872FCFFDDE}"/>
                </a:ext>
              </a:extLst>
            </p:cNvPr>
            <p:cNvCxnSpPr>
              <a:cxnSpLocks/>
              <a:stCxn id="35" idx="2"/>
              <a:endCxn id="16" idx="2"/>
            </p:cNvCxnSpPr>
            <p:nvPr/>
          </p:nvCxnSpPr>
          <p:spPr>
            <a:xfrm flipV="1">
              <a:off x="861603" y="3856488"/>
              <a:ext cx="717414" cy="315762"/>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0947C53-3402-6E47-280F-FF1F331173A7}"/>
                </a:ext>
              </a:extLst>
            </p:cNvPr>
            <p:cNvSpPr txBox="1"/>
            <p:nvPr/>
          </p:nvSpPr>
          <p:spPr>
            <a:xfrm>
              <a:off x="679502" y="3649030"/>
              <a:ext cx="364202" cy="523220"/>
            </a:xfrm>
            <a:prstGeom prst="rect">
              <a:avLst/>
            </a:prstGeom>
            <a:noFill/>
          </p:spPr>
          <p:txBody>
            <a:bodyPr wrap="none" rtlCol="0">
              <a:spAutoFit/>
            </a:bodyPr>
            <a:lstStyle/>
            <a:p>
              <a:r>
                <a:rPr lang="en-US" sz="2800" dirty="0">
                  <a:solidFill>
                    <a:schemeClr val="accent3">
                      <a:lumMod val="60000"/>
                      <a:lumOff val="40000"/>
                    </a:schemeClr>
                  </a:solidFill>
                </a:rPr>
                <a:t>e</a:t>
              </a:r>
            </a:p>
          </p:txBody>
        </p:sp>
      </p:grpSp>
      <p:grpSp>
        <p:nvGrpSpPr>
          <p:cNvPr id="46" name="Group 45">
            <a:extLst>
              <a:ext uri="{FF2B5EF4-FFF2-40B4-BE49-F238E27FC236}">
                <a16:creationId xmlns:a16="http://schemas.microsoft.com/office/drawing/2014/main" id="{6C7C55E0-872D-AD3F-12F8-6FE4A39379C8}"/>
              </a:ext>
            </a:extLst>
          </p:cNvPr>
          <p:cNvGrpSpPr/>
          <p:nvPr/>
        </p:nvGrpSpPr>
        <p:grpSpPr>
          <a:xfrm>
            <a:off x="6360306" y="3384696"/>
            <a:ext cx="4317423" cy="3013698"/>
            <a:chOff x="6360306" y="3384696"/>
            <a:chExt cx="4317423" cy="3013698"/>
          </a:xfrm>
        </p:grpSpPr>
        <p:sp>
          <p:nvSpPr>
            <p:cNvPr id="27" name="Oval 26">
              <a:extLst>
                <a:ext uri="{FF2B5EF4-FFF2-40B4-BE49-F238E27FC236}">
                  <a16:creationId xmlns:a16="http://schemas.microsoft.com/office/drawing/2014/main" id="{FD25B355-EEF6-9C96-58F0-DBD379B8A6A4}"/>
                </a:ext>
              </a:extLst>
            </p:cNvPr>
            <p:cNvSpPr/>
            <p:nvPr/>
          </p:nvSpPr>
          <p:spPr>
            <a:xfrm>
              <a:off x="7438419" y="3384696"/>
              <a:ext cx="943583" cy="943583"/>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1B6D3EE-22EE-7395-C670-4A03CF0120C7}"/>
                </a:ext>
              </a:extLst>
            </p:cNvPr>
            <p:cNvSpPr/>
            <p:nvPr/>
          </p:nvSpPr>
          <p:spPr>
            <a:xfrm>
              <a:off x="7594061" y="5326986"/>
              <a:ext cx="943583" cy="943583"/>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51B2F943-9379-5C0E-EDAD-093B6C983550}"/>
                </a:ext>
              </a:extLst>
            </p:cNvPr>
            <p:cNvSpPr/>
            <p:nvPr/>
          </p:nvSpPr>
          <p:spPr>
            <a:xfrm>
              <a:off x="9500682" y="3588977"/>
              <a:ext cx="943583" cy="943583"/>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486A734-D05E-A559-A85D-B3D14980D053}"/>
                </a:ext>
              </a:extLst>
            </p:cNvPr>
            <p:cNvSpPr/>
            <p:nvPr/>
          </p:nvSpPr>
          <p:spPr>
            <a:xfrm>
              <a:off x="9734146" y="5454811"/>
              <a:ext cx="943583" cy="943583"/>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172634FB-F253-EAE8-D63F-0B6A64C32776}"/>
                </a:ext>
              </a:extLst>
            </p:cNvPr>
            <p:cNvCxnSpPr>
              <a:cxnSpLocks/>
              <a:stCxn id="27" idx="4"/>
              <a:endCxn id="28" idx="0"/>
            </p:cNvCxnSpPr>
            <p:nvPr/>
          </p:nvCxnSpPr>
          <p:spPr>
            <a:xfrm>
              <a:off x="7910211" y="4328279"/>
              <a:ext cx="155642" cy="998707"/>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C7EEAF-CDDF-A52F-861E-059D9752FC7E}"/>
                </a:ext>
              </a:extLst>
            </p:cNvPr>
            <p:cNvCxnSpPr>
              <a:cxnSpLocks/>
              <a:stCxn id="27" idx="6"/>
              <a:endCxn id="29" idx="2"/>
            </p:cNvCxnSpPr>
            <p:nvPr/>
          </p:nvCxnSpPr>
          <p:spPr>
            <a:xfrm>
              <a:off x="8382002" y="3856488"/>
              <a:ext cx="1118680" cy="204281"/>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8C5CB0E-C19C-5C42-7C3B-DF0FE97FB32A}"/>
                </a:ext>
              </a:extLst>
            </p:cNvPr>
            <p:cNvCxnSpPr>
              <a:cxnSpLocks/>
              <a:stCxn id="29" idx="4"/>
              <a:endCxn id="30" idx="0"/>
            </p:cNvCxnSpPr>
            <p:nvPr/>
          </p:nvCxnSpPr>
          <p:spPr>
            <a:xfrm>
              <a:off x="9972474" y="4532560"/>
              <a:ext cx="233464" cy="922251"/>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162F81E-2FB8-4FB9-EA57-97E91D080D0F}"/>
                </a:ext>
              </a:extLst>
            </p:cNvPr>
            <p:cNvCxnSpPr>
              <a:cxnSpLocks/>
              <a:stCxn id="41" idx="2"/>
              <a:endCxn id="27" idx="2"/>
            </p:cNvCxnSpPr>
            <p:nvPr/>
          </p:nvCxnSpPr>
          <p:spPr>
            <a:xfrm flipV="1">
              <a:off x="6542407" y="3856488"/>
              <a:ext cx="896012" cy="498924"/>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CEFD741-DC80-E007-2AFD-A6D3A9F5F1A0}"/>
                </a:ext>
              </a:extLst>
            </p:cNvPr>
            <p:cNvSpPr txBox="1"/>
            <p:nvPr/>
          </p:nvSpPr>
          <p:spPr>
            <a:xfrm>
              <a:off x="6360306" y="3832192"/>
              <a:ext cx="364202" cy="523220"/>
            </a:xfrm>
            <a:prstGeom prst="rect">
              <a:avLst/>
            </a:prstGeom>
            <a:noFill/>
          </p:spPr>
          <p:txBody>
            <a:bodyPr wrap="none" rtlCol="0">
              <a:spAutoFit/>
            </a:bodyPr>
            <a:lstStyle/>
            <a:p>
              <a:r>
                <a:rPr lang="en-US" sz="2800" dirty="0">
                  <a:solidFill>
                    <a:schemeClr val="accent3">
                      <a:lumMod val="60000"/>
                      <a:lumOff val="40000"/>
                    </a:schemeClr>
                  </a:solidFill>
                </a:rPr>
                <a:t>e</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D25F709-F26E-8072-01F8-BA719B28E468}"/>
                  </a:ext>
                </a:extLst>
              </p:cNvPr>
              <p:cNvSpPr txBox="1"/>
              <p:nvPr/>
            </p:nvSpPr>
            <p:spPr>
              <a:xfrm>
                <a:off x="1489607" y="2802454"/>
                <a:ext cx="3221716" cy="369332"/>
              </a:xfrm>
              <a:prstGeom prst="rect">
                <a:avLst/>
              </a:prstGeom>
              <a:noFill/>
            </p:spPr>
            <p:txBody>
              <a:bodyPr wrap="none" rtlCol="0">
                <a:spAutoFit/>
              </a:bodyPr>
              <a:lstStyle/>
              <a:p>
                <a:r>
                  <a:rPr lang="en-US" dirty="0"/>
                  <a:t>Olds </a:t>
                </a:r>
                <a:r>
                  <a:rPr lang="en-US" dirty="0">
                    <a:solidFill>
                      <a:schemeClr val="accent5">
                        <a:lumMod val="60000"/>
                        <a:lumOff val="40000"/>
                      </a:schemeClr>
                    </a:solidFill>
                  </a:rPr>
                  <a:t>subgraph MST T’</a:t>
                </a:r>
                <a:r>
                  <a:rPr lang="en-US" dirty="0">
                    <a:solidFill>
                      <a:schemeClr val="accent2">
                        <a:lumMod val="60000"/>
                        <a:lumOff val="40000"/>
                      </a:schemeClr>
                    </a:solidFill>
                  </a:rPr>
                  <a:t> </a:t>
                </a:r>
                <a:r>
                  <a:rPr lang="en-US" dirty="0"/>
                  <a:t>has cost </a:t>
                </a:r>
                <a14:m>
                  <m:oMath xmlns:m="http://schemas.openxmlformats.org/officeDocument/2006/math">
                    <m:r>
                      <a:rPr lang="en-US" b="0" i="1" smtClean="0">
                        <a:solidFill>
                          <a:schemeClr val="accent5">
                            <a:lumMod val="60000"/>
                            <a:lumOff val="40000"/>
                          </a:schemeClr>
                        </a:solidFill>
                        <a:latin typeface="Cambria Math" panose="02040503050406030204" pitchFamily="18" charset="0"/>
                      </a:rPr>
                      <m:t>𝑐</m:t>
                    </m:r>
                    <m:r>
                      <a:rPr lang="en-US" b="0" i="1" smtClean="0">
                        <a:solidFill>
                          <a:schemeClr val="accent5">
                            <a:lumMod val="60000"/>
                            <a:lumOff val="40000"/>
                          </a:schemeClr>
                        </a:solidFill>
                        <a:latin typeface="Cambria Math" panose="02040503050406030204" pitchFamily="18" charset="0"/>
                      </a:rPr>
                      <m:t>′</m:t>
                    </m:r>
                  </m:oMath>
                </a14:m>
                <a:endParaRPr lang="en-US" dirty="0"/>
              </a:p>
            </p:txBody>
          </p:sp>
        </mc:Choice>
        <mc:Fallback xmlns="">
          <p:sp>
            <p:nvSpPr>
              <p:cNvPr id="43" name="TextBox 42">
                <a:extLst>
                  <a:ext uri="{FF2B5EF4-FFF2-40B4-BE49-F238E27FC236}">
                    <a16:creationId xmlns:a16="http://schemas.microsoft.com/office/drawing/2014/main" id="{8D25F709-F26E-8072-01F8-BA719B28E468}"/>
                  </a:ext>
                </a:extLst>
              </p:cNvPr>
              <p:cNvSpPr txBox="1">
                <a:spLocks noRot="1" noChangeAspect="1" noMove="1" noResize="1" noEditPoints="1" noAdjustHandles="1" noChangeArrowheads="1" noChangeShapeType="1" noTextEdit="1"/>
              </p:cNvSpPr>
              <p:nvPr/>
            </p:nvSpPr>
            <p:spPr>
              <a:xfrm>
                <a:off x="1489607" y="2802454"/>
                <a:ext cx="3221716" cy="369332"/>
              </a:xfrm>
              <a:prstGeom prst="rect">
                <a:avLst/>
              </a:prstGeom>
              <a:blipFill>
                <a:blip r:embed="rId6"/>
                <a:stretch>
                  <a:fillRect l="-1569" t="-6667" b="-26667"/>
                </a:stretch>
              </a:blipFill>
            </p:spPr>
            <p:txBody>
              <a:bodyPr/>
              <a:lstStyle/>
              <a:p>
                <a:r>
                  <a:rPr lang="en-US">
                    <a:noFill/>
                  </a:rPr>
                  <a:t> </a:t>
                </a:r>
              </a:p>
            </p:txBody>
          </p:sp>
        </mc:Fallback>
      </mc:AlternateContent>
    </p:spTree>
    <p:extLst>
      <p:ext uri="{BB962C8B-B14F-4D97-AF65-F5344CB8AC3E}">
        <p14:creationId xmlns:p14="http://schemas.microsoft.com/office/powerpoint/2010/main" val="771026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E6FB-180B-876D-6897-AFF99298B569}"/>
            </a:ext>
          </a:extLst>
        </p:cNvPr>
        <p:cNvGrpSpPr/>
        <p:nvPr/>
      </p:nvGrpSpPr>
      <p:grpSpPr>
        <a:xfrm>
          <a:off x="0" y="0"/>
          <a:ext cx="0" cy="0"/>
          <a:chOff x="0" y="0"/>
          <a:chExt cx="0" cy="0"/>
        </a:xfrm>
      </p:grpSpPr>
      <p:sp>
        <p:nvSpPr>
          <p:cNvPr id="66562" name="Rectangle 2">
            <a:extLst>
              <a:ext uri="{FF2B5EF4-FFF2-40B4-BE49-F238E27FC236}">
                <a16:creationId xmlns:a16="http://schemas.microsoft.com/office/drawing/2014/main" id="{828E1FC4-D88A-939A-EDD4-94CE1927C309}"/>
              </a:ext>
            </a:extLst>
          </p:cNvPr>
          <p:cNvSpPr>
            <a:spLocks noGrp="1" noChangeArrowheads="1"/>
          </p:cNvSpPr>
          <p:nvPr>
            <p:ph type="title"/>
            <p:custDataLst>
              <p:tags r:id="rId1"/>
            </p:custDataLst>
          </p:nvPr>
        </p:nvSpPr>
        <p:spPr>
          <a:xfrm>
            <a:off x="1143001" y="57563"/>
            <a:ext cx="9905998" cy="630860"/>
          </a:xfrm>
        </p:spPr>
        <p:txBody>
          <a:bodyPr>
            <a:normAutofit fontScale="90000"/>
          </a:bodyPr>
          <a:lstStyle/>
          <a:p>
            <a:pPr algn="ctr" eaLnBrk="1" hangingPunct="1"/>
            <a:r>
              <a:rPr lang="en-US" dirty="0"/>
              <a:t>Minimum Spanning Tree: Optimal Substructure</a:t>
            </a:r>
          </a:p>
        </p:txBody>
      </p:sp>
      <p:sp>
        <p:nvSpPr>
          <p:cNvPr id="3" name="Rectangle 3">
            <a:extLst>
              <a:ext uri="{FF2B5EF4-FFF2-40B4-BE49-F238E27FC236}">
                <a16:creationId xmlns:a16="http://schemas.microsoft.com/office/drawing/2014/main" id="{9E750889-F97A-9120-B623-EC1E2EBCC44A}"/>
              </a:ext>
            </a:extLst>
          </p:cNvPr>
          <p:cNvSpPr txBox="1">
            <a:spLocks noChangeArrowheads="1"/>
          </p:cNvSpPr>
          <p:nvPr>
            <p:custDataLst>
              <p:tags r:id="rId2"/>
            </p:custDataLst>
          </p:nvPr>
        </p:nvSpPr>
        <p:spPr>
          <a:xfrm>
            <a:off x="1141412" y="1350340"/>
            <a:ext cx="9905999" cy="555005"/>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ysClr val="windowText" lastClr="000000"/>
                </a:solidFill>
              </a:rPr>
              <a:t>Step 2) Thus, there is a </a:t>
            </a:r>
            <a:r>
              <a:rPr lang="en-US" dirty="0">
                <a:solidFill>
                  <a:schemeClr val="accent2"/>
                </a:solidFill>
              </a:rPr>
              <a:t>better MST T’’ for the subgraph </a:t>
            </a:r>
            <a:r>
              <a:rPr lang="en-US" dirty="0">
                <a:solidFill>
                  <a:sysClr val="windowText" lastClr="000000"/>
                </a:solidFill>
              </a:rPr>
              <a:t>with better </a:t>
            </a:r>
            <a:r>
              <a:rPr lang="en-US" dirty="0">
                <a:solidFill>
                  <a:schemeClr val="accent2"/>
                </a:solidFill>
              </a:rPr>
              <a:t>cost c’’</a:t>
            </a:r>
          </a:p>
        </p:txBody>
      </p:sp>
      <p:sp>
        <p:nvSpPr>
          <p:cNvPr id="4" name="Rectangle 3">
            <a:extLst>
              <a:ext uri="{FF2B5EF4-FFF2-40B4-BE49-F238E27FC236}">
                <a16:creationId xmlns:a16="http://schemas.microsoft.com/office/drawing/2014/main" id="{FC2E975A-9093-DADB-E036-984B601D96B0}"/>
              </a:ext>
            </a:extLst>
          </p:cNvPr>
          <p:cNvSpPr txBox="1">
            <a:spLocks noChangeArrowheads="1"/>
          </p:cNvSpPr>
          <p:nvPr>
            <p:custDataLst>
              <p:tags r:id="rId3"/>
            </p:custDataLst>
          </p:nvPr>
        </p:nvSpPr>
        <p:spPr>
          <a:xfrm>
            <a:off x="1141412" y="710599"/>
            <a:ext cx="9905999" cy="555005"/>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ysClr val="windowText" lastClr="000000"/>
                </a:solidFill>
              </a:rPr>
              <a:t>Step 1) Assume, </a:t>
            </a:r>
            <a:r>
              <a:rPr lang="en-US" dirty="0" err="1">
                <a:solidFill>
                  <a:sysClr val="windowText" lastClr="000000"/>
                </a:solidFill>
              </a:rPr>
              <a:t>f.s.o.c</a:t>
            </a:r>
            <a:r>
              <a:rPr lang="en-US" dirty="0">
                <a:solidFill>
                  <a:sysClr val="windowText" lastClr="000000"/>
                </a:solidFill>
              </a:rPr>
              <a:t>., that </a:t>
            </a:r>
            <a:r>
              <a:rPr lang="en-US" dirty="0">
                <a:solidFill>
                  <a:schemeClr val="accent1"/>
                </a:solidFill>
              </a:rPr>
              <a:t>MST T</a:t>
            </a:r>
            <a:r>
              <a:rPr lang="en-US" dirty="0">
                <a:solidFill>
                  <a:sysClr val="windowText" lastClr="000000"/>
                </a:solidFill>
              </a:rPr>
              <a:t> is optimal but </a:t>
            </a:r>
            <a:r>
              <a:rPr lang="en-US" dirty="0">
                <a:solidFill>
                  <a:schemeClr val="accent5"/>
                </a:solidFill>
              </a:rPr>
              <a:t>sub-MST T’ is NOT optimal</a:t>
            </a:r>
          </a:p>
        </p:txBody>
      </p:sp>
      <p:grpSp>
        <p:nvGrpSpPr>
          <p:cNvPr id="46" name="Group 45">
            <a:extLst>
              <a:ext uri="{FF2B5EF4-FFF2-40B4-BE49-F238E27FC236}">
                <a16:creationId xmlns:a16="http://schemas.microsoft.com/office/drawing/2014/main" id="{D911CE7A-D56E-B652-1FBE-ED80198E6A9E}"/>
              </a:ext>
            </a:extLst>
          </p:cNvPr>
          <p:cNvGrpSpPr/>
          <p:nvPr/>
        </p:nvGrpSpPr>
        <p:grpSpPr>
          <a:xfrm>
            <a:off x="7438419" y="3384696"/>
            <a:ext cx="3239310" cy="3013698"/>
            <a:chOff x="7438419" y="3384696"/>
            <a:chExt cx="3239310" cy="3013698"/>
          </a:xfrm>
        </p:grpSpPr>
        <p:sp>
          <p:nvSpPr>
            <p:cNvPr id="27" name="Oval 26">
              <a:extLst>
                <a:ext uri="{FF2B5EF4-FFF2-40B4-BE49-F238E27FC236}">
                  <a16:creationId xmlns:a16="http://schemas.microsoft.com/office/drawing/2014/main" id="{9FFA3A39-8864-6EB6-2AF5-A3531F0D7ECE}"/>
                </a:ext>
              </a:extLst>
            </p:cNvPr>
            <p:cNvSpPr/>
            <p:nvPr/>
          </p:nvSpPr>
          <p:spPr>
            <a:xfrm>
              <a:off x="7438419" y="3384696"/>
              <a:ext cx="943583" cy="943583"/>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C6F57BF-E657-4076-D498-D6FAE179C2CA}"/>
                </a:ext>
              </a:extLst>
            </p:cNvPr>
            <p:cNvSpPr/>
            <p:nvPr/>
          </p:nvSpPr>
          <p:spPr>
            <a:xfrm>
              <a:off x="7594061" y="5326986"/>
              <a:ext cx="943583" cy="943583"/>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10DECF3-E822-8109-A232-028336162511}"/>
                </a:ext>
              </a:extLst>
            </p:cNvPr>
            <p:cNvSpPr/>
            <p:nvPr/>
          </p:nvSpPr>
          <p:spPr>
            <a:xfrm>
              <a:off x="9500682" y="3588977"/>
              <a:ext cx="943583" cy="943583"/>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6C702A5-7F51-B03E-71C3-31FC1481EF8F}"/>
                </a:ext>
              </a:extLst>
            </p:cNvPr>
            <p:cNvSpPr/>
            <p:nvPr/>
          </p:nvSpPr>
          <p:spPr>
            <a:xfrm>
              <a:off x="9734146" y="5454811"/>
              <a:ext cx="943583" cy="943583"/>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15DE6F67-9E49-2E18-C420-B4A051E9B837}"/>
                </a:ext>
              </a:extLst>
            </p:cNvPr>
            <p:cNvCxnSpPr>
              <a:cxnSpLocks/>
              <a:stCxn id="27" idx="4"/>
              <a:endCxn id="28" idx="0"/>
            </p:cNvCxnSpPr>
            <p:nvPr/>
          </p:nvCxnSpPr>
          <p:spPr>
            <a:xfrm>
              <a:off x="7910211" y="4328279"/>
              <a:ext cx="155642" cy="998707"/>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DF5116B-EE28-CAD6-383E-7085A8CC4F00}"/>
                </a:ext>
              </a:extLst>
            </p:cNvPr>
            <p:cNvCxnSpPr>
              <a:cxnSpLocks/>
              <a:stCxn id="27" idx="6"/>
              <a:endCxn id="29" idx="2"/>
            </p:cNvCxnSpPr>
            <p:nvPr/>
          </p:nvCxnSpPr>
          <p:spPr>
            <a:xfrm>
              <a:off x="8382002" y="3856488"/>
              <a:ext cx="1118680" cy="204281"/>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EFF69AF-025F-0368-2870-D63605E4CD5D}"/>
                </a:ext>
              </a:extLst>
            </p:cNvPr>
            <p:cNvCxnSpPr>
              <a:cxnSpLocks/>
              <a:stCxn id="29" idx="4"/>
              <a:endCxn id="30" idx="0"/>
            </p:cNvCxnSpPr>
            <p:nvPr/>
          </p:nvCxnSpPr>
          <p:spPr>
            <a:xfrm>
              <a:off x="9972474" y="4532560"/>
              <a:ext cx="233464" cy="922251"/>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2" name="Rectangle 3">
            <a:extLst>
              <a:ext uri="{FF2B5EF4-FFF2-40B4-BE49-F238E27FC236}">
                <a16:creationId xmlns:a16="http://schemas.microsoft.com/office/drawing/2014/main" id="{0462E373-4516-927C-0440-CAF89C3260BA}"/>
              </a:ext>
            </a:extLst>
          </p:cNvPr>
          <p:cNvSpPr txBox="1">
            <a:spLocks noChangeArrowheads="1"/>
          </p:cNvSpPr>
          <p:nvPr>
            <p:custDataLst>
              <p:tags r:id="rId4"/>
            </p:custDataLst>
          </p:nvPr>
        </p:nvSpPr>
        <p:spPr>
          <a:xfrm>
            <a:off x="1141412" y="1990081"/>
            <a:ext cx="9905999" cy="555005"/>
          </a:xfrm>
          <a:prstGeom prst="rect">
            <a:avLst/>
          </a:prstGeom>
          <a:solidFill>
            <a:schemeClr val="tx1">
              <a:lumMod val="95000"/>
            </a:schemeClr>
          </a:solidFill>
          <a:ln>
            <a:solidFill>
              <a:schemeClr val="bg1"/>
            </a:solidFill>
          </a:ln>
        </p:spPr>
        <p:txBody>
          <a:bodyPr vert="horz" lIns="91440" tIns="45720" rIns="91440" bIns="45720" rtlCol="0" anchor="ctr">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ysClr val="windowText" lastClr="000000"/>
                </a:solidFill>
              </a:rPr>
              <a:t>Step 3) Concatenate </a:t>
            </a:r>
            <a:r>
              <a:rPr lang="en-US" dirty="0">
                <a:solidFill>
                  <a:schemeClr val="accent2"/>
                </a:solidFill>
              </a:rPr>
              <a:t>Trees T’’ </a:t>
            </a:r>
            <a:r>
              <a:rPr lang="en-US" dirty="0">
                <a:solidFill>
                  <a:sysClr val="windowText" lastClr="000000"/>
                </a:solidFill>
              </a:rPr>
              <a:t>with </a:t>
            </a:r>
            <a:r>
              <a:rPr lang="en-US" dirty="0">
                <a:solidFill>
                  <a:schemeClr val="accent1"/>
                </a:solidFill>
              </a:rPr>
              <a:t>old MST</a:t>
            </a:r>
            <a:r>
              <a:rPr lang="en-US" dirty="0">
                <a:solidFill>
                  <a:sysClr val="windowText" lastClr="000000"/>
                </a:solidFill>
              </a:rPr>
              <a:t> to get </a:t>
            </a:r>
            <a:r>
              <a:rPr lang="en-US" b="1" i="1" u="sng" dirty="0">
                <a:solidFill>
                  <a:sysClr val="windowText" lastClr="000000"/>
                </a:solidFill>
              </a:rPr>
              <a:t>MST that is better than optimal</a:t>
            </a:r>
            <a:r>
              <a:rPr lang="en-US" dirty="0">
                <a:solidFill>
                  <a:sysClr val="windowText" lastClr="000000"/>
                </a:solidFill>
              </a:rPr>
              <a:t>. Contradiction!</a:t>
            </a:r>
            <a:endParaRPr lang="en-US" dirty="0">
              <a:solidFill>
                <a:schemeClr val="accent2"/>
              </a:solidFill>
            </a:endParaRPr>
          </a:p>
        </p:txBody>
      </p:sp>
      <p:grpSp>
        <p:nvGrpSpPr>
          <p:cNvPr id="15" name="Group 14">
            <a:extLst>
              <a:ext uri="{FF2B5EF4-FFF2-40B4-BE49-F238E27FC236}">
                <a16:creationId xmlns:a16="http://schemas.microsoft.com/office/drawing/2014/main" id="{D7A08283-EB8E-C510-3E75-43A601C5E23F}"/>
              </a:ext>
            </a:extLst>
          </p:cNvPr>
          <p:cNvGrpSpPr/>
          <p:nvPr/>
        </p:nvGrpSpPr>
        <p:grpSpPr>
          <a:xfrm>
            <a:off x="2649978" y="3429000"/>
            <a:ext cx="4822054" cy="3156000"/>
            <a:chOff x="2649978" y="3429000"/>
            <a:chExt cx="4822054" cy="3156000"/>
          </a:xfrm>
        </p:grpSpPr>
        <p:sp>
          <p:nvSpPr>
            <p:cNvPr id="6" name="Oval 5">
              <a:extLst>
                <a:ext uri="{FF2B5EF4-FFF2-40B4-BE49-F238E27FC236}">
                  <a16:creationId xmlns:a16="http://schemas.microsoft.com/office/drawing/2014/main" id="{721935B5-3513-7D7E-4CB5-5A47289AC7BE}"/>
                </a:ext>
              </a:extLst>
            </p:cNvPr>
            <p:cNvSpPr/>
            <p:nvPr/>
          </p:nvSpPr>
          <p:spPr>
            <a:xfrm>
              <a:off x="3259955" y="3429000"/>
              <a:ext cx="943583" cy="943583"/>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E6FB6AD-5714-20FF-7417-11ED01ADAD6B}"/>
                </a:ext>
              </a:extLst>
            </p:cNvPr>
            <p:cNvSpPr/>
            <p:nvPr/>
          </p:nvSpPr>
          <p:spPr>
            <a:xfrm>
              <a:off x="2649978" y="5641417"/>
              <a:ext cx="943583" cy="943583"/>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C5EAEA6-CA44-A2BC-B7E6-583ABA484966}"/>
                </a:ext>
              </a:extLst>
            </p:cNvPr>
            <p:cNvSpPr/>
            <p:nvPr/>
          </p:nvSpPr>
          <p:spPr>
            <a:xfrm>
              <a:off x="4537144" y="4860218"/>
              <a:ext cx="943583" cy="943583"/>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AFC4BFC8-C142-ECA4-8606-AC1270A023F5}"/>
                </a:ext>
              </a:extLst>
            </p:cNvPr>
            <p:cNvCxnSpPr>
              <a:stCxn id="6" idx="5"/>
              <a:endCxn id="9" idx="1"/>
            </p:cNvCxnSpPr>
            <p:nvPr/>
          </p:nvCxnSpPr>
          <p:spPr>
            <a:xfrm>
              <a:off x="4065353" y="4234398"/>
              <a:ext cx="609976" cy="764005"/>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DFA46AF-EF43-9A9A-205B-5DEF02EAE5CD}"/>
                </a:ext>
              </a:extLst>
            </p:cNvPr>
            <p:cNvCxnSpPr>
              <a:cxnSpLocks/>
              <a:stCxn id="7" idx="6"/>
              <a:endCxn id="9" idx="3"/>
            </p:cNvCxnSpPr>
            <p:nvPr/>
          </p:nvCxnSpPr>
          <p:spPr>
            <a:xfrm flipV="1">
              <a:off x="3593561" y="5665616"/>
              <a:ext cx="1081768" cy="447593"/>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3DF3540-DFAE-A1E8-7FDE-286B770EE990}"/>
                </a:ext>
              </a:extLst>
            </p:cNvPr>
            <p:cNvCxnSpPr>
              <a:cxnSpLocks/>
              <a:stCxn id="9" idx="7"/>
            </p:cNvCxnSpPr>
            <p:nvPr/>
          </p:nvCxnSpPr>
          <p:spPr>
            <a:xfrm flipV="1">
              <a:off x="5342542" y="4043095"/>
              <a:ext cx="2129490" cy="955308"/>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214A2B3-F84C-4607-DF30-8D902F28A459}"/>
                </a:ext>
              </a:extLst>
            </p:cNvPr>
            <p:cNvSpPr txBox="1"/>
            <p:nvPr/>
          </p:nvSpPr>
          <p:spPr>
            <a:xfrm>
              <a:off x="6162039" y="3994455"/>
              <a:ext cx="364202" cy="523220"/>
            </a:xfrm>
            <a:prstGeom prst="rect">
              <a:avLst/>
            </a:prstGeom>
            <a:noFill/>
          </p:spPr>
          <p:txBody>
            <a:bodyPr wrap="none" rtlCol="0">
              <a:spAutoFit/>
            </a:bodyPr>
            <a:lstStyle/>
            <a:p>
              <a:r>
                <a:rPr lang="en-US" sz="2800" dirty="0">
                  <a:solidFill>
                    <a:schemeClr val="accent3">
                      <a:lumMod val="60000"/>
                      <a:lumOff val="40000"/>
                    </a:schemeClr>
                  </a:solidFill>
                </a:rPr>
                <a:t>e</a:t>
              </a:r>
            </a:p>
          </p:txBody>
        </p:sp>
      </p:grpSp>
      <p:sp>
        <p:nvSpPr>
          <p:cNvPr id="20" name="TextBox 19">
            <a:extLst>
              <a:ext uri="{FF2B5EF4-FFF2-40B4-BE49-F238E27FC236}">
                <a16:creationId xmlns:a16="http://schemas.microsoft.com/office/drawing/2014/main" id="{1AEC9803-FB5C-86C7-0B72-2B40D4F6CFA0}"/>
              </a:ext>
            </a:extLst>
          </p:cNvPr>
          <p:cNvSpPr txBox="1"/>
          <p:nvPr/>
        </p:nvSpPr>
        <p:spPr>
          <a:xfrm>
            <a:off x="4289038" y="2777436"/>
            <a:ext cx="3444451" cy="830997"/>
          </a:xfrm>
          <a:prstGeom prst="rect">
            <a:avLst/>
          </a:prstGeom>
          <a:noFill/>
        </p:spPr>
        <p:txBody>
          <a:bodyPr wrap="square" rtlCol="0">
            <a:spAutoFit/>
          </a:bodyPr>
          <a:lstStyle/>
          <a:p>
            <a:r>
              <a:rPr lang="en-US" sz="2400" dirty="0"/>
              <a:t>Total cost is </a:t>
            </a:r>
            <a:r>
              <a:rPr lang="en-US" sz="2400" dirty="0">
                <a:solidFill>
                  <a:schemeClr val="accent1">
                    <a:lumMod val="60000"/>
                    <a:lumOff val="40000"/>
                  </a:schemeClr>
                </a:solidFill>
              </a:rPr>
              <a:t>c</a:t>
            </a:r>
            <a:r>
              <a:rPr lang="en-US" sz="2400" dirty="0"/>
              <a:t> – </a:t>
            </a:r>
            <a:r>
              <a:rPr lang="en-US" sz="2400" dirty="0">
                <a:solidFill>
                  <a:schemeClr val="accent5">
                    <a:lumMod val="60000"/>
                    <a:lumOff val="40000"/>
                  </a:schemeClr>
                </a:solidFill>
              </a:rPr>
              <a:t>c’</a:t>
            </a:r>
            <a:r>
              <a:rPr lang="en-US" sz="2400" dirty="0"/>
              <a:t> + </a:t>
            </a:r>
            <a:r>
              <a:rPr lang="en-US" sz="2400" dirty="0">
                <a:solidFill>
                  <a:schemeClr val="accent2">
                    <a:lumMod val="60000"/>
                    <a:lumOff val="40000"/>
                  </a:schemeClr>
                </a:solidFill>
              </a:rPr>
              <a:t>c’’</a:t>
            </a:r>
            <a:r>
              <a:rPr lang="en-US" sz="2400" dirty="0"/>
              <a:t> &lt; </a:t>
            </a:r>
            <a:r>
              <a:rPr lang="en-US" sz="2400" dirty="0">
                <a:solidFill>
                  <a:schemeClr val="accent1">
                    <a:lumMod val="60000"/>
                    <a:lumOff val="40000"/>
                  </a:schemeClr>
                </a:solidFill>
              </a:rPr>
              <a:t>c</a:t>
            </a:r>
            <a:br>
              <a:rPr lang="en-US" sz="2400" dirty="0">
                <a:solidFill>
                  <a:schemeClr val="accent1">
                    <a:lumMod val="60000"/>
                    <a:lumOff val="40000"/>
                  </a:schemeClr>
                </a:solidFill>
              </a:rPr>
            </a:br>
            <a:r>
              <a:rPr lang="en-US" sz="2400" dirty="0">
                <a:solidFill>
                  <a:schemeClr val="tx1">
                    <a:lumMod val="95000"/>
                  </a:schemeClr>
                </a:solidFill>
              </a:rPr>
              <a:t>Contradiction!</a:t>
            </a:r>
          </a:p>
        </p:txBody>
      </p:sp>
    </p:spTree>
    <p:extLst>
      <p:ext uri="{BB962C8B-B14F-4D97-AF65-F5344CB8AC3E}">
        <p14:creationId xmlns:p14="http://schemas.microsoft.com/office/powerpoint/2010/main" val="671391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9D88-06F6-2316-97DB-D8352D51A19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1ED4F9-6046-57E1-1BC6-1B65C0F674B7}"/>
              </a:ext>
            </a:extLst>
          </p:cNvPr>
          <p:cNvSpPr>
            <a:spLocks noGrp="1"/>
          </p:cNvSpPr>
          <p:nvPr>
            <p:ph type="title"/>
          </p:nvPr>
        </p:nvSpPr>
        <p:spPr/>
        <p:txBody>
          <a:bodyPr/>
          <a:lstStyle/>
          <a:p>
            <a:pPr algn="ctr"/>
            <a:r>
              <a:rPr lang="en-US" dirty="0"/>
              <a:t>Prim’s Algorithm</a:t>
            </a:r>
          </a:p>
        </p:txBody>
      </p:sp>
      <p:sp>
        <p:nvSpPr>
          <p:cNvPr id="6" name="Text Placeholder 5">
            <a:extLst>
              <a:ext uri="{FF2B5EF4-FFF2-40B4-BE49-F238E27FC236}">
                <a16:creationId xmlns:a16="http://schemas.microsoft.com/office/drawing/2014/main" id="{727BC550-1737-D663-C412-1EB25417CA4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52257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D87EC-79E9-AB35-9F24-4646BCF14327}"/>
            </a:ext>
          </a:extLst>
        </p:cNvPr>
        <p:cNvGrpSpPr/>
        <p:nvPr/>
      </p:nvGrpSpPr>
      <p:grpSpPr>
        <a:xfrm>
          <a:off x="0" y="0"/>
          <a:ext cx="0" cy="0"/>
          <a:chOff x="0" y="0"/>
          <a:chExt cx="0" cy="0"/>
        </a:xfrm>
      </p:grpSpPr>
      <p:sp>
        <p:nvSpPr>
          <p:cNvPr id="67586" name="Rectangle 2">
            <a:extLst>
              <a:ext uri="{FF2B5EF4-FFF2-40B4-BE49-F238E27FC236}">
                <a16:creationId xmlns:a16="http://schemas.microsoft.com/office/drawing/2014/main" id="{5C2B7A8B-262D-FF34-F6B8-1106F0E91FBB}"/>
              </a:ext>
            </a:extLst>
          </p:cNvPr>
          <p:cNvSpPr>
            <a:spLocks noGrp="1" noChangeArrowheads="1"/>
          </p:cNvSpPr>
          <p:nvPr>
            <p:ph type="title" idx="4294967295"/>
            <p:custDataLst>
              <p:tags r:id="rId1"/>
            </p:custDataLst>
          </p:nvPr>
        </p:nvSpPr>
        <p:spPr>
          <a:xfrm>
            <a:off x="1524000" y="274638"/>
            <a:ext cx="9485014" cy="720723"/>
          </a:xfrm>
        </p:spPr>
        <p:txBody>
          <a:bodyPr/>
          <a:lstStyle/>
          <a:p>
            <a:pPr algn="ctr" eaLnBrk="1" hangingPunct="1"/>
            <a:r>
              <a:rPr lang="en-US" dirty="0"/>
              <a:t>Prim’s Algorithm</a:t>
            </a:r>
          </a:p>
        </p:txBody>
      </p:sp>
      <p:grpSp>
        <p:nvGrpSpPr>
          <p:cNvPr id="67624" name="Group 67623">
            <a:extLst>
              <a:ext uri="{FF2B5EF4-FFF2-40B4-BE49-F238E27FC236}">
                <a16:creationId xmlns:a16="http://schemas.microsoft.com/office/drawing/2014/main" id="{C873A88A-CB1A-9150-477C-04A6FC83338E}"/>
              </a:ext>
            </a:extLst>
          </p:cNvPr>
          <p:cNvGrpSpPr/>
          <p:nvPr/>
        </p:nvGrpSpPr>
        <p:grpSpPr>
          <a:xfrm>
            <a:off x="4246263" y="1241111"/>
            <a:ext cx="3699473" cy="3084115"/>
            <a:chOff x="7710488" y="2454275"/>
            <a:chExt cx="3699473" cy="3084115"/>
          </a:xfrm>
        </p:grpSpPr>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8AFB0FE2-8D28-14D2-46F1-98A5E94079BF}"/>
                    </a:ext>
                  </a:extLst>
                </p:cNvPr>
                <p:cNvSpPr/>
                <p:nvPr/>
              </p:nvSpPr>
              <p:spPr>
                <a:xfrm>
                  <a:off x="8290323" y="2575321"/>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0</m:t>
                            </m:r>
                          </m:sub>
                        </m:sSub>
                      </m:oMath>
                    </m:oMathPara>
                  </a14:m>
                  <a:endParaRPr lang="en-US" dirty="0">
                    <a:solidFill>
                      <a:schemeClr val="bg1"/>
                    </a:solidFill>
                  </a:endParaRPr>
                </a:p>
              </p:txBody>
            </p:sp>
          </mc:Choice>
          <mc:Fallback xmlns="">
            <p:sp>
              <p:nvSpPr>
                <p:cNvPr id="3" name="Oval 2">
                  <a:extLst>
                    <a:ext uri="{FF2B5EF4-FFF2-40B4-BE49-F238E27FC236}">
                      <a16:creationId xmlns:a16="http://schemas.microsoft.com/office/drawing/2014/main" id="{8AFB0FE2-8D28-14D2-46F1-98A5E94079BF}"/>
                    </a:ext>
                  </a:extLst>
                </p:cNvPr>
                <p:cNvSpPr>
                  <a:spLocks noRot="1" noChangeAspect="1" noMove="1" noResize="1" noEditPoints="1" noAdjustHandles="1" noChangeArrowheads="1" noChangeShapeType="1" noTextEdit="1"/>
                </p:cNvSpPr>
                <p:nvPr/>
              </p:nvSpPr>
              <p:spPr>
                <a:xfrm>
                  <a:off x="8290323" y="2575321"/>
                  <a:ext cx="465931" cy="465931"/>
                </a:xfrm>
                <a:prstGeom prst="ellipse">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49177708-6389-B2F4-623E-FF5818EA0F34}"/>
                    </a:ext>
                  </a:extLst>
                </p:cNvPr>
                <p:cNvSpPr/>
                <p:nvPr/>
              </p:nvSpPr>
              <p:spPr>
                <a:xfrm>
                  <a:off x="7710488" y="3698060"/>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2</m:t>
                            </m:r>
                          </m:sub>
                        </m:sSub>
                      </m:oMath>
                    </m:oMathPara>
                  </a14:m>
                  <a:endParaRPr lang="en-US" dirty="0"/>
                </a:p>
              </p:txBody>
            </p:sp>
          </mc:Choice>
          <mc:Fallback xmlns="">
            <p:sp>
              <p:nvSpPr>
                <p:cNvPr id="4" name="Oval 3">
                  <a:extLst>
                    <a:ext uri="{FF2B5EF4-FFF2-40B4-BE49-F238E27FC236}">
                      <a16:creationId xmlns:a16="http://schemas.microsoft.com/office/drawing/2014/main" id="{49177708-6389-B2F4-623E-FF5818EA0F34}"/>
                    </a:ext>
                  </a:extLst>
                </p:cNvPr>
                <p:cNvSpPr>
                  <a:spLocks noRot="1" noChangeAspect="1" noMove="1" noResize="1" noEditPoints="1" noAdjustHandles="1" noChangeArrowheads="1" noChangeShapeType="1" noTextEdit="1"/>
                </p:cNvSpPr>
                <p:nvPr/>
              </p:nvSpPr>
              <p:spPr>
                <a:xfrm>
                  <a:off x="7710488" y="3698060"/>
                  <a:ext cx="465931" cy="465931"/>
                </a:xfrm>
                <a:prstGeom prst="ellipse">
                  <a:avLst/>
                </a:prstGeom>
                <a:blipFill>
                  <a:blip r:embed="rId1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906D3BE0-6E14-B924-E402-4E314894F693}"/>
                    </a:ext>
                  </a:extLst>
                </p:cNvPr>
                <p:cNvSpPr/>
                <p:nvPr/>
              </p:nvSpPr>
              <p:spPr>
                <a:xfrm>
                  <a:off x="9331551" y="369805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5" name="Oval 4">
                  <a:extLst>
                    <a:ext uri="{FF2B5EF4-FFF2-40B4-BE49-F238E27FC236}">
                      <a16:creationId xmlns:a16="http://schemas.microsoft.com/office/drawing/2014/main" id="{906D3BE0-6E14-B924-E402-4E314894F693}"/>
                    </a:ext>
                  </a:extLst>
                </p:cNvPr>
                <p:cNvSpPr>
                  <a:spLocks noRot="1" noChangeAspect="1" noMove="1" noResize="1" noEditPoints="1" noAdjustHandles="1" noChangeArrowheads="1" noChangeShapeType="1" noTextEdit="1"/>
                </p:cNvSpPr>
                <p:nvPr/>
              </p:nvSpPr>
              <p:spPr>
                <a:xfrm>
                  <a:off x="9331551" y="3698059"/>
                  <a:ext cx="465931" cy="465931"/>
                </a:xfrm>
                <a:prstGeom prst="ellipse">
                  <a:avLst/>
                </a:prstGeom>
                <a:blipFill>
                  <a:blip r:embed="rId1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122568CA-579E-4618-4941-12722BA5E262}"/>
                    </a:ext>
                  </a:extLst>
                </p:cNvPr>
                <p:cNvSpPr/>
                <p:nvPr/>
              </p:nvSpPr>
              <p:spPr>
                <a:xfrm>
                  <a:off x="10351904" y="253930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6" name="Oval 5">
                  <a:extLst>
                    <a:ext uri="{FF2B5EF4-FFF2-40B4-BE49-F238E27FC236}">
                      <a16:creationId xmlns:a16="http://schemas.microsoft.com/office/drawing/2014/main" id="{122568CA-579E-4618-4941-12722BA5E262}"/>
                    </a:ext>
                  </a:extLst>
                </p:cNvPr>
                <p:cNvSpPr>
                  <a:spLocks noRot="1" noChangeAspect="1" noMove="1" noResize="1" noEditPoints="1" noAdjustHandles="1" noChangeArrowheads="1" noChangeShapeType="1" noTextEdit="1"/>
                </p:cNvSpPr>
                <p:nvPr/>
              </p:nvSpPr>
              <p:spPr>
                <a:xfrm>
                  <a:off x="10351904" y="2539309"/>
                  <a:ext cx="465931" cy="465931"/>
                </a:xfrm>
                <a:prstGeom prst="ellipse">
                  <a:avLst/>
                </a:prstGeom>
                <a:blipFill>
                  <a:blip r:embed="rId1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BCE3D052-4C18-2616-EE3C-80EFD6FAD8C1}"/>
                    </a:ext>
                  </a:extLst>
                </p:cNvPr>
                <p:cNvSpPr/>
                <p:nvPr/>
              </p:nvSpPr>
              <p:spPr>
                <a:xfrm>
                  <a:off x="10909711" y="368717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7" name="Oval 6">
                  <a:extLst>
                    <a:ext uri="{FF2B5EF4-FFF2-40B4-BE49-F238E27FC236}">
                      <a16:creationId xmlns:a16="http://schemas.microsoft.com/office/drawing/2014/main" id="{BCE3D052-4C18-2616-EE3C-80EFD6FAD8C1}"/>
                    </a:ext>
                  </a:extLst>
                </p:cNvPr>
                <p:cNvSpPr>
                  <a:spLocks noRot="1" noChangeAspect="1" noMove="1" noResize="1" noEditPoints="1" noAdjustHandles="1" noChangeArrowheads="1" noChangeShapeType="1" noTextEdit="1"/>
                </p:cNvSpPr>
                <p:nvPr/>
              </p:nvSpPr>
              <p:spPr>
                <a:xfrm>
                  <a:off x="10909711" y="3687173"/>
                  <a:ext cx="465931" cy="465931"/>
                </a:xfrm>
                <a:prstGeom prst="ellipse">
                  <a:avLst/>
                </a:prstGeom>
                <a:blipFill>
                  <a:blip r:embed="rId1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8C27CB63-1D26-E013-FDA6-E96FFFDF4665}"/>
                    </a:ext>
                  </a:extLst>
                </p:cNvPr>
                <p:cNvSpPr/>
                <p:nvPr/>
              </p:nvSpPr>
              <p:spPr>
                <a:xfrm>
                  <a:off x="8756254" y="5042694"/>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8" name="Oval 7">
                  <a:extLst>
                    <a:ext uri="{FF2B5EF4-FFF2-40B4-BE49-F238E27FC236}">
                      <a16:creationId xmlns:a16="http://schemas.microsoft.com/office/drawing/2014/main" id="{8C27CB63-1D26-E013-FDA6-E96FFFDF4665}"/>
                    </a:ext>
                  </a:extLst>
                </p:cNvPr>
                <p:cNvSpPr>
                  <a:spLocks noRot="1" noChangeAspect="1" noMove="1" noResize="1" noEditPoints="1" noAdjustHandles="1" noChangeArrowheads="1" noChangeShapeType="1" noTextEdit="1"/>
                </p:cNvSpPr>
                <p:nvPr/>
              </p:nvSpPr>
              <p:spPr>
                <a:xfrm>
                  <a:off x="8756254" y="5042694"/>
                  <a:ext cx="465931" cy="465931"/>
                </a:xfrm>
                <a:prstGeom prst="ellipse">
                  <a:avLst/>
                </a:prstGeom>
                <a:blipFill>
                  <a:blip r:embed="rId2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D06587F1-112D-D493-53CB-0198C3A2621B}"/>
                    </a:ext>
                  </a:extLst>
                </p:cNvPr>
                <p:cNvSpPr/>
                <p:nvPr/>
              </p:nvSpPr>
              <p:spPr>
                <a:xfrm>
                  <a:off x="10446161" y="507245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6</m:t>
                            </m:r>
                          </m:sub>
                        </m:sSub>
                      </m:oMath>
                    </m:oMathPara>
                  </a14:m>
                  <a:endParaRPr lang="en-US" dirty="0">
                    <a:solidFill>
                      <a:schemeClr val="bg1"/>
                    </a:solidFill>
                  </a:endParaRPr>
                </a:p>
              </p:txBody>
            </p:sp>
          </mc:Choice>
          <mc:Fallback xmlns="">
            <p:sp>
              <p:nvSpPr>
                <p:cNvPr id="9" name="Oval 8">
                  <a:extLst>
                    <a:ext uri="{FF2B5EF4-FFF2-40B4-BE49-F238E27FC236}">
                      <a16:creationId xmlns:a16="http://schemas.microsoft.com/office/drawing/2014/main" id="{D06587F1-112D-D493-53CB-0198C3A2621B}"/>
                    </a:ext>
                  </a:extLst>
                </p:cNvPr>
                <p:cNvSpPr>
                  <a:spLocks noRot="1" noChangeAspect="1" noMove="1" noResize="1" noEditPoints="1" noAdjustHandles="1" noChangeArrowheads="1" noChangeShapeType="1" noTextEdit="1"/>
                </p:cNvSpPr>
                <p:nvPr/>
              </p:nvSpPr>
              <p:spPr>
                <a:xfrm>
                  <a:off x="10446161" y="5072459"/>
                  <a:ext cx="465931" cy="465931"/>
                </a:xfrm>
                <a:prstGeom prst="ellipse">
                  <a:avLst/>
                </a:prstGeom>
                <a:blipFill>
                  <a:blip r:embed="rId21"/>
                  <a:stretch>
                    <a:fillRect/>
                  </a:stretch>
                </a:blipFill>
                <a:ln>
                  <a:solidFill>
                    <a:schemeClr val="bg1"/>
                  </a:solidFill>
                </a:ln>
              </p:spPr>
              <p:txBody>
                <a:bodyPr/>
                <a:lstStyle/>
                <a:p>
                  <a:r>
                    <a:rPr lang="en-US">
                      <a:noFill/>
                    </a:rPr>
                    <a:t> </a:t>
                  </a:r>
                </a:p>
              </p:txBody>
            </p:sp>
          </mc:Fallback>
        </mc:AlternateContent>
        <p:sp>
          <p:nvSpPr>
            <p:cNvPr id="22" name="Text Box 27">
              <a:extLst>
                <a:ext uri="{FF2B5EF4-FFF2-40B4-BE49-F238E27FC236}">
                  <a16:creationId xmlns:a16="http://schemas.microsoft.com/office/drawing/2014/main" id="{9CB0CA99-E0A6-E46B-C4FD-23678888B3CE}"/>
                </a:ext>
              </a:extLst>
            </p:cNvPr>
            <p:cNvSpPr txBox="1">
              <a:spLocks noChangeArrowheads="1"/>
            </p:cNvSpPr>
            <p:nvPr>
              <p:custDataLst>
                <p:tags r:id="rId2"/>
              </p:custDataLst>
            </p:nvPr>
          </p:nvSpPr>
          <p:spPr bwMode="auto">
            <a:xfrm>
              <a:off x="7821702" y="3021806"/>
              <a:ext cx="306494" cy="369332"/>
            </a:xfrm>
            <a:prstGeom prst="rect">
              <a:avLst/>
            </a:prstGeom>
            <a:noFill/>
            <a:ln w="9525">
              <a:noFill/>
              <a:miter lim="800000"/>
              <a:headEnd/>
              <a:tailEnd/>
            </a:ln>
          </p:spPr>
          <p:txBody>
            <a:bodyPr wrap="none">
              <a:spAutoFit/>
            </a:bodyPr>
            <a:lstStyle/>
            <a:p>
              <a:r>
                <a:rPr lang="en-US" b="1" dirty="0"/>
                <a:t>4</a:t>
              </a:r>
            </a:p>
          </p:txBody>
        </p:sp>
        <p:sp>
          <p:nvSpPr>
            <p:cNvPr id="23" name="Text Box 27">
              <a:extLst>
                <a:ext uri="{FF2B5EF4-FFF2-40B4-BE49-F238E27FC236}">
                  <a16:creationId xmlns:a16="http://schemas.microsoft.com/office/drawing/2014/main" id="{B8520BEE-77AA-31C5-BDC7-730443066B49}"/>
                </a:ext>
              </a:extLst>
            </p:cNvPr>
            <p:cNvSpPr txBox="1">
              <a:spLocks noChangeArrowheads="1"/>
            </p:cNvSpPr>
            <p:nvPr>
              <p:custDataLst>
                <p:tags r:id="rId3"/>
              </p:custDataLst>
            </p:nvPr>
          </p:nvSpPr>
          <p:spPr bwMode="auto">
            <a:xfrm>
              <a:off x="9011443" y="3070851"/>
              <a:ext cx="306494" cy="369332"/>
            </a:xfrm>
            <a:prstGeom prst="rect">
              <a:avLst/>
            </a:prstGeom>
            <a:noFill/>
            <a:ln w="9525">
              <a:noFill/>
              <a:miter lim="800000"/>
              <a:headEnd/>
              <a:tailEnd/>
            </a:ln>
          </p:spPr>
          <p:txBody>
            <a:bodyPr wrap="none">
              <a:spAutoFit/>
            </a:bodyPr>
            <a:lstStyle/>
            <a:p>
              <a:r>
                <a:rPr lang="en-US" b="1" dirty="0"/>
                <a:t>1</a:t>
              </a:r>
            </a:p>
          </p:txBody>
        </p:sp>
        <p:sp>
          <p:nvSpPr>
            <p:cNvPr id="24" name="Text Box 27">
              <a:extLst>
                <a:ext uri="{FF2B5EF4-FFF2-40B4-BE49-F238E27FC236}">
                  <a16:creationId xmlns:a16="http://schemas.microsoft.com/office/drawing/2014/main" id="{D9C8517F-973B-A475-6952-357352699D96}"/>
                </a:ext>
              </a:extLst>
            </p:cNvPr>
            <p:cNvSpPr txBox="1">
              <a:spLocks noChangeArrowheads="1"/>
            </p:cNvSpPr>
            <p:nvPr>
              <p:custDataLst>
                <p:tags r:id="rId4"/>
              </p:custDataLst>
            </p:nvPr>
          </p:nvSpPr>
          <p:spPr bwMode="auto">
            <a:xfrm>
              <a:off x="9363922" y="2454275"/>
              <a:ext cx="336550" cy="457200"/>
            </a:xfrm>
            <a:prstGeom prst="rect">
              <a:avLst/>
            </a:prstGeom>
            <a:noFill/>
            <a:ln w="9525">
              <a:noFill/>
              <a:miter lim="800000"/>
              <a:headEnd/>
              <a:tailEnd/>
            </a:ln>
          </p:spPr>
          <p:txBody>
            <a:bodyPr wrap="none">
              <a:spAutoFit/>
            </a:bodyPr>
            <a:lstStyle/>
            <a:p>
              <a:r>
                <a:rPr lang="en-US" b="1" dirty="0"/>
                <a:t>2</a:t>
              </a:r>
            </a:p>
          </p:txBody>
        </p:sp>
        <p:sp>
          <p:nvSpPr>
            <p:cNvPr id="25" name="Text Box 27">
              <a:extLst>
                <a:ext uri="{FF2B5EF4-FFF2-40B4-BE49-F238E27FC236}">
                  <a16:creationId xmlns:a16="http://schemas.microsoft.com/office/drawing/2014/main" id="{926DE59D-178C-EA05-2FBA-2A52DFE73F72}"/>
                </a:ext>
              </a:extLst>
            </p:cNvPr>
            <p:cNvSpPr txBox="1">
              <a:spLocks noChangeArrowheads="1"/>
            </p:cNvSpPr>
            <p:nvPr>
              <p:custDataLst>
                <p:tags r:id="rId5"/>
              </p:custDataLst>
            </p:nvPr>
          </p:nvSpPr>
          <p:spPr bwMode="auto">
            <a:xfrm>
              <a:off x="8523288" y="3582625"/>
              <a:ext cx="306494" cy="369332"/>
            </a:xfrm>
            <a:prstGeom prst="rect">
              <a:avLst/>
            </a:prstGeom>
            <a:noFill/>
            <a:ln w="9525">
              <a:noFill/>
              <a:miter lim="800000"/>
              <a:headEnd/>
              <a:tailEnd/>
            </a:ln>
          </p:spPr>
          <p:txBody>
            <a:bodyPr wrap="none">
              <a:spAutoFit/>
            </a:bodyPr>
            <a:lstStyle/>
            <a:p>
              <a:r>
                <a:rPr lang="en-US" b="1" dirty="0"/>
                <a:t>2</a:t>
              </a:r>
            </a:p>
          </p:txBody>
        </p:sp>
        <p:sp>
          <p:nvSpPr>
            <p:cNvPr id="26" name="Text Box 27">
              <a:extLst>
                <a:ext uri="{FF2B5EF4-FFF2-40B4-BE49-F238E27FC236}">
                  <a16:creationId xmlns:a16="http://schemas.microsoft.com/office/drawing/2014/main" id="{7E74880A-EBAF-ACB3-BE00-F354253B021B}"/>
                </a:ext>
              </a:extLst>
            </p:cNvPr>
            <p:cNvSpPr txBox="1">
              <a:spLocks noChangeArrowheads="1"/>
            </p:cNvSpPr>
            <p:nvPr>
              <p:custDataLst>
                <p:tags r:id="rId6"/>
              </p:custDataLst>
            </p:nvPr>
          </p:nvSpPr>
          <p:spPr bwMode="auto">
            <a:xfrm>
              <a:off x="10981639" y="3054171"/>
              <a:ext cx="428322" cy="369332"/>
            </a:xfrm>
            <a:prstGeom prst="rect">
              <a:avLst/>
            </a:prstGeom>
            <a:noFill/>
            <a:ln w="9525">
              <a:noFill/>
              <a:miter lim="800000"/>
              <a:headEnd/>
              <a:tailEnd/>
            </a:ln>
          </p:spPr>
          <p:txBody>
            <a:bodyPr wrap="none">
              <a:spAutoFit/>
            </a:bodyPr>
            <a:lstStyle/>
            <a:p>
              <a:r>
                <a:rPr lang="en-US" b="1" dirty="0"/>
                <a:t>10</a:t>
              </a:r>
            </a:p>
          </p:txBody>
        </p:sp>
        <p:sp>
          <p:nvSpPr>
            <p:cNvPr id="27" name="Text Box 27">
              <a:extLst>
                <a:ext uri="{FF2B5EF4-FFF2-40B4-BE49-F238E27FC236}">
                  <a16:creationId xmlns:a16="http://schemas.microsoft.com/office/drawing/2014/main" id="{9F9BE4F5-E951-081B-ACA5-BB8EAA38D32B}"/>
                </a:ext>
              </a:extLst>
            </p:cNvPr>
            <p:cNvSpPr txBox="1">
              <a:spLocks noChangeArrowheads="1"/>
            </p:cNvSpPr>
            <p:nvPr>
              <p:custDataLst>
                <p:tags r:id="rId7"/>
              </p:custDataLst>
            </p:nvPr>
          </p:nvSpPr>
          <p:spPr bwMode="auto">
            <a:xfrm>
              <a:off x="10282142" y="3557036"/>
              <a:ext cx="306494" cy="369332"/>
            </a:xfrm>
            <a:prstGeom prst="rect">
              <a:avLst/>
            </a:prstGeom>
            <a:noFill/>
            <a:ln w="9525">
              <a:noFill/>
              <a:miter lim="800000"/>
              <a:headEnd/>
              <a:tailEnd/>
            </a:ln>
          </p:spPr>
          <p:txBody>
            <a:bodyPr wrap="none">
              <a:spAutoFit/>
            </a:bodyPr>
            <a:lstStyle/>
            <a:p>
              <a:r>
                <a:rPr lang="en-US" b="1" dirty="0"/>
                <a:t>7</a:t>
              </a:r>
            </a:p>
          </p:txBody>
        </p:sp>
        <p:sp>
          <p:nvSpPr>
            <p:cNvPr id="28" name="Text Box 27">
              <a:extLst>
                <a:ext uri="{FF2B5EF4-FFF2-40B4-BE49-F238E27FC236}">
                  <a16:creationId xmlns:a16="http://schemas.microsoft.com/office/drawing/2014/main" id="{7FB3C62F-A162-34EF-11B8-5ED0A430B34C}"/>
                </a:ext>
              </a:extLst>
            </p:cNvPr>
            <p:cNvSpPr txBox="1">
              <a:spLocks noChangeArrowheads="1"/>
            </p:cNvSpPr>
            <p:nvPr>
              <p:custDataLst>
                <p:tags r:id="rId8"/>
              </p:custDataLst>
            </p:nvPr>
          </p:nvSpPr>
          <p:spPr bwMode="auto">
            <a:xfrm>
              <a:off x="8077995" y="4425950"/>
              <a:ext cx="306494" cy="369332"/>
            </a:xfrm>
            <a:prstGeom prst="rect">
              <a:avLst/>
            </a:prstGeom>
            <a:noFill/>
            <a:ln w="9525">
              <a:noFill/>
              <a:miter lim="800000"/>
              <a:headEnd/>
              <a:tailEnd/>
            </a:ln>
          </p:spPr>
          <p:txBody>
            <a:bodyPr wrap="none">
              <a:spAutoFit/>
            </a:bodyPr>
            <a:lstStyle/>
            <a:p>
              <a:r>
                <a:rPr lang="en-US" b="1" dirty="0"/>
                <a:t>5</a:t>
              </a:r>
            </a:p>
          </p:txBody>
        </p:sp>
        <p:sp>
          <p:nvSpPr>
            <p:cNvPr id="29" name="Text Box 27">
              <a:extLst>
                <a:ext uri="{FF2B5EF4-FFF2-40B4-BE49-F238E27FC236}">
                  <a16:creationId xmlns:a16="http://schemas.microsoft.com/office/drawing/2014/main" id="{9645EF4E-BDEF-6EEB-5331-6E8F9FBA5508}"/>
                </a:ext>
              </a:extLst>
            </p:cNvPr>
            <p:cNvSpPr txBox="1">
              <a:spLocks noChangeArrowheads="1"/>
            </p:cNvSpPr>
            <p:nvPr>
              <p:custDataLst>
                <p:tags r:id="rId9"/>
              </p:custDataLst>
            </p:nvPr>
          </p:nvSpPr>
          <p:spPr bwMode="auto">
            <a:xfrm>
              <a:off x="8878463" y="4216400"/>
              <a:ext cx="306494" cy="369332"/>
            </a:xfrm>
            <a:prstGeom prst="rect">
              <a:avLst/>
            </a:prstGeom>
            <a:noFill/>
            <a:ln w="9525">
              <a:noFill/>
              <a:miter lim="800000"/>
              <a:headEnd/>
              <a:tailEnd/>
            </a:ln>
          </p:spPr>
          <p:txBody>
            <a:bodyPr wrap="none">
              <a:spAutoFit/>
            </a:bodyPr>
            <a:lstStyle/>
            <a:p>
              <a:r>
                <a:rPr lang="en-US" b="1" dirty="0"/>
                <a:t>8</a:t>
              </a:r>
            </a:p>
          </p:txBody>
        </p:sp>
        <p:sp>
          <p:nvSpPr>
            <p:cNvPr id="30" name="Text Box 27">
              <a:extLst>
                <a:ext uri="{FF2B5EF4-FFF2-40B4-BE49-F238E27FC236}">
                  <a16:creationId xmlns:a16="http://schemas.microsoft.com/office/drawing/2014/main" id="{E84E41FF-6BC8-E4D3-E2CF-50D799A5863C}"/>
                </a:ext>
              </a:extLst>
            </p:cNvPr>
            <p:cNvSpPr txBox="1">
              <a:spLocks noChangeArrowheads="1"/>
            </p:cNvSpPr>
            <p:nvPr>
              <p:custDataLst>
                <p:tags r:id="rId10"/>
              </p:custDataLst>
            </p:nvPr>
          </p:nvSpPr>
          <p:spPr bwMode="auto">
            <a:xfrm>
              <a:off x="10056458" y="4228940"/>
              <a:ext cx="306494" cy="369332"/>
            </a:xfrm>
            <a:prstGeom prst="rect">
              <a:avLst/>
            </a:prstGeom>
            <a:noFill/>
            <a:ln w="9525">
              <a:noFill/>
              <a:miter lim="800000"/>
              <a:headEnd/>
              <a:tailEnd/>
            </a:ln>
          </p:spPr>
          <p:txBody>
            <a:bodyPr wrap="none">
              <a:spAutoFit/>
            </a:bodyPr>
            <a:lstStyle/>
            <a:p>
              <a:r>
                <a:rPr lang="en-US" b="1" dirty="0"/>
                <a:t>4</a:t>
              </a:r>
            </a:p>
          </p:txBody>
        </p:sp>
        <p:sp>
          <p:nvSpPr>
            <p:cNvPr id="31" name="Text Box 27">
              <a:extLst>
                <a:ext uri="{FF2B5EF4-FFF2-40B4-BE49-F238E27FC236}">
                  <a16:creationId xmlns:a16="http://schemas.microsoft.com/office/drawing/2014/main" id="{0E21ACA9-AD4D-E112-E38D-50906302148E}"/>
                </a:ext>
              </a:extLst>
            </p:cNvPr>
            <p:cNvSpPr txBox="1">
              <a:spLocks noChangeArrowheads="1"/>
            </p:cNvSpPr>
            <p:nvPr>
              <p:custDataLst>
                <p:tags r:id="rId11"/>
              </p:custDataLst>
            </p:nvPr>
          </p:nvSpPr>
          <p:spPr bwMode="auto">
            <a:xfrm>
              <a:off x="11031552" y="4543425"/>
              <a:ext cx="306494" cy="369332"/>
            </a:xfrm>
            <a:prstGeom prst="rect">
              <a:avLst/>
            </a:prstGeom>
            <a:noFill/>
            <a:ln w="9525">
              <a:noFill/>
              <a:miter lim="800000"/>
              <a:headEnd/>
              <a:tailEnd/>
            </a:ln>
          </p:spPr>
          <p:txBody>
            <a:bodyPr wrap="none">
              <a:spAutoFit/>
            </a:bodyPr>
            <a:lstStyle/>
            <a:p>
              <a:r>
                <a:rPr lang="en-US" b="1" dirty="0"/>
                <a:t>6</a:t>
              </a:r>
            </a:p>
          </p:txBody>
        </p:sp>
        <p:sp>
          <p:nvSpPr>
            <p:cNvPr id="32" name="Text Box 27">
              <a:extLst>
                <a:ext uri="{FF2B5EF4-FFF2-40B4-BE49-F238E27FC236}">
                  <a16:creationId xmlns:a16="http://schemas.microsoft.com/office/drawing/2014/main" id="{8363DCF2-FE30-513E-049B-D71490CAB7D3}"/>
                </a:ext>
              </a:extLst>
            </p:cNvPr>
            <p:cNvSpPr txBox="1">
              <a:spLocks noChangeArrowheads="1"/>
            </p:cNvSpPr>
            <p:nvPr>
              <p:custDataLst>
                <p:tags r:id="rId12"/>
              </p:custDataLst>
            </p:nvPr>
          </p:nvSpPr>
          <p:spPr bwMode="auto">
            <a:xfrm>
              <a:off x="9583935" y="4912093"/>
              <a:ext cx="306494" cy="369332"/>
            </a:xfrm>
            <a:prstGeom prst="rect">
              <a:avLst/>
            </a:prstGeom>
            <a:noFill/>
            <a:ln w="9525">
              <a:noFill/>
              <a:miter lim="800000"/>
              <a:headEnd/>
              <a:tailEnd/>
            </a:ln>
          </p:spPr>
          <p:txBody>
            <a:bodyPr wrap="none">
              <a:spAutoFit/>
            </a:bodyPr>
            <a:lstStyle/>
            <a:p>
              <a:r>
                <a:rPr lang="en-US" b="1" dirty="0"/>
                <a:t>1</a:t>
              </a:r>
            </a:p>
          </p:txBody>
        </p:sp>
        <p:sp>
          <p:nvSpPr>
            <p:cNvPr id="33" name="Text Box 27">
              <a:extLst>
                <a:ext uri="{FF2B5EF4-FFF2-40B4-BE49-F238E27FC236}">
                  <a16:creationId xmlns:a16="http://schemas.microsoft.com/office/drawing/2014/main" id="{4D3C603E-5F31-18E1-B576-372C6775989E}"/>
                </a:ext>
              </a:extLst>
            </p:cNvPr>
            <p:cNvSpPr txBox="1">
              <a:spLocks noChangeArrowheads="1"/>
            </p:cNvSpPr>
            <p:nvPr>
              <p:custDataLst>
                <p:tags r:id="rId13"/>
              </p:custDataLst>
            </p:nvPr>
          </p:nvSpPr>
          <p:spPr bwMode="auto">
            <a:xfrm>
              <a:off x="9747513" y="3054171"/>
              <a:ext cx="306494" cy="369332"/>
            </a:xfrm>
            <a:prstGeom prst="rect">
              <a:avLst/>
            </a:prstGeom>
            <a:noFill/>
            <a:ln w="9525">
              <a:noFill/>
              <a:miter lim="800000"/>
              <a:headEnd/>
              <a:tailEnd/>
            </a:ln>
          </p:spPr>
          <p:txBody>
            <a:bodyPr wrap="square">
              <a:spAutoFit/>
            </a:bodyPr>
            <a:lstStyle/>
            <a:p>
              <a:r>
                <a:rPr lang="en-US" b="1" dirty="0"/>
                <a:t>3</a:t>
              </a:r>
            </a:p>
          </p:txBody>
        </p:sp>
        <p:cxnSp>
          <p:nvCxnSpPr>
            <p:cNvPr id="35" name="Straight Connector 34">
              <a:extLst>
                <a:ext uri="{FF2B5EF4-FFF2-40B4-BE49-F238E27FC236}">
                  <a16:creationId xmlns:a16="http://schemas.microsoft.com/office/drawing/2014/main" id="{EB08C462-9B99-6561-7E17-51AE355CCCFC}"/>
                </a:ext>
              </a:extLst>
            </p:cNvPr>
            <p:cNvCxnSpPr>
              <a:stCxn id="3" idx="6"/>
              <a:endCxn id="6" idx="2"/>
            </p:cNvCxnSpPr>
            <p:nvPr/>
          </p:nvCxnSpPr>
          <p:spPr>
            <a:xfrm flipV="1">
              <a:off x="8756254" y="2772275"/>
              <a:ext cx="1595650" cy="36012"/>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5D0564B-97D2-0C68-D74F-0AD4FBA79F33}"/>
                </a:ext>
              </a:extLst>
            </p:cNvPr>
            <p:cNvCxnSpPr>
              <a:cxnSpLocks/>
              <a:stCxn id="3" idx="3"/>
              <a:endCxn id="4" idx="0"/>
            </p:cNvCxnSpPr>
            <p:nvPr/>
          </p:nvCxnSpPr>
          <p:spPr>
            <a:xfrm flipH="1">
              <a:off x="7943454" y="2973018"/>
              <a:ext cx="415103" cy="725042"/>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A62F396-F2EE-E44D-0105-5644755CEBFE}"/>
                </a:ext>
              </a:extLst>
            </p:cNvPr>
            <p:cNvCxnSpPr>
              <a:cxnSpLocks/>
              <a:stCxn id="8" idx="1"/>
              <a:endCxn id="4" idx="5"/>
            </p:cNvCxnSpPr>
            <p:nvPr/>
          </p:nvCxnSpPr>
          <p:spPr>
            <a:xfrm flipH="1" flipV="1">
              <a:off x="8108185" y="4095757"/>
              <a:ext cx="716303" cy="1015171"/>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F79FD91-BB7A-8D45-680C-6F7B7CE95E1A}"/>
                </a:ext>
              </a:extLst>
            </p:cNvPr>
            <p:cNvCxnSpPr>
              <a:cxnSpLocks/>
              <a:stCxn id="8" idx="6"/>
              <a:endCxn id="9" idx="2"/>
            </p:cNvCxnSpPr>
            <p:nvPr/>
          </p:nvCxnSpPr>
          <p:spPr>
            <a:xfrm>
              <a:off x="9222185" y="5275660"/>
              <a:ext cx="1223976" cy="29765"/>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EE14470-A9E2-5AC9-3D30-75D6D166FE2D}"/>
                </a:ext>
              </a:extLst>
            </p:cNvPr>
            <p:cNvCxnSpPr>
              <a:cxnSpLocks/>
              <a:stCxn id="9" idx="7"/>
              <a:endCxn id="7" idx="4"/>
            </p:cNvCxnSpPr>
            <p:nvPr/>
          </p:nvCxnSpPr>
          <p:spPr>
            <a:xfrm flipV="1">
              <a:off x="10843858" y="4153104"/>
              <a:ext cx="298819" cy="987589"/>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1AECC0E-DAAB-AA58-4B64-C2796A0552F0}"/>
                </a:ext>
              </a:extLst>
            </p:cNvPr>
            <p:cNvCxnSpPr>
              <a:cxnSpLocks/>
              <a:stCxn id="7" idx="0"/>
              <a:endCxn id="6" idx="5"/>
            </p:cNvCxnSpPr>
            <p:nvPr/>
          </p:nvCxnSpPr>
          <p:spPr>
            <a:xfrm flipH="1" flipV="1">
              <a:off x="10749601" y="2937006"/>
              <a:ext cx="393076" cy="750167"/>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0606212-79A3-7ED0-AA21-92096F8AC518}"/>
                </a:ext>
              </a:extLst>
            </p:cNvPr>
            <p:cNvCxnSpPr>
              <a:cxnSpLocks/>
              <a:stCxn id="6" idx="3"/>
              <a:endCxn id="5" idx="7"/>
            </p:cNvCxnSpPr>
            <p:nvPr/>
          </p:nvCxnSpPr>
          <p:spPr>
            <a:xfrm flipH="1">
              <a:off x="9729248" y="2937006"/>
              <a:ext cx="690890" cy="829287"/>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D19F2DA-F948-3694-8C8D-AB176DC9AC1D}"/>
                </a:ext>
              </a:extLst>
            </p:cNvPr>
            <p:cNvCxnSpPr>
              <a:cxnSpLocks/>
              <a:stCxn id="5" idx="1"/>
              <a:endCxn id="3" idx="5"/>
            </p:cNvCxnSpPr>
            <p:nvPr/>
          </p:nvCxnSpPr>
          <p:spPr>
            <a:xfrm flipH="1" flipV="1">
              <a:off x="8688020" y="2973018"/>
              <a:ext cx="711765" cy="793275"/>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7ED6625-BB19-6264-721E-ABC3C47D14A4}"/>
                </a:ext>
              </a:extLst>
            </p:cNvPr>
            <p:cNvCxnSpPr>
              <a:cxnSpLocks/>
              <a:stCxn id="5" idx="2"/>
              <a:endCxn id="4" idx="6"/>
            </p:cNvCxnSpPr>
            <p:nvPr/>
          </p:nvCxnSpPr>
          <p:spPr>
            <a:xfrm flipH="1">
              <a:off x="8176419" y="3931025"/>
              <a:ext cx="1155132" cy="1"/>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850A9AB-4FE7-8E33-1D84-12CA9CFD2BB0}"/>
                </a:ext>
              </a:extLst>
            </p:cNvPr>
            <p:cNvCxnSpPr>
              <a:cxnSpLocks/>
              <a:stCxn id="5" idx="3"/>
              <a:endCxn id="8" idx="0"/>
            </p:cNvCxnSpPr>
            <p:nvPr/>
          </p:nvCxnSpPr>
          <p:spPr>
            <a:xfrm flipH="1">
              <a:off x="8989220" y="4095756"/>
              <a:ext cx="410565" cy="946938"/>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7618" name="Straight Connector 67617">
              <a:extLst>
                <a:ext uri="{FF2B5EF4-FFF2-40B4-BE49-F238E27FC236}">
                  <a16:creationId xmlns:a16="http://schemas.microsoft.com/office/drawing/2014/main" id="{0A764217-7FF5-8F23-FBC1-16F0D4CC266F}"/>
                </a:ext>
              </a:extLst>
            </p:cNvPr>
            <p:cNvCxnSpPr>
              <a:cxnSpLocks/>
              <a:stCxn id="5" idx="5"/>
              <a:endCxn id="9" idx="1"/>
            </p:cNvCxnSpPr>
            <p:nvPr/>
          </p:nvCxnSpPr>
          <p:spPr>
            <a:xfrm>
              <a:off x="9729248" y="4095756"/>
              <a:ext cx="785147" cy="1044937"/>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7621" name="Straight Connector 67620">
              <a:extLst>
                <a:ext uri="{FF2B5EF4-FFF2-40B4-BE49-F238E27FC236}">
                  <a16:creationId xmlns:a16="http://schemas.microsoft.com/office/drawing/2014/main" id="{FE428520-5333-5405-1169-33DBB90E6E68}"/>
                </a:ext>
              </a:extLst>
            </p:cNvPr>
            <p:cNvCxnSpPr>
              <a:cxnSpLocks/>
              <a:stCxn id="5" idx="6"/>
              <a:endCxn id="7" idx="2"/>
            </p:cNvCxnSpPr>
            <p:nvPr/>
          </p:nvCxnSpPr>
          <p:spPr>
            <a:xfrm flipV="1">
              <a:off x="9797482" y="3920139"/>
              <a:ext cx="1112229" cy="10886"/>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67626" name="Straight Connector 67625">
            <a:extLst>
              <a:ext uri="{FF2B5EF4-FFF2-40B4-BE49-F238E27FC236}">
                <a16:creationId xmlns:a16="http://schemas.microsoft.com/office/drawing/2014/main" id="{4565DA8C-EF0D-BAAA-4C0E-CEC5EAD275BD}"/>
              </a:ext>
            </a:extLst>
          </p:cNvPr>
          <p:cNvCxnSpPr/>
          <p:nvPr/>
        </p:nvCxnSpPr>
        <p:spPr>
          <a:xfrm flipV="1">
            <a:off x="3295461" y="4092260"/>
            <a:ext cx="950802" cy="94146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67627" name="TextBox 67626">
            <a:extLst>
              <a:ext uri="{FF2B5EF4-FFF2-40B4-BE49-F238E27FC236}">
                <a16:creationId xmlns:a16="http://schemas.microsoft.com/office/drawing/2014/main" id="{E29541FA-194B-060C-037A-358A55E8A968}"/>
              </a:ext>
            </a:extLst>
          </p:cNvPr>
          <p:cNvSpPr txBox="1"/>
          <p:nvPr/>
        </p:nvSpPr>
        <p:spPr>
          <a:xfrm>
            <a:off x="1921117" y="5096003"/>
            <a:ext cx="2791077" cy="646331"/>
          </a:xfrm>
          <a:prstGeom prst="rect">
            <a:avLst/>
          </a:prstGeom>
          <a:noFill/>
        </p:spPr>
        <p:txBody>
          <a:bodyPr wrap="square" rtlCol="0">
            <a:spAutoFit/>
          </a:bodyPr>
          <a:lstStyle/>
          <a:p>
            <a:r>
              <a:rPr lang="en-US" dirty="0"/>
              <a:t>How do we quickly find the MST of a bigger graph?</a:t>
            </a:r>
          </a:p>
        </p:txBody>
      </p:sp>
      <p:cxnSp>
        <p:nvCxnSpPr>
          <p:cNvPr id="67628" name="Straight Connector 67627">
            <a:extLst>
              <a:ext uri="{FF2B5EF4-FFF2-40B4-BE49-F238E27FC236}">
                <a16:creationId xmlns:a16="http://schemas.microsoft.com/office/drawing/2014/main" id="{8068EC34-0988-9F5D-7F92-F0BB987BDF34}"/>
              </a:ext>
            </a:extLst>
          </p:cNvPr>
          <p:cNvCxnSpPr>
            <a:cxnSpLocks/>
          </p:cNvCxnSpPr>
          <p:nvPr/>
        </p:nvCxnSpPr>
        <p:spPr>
          <a:xfrm flipH="1" flipV="1">
            <a:off x="8075691" y="4209861"/>
            <a:ext cx="596152" cy="103209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67629" name="TextBox 67628">
            <a:extLst>
              <a:ext uri="{FF2B5EF4-FFF2-40B4-BE49-F238E27FC236}">
                <a16:creationId xmlns:a16="http://schemas.microsoft.com/office/drawing/2014/main" id="{CA292642-086C-E332-9FDB-63D1F15EF45D}"/>
              </a:ext>
            </a:extLst>
          </p:cNvPr>
          <p:cNvSpPr txBox="1"/>
          <p:nvPr/>
        </p:nvSpPr>
        <p:spPr>
          <a:xfrm>
            <a:off x="8217937" y="5328969"/>
            <a:ext cx="2791077" cy="923330"/>
          </a:xfrm>
          <a:prstGeom prst="rect">
            <a:avLst/>
          </a:prstGeom>
          <a:noFill/>
        </p:spPr>
        <p:txBody>
          <a:bodyPr wrap="square" rtlCol="0">
            <a:spAutoFit/>
          </a:bodyPr>
          <a:lstStyle/>
          <a:p>
            <a:r>
              <a:rPr lang="en-US" dirty="0"/>
              <a:t>Once again, we need some kind of </a:t>
            </a:r>
            <a:r>
              <a:rPr lang="en-US" b="1" i="1" u="sng" dirty="0"/>
              <a:t>key idea </a:t>
            </a:r>
            <a:r>
              <a:rPr lang="en-US" dirty="0"/>
              <a:t>that we can build an algorithm from!</a:t>
            </a:r>
          </a:p>
        </p:txBody>
      </p:sp>
    </p:spTree>
    <p:extLst>
      <p:ext uri="{BB962C8B-B14F-4D97-AF65-F5344CB8AC3E}">
        <p14:creationId xmlns:p14="http://schemas.microsoft.com/office/powerpoint/2010/main" val="24096764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custDataLst>
              <p:tags r:id="rId1"/>
            </p:custDataLst>
          </p:nvPr>
        </p:nvSpPr>
        <p:spPr>
          <a:xfrm>
            <a:off x="1141412" y="239463"/>
            <a:ext cx="9905998" cy="694234"/>
          </a:xfrm>
        </p:spPr>
        <p:txBody>
          <a:bodyPr/>
          <a:lstStyle/>
          <a:p>
            <a:pPr algn="ctr" eaLnBrk="1" hangingPunct="1"/>
            <a:r>
              <a:rPr lang="en-US" dirty="0"/>
              <a:t>Prim’s algorithm</a:t>
            </a:r>
          </a:p>
        </p:txBody>
      </p:sp>
      <p:sp>
        <p:nvSpPr>
          <p:cNvPr id="43" name="Rectangle 3">
            <a:extLst>
              <a:ext uri="{FF2B5EF4-FFF2-40B4-BE49-F238E27FC236}">
                <a16:creationId xmlns:a16="http://schemas.microsoft.com/office/drawing/2014/main" id="{D34D04A9-5F69-6B74-D425-D13A7D0B4310}"/>
              </a:ext>
            </a:extLst>
          </p:cNvPr>
          <p:cNvSpPr txBox="1">
            <a:spLocks noChangeArrowheads="1"/>
          </p:cNvSpPr>
          <p:nvPr>
            <p:custDataLst>
              <p:tags r:id="rId2"/>
            </p:custDataLst>
          </p:nvPr>
        </p:nvSpPr>
        <p:spPr>
          <a:xfrm>
            <a:off x="1082673" y="1141323"/>
            <a:ext cx="9905999" cy="1041401"/>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b="1" i="1" u="sng" dirty="0">
                <a:solidFill>
                  <a:schemeClr val="bg1"/>
                </a:solidFill>
              </a:rPr>
              <a:t>Key Idea</a:t>
            </a:r>
            <a:r>
              <a:rPr lang="en-US" b="1" dirty="0">
                <a:solidFill>
                  <a:schemeClr val="bg1"/>
                </a:solidFill>
              </a:rPr>
              <a:t>: </a:t>
            </a:r>
            <a:r>
              <a:rPr lang="en-US" dirty="0">
                <a:solidFill>
                  <a:schemeClr val="bg1"/>
                </a:solidFill>
              </a:rPr>
              <a:t>Maintain three groups of nodes. </a:t>
            </a:r>
            <a:r>
              <a:rPr lang="en-US" b="1" i="1" dirty="0">
                <a:solidFill>
                  <a:schemeClr val="bg1"/>
                </a:solidFill>
              </a:rPr>
              <a:t>Known </a:t>
            </a:r>
            <a:r>
              <a:rPr lang="en-US" dirty="0">
                <a:solidFill>
                  <a:schemeClr val="bg1"/>
                </a:solidFill>
              </a:rPr>
              <a:t>nodes (current </a:t>
            </a:r>
            <a:r>
              <a:rPr lang="en-US" dirty="0" err="1">
                <a:solidFill>
                  <a:schemeClr val="bg1"/>
                </a:solidFill>
              </a:rPr>
              <a:t>mst</a:t>
            </a:r>
            <a:r>
              <a:rPr lang="en-US" dirty="0">
                <a:solidFill>
                  <a:schemeClr val="bg1"/>
                </a:solidFill>
              </a:rPr>
              <a:t>), </a:t>
            </a:r>
            <a:r>
              <a:rPr lang="en-US" b="1" i="1" dirty="0">
                <a:solidFill>
                  <a:schemeClr val="bg1"/>
                </a:solidFill>
              </a:rPr>
              <a:t>fringe</a:t>
            </a:r>
            <a:r>
              <a:rPr lang="en-US" dirty="0">
                <a:solidFill>
                  <a:schemeClr val="bg1"/>
                </a:solidFill>
              </a:rPr>
              <a:t> nodes, and </a:t>
            </a:r>
            <a:r>
              <a:rPr lang="en-US" b="1" i="1" dirty="0">
                <a:solidFill>
                  <a:schemeClr val="bg1"/>
                </a:solidFill>
              </a:rPr>
              <a:t>unknown</a:t>
            </a:r>
            <a:r>
              <a:rPr lang="en-US" dirty="0">
                <a:solidFill>
                  <a:schemeClr val="bg1"/>
                </a:solidFill>
              </a:rPr>
              <a:t> nodes. Grow the current MST one node at a time.</a:t>
            </a:r>
          </a:p>
        </p:txBody>
      </p:sp>
      <p:sp>
        <p:nvSpPr>
          <p:cNvPr id="44" name="TextBox 43">
            <a:extLst>
              <a:ext uri="{FF2B5EF4-FFF2-40B4-BE49-F238E27FC236}">
                <a16:creationId xmlns:a16="http://schemas.microsoft.com/office/drawing/2014/main" id="{F46D3FDA-51F4-484D-0365-90E447E39FA7}"/>
              </a:ext>
            </a:extLst>
          </p:cNvPr>
          <p:cNvSpPr txBox="1"/>
          <p:nvPr/>
        </p:nvSpPr>
        <p:spPr>
          <a:xfrm>
            <a:off x="712413" y="2501813"/>
            <a:ext cx="4195986" cy="1200329"/>
          </a:xfrm>
          <a:prstGeom prst="rect">
            <a:avLst/>
          </a:prstGeom>
          <a:noFill/>
          <a:ln>
            <a:solidFill>
              <a:schemeClr val="accent2">
                <a:lumMod val="60000"/>
                <a:lumOff val="40000"/>
              </a:schemeClr>
            </a:solidFill>
          </a:ln>
        </p:spPr>
        <p:txBody>
          <a:bodyPr wrap="square" rtlCol="0">
            <a:spAutoFit/>
          </a:bodyPr>
          <a:lstStyle/>
          <a:p>
            <a:r>
              <a:rPr lang="en-US" b="1" i="1" u="sng" dirty="0"/>
              <a:t>Known nodes (and edges)</a:t>
            </a:r>
            <a:r>
              <a:rPr lang="en-US" i="1" dirty="0"/>
              <a:t> are the minimum spanning tree of the subgraph involving only those nodes. This is correct and will never change once set</a:t>
            </a:r>
          </a:p>
        </p:txBody>
      </p:sp>
      <p:sp>
        <p:nvSpPr>
          <p:cNvPr id="45" name="TextBox 44">
            <a:extLst>
              <a:ext uri="{FF2B5EF4-FFF2-40B4-BE49-F238E27FC236}">
                <a16:creationId xmlns:a16="http://schemas.microsoft.com/office/drawing/2014/main" id="{A36C3848-C196-C084-6C9E-2ED1CFDD842D}"/>
              </a:ext>
            </a:extLst>
          </p:cNvPr>
          <p:cNvSpPr txBox="1"/>
          <p:nvPr/>
        </p:nvSpPr>
        <p:spPr>
          <a:xfrm>
            <a:off x="8750740" y="5141209"/>
            <a:ext cx="2586886" cy="1477328"/>
          </a:xfrm>
          <a:prstGeom prst="rect">
            <a:avLst/>
          </a:prstGeom>
          <a:noFill/>
          <a:ln>
            <a:solidFill>
              <a:schemeClr val="accent3">
                <a:lumMod val="60000"/>
                <a:lumOff val="40000"/>
              </a:schemeClr>
            </a:solidFill>
          </a:ln>
        </p:spPr>
        <p:txBody>
          <a:bodyPr wrap="square" rtlCol="0">
            <a:spAutoFit/>
          </a:bodyPr>
          <a:lstStyle/>
          <a:p>
            <a:r>
              <a:rPr lang="en-US" i="1" dirty="0"/>
              <a:t>Fringe nodes are reachable via one edge from a known node. They can be added into the MST for the cost of that one edge!</a:t>
            </a:r>
          </a:p>
        </p:txBody>
      </p:sp>
      <p:sp>
        <p:nvSpPr>
          <p:cNvPr id="46" name="TextBox 45">
            <a:extLst>
              <a:ext uri="{FF2B5EF4-FFF2-40B4-BE49-F238E27FC236}">
                <a16:creationId xmlns:a16="http://schemas.microsoft.com/office/drawing/2014/main" id="{B2F47939-94A9-262C-7D90-B66B8BD90B59}"/>
              </a:ext>
            </a:extLst>
          </p:cNvPr>
          <p:cNvSpPr txBox="1"/>
          <p:nvPr/>
        </p:nvSpPr>
        <p:spPr>
          <a:xfrm>
            <a:off x="9098217" y="2750642"/>
            <a:ext cx="2239409" cy="1477328"/>
          </a:xfrm>
          <a:prstGeom prst="rect">
            <a:avLst/>
          </a:prstGeom>
          <a:noFill/>
          <a:ln>
            <a:solidFill>
              <a:schemeClr val="accent4">
                <a:lumMod val="60000"/>
                <a:lumOff val="40000"/>
              </a:schemeClr>
            </a:solidFill>
          </a:ln>
        </p:spPr>
        <p:txBody>
          <a:bodyPr wrap="square" rtlCol="0">
            <a:spAutoFit/>
          </a:bodyPr>
          <a:lstStyle/>
          <a:p>
            <a:r>
              <a:rPr lang="en-US" i="1" dirty="0"/>
              <a:t>Unknown nodes have not been seen by the algorithm yet. They will become fringe, and then known eventually</a:t>
            </a:r>
          </a:p>
        </p:txBody>
      </p:sp>
      <p:grpSp>
        <p:nvGrpSpPr>
          <p:cNvPr id="65536" name="Group 65535">
            <a:extLst>
              <a:ext uri="{FF2B5EF4-FFF2-40B4-BE49-F238E27FC236}">
                <a16:creationId xmlns:a16="http://schemas.microsoft.com/office/drawing/2014/main" id="{FEC6F6A5-D34C-E0BE-DCFA-15C25AA44807}"/>
              </a:ext>
            </a:extLst>
          </p:cNvPr>
          <p:cNvGrpSpPr/>
          <p:nvPr/>
        </p:nvGrpSpPr>
        <p:grpSpPr>
          <a:xfrm>
            <a:off x="3986617" y="2900555"/>
            <a:ext cx="4672228" cy="3261992"/>
            <a:chOff x="3823655" y="2900555"/>
            <a:chExt cx="4672228" cy="3261992"/>
          </a:xfrm>
        </p:grpSpPr>
        <p:sp>
          <p:nvSpPr>
            <p:cNvPr id="3" name="Freeform 2">
              <a:extLst>
                <a:ext uri="{FF2B5EF4-FFF2-40B4-BE49-F238E27FC236}">
                  <a16:creationId xmlns:a16="http://schemas.microsoft.com/office/drawing/2014/main" id="{1171D6A1-C442-C958-747F-7285B80F08C9}"/>
                </a:ext>
              </a:extLst>
            </p:cNvPr>
            <p:cNvSpPr/>
            <p:nvPr/>
          </p:nvSpPr>
          <p:spPr>
            <a:xfrm>
              <a:off x="4494981" y="3435851"/>
              <a:ext cx="2915217" cy="2513336"/>
            </a:xfrm>
            <a:custGeom>
              <a:avLst/>
              <a:gdLst>
                <a:gd name="connsiteX0" fmla="*/ 0 w 4667794"/>
                <a:gd name="connsiteY0" fmla="*/ 940526 h 3500846"/>
                <a:gd name="connsiteX1" fmla="*/ 0 w 4667794"/>
                <a:gd name="connsiteY1" fmla="*/ 940526 h 3500846"/>
                <a:gd name="connsiteX2" fmla="*/ 78377 w 4667794"/>
                <a:gd name="connsiteY2" fmla="*/ 879566 h 3500846"/>
                <a:gd name="connsiteX3" fmla="*/ 156754 w 4667794"/>
                <a:gd name="connsiteY3" fmla="*/ 801189 h 3500846"/>
                <a:gd name="connsiteX4" fmla="*/ 235131 w 4667794"/>
                <a:gd name="connsiteY4" fmla="*/ 740229 h 3500846"/>
                <a:gd name="connsiteX5" fmla="*/ 278674 w 4667794"/>
                <a:gd name="connsiteY5" fmla="*/ 705395 h 3500846"/>
                <a:gd name="connsiteX6" fmla="*/ 304800 w 4667794"/>
                <a:gd name="connsiteY6" fmla="*/ 687977 h 3500846"/>
                <a:gd name="connsiteX7" fmla="*/ 391885 w 4667794"/>
                <a:gd name="connsiteY7" fmla="*/ 618309 h 3500846"/>
                <a:gd name="connsiteX8" fmla="*/ 461554 w 4667794"/>
                <a:gd name="connsiteY8" fmla="*/ 574766 h 3500846"/>
                <a:gd name="connsiteX9" fmla="*/ 583474 w 4667794"/>
                <a:gd name="connsiteY9" fmla="*/ 487680 h 3500846"/>
                <a:gd name="connsiteX10" fmla="*/ 618308 w 4667794"/>
                <a:gd name="connsiteY10" fmla="*/ 461555 h 3500846"/>
                <a:gd name="connsiteX11" fmla="*/ 670560 w 4667794"/>
                <a:gd name="connsiteY11" fmla="*/ 418012 h 3500846"/>
                <a:gd name="connsiteX12" fmla="*/ 705394 w 4667794"/>
                <a:gd name="connsiteY12" fmla="*/ 383177 h 3500846"/>
                <a:gd name="connsiteX13" fmla="*/ 783771 w 4667794"/>
                <a:gd name="connsiteY13" fmla="*/ 322217 h 3500846"/>
                <a:gd name="connsiteX14" fmla="*/ 818605 w 4667794"/>
                <a:gd name="connsiteY14" fmla="*/ 296092 h 3500846"/>
                <a:gd name="connsiteX15" fmla="*/ 870857 w 4667794"/>
                <a:gd name="connsiteY15" fmla="*/ 243840 h 3500846"/>
                <a:gd name="connsiteX16" fmla="*/ 905691 w 4667794"/>
                <a:gd name="connsiteY16" fmla="*/ 226423 h 3500846"/>
                <a:gd name="connsiteX17" fmla="*/ 931817 w 4667794"/>
                <a:gd name="connsiteY17" fmla="*/ 209006 h 3500846"/>
                <a:gd name="connsiteX18" fmla="*/ 1010194 w 4667794"/>
                <a:gd name="connsiteY18" fmla="*/ 165463 h 3500846"/>
                <a:gd name="connsiteX19" fmla="*/ 1132114 w 4667794"/>
                <a:gd name="connsiteY19" fmla="*/ 121920 h 3500846"/>
                <a:gd name="connsiteX20" fmla="*/ 1227908 w 4667794"/>
                <a:gd name="connsiteY20" fmla="*/ 69669 h 3500846"/>
                <a:gd name="connsiteX21" fmla="*/ 1288868 w 4667794"/>
                <a:gd name="connsiteY21" fmla="*/ 43543 h 3500846"/>
                <a:gd name="connsiteX22" fmla="*/ 1358537 w 4667794"/>
                <a:gd name="connsiteY22" fmla="*/ 26126 h 3500846"/>
                <a:gd name="connsiteX23" fmla="*/ 1471748 w 4667794"/>
                <a:gd name="connsiteY23" fmla="*/ 0 h 3500846"/>
                <a:gd name="connsiteX24" fmla="*/ 1750422 w 4667794"/>
                <a:gd name="connsiteY24" fmla="*/ 43543 h 3500846"/>
                <a:gd name="connsiteX25" fmla="*/ 1811382 w 4667794"/>
                <a:gd name="connsiteY25" fmla="*/ 69669 h 3500846"/>
                <a:gd name="connsiteX26" fmla="*/ 1846217 w 4667794"/>
                <a:gd name="connsiteY26" fmla="*/ 78377 h 3500846"/>
                <a:gd name="connsiteX27" fmla="*/ 1968137 w 4667794"/>
                <a:gd name="connsiteY27" fmla="*/ 139337 h 3500846"/>
                <a:gd name="connsiteX28" fmla="*/ 2020388 w 4667794"/>
                <a:gd name="connsiteY28" fmla="*/ 174172 h 3500846"/>
                <a:gd name="connsiteX29" fmla="*/ 2098765 w 4667794"/>
                <a:gd name="connsiteY29" fmla="*/ 243840 h 3500846"/>
                <a:gd name="connsiteX30" fmla="*/ 2133600 w 4667794"/>
                <a:gd name="connsiteY30" fmla="*/ 313509 h 3500846"/>
                <a:gd name="connsiteX31" fmla="*/ 2151017 w 4667794"/>
                <a:gd name="connsiteY31" fmla="*/ 348343 h 3500846"/>
                <a:gd name="connsiteX32" fmla="*/ 2168434 w 4667794"/>
                <a:gd name="connsiteY32" fmla="*/ 400595 h 3500846"/>
                <a:gd name="connsiteX33" fmla="*/ 2185851 w 4667794"/>
                <a:gd name="connsiteY33" fmla="*/ 426720 h 3500846"/>
                <a:gd name="connsiteX34" fmla="*/ 2203268 w 4667794"/>
                <a:gd name="connsiteY34" fmla="*/ 470263 h 3500846"/>
                <a:gd name="connsiteX35" fmla="*/ 2220685 w 4667794"/>
                <a:gd name="connsiteY35" fmla="*/ 505097 h 3500846"/>
                <a:gd name="connsiteX36" fmla="*/ 2238102 w 4667794"/>
                <a:gd name="connsiteY36" fmla="*/ 531223 h 3500846"/>
                <a:gd name="connsiteX37" fmla="*/ 2246811 w 4667794"/>
                <a:gd name="connsiteY37" fmla="*/ 557349 h 3500846"/>
                <a:gd name="connsiteX38" fmla="*/ 2264228 w 4667794"/>
                <a:gd name="connsiteY38" fmla="*/ 592183 h 3500846"/>
                <a:gd name="connsiteX39" fmla="*/ 2290354 w 4667794"/>
                <a:gd name="connsiteY39" fmla="*/ 661852 h 3500846"/>
                <a:gd name="connsiteX40" fmla="*/ 2307771 w 4667794"/>
                <a:gd name="connsiteY40" fmla="*/ 687977 h 3500846"/>
                <a:gd name="connsiteX41" fmla="*/ 2325188 w 4667794"/>
                <a:gd name="connsiteY41" fmla="*/ 731520 h 3500846"/>
                <a:gd name="connsiteX42" fmla="*/ 2351314 w 4667794"/>
                <a:gd name="connsiteY42" fmla="*/ 783772 h 3500846"/>
                <a:gd name="connsiteX43" fmla="*/ 2394857 w 4667794"/>
                <a:gd name="connsiteY43" fmla="*/ 818606 h 3500846"/>
                <a:gd name="connsiteX44" fmla="*/ 2455817 w 4667794"/>
                <a:gd name="connsiteY44" fmla="*/ 836023 h 3500846"/>
                <a:gd name="connsiteX45" fmla="*/ 2629988 w 4667794"/>
                <a:gd name="connsiteY45" fmla="*/ 827315 h 3500846"/>
                <a:gd name="connsiteX46" fmla="*/ 2656114 w 4667794"/>
                <a:gd name="connsiteY46" fmla="*/ 818606 h 3500846"/>
                <a:gd name="connsiteX47" fmla="*/ 2699657 w 4667794"/>
                <a:gd name="connsiteY47" fmla="*/ 801189 h 3500846"/>
                <a:gd name="connsiteX48" fmla="*/ 2760617 w 4667794"/>
                <a:gd name="connsiteY48" fmla="*/ 783772 h 3500846"/>
                <a:gd name="connsiteX49" fmla="*/ 2795451 w 4667794"/>
                <a:gd name="connsiteY49" fmla="*/ 775063 h 3500846"/>
                <a:gd name="connsiteX50" fmla="*/ 2891245 w 4667794"/>
                <a:gd name="connsiteY50" fmla="*/ 757646 h 3500846"/>
                <a:gd name="connsiteX51" fmla="*/ 2934788 w 4667794"/>
                <a:gd name="connsiteY51" fmla="*/ 740229 h 3500846"/>
                <a:gd name="connsiteX52" fmla="*/ 2987040 w 4667794"/>
                <a:gd name="connsiteY52" fmla="*/ 705395 h 3500846"/>
                <a:gd name="connsiteX53" fmla="*/ 3074125 w 4667794"/>
                <a:gd name="connsiteY53" fmla="*/ 679269 h 3500846"/>
                <a:gd name="connsiteX54" fmla="*/ 3108960 w 4667794"/>
                <a:gd name="connsiteY54" fmla="*/ 670560 h 3500846"/>
                <a:gd name="connsiteX55" fmla="*/ 3135085 w 4667794"/>
                <a:gd name="connsiteY55" fmla="*/ 661852 h 3500846"/>
                <a:gd name="connsiteX56" fmla="*/ 3178628 w 4667794"/>
                <a:gd name="connsiteY56" fmla="*/ 653143 h 3500846"/>
                <a:gd name="connsiteX57" fmla="*/ 3248297 w 4667794"/>
                <a:gd name="connsiteY57" fmla="*/ 627017 h 3500846"/>
                <a:gd name="connsiteX58" fmla="*/ 3422468 w 4667794"/>
                <a:gd name="connsiteY58" fmla="*/ 592183 h 3500846"/>
                <a:gd name="connsiteX59" fmla="*/ 3457302 w 4667794"/>
                <a:gd name="connsiteY59" fmla="*/ 583475 h 3500846"/>
                <a:gd name="connsiteX60" fmla="*/ 3614057 w 4667794"/>
                <a:gd name="connsiteY60" fmla="*/ 557349 h 3500846"/>
                <a:gd name="connsiteX61" fmla="*/ 3796937 w 4667794"/>
                <a:gd name="connsiteY61" fmla="*/ 566057 h 3500846"/>
                <a:gd name="connsiteX62" fmla="*/ 3884022 w 4667794"/>
                <a:gd name="connsiteY62" fmla="*/ 583475 h 3500846"/>
                <a:gd name="connsiteX63" fmla="*/ 3936274 w 4667794"/>
                <a:gd name="connsiteY63" fmla="*/ 600892 h 3500846"/>
                <a:gd name="connsiteX64" fmla="*/ 4014651 w 4667794"/>
                <a:gd name="connsiteY64" fmla="*/ 609600 h 3500846"/>
                <a:gd name="connsiteX65" fmla="*/ 4093028 w 4667794"/>
                <a:gd name="connsiteY65" fmla="*/ 635726 h 3500846"/>
                <a:gd name="connsiteX66" fmla="*/ 4119154 w 4667794"/>
                <a:gd name="connsiteY66" fmla="*/ 644435 h 3500846"/>
                <a:gd name="connsiteX67" fmla="*/ 4232365 w 4667794"/>
                <a:gd name="connsiteY67" fmla="*/ 679269 h 3500846"/>
                <a:gd name="connsiteX68" fmla="*/ 4275908 w 4667794"/>
                <a:gd name="connsiteY68" fmla="*/ 705395 h 3500846"/>
                <a:gd name="connsiteX69" fmla="*/ 4310742 w 4667794"/>
                <a:gd name="connsiteY69" fmla="*/ 731520 h 3500846"/>
                <a:gd name="connsiteX70" fmla="*/ 4345577 w 4667794"/>
                <a:gd name="connsiteY70" fmla="*/ 783772 h 3500846"/>
                <a:gd name="connsiteX71" fmla="*/ 4362994 w 4667794"/>
                <a:gd name="connsiteY71" fmla="*/ 809897 h 3500846"/>
                <a:gd name="connsiteX72" fmla="*/ 4389120 w 4667794"/>
                <a:gd name="connsiteY72" fmla="*/ 844732 h 3500846"/>
                <a:gd name="connsiteX73" fmla="*/ 4415245 w 4667794"/>
                <a:gd name="connsiteY73" fmla="*/ 896983 h 3500846"/>
                <a:gd name="connsiteX74" fmla="*/ 4450080 w 4667794"/>
                <a:gd name="connsiteY74" fmla="*/ 966652 h 3500846"/>
                <a:gd name="connsiteX75" fmla="*/ 4467497 w 4667794"/>
                <a:gd name="connsiteY75" fmla="*/ 1018903 h 3500846"/>
                <a:gd name="connsiteX76" fmla="*/ 4519748 w 4667794"/>
                <a:gd name="connsiteY76" fmla="*/ 1132115 h 3500846"/>
                <a:gd name="connsiteX77" fmla="*/ 4545874 w 4667794"/>
                <a:gd name="connsiteY77" fmla="*/ 1210492 h 3500846"/>
                <a:gd name="connsiteX78" fmla="*/ 4563291 w 4667794"/>
                <a:gd name="connsiteY78" fmla="*/ 1262743 h 3500846"/>
                <a:gd name="connsiteX79" fmla="*/ 4606834 w 4667794"/>
                <a:gd name="connsiteY79" fmla="*/ 1375955 h 3500846"/>
                <a:gd name="connsiteX80" fmla="*/ 4624251 w 4667794"/>
                <a:gd name="connsiteY80" fmla="*/ 1445623 h 3500846"/>
                <a:gd name="connsiteX81" fmla="*/ 4632960 w 4667794"/>
                <a:gd name="connsiteY81" fmla="*/ 1471749 h 3500846"/>
                <a:gd name="connsiteX82" fmla="*/ 4650377 w 4667794"/>
                <a:gd name="connsiteY82" fmla="*/ 1532709 h 3500846"/>
                <a:gd name="connsiteX83" fmla="*/ 4659085 w 4667794"/>
                <a:gd name="connsiteY83" fmla="*/ 1611086 h 3500846"/>
                <a:gd name="connsiteX84" fmla="*/ 4667794 w 4667794"/>
                <a:gd name="connsiteY84" fmla="*/ 1637212 h 3500846"/>
                <a:gd name="connsiteX85" fmla="*/ 4659085 w 4667794"/>
                <a:gd name="connsiteY85" fmla="*/ 1785257 h 3500846"/>
                <a:gd name="connsiteX86" fmla="*/ 4650377 w 4667794"/>
                <a:gd name="connsiteY86" fmla="*/ 1811383 h 3500846"/>
                <a:gd name="connsiteX87" fmla="*/ 4624251 w 4667794"/>
                <a:gd name="connsiteY87" fmla="*/ 1915886 h 3500846"/>
                <a:gd name="connsiteX88" fmla="*/ 4606834 w 4667794"/>
                <a:gd name="connsiteY88" fmla="*/ 1976846 h 3500846"/>
                <a:gd name="connsiteX89" fmla="*/ 4580708 w 4667794"/>
                <a:gd name="connsiteY89" fmla="*/ 2055223 h 3500846"/>
                <a:gd name="connsiteX90" fmla="*/ 4563291 w 4667794"/>
                <a:gd name="connsiteY90" fmla="*/ 2177143 h 3500846"/>
                <a:gd name="connsiteX91" fmla="*/ 4528457 w 4667794"/>
                <a:gd name="connsiteY91" fmla="*/ 2246812 h 3500846"/>
                <a:gd name="connsiteX92" fmla="*/ 4511040 w 4667794"/>
                <a:gd name="connsiteY92" fmla="*/ 2299063 h 3500846"/>
                <a:gd name="connsiteX93" fmla="*/ 4484914 w 4667794"/>
                <a:gd name="connsiteY93" fmla="*/ 2360023 h 3500846"/>
                <a:gd name="connsiteX94" fmla="*/ 4458788 w 4667794"/>
                <a:gd name="connsiteY94" fmla="*/ 2438400 h 3500846"/>
                <a:gd name="connsiteX95" fmla="*/ 4432662 w 4667794"/>
                <a:gd name="connsiteY95" fmla="*/ 2473235 h 3500846"/>
                <a:gd name="connsiteX96" fmla="*/ 4380411 w 4667794"/>
                <a:gd name="connsiteY96" fmla="*/ 2595155 h 3500846"/>
                <a:gd name="connsiteX97" fmla="*/ 4354285 w 4667794"/>
                <a:gd name="connsiteY97" fmla="*/ 2629989 h 3500846"/>
                <a:gd name="connsiteX98" fmla="*/ 4328160 w 4667794"/>
                <a:gd name="connsiteY98" fmla="*/ 2690949 h 3500846"/>
                <a:gd name="connsiteX99" fmla="*/ 4275908 w 4667794"/>
                <a:gd name="connsiteY99" fmla="*/ 2786743 h 3500846"/>
                <a:gd name="connsiteX100" fmla="*/ 4249782 w 4667794"/>
                <a:gd name="connsiteY100" fmla="*/ 2812869 h 3500846"/>
                <a:gd name="connsiteX101" fmla="*/ 4180114 w 4667794"/>
                <a:gd name="connsiteY101" fmla="*/ 2891246 h 3500846"/>
                <a:gd name="connsiteX102" fmla="*/ 4145280 w 4667794"/>
                <a:gd name="connsiteY102" fmla="*/ 2926080 h 3500846"/>
                <a:gd name="connsiteX103" fmla="*/ 3988525 w 4667794"/>
                <a:gd name="connsiteY103" fmla="*/ 3056709 h 3500846"/>
                <a:gd name="connsiteX104" fmla="*/ 3918857 w 4667794"/>
                <a:gd name="connsiteY104" fmla="*/ 3100252 h 3500846"/>
                <a:gd name="connsiteX105" fmla="*/ 3840480 w 4667794"/>
                <a:gd name="connsiteY105" fmla="*/ 3135086 h 3500846"/>
                <a:gd name="connsiteX106" fmla="*/ 3753394 w 4667794"/>
                <a:gd name="connsiteY106" fmla="*/ 3178629 h 3500846"/>
                <a:gd name="connsiteX107" fmla="*/ 3666308 w 4667794"/>
                <a:gd name="connsiteY107" fmla="*/ 3204755 h 3500846"/>
                <a:gd name="connsiteX108" fmla="*/ 3483428 w 4667794"/>
                <a:gd name="connsiteY108" fmla="*/ 3274423 h 3500846"/>
                <a:gd name="connsiteX109" fmla="*/ 3344091 w 4667794"/>
                <a:gd name="connsiteY109" fmla="*/ 3309257 h 3500846"/>
                <a:gd name="connsiteX110" fmla="*/ 3248297 w 4667794"/>
                <a:gd name="connsiteY110" fmla="*/ 3344092 h 3500846"/>
                <a:gd name="connsiteX111" fmla="*/ 3204754 w 4667794"/>
                <a:gd name="connsiteY111" fmla="*/ 3352800 h 3500846"/>
                <a:gd name="connsiteX112" fmla="*/ 3021874 w 4667794"/>
                <a:gd name="connsiteY112" fmla="*/ 3413760 h 3500846"/>
                <a:gd name="connsiteX113" fmla="*/ 2882537 w 4667794"/>
                <a:gd name="connsiteY113" fmla="*/ 3439886 h 3500846"/>
                <a:gd name="connsiteX114" fmla="*/ 2786742 w 4667794"/>
                <a:gd name="connsiteY114" fmla="*/ 3466012 h 3500846"/>
                <a:gd name="connsiteX115" fmla="*/ 2638697 w 4667794"/>
                <a:gd name="connsiteY115" fmla="*/ 3492137 h 3500846"/>
                <a:gd name="connsiteX116" fmla="*/ 2481942 w 4667794"/>
                <a:gd name="connsiteY116" fmla="*/ 3500846 h 3500846"/>
                <a:gd name="connsiteX117" fmla="*/ 2151017 w 4667794"/>
                <a:gd name="connsiteY117" fmla="*/ 3483429 h 3500846"/>
                <a:gd name="connsiteX118" fmla="*/ 2098765 w 4667794"/>
                <a:gd name="connsiteY118" fmla="*/ 3474720 h 3500846"/>
                <a:gd name="connsiteX119" fmla="*/ 2002971 w 4667794"/>
                <a:gd name="connsiteY119" fmla="*/ 3466012 h 3500846"/>
                <a:gd name="connsiteX120" fmla="*/ 1811382 w 4667794"/>
                <a:gd name="connsiteY120" fmla="*/ 3431177 h 3500846"/>
                <a:gd name="connsiteX121" fmla="*/ 1741714 w 4667794"/>
                <a:gd name="connsiteY121" fmla="*/ 3405052 h 3500846"/>
                <a:gd name="connsiteX122" fmla="*/ 1637211 w 4667794"/>
                <a:gd name="connsiteY122" fmla="*/ 3378926 h 3500846"/>
                <a:gd name="connsiteX123" fmla="*/ 1576251 w 4667794"/>
                <a:gd name="connsiteY123" fmla="*/ 3344092 h 3500846"/>
                <a:gd name="connsiteX124" fmla="*/ 1550125 w 4667794"/>
                <a:gd name="connsiteY124" fmla="*/ 3335383 h 3500846"/>
                <a:gd name="connsiteX125" fmla="*/ 1489165 w 4667794"/>
                <a:gd name="connsiteY125" fmla="*/ 3309257 h 3500846"/>
                <a:gd name="connsiteX126" fmla="*/ 1384662 w 4667794"/>
                <a:gd name="connsiteY126" fmla="*/ 3265715 h 3500846"/>
                <a:gd name="connsiteX127" fmla="*/ 1123405 w 4667794"/>
                <a:gd name="connsiteY127" fmla="*/ 3126377 h 3500846"/>
                <a:gd name="connsiteX128" fmla="*/ 923108 w 4667794"/>
                <a:gd name="connsiteY128" fmla="*/ 3021875 h 3500846"/>
                <a:gd name="connsiteX129" fmla="*/ 757645 w 4667794"/>
                <a:gd name="connsiteY129" fmla="*/ 2934789 h 3500846"/>
                <a:gd name="connsiteX130" fmla="*/ 722811 w 4667794"/>
                <a:gd name="connsiteY130" fmla="*/ 2908663 h 3500846"/>
                <a:gd name="connsiteX131" fmla="*/ 679268 w 4667794"/>
                <a:gd name="connsiteY131" fmla="*/ 2882537 h 3500846"/>
                <a:gd name="connsiteX132" fmla="*/ 644434 w 4667794"/>
                <a:gd name="connsiteY132" fmla="*/ 2856412 h 3500846"/>
                <a:gd name="connsiteX133" fmla="*/ 539931 w 4667794"/>
                <a:gd name="connsiteY133" fmla="*/ 2769326 h 3500846"/>
                <a:gd name="connsiteX134" fmla="*/ 505097 w 4667794"/>
                <a:gd name="connsiteY134" fmla="*/ 2725783 h 3500846"/>
                <a:gd name="connsiteX135" fmla="*/ 426720 w 4667794"/>
                <a:gd name="connsiteY135" fmla="*/ 2647406 h 3500846"/>
                <a:gd name="connsiteX136" fmla="*/ 287382 w 4667794"/>
                <a:gd name="connsiteY136" fmla="*/ 2490652 h 3500846"/>
                <a:gd name="connsiteX137" fmla="*/ 261257 w 4667794"/>
                <a:gd name="connsiteY137" fmla="*/ 2455817 h 3500846"/>
                <a:gd name="connsiteX138" fmla="*/ 191588 w 4667794"/>
                <a:gd name="connsiteY138" fmla="*/ 2325189 h 3500846"/>
                <a:gd name="connsiteX139" fmla="*/ 121920 w 4667794"/>
                <a:gd name="connsiteY139" fmla="*/ 2203269 h 3500846"/>
                <a:gd name="connsiteX140" fmla="*/ 78377 w 4667794"/>
                <a:gd name="connsiteY140" fmla="*/ 2055223 h 3500846"/>
                <a:gd name="connsiteX141" fmla="*/ 69668 w 4667794"/>
                <a:gd name="connsiteY141" fmla="*/ 1994263 h 3500846"/>
                <a:gd name="connsiteX142" fmla="*/ 52251 w 4667794"/>
                <a:gd name="connsiteY142" fmla="*/ 1759132 h 3500846"/>
                <a:gd name="connsiteX143" fmla="*/ 69668 w 4667794"/>
                <a:gd name="connsiteY143" fmla="*/ 1367246 h 3500846"/>
                <a:gd name="connsiteX144" fmla="*/ 78377 w 4667794"/>
                <a:gd name="connsiteY144" fmla="*/ 1341120 h 3500846"/>
                <a:gd name="connsiteX145" fmla="*/ 87085 w 4667794"/>
                <a:gd name="connsiteY145" fmla="*/ 1271452 h 3500846"/>
                <a:gd name="connsiteX146" fmla="*/ 69668 w 4667794"/>
                <a:gd name="connsiteY146" fmla="*/ 1079863 h 3500846"/>
                <a:gd name="connsiteX147" fmla="*/ 52251 w 4667794"/>
                <a:gd name="connsiteY147" fmla="*/ 1027612 h 3500846"/>
                <a:gd name="connsiteX148" fmla="*/ 43542 w 4667794"/>
                <a:gd name="connsiteY148" fmla="*/ 1001486 h 3500846"/>
                <a:gd name="connsiteX149" fmla="*/ 26125 w 4667794"/>
                <a:gd name="connsiteY149" fmla="*/ 975360 h 3500846"/>
                <a:gd name="connsiteX150" fmla="*/ 0 w 4667794"/>
                <a:gd name="connsiteY150" fmla="*/ 940526 h 350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4667794" h="3500846">
                  <a:moveTo>
                    <a:pt x="0" y="940526"/>
                  </a:moveTo>
                  <a:lnTo>
                    <a:pt x="0" y="940526"/>
                  </a:lnTo>
                  <a:cubicBezTo>
                    <a:pt x="26126" y="920206"/>
                    <a:pt x="53640" y="901555"/>
                    <a:pt x="78377" y="879566"/>
                  </a:cubicBezTo>
                  <a:cubicBezTo>
                    <a:pt x="105992" y="855020"/>
                    <a:pt x="127590" y="823872"/>
                    <a:pt x="156754" y="801189"/>
                  </a:cubicBezTo>
                  <a:lnTo>
                    <a:pt x="235131" y="740229"/>
                  </a:lnTo>
                  <a:cubicBezTo>
                    <a:pt x="249747" y="728745"/>
                    <a:pt x="263209" y="715706"/>
                    <a:pt x="278674" y="705395"/>
                  </a:cubicBezTo>
                  <a:cubicBezTo>
                    <a:pt x="287383" y="699589"/>
                    <a:pt x="296504" y="694359"/>
                    <a:pt x="304800" y="687977"/>
                  </a:cubicBezTo>
                  <a:cubicBezTo>
                    <a:pt x="334265" y="665311"/>
                    <a:pt x="358635" y="634934"/>
                    <a:pt x="391885" y="618309"/>
                  </a:cubicBezTo>
                  <a:cubicBezTo>
                    <a:pt x="449814" y="589345"/>
                    <a:pt x="405029" y="614334"/>
                    <a:pt x="461554" y="574766"/>
                  </a:cubicBezTo>
                  <a:cubicBezTo>
                    <a:pt x="588919" y="485610"/>
                    <a:pt x="426388" y="605494"/>
                    <a:pt x="583474" y="487680"/>
                  </a:cubicBezTo>
                  <a:cubicBezTo>
                    <a:pt x="595085" y="478972"/>
                    <a:pt x="607158" y="470847"/>
                    <a:pt x="618308" y="461555"/>
                  </a:cubicBezTo>
                  <a:cubicBezTo>
                    <a:pt x="635725" y="447041"/>
                    <a:pt x="653708" y="433179"/>
                    <a:pt x="670560" y="418012"/>
                  </a:cubicBezTo>
                  <a:cubicBezTo>
                    <a:pt x="682766" y="407027"/>
                    <a:pt x="692858" y="393784"/>
                    <a:pt x="705394" y="383177"/>
                  </a:cubicBezTo>
                  <a:cubicBezTo>
                    <a:pt x="730660" y="361798"/>
                    <a:pt x="757537" y="342397"/>
                    <a:pt x="783771" y="322217"/>
                  </a:cubicBezTo>
                  <a:cubicBezTo>
                    <a:pt x="795275" y="313368"/>
                    <a:pt x="808342" y="306355"/>
                    <a:pt x="818605" y="296092"/>
                  </a:cubicBezTo>
                  <a:cubicBezTo>
                    <a:pt x="836022" y="278675"/>
                    <a:pt x="848826" y="254856"/>
                    <a:pt x="870857" y="243840"/>
                  </a:cubicBezTo>
                  <a:cubicBezTo>
                    <a:pt x="882468" y="238034"/>
                    <a:pt x="894420" y="232864"/>
                    <a:pt x="905691" y="226423"/>
                  </a:cubicBezTo>
                  <a:cubicBezTo>
                    <a:pt x="914778" y="221230"/>
                    <a:pt x="922776" y="214280"/>
                    <a:pt x="931817" y="209006"/>
                  </a:cubicBezTo>
                  <a:cubicBezTo>
                    <a:pt x="957633" y="193947"/>
                    <a:pt x="983463" y="178829"/>
                    <a:pt x="1010194" y="165463"/>
                  </a:cubicBezTo>
                  <a:cubicBezTo>
                    <a:pt x="1131455" y="104832"/>
                    <a:pt x="1010822" y="170437"/>
                    <a:pt x="1132114" y="121920"/>
                  </a:cubicBezTo>
                  <a:cubicBezTo>
                    <a:pt x="1329429" y="42994"/>
                    <a:pt x="1132496" y="117375"/>
                    <a:pt x="1227908" y="69669"/>
                  </a:cubicBezTo>
                  <a:cubicBezTo>
                    <a:pt x="1247682" y="59782"/>
                    <a:pt x="1267895" y="50534"/>
                    <a:pt x="1288868" y="43543"/>
                  </a:cubicBezTo>
                  <a:cubicBezTo>
                    <a:pt x="1311577" y="35973"/>
                    <a:pt x="1335408" y="32294"/>
                    <a:pt x="1358537" y="26126"/>
                  </a:cubicBezTo>
                  <a:cubicBezTo>
                    <a:pt x="1451323" y="1383"/>
                    <a:pt x="1386246" y="14251"/>
                    <a:pt x="1471748" y="0"/>
                  </a:cubicBezTo>
                  <a:cubicBezTo>
                    <a:pt x="1605616" y="9562"/>
                    <a:pt x="1608339" y="3760"/>
                    <a:pt x="1750422" y="43543"/>
                  </a:cubicBezTo>
                  <a:cubicBezTo>
                    <a:pt x="1771711" y="49504"/>
                    <a:pt x="1790605" y="62114"/>
                    <a:pt x="1811382" y="69669"/>
                  </a:cubicBezTo>
                  <a:cubicBezTo>
                    <a:pt x="1822630" y="73759"/>
                    <a:pt x="1834969" y="74287"/>
                    <a:pt x="1846217" y="78377"/>
                  </a:cubicBezTo>
                  <a:cubicBezTo>
                    <a:pt x="1894191" y="95822"/>
                    <a:pt x="1924502" y="112485"/>
                    <a:pt x="1968137" y="139337"/>
                  </a:cubicBezTo>
                  <a:cubicBezTo>
                    <a:pt x="1985965" y="150308"/>
                    <a:pt x="2004187" y="160916"/>
                    <a:pt x="2020388" y="174172"/>
                  </a:cubicBezTo>
                  <a:cubicBezTo>
                    <a:pt x="2217614" y="335541"/>
                    <a:pt x="1946099" y="129342"/>
                    <a:pt x="2098765" y="243840"/>
                  </a:cubicBezTo>
                  <a:lnTo>
                    <a:pt x="2133600" y="313509"/>
                  </a:lnTo>
                  <a:cubicBezTo>
                    <a:pt x="2139406" y="325120"/>
                    <a:pt x="2146912" y="336027"/>
                    <a:pt x="2151017" y="348343"/>
                  </a:cubicBezTo>
                  <a:cubicBezTo>
                    <a:pt x="2156823" y="365760"/>
                    <a:pt x="2160978" y="383818"/>
                    <a:pt x="2168434" y="400595"/>
                  </a:cubicBezTo>
                  <a:cubicBezTo>
                    <a:pt x="2172685" y="410159"/>
                    <a:pt x="2181170" y="417359"/>
                    <a:pt x="2185851" y="426720"/>
                  </a:cubicBezTo>
                  <a:cubicBezTo>
                    <a:pt x="2192842" y="440702"/>
                    <a:pt x="2196919" y="455978"/>
                    <a:pt x="2203268" y="470263"/>
                  </a:cubicBezTo>
                  <a:cubicBezTo>
                    <a:pt x="2208540" y="482126"/>
                    <a:pt x="2214244" y="493826"/>
                    <a:pt x="2220685" y="505097"/>
                  </a:cubicBezTo>
                  <a:cubicBezTo>
                    <a:pt x="2225878" y="514184"/>
                    <a:pt x="2233421" y="521862"/>
                    <a:pt x="2238102" y="531223"/>
                  </a:cubicBezTo>
                  <a:cubicBezTo>
                    <a:pt x="2242207" y="539434"/>
                    <a:pt x="2243195" y="548911"/>
                    <a:pt x="2246811" y="557349"/>
                  </a:cubicBezTo>
                  <a:cubicBezTo>
                    <a:pt x="2251925" y="569281"/>
                    <a:pt x="2259114" y="580251"/>
                    <a:pt x="2264228" y="592183"/>
                  </a:cubicBezTo>
                  <a:cubicBezTo>
                    <a:pt x="2286837" y="644937"/>
                    <a:pt x="2254276" y="589695"/>
                    <a:pt x="2290354" y="661852"/>
                  </a:cubicBezTo>
                  <a:cubicBezTo>
                    <a:pt x="2295035" y="671213"/>
                    <a:pt x="2303090" y="678616"/>
                    <a:pt x="2307771" y="687977"/>
                  </a:cubicBezTo>
                  <a:cubicBezTo>
                    <a:pt x="2314762" y="701959"/>
                    <a:pt x="2319699" y="716883"/>
                    <a:pt x="2325188" y="731520"/>
                  </a:cubicBezTo>
                  <a:cubicBezTo>
                    <a:pt x="2333687" y="754184"/>
                    <a:pt x="2332818" y="765276"/>
                    <a:pt x="2351314" y="783772"/>
                  </a:cubicBezTo>
                  <a:cubicBezTo>
                    <a:pt x="2364457" y="796915"/>
                    <a:pt x="2379095" y="808755"/>
                    <a:pt x="2394857" y="818606"/>
                  </a:cubicBezTo>
                  <a:cubicBezTo>
                    <a:pt x="2403190" y="823814"/>
                    <a:pt x="2450081" y="834589"/>
                    <a:pt x="2455817" y="836023"/>
                  </a:cubicBezTo>
                  <a:cubicBezTo>
                    <a:pt x="2513874" y="833120"/>
                    <a:pt x="2572077" y="832351"/>
                    <a:pt x="2629988" y="827315"/>
                  </a:cubicBezTo>
                  <a:cubicBezTo>
                    <a:pt x="2639133" y="826520"/>
                    <a:pt x="2647519" y="821829"/>
                    <a:pt x="2656114" y="818606"/>
                  </a:cubicBezTo>
                  <a:cubicBezTo>
                    <a:pt x="2670751" y="813117"/>
                    <a:pt x="2684827" y="806132"/>
                    <a:pt x="2699657" y="801189"/>
                  </a:cubicBezTo>
                  <a:cubicBezTo>
                    <a:pt x="2719706" y="794506"/>
                    <a:pt x="2740229" y="789333"/>
                    <a:pt x="2760617" y="783772"/>
                  </a:cubicBezTo>
                  <a:cubicBezTo>
                    <a:pt x="2772164" y="780623"/>
                    <a:pt x="2783675" y="777204"/>
                    <a:pt x="2795451" y="775063"/>
                  </a:cubicBezTo>
                  <a:cubicBezTo>
                    <a:pt x="2835353" y="767808"/>
                    <a:pt x="2855685" y="769499"/>
                    <a:pt x="2891245" y="757646"/>
                  </a:cubicBezTo>
                  <a:cubicBezTo>
                    <a:pt x="2906075" y="752703"/>
                    <a:pt x="2921064" y="747715"/>
                    <a:pt x="2934788" y="740229"/>
                  </a:cubicBezTo>
                  <a:cubicBezTo>
                    <a:pt x="2953165" y="730205"/>
                    <a:pt x="2967181" y="712015"/>
                    <a:pt x="2987040" y="705395"/>
                  </a:cubicBezTo>
                  <a:cubicBezTo>
                    <a:pt x="3026722" y="692167"/>
                    <a:pt x="3019283" y="694226"/>
                    <a:pt x="3074125" y="679269"/>
                  </a:cubicBezTo>
                  <a:cubicBezTo>
                    <a:pt x="3085672" y="676120"/>
                    <a:pt x="3097451" y="673848"/>
                    <a:pt x="3108960" y="670560"/>
                  </a:cubicBezTo>
                  <a:cubicBezTo>
                    <a:pt x="3117786" y="668038"/>
                    <a:pt x="3126180" y="664078"/>
                    <a:pt x="3135085" y="661852"/>
                  </a:cubicBezTo>
                  <a:cubicBezTo>
                    <a:pt x="3149445" y="658262"/>
                    <a:pt x="3164268" y="656733"/>
                    <a:pt x="3178628" y="653143"/>
                  </a:cubicBezTo>
                  <a:cubicBezTo>
                    <a:pt x="3215633" y="643892"/>
                    <a:pt x="3202960" y="640352"/>
                    <a:pt x="3248297" y="627017"/>
                  </a:cubicBezTo>
                  <a:cubicBezTo>
                    <a:pt x="3384269" y="587025"/>
                    <a:pt x="3311458" y="610685"/>
                    <a:pt x="3422468" y="592183"/>
                  </a:cubicBezTo>
                  <a:cubicBezTo>
                    <a:pt x="3434274" y="590215"/>
                    <a:pt x="3445496" y="585443"/>
                    <a:pt x="3457302" y="583475"/>
                  </a:cubicBezTo>
                  <a:cubicBezTo>
                    <a:pt x="3629293" y="554809"/>
                    <a:pt x="3528251" y="578799"/>
                    <a:pt x="3614057" y="557349"/>
                  </a:cubicBezTo>
                  <a:cubicBezTo>
                    <a:pt x="3675017" y="560252"/>
                    <a:pt x="3736075" y="561549"/>
                    <a:pt x="3796937" y="566057"/>
                  </a:cubicBezTo>
                  <a:cubicBezTo>
                    <a:pt x="3817777" y="567601"/>
                    <a:pt x="3861352" y="576674"/>
                    <a:pt x="3884022" y="583475"/>
                  </a:cubicBezTo>
                  <a:cubicBezTo>
                    <a:pt x="3901607" y="588751"/>
                    <a:pt x="3918271" y="597292"/>
                    <a:pt x="3936274" y="600892"/>
                  </a:cubicBezTo>
                  <a:cubicBezTo>
                    <a:pt x="3962050" y="606047"/>
                    <a:pt x="3988525" y="606697"/>
                    <a:pt x="4014651" y="609600"/>
                  </a:cubicBezTo>
                  <a:lnTo>
                    <a:pt x="4093028" y="635726"/>
                  </a:lnTo>
                  <a:cubicBezTo>
                    <a:pt x="4101737" y="638629"/>
                    <a:pt x="4110327" y="641913"/>
                    <a:pt x="4119154" y="644435"/>
                  </a:cubicBezTo>
                  <a:cubicBezTo>
                    <a:pt x="4127153" y="646720"/>
                    <a:pt x="4221410" y="672696"/>
                    <a:pt x="4232365" y="679269"/>
                  </a:cubicBezTo>
                  <a:cubicBezTo>
                    <a:pt x="4246879" y="687978"/>
                    <a:pt x="4261824" y="696006"/>
                    <a:pt x="4275908" y="705395"/>
                  </a:cubicBezTo>
                  <a:cubicBezTo>
                    <a:pt x="4287984" y="713446"/>
                    <a:pt x="4301099" y="720672"/>
                    <a:pt x="4310742" y="731520"/>
                  </a:cubicBezTo>
                  <a:cubicBezTo>
                    <a:pt x="4324649" y="747166"/>
                    <a:pt x="4333965" y="766355"/>
                    <a:pt x="4345577" y="783772"/>
                  </a:cubicBezTo>
                  <a:cubicBezTo>
                    <a:pt x="4351383" y="792480"/>
                    <a:pt x="4356714" y="801524"/>
                    <a:pt x="4362994" y="809897"/>
                  </a:cubicBezTo>
                  <a:cubicBezTo>
                    <a:pt x="4371703" y="821509"/>
                    <a:pt x="4381652" y="832286"/>
                    <a:pt x="4389120" y="844732"/>
                  </a:cubicBezTo>
                  <a:cubicBezTo>
                    <a:pt x="4399139" y="861430"/>
                    <a:pt x="4407756" y="879008"/>
                    <a:pt x="4415245" y="896983"/>
                  </a:cubicBezTo>
                  <a:cubicBezTo>
                    <a:pt x="4443835" y="965600"/>
                    <a:pt x="4415844" y="932418"/>
                    <a:pt x="4450080" y="966652"/>
                  </a:cubicBezTo>
                  <a:cubicBezTo>
                    <a:pt x="4455886" y="984069"/>
                    <a:pt x="4460436" y="1001956"/>
                    <a:pt x="4467497" y="1018903"/>
                  </a:cubicBezTo>
                  <a:cubicBezTo>
                    <a:pt x="4520316" y="1145672"/>
                    <a:pt x="4466869" y="991107"/>
                    <a:pt x="4519748" y="1132115"/>
                  </a:cubicBezTo>
                  <a:cubicBezTo>
                    <a:pt x="4529418" y="1157900"/>
                    <a:pt x="4537165" y="1184366"/>
                    <a:pt x="4545874" y="1210492"/>
                  </a:cubicBezTo>
                  <a:cubicBezTo>
                    <a:pt x="4551680" y="1227909"/>
                    <a:pt x="4556473" y="1245697"/>
                    <a:pt x="4563291" y="1262743"/>
                  </a:cubicBezTo>
                  <a:cubicBezTo>
                    <a:pt x="4565337" y="1267857"/>
                    <a:pt x="4598866" y="1346739"/>
                    <a:pt x="4606834" y="1375955"/>
                  </a:cubicBezTo>
                  <a:cubicBezTo>
                    <a:pt x="4613132" y="1399049"/>
                    <a:pt x="4617953" y="1422529"/>
                    <a:pt x="4624251" y="1445623"/>
                  </a:cubicBezTo>
                  <a:cubicBezTo>
                    <a:pt x="4626666" y="1454479"/>
                    <a:pt x="4630322" y="1462956"/>
                    <a:pt x="4632960" y="1471749"/>
                  </a:cubicBezTo>
                  <a:cubicBezTo>
                    <a:pt x="4639033" y="1491991"/>
                    <a:pt x="4644571" y="1512389"/>
                    <a:pt x="4650377" y="1532709"/>
                  </a:cubicBezTo>
                  <a:cubicBezTo>
                    <a:pt x="4653280" y="1558835"/>
                    <a:pt x="4654764" y="1585157"/>
                    <a:pt x="4659085" y="1611086"/>
                  </a:cubicBezTo>
                  <a:cubicBezTo>
                    <a:pt x="4660594" y="1620141"/>
                    <a:pt x="4667794" y="1628032"/>
                    <a:pt x="4667794" y="1637212"/>
                  </a:cubicBezTo>
                  <a:cubicBezTo>
                    <a:pt x="4667794" y="1686646"/>
                    <a:pt x="4664004" y="1736069"/>
                    <a:pt x="4659085" y="1785257"/>
                  </a:cubicBezTo>
                  <a:cubicBezTo>
                    <a:pt x="4658172" y="1794391"/>
                    <a:pt x="4652742" y="1802513"/>
                    <a:pt x="4650377" y="1811383"/>
                  </a:cubicBezTo>
                  <a:cubicBezTo>
                    <a:pt x="4641125" y="1846077"/>
                    <a:pt x="4635606" y="1881822"/>
                    <a:pt x="4624251" y="1915886"/>
                  </a:cubicBezTo>
                  <a:cubicBezTo>
                    <a:pt x="4586603" y="2028824"/>
                    <a:pt x="4650564" y="1834724"/>
                    <a:pt x="4606834" y="1976846"/>
                  </a:cubicBezTo>
                  <a:cubicBezTo>
                    <a:pt x="4598735" y="2003167"/>
                    <a:pt x="4589417" y="2029097"/>
                    <a:pt x="4580708" y="2055223"/>
                  </a:cubicBezTo>
                  <a:cubicBezTo>
                    <a:pt x="4574902" y="2095863"/>
                    <a:pt x="4574093" y="2137537"/>
                    <a:pt x="4563291" y="2177143"/>
                  </a:cubicBezTo>
                  <a:cubicBezTo>
                    <a:pt x="4556459" y="2202192"/>
                    <a:pt x="4538685" y="2222947"/>
                    <a:pt x="4528457" y="2246812"/>
                  </a:cubicBezTo>
                  <a:cubicBezTo>
                    <a:pt x="4521225" y="2263687"/>
                    <a:pt x="4517631" y="2281928"/>
                    <a:pt x="4511040" y="2299063"/>
                  </a:cubicBezTo>
                  <a:cubicBezTo>
                    <a:pt x="4503104" y="2319697"/>
                    <a:pt x="4492677" y="2339323"/>
                    <a:pt x="4484914" y="2360023"/>
                  </a:cubicBezTo>
                  <a:cubicBezTo>
                    <a:pt x="4475244" y="2385808"/>
                    <a:pt x="4470328" y="2413396"/>
                    <a:pt x="4458788" y="2438400"/>
                  </a:cubicBezTo>
                  <a:cubicBezTo>
                    <a:pt x="4452706" y="2451579"/>
                    <a:pt x="4439153" y="2460253"/>
                    <a:pt x="4432662" y="2473235"/>
                  </a:cubicBezTo>
                  <a:cubicBezTo>
                    <a:pt x="4412889" y="2512782"/>
                    <a:pt x="4406940" y="2559783"/>
                    <a:pt x="4380411" y="2595155"/>
                  </a:cubicBezTo>
                  <a:cubicBezTo>
                    <a:pt x="4371702" y="2606766"/>
                    <a:pt x="4361235" y="2617247"/>
                    <a:pt x="4354285" y="2629989"/>
                  </a:cubicBezTo>
                  <a:cubicBezTo>
                    <a:pt x="4343699" y="2649397"/>
                    <a:pt x="4337308" y="2670823"/>
                    <a:pt x="4328160" y="2690949"/>
                  </a:cubicBezTo>
                  <a:cubicBezTo>
                    <a:pt x="4317049" y="2715394"/>
                    <a:pt x="4286944" y="2770977"/>
                    <a:pt x="4275908" y="2786743"/>
                  </a:cubicBezTo>
                  <a:cubicBezTo>
                    <a:pt x="4268845" y="2796833"/>
                    <a:pt x="4257171" y="2803016"/>
                    <a:pt x="4249782" y="2812869"/>
                  </a:cubicBezTo>
                  <a:cubicBezTo>
                    <a:pt x="4176990" y="2909927"/>
                    <a:pt x="4277620" y="2804575"/>
                    <a:pt x="4180114" y="2891246"/>
                  </a:cubicBezTo>
                  <a:cubicBezTo>
                    <a:pt x="4167841" y="2902155"/>
                    <a:pt x="4157346" y="2914942"/>
                    <a:pt x="4145280" y="2926080"/>
                  </a:cubicBezTo>
                  <a:cubicBezTo>
                    <a:pt x="4095443" y="2972083"/>
                    <a:pt x="4044047" y="3017517"/>
                    <a:pt x="3988525" y="3056709"/>
                  </a:cubicBezTo>
                  <a:cubicBezTo>
                    <a:pt x="3966152" y="3072502"/>
                    <a:pt x="3943060" y="3087439"/>
                    <a:pt x="3918857" y="3100252"/>
                  </a:cubicBezTo>
                  <a:cubicBezTo>
                    <a:pt x="3893590" y="3113629"/>
                    <a:pt x="3866318" y="3122847"/>
                    <a:pt x="3840480" y="3135086"/>
                  </a:cubicBezTo>
                  <a:cubicBezTo>
                    <a:pt x="3811149" y="3148980"/>
                    <a:pt x="3783528" y="3166575"/>
                    <a:pt x="3753394" y="3178629"/>
                  </a:cubicBezTo>
                  <a:cubicBezTo>
                    <a:pt x="3725255" y="3189885"/>
                    <a:pt x="3694870" y="3194620"/>
                    <a:pt x="3666308" y="3204755"/>
                  </a:cubicBezTo>
                  <a:cubicBezTo>
                    <a:pt x="3604830" y="3226570"/>
                    <a:pt x="3547395" y="3261629"/>
                    <a:pt x="3483428" y="3274423"/>
                  </a:cubicBezTo>
                  <a:cubicBezTo>
                    <a:pt x="3426368" y="3285835"/>
                    <a:pt x="3411819" y="3287707"/>
                    <a:pt x="3344091" y="3309257"/>
                  </a:cubicBezTo>
                  <a:cubicBezTo>
                    <a:pt x="3311713" y="3319559"/>
                    <a:pt x="3280727" y="3333957"/>
                    <a:pt x="3248297" y="3344092"/>
                  </a:cubicBezTo>
                  <a:cubicBezTo>
                    <a:pt x="3234169" y="3348507"/>
                    <a:pt x="3218882" y="3348385"/>
                    <a:pt x="3204754" y="3352800"/>
                  </a:cubicBezTo>
                  <a:cubicBezTo>
                    <a:pt x="3116304" y="3380441"/>
                    <a:pt x="3109548" y="3393528"/>
                    <a:pt x="3021874" y="3413760"/>
                  </a:cubicBezTo>
                  <a:cubicBezTo>
                    <a:pt x="2975829" y="3424386"/>
                    <a:pt x="2928127" y="3427452"/>
                    <a:pt x="2882537" y="3439886"/>
                  </a:cubicBezTo>
                  <a:cubicBezTo>
                    <a:pt x="2850605" y="3448595"/>
                    <a:pt x="2818852" y="3457985"/>
                    <a:pt x="2786742" y="3466012"/>
                  </a:cubicBezTo>
                  <a:cubicBezTo>
                    <a:pt x="2756818" y="3473493"/>
                    <a:pt x="2642686" y="3491738"/>
                    <a:pt x="2638697" y="3492137"/>
                  </a:cubicBezTo>
                  <a:cubicBezTo>
                    <a:pt x="2586624" y="3497344"/>
                    <a:pt x="2534194" y="3497943"/>
                    <a:pt x="2481942" y="3500846"/>
                  </a:cubicBezTo>
                  <a:cubicBezTo>
                    <a:pt x="2381119" y="3496813"/>
                    <a:pt x="2256022" y="3494482"/>
                    <a:pt x="2151017" y="3483429"/>
                  </a:cubicBezTo>
                  <a:cubicBezTo>
                    <a:pt x="2133456" y="3481581"/>
                    <a:pt x="2116302" y="3476783"/>
                    <a:pt x="2098765" y="3474720"/>
                  </a:cubicBezTo>
                  <a:cubicBezTo>
                    <a:pt x="2066922" y="3470974"/>
                    <a:pt x="2034902" y="3468915"/>
                    <a:pt x="2002971" y="3466012"/>
                  </a:cubicBezTo>
                  <a:cubicBezTo>
                    <a:pt x="1939108" y="3454400"/>
                    <a:pt x="1874594" y="3445926"/>
                    <a:pt x="1811382" y="3431177"/>
                  </a:cubicBezTo>
                  <a:cubicBezTo>
                    <a:pt x="1787229" y="3425541"/>
                    <a:pt x="1765470" y="3412179"/>
                    <a:pt x="1741714" y="3405052"/>
                  </a:cubicBezTo>
                  <a:cubicBezTo>
                    <a:pt x="1707322" y="3394734"/>
                    <a:pt x="1637211" y="3378926"/>
                    <a:pt x="1637211" y="3378926"/>
                  </a:cubicBezTo>
                  <a:cubicBezTo>
                    <a:pt x="1616891" y="3367315"/>
                    <a:pt x="1597184" y="3354558"/>
                    <a:pt x="1576251" y="3344092"/>
                  </a:cubicBezTo>
                  <a:cubicBezTo>
                    <a:pt x="1568040" y="3339987"/>
                    <a:pt x="1558648" y="3338792"/>
                    <a:pt x="1550125" y="3335383"/>
                  </a:cubicBezTo>
                  <a:cubicBezTo>
                    <a:pt x="1529599" y="3327172"/>
                    <a:pt x="1509198" y="3318606"/>
                    <a:pt x="1489165" y="3309257"/>
                  </a:cubicBezTo>
                  <a:cubicBezTo>
                    <a:pt x="1396429" y="3265980"/>
                    <a:pt x="1450385" y="3282144"/>
                    <a:pt x="1384662" y="3265715"/>
                  </a:cubicBezTo>
                  <a:cubicBezTo>
                    <a:pt x="1236076" y="3166656"/>
                    <a:pt x="1364804" y="3247076"/>
                    <a:pt x="1123405" y="3126377"/>
                  </a:cubicBezTo>
                  <a:cubicBezTo>
                    <a:pt x="1056049" y="3092699"/>
                    <a:pt x="990077" y="3056316"/>
                    <a:pt x="923108" y="3021875"/>
                  </a:cubicBezTo>
                  <a:cubicBezTo>
                    <a:pt x="866898" y="2992967"/>
                    <a:pt x="810821" y="2968628"/>
                    <a:pt x="757645" y="2934789"/>
                  </a:cubicBezTo>
                  <a:cubicBezTo>
                    <a:pt x="745400" y="2926997"/>
                    <a:pt x="734888" y="2916714"/>
                    <a:pt x="722811" y="2908663"/>
                  </a:cubicBezTo>
                  <a:cubicBezTo>
                    <a:pt x="708727" y="2899274"/>
                    <a:pt x="693352" y="2891926"/>
                    <a:pt x="679268" y="2882537"/>
                  </a:cubicBezTo>
                  <a:cubicBezTo>
                    <a:pt x="667192" y="2874486"/>
                    <a:pt x="656245" y="2864848"/>
                    <a:pt x="644434" y="2856412"/>
                  </a:cubicBezTo>
                  <a:cubicBezTo>
                    <a:pt x="590059" y="2817574"/>
                    <a:pt x="623339" y="2852735"/>
                    <a:pt x="539931" y="2769326"/>
                  </a:cubicBezTo>
                  <a:cubicBezTo>
                    <a:pt x="526788" y="2756183"/>
                    <a:pt x="517745" y="2739404"/>
                    <a:pt x="505097" y="2725783"/>
                  </a:cubicBezTo>
                  <a:cubicBezTo>
                    <a:pt x="479956" y="2698708"/>
                    <a:pt x="452846" y="2673532"/>
                    <a:pt x="426720" y="2647406"/>
                  </a:cubicBezTo>
                  <a:cubicBezTo>
                    <a:pt x="371704" y="2592390"/>
                    <a:pt x="344981" y="2567454"/>
                    <a:pt x="287382" y="2490652"/>
                  </a:cubicBezTo>
                  <a:cubicBezTo>
                    <a:pt x="278674" y="2479040"/>
                    <a:pt x="269049" y="2468062"/>
                    <a:pt x="261257" y="2455817"/>
                  </a:cubicBezTo>
                  <a:cubicBezTo>
                    <a:pt x="220082" y="2391113"/>
                    <a:pt x="229631" y="2394935"/>
                    <a:pt x="191588" y="2325189"/>
                  </a:cubicBezTo>
                  <a:cubicBezTo>
                    <a:pt x="169174" y="2284097"/>
                    <a:pt x="136722" y="2247674"/>
                    <a:pt x="121920" y="2203269"/>
                  </a:cubicBezTo>
                  <a:cubicBezTo>
                    <a:pt x="103573" y="2148231"/>
                    <a:pt x="92138" y="2117148"/>
                    <a:pt x="78377" y="2055223"/>
                  </a:cubicBezTo>
                  <a:cubicBezTo>
                    <a:pt x="73924" y="2035185"/>
                    <a:pt x="72214" y="2014631"/>
                    <a:pt x="69668" y="1994263"/>
                  </a:cubicBezTo>
                  <a:cubicBezTo>
                    <a:pt x="56631" y="1889965"/>
                    <a:pt x="59532" y="1890189"/>
                    <a:pt x="52251" y="1759132"/>
                  </a:cubicBezTo>
                  <a:cubicBezTo>
                    <a:pt x="53577" y="1708758"/>
                    <a:pt x="46829" y="1481440"/>
                    <a:pt x="69668" y="1367246"/>
                  </a:cubicBezTo>
                  <a:cubicBezTo>
                    <a:pt x="71468" y="1358244"/>
                    <a:pt x="75474" y="1349829"/>
                    <a:pt x="78377" y="1341120"/>
                  </a:cubicBezTo>
                  <a:cubicBezTo>
                    <a:pt x="81280" y="1317897"/>
                    <a:pt x="87085" y="1294855"/>
                    <a:pt x="87085" y="1271452"/>
                  </a:cubicBezTo>
                  <a:cubicBezTo>
                    <a:pt x="87085" y="1225688"/>
                    <a:pt x="85205" y="1136830"/>
                    <a:pt x="69668" y="1079863"/>
                  </a:cubicBezTo>
                  <a:cubicBezTo>
                    <a:pt x="64837" y="1062151"/>
                    <a:pt x="58057" y="1045029"/>
                    <a:pt x="52251" y="1027612"/>
                  </a:cubicBezTo>
                  <a:cubicBezTo>
                    <a:pt x="49348" y="1018903"/>
                    <a:pt x="48634" y="1009124"/>
                    <a:pt x="43542" y="1001486"/>
                  </a:cubicBezTo>
                  <a:lnTo>
                    <a:pt x="26125" y="975360"/>
                  </a:lnTo>
                  <a:cubicBezTo>
                    <a:pt x="15364" y="943077"/>
                    <a:pt x="4354" y="946332"/>
                    <a:pt x="0" y="940526"/>
                  </a:cubicBezTo>
                  <a:close/>
                </a:path>
              </a:pathLst>
            </a:cu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C0BA5738-611C-35DF-9366-D650D10234F0}"/>
                </a:ext>
              </a:extLst>
            </p:cNvPr>
            <p:cNvSpPr/>
            <p:nvPr/>
          </p:nvSpPr>
          <p:spPr>
            <a:xfrm>
              <a:off x="5077744" y="3863742"/>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t>
              </a:r>
            </a:p>
          </p:txBody>
        </p:sp>
        <p:sp>
          <p:nvSpPr>
            <p:cNvPr id="5" name="Oval 4">
              <a:extLst>
                <a:ext uri="{FF2B5EF4-FFF2-40B4-BE49-F238E27FC236}">
                  <a16:creationId xmlns:a16="http://schemas.microsoft.com/office/drawing/2014/main" id="{33507764-D4E1-D647-B689-FEEB4C29A59A}"/>
                </a:ext>
              </a:extLst>
            </p:cNvPr>
            <p:cNvSpPr/>
            <p:nvPr/>
          </p:nvSpPr>
          <p:spPr>
            <a:xfrm>
              <a:off x="6300587" y="4077102"/>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Oval 5">
              <a:extLst>
                <a:ext uri="{FF2B5EF4-FFF2-40B4-BE49-F238E27FC236}">
                  <a16:creationId xmlns:a16="http://schemas.microsoft.com/office/drawing/2014/main" id="{2245E462-8612-72FF-C8C3-177BDBA0A65A}"/>
                </a:ext>
              </a:extLst>
            </p:cNvPr>
            <p:cNvSpPr/>
            <p:nvPr/>
          </p:nvSpPr>
          <p:spPr>
            <a:xfrm>
              <a:off x="6836187" y="4586941"/>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 name="Oval 6">
              <a:extLst>
                <a:ext uri="{FF2B5EF4-FFF2-40B4-BE49-F238E27FC236}">
                  <a16:creationId xmlns:a16="http://schemas.microsoft.com/office/drawing/2014/main" id="{9D944DD9-06D6-A6D8-D392-5EA2C6362C8F}"/>
                </a:ext>
              </a:extLst>
            </p:cNvPr>
            <p:cNvSpPr/>
            <p:nvPr/>
          </p:nvSpPr>
          <p:spPr>
            <a:xfrm>
              <a:off x="5142203" y="5013661"/>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Oval 8">
              <a:extLst>
                <a:ext uri="{FF2B5EF4-FFF2-40B4-BE49-F238E27FC236}">
                  <a16:creationId xmlns:a16="http://schemas.microsoft.com/office/drawing/2014/main" id="{64B01151-DA44-9EE6-398C-F9CE16C676AA}"/>
                </a:ext>
              </a:extLst>
            </p:cNvPr>
            <p:cNvSpPr/>
            <p:nvPr/>
          </p:nvSpPr>
          <p:spPr>
            <a:xfrm>
              <a:off x="5677175" y="4632649"/>
              <a:ext cx="426720" cy="426720"/>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Oval 9">
              <a:extLst>
                <a:ext uri="{FF2B5EF4-FFF2-40B4-BE49-F238E27FC236}">
                  <a16:creationId xmlns:a16="http://schemas.microsoft.com/office/drawing/2014/main" id="{4D35F718-E12D-8DB8-E907-9293E9120C51}"/>
                </a:ext>
              </a:extLst>
            </p:cNvPr>
            <p:cNvSpPr/>
            <p:nvPr/>
          </p:nvSpPr>
          <p:spPr>
            <a:xfrm>
              <a:off x="6300587" y="3116397"/>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Oval 10">
              <a:extLst>
                <a:ext uri="{FF2B5EF4-FFF2-40B4-BE49-F238E27FC236}">
                  <a16:creationId xmlns:a16="http://schemas.microsoft.com/office/drawing/2014/main" id="{1AEF85F6-4C11-9448-696C-BD09C7A3677B}"/>
                </a:ext>
              </a:extLst>
            </p:cNvPr>
            <p:cNvSpPr/>
            <p:nvPr/>
          </p:nvSpPr>
          <p:spPr>
            <a:xfrm>
              <a:off x="7642443" y="4587122"/>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 name="Oval 11">
              <a:extLst>
                <a:ext uri="{FF2B5EF4-FFF2-40B4-BE49-F238E27FC236}">
                  <a16:creationId xmlns:a16="http://schemas.microsoft.com/office/drawing/2014/main" id="{E2FBBBA1-8EE6-979E-E28B-5D9D59D1C423}"/>
                </a:ext>
              </a:extLst>
            </p:cNvPr>
            <p:cNvSpPr/>
            <p:nvPr/>
          </p:nvSpPr>
          <p:spPr>
            <a:xfrm>
              <a:off x="4432489" y="5735827"/>
              <a:ext cx="426720" cy="426720"/>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13" name="Straight Connector 12">
              <a:extLst>
                <a:ext uri="{FF2B5EF4-FFF2-40B4-BE49-F238E27FC236}">
                  <a16:creationId xmlns:a16="http://schemas.microsoft.com/office/drawing/2014/main" id="{D20CF444-6AF8-1D8C-EB29-BE3E75831DD7}"/>
                </a:ext>
              </a:extLst>
            </p:cNvPr>
            <p:cNvCxnSpPr>
              <a:cxnSpLocks/>
              <a:stCxn id="5" idx="0"/>
              <a:endCxn id="10" idx="4"/>
            </p:cNvCxnSpPr>
            <p:nvPr/>
          </p:nvCxnSpPr>
          <p:spPr>
            <a:xfrm flipV="1">
              <a:off x="6513947" y="3543117"/>
              <a:ext cx="0" cy="533985"/>
            </a:xfrm>
            <a:prstGeom prst="line">
              <a:avLst/>
            </a:prstGeom>
            <a:ln>
              <a:solidFill>
                <a:schemeClr val="accent3">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7CAF5D74-F0CD-60DA-BA46-3CF1B7C546DA}"/>
                </a:ext>
              </a:extLst>
            </p:cNvPr>
            <p:cNvCxnSpPr>
              <a:cxnSpLocks/>
              <a:stCxn id="6" idx="6"/>
              <a:endCxn id="11" idx="2"/>
            </p:cNvCxnSpPr>
            <p:nvPr/>
          </p:nvCxnSpPr>
          <p:spPr>
            <a:xfrm>
              <a:off x="7262907" y="4800301"/>
              <a:ext cx="379536" cy="181"/>
            </a:xfrm>
            <a:prstGeom prst="line">
              <a:avLst/>
            </a:prstGeom>
            <a:ln>
              <a:solidFill>
                <a:schemeClr val="accent3">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55699E70-B3FC-F8CA-4FB6-3A38CD301401}"/>
                </a:ext>
              </a:extLst>
            </p:cNvPr>
            <p:cNvCxnSpPr>
              <a:cxnSpLocks/>
              <a:stCxn id="7" idx="3"/>
              <a:endCxn id="12" idx="7"/>
            </p:cNvCxnSpPr>
            <p:nvPr/>
          </p:nvCxnSpPr>
          <p:spPr>
            <a:xfrm flipH="1">
              <a:off x="4796717" y="5377889"/>
              <a:ext cx="407978" cy="420430"/>
            </a:xfrm>
            <a:prstGeom prst="line">
              <a:avLst/>
            </a:prstGeom>
            <a:ln>
              <a:solidFill>
                <a:schemeClr val="accent3">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16" name="Oval 15">
              <a:extLst>
                <a:ext uri="{FF2B5EF4-FFF2-40B4-BE49-F238E27FC236}">
                  <a16:creationId xmlns:a16="http://schemas.microsoft.com/office/drawing/2014/main" id="{F03C071D-7A43-1FE5-84D8-7EAAAC77C26A}"/>
                </a:ext>
              </a:extLst>
            </p:cNvPr>
            <p:cNvSpPr/>
            <p:nvPr/>
          </p:nvSpPr>
          <p:spPr>
            <a:xfrm>
              <a:off x="7069682" y="2900555"/>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Oval 16">
              <a:extLst>
                <a:ext uri="{FF2B5EF4-FFF2-40B4-BE49-F238E27FC236}">
                  <a16:creationId xmlns:a16="http://schemas.microsoft.com/office/drawing/2014/main" id="{5C5F2867-0B30-CFEE-8210-BED63A8CA36C}"/>
                </a:ext>
              </a:extLst>
            </p:cNvPr>
            <p:cNvSpPr/>
            <p:nvPr/>
          </p:nvSpPr>
          <p:spPr>
            <a:xfrm>
              <a:off x="8012806" y="5357104"/>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Oval 17">
              <a:extLst>
                <a:ext uri="{FF2B5EF4-FFF2-40B4-BE49-F238E27FC236}">
                  <a16:creationId xmlns:a16="http://schemas.microsoft.com/office/drawing/2014/main" id="{A1AAE4C1-8622-8CFF-2D4B-0F8363C2500E}"/>
                </a:ext>
              </a:extLst>
            </p:cNvPr>
            <p:cNvSpPr/>
            <p:nvPr/>
          </p:nvSpPr>
          <p:spPr>
            <a:xfrm>
              <a:off x="8069163" y="3863742"/>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Oval 18">
              <a:extLst>
                <a:ext uri="{FF2B5EF4-FFF2-40B4-BE49-F238E27FC236}">
                  <a16:creationId xmlns:a16="http://schemas.microsoft.com/office/drawing/2014/main" id="{9D29F5F2-F399-B6E0-06BA-A0654181DFE2}"/>
                </a:ext>
              </a:extLst>
            </p:cNvPr>
            <p:cNvSpPr/>
            <p:nvPr/>
          </p:nvSpPr>
          <p:spPr>
            <a:xfrm>
              <a:off x="3823655" y="4951169"/>
              <a:ext cx="426720" cy="426720"/>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49" name="Straight Connector 48">
              <a:extLst>
                <a:ext uri="{FF2B5EF4-FFF2-40B4-BE49-F238E27FC236}">
                  <a16:creationId xmlns:a16="http://schemas.microsoft.com/office/drawing/2014/main" id="{29C6A4BA-4DFC-F9BD-07C8-46498385450A}"/>
                </a:ext>
              </a:extLst>
            </p:cNvPr>
            <p:cNvCxnSpPr>
              <a:cxnSpLocks/>
              <a:stCxn id="9" idx="1"/>
              <a:endCxn id="4" idx="5"/>
            </p:cNvCxnSpPr>
            <p:nvPr/>
          </p:nvCxnSpPr>
          <p:spPr>
            <a:xfrm flipH="1" flipV="1">
              <a:off x="5441972" y="4227970"/>
              <a:ext cx="297695" cy="467171"/>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52" name="Straight Connector 51">
              <a:extLst>
                <a:ext uri="{FF2B5EF4-FFF2-40B4-BE49-F238E27FC236}">
                  <a16:creationId xmlns:a16="http://schemas.microsoft.com/office/drawing/2014/main" id="{28649CD7-7A58-9D99-D381-66F8F660D6B3}"/>
                </a:ext>
              </a:extLst>
            </p:cNvPr>
            <p:cNvCxnSpPr>
              <a:cxnSpLocks/>
              <a:stCxn id="9" idx="2"/>
              <a:endCxn id="7" idx="7"/>
            </p:cNvCxnSpPr>
            <p:nvPr/>
          </p:nvCxnSpPr>
          <p:spPr>
            <a:xfrm flipH="1">
              <a:off x="5506431" y="4846009"/>
              <a:ext cx="170744" cy="230144"/>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55" name="Straight Connector 54">
              <a:extLst>
                <a:ext uri="{FF2B5EF4-FFF2-40B4-BE49-F238E27FC236}">
                  <a16:creationId xmlns:a16="http://schemas.microsoft.com/office/drawing/2014/main" id="{98D6B97F-8772-3CA2-9EDF-A78D44D50027}"/>
                </a:ext>
              </a:extLst>
            </p:cNvPr>
            <p:cNvCxnSpPr>
              <a:cxnSpLocks/>
              <a:stCxn id="9" idx="7"/>
              <a:endCxn id="5" idx="3"/>
            </p:cNvCxnSpPr>
            <p:nvPr/>
          </p:nvCxnSpPr>
          <p:spPr>
            <a:xfrm flipV="1">
              <a:off x="6041403" y="4441330"/>
              <a:ext cx="321676" cy="253811"/>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58" name="Straight Connector 57">
              <a:extLst>
                <a:ext uri="{FF2B5EF4-FFF2-40B4-BE49-F238E27FC236}">
                  <a16:creationId xmlns:a16="http://schemas.microsoft.com/office/drawing/2014/main" id="{7CB5F9F8-C479-D7DF-C9D0-0E9A29D21CC4}"/>
                </a:ext>
              </a:extLst>
            </p:cNvPr>
            <p:cNvCxnSpPr>
              <a:cxnSpLocks/>
              <a:stCxn id="6" idx="1"/>
              <a:endCxn id="5" idx="5"/>
            </p:cNvCxnSpPr>
            <p:nvPr/>
          </p:nvCxnSpPr>
          <p:spPr>
            <a:xfrm flipH="1" flipV="1">
              <a:off x="6664815" y="4441330"/>
              <a:ext cx="233864" cy="208103"/>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89652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custDataLst>
              <p:tags r:id="rId1"/>
            </p:custDataLst>
          </p:nvPr>
        </p:nvSpPr>
        <p:spPr>
          <a:xfrm>
            <a:off x="1143001" y="265433"/>
            <a:ext cx="9905998" cy="621807"/>
          </a:xfrm>
        </p:spPr>
        <p:txBody>
          <a:bodyPr/>
          <a:lstStyle/>
          <a:p>
            <a:pPr algn="ctr" eaLnBrk="1" hangingPunct="1"/>
            <a:r>
              <a:rPr lang="en-US" dirty="0"/>
              <a:t>Prim’s Algorithm for MST</a:t>
            </a:r>
          </a:p>
        </p:txBody>
      </p:sp>
      <p:sp>
        <p:nvSpPr>
          <p:cNvPr id="66563" name="Rectangle 3"/>
          <p:cNvSpPr>
            <a:spLocks noGrp="1" noChangeArrowheads="1"/>
          </p:cNvSpPr>
          <p:nvPr>
            <p:ph sz="quarter" idx="1"/>
            <p:custDataLst>
              <p:tags r:id="rId2"/>
            </p:custDataLst>
          </p:nvPr>
        </p:nvSpPr>
        <p:spPr>
          <a:xfrm>
            <a:off x="1018514" y="1706282"/>
            <a:ext cx="10154971" cy="3617159"/>
          </a:xfrm>
          <a:solidFill>
            <a:schemeClr val="tx1">
              <a:lumMod val="95000"/>
            </a:schemeClr>
          </a:solidFill>
          <a:ln>
            <a:solidFill>
              <a:schemeClr val="bg1"/>
            </a:solidFill>
          </a:ln>
        </p:spPr>
        <p:txBody>
          <a:bodyPr>
            <a:normAutofit/>
          </a:bodyPr>
          <a:lstStyle/>
          <a:p>
            <a:pPr marL="0" indent="0" eaLnBrk="1" hangingPunct="1">
              <a:buNone/>
            </a:pPr>
            <a:r>
              <a:rPr lang="en-US" sz="1800" i="1" dirty="0">
                <a:solidFill>
                  <a:sysClr val="windowText" lastClr="000000"/>
                </a:solidFill>
                <a:latin typeface="Courier New" panose="02070309020205020404" pitchFamily="49" charset="0"/>
                <a:cs typeface="Courier New" panose="02070309020205020404" pitchFamily="49" charset="0"/>
              </a:rPr>
              <a:t>Pick any node to be </a:t>
            </a:r>
            <a:r>
              <a:rPr lang="en-US" sz="1800" i="1" dirty="0">
                <a:solidFill>
                  <a:schemeClr val="accent2"/>
                </a:solidFill>
                <a:latin typeface="Courier New" panose="02070309020205020404" pitchFamily="49" charset="0"/>
                <a:cs typeface="Courier New" panose="02070309020205020404" pitchFamily="49" charset="0"/>
              </a:rPr>
              <a:t>root s</a:t>
            </a:r>
          </a:p>
          <a:p>
            <a:pPr marL="0" indent="0" eaLnBrk="1" hangingPunct="1">
              <a:buNone/>
            </a:pPr>
            <a:r>
              <a:rPr lang="en-US" sz="1800" i="1" dirty="0">
                <a:solidFill>
                  <a:sysClr val="windowText" lastClr="000000"/>
                </a:solidFill>
                <a:latin typeface="Courier New" panose="02070309020205020404" pitchFamily="49" charset="0"/>
                <a:cs typeface="Courier New" panose="02070309020205020404" pitchFamily="49" charset="0"/>
              </a:rPr>
              <a:t>Pick the edge (</a:t>
            </a:r>
            <a:r>
              <a:rPr lang="en-US" sz="1800" i="1" dirty="0" err="1">
                <a:solidFill>
                  <a:sysClr val="windowText" lastClr="000000"/>
                </a:solidFill>
                <a:latin typeface="Courier New" panose="02070309020205020404" pitchFamily="49" charset="0"/>
                <a:cs typeface="Courier New" panose="02070309020205020404" pitchFamily="49" charset="0"/>
              </a:rPr>
              <a:t>u,v</a:t>
            </a:r>
            <a:r>
              <a:rPr lang="en-US" sz="1800" i="1" dirty="0">
                <a:solidFill>
                  <a:sysClr val="windowText" lastClr="000000"/>
                </a:solidFill>
                <a:latin typeface="Courier New" panose="02070309020205020404" pitchFamily="49" charset="0"/>
                <a:cs typeface="Courier New" panose="02070309020205020404" pitchFamily="49" charset="0"/>
              </a:rPr>
              <a:t>) where:</a:t>
            </a:r>
          </a:p>
          <a:p>
            <a:pPr marL="457200" lvl="1" indent="0" eaLnBrk="1" hangingPunct="1">
              <a:buNone/>
            </a:pPr>
            <a:r>
              <a:rPr lang="en-US" sz="1800" i="1" dirty="0">
                <a:solidFill>
                  <a:schemeClr val="accent2"/>
                </a:solidFill>
                <a:latin typeface="Courier New" panose="02070309020205020404" pitchFamily="49" charset="0"/>
                <a:cs typeface="Courier New" panose="02070309020205020404" pitchFamily="49" charset="0"/>
              </a:rPr>
              <a:t>u is in the tree</a:t>
            </a:r>
            <a:r>
              <a:rPr lang="en-US" sz="1800" i="1" dirty="0">
                <a:solidFill>
                  <a:sysClr val="windowText" lastClr="000000"/>
                </a:solidFill>
                <a:latin typeface="Courier New" panose="02070309020205020404" pitchFamily="49" charset="0"/>
                <a:cs typeface="Courier New" panose="02070309020205020404" pitchFamily="49" charset="0"/>
              </a:rPr>
              <a:t>, </a:t>
            </a:r>
            <a:r>
              <a:rPr lang="en-US" sz="1800" i="1" dirty="0">
                <a:solidFill>
                  <a:schemeClr val="accent3"/>
                </a:solidFill>
                <a:latin typeface="Courier New" panose="02070309020205020404" pitchFamily="49" charset="0"/>
                <a:cs typeface="Courier New" panose="02070309020205020404" pitchFamily="49" charset="0"/>
              </a:rPr>
              <a:t>v is not </a:t>
            </a:r>
            <a:r>
              <a:rPr lang="en-US" sz="1800" i="1" dirty="0">
                <a:solidFill>
                  <a:sysClr val="windowText" lastClr="000000"/>
                </a:solidFill>
                <a:latin typeface="Courier New" panose="02070309020205020404" pitchFamily="49" charset="0"/>
                <a:cs typeface="Courier New" panose="02070309020205020404" pitchFamily="49" charset="0"/>
              </a:rPr>
              <a:t>AND cost of (</a:t>
            </a:r>
            <a:r>
              <a:rPr lang="en-US" sz="1800" i="1" dirty="0" err="1">
                <a:solidFill>
                  <a:sysClr val="windowText" lastClr="000000"/>
                </a:solidFill>
                <a:latin typeface="Courier New" panose="02070309020205020404" pitchFamily="49" charset="0"/>
                <a:cs typeface="Courier New" panose="02070309020205020404" pitchFamily="49" charset="0"/>
              </a:rPr>
              <a:t>u,v</a:t>
            </a:r>
            <a:r>
              <a:rPr lang="en-US" sz="1800" i="1" dirty="0">
                <a:solidFill>
                  <a:sysClr val="windowText" lastClr="000000"/>
                </a:solidFill>
                <a:latin typeface="Courier New" panose="02070309020205020404" pitchFamily="49" charset="0"/>
                <a:cs typeface="Courier New" panose="02070309020205020404" pitchFamily="49" charset="0"/>
              </a:rPr>
              <a:t>) is as small as possible.</a:t>
            </a:r>
          </a:p>
          <a:p>
            <a:pPr marL="457200" lvl="1" indent="0" eaLnBrk="1" hangingPunct="1">
              <a:buNone/>
            </a:pPr>
            <a:r>
              <a:rPr lang="en-US" sz="1800" i="1" dirty="0">
                <a:solidFill>
                  <a:sysClr val="windowText" lastClr="000000"/>
                </a:solidFill>
                <a:latin typeface="Courier New" panose="02070309020205020404" pitchFamily="49" charset="0"/>
                <a:cs typeface="Courier New" panose="02070309020205020404" pitchFamily="49" charset="0"/>
              </a:rPr>
              <a:t>Add </a:t>
            </a:r>
            <a:r>
              <a:rPr lang="en-US" sz="1800" i="1" dirty="0">
                <a:solidFill>
                  <a:schemeClr val="accent2"/>
                </a:solidFill>
                <a:latin typeface="Courier New" panose="02070309020205020404" pitchFamily="49" charset="0"/>
                <a:cs typeface="Courier New" panose="02070309020205020404" pitchFamily="49" charset="0"/>
              </a:rPr>
              <a:t>v to known set</a:t>
            </a:r>
          </a:p>
          <a:p>
            <a:pPr marL="457200" lvl="1" indent="0" eaLnBrk="1" hangingPunct="1">
              <a:buNone/>
            </a:pPr>
            <a:r>
              <a:rPr lang="en-US" sz="1800" i="1" dirty="0">
                <a:solidFill>
                  <a:sysClr val="windowText" lastClr="000000"/>
                </a:solidFill>
                <a:latin typeface="Courier New" panose="02070309020205020404" pitchFamily="49" charset="0"/>
                <a:cs typeface="Courier New" panose="02070309020205020404" pitchFamily="49" charset="0"/>
              </a:rPr>
              <a:t>For each </a:t>
            </a:r>
            <a:r>
              <a:rPr lang="en-US" sz="1800" i="1" dirty="0">
                <a:solidFill>
                  <a:schemeClr val="accent4"/>
                </a:solidFill>
                <a:latin typeface="Courier New" panose="02070309020205020404" pitchFamily="49" charset="0"/>
                <a:cs typeface="Courier New" panose="02070309020205020404" pitchFamily="49" charset="0"/>
              </a:rPr>
              <a:t>v’ neighbor</a:t>
            </a:r>
            <a:r>
              <a:rPr lang="en-US" sz="1800" i="1" dirty="0">
                <a:solidFill>
                  <a:sysClr val="windowText" lastClr="000000"/>
                </a:solidFill>
                <a:latin typeface="Courier New" panose="02070309020205020404" pitchFamily="49" charset="0"/>
                <a:cs typeface="Courier New" panose="02070309020205020404" pitchFamily="49" charset="0"/>
              </a:rPr>
              <a:t> of v:</a:t>
            </a:r>
          </a:p>
          <a:p>
            <a:pPr marL="457200" lvl="1" indent="0" eaLnBrk="1" hangingPunct="1">
              <a:buNone/>
            </a:pPr>
            <a:r>
              <a:rPr lang="en-US" sz="1800" i="1" dirty="0">
                <a:solidFill>
                  <a:sysClr val="windowText" lastClr="000000"/>
                </a:solidFill>
                <a:latin typeface="Courier New" panose="02070309020205020404" pitchFamily="49" charset="0"/>
                <a:cs typeface="Courier New" panose="02070309020205020404" pitchFamily="49" charset="0"/>
              </a:rPr>
              <a:t>	If edge (</a:t>
            </a:r>
            <a:r>
              <a:rPr lang="en-US" sz="1800" i="1" dirty="0" err="1">
                <a:solidFill>
                  <a:sysClr val="windowText" lastClr="000000"/>
                </a:solidFill>
                <a:latin typeface="Courier New" panose="02070309020205020404" pitchFamily="49" charset="0"/>
                <a:cs typeface="Courier New" panose="02070309020205020404" pitchFamily="49" charset="0"/>
              </a:rPr>
              <a:t>v,v</a:t>
            </a:r>
            <a:r>
              <a:rPr lang="en-US" sz="1800" i="1" dirty="0">
                <a:solidFill>
                  <a:sysClr val="windowText" lastClr="000000"/>
                </a:solidFill>
                <a:latin typeface="Courier New" panose="02070309020205020404" pitchFamily="49" charset="0"/>
                <a:cs typeface="Courier New" panose="02070309020205020404" pitchFamily="49" charset="0"/>
              </a:rPr>
              <a:t>’) is lowest cost to v’ </a:t>
            </a:r>
            <a:br>
              <a:rPr lang="en-US" sz="1800" i="1" dirty="0">
                <a:solidFill>
                  <a:sysClr val="windowText" lastClr="000000"/>
                </a:solidFill>
                <a:latin typeface="Courier New" panose="02070309020205020404" pitchFamily="49" charset="0"/>
                <a:cs typeface="Courier New" panose="02070309020205020404" pitchFamily="49" charset="0"/>
              </a:rPr>
            </a:br>
            <a:r>
              <a:rPr lang="en-US" sz="1800" i="1" dirty="0">
                <a:solidFill>
                  <a:sysClr val="windowText" lastClr="000000"/>
                </a:solidFill>
                <a:latin typeface="Courier New" panose="02070309020205020404" pitchFamily="49" charset="0"/>
                <a:cs typeface="Courier New" panose="02070309020205020404" pitchFamily="49" charset="0"/>
              </a:rPr>
              <a:t>	</a:t>
            </a:r>
            <a:r>
              <a:rPr lang="en-US" sz="1800" i="1" dirty="0">
                <a:solidFill>
                  <a:schemeClr val="accent3"/>
                </a:solidFill>
                <a:latin typeface="Courier New" panose="02070309020205020404" pitchFamily="49" charset="0"/>
                <a:cs typeface="Courier New" panose="02070309020205020404" pitchFamily="49" charset="0"/>
              </a:rPr>
              <a:t>update v’ best edge to be this one</a:t>
            </a:r>
          </a:p>
          <a:p>
            <a:pPr marL="457200" lvl="1" indent="0" eaLnBrk="1" hangingPunct="1">
              <a:buNone/>
            </a:pPr>
            <a:r>
              <a:rPr lang="en-US" sz="1800" i="1" dirty="0">
                <a:solidFill>
                  <a:sysClr val="windowText" lastClr="000000"/>
                </a:solidFill>
                <a:latin typeface="Courier New" panose="02070309020205020404" pitchFamily="49" charset="0"/>
                <a:cs typeface="Courier New" panose="02070309020205020404" pitchFamily="49" charset="0"/>
              </a:rPr>
              <a:t>Repeat until no more nodes can be added</a:t>
            </a:r>
          </a:p>
        </p:txBody>
      </p:sp>
    </p:spTree>
    <p:extLst>
      <p:ext uri="{BB962C8B-B14F-4D97-AF65-F5344CB8AC3E}">
        <p14:creationId xmlns:p14="http://schemas.microsoft.com/office/powerpoint/2010/main" val="21631374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custDataLst>
              <p:tags r:id="rId1"/>
            </p:custDataLst>
          </p:nvPr>
        </p:nvSpPr>
        <p:spPr>
          <a:xfrm>
            <a:off x="1524000" y="274638"/>
            <a:ext cx="9512174" cy="658811"/>
          </a:xfrm>
        </p:spPr>
        <p:txBody>
          <a:bodyPr/>
          <a:lstStyle/>
          <a:p>
            <a:pPr algn="ctr" eaLnBrk="1" hangingPunct="1"/>
            <a:r>
              <a:rPr lang="en-US" dirty="0"/>
              <a:t>Example By Hand</a:t>
            </a:r>
          </a:p>
        </p:txBody>
      </p:sp>
      <p:grpSp>
        <p:nvGrpSpPr>
          <p:cNvPr id="2" name="Group 1">
            <a:extLst>
              <a:ext uri="{FF2B5EF4-FFF2-40B4-BE49-F238E27FC236}">
                <a16:creationId xmlns:a16="http://schemas.microsoft.com/office/drawing/2014/main" id="{A9F88D9F-4207-C830-6C06-75EF98D2343A}"/>
              </a:ext>
            </a:extLst>
          </p:cNvPr>
          <p:cNvGrpSpPr/>
          <p:nvPr/>
        </p:nvGrpSpPr>
        <p:grpSpPr>
          <a:xfrm>
            <a:off x="1204298" y="2064977"/>
            <a:ext cx="3699473" cy="3084115"/>
            <a:chOff x="7710488" y="2454275"/>
            <a:chExt cx="3699473" cy="3084115"/>
          </a:xfrm>
        </p:grpSpPr>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12384C0A-02AA-85CD-4C2F-F3EC1E1E1B6F}"/>
                    </a:ext>
                  </a:extLst>
                </p:cNvPr>
                <p:cNvSpPr/>
                <p:nvPr/>
              </p:nvSpPr>
              <p:spPr>
                <a:xfrm>
                  <a:off x="8290323" y="2575321"/>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0</m:t>
                            </m:r>
                          </m:sub>
                        </m:sSub>
                      </m:oMath>
                    </m:oMathPara>
                  </a14:m>
                  <a:endParaRPr lang="en-US" dirty="0">
                    <a:solidFill>
                      <a:schemeClr val="bg1"/>
                    </a:solidFill>
                  </a:endParaRPr>
                </a:p>
              </p:txBody>
            </p:sp>
          </mc:Choice>
          <mc:Fallback xmlns="">
            <p:sp>
              <p:nvSpPr>
                <p:cNvPr id="3" name="Oval 2">
                  <a:extLst>
                    <a:ext uri="{FF2B5EF4-FFF2-40B4-BE49-F238E27FC236}">
                      <a16:creationId xmlns:a16="http://schemas.microsoft.com/office/drawing/2014/main" id="{12384C0A-02AA-85CD-4C2F-F3EC1E1E1B6F}"/>
                    </a:ext>
                  </a:extLst>
                </p:cNvPr>
                <p:cNvSpPr>
                  <a:spLocks noRot="1" noChangeAspect="1" noMove="1" noResize="1" noEditPoints="1" noAdjustHandles="1" noChangeArrowheads="1" noChangeShapeType="1" noTextEdit="1"/>
                </p:cNvSpPr>
                <p:nvPr/>
              </p:nvSpPr>
              <p:spPr>
                <a:xfrm>
                  <a:off x="8290323" y="2575321"/>
                  <a:ext cx="465931" cy="465931"/>
                </a:xfrm>
                <a:prstGeom prst="ellipse">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5C034221-88ED-7711-F1F9-08ECCE7212D2}"/>
                    </a:ext>
                  </a:extLst>
                </p:cNvPr>
                <p:cNvSpPr/>
                <p:nvPr/>
              </p:nvSpPr>
              <p:spPr>
                <a:xfrm>
                  <a:off x="7710488" y="3698060"/>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4" name="Oval 3">
                  <a:extLst>
                    <a:ext uri="{FF2B5EF4-FFF2-40B4-BE49-F238E27FC236}">
                      <a16:creationId xmlns:a16="http://schemas.microsoft.com/office/drawing/2014/main" id="{5C034221-88ED-7711-F1F9-08ECCE7212D2}"/>
                    </a:ext>
                  </a:extLst>
                </p:cNvPr>
                <p:cNvSpPr>
                  <a:spLocks noRot="1" noChangeAspect="1" noMove="1" noResize="1" noEditPoints="1" noAdjustHandles="1" noChangeArrowheads="1" noChangeShapeType="1" noTextEdit="1"/>
                </p:cNvSpPr>
                <p:nvPr/>
              </p:nvSpPr>
              <p:spPr>
                <a:xfrm>
                  <a:off x="7710488" y="3698060"/>
                  <a:ext cx="465931" cy="465931"/>
                </a:xfrm>
                <a:prstGeom prst="ellipse">
                  <a:avLst/>
                </a:prstGeom>
                <a:blipFill>
                  <a:blip r:embed="rId1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97D2483A-DEF3-EC26-87D4-DD4F1DE828AA}"/>
                    </a:ext>
                  </a:extLst>
                </p:cNvPr>
                <p:cNvSpPr/>
                <p:nvPr/>
              </p:nvSpPr>
              <p:spPr>
                <a:xfrm>
                  <a:off x="9331551" y="369805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5" name="Oval 4">
                  <a:extLst>
                    <a:ext uri="{FF2B5EF4-FFF2-40B4-BE49-F238E27FC236}">
                      <a16:creationId xmlns:a16="http://schemas.microsoft.com/office/drawing/2014/main" id="{97D2483A-DEF3-EC26-87D4-DD4F1DE828AA}"/>
                    </a:ext>
                  </a:extLst>
                </p:cNvPr>
                <p:cNvSpPr>
                  <a:spLocks noRot="1" noChangeAspect="1" noMove="1" noResize="1" noEditPoints="1" noAdjustHandles="1" noChangeArrowheads="1" noChangeShapeType="1" noTextEdit="1"/>
                </p:cNvSpPr>
                <p:nvPr/>
              </p:nvSpPr>
              <p:spPr>
                <a:xfrm>
                  <a:off x="9331551" y="3698059"/>
                  <a:ext cx="465931" cy="465931"/>
                </a:xfrm>
                <a:prstGeom prst="ellipse">
                  <a:avLst/>
                </a:prstGeom>
                <a:blipFill>
                  <a:blip r:embed="rId1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2C57AE43-EB56-8B6B-124F-E2652D6DCB5F}"/>
                    </a:ext>
                  </a:extLst>
                </p:cNvPr>
                <p:cNvSpPr/>
                <p:nvPr/>
              </p:nvSpPr>
              <p:spPr>
                <a:xfrm>
                  <a:off x="10351904" y="253930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6" name="Oval 5">
                  <a:extLst>
                    <a:ext uri="{FF2B5EF4-FFF2-40B4-BE49-F238E27FC236}">
                      <a16:creationId xmlns:a16="http://schemas.microsoft.com/office/drawing/2014/main" id="{2C57AE43-EB56-8B6B-124F-E2652D6DCB5F}"/>
                    </a:ext>
                  </a:extLst>
                </p:cNvPr>
                <p:cNvSpPr>
                  <a:spLocks noRot="1" noChangeAspect="1" noMove="1" noResize="1" noEditPoints="1" noAdjustHandles="1" noChangeArrowheads="1" noChangeShapeType="1" noTextEdit="1"/>
                </p:cNvSpPr>
                <p:nvPr/>
              </p:nvSpPr>
              <p:spPr>
                <a:xfrm>
                  <a:off x="10351904" y="2539309"/>
                  <a:ext cx="465931" cy="465931"/>
                </a:xfrm>
                <a:prstGeom prst="ellipse">
                  <a:avLst/>
                </a:prstGeom>
                <a:blipFill>
                  <a:blip r:embed="rId1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FDEBB904-F62B-2280-283F-58BD0E68D10B}"/>
                    </a:ext>
                  </a:extLst>
                </p:cNvPr>
                <p:cNvSpPr/>
                <p:nvPr/>
              </p:nvSpPr>
              <p:spPr>
                <a:xfrm>
                  <a:off x="10909711" y="3687173"/>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7" name="Oval 6">
                  <a:extLst>
                    <a:ext uri="{FF2B5EF4-FFF2-40B4-BE49-F238E27FC236}">
                      <a16:creationId xmlns:a16="http://schemas.microsoft.com/office/drawing/2014/main" id="{FDEBB904-F62B-2280-283F-58BD0E68D10B}"/>
                    </a:ext>
                  </a:extLst>
                </p:cNvPr>
                <p:cNvSpPr>
                  <a:spLocks noRot="1" noChangeAspect="1" noMove="1" noResize="1" noEditPoints="1" noAdjustHandles="1" noChangeArrowheads="1" noChangeShapeType="1" noTextEdit="1"/>
                </p:cNvSpPr>
                <p:nvPr/>
              </p:nvSpPr>
              <p:spPr>
                <a:xfrm>
                  <a:off x="10909711" y="3687173"/>
                  <a:ext cx="465931" cy="465931"/>
                </a:xfrm>
                <a:prstGeom prst="ellipse">
                  <a:avLst/>
                </a:prstGeom>
                <a:blipFill>
                  <a:blip r:embed="rId1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30C5D336-505C-0913-37C2-5423664D30AF}"/>
                    </a:ext>
                  </a:extLst>
                </p:cNvPr>
                <p:cNvSpPr/>
                <p:nvPr/>
              </p:nvSpPr>
              <p:spPr>
                <a:xfrm>
                  <a:off x="8756254" y="5042694"/>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xmlns="">
            <p:sp>
              <p:nvSpPr>
                <p:cNvPr id="8" name="Oval 7">
                  <a:extLst>
                    <a:ext uri="{FF2B5EF4-FFF2-40B4-BE49-F238E27FC236}">
                      <a16:creationId xmlns:a16="http://schemas.microsoft.com/office/drawing/2014/main" id="{30C5D336-505C-0913-37C2-5423664D30AF}"/>
                    </a:ext>
                  </a:extLst>
                </p:cNvPr>
                <p:cNvSpPr>
                  <a:spLocks noRot="1" noChangeAspect="1" noMove="1" noResize="1" noEditPoints="1" noAdjustHandles="1" noChangeArrowheads="1" noChangeShapeType="1" noTextEdit="1"/>
                </p:cNvSpPr>
                <p:nvPr/>
              </p:nvSpPr>
              <p:spPr>
                <a:xfrm>
                  <a:off x="8756254" y="5042694"/>
                  <a:ext cx="465931" cy="465931"/>
                </a:xfrm>
                <a:prstGeom prst="ellipse">
                  <a:avLst/>
                </a:prstGeom>
                <a:blipFill>
                  <a:blip r:embed="rId2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A317D9D8-0DF1-ECD8-A278-E84709FB1841}"/>
                    </a:ext>
                  </a:extLst>
                </p:cNvPr>
                <p:cNvSpPr/>
                <p:nvPr/>
              </p:nvSpPr>
              <p:spPr>
                <a:xfrm>
                  <a:off x="10446161" y="5072459"/>
                  <a:ext cx="465931" cy="465931"/>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𝑣</m:t>
                            </m:r>
                          </m:e>
                          <m:sub>
                            <m:r>
                              <a:rPr lang="en-US" b="0" i="1" smtClean="0">
                                <a:solidFill>
                                  <a:schemeClr val="bg1"/>
                                </a:solidFill>
                                <a:latin typeface="Cambria Math" panose="02040503050406030204" pitchFamily="18" charset="0"/>
                              </a:rPr>
                              <m:t>6</m:t>
                            </m:r>
                          </m:sub>
                        </m:sSub>
                      </m:oMath>
                    </m:oMathPara>
                  </a14:m>
                  <a:endParaRPr lang="en-US" dirty="0">
                    <a:solidFill>
                      <a:schemeClr val="bg1"/>
                    </a:solidFill>
                  </a:endParaRPr>
                </a:p>
              </p:txBody>
            </p:sp>
          </mc:Choice>
          <mc:Fallback xmlns="">
            <p:sp>
              <p:nvSpPr>
                <p:cNvPr id="9" name="Oval 8">
                  <a:extLst>
                    <a:ext uri="{FF2B5EF4-FFF2-40B4-BE49-F238E27FC236}">
                      <a16:creationId xmlns:a16="http://schemas.microsoft.com/office/drawing/2014/main" id="{A317D9D8-0DF1-ECD8-A278-E84709FB1841}"/>
                    </a:ext>
                  </a:extLst>
                </p:cNvPr>
                <p:cNvSpPr>
                  <a:spLocks noRot="1" noChangeAspect="1" noMove="1" noResize="1" noEditPoints="1" noAdjustHandles="1" noChangeArrowheads="1" noChangeShapeType="1" noTextEdit="1"/>
                </p:cNvSpPr>
                <p:nvPr/>
              </p:nvSpPr>
              <p:spPr>
                <a:xfrm>
                  <a:off x="10446161" y="5072459"/>
                  <a:ext cx="465931" cy="465931"/>
                </a:xfrm>
                <a:prstGeom prst="ellipse">
                  <a:avLst/>
                </a:prstGeom>
                <a:blipFill>
                  <a:blip r:embed="rId21"/>
                  <a:stretch>
                    <a:fillRect/>
                  </a:stretch>
                </a:blipFill>
                <a:ln>
                  <a:solidFill>
                    <a:schemeClr val="bg1"/>
                  </a:solidFill>
                </a:ln>
              </p:spPr>
              <p:txBody>
                <a:bodyPr/>
                <a:lstStyle/>
                <a:p>
                  <a:r>
                    <a:rPr lang="en-US">
                      <a:noFill/>
                    </a:rPr>
                    <a:t> </a:t>
                  </a:r>
                </a:p>
              </p:txBody>
            </p:sp>
          </mc:Fallback>
        </mc:AlternateContent>
        <p:sp>
          <p:nvSpPr>
            <p:cNvPr id="10" name="Text Box 27">
              <a:extLst>
                <a:ext uri="{FF2B5EF4-FFF2-40B4-BE49-F238E27FC236}">
                  <a16:creationId xmlns:a16="http://schemas.microsoft.com/office/drawing/2014/main" id="{DF2DEB42-A060-E320-2957-4555CE737346}"/>
                </a:ext>
              </a:extLst>
            </p:cNvPr>
            <p:cNvSpPr txBox="1">
              <a:spLocks noChangeArrowheads="1"/>
            </p:cNvSpPr>
            <p:nvPr>
              <p:custDataLst>
                <p:tags r:id="rId2"/>
              </p:custDataLst>
            </p:nvPr>
          </p:nvSpPr>
          <p:spPr bwMode="auto">
            <a:xfrm>
              <a:off x="7821702" y="3021806"/>
              <a:ext cx="306494" cy="369332"/>
            </a:xfrm>
            <a:prstGeom prst="rect">
              <a:avLst/>
            </a:prstGeom>
            <a:noFill/>
            <a:ln w="9525">
              <a:noFill/>
              <a:miter lim="800000"/>
              <a:headEnd/>
              <a:tailEnd/>
            </a:ln>
          </p:spPr>
          <p:txBody>
            <a:bodyPr wrap="none">
              <a:spAutoFit/>
            </a:bodyPr>
            <a:lstStyle/>
            <a:p>
              <a:r>
                <a:rPr lang="en-US" b="1" dirty="0"/>
                <a:t>4</a:t>
              </a:r>
            </a:p>
          </p:txBody>
        </p:sp>
        <p:sp>
          <p:nvSpPr>
            <p:cNvPr id="11" name="Text Box 27">
              <a:extLst>
                <a:ext uri="{FF2B5EF4-FFF2-40B4-BE49-F238E27FC236}">
                  <a16:creationId xmlns:a16="http://schemas.microsoft.com/office/drawing/2014/main" id="{48F6C14A-0536-076B-8094-34739EABC464}"/>
                </a:ext>
              </a:extLst>
            </p:cNvPr>
            <p:cNvSpPr txBox="1">
              <a:spLocks noChangeArrowheads="1"/>
            </p:cNvSpPr>
            <p:nvPr>
              <p:custDataLst>
                <p:tags r:id="rId3"/>
              </p:custDataLst>
            </p:nvPr>
          </p:nvSpPr>
          <p:spPr bwMode="auto">
            <a:xfrm>
              <a:off x="9011443" y="3070851"/>
              <a:ext cx="306494" cy="369332"/>
            </a:xfrm>
            <a:prstGeom prst="rect">
              <a:avLst/>
            </a:prstGeom>
            <a:noFill/>
            <a:ln w="9525">
              <a:noFill/>
              <a:miter lim="800000"/>
              <a:headEnd/>
              <a:tailEnd/>
            </a:ln>
          </p:spPr>
          <p:txBody>
            <a:bodyPr wrap="none">
              <a:spAutoFit/>
            </a:bodyPr>
            <a:lstStyle/>
            <a:p>
              <a:r>
                <a:rPr lang="en-US" b="1" dirty="0"/>
                <a:t>1</a:t>
              </a:r>
            </a:p>
          </p:txBody>
        </p:sp>
        <p:sp>
          <p:nvSpPr>
            <p:cNvPr id="12" name="Text Box 27">
              <a:extLst>
                <a:ext uri="{FF2B5EF4-FFF2-40B4-BE49-F238E27FC236}">
                  <a16:creationId xmlns:a16="http://schemas.microsoft.com/office/drawing/2014/main" id="{5D757C54-AE26-B132-8420-FB0A0685825A}"/>
                </a:ext>
              </a:extLst>
            </p:cNvPr>
            <p:cNvSpPr txBox="1">
              <a:spLocks noChangeArrowheads="1"/>
            </p:cNvSpPr>
            <p:nvPr>
              <p:custDataLst>
                <p:tags r:id="rId4"/>
              </p:custDataLst>
            </p:nvPr>
          </p:nvSpPr>
          <p:spPr bwMode="auto">
            <a:xfrm>
              <a:off x="9363922" y="2454275"/>
              <a:ext cx="336550" cy="457200"/>
            </a:xfrm>
            <a:prstGeom prst="rect">
              <a:avLst/>
            </a:prstGeom>
            <a:noFill/>
            <a:ln w="9525">
              <a:noFill/>
              <a:miter lim="800000"/>
              <a:headEnd/>
              <a:tailEnd/>
            </a:ln>
          </p:spPr>
          <p:txBody>
            <a:bodyPr wrap="none">
              <a:spAutoFit/>
            </a:bodyPr>
            <a:lstStyle/>
            <a:p>
              <a:r>
                <a:rPr lang="en-US" b="1" dirty="0"/>
                <a:t>2</a:t>
              </a:r>
            </a:p>
          </p:txBody>
        </p:sp>
        <p:sp>
          <p:nvSpPr>
            <p:cNvPr id="13" name="Text Box 27">
              <a:extLst>
                <a:ext uri="{FF2B5EF4-FFF2-40B4-BE49-F238E27FC236}">
                  <a16:creationId xmlns:a16="http://schemas.microsoft.com/office/drawing/2014/main" id="{F38CFE29-BD4A-F218-7472-5C963F39F2A1}"/>
                </a:ext>
              </a:extLst>
            </p:cNvPr>
            <p:cNvSpPr txBox="1">
              <a:spLocks noChangeArrowheads="1"/>
            </p:cNvSpPr>
            <p:nvPr>
              <p:custDataLst>
                <p:tags r:id="rId5"/>
              </p:custDataLst>
            </p:nvPr>
          </p:nvSpPr>
          <p:spPr bwMode="auto">
            <a:xfrm>
              <a:off x="8523288" y="3582625"/>
              <a:ext cx="306494" cy="369332"/>
            </a:xfrm>
            <a:prstGeom prst="rect">
              <a:avLst/>
            </a:prstGeom>
            <a:noFill/>
            <a:ln w="9525">
              <a:noFill/>
              <a:miter lim="800000"/>
              <a:headEnd/>
              <a:tailEnd/>
            </a:ln>
          </p:spPr>
          <p:txBody>
            <a:bodyPr wrap="none">
              <a:spAutoFit/>
            </a:bodyPr>
            <a:lstStyle/>
            <a:p>
              <a:r>
                <a:rPr lang="en-US" b="1" dirty="0"/>
                <a:t>2</a:t>
              </a:r>
            </a:p>
          </p:txBody>
        </p:sp>
        <p:sp>
          <p:nvSpPr>
            <p:cNvPr id="14" name="Text Box 27">
              <a:extLst>
                <a:ext uri="{FF2B5EF4-FFF2-40B4-BE49-F238E27FC236}">
                  <a16:creationId xmlns:a16="http://schemas.microsoft.com/office/drawing/2014/main" id="{D1C1A06D-4098-F689-1B40-7E143F16F409}"/>
                </a:ext>
              </a:extLst>
            </p:cNvPr>
            <p:cNvSpPr txBox="1">
              <a:spLocks noChangeArrowheads="1"/>
            </p:cNvSpPr>
            <p:nvPr>
              <p:custDataLst>
                <p:tags r:id="rId6"/>
              </p:custDataLst>
            </p:nvPr>
          </p:nvSpPr>
          <p:spPr bwMode="auto">
            <a:xfrm>
              <a:off x="10981639" y="3054171"/>
              <a:ext cx="428322" cy="369332"/>
            </a:xfrm>
            <a:prstGeom prst="rect">
              <a:avLst/>
            </a:prstGeom>
            <a:noFill/>
            <a:ln w="9525">
              <a:noFill/>
              <a:miter lim="800000"/>
              <a:headEnd/>
              <a:tailEnd/>
            </a:ln>
          </p:spPr>
          <p:txBody>
            <a:bodyPr wrap="none">
              <a:spAutoFit/>
            </a:bodyPr>
            <a:lstStyle/>
            <a:p>
              <a:r>
                <a:rPr lang="en-US" b="1" dirty="0"/>
                <a:t>10</a:t>
              </a:r>
            </a:p>
          </p:txBody>
        </p:sp>
        <p:sp>
          <p:nvSpPr>
            <p:cNvPr id="15" name="Text Box 27">
              <a:extLst>
                <a:ext uri="{FF2B5EF4-FFF2-40B4-BE49-F238E27FC236}">
                  <a16:creationId xmlns:a16="http://schemas.microsoft.com/office/drawing/2014/main" id="{4FF786A8-117F-5D3A-CA24-5759796BA918}"/>
                </a:ext>
              </a:extLst>
            </p:cNvPr>
            <p:cNvSpPr txBox="1">
              <a:spLocks noChangeArrowheads="1"/>
            </p:cNvSpPr>
            <p:nvPr>
              <p:custDataLst>
                <p:tags r:id="rId7"/>
              </p:custDataLst>
            </p:nvPr>
          </p:nvSpPr>
          <p:spPr bwMode="auto">
            <a:xfrm>
              <a:off x="10282142" y="3557036"/>
              <a:ext cx="306494" cy="369332"/>
            </a:xfrm>
            <a:prstGeom prst="rect">
              <a:avLst/>
            </a:prstGeom>
            <a:noFill/>
            <a:ln w="9525">
              <a:noFill/>
              <a:miter lim="800000"/>
              <a:headEnd/>
              <a:tailEnd/>
            </a:ln>
          </p:spPr>
          <p:txBody>
            <a:bodyPr wrap="none">
              <a:spAutoFit/>
            </a:bodyPr>
            <a:lstStyle/>
            <a:p>
              <a:r>
                <a:rPr lang="en-US" b="1" dirty="0"/>
                <a:t>7</a:t>
              </a:r>
            </a:p>
          </p:txBody>
        </p:sp>
        <p:sp>
          <p:nvSpPr>
            <p:cNvPr id="16" name="Text Box 27">
              <a:extLst>
                <a:ext uri="{FF2B5EF4-FFF2-40B4-BE49-F238E27FC236}">
                  <a16:creationId xmlns:a16="http://schemas.microsoft.com/office/drawing/2014/main" id="{99FD5538-2902-99ED-CF27-F1D5C7D33DBF}"/>
                </a:ext>
              </a:extLst>
            </p:cNvPr>
            <p:cNvSpPr txBox="1">
              <a:spLocks noChangeArrowheads="1"/>
            </p:cNvSpPr>
            <p:nvPr>
              <p:custDataLst>
                <p:tags r:id="rId8"/>
              </p:custDataLst>
            </p:nvPr>
          </p:nvSpPr>
          <p:spPr bwMode="auto">
            <a:xfrm>
              <a:off x="8077995" y="4425950"/>
              <a:ext cx="306494" cy="369332"/>
            </a:xfrm>
            <a:prstGeom prst="rect">
              <a:avLst/>
            </a:prstGeom>
            <a:noFill/>
            <a:ln w="9525">
              <a:noFill/>
              <a:miter lim="800000"/>
              <a:headEnd/>
              <a:tailEnd/>
            </a:ln>
          </p:spPr>
          <p:txBody>
            <a:bodyPr wrap="none">
              <a:spAutoFit/>
            </a:bodyPr>
            <a:lstStyle/>
            <a:p>
              <a:r>
                <a:rPr lang="en-US" b="1" dirty="0"/>
                <a:t>5</a:t>
              </a:r>
            </a:p>
          </p:txBody>
        </p:sp>
        <p:sp>
          <p:nvSpPr>
            <p:cNvPr id="17" name="Text Box 27">
              <a:extLst>
                <a:ext uri="{FF2B5EF4-FFF2-40B4-BE49-F238E27FC236}">
                  <a16:creationId xmlns:a16="http://schemas.microsoft.com/office/drawing/2014/main" id="{7ED96084-7E84-5314-A4C4-05070CED5B58}"/>
                </a:ext>
              </a:extLst>
            </p:cNvPr>
            <p:cNvSpPr txBox="1">
              <a:spLocks noChangeArrowheads="1"/>
            </p:cNvSpPr>
            <p:nvPr>
              <p:custDataLst>
                <p:tags r:id="rId9"/>
              </p:custDataLst>
            </p:nvPr>
          </p:nvSpPr>
          <p:spPr bwMode="auto">
            <a:xfrm>
              <a:off x="8878463" y="4216400"/>
              <a:ext cx="306494" cy="369332"/>
            </a:xfrm>
            <a:prstGeom prst="rect">
              <a:avLst/>
            </a:prstGeom>
            <a:noFill/>
            <a:ln w="9525">
              <a:noFill/>
              <a:miter lim="800000"/>
              <a:headEnd/>
              <a:tailEnd/>
            </a:ln>
          </p:spPr>
          <p:txBody>
            <a:bodyPr wrap="none">
              <a:spAutoFit/>
            </a:bodyPr>
            <a:lstStyle/>
            <a:p>
              <a:r>
                <a:rPr lang="en-US" b="1" dirty="0"/>
                <a:t>8</a:t>
              </a:r>
            </a:p>
          </p:txBody>
        </p:sp>
        <p:sp>
          <p:nvSpPr>
            <p:cNvPr id="18" name="Text Box 27">
              <a:extLst>
                <a:ext uri="{FF2B5EF4-FFF2-40B4-BE49-F238E27FC236}">
                  <a16:creationId xmlns:a16="http://schemas.microsoft.com/office/drawing/2014/main" id="{0C343D46-BFD4-12DE-3DDE-F207D979BD16}"/>
                </a:ext>
              </a:extLst>
            </p:cNvPr>
            <p:cNvSpPr txBox="1">
              <a:spLocks noChangeArrowheads="1"/>
            </p:cNvSpPr>
            <p:nvPr>
              <p:custDataLst>
                <p:tags r:id="rId10"/>
              </p:custDataLst>
            </p:nvPr>
          </p:nvSpPr>
          <p:spPr bwMode="auto">
            <a:xfrm>
              <a:off x="10056458" y="4228940"/>
              <a:ext cx="306494" cy="369332"/>
            </a:xfrm>
            <a:prstGeom prst="rect">
              <a:avLst/>
            </a:prstGeom>
            <a:noFill/>
            <a:ln w="9525">
              <a:noFill/>
              <a:miter lim="800000"/>
              <a:headEnd/>
              <a:tailEnd/>
            </a:ln>
          </p:spPr>
          <p:txBody>
            <a:bodyPr wrap="none">
              <a:spAutoFit/>
            </a:bodyPr>
            <a:lstStyle/>
            <a:p>
              <a:r>
                <a:rPr lang="en-US" b="1" dirty="0"/>
                <a:t>4</a:t>
              </a:r>
            </a:p>
          </p:txBody>
        </p:sp>
        <p:sp>
          <p:nvSpPr>
            <p:cNvPr id="19" name="Text Box 27">
              <a:extLst>
                <a:ext uri="{FF2B5EF4-FFF2-40B4-BE49-F238E27FC236}">
                  <a16:creationId xmlns:a16="http://schemas.microsoft.com/office/drawing/2014/main" id="{CF74C15B-1A9C-0356-D56B-42ECE26581F3}"/>
                </a:ext>
              </a:extLst>
            </p:cNvPr>
            <p:cNvSpPr txBox="1">
              <a:spLocks noChangeArrowheads="1"/>
            </p:cNvSpPr>
            <p:nvPr>
              <p:custDataLst>
                <p:tags r:id="rId11"/>
              </p:custDataLst>
            </p:nvPr>
          </p:nvSpPr>
          <p:spPr bwMode="auto">
            <a:xfrm>
              <a:off x="11031552" y="4543425"/>
              <a:ext cx="306494" cy="369332"/>
            </a:xfrm>
            <a:prstGeom prst="rect">
              <a:avLst/>
            </a:prstGeom>
            <a:noFill/>
            <a:ln w="9525">
              <a:noFill/>
              <a:miter lim="800000"/>
              <a:headEnd/>
              <a:tailEnd/>
            </a:ln>
          </p:spPr>
          <p:txBody>
            <a:bodyPr wrap="none">
              <a:spAutoFit/>
            </a:bodyPr>
            <a:lstStyle/>
            <a:p>
              <a:r>
                <a:rPr lang="en-US" b="1" dirty="0"/>
                <a:t>6</a:t>
              </a:r>
            </a:p>
          </p:txBody>
        </p:sp>
        <p:sp>
          <p:nvSpPr>
            <p:cNvPr id="20" name="Text Box 27">
              <a:extLst>
                <a:ext uri="{FF2B5EF4-FFF2-40B4-BE49-F238E27FC236}">
                  <a16:creationId xmlns:a16="http://schemas.microsoft.com/office/drawing/2014/main" id="{38D6A3E6-D1D2-DEBB-4447-4095E08ACFC3}"/>
                </a:ext>
              </a:extLst>
            </p:cNvPr>
            <p:cNvSpPr txBox="1">
              <a:spLocks noChangeArrowheads="1"/>
            </p:cNvSpPr>
            <p:nvPr>
              <p:custDataLst>
                <p:tags r:id="rId12"/>
              </p:custDataLst>
            </p:nvPr>
          </p:nvSpPr>
          <p:spPr bwMode="auto">
            <a:xfrm>
              <a:off x="9583935" y="4912093"/>
              <a:ext cx="306494" cy="369332"/>
            </a:xfrm>
            <a:prstGeom prst="rect">
              <a:avLst/>
            </a:prstGeom>
            <a:noFill/>
            <a:ln w="9525">
              <a:noFill/>
              <a:miter lim="800000"/>
              <a:headEnd/>
              <a:tailEnd/>
            </a:ln>
          </p:spPr>
          <p:txBody>
            <a:bodyPr wrap="none">
              <a:spAutoFit/>
            </a:bodyPr>
            <a:lstStyle/>
            <a:p>
              <a:r>
                <a:rPr lang="en-US" b="1" dirty="0"/>
                <a:t>1</a:t>
              </a:r>
            </a:p>
          </p:txBody>
        </p:sp>
        <p:sp>
          <p:nvSpPr>
            <p:cNvPr id="21" name="Text Box 27">
              <a:extLst>
                <a:ext uri="{FF2B5EF4-FFF2-40B4-BE49-F238E27FC236}">
                  <a16:creationId xmlns:a16="http://schemas.microsoft.com/office/drawing/2014/main" id="{BDB3805C-A620-FF4A-8FF3-EF379F52FAC9}"/>
                </a:ext>
              </a:extLst>
            </p:cNvPr>
            <p:cNvSpPr txBox="1">
              <a:spLocks noChangeArrowheads="1"/>
            </p:cNvSpPr>
            <p:nvPr>
              <p:custDataLst>
                <p:tags r:id="rId13"/>
              </p:custDataLst>
            </p:nvPr>
          </p:nvSpPr>
          <p:spPr bwMode="auto">
            <a:xfrm>
              <a:off x="9747513" y="3054171"/>
              <a:ext cx="306494" cy="369332"/>
            </a:xfrm>
            <a:prstGeom prst="rect">
              <a:avLst/>
            </a:prstGeom>
            <a:noFill/>
            <a:ln w="9525">
              <a:noFill/>
              <a:miter lim="800000"/>
              <a:headEnd/>
              <a:tailEnd/>
            </a:ln>
          </p:spPr>
          <p:txBody>
            <a:bodyPr wrap="square">
              <a:spAutoFit/>
            </a:bodyPr>
            <a:lstStyle/>
            <a:p>
              <a:r>
                <a:rPr lang="en-US" b="1" dirty="0"/>
                <a:t>3</a:t>
              </a:r>
            </a:p>
          </p:txBody>
        </p:sp>
        <p:cxnSp>
          <p:nvCxnSpPr>
            <p:cNvPr id="22" name="Straight Connector 21">
              <a:extLst>
                <a:ext uri="{FF2B5EF4-FFF2-40B4-BE49-F238E27FC236}">
                  <a16:creationId xmlns:a16="http://schemas.microsoft.com/office/drawing/2014/main" id="{4964A906-A7FA-0396-C096-DF95C4A67F6D}"/>
                </a:ext>
              </a:extLst>
            </p:cNvPr>
            <p:cNvCxnSpPr>
              <a:stCxn id="3" idx="6"/>
              <a:endCxn id="6" idx="2"/>
            </p:cNvCxnSpPr>
            <p:nvPr/>
          </p:nvCxnSpPr>
          <p:spPr>
            <a:xfrm flipV="1">
              <a:off x="8756254" y="2772275"/>
              <a:ext cx="1595650" cy="36012"/>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7DEA69B-4605-5524-5CD6-599D53F0FF6F}"/>
                </a:ext>
              </a:extLst>
            </p:cNvPr>
            <p:cNvCxnSpPr>
              <a:cxnSpLocks/>
              <a:stCxn id="3" idx="3"/>
              <a:endCxn id="4" idx="0"/>
            </p:cNvCxnSpPr>
            <p:nvPr/>
          </p:nvCxnSpPr>
          <p:spPr>
            <a:xfrm flipH="1">
              <a:off x="7943454" y="2973018"/>
              <a:ext cx="415103" cy="725042"/>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0582FF7-9680-BD5B-EDDF-B09E4FCD5CCC}"/>
                </a:ext>
              </a:extLst>
            </p:cNvPr>
            <p:cNvCxnSpPr>
              <a:cxnSpLocks/>
              <a:stCxn id="8" idx="1"/>
              <a:endCxn id="4" idx="5"/>
            </p:cNvCxnSpPr>
            <p:nvPr/>
          </p:nvCxnSpPr>
          <p:spPr>
            <a:xfrm flipH="1" flipV="1">
              <a:off x="8108185" y="4095757"/>
              <a:ext cx="716303" cy="1015171"/>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95218-06D5-01BF-D1AD-B83697CF58B4}"/>
                </a:ext>
              </a:extLst>
            </p:cNvPr>
            <p:cNvCxnSpPr>
              <a:cxnSpLocks/>
              <a:stCxn id="8" idx="6"/>
              <a:endCxn id="9" idx="2"/>
            </p:cNvCxnSpPr>
            <p:nvPr/>
          </p:nvCxnSpPr>
          <p:spPr>
            <a:xfrm>
              <a:off x="9222185" y="5275660"/>
              <a:ext cx="1223976" cy="29765"/>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2BCFA82-3895-35D8-4418-A26EA64B7F52}"/>
                </a:ext>
              </a:extLst>
            </p:cNvPr>
            <p:cNvCxnSpPr>
              <a:cxnSpLocks/>
              <a:stCxn id="9" idx="7"/>
              <a:endCxn id="7" idx="4"/>
            </p:cNvCxnSpPr>
            <p:nvPr/>
          </p:nvCxnSpPr>
          <p:spPr>
            <a:xfrm flipV="1">
              <a:off x="10843858" y="4153104"/>
              <a:ext cx="298819" cy="987589"/>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06DAFA8-D748-95A8-93CB-5D38E82818B1}"/>
                </a:ext>
              </a:extLst>
            </p:cNvPr>
            <p:cNvCxnSpPr>
              <a:cxnSpLocks/>
              <a:stCxn id="7" idx="0"/>
              <a:endCxn id="6" idx="5"/>
            </p:cNvCxnSpPr>
            <p:nvPr/>
          </p:nvCxnSpPr>
          <p:spPr>
            <a:xfrm flipH="1" flipV="1">
              <a:off x="10749601" y="2937006"/>
              <a:ext cx="393076" cy="750167"/>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F563EA9-328E-0F57-6F30-01F740EAE720}"/>
                </a:ext>
              </a:extLst>
            </p:cNvPr>
            <p:cNvCxnSpPr>
              <a:cxnSpLocks/>
              <a:stCxn id="6" idx="3"/>
              <a:endCxn id="5" idx="7"/>
            </p:cNvCxnSpPr>
            <p:nvPr/>
          </p:nvCxnSpPr>
          <p:spPr>
            <a:xfrm flipH="1">
              <a:off x="9729248" y="2937006"/>
              <a:ext cx="690890" cy="829287"/>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D85D2E1-5B56-B7A8-62C9-2A8AFE566A8A}"/>
                </a:ext>
              </a:extLst>
            </p:cNvPr>
            <p:cNvCxnSpPr>
              <a:cxnSpLocks/>
              <a:stCxn id="5" idx="1"/>
              <a:endCxn id="3" idx="5"/>
            </p:cNvCxnSpPr>
            <p:nvPr/>
          </p:nvCxnSpPr>
          <p:spPr>
            <a:xfrm flipH="1" flipV="1">
              <a:off x="8688020" y="2973018"/>
              <a:ext cx="711765" cy="793275"/>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F67260D-5068-E4C5-8376-5B5C902CE78A}"/>
                </a:ext>
              </a:extLst>
            </p:cNvPr>
            <p:cNvCxnSpPr>
              <a:cxnSpLocks/>
              <a:stCxn id="5" idx="2"/>
              <a:endCxn id="4" idx="6"/>
            </p:cNvCxnSpPr>
            <p:nvPr/>
          </p:nvCxnSpPr>
          <p:spPr>
            <a:xfrm flipH="1">
              <a:off x="8176419" y="3931025"/>
              <a:ext cx="1155132" cy="1"/>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953F233-E917-70DC-61AD-F1B699F3A639}"/>
                </a:ext>
              </a:extLst>
            </p:cNvPr>
            <p:cNvCxnSpPr>
              <a:cxnSpLocks/>
              <a:stCxn id="5" idx="3"/>
              <a:endCxn id="8" idx="0"/>
            </p:cNvCxnSpPr>
            <p:nvPr/>
          </p:nvCxnSpPr>
          <p:spPr>
            <a:xfrm flipH="1">
              <a:off x="8989220" y="4095756"/>
              <a:ext cx="410565" cy="946938"/>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9636C40-28BA-9E3C-D38A-B466E7A47E59}"/>
                </a:ext>
              </a:extLst>
            </p:cNvPr>
            <p:cNvCxnSpPr>
              <a:cxnSpLocks/>
              <a:stCxn id="5" idx="5"/>
              <a:endCxn id="9" idx="1"/>
            </p:cNvCxnSpPr>
            <p:nvPr/>
          </p:nvCxnSpPr>
          <p:spPr>
            <a:xfrm>
              <a:off x="9729248" y="4095756"/>
              <a:ext cx="785147" cy="1044937"/>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2BC01DE-00D5-4773-9A16-EE3E0FC49A16}"/>
                </a:ext>
              </a:extLst>
            </p:cNvPr>
            <p:cNvCxnSpPr>
              <a:cxnSpLocks/>
              <a:stCxn id="5" idx="6"/>
              <a:endCxn id="7" idx="2"/>
            </p:cNvCxnSpPr>
            <p:nvPr/>
          </p:nvCxnSpPr>
          <p:spPr>
            <a:xfrm flipV="1">
              <a:off x="9797482" y="3920139"/>
              <a:ext cx="1112229" cy="10886"/>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630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custDataLst>
              <p:tags r:id="rId1"/>
            </p:custDataLst>
          </p:nvPr>
        </p:nvSpPr>
        <p:spPr>
          <a:xfrm>
            <a:off x="1141412" y="301991"/>
            <a:ext cx="9905998" cy="603700"/>
          </a:xfrm>
        </p:spPr>
        <p:txBody>
          <a:bodyPr/>
          <a:lstStyle/>
          <a:p>
            <a:pPr algn="ctr"/>
            <a:r>
              <a:rPr lang="en-US" dirty="0"/>
              <a:t>Prim’s Algorithm</a:t>
            </a:r>
          </a:p>
        </p:txBody>
      </p:sp>
      <p:sp>
        <p:nvSpPr>
          <p:cNvPr id="2" name="Rectangle 2">
            <a:extLst>
              <a:ext uri="{FF2B5EF4-FFF2-40B4-BE49-F238E27FC236}">
                <a16:creationId xmlns:a16="http://schemas.microsoft.com/office/drawing/2014/main" id="{6CED9B50-FDC8-A5F3-9AD3-F79E98A95CBC}"/>
              </a:ext>
            </a:extLst>
          </p:cNvPr>
          <p:cNvSpPr txBox="1">
            <a:spLocks noChangeArrowheads="1"/>
          </p:cNvSpPr>
          <p:nvPr>
            <p:custDataLst>
              <p:tags r:id="rId2"/>
            </p:custDataLst>
          </p:nvPr>
        </p:nvSpPr>
        <p:spPr>
          <a:xfrm>
            <a:off x="2794785" y="1229485"/>
            <a:ext cx="6599251" cy="5037909"/>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80000"/>
              </a:lnSpc>
              <a:buFont typeface="Monotype Sorts" charset="2"/>
              <a:buNone/>
            </a:pPr>
            <a:r>
              <a:rPr lang="en-US" sz="1600" b="1" dirty="0">
                <a:solidFill>
                  <a:schemeClr val="bg1"/>
                </a:solidFill>
                <a:latin typeface="Courier New" pitchFamily="49" charset="0"/>
              </a:rPr>
              <a:t>prim(G, s):</a:t>
            </a:r>
          </a:p>
          <a:p>
            <a:pPr>
              <a:lnSpc>
                <a:spcPct val="80000"/>
              </a:lnSpc>
              <a:buFont typeface="Monotype Sorts" charset="2"/>
              <a:buNone/>
            </a:pPr>
            <a:r>
              <a:rPr lang="en-US" sz="1600" b="1" dirty="0">
                <a:solidFill>
                  <a:schemeClr val="bg1"/>
                </a:solidFill>
                <a:latin typeface="Courier New" pitchFamily="49" charset="0"/>
              </a:rPr>
              <a:t>1. </a:t>
            </a:r>
            <a:r>
              <a:rPr lang="en-US" sz="1600" b="1" dirty="0" err="1">
                <a:solidFill>
                  <a:schemeClr val="accent3"/>
                </a:solidFill>
                <a:latin typeface="Courier New" pitchFamily="49" charset="0"/>
              </a:rPr>
              <a:t>init</a:t>
            </a:r>
            <a:r>
              <a:rPr lang="en-US" sz="1600" b="1" dirty="0">
                <a:solidFill>
                  <a:schemeClr val="accent3"/>
                </a:solidFill>
                <a:latin typeface="Courier New" pitchFamily="49" charset="0"/>
              </a:rPr>
              <a:t> PQ to be empty</a:t>
            </a:r>
          </a:p>
          <a:p>
            <a:pPr>
              <a:lnSpc>
                <a:spcPct val="80000"/>
              </a:lnSpc>
              <a:buFont typeface="Monotype Sorts" charset="2"/>
              <a:buNone/>
            </a:pPr>
            <a:r>
              <a:rPr lang="en-US" sz="1600" b="1" dirty="0">
                <a:solidFill>
                  <a:schemeClr val="bg1"/>
                </a:solidFill>
                <a:latin typeface="Courier New" pitchFamily="49" charset="0"/>
              </a:rPr>
              <a:t>2. </a:t>
            </a:r>
            <a:r>
              <a:rPr lang="en-US" sz="1600" b="1" dirty="0" err="1">
                <a:solidFill>
                  <a:schemeClr val="accent3"/>
                </a:solidFill>
                <a:latin typeface="Courier New" pitchFamily="49" charset="0"/>
              </a:rPr>
              <a:t>PQ.Insert</a:t>
            </a:r>
            <a:r>
              <a:rPr lang="en-US" sz="1600" b="1" dirty="0">
                <a:solidFill>
                  <a:schemeClr val="accent3"/>
                </a:solidFill>
                <a:latin typeface="Courier New" pitchFamily="49" charset="0"/>
              </a:rPr>
              <a:t>(s, </a:t>
            </a:r>
            <a:r>
              <a:rPr lang="en-US" sz="1600" b="1" dirty="0" err="1">
                <a:solidFill>
                  <a:schemeClr val="accent3"/>
                </a:solidFill>
                <a:latin typeface="Courier New" pitchFamily="49" charset="0"/>
              </a:rPr>
              <a:t>wt</a:t>
            </a:r>
            <a:r>
              <a:rPr lang="en-US" sz="1600" b="1" dirty="0">
                <a:solidFill>
                  <a:schemeClr val="accent3"/>
                </a:solidFill>
                <a:latin typeface="Courier New" pitchFamily="49" charset="0"/>
              </a:rPr>
              <a:t>=0)</a:t>
            </a:r>
          </a:p>
          <a:p>
            <a:pPr>
              <a:lnSpc>
                <a:spcPct val="80000"/>
              </a:lnSpc>
              <a:buFont typeface="Monotype Sorts" charset="2"/>
              <a:buNone/>
            </a:pPr>
            <a:r>
              <a:rPr lang="en-US" sz="1600" b="1" dirty="0">
                <a:solidFill>
                  <a:schemeClr val="bg1"/>
                </a:solidFill>
                <a:latin typeface="Courier New" pitchFamily="49" charset="0"/>
                <a:sym typeface="Symbol" pitchFamily="18" charset="2"/>
              </a:rPr>
              <a:t>3. parent[s] = NULL;</a:t>
            </a:r>
          </a:p>
          <a:p>
            <a:pPr>
              <a:lnSpc>
                <a:spcPct val="80000"/>
              </a:lnSpc>
              <a:buFont typeface="Monotype Sorts" charset="2"/>
              <a:buNone/>
            </a:pPr>
            <a:r>
              <a:rPr lang="en-US" sz="1600" b="1" dirty="0">
                <a:solidFill>
                  <a:schemeClr val="bg1"/>
                </a:solidFill>
                <a:latin typeface="Courier New" pitchFamily="49" charset="0"/>
                <a:sym typeface="Symbol" pitchFamily="18" charset="2"/>
              </a:rPr>
              <a:t>4. while (</a:t>
            </a:r>
            <a:r>
              <a:rPr lang="en-US" sz="1600" b="1" dirty="0">
                <a:solidFill>
                  <a:schemeClr val="accent3"/>
                </a:solidFill>
                <a:latin typeface="Courier New" pitchFamily="49" charset="0"/>
                <a:sym typeface="Symbol" pitchFamily="18" charset="2"/>
              </a:rPr>
              <a:t>PQ not empty</a:t>
            </a:r>
            <a:r>
              <a:rPr lang="en-US" sz="1600" b="1" dirty="0">
                <a:solidFill>
                  <a:schemeClr val="bg1"/>
                </a:solidFill>
                <a:latin typeface="Courier New" pitchFamily="49" charset="0"/>
                <a:sym typeface="Symbol" pitchFamily="18" charset="2"/>
              </a:rPr>
              <a:t>):</a:t>
            </a:r>
          </a:p>
          <a:p>
            <a:pPr>
              <a:lnSpc>
                <a:spcPct val="80000"/>
              </a:lnSpc>
              <a:buFont typeface="Monotype Sorts" charset="2"/>
              <a:buNone/>
            </a:pPr>
            <a:r>
              <a:rPr lang="en-US" sz="1600" b="1" dirty="0">
                <a:solidFill>
                  <a:schemeClr val="bg1"/>
                </a:solidFill>
                <a:latin typeface="Courier New" pitchFamily="49" charset="0"/>
                <a:sym typeface="Symbol" pitchFamily="18" charset="2"/>
              </a:rPr>
              <a:t>5.   v = </a:t>
            </a:r>
            <a:r>
              <a:rPr lang="en-US" sz="1600" b="1" dirty="0" err="1">
                <a:solidFill>
                  <a:schemeClr val="accent3"/>
                </a:solidFill>
                <a:latin typeface="Courier New" pitchFamily="49" charset="0"/>
                <a:sym typeface="Symbol" pitchFamily="18" charset="2"/>
              </a:rPr>
              <a:t>PQ.ExtractMin</a:t>
            </a:r>
            <a:r>
              <a:rPr lang="en-US" sz="1600" b="1" dirty="0">
                <a:solidFill>
                  <a:schemeClr val="accent3"/>
                </a:solidFill>
                <a:latin typeface="Courier New" pitchFamily="49" charset="0"/>
                <a:sym typeface="Symbol" pitchFamily="18" charset="2"/>
              </a:rPr>
              <a:t>()</a:t>
            </a:r>
          </a:p>
          <a:p>
            <a:pPr>
              <a:lnSpc>
                <a:spcPct val="80000"/>
              </a:lnSpc>
              <a:buFont typeface="Monotype Sorts" charset="2"/>
              <a:buNone/>
            </a:pPr>
            <a:r>
              <a:rPr lang="en-US" sz="1600" b="1" dirty="0">
                <a:solidFill>
                  <a:schemeClr val="bg1"/>
                </a:solidFill>
                <a:latin typeface="Courier New" pitchFamily="49" charset="0"/>
                <a:sym typeface="Symbol" pitchFamily="18" charset="2"/>
              </a:rPr>
              <a:t>6.   for each w</a:t>
            </a:r>
            <a:r>
              <a:rPr lang="en-US" sz="1600" b="1" dirty="0">
                <a:solidFill>
                  <a:schemeClr val="bg1"/>
                </a:solidFill>
                <a:latin typeface="Courier New" pitchFamily="49" charset="0"/>
              </a:rPr>
              <a:t> </a:t>
            </a:r>
            <a:r>
              <a:rPr lang="en-US" sz="1600" b="1" dirty="0">
                <a:solidFill>
                  <a:schemeClr val="bg1"/>
                </a:solidFill>
                <a:latin typeface="Courier New" pitchFamily="49" charset="0"/>
                <a:sym typeface="Symbol" pitchFamily="18" charset="2"/>
              </a:rPr>
              <a:t>adj to v</a:t>
            </a:r>
          </a:p>
          <a:p>
            <a:pPr>
              <a:lnSpc>
                <a:spcPct val="80000"/>
              </a:lnSpc>
              <a:buFont typeface="Monotype Sorts" charset="2"/>
              <a:buNone/>
            </a:pPr>
            <a:r>
              <a:rPr lang="en-US" sz="1600" b="1" dirty="0">
                <a:solidFill>
                  <a:schemeClr val="bg1"/>
                </a:solidFill>
                <a:latin typeface="Courier New" pitchFamily="49" charset="0"/>
                <a:sym typeface="Symbol" pitchFamily="18" charset="2"/>
              </a:rPr>
              <a:t>7.     if (w</a:t>
            </a:r>
            <a:r>
              <a:rPr lang="en-US" sz="1600" b="1" dirty="0">
                <a:solidFill>
                  <a:schemeClr val="bg1"/>
                </a:solidFill>
                <a:latin typeface="Courier New" pitchFamily="49" charset="0"/>
              </a:rPr>
              <a:t> </a:t>
            </a:r>
            <a:r>
              <a:rPr lang="en-US" sz="1600" b="1" dirty="0">
                <a:solidFill>
                  <a:schemeClr val="bg1"/>
                </a:solidFill>
                <a:latin typeface="Courier New" pitchFamily="49" charset="0"/>
                <a:sym typeface="Symbol" pitchFamily="18" charset="2"/>
              </a:rPr>
              <a:t>is unseen):</a:t>
            </a:r>
          </a:p>
          <a:p>
            <a:pPr>
              <a:lnSpc>
                <a:spcPct val="80000"/>
              </a:lnSpc>
              <a:buFont typeface="Monotype Sorts" charset="2"/>
              <a:buNone/>
            </a:pPr>
            <a:r>
              <a:rPr lang="en-US" sz="1600" b="1" dirty="0">
                <a:solidFill>
                  <a:schemeClr val="bg1"/>
                </a:solidFill>
                <a:latin typeface="Courier New" pitchFamily="49" charset="0"/>
                <a:sym typeface="Symbol" pitchFamily="18" charset="2"/>
              </a:rPr>
              <a:t>8.        </a:t>
            </a:r>
            <a:r>
              <a:rPr lang="en-US" sz="1600" b="1" dirty="0" err="1">
                <a:solidFill>
                  <a:schemeClr val="accent3"/>
                </a:solidFill>
                <a:latin typeface="Courier New" pitchFamily="49" charset="0"/>
                <a:sym typeface="Symbol" pitchFamily="18" charset="2"/>
              </a:rPr>
              <a:t>PQ.Insert</a:t>
            </a:r>
            <a:r>
              <a:rPr lang="en-US" sz="1600" b="1" dirty="0">
                <a:solidFill>
                  <a:schemeClr val="accent3"/>
                </a:solidFill>
                <a:latin typeface="Courier New" pitchFamily="49" charset="0"/>
                <a:sym typeface="Symbol" pitchFamily="18" charset="2"/>
              </a:rPr>
              <a:t>(w, </a:t>
            </a:r>
            <a:r>
              <a:rPr lang="en-US" sz="1600" b="1" dirty="0" err="1">
                <a:solidFill>
                  <a:schemeClr val="accent3"/>
                </a:solidFill>
                <a:latin typeface="Courier New" pitchFamily="49" charset="0"/>
                <a:sym typeface="Symbol" pitchFamily="18" charset="2"/>
              </a:rPr>
              <a:t>wt</a:t>
            </a:r>
            <a:r>
              <a:rPr lang="en-US" sz="1600" b="1" dirty="0">
                <a:solidFill>
                  <a:schemeClr val="accent3"/>
                </a:solidFill>
                <a:latin typeface="Courier New" pitchFamily="49" charset="0"/>
                <a:sym typeface="Symbol" pitchFamily="18" charset="2"/>
              </a:rPr>
              <a:t>[</a:t>
            </a:r>
            <a:r>
              <a:rPr lang="en-US" sz="1600" b="1" dirty="0" err="1">
                <a:solidFill>
                  <a:schemeClr val="accent3"/>
                </a:solidFill>
                <a:latin typeface="Courier New" pitchFamily="49" charset="0"/>
                <a:sym typeface="Symbol" pitchFamily="18" charset="2"/>
              </a:rPr>
              <a:t>v,w</a:t>
            </a:r>
            <a:r>
              <a:rPr lang="en-US" sz="1600" b="1" dirty="0">
                <a:solidFill>
                  <a:schemeClr val="accent3"/>
                </a:solidFill>
                <a:latin typeface="Courier New" pitchFamily="49" charset="0"/>
                <a:sym typeface="Symbol" pitchFamily="18" charset="2"/>
              </a:rPr>
              <a:t>])</a:t>
            </a:r>
          </a:p>
          <a:p>
            <a:pPr>
              <a:lnSpc>
                <a:spcPct val="80000"/>
              </a:lnSpc>
              <a:buFont typeface="Monotype Sorts" charset="2"/>
              <a:buNone/>
            </a:pPr>
            <a:r>
              <a:rPr lang="en-US" sz="1600" b="1" dirty="0">
                <a:solidFill>
                  <a:schemeClr val="bg1"/>
                </a:solidFill>
                <a:latin typeface="Courier New" pitchFamily="49" charset="0"/>
                <a:sym typeface="Symbol" pitchFamily="18" charset="2"/>
              </a:rPr>
              <a:t>9.        parent[w] = v</a:t>
            </a:r>
          </a:p>
          <a:p>
            <a:pPr>
              <a:lnSpc>
                <a:spcPct val="80000"/>
              </a:lnSpc>
              <a:buFont typeface="Monotype Sorts" charset="2"/>
              <a:buNone/>
            </a:pPr>
            <a:r>
              <a:rPr lang="en-US" sz="1600" b="1" dirty="0">
                <a:solidFill>
                  <a:schemeClr val="bg1"/>
                </a:solidFill>
                <a:latin typeface="Courier New" pitchFamily="49" charset="0"/>
                <a:sym typeface="Symbol" pitchFamily="18" charset="2"/>
              </a:rPr>
              <a:t>10.    else if (w is fringe &amp;&amp; </a:t>
            </a:r>
            <a:r>
              <a:rPr lang="en-US" sz="1600" b="1" dirty="0" err="1">
                <a:solidFill>
                  <a:schemeClr val="bg1"/>
                </a:solidFill>
                <a:latin typeface="Courier New" pitchFamily="49" charset="0"/>
                <a:sym typeface="Symbol" pitchFamily="18" charset="2"/>
              </a:rPr>
              <a:t>wt</a:t>
            </a:r>
            <a:r>
              <a:rPr lang="en-US" sz="1600" b="1" dirty="0">
                <a:solidFill>
                  <a:schemeClr val="bg1"/>
                </a:solidFill>
                <a:latin typeface="Courier New" pitchFamily="49" charset="0"/>
                <a:sym typeface="Symbol" pitchFamily="18" charset="2"/>
              </a:rPr>
              <a:t>(</a:t>
            </a:r>
            <a:r>
              <a:rPr lang="en-US" sz="1600" b="1" dirty="0" err="1">
                <a:solidFill>
                  <a:schemeClr val="bg1"/>
                </a:solidFill>
                <a:latin typeface="Courier New" pitchFamily="49" charset="0"/>
                <a:sym typeface="Symbol" pitchFamily="18" charset="2"/>
              </a:rPr>
              <a:t>v,w</a:t>
            </a:r>
            <a:r>
              <a:rPr lang="en-US" sz="1600" b="1" dirty="0">
                <a:solidFill>
                  <a:schemeClr val="bg1"/>
                </a:solidFill>
                <a:latin typeface="Courier New" pitchFamily="49" charset="0"/>
                <a:sym typeface="Symbol" pitchFamily="18" charset="2"/>
              </a:rPr>
              <a:t>) &lt; </a:t>
            </a:r>
            <a:r>
              <a:rPr lang="en-US" sz="1600" b="1" dirty="0" err="1">
                <a:solidFill>
                  <a:schemeClr val="bg1"/>
                </a:solidFill>
                <a:latin typeface="Courier New" pitchFamily="49" charset="0"/>
                <a:sym typeface="Symbol" pitchFamily="18" charset="2"/>
              </a:rPr>
              <a:t>dist</a:t>
            </a:r>
            <a:r>
              <a:rPr lang="en-US" sz="1600" b="1" dirty="0">
                <a:solidFill>
                  <a:schemeClr val="bg1"/>
                </a:solidFill>
                <a:latin typeface="Courier New" pitchFamily="49" charset="0"/>
                <a:sym typeface="Symbol" pitchFamily="18" charset="2"/>
              </a:rPr>
              <a:t>[w]):</a:t>
            </a:r>
          </a:p>
          <a:p>
            <a:pPr>
              <a:lnSpc>
                <a:spcPct val="80000"/>
              </a:lnSpc>
              <a:buFont typeface="Monotype Sorts" charset="2"/>
              <a:buNone/>
            </a:pPr>
            <a:r>
              <a:rPr lang="en-US" sz="1600" b="1" dirty="0">
                <a:solidFill>
                  <a:schemeClr val="bg1"/>
                </a:solidFill>
                <a:latin typeface="Courier New" pitchFamily="49" charset="0"/>
                <a:sym typeface="Symbol" pitchFamily="18" charset="2"/>
              </a:rPr>
              <a:t>11.       </a:t>
            </a:r>
            <a:r>
              <a:rPr lang="en-US" sz="1600" b="1" dirty="0" err="1">
                <a:solidFill>
                  <a:schemeClr val="bg1"/>
                </a:solidFill>
                <a:latin typeface="Courier New" pitchFamily="49" charset="0"/>
                <a:sym typeface="Symbol" pitchFamily="18" charset="2"/>
              </a:rPr>
              <a:t>dist</a:t>
            </a:r>
            <a:r>
              <a:rPr lang="en-US" sz="1600" b="1" dirty="0">
                <a:solidFill>
                  <a:schemeClr val="bg1"/>
                </a:solidFill>
                <a:latin typeface="Courier New" pitchFamily="49" charset="0"/>
                <a:sym typeface="Symbol" pitchFamily="18" charset="2"/>
              </a:rPr>
              <a:t>[w] = </a:t>
            </a:r>
            <a:r>
              <a:rPr lang="en-US" sz="1600" b="1" dirty="0" err="1">
                <a:solidFill>
                  <a:schemeClr val="bg1"/>
                </a:solidFill>
                <a:latin typeface="Courier New" pitchFamily="49" charset="0"/>
                <a:sym typeface="Symbol" pitchFamily="18" charset="2"/>
              </a:rPr>
              <a:t>wt</a:t>
            </a:r>
            <a:r>
              <a:rPr lang="en-US" sz="1600" b="1" dirty="0">
                <a:solidFill>
                  <a:schemeClr val="bg1"/>
                </a:solidFill>
                <a:latin typeface="Courier New" pitchFamily="49" charset="0"/>
                <a:sym typeface="Symbol" pitchFamily="18" charset="2"/>
              </a:rPr>
              <a:t>(</a:t>
            </a:r>
            <a:r>
              <a:rPr lang="en-US" sz="1600" b="1" dirty="0" err="1">
                <a:solidFill>
                  <a:schemeClr val="bg1"/>
                </a:solidFill>
                <a:latin typeface="Courier New" pitchFamily="49" charset="0"/>
                <a:sym typeface="Symbol" pitchFamily="18" charset="2"/>
              </a:rPr>
              <a:t>v,w</a:t>
            </a:r>
            <a:r>
              <a:rPr lang="en-US" sz="1600" b="1" dirty="0">
                <a:solidFill>
                  <a:schemeClr val="bg1"/>
                </a:solidFill>
                <a:latin typeface="Courier New" pitchFamily="49" charset="0"/>
                <a:sym typeface="Symbol" pitchFamily="18" charset="2"/>
              </a:rPr>
              <a:t>)</a:t>
            </a:r>
          </a:p>
          <a:p>
            <a:pPr>
              <a:lnSpc>
                <a:spcPct val="80000"/>
              </a:lnSpc>
              <a:buFont typeface="Monotype Sorts" charset="2"/>
              <a:buNone/>
            </a:pPr>
            <a:r>
              <a:rPr lang="en-US" sz="1600" b="1" dirty="0">
                <a:solidFill>
                  <a:schemeClr val="accent3"/>
                </a:solidFill>
                <a:latin typeface="Courier New" pitchFamily="49" charset="0"/>
                <a:sym typeface="Symbol" pitchFamily="18" charset="2"/>
              </a:rPr>
              <a:t>12.       </a:t>
            </a:r>
            <a:r>
              <a:rPr lang="en-US" sz="1600" b="1" dirty="0" err="1">
                <a:solidFill>
                  <a:schemeClr val="accent3"/>
                </a:solidFill>
                <a:latin typeface="Courier New" pitchFamily="49" charset="0"/>
                <a:sym typeface="Symbol" pitchFamily="18" charset="2"/>
              </a:rPr>
              <a:t>PQ.decreaseKey</a:t>
            </a:r>
            <a:r>
              <a:rPr lang="en-US" sz="1600" b="1" dirty="0">
                <a:solidFill>
                  <a:schemeClr val="accent3"/>
                </a:solidFill>
                <a:latin typeface="Courier New" pitchFamily="49" charset="0"/>
                <a:sym typeface="Symbol" pitchFamily="18" charset="2"/>
              </a:rPr>
              <a:t>(w, </a:t>
            </a:r>
            <a:r>
              <a:rPr lang="en-US" sz="1600" b="1" dirty="0" err="1">
                <a:solidFill>
                  <a:schemeClr val="accent3"/>
                </a:solidFill>
                <a:latin typeface="Courier New" pitchFamily="49" charset="0"/>
                <a:sym typeface="Symbol" pitchFamily="18" charset="2"/>
              </a:rPr>
              <a:t>dist</a:t>
            </a:r>
            <a:r>
              <a:rPr lang="en-US" sz="1600" b="1" dirty="0">
                <a:solidFill>
                  <a:schemeClr val="accent3"/>
                </a:solidFill>
                <a:latin typeface="Courier New" pitchFamily="49" charset="0"/>
                <a:sym typeface="Symbol" pitchFamily="18" charset="2"/>
              </a:rPr>
              <a:t>[w])</a:t>
            </a:r>
          </a:p>
          <a:p>
            <a:pPr>
              <a:lnSpc>
                <a:spcPct val="80000"/>
              </a:lnSpc>
              <a:buFont typeface="Monotype Sorts" charset="2"/>
              <a:buNone/>
            </a:pPr>
            <a:r>
              <a:rPr lang="en-US" sz="1600" b="1" dirty="0">
                <a:solidFill>
                  <a:schemeClr val="bg1"/>
                </a:solidFill>
                <a:latin typeface="Courier New" pitchFamily="49" charset="0"/>
                <a:sym typeface="Symbol" pitchFamily="18" charset="2"/>
              </a:rPr>
              <a:t>13.       parent[w] = v</a:t>
            </a:r>
          </a:p>
        </p:txBody>
      </p:sp>
    </p:spTree>
    <p:extLst>
      <p:ext uri="{BB962C8B-B14F-4D97-AF65-F5344CB8AC3E}">
        <p14:creationId xmlns:p14="http://schemas.microsoft.com/office/powerpoint/2010/main" val="2057633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F73BA-B35A-6BA9-B5AB-1AEA59D4D6E3}"/>
            </a:ext>
          </a:extLst>
        </p:cNvPr>
        <p:cNvGrpSpPr/>
        <p:nvPr/>
      </p:nvGrpSpPr>
      <p:grpSpPr>
        <a:xfrm>
          <a:off x="0" y="0"/>
          <a:ext cx="0" cy="0"/>
          <a:chOff x="0" y="0"/>
          <a:chExt cx="0" cy="0"/>
        </a:xfrm>
      </p:grpSpPr>
      <p:sp>
        <p:nvSpPr>
          <p:cNvPr id="47107" name="Rectangle 2">
            <a:extLst>
              <a:ext uri="{FF2B5EF4-FFF2-40B4-BE49-F238E27FC236}">
                <a16:creationId xmlns:a16="http://schemas.microsoft.com/office/drawing/2014/main" id="{63C897DE-17B4-CA40-3136-6EC481AC2F3F}"/>
              </a:ext>
            </a:extLst>
          </p:cNvPr>
          <p:cNvSpPr>
            <a:spLocks noGrp="1" noChangeArrowheads="1"/>
          </p:cNvSpPr>
          <p:nvPr>
            <p:ph type="title"/>
            <p:custDataLst>
              <p:tags r:id="rId1"/>
            </p:custDataLst>
          </p:nvPr>
        </p:nvSpPr>
        <p:spPr>
          <a:xfrm>
            <a:off x="1141412" y="301991"/>
            <a:ext cx="9905998" cy="603700"/>
          </a:xfrm>
        </p:spPr>
        <p:txBody>
          <a:bodyPr/>
          <a:lstStyle/>
          <a:p>
            <a:pPr algn="ctr"/>
            <a:r>
              <a:rPr lang="en-US" dirty="0"/>
              <a:t>Prim’s Algorithm</a:t>
            </a:r>
          </a:p>
        </p:txBody>
      </p:sp>
      <p:sp>
        <p:nvSpPr>
          <p:cNvPr id="2" name="Rectangle 2">
            <a:extLst>
              <a:ext uri="{FF2B5EF4-FFF2-40B4-BE49-F238E27FC236}">
                <a16:creationId xmlns:a16="http://schemas.microsoft.com/office/drawing/2014/main" id="{985A4B1E-4808-2ED5-B2F7-B90ACF94E9E5}"/>
              </a:ext>
            </a:extLst>
          </p:cNvPr>
          <p:cNvSpPr txBox="1">
            <a:spLocks noChangeArrowheads="1"/>
          </p:cNvSpPr>
          <p:nvPr>
            <p:custDataLst>
              <p:tags r:id="rId2"/>
            </p:custDataLst>
          </p:nvPr>
        </p:nvSpPr>
        <p:spPr>
          <a:xfrm>
            <a:off x="1062282" y="1269523"/>
            <a:ext cx="6338281" cy="4722091"/>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80000"/>
              </a:lnSpc>
              <a:buFont typeface="Monotype Sorts" charset="2"/>
              <a:buNone/>
            </a:pPr>
            <a:r>
              <a:rPr lang="en-US" sz="1600" b="1" dirty="0">
                <a:solidFill>
                  <a:schemeClr val="bg1"/>
                </a:solidFill>
                <a:latin typeface="Courier New" pitchFamily="49" charset="0"/>
              </a:rPr>
              <a:t>prim(G, s):</a:t>
            </a:r>
          </a:p>
          <a:p>
            <a:pPr>
              <a:lnSpc>
                <a:spcPct val="80000"/>
              </a:lnSpc>
              <a:buFont typeface="Monotype Sorts" charset="2"/>
              <a:buNone/>
            </a:pPr>
            <a:r>
              <a:rPr lang="en-US" sz="1600" b="1" dirty="0">
                <a:solidFill>
                  <a:schemeClr val="bg1"/>
                </a:solidFill>
                <a:latin typeface="Courier New" pitchFamily="49" charset="0"/>
              </a:rPr>
              <a:t>1. </a:t>
            </a:r>
            <a:r>
              <a:rPr lang="en-US" sz="1600" b="1" dirty="0" err="1">
                <a:solidFill>
                  <a:schemeClr val="bg1"/>
                </a:solidFill>
                <a:latin typeface="Courier New" pitchFamily="49" charset="0"/>
              </a:rPr>
              <a:t>init</a:t>
            </a:r>
            <a:r>
              <a:rPr lang="en-US" sz="1600" b="1" dirty="0">
                <a:solidFill>
                  <a:schemeClr val="bg1"/>
                </a:solidFill>
                <a:latin typeface="Courier New" pitchFamily="49" charset="0"/>
              </a:rPr>
              <a:t> PQ to be empty</a:t>
            </a:r>
          </a:p>
          <a:p>
            <a:pPr>
              <a:lnSpc>
                <a:spcPct val="80000"/>
              </a:lnSpc>
              <a:buFont typeface="Monotype Sorts" charset="2"/>
              <a:buNone/>
            </a:pPr>
            <a:r>
              <a:rPr lang="en-US" sz="1600" b="1" dirty="0">
                <a:solidFill>
                  <a:schemeClr val="bg1"/>
                </a:solidFill>
                <a:latin typeface="Courier New" pitchFamily="49" charset="0"/>
              </a:rPr>
              <a:t>2. </a:t>
            </a:r>
            <a:r>
              <a:rPr lang="en-US" sz="1600" b="1" dirty="0" err="1">
                <a:solidFill>
                  <a:schemeClr val="bg1"/>
                </a:solidFill>
                <a:latin typeface="Courier New" pitchFamily="49" charset="0"/>
              </a:rPr>
              <a:t>PQ.Insert</a:t>
            </a:r>
            <a:r>
              <a:rPr lang="en-US" sz="1600" b="1" dirty="0">
                <a:solidFill>
                  <a:schemeClr val="bg1"/>
                </a:solidFill>
                <a:latin typeface="Courier New" pitchFamily="49" charset="0"/>
              </a:rPr>
              <a:t>(s, </a:t>
            </a:r>
            <a:r>
              <a:rPr lang="en-US" sz="1600" b="1" dirty="0" err="1">
                <a:solidFill>
                  <a:schemeClr val="bg1"/>
                </a:solidFill>
                <a:latin typeface="Courier New" pitchFamily="49" charset="0"/>
              </a:rPr>
              <a:t>wt</a:t>
            </a:r>
            <a:r>
              <a:rPr lang="en-US" sz="1600" b="1" dirty="0">
                <a:solidFill>
                  <a:schemeClr val="bg1"/>
                </a:solidFill>
                <a:latin typeface="Courier New" pitchFamily="49" charset="0"/>
              </a:rPr>
              <a:t>=0)</a:t>
            </a:r>
          </a:p>
          <a:p>
            <a:pPr>
              <a:lnSpc>
                <a:spcPct val="80000"/>
              </a:lnSpc>
              <a:buFont typeface="Monotype Sorts" charset="2"/>
              <a:buNone/>
            </a:pPr>
            <a:r>
              <a:rPr lang="en-US" sz="1600" b="1" dirty="0">
                <a:solidFill>
                  <a:schemeClr val="bg1"/>
                </a:solidFill>
                <a:latin typeface="Courier New" pitchFamily="49" charset="0"/>
                <a:sym typeface="Symbol" pitchFamily="18" charset="2"/>
              </a:rPr>
              <a:t>3. parent[s] = NULL;</a:t>
            </a:r>
          </a:p>
          <a:p>
            <a:pPr>
              <a:lnSpc>
                <a:spcPct val="80000"/>
              </a:lnSpc>
              <a:buFont typeface="Monotype Sorts" charset="2"/>
              <a:buNone/>
            </a:pPr>
            <a:r>
              <a:rPr lang="en-US" sz="1600" b="1" dirty="0">
                <a:solidFill>
                  <a:schemeClr val="bg1"/>
                </a:solidFill>
                <a:latin typeface="Courier New" pitchFamily="49" charset="0"/>
                <a:sym typeface="Symbol" pitchFamily="18" charset="2"/>
              </a:rPr>
              <a:t>4. while (PQ not empty):</a:t>
            </a:r>
          </a:p>
          <a:p>
            <a:pPr>
              <a:lnSpc>
                <a:spcPct val="80000"/>
              </a:lnSpc>
              <a:buFont typeface="Monotype Sorts" charset="2"/>
              <a:buNone/>
            </a:pPr>
            <a:r>
              <a:rPr lang="en-US" sz="1600" b="1" dirty="0">
                <a:solidFill>
                  <a:schemeClr val="bg1"/>
                </a:solidFill>
                <a:latin typeface="Courier New" pitchFamily="49" charset="0"/>
                <a:sym typeface="Symbol" pitchFamily="18" charset="2"/>
              </a:rPr>
              <a:t>5.   v = </a:t>
            </a:r>
            <a:r>
              <a:rPr lang="en-US" sz="1600" b="1" dirty="0" err="1">
                <a:solidFill>
                  <a:schemeClr val="bg1"/>
                </a:solidFill>
                <a:latin typeface="Courier New" pitchFamily="49" charset="0"/>
                <a:sym typeface="Symbol" pitchFamily="18" charset="2"/>
              </a:rPr>
              <a:t>PQ.ExtractMin</a:t>
            </a:r>
            <a:r>
              <a:rPr lang="en-US" sz="1600" b="1" dirty="0">
                <a:solidFill>
                  <a:schemeClr val="bg1"/>
                </a:solidFill>
                <a:latin typeface="Courier New" pitchFamily="49" charset="0"/>
                <a:sym typeface="Symbol" pitchFamily="18" charset="2"/>
              </a:rPr>
              <a:t>()</a:t>
            </a:r>
          </a:p>
          <a:p>
            <a:pPr>
              <a:lnSpc>
                <a:spcPct val="80000"/>
              </a:lnSpc>
              <a:buFont typeface="Monotype Sorts" charset="2"/>
              <a:buNone/>
            </a:pPr>
            <a:r>
              <a:rPr lang="en-US" sz="1600" b="1" dirty="0">
                <a:solidFill>
                  <a:schemeClr val="bg1"/>
                </a:solidFill>
                <a:latin typeface="Courier New" pitchFamily="49" charset="0"/>
                <a:sym typeface="Symbol" pitchFamily="18" charset="2"/>
              </a:rPr>
              <a:t>6.   for each w</a:t>
            </a:r>
            <a:r>
              <a:rPr lang="en-US" sz="1600" b="1" dirty="0">
                <a:solidFill>
                  <a:schemeClr val="bg1"/>
                </a:solidFill>
                <a:latin typeface="Courier New" pitchFamily="49" charset="0"/>
              </a:rPr>
              <a:t> </a:t>
            </a:r>
            <a:r>
              <a:rPr lang="en-US" sz="1600" b="1" dirty="0">
                <a:solidFill>
                  <a:schemeClr val="bg1"/>
                </a:solidFill>
                <a:latin typeface="Courier New" pitchFamily="49" charset="0"/>
                <a:sym typeface="Symbol" pitchFamily="18" charset="2"/>
              </a:rPr>
              <a:t>adj to v</a:t>
            </a:r>
          </a:p>
          <a:p>
            <a:pPr>
              <a:lnSpc>
                <a:spcPct val="80000"/>
              </a:lnSpc>
              <a:buFont typeface="Monotype Sorts" charset="2"/>
              <a:buNone/>
            </a:pPr>
            <a:r>
              <a:rPr lang="en-US" sz="1600" b="1" dirty="0">
                <a:solidFill>
                  <a:schemeClr val="bg1"/>
                </a:solidFill>
                <a:latin typeface="Courier New" pitchFamily="49" charset="0"/>
                <a:sym typeface="Symbol" pitchFamily="18" charset="2"/>
              </a:rPr>
              <a:t>7.     if (w</a:t>
            </a:r>
            <a:r>
              <a:rPr lang="en-US" sz="1600" b="1" dirty="0">
                <a:solidFill>
                  <a:schemeClr val="bg1"/>
                </a:solidFill>
                <a:latin typeface="Courier New" pitchFamily="49" charset="0"/>
              </a:rPr>
              <a:t> </a:t>
            </a:r>
            <a:r>
              <a:rPr lang="en-US" sz="1600" b="1" dirty="0">
                <a:solidFill>
                  <a:schemeClr val="bg1"/>
                </a:solidFill>
                <a:latin typeface="Courier New" pitchFamily="49" charset="0"/>
                <a:sym typeface="Symbol" pitchFamily="18" charset="2"/>
              </a:rPr>
              <a:t>is unseen):</a:t>
            </a:r>
          </a:p>
          <a:p>
            <a:pPr>
              <a:lnSpc>
                <a:spcPct val="80000"/>
              </a:lnSpc>
              <a:buFont typeface="Monotype Sorts" charset="2"/>
              <a:buNone/>
            </a:pPr>
            <a:r>
              <a:rPr lang="en-US" sz="1600" b="1" dirty="0">
                <a:solidFill>
                  <a:schemeClr val="bg1"/>
                </a:solidFill>
                <a:latin typeface="Courier New" pitchFamily="49" charset="0"/>
                <a:sym typeface="Symbol" pitchFamily="18" charset="2"/>
              </a:rPr>
              <a:t>8.        </a:t>
            </a:r>
            <a:r>
              <a:rPr lang="en-US" sz="1600" b="1" dirty="0" err="1">
                <a:solidFill>
                  <a:schemeClr val="bg1"/>
                </a:solidFill>
                <a:latin typeface="Courier New" pitchFamily="49" charset="0"/>
                <a:sym typeface="Symbol" pitchFamily="18" charset="2"/>
              </a:rPr>
              <a:t>PQ.Insert</a:t>
            </a:r>
            <a:r>
              <a:rPr lang="en-US" sz="1600" b="1" dirty="0">
                <a:solidFill>
                  <a:schemeClr val="bg1"/>
                </a:solidFill>
                <a:latin typeface="Courier New" pitchFamily="49" charset="0"/>
                <a:sym typeface="Symbol" pitchFamily="18" charset="2"/>
              </a:rPr>
              <a:t>(w, </a:t>
            </a:r>
            <a:r>
              <a:rPr lang="en-US" sz="1600" b="1" dirty="0" err="1">
                <a:solidFill>
                  <a:schemeClr val="accent5"/>
                </a:solidFill>
                <a:latin typeface="Courier New" pitchFamily="49" charset="0"/>
                <a:sym typeface="Symbol" pitchFamily="18" charset="2"/>
              </a:rPr>
              <a:t>wt</a:t>
            </a:r>
            <a:r>
              <a:rPr lang="en-US" sz="1600" b="1" dirty="0">
                <a:solidFill>
                  <a:schemeClr val="accent5"/>
                </a:solidFill>
                <a:latin typeface="Courier New" pitchFamily="49" charset="0"/>
                <a:sym typeface="Symbol" pitchFamily="18" charset="2"/>
              </a:rPr>
              <a:t>[</a:t>
            </a:r>
            <a:r>
              <a:rPr lang="en-US" sz="1600" b="1" dirty="0" err="1">
                <a:solidFill>
                  <a:schemeClr val="accent5"/>
                </a:solidFill>
                <a:latin typeface="Courier New" pitchFamily="49" charset="0"/>
                <a:sym typeface="Symbol" pitchFamily="18" charset="2"/>
              </a:rPr>
              <a:t>v,w</a:t>
            </a:r>
            <a:r>
              <a:rPr lang="en-US" sz="1600" b="1" dirty="0">
                <a:solidFill>
                  <a:schemeClr val="accent5"/>
                </a:solidFill>
                <a:latin typeface="Courier New" pitchFamily="49" charset="0"/>
                <a:sym typeface="Symbol" pitchFamily="18" charset="2"/>
              </a:rPr>
              <a:t>]</a:t>
            </a:r>
            <a:r>
              <a:rPr lang="en-US" sz="1600" b="1" dirty="0">
                <a:solidFill>
                  <a:schemeClr val="bg1"/>
                </a:solidFill>
                <a:latin typeface="Courier New" pitchFamily="49" charset="0"/>
                <a:sym typeface="Symbol" pitchFamily="18" charset="2"/>
              </a:rPr>
              <a:t>)</a:t>
            </a:r>
          </a:p>
          <a:p>
            <a:pPr>
              <a:lnSpc>
                <a:spcPct val="80000"/>
              </a:lnSpc>
              <a:buFont typeface="Monotype Sorts" charset="2"/>
              <a:buNone/>
            </a:pPr>
            <a:r>
              <a:rPr lang="en-US" sz="1600" b="1" dirty="0">
                <a:solidFill>
                  <a:schemeClr val="bg1"/>
                </a:solidFill>
                <a:latin typeface="Courier New" pitchFamily="49" charset="0"/>
                <a:sym typeface="Symbol" pitchFamily="18" charset="2"/>
              </a:rPr>
              <a:t>9.        parent[w] = v</a:t>
            </a:r>
          </a:p>
          <a:p>
            <a:pPr>
              <a:lnSpc>
                <a:spcPct val="80000"/>
              </a:lnSpc>
              <a:buFont typeface="Monotype Sorts" charset="2"/>
              <a:buNone/>
            </a:pPr>
            <a:r>
              <a:rPr lang="en-US" sz="1600" b="1" dirty="0">
                <a:solidFill>
                  <a:schemeClr val="bg1"/>
                </a:solidFill>
                <a:latin typeface="Courier New" pitchFamily="49" charset="0"/>
                <a:sym typeface="Symbol" pitchFamily="18" charset="2"/>
              </a:rPr>
              <a:t>10.    else if (w is fringe &amp;&amp; </a:t>
            </a:r>
            <a:r>
              <a:rPr lang="en-US" sz="1600" b="1" dirty="0" err="1">
                <a:solidFill>
                  <a:schemeClr val="accent5"/>
                </a:solidFill>
                <a:latin typeface="Courier New" pitchFamily="49" charset="0"/>
                <a:sym typeface="Symbol" pitchFamily="18" charset="2"/>
              </a:rPr>
              <a:t>wt</a:t>
            </a:r>
            <a:r>
              <a:rPr lang="en-US" sz="1600" b="1" dirty="0">
                <a:solidFill>
                  <a:schemeClr val="accent5"/>
                </a:solidFill>
                <a:latin typeface="Courier New" pitchFamily="49" charset="0"/>
                <a:sym typeface="Symbol" pitchFamily="18" charset="2"/>
              </a:rPr>
              <a:t>(</a:t>
            </a:r>
            <a:r>
              <a:rPr lang="en-US" sz="1600" b="1" dirty="0" err="1">
                <a:solidFill>
                  <a:schemeClr val="accent5"/>
                </a:solidFill>
                <a:latin typeface="Courier New" pitchFamily="49" charset="0"/>
                <a:sym typeface="Symbol" pitchFamily="18" charset="2"/>
              </a:rPr>
              <a:t>v,w</a:t>
            </a:r>
            <a:r>
              <a:rPr lang="en-US" sz="1600" b="1" dirty="0">
                <a:solidFill>
                  <a:schemeClr val="accent5"/>
                </a:solidFill>
                <a:latin typeface="Courier New" pitchFamily="49" charset="0"/>
                <a:sym typeface="Symbol" pitchFamily="18" charset="2"/>
              </a:rPr>
              <a:t>)</a:t>
            </a:r>
            <a:r>
              <a:rPr lang="en-US" sz="1600" b="1" dirty="0">
                <a:solidFill>
                  <a:schemeClr val="bg1"/>
                </a:solidFill>
                <a:latin typeface="Courier New" pitchFamily="49" charset="0"/>
                <a:sym typeface="Symbol" pitchFamily="18" charset="2"/>
              </a:rPr>
              <a:t> &lt; </a:t>
            </a:r>
            <a:r>
              <a:rPr lang="en-US" sz="1600" b="1" dirty="0" err="1">
                <a:solidFill>
                  <a:schemeClr val="bg1"/>
                </a:solidFill>
                <a:latin typeface="Courier New" pitchFamily="49" charset="0"/>
                <a:sym typeface="Symbol" pitchFamily="18" charset="2"/>
              </a:rPr>
              <a:t>dist</a:t>
            </a:r>
            <a:r>
              <a:rPr lang="en-US" sz="1600" b="1" dirty="0">
                <a:solidFill>
                  <a:schemeClr val="bg1"/>
                </a:solidFill>
                <a:latin typeface="Courier New" pitchFamily="49" charset="0"/>
                <a:sym typeface="Symbol" pitchFamily="18" charset="2"/>
              </a:rPr>
              <a:t>[w]):</a:t>
            </a:r>
          </a:p>
          <a:p>
            <a:pPr>
              <a:lnSpc>
                <a:spcPct val="80000"/>
              </a:lnSpc>
              <a:buFont typeface="Monotype Sorts" charset="2"/>
              <a:buNone/>
            </a:pPr>
            <a:r>
              <a:rPr lang="en-US" sz="1600" b="1" dirty="0">
                <a:solidFill>
                  <a:schemeClr val="bg1"/>
                </a:solidFill>
                <a:latin typeface="Courier New" pitchFamily="49" charset="0"/>
                <a:sym typeface="Symbol" pitchFamily="18" charset="2"/>
              </a:rPr>
              <a:t>11.       </a:t>
            </a:r>
            <a:r>
              <a:rPr lang="en-US" sz="1600" b="1" dirty="0" err="1">
                <a:solidFill>
                  <a:schemeClr val="accent5"/>
                </a:solidFill>
                <a:latin typeface="Courier New" pitchFamily="49" charset="0"/>
                <a:sym typeface="Symbol" pitchFamily="18" charset="2"/>
              </a:rPr>
              <a:t>dist</a:t>
            </a:r>
            <a:r>
              <a:rPr lang="en-US" sz="1600" b="1" dirty="0">
                <a:solidFill>
                  <a:schemeClr val="accent5"/>
                </a:solidFill>
                <a:latin typeface="Courier New" pitchFamily="49" charset="0"/>
                <a:sym typeface="Symbol" pitchFamily="18" charset="2"/>
              </a:rPr>
              <a:t>[w] = </a:t>
            </a:r>
            <a:r>
              <a:rPr lang="en-US" sz="1600" b="1" dirty="0" err="1">
                <a:solidFill>
                  <a:schemeClr val="accent5"/>
                </a:solidFill>
                <a:latin typeface="Courier New" pitchFamily="49" charset="0"/>
                <a:sym typeface="Symbol" pitchFamily="18" charset="2"/>
              </a:rPr>
              <a:t>wt</a:t>
            </a:r>
            <a:r>
              <a:rPr lang="en-US" sz="1600" b="1" dirty="0">
                <a:solidFill>
                  <a:schemeClr val="accent5"/>
                </a:solidFill>
                <a:latin typeface="Courier New" pitchFamily="49" charset="0"/>
                <a:sym typeface="Symbol" pitchFamily="18" charset="2"/>
              </a:rPr>
              <a:t>(</a:t>
            </a:r>
            <a:r>
              <a:rPr lang="en-US" sz="1600" b="1" dirty="0" err="1">
                <a:solidFill>
                  <a:schemeClr val="accent5"/>
                </a:solidFill>
                <a:latin typeface="Courier New" pitchFamily="49" charset="0"/>
                <a:sym typeface="Symbol" pitchFamily="18" charset="2"/>
              </a:rPr>
              <a:t>v,w</a:t>
            </a:r>
            <a:r>
              <a:rPr lang="en-US" sz="1600" b="1" dirty="0">
                <a:solidFill>
                  <a:schemeClr val="accent5"/>
                </a:solidFill>
                <a:latin typeface="Courier New" pitchFamily="49" charset="0"/>
                <a:sym typeface="Symbol" pitchFamily="18" charset="2"/>
              </a:rPr>
              <a:t>)</a:t>
            </a:r>
          </a:p>
          <a:p>
            <a:pPr>
              <a:lnSpc>
                <a:spcPct val="80000"/>
              </a:lnSpc>
              <a:buFont typeface="Monotype Sorts" charset="2"/>
              <a:buNone/>
            </a:pPr>
            <a:r>
              <a:rPr lang="en-US" sz="1600" b="1" dirty="0">
                <a:solidFill>
                  <a:schemeClr val="bg1"/>
                </a:solidFill>
                <a:latin typeface="Courier New" pitchFamily="49" charset="0"/>
                <a:sym typeface="Symbol" pitchFamily="18" charset="2"/>
              </a:rPr>
              <a:t>12.       </a:t>
            </a:r>
            <a:r>
              <a:rPr lang="en-US" sz="1600" b="1" dirty="0" err="1">
                <a:solidFill>
                  <a:schemeClr val="bg1"/>
                </a:solidFill>
                <a:latin typeface="Courier New" pitchFamily="49" charset="0"/>
                <a:sym typeface="Symbol" pitchFamily="18" charset="2"/>
              </a:rPr>
              <a:t>PQ.decreaseKey</a:t>
            </a:r>
            <a:r>
              <a:rPr lang="en-US" sz="1600" b="1" dirty="0">
                <a:solidFill>
                  <a:schemeClr val="bg1"/>
                </a:solidFill>
                <a:latin typeface="Courier New" pitchFamily="49" charset="0"/>
                <a:sym typeface="Symbol" pitchFamily="18" charset="2"/>
              </a:rPr>
              <a:t>(w, </a:t>
            </a:r>
            <a:r>
              <a:rPr lang="en-US" sz="1600" b="1" dirty="0" err="1">
                <a:solidFill>
                  <a:schemeClr val="bg1"/>
                </a:solidFill>
                <a:latin typeface="Courier New" pitchFamily="49" charset="0"/>
                <a:sym typeface="Symbol" pitchFamily="18" charset="2"/>
              </a:rPr>
              <a:t>dist</a:t>
            </a:r>
            <a:r>
              <a:rPr lang="en-US" sz="1600" b="1" dirty="0">
                <a:solidFill>
                  <a:schemeClr val="bg1"/>
                </a:solidFill>
                <a:latin typeface="Courier New" pitchFamily="49" charset="0"/>
                <a:sym typeface="Symbol" pitchFamily="18" charset="2"/>
              </a:rPr>
              <a:t>[w])</a:t>
            </a:r>
          </a:p>
          <a:p>
            <a:pPr>
              <a:lnSpc>
                <a:spcPct val="80000"/>
              </a:lnSpc>
              <a:buFont typeface="Monotype Sorts" charset="2"/>
              <a:buNone/>
            </a:pPr>
            <a:r>
              <a:rPr lang="en-US" sz="1600" b="1" dirty="0">
                <a:solidFill>
                  <a:schemeClr val="bg1"/>
                </a:solidFill>
                <a:latin typeface="Courier New" pitchFamily="49" charset="0"/>
                <a:sym typeface="Symbol" pitchFamily="18" charset="2"/>
              </a:rPr>
              <a:t>13.       parent[w] = v</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51BF556-4986-4D35-8578-6DD6F2FB8410}"/>
                  </a:ext>
                </a:extLst>
              </p:cNvPr>
              <p:cNvSpPr txBox="1"/>
              <p:nvPr/>
            </p:nvSpPr>
            <p:spPr>
              <a:xfrm>
                <a:off x="7563300" y="4124297"/>
                <a:ext cx="3880237" cy="923330"/>
              </a:xfrm>
              <a:prstGeom prst="rect">
                <a:avLst/>
              </a:prstGeom>
              <a:noFill/>
              <a:ln>
                <a:solidFill>
                  <a:schemeClr val="tx1">
                    <a:lumMod val="95000"/>
                  </a:schemeClr>
                </a:solidFill>
              </a:ln>
            </p:spPr>
            <p:txBody>
              <a:bodyPr wrap="square" rtlCol="0">
                <a:spAutoFit/>
              </a:bodyPr>
              <a:lstStyle/>
              <a:p>
                <a:pPr/>
                <a:r>
                  <a:rPr lang="en-US" dirty="0"/>
                  <a:t>Runtime is same as Dijkstra’s Algorithm:</a:t>
                </a:r>
                <a:br>
                  <a:rPr lang="en-US" dirty="0"/>
                </a:br>
                <a:br>
                  <a:rPr lang="en-US" dirty="0"/>
                </a:b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𝐸𝑙𝑜𝑔</m:t>
                      </m:r>
                      <m:d>
                        <m:dPr>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051BF556-4986-4D35-8578-6DD6F2FB8410}"/>
                  </a:ext>
                </a:extLst>
              </p:cNvPr>
              <p:cNvSpPr txBox="1">
                <a:spLocks noRot="1" noChangeAspect="1" noMove="1" noResize="1" noEditPoints="1" noAdjustHandles="1" noChangeArrowheads="1" noChangeShapeType="1" noTextEdit="1"/>
              </p:cNvSpPr>
              <p:nvPr/>
            </p:nvSpPr>
            <p:spPr>
              <a:xfrm>
                <a:off x="7563300" y="4124297"/>
                <a:ext cx="3880237" cy="923330"/>
              </a:xfrm>
              <a:prstGeom prst="rect">
                <a:avLst/>
              </a:prstGeom>
              <a:blipFill>
                <a:blip r:embed="rId4"/>
                <a:stretch>
                  <a:fillRect l="-1303" t="-2703" b="-5405"/>
                </a:stretch>
              </a:blipFill>
              <a:ln>
                <a:solidFill>
                  <a:schemeClr val="tx1">
                    <a:lumMod val="95000"/>
                  </a:schemeClr>
                </a:solid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C04B9742-2D6C-F48D-3798-96C1041DA71C}"/>
              </a:ext>
            </a:extLst>
          </p:cNvPr>
          <p:cNvSpPr txBox="1"/>
          <p:nvPr/>
        </p:nvSpPr>
        <p:spPr>
          <a:xfrm>
            <a:off x="7563300" y="1876243"/>
            <a:ext cx="3880237" cy="1754326"/>
          </a:xfrm>
          <a:prstGeom prst="rect">
            <a:avLst/>
          </a:prstGeom>
          <a:noFill/>
          <a:ln>
            <a:solidFill>
              <a:schemeClr val="tx1">
                <a:lumMod val="95000"/>
              </a:schemeClr>
            </a:solidFill>
          </a:ln>
        </p:spPr>
        <p:txBody>
          <a:bodyPr wrap="square" rtlCol="0">
            <a:spAutoFit/>
          </a:bodyPr>
          <a:lstStyle/>
          <a:p>
            <a:r>
              <a:rPr lang="en-US" dirty="0"/>
              <a:t>Implementation is basically the same as Dijkstra’s Algorithm. Highlighted sections are the differences between the two! Difference is essentially just what value you put as the weight in the priority queue!</a:t>
            </a:r>
          </a:p>
        </p:txBody>
      </p:sp>
    </p:spTree>
    <p:extLst>
      <p:ext uri="{BB962C8B-B14F-4D97-AF65-F5344CB8AC3E}">
        <p14:creationId xmlns:p14="http://schemas.microsoft.com/office/powerpoint/2010/main" val="3637729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4FB3C-94E6-0930-549E-8DA3E804CC91}"/>
            </a:ext>
          </a:extLst>
        </p:cNvPr>
        <p:cNvGrpSpPr/>
        <p:nvPr/>
      </p:nvGrpSpPr>
      <p:grpSpPr>
        <a:xfrm>
          <a:off x="0" y="0"/>
          <a:ext cx="0" cy="0"/>
          <a:chOff x="0" y="0"/>
          <a:chExt cx="0" cy="0"/>
        </a:xfrm>
      </p:grpSpPr>
      <p:sp>
        <p:nvSpPr>
          <p:cNvPr id="65538" name="Rectangle 2">
            <a:extLst>
              <a:ext uri="{FF2B5EF4-FFF2-40B4-BE49-F238E27FC236}">
                <a16:creationId xmlns:a16="http://schemas.microsoft.com/office/drawing/2014/main" id="{6AE17F1A-62C6-FD4A-BE60-243155D90713}"/>
              </a:ext>
            </a:extLst>
          </p:cNvPr>
          <p:cNvSpPr>
            <a:spLocks noGrp="1" noChangeArrowheads="1"/>
          </p:cNvSpPr>
          <p:nvPr>
            <p:ph type="title"/>
            <p:custDataLst>
              <p:tags r:id="rId1"/>
            </p:custDataLst>
          </p:nvPr>
        </p:nvSpPr>
        <p:spPr>
          <a:xfrm>
            <a:off x="1141412" y="239463"/>
            <a:ext cx="9905998" cy="694234"/>
          </a:xfrm>
        </p:spPr>
        <p:txBody>
          <a:bodyPr/>
          <a:lstStyle/>
          <a:p>
            <a:pPr algn="ctr" eaLnBrk="1" hangingPunct="1"/>
            <a:r>
              <a:rPr lang="en-US" dirty="0"/>
              <a:t>Prim’s algorithm: Greedy Choice Property</a:t>
            </a:r>
          </a:p>
        </p:txBody>
      </p:sp>
      <p:sp>
        <p:nvSpPr>
          <p:cNvPr id="43" name="Rectangle 3">
            <a:extLst>
              <a:ext uri="{FF2B5EF4-FFF2-40B4-BE49-F238E27FC236}">
                <a16:creationId xmlns:a16="http://schemas.microsoft.com/office/drawing/2014/main" id="{C9753021-71EA-3CA9-057D-6E4258BCE846}"/>
              </a:ext>
            </a:extLst>
          </p:cNvPr>
          <p:cNvSpPr txBox="1">
            <a:spLocks noChangeArrowheads="1"/>
          </p:cNvSpPr>
          <p:nvPr>
            <p:custDataLst>
              <p:tags r:id="rId2"/>
            </p:custDataLst>
          </p:nvPr>
        </p:nvSpPr>
        <p:spPr>
          <a:xfrm>
            <a:off x="1082673" y="1381545"/>
            <a:ext cx="9905999" cy="1041401"/>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b="1" i="1" u="sng" dirty="0">
                <a:solidFill>
                  <a:schemeClr val="bg1"/>
                </a:solidFill>
              </a:rPr>
              <a:t>Greedy Choice Property</a:t>
            </a:r>
            <a:r>
              <a:rPr lang="en-US" b="1" dirty="0">
                <a:solidFill>
                  <a:schemeClr val="bg1"/>
                </a:solidFill>
              </a:rPr>
              <a:t>: </a:t>
            </a:r>
            <a:r>
              <a:rPr lang="en-US" dirty="0">
                <a:solidFill>
                  <a:schemeClr val="bg1"/>
                </a:solidFill>
              </a:rPr>
              <a:t>The edge of lowest cost from any known node to any fringe node MUST be in some MST of graph G.</a:t>
            </a:r>
          </a:p>
        </p:txBody>
      </p:sp>
      <p:sp>
        <p:nvSpPr>
          <p:cNvPr id="44" name="TextBox 43">
            <a:extLst>
              <a:ext uri="{FF2B5EF4-FFF2-40B4-BE49-F238E27FC236}">
                <a16:creationId xmlns:a16="http://schemas.microsoft.com/office/drawing/2014/main" id="{3B4AA98D-BB7F-7DE7-3B87-930E84BCECA2}"/>
              </a:ext>
            </a:extLst>
          </p:cNvPr>
          <p:cNvSpPr txBox="1"/>
          <p:nvPr/>
        </p:nvSpPr>
        <p:spPr>
          <a:xfrm>
            <a:off x="5268915" y="3005508"/>
            <a:ext cx="4195986" cy="369332"/>
          </a:xfrm>
          <a:prstGeom prst="rect">
            <a:avLst/>
          </a:prstGeom>
          <a:noFill/>
          <a:ln>
            <a:solidFill>
              <a:schemeClr val="accent2">
                <a:lumMod val="60000"/>
                <a:lumOff val="40000"/>
              </a:schemeClr>
            </a:solidFill>
          </a:ln>
        </p:spPr>
        <p:txBody>
          <a:bodyPr wrap="square" rtlCol="0">
            <a:spAutoFit/>
          </a:bodyPr>
          <a:lstStyle/>
          <a:p>
            <a:r>
              <a:rPr lang="en-US" dirty="0"/>
              <a:t>This one will be left to you in an exercise…</a:t>
            </a:r>
          </a:p>
        </p:txBody>
      </p:sp>
    </p:spTree>
    <p:extLst>
      <p:ext uri="{BB962C8B-B14F-4D97-AF65-F5344CB8AC3E}">
        <p14:creationId xmlns:p14="http://schemas.microsoft.com/office/powerpoint/2010/main" val="1843106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Indirect Heaps</a:t>
            </a:r>
          </a:p>
        </p:txBody>
      </p:sp>
      <p:sp>
        <p:nvSpPr>
          <p:cNvPr id="6" name="Text Placeholder 5"/>
          <p:cNvSpPr>
            <a:spLocks noGrp="1"/>
          </p:cNvSpPr>
          <p:nvPr>
            <p:ph type="body" idx="1"/>
          </p:nvPr>
        </p:nvSpPr>
        <p:spPr/>
        <p:txBody>
          <a:bodyPr/>
          <a:lstStyle/>
          <a:p>
            <a:endParaRPr lang="en-US"/>
          </a:p>
        </p:txBody>
      </p:sp>
    </p:spTree>
    <p:extLst>
      <p:ext uri="{BB962C8B-B14F-4D97-AF65-F5344CB8AC3E}">
        <p14:creationId xmlns:p14="http://schemas.microsoft.com/office/powerpoint/2010/main" val="2264018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custDataLst>
              <p:tags r:id="rId1"/>
            </p:custDataLst>
          </p:nvPr>
        </p:nvSpPr>
        <p:spPr>
          <a:xfrm>
            <a:off x="1141412" y="152525"/>
            <a:ext cx="9905998" cy="542067"/>
          </a:xfrm>
        </p:spPr>
        <p:txBody>
          <a:bodyPr>
            <a:normAutofit fontScale="90000"/>
          </a:bodyPr>
          <a:lstStyle/>
          <a:p>
            <a:pPr algn="ctr"/>
            <a:r>
              <a:rPr lang="en-US" dirty="0">
                <a:sym typeface="Symbol" pitchFamily="18" charset="2"/>
              </a:rPr>
              <a:t>Compare</a:t>
            </a:r>
          </a:p>
        </p:txBody>
      </p:sp>
      <p:sp>
        <p:nvSpPr>
          <p:cNvPr id="72708" name="Rectangle 3"/>
          <p:cNvSpPr>
            <a:spLocks noGrp="1" noChangeArrowheads="1"/>
          </p:cNvSpPr>
          <p:nvPr>
            <p:ph sz="quarter" idx="1"/>
            <p:custDataLst>
              <p:tags r:id="rId2"/>
            </p:custDataLst>
          </p:nvPr>
        </p:nvSpPr>
        <p:spPr>
          <a:xfrm>
            <a:off x="1197848" y="5972023"/>
            <a:ext cx="10601429" cy="542067"/>
          </a:xfrm>
        </p:spPr>
        <p:txBody>
          <a:bodyPr>
            <a:normAutofit fontScale="92500"/>
          </a:bodyPr>
          <a:lstStyle/>
          <a:p>
            <a:pPr marL="0" indent="0">
              <a:buNone/>
            </a:pPr>
            <a:r>
              <a:rPr lang="en-US" dirty="0"/>
              <a:t>Both of these require priority queue </a:t>
            </a:r>
            <a:r>
              <a:rPr lang="en-US" dirty="0" err="1"/>
              <a:t>decreaseKey</a:t>
            </a:r>
            <a:r>
              <a:rPr lang="en-US" dirty="0"/>
              <a:t>() to be fast! How do we actually do that!</a:t>
            </a:r>
            <a:endParaRPr lang="en-US" b="1" i="1" dirty="0">
              <a:sym typeface="Symbol" pitchFamily="18" charset="2"/>
            </a:endParaRPr>
          </a:p>
        </p:txBody>
      </p:sp>
      <p:sp>
        <p:nvSpPr>
          <p:cNvPr id="2" name="Rectangle 2">
            <a:extLst>
              <a:ext uri="{FF2B5EF4-FFF2-40B4-BE49-F238E27FC236}">
                <a16:creationId xmlns:a16="http://schemas.microsoft.com/office/drawing/2014/main" id="{65958399-D16F-BF2C-981B-D35E8B29D6C9}"/>
              </a:ext>
            </a:extLst>
          </p:cNvPr>
          <p:cNvSpPr txBox="1">
            <a:spLocks noChangeArrowheads="1"/>
          </p:cNvSpPr>
          <p:nvPr>
            <p:custDataLst>
              <p:tags r:id="rId3"/>
            </p:custDataLst>
          </p:nvPr>
        </p:nvSpPr>
        <p:spPr>
          <a:xfrm>
            <a:off x="6583723" y="894769"/>
            <a:ext cx="5513149" cy="4722091"/>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80000"/>
              </a:lnSpc>
              <a:buFont typeface="Monotype Sorts" charset="2"/>
              <a:buNone/>
            </a:pPr>
            <a:r>
              <a:rPr lang="en-US" sz="1400" b="1" dirty="0">
                <a:solidFill>
                  <a:schemeClr val="bg1"/>
                </a:solidFill>
                <a:latin typeface="Courier New" pitchFamily="49" charset="0"/>
              </a:rPr>
              <a:t>prim(G, s):</a:t>
            </a:r>
          </a:p>
          <a:p>
            <a:pPr>
              <a:lnSpc>
                <a:spcPct val="80000"/>
              </a:lnSpc>
              <a:buFont typeface="Monotype Sorts" charset="2"/>
              <a:buNone/>
            </a:pPr>
            <a:r>
              <a:rPr lang="en-US" sz="1400" b="1" dirty="0">
                <a:solidFill>
                  <a:schemeClr val="bg1"/>
                </a:solidFill>
                <a:latin typeface="Courier New" pitchFamily="49" charset="0"/>
              </a:rPr>
              <a:t>1. </a:t>
            </a:r>
            <a:r>
              <a:rPr lang="en-US" sz="1400" b="1" dirty="0" err="1">
                <a:solidFill>
                  <a:schemeClr val="bg1"/>
                </a:solidFill>
                <a:latin typeface="Courier New" pitchFamily="49" charset="0"/>
              </a:rPr>
              <a:t>init</a:t>
            </a:r>
            <a:r>
              <a:rPr lang="en-US" sz="1400" b="1" dirty="0">
                <a:solidFill>
                  <a:schemeClr val="bg1"/>
                </a:solidFill>
                <a:latin typeface="Courier New" pitchFamily="49" charset="0"/>
              </a:rPr>
              <a:t> PQ to be empty</a:t>
            </a:r>
          </a:p>
          <a:p>
            <a:pPr>
              <a:lnSpc>
                <a:spcPct val="80000"/>
              </a:lnSpc>
              <a:buFont typeface="Monotype Sorts" charset="2"/>
              <a:buNone/>
            </a:pPr>
            <a:r>
              <a:rPr lang="en-US" sz="1400" b="1" dirty="0">
                <a:solidFill>
                  <a:schemeClr val="bg1"/>
                </a:solidFill>
                <a:latin typeface="Courier New" pitchFamily="49" charset="0"/>
              </a:rPr>
              <a:t>2. </a:t>
            </a:r>
            <a:r>
              <a:rPr lang="en-US" sz="1400" b="1" dirty="0" err="1">
                <a:solidFill>
                  <a:schemeClr val="bg1"/>
                </a:solidFill>
                <a:latin typeface="Courier New" pitchFamily="49" charset="0"/>
              </a:rPr>
              <a:t>PQ.Insert</a:t>
            </a:r>
            <a:r>
              <a:rPr lang="en-US" sz="1400" b="1" dirty="0">
                <a:solidFill>
                  <a:schemeClr val="bg1"/>
                </a:solidFill>
                <a:latin typeface="Courier New" pitchFamily="49" charset="0"/>
              </a:rPr>
              <a:t>(s, </a:t>
            </a:r>
            <a:r>
              <a:rPr lang="en-US" sz="1400" b="1" dirty="0" err="1">
                <a:solidFill>
                  <a:schemeClr val="bg1"/>
                </a:solidFill>
                <a:latin typeface="Courier New" pitchFamily="49" charset="0"/>
              </a:rPr>
              <a:t>wt</a:t>
            </a:r>
            <a:r>
              <a:rPr lang="en-US" sz="1400" b="1" dirty="0">
                <a:solidFill>
                  <a:schemeClr val="bg1"/>
                </a:solidFill>
                <a:latin typeface="Courier New" pitchFamily="49" charset="0"/>
              </a:rPr>
              <a:t>=0)</a:t>
            </a:r>
          </a:p>
          <a:p>
            <a:pPr>
              <a:lnSpc>
                <a:spcPct val="80000"/>
              </a:lnSpc>
              <a:buFont typeface="Monotype Sorts" charset="2"/>
              <a:buNone/>
            </a:pPr>
            <a:r>
              <a:rPr lang="en-US" sz="1400" b="1" dirty="0">
                <a:solidFill>
                  <a:schemeClr val="bg1"/>
                </a:solidFill>
                <a:latin typeface="Courier New" pitchFamily="49" charset="0"/>
                <a:sym typeface="Symbol" pitchFamily="18" charset="2"/>
              </a:rPr>
              <a:t>3. parent[s] = NULL;</a:t>
            </a:r>
          </a:p>
          <a:p>
            <a:pPr>
              <a:lnSpc>
                <a:spcPct val="80000"/>
              </a:lnSpc>
              <a:buFont typeface="Monotype Sorts" charset="2"/>
              <a:buNone/>
            </a:pPr>
            <a:r>
              <a:rPr lang="en-US" sz="1400" b="1" dirty="0">
                <a:solidFill>
                  <a:schemeClr val="bg1"/>
                </a:solidFill>
                <a:latin typeface="Courier New" pitchFamily="49" charset="0"/>
                <a:sym typeface="Symbol" pitchFamily="18" charset="2"/>
              </a:rPr>
              <a:t>4. while (PQ not empty):</a:t>
            </a:r>
          </a:p>
          <a:p>
            <a:pPr>
              <a:lnSpc>
                <a:spcPct val="80000"/>
              </a:lnSpc>
              <a:buFont typeface="Monotype Sorts" charset="2"/>
              <a:buNone/>
            </a:pPr>
            <a:r>
              <a:rPr lang="en-US" sz="1400" b="1" dirty="0">
                <a:solidFill>
                  <a:schemeClr val="bg1"/>
                </a:solidFill>
                <a:latin typeface="Courier New" pitchFamily="49" charset="0"/>
                <a:sym typeface="Symbol" pitchFamily="18" charset="2"/>
              </a:rPr>
              <a:t>5.   v = </a:t>
            </a:r>
            <a:r>
              <a:rPr lang="en-US" sz="1400" b="1" dirty="0" err="1">
                <a:solidFill>
                  <a:schemeClr val="bg1"/>
                </a:solidFill>
                <a:latin typeface="Courier New" pitchFamily="49" charset="0"/>
                <a:sym typeface="Symbol" pitchFamily="18" charset="2"/>
              </a:rPr>
              <a:t>PQ.ExtractMin</a:t>
            </a:r>
            <a:r>
              <a:rPr lang="en-US" sz="1400" b="1" dirty="0">
                <a:solidFill>
                  <a:schemeClr val="bg1"/>
                </a:solidFill>
                <a:latin typeface="Courier New" pitchFamily="49" charset="0"/>
                <a:sym typeface="Symbol" pitchFamily="18" charset="2"/>
              </a:rPr>
              <a:t>()</a:t>
            </a:r>
          </a:p>
          <a:p>
            <a:pPr>
              <a:lnSpc>
                <a:spcPct val="80000"/>
              </a:lnSpc>
              <a:buFont typeface="Monotype Sorts" charset="2"/>
              <a:buNone/>
            </a:pPr>
            <a:r>
              <a:rPr lang="en-US" sz="1400" b="1" dirty="0">
                <a:solidFill>
                  <a:schemeClr val="bg1"/>
                </a:solidFill>
                <a:latin typeface="Courier New" pitchFamily="49" charset="0"/>
                <a:sym typeface="Symbol" pitchFamily="18" charset="2"/>
              </a:rPr>
              <a:t>6.   for each w</a:t>
            </a:r>
            <a:r>
              <a:rPr lang="en-US" sz="1400" b="1" dirty="0">
                <a:solidFill>
                  <a:schemeClr val="bg1"/>
                </a:solidFill>
                <a:latin typeface="Courier New" pitchFamily="49" charset="0"/>
              </a:rPr>
              <a:t> </a:t>
            </a:r>
            <a:r>
              <a:rPr lang="en-US" sz="1400" b="1" dirty="0">
                <a:solidFill>
                  <a:schemeClr val="bg1"/>
                </a:solidFill>
                <a:latin typeface="Courier New" pitchFamily="49" charset="0"/>
                <a:sym typeface="Symbol" pitchFamily="18" charset="2"/>
              </a:rPr>
              <a:t>adj to v</a:t>
            </a:r>
          </a:p>
          <a:p>
            <a:pPr>
              <a:lnSpc>
                <a:spcPct val="80000"/>
              </a:lnSpc>
              <a:buFont typeface="Monotype Sorts" charset="2"/>
              <a:buNone/>
            </a:pPr>
            <a:r>
              <a:rPr lang="en-US" sz="1400" b="1" dirty="0">
                <a:solidFill>
                  <a:schemeClr val="bg1"/>
                </a:solidFill>
                <a:latin typeface="Courier New" pitchFamily="49" charset="0"/>
                <a:sym typeface="Symbol" pitchFamily="18" charset="2"/>
              </a:rPr>
              <a:t>7.     if (w</a:t>
            </a:r>
            <a:r>
              <a:rPr lang="en-US" sz="1400" b="1" dirty="0">
                <a:solidFill>
                  <a:schemeClr val="bg1"/>
                </a:solidFill>
                <a:latin typeface="Courier New" pitchFamily="49" charset="0"/>
              </a:rPr>
              <a:t> </a:t>
            </a:r>
            <a:r>
              <a:rPr lang="en-US" sz="1400" b="1" dirty="0">
                <a:solidFill>
                  <a:schemeClr val="bg1"/>
                </a:solidFill>
                <a:latin typeface="Courier New" pitchFamily="49" charset="0"/>
                <a:sym typeface="Symbol" pitchFamily="18" charset="2"/>
              </a:rPr>
              <a:t>is unseen):</a:t>
            </a:r>
          </a:p>
          <a:p>
            <a:pPr>
              <a:lnSpc>
                <a:spcPct val="80000"/>
              </a:lnSpc>
              <a:buFont typeface="Monotype Sorts" charset="2"/>
              <a:buNone/>
            </a:pPr>
            <a:r>
              <a:rPr lang="en-US" sz="1400" b="1" dirty="0">
                <a:solidFill>
                  <a:schemeClr val="bg1"/>
                </a:solidFill>
                <a:latin typeface="Courier New" pitchFamily="49" charset="0"/>
                <a:sym typeface="Symbol" pitchFamily="18" charset="2"/>
              </a:rPr>
              <a:t>8.        </a:t>
            </a:r>
            <a:r>
              <a:rPr lang="en-US" sz="1400" b="1" dirty="0" err="1">
                <a:solidFill>
                  <a:schemeClr val="bg1"/>
                </a:solidFill>
                <a:latin typeface="Courier New" pitchFamily="49" charset="0"/>
                <a:sym typeface="Symbol" pitchFamily="18" charset="2"/>
              </a:rPr>
              <a:t>PQ.Insert</a:t>
            </a:r>
            <a:r>
              <a:rPr lang="en-US" sz="1400" b="1" dirty="0">
                <a:solidFill>
                  <a:schemeClr val="bg1"/>
                </a:solidFill>
                <a:latin typeface="Courier New" pitchFamily="49" charset="0"/>
                <a:sym typeface="Symbol" pitchFamily="18" charset="2"/>
              </a:rPr>
              <a:t>(w, </a:t>
            </a:r>
            <a:r>
              <a:rPr lang="en-US" sz="1400" b="1" dirty="0" err="1">
                <a:solidFill>
                  <a:schemeClr val="accent5"/>
                </a:solidFill>
                <a:latin typeface="Courier New" pitchFamily="49" charset="0"/>
                <a:sym typeface="Symbol" pitchFamily="18" charset="2"/>
              </a:rPr>
              <a:t>wt</a:t>
            </a:r>
            <a:r>
              <a:rPr lang="en-US" sz="1400" b="1" dirty="0">
                <a:solidFill>
                  <a:schemeClr val="accent5"/>
                </a:solidFill>
                <a:latin typeface="Courier New" pitchFamily="49" charset="0"/>
                <a:sym typeface="Symbol" pitchFamily="18" charset="2"/>
              </a:rPr>
              <a:t>[</a:t>
            </a:r>
            <a:r>
              <a:rPr lang="en-US" sz="1400" b="1" dirty="0" err="1">
                <a:solidFill>
                  <a:schemeClr val="accent5"/>
                </a:solidFill>
                <a:latin typeface="Courier New" pitchFamily="49" charset="0"/>
                <a:sym typeface="Symbol" pitchFamily="18" charset="2"/>
              </a:rPr>
              <a:t>v,w</a:t>
            </a:r>
            <a:r>
              <a:rPr lang="en-US" sz="1400" b="1" dirty="0">
                <a:solidFill>
                  <a:schemeClr val="accent5"/>
                </a:solidFill>
                <a:latin typeface="Courier New" pitchFamily="49" charset="0"/>
                <a:sym typeface="Symbol" pitchFamily="18" charset="2"/>
              </a:rPr>
              <a:t>]</a:t>
            </a:r>
            <a:r>
              <a:rPr lang="en-US" sz="1400" b="1" dirty="0">
                <a:solidFill>
                  <a:schemeClr val="bg1"/>
                </a:solidFill>
                <a:latin typeface="Courier New" pitchFamily="49" charset="0"/>
                <a:sym typeface="Symbol" pitchFamily="18" charset="2"/>
              </a:rPr>
              <a:t>)</a:t>
            </a:r>
          </a:p>
          <a:p>
            <a:pPr>
              <a:lnSpc>
                <a:spcPct val="80000"/>
              </a:lnSpc>
              <a:buFont typeface="Monotype Sorts" charset="2"/>
              <a:buNone/>
            </a:pPr>
            <a:r>
              <a:rPr lang="en-US" sz="1400" b="1" dirty="0">
                <a:solidFill>
                  <a:schemeClr val="bg1"/>
                </a:solidFill>
                <a:latin typeface="Courier New" pitchFamily="49" charset="0"/>
                <a:sym typeface="Symbol" pitchFamily="18" charset="2"/>
              </a:rPr>
              <a:t>9.        parent[w] = v</a:t>
            </a:r>
          </a:p>
          <a:p>
            <a:pPr>
              <a:lnSpc>
                <a:spcPct val="80000"/>
              </a:lnSpc>
              <a:buFont typeface="Monotype Sorts" charset="2"/>
              <a:buNone/>
            </a:pPr>
            <a:r>
              <a:rPr lang="en-US" sz="1400" b="1" dirty="0">
                <a:solidFill>
                  <a:schemeClr val="bg1"/>
                </a:solidFill>
                <a:latin typeface="Courier New" pitchFamily="49" charset="0"/>
                <a:sym typeface="Symbol" pitchFamily="18" charset="2"/>
              </a:rPr>
              <a:t>10.    else if (w is fringe &amp;&amp; </a:t>
            </a:r>
            <a:r>
              <a:rPr lang="en-US" sz="1400" b="1" dirty="0" err="1">
                <a:solidFill>
                  <a:schemeClr val="accent5"/>
                </a:solidFill>
                <a:latin typeface="Courier New" pitchFamily="49" charset="0"/>
                <a:sym typeface="Symbol" pitchFamily="18" charset="2"/>
              </a:rPr>
              <a:t>wt</a:t>
            </a:r>
            <a:r>
              <a:rPr lang="en-US" sz="1400" b="1" dirty="0">
                <a:solidFill>
                  <a:schemeClr val="accent5"/>
                </a:solidFill>
                <a:latin typeface="Courier New" pitchFamily="49" charset="0"/>
                <a:sym typeface="Symbol" pitchFamily="18" charset="2"/>
              </a:rPr>
              <a:t>(</a:t>
            </a:r>
            <a:r>
              <a:rPr lang="en-US" sz="1400" b="1" dirty="0" err="1">
                <a:solidFill>
                  <a:schemeClr val="accent5"/>
                </a:solidFill>
                <a:latin typeface="Courier New" pitchFamily="49" charset="0"/>
                <a:sym typeface="Symbol" pitchFamily="18" charset="2"/>
              </a:rPr>
              <a:t>v,w</a:t>
            </a:r>
            <a:r>
              <a:rPr lang="en-US" sz="1400" b="1" dirty="0">
                <a:solidFill>
                  <a:schemeClr val="accent5"/>
                </a:solidFill>
                <a:latin typeface="Courier New" pitchFamily="49" charset="0"/>
                <a:sym typeface="Symbol" pitchFamily="18" charset="2"/>
              </a:rPr>
              <a:t>)</a:t>
            </a:r>
            <a:r>
              <a:rPr lang="en-US" sz="1400" b="1" dirty="0">
                <a:solidFill>
                  <a:schemeClr val="bg1"/>
                </a:solidFill>
                <a:latin typeface="Courier New" pitchFamily="49" charset="0"/>
                <a:sym typeface="Symbol" pitchFamily="18" charset="2"/>
              </a:rPr>
              <a:t> &lt;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[w]):</a:t>
            </a:r>
          </a:p>
          <a:p>
            <a:pPr>
              <a:lnSpc>
                <a:spcPct val="80000"/>
              </a:lnSpc>
              <a:buFont typeface="Monotype Sorts" charset="2"/>
              <a:buNone/>
            </a:pPr>
            <a:r>
              <a:rPr lang="en-US" sz="1400" b="1" dirty="0">
                <a:solidFill>
                  <a:schemeClr val="bg1"/>
                </a:solidFill>
                <a:latin typeface="Courier New" pitchFamily="49" charset="0"/>
                <a:sym typeface="Symbol" pitchFamily="18" charset="2"/>
              </a:rPr>
              <a:t>11.       </a:t>
            </a:r>
            <a:r>
              <a:rPr lang="en-US" sz="1400" b="1" dirty="0" err="1">
                <a:solidFill>
                  <a:schemeClr val="accent5"/>
                </a:solidFill>
                <a:latin typeface="Courier New" pitchFamily="49" charset="0"/>
                <a:sym typeface="Symbol" pitchFamily="18" charset="2"/>
              </a:rPr>
              <a:t>dist</a:t>
            </a:r>
            <a:r>
              <a:rPr lang="en-US" sz="1400" b="1" dirty="0">
                <a:solidFill>
                  <a:schemeClr val="accent5"/>
                </a:solidFill>
                <a:latin typeface="Courier New" pitchFamily="49" charset="0"/>
                <a:sym typeface="Symbol" pitchFamily="18" charset="2"/>
              </a:rPr>
              <a:t>[w] = </a:t>
            </a:r>
            <a:r>
              <a:rPr lang="en-US" sz="1400" b="1" dirty="0" err="1">
                <a:solidFill>
                  <a:schemeClr val="accent5"/>
                </a:solidFill>
                <a:latin typeface="Courier New" pitchFamily="49" charset="0"/>
                <a:sym typeface="Symbol" pitchFamily="18" charset="2"/>
              </a:rPr>
              <a:t>wt</a:t>
            </a:r>
            <a:r>
              <a:rPr lang="en-US" sz="1400" b="1" dirty="0">
                <a:solidFill>
                  <a:schemeClr val="accent5"/>
                </a:solidFill>
                <a:latin typeface="Courier New" pitchFamily="49" charset="0"/>
                <a:sym typeface="Symbol" pitchFamily="18" charset="2"/>
              </a:rPr>
              <a:t>(</a:t>
            </a:r>
            <a:r>
              <a:rPr lang="en-US" sz="1400" b="1" dirty="0" err="1">
                <a:solidFill>
                  <a:schemeClr val="accent5"/>
                </a:solidFill>
                <a:latin typeface="Courier New" pitchFamily="49" charset="0"/>
                <a:sym typeface="Symbol" pitchFamily="18" charset="2"/>
              </a:rPr>
              <a:t>v,w</a:t>
            </a:r>
            <a:r>
              <a:rPr lang="en-US" sz="1400" b="1" dirty="0">
                <a:solidFill>
                  <a:schemeClr val="accent5"/>
                </a:solidFill>
                <a:latin typeface="Courier New" pitchFamily="49" charset="0"/>
                <a:sym typeface="Symbol" pitchFamily="18" charset="2"/>
              </a:rPr>
              <a:t>)</a:t>
            </a:r>
          </a:p>
          <a:p>
            <a:pPr>
              <a:lnSpc>
                <a:spcPct val="80000"/>
              </a:lnSpc>
              <a:buFont typeface="Monotype Sorts" charset="2"/>
              <a:buNone/>
            </a:pPr>
            <a:r>
              <a:rPr lang="en-US" sz="1400" b="1" dirty="0">
                <a:solidFill>
                  <a:schemeClr val="bg1"/>
                </a:solidFill>
                <a:latin typeface="Courier New" pitchFamily="49" charset="0"/>
                <a:sym typeface="Symbol" pitchFamily="18" charset="2"/>
              </a:rPr>
              <a:t>12.       </a:t>
            </a:r>
            <a:r>
              <a:rPr lang="en-US" sz="1400" b="1" dirty="0" err="1">
                <a:solidFill>
                  <a:schemeClr val="bg1"/>
                </a:solidFill>
                <a:latin typeface="Courier New" pitchFamily="49" charset="0"/>
                <a:sym typeface="Symbol" pitchFamily="18" charset="2"/>
              </a:rPr>
              <a:t>PQ.decreaseKey</a:t>
            </a:r>
            <a:r>
              <a:rPr lang="en-US" sz="1400" b="1" dirty="0">
                <a:solidFill>
                  <a:schemeClr val="bg1"/>
                </a:solidFill>
                <a:latin typeface="Courier New" pitchFamily="49" charset="0"/>
                <a:sym typeface="Symbol" pitchFamily="18" charset="2"/>
              </a:rPr>
              <a:t>(w,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[w])</a:t>
            </a:r>
          </a:p>
          <a:p>
            <a:pPr>
              <a:lnSpc>
                <a:spcPct val="80000"/>
              </a:lnSpc>
              <a:buFont typeface="Monotype Sorts" charset="2"/>
              <a:buNone/>
            </a:pPr>
            <a:r>
              <a:rPr lang="en-US" sz="1400" b="1" dirty="0">
                <a:solidFill>
                  <a:schemeClr val="bg1"/>
                </a:solidFill>
                <a:latin typeface="Courier New" pitchFamily="49" charset="0"/>
                <a:sym typeface="Symbol" pitchFamily="18" charset="2"/>
              </a:rPr>
              <a:t>13.       parent[w] = v</a:t>
            </a:r>
          </a:p>
        </p:txBody>
      </p:sp>
      <p:sp>
        <p:nvSpPr>
          <p:cNvPr id="3" name="Rectangle 2">
            <a:extLst>
              <a:ext uri="{FF2B5EF4-FFF2-40B4-BE49-F238E27FC236}">
                <a16:creationId xmlns:a16="http://schemas.microsoft.com/office/drawing/2014/main" id="{A2A55BB5-B66E-3C1D-542A-A99889E620B1}"/>
              </a:ext>
            </a:extLst>
          </p:cNvPr>
          <p:cNvSpPr txBox="1">
            <a:spLocks noChangeArrowheads="1"/>
          </p:cNvSpPr>
          <p:nvPr>
            <p:custDataLst>
              <p:tags r:id="rId4"/>
            </p:custDataLst>
          </p:nvPr>
        </p:nvSpPr>
        <p:spPr>
          <a:xfrm>
            <a:off x="79130" y="894769"/>
            <a:ext cx="6410347" cy="5037909"/>
          </a:xfrm>
          <a:prstGeom prst="rect">
            <a:avLst/>
          </a:prstGeom>
          <a:solidFill>
            <a:schemeClr val="tx1">
              <a:lumMod val="95000"/>
            </a:schemeClr>
          </a:solidFill>
          <a:ln>
            <a:solidFill>
              <a:schemeClr val="bg1"/>
            </a:solidFill>
          </a:ln>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nSpc>
                <a:spcPct val="80000"/>
              </a:lnSpc>
              <a:buFont typeface="Monotype Sorts" charset="2"/>
              <a:buNone/>
            </a:pPr>
            <a:r>
              <a:rPr lang="en-US" sz="1400" b="1" dirty="0" err="1">
                <a:solidFill>
                  <a:schemeClr val="bg1"/>
                </a:solidFill>
                <a:latin typeface="Courier New" pitchFamily="49" charset="0"/>
              </a:rPr>
              <a:t>dijkstra</a:t>
            </a:r>
            <a:r>
              <a:rPr lang="en-US" sz="1400" b="1" dirty="0">
                <a:solidFill>
                  <a:schemeClr val="bg1"/>
                </a:solidFill>
                <a:latin typeface="Courier New" pitchFamily="49" charset="0"/>
              </a:rPr>
              <a:t>(G, s):</a:t>
            </a:r>
          </a:p>
          <a:p>
            <a:pPr>
              <a:lnSpc>
                <a:spcPct val="80000"/>
              </a:lnSpc>
              <a:buFont typeface="Monotype Sorts" charset="2"/>
              <a:buNone/>
            </a:pPr>
            <a:r>
              <a:rPr lang="en-US" sz="1400" b="1" dirty="0">
                <a:solidFill>
                  <a:schemeClr val="bg1"/>
                </a:solidFill>
                <a:latin typeface="Courier New" pitchFamily="49" charset="0"/>
              </a:rPr>
              <a:t>1. </a:t>
            </a:r>
            <a:r>
              <a:rPr lang="en-US" sz="1400" b="1" dirty="0" err="1">
                <a:solidFill>
                  <a:schemeClr val="accent3"/>
                </a:solidFill>
                <a:latin typeface="Courier New" pitchFamily="49" charset="0"/>
              </a:rPr>
              <a:t>init</a:t>
            </a:r>
            <a:r>
              <a:rPr lang="en-US" sz="1400" b="1" dirty="0">
                <a:solidFill>
                  <a:schemeClr val="accent3"/>
                </a:solidFill>
                <a:latin typeface="Courier New" pitchFamily="49" charset="0"/>
              </a:rPr>
              <a:t> PQ to be empty</a:t>
            </a:r>
          </a:p>
          <a:p>
            <a:pPr>
              <a:lnSpc>
                <a:spcPct val="80000"/>
              </a:lnSpc>
              <a:buFont typeface="Monotype Sorts" charset="2"/>
              <a:buNone/>
            </a:pPr>
            <a:r>
              <a:rPr lang="en-US" sz="1400" b="1" dirty="0">
                <a:solidFill>
                  <a:schemeClr val="bg1"/>
                </a:solidFill>
                <a:latin typeface="Courier New" pitchFamily="49" charset="0"/>
              </a:rPr>
              <a:t>2. </a:t>
            </a:r>
            <a:r>
              <a:rPr lang="en-US" sz="1400" b="1" dirty="0" err="1">
                <a:solidFill>
                  <a:schemeClr val="accent3"/>
                </a:solidFill>
                <a:latin typeface="Courier New" pitchFamily="49" charset="0"/>
              </a:rPr>
              <a:t>PQ.Insert</a:t>
            </a:r>
            <a:r>
              <a:rPr lang="en-US" sz="1400" b="1" dirty="0">
                <a:solidFill>
                  <a:schemeClr val="accent3"/>
                </a:solidFill>
                <a:latin typeface="Courier New" pitchFamily="49" charset="0"/>
              </a:rPr>
              <a:t>(s, </a:t>
            </a:r>
            <a:r>
              <a:rPr lang="en-US" sz="1400" b="1" dirty="0" err="1">
                <a:solidFill>
                  <a:schemeClr val="accent3"/>
                </a:solidFill>
                <a:latin typeface="Courier New" pitchFamily="49" charset="0"/>
              </a:rPr>
              <a:t>dist</a:t>
            </a:r>
            <a:r>
              <a:rPr lang="en-US" sz="1400" b="1" dirty="0">
                <a:solidFill>
                  <a:schemeClr val="accent3"/>
                </a:solidFill>
                <a:latin typeface="Courier New" pitchFamily="49" charset="0"/>
              </a:rPr>
              <a:t>=0)</a:t>
            </a:r>
          </a:p>
          <a:p>
            <a:pPr>
              <a:lnSpc>
                <a:spcPct val="80000"/>
              </a:lnSpc>
              <a:buFont typeface="Monotype Sorts" charset="2"/>
              <a:buNone/>
            </a:pPr>
            <a:r>
              <a:rPr lang="en-US" sz="1400" b="1" dirty="0">
                <a:solidFill>
                  <a:schemeClr val="bg1"/>
                </a:solidFill>
                <a:latin typeface="Courier New" pitchFamily="49" charset="0"/>
                <a:sym typeface="Symbol" pitchFamily="18" charset="2"/>
              </a:rPr>
              <a:t>3. parent[s] = NULL;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[s] = 0;</a:t>
            </a:r>
          </a:p>
          <a:p>
            <a:pPr>
              <a:lnSpc>
                <a:spcPct val="80000"/>
              </a:lnSpc>
              <a:buFont typeface="Monotype Sorts" charset="2"/>
              <a:buNone/>
            </a:pPr>
            <a:r>
              <a:rPr lang="en-US" sz="1400" b="1" dirty="0">
                <a:solidFill>
                  <a:schemeClr val="bg1"/>
                </a:solidFill>
                <a:latin typeface="Courier New" pitchFamily="49" charset="0"/>
                <a:sym typeface="Symbol" pitchFamily="18" charset="2"/>
              </a:rPr>
              <a:t>4. while (</a:t>
            </a:r>
            <a:r>
              <a:rPr lang="en-US" sz="1400" b="1" dirty="0">
                <a:solidFill>
                  <a:schemeClr val="accent3"/>
                </a:solidFill>
                <a:latin typeface="Courier New" pitchFamily="49" charset="0"/>
                <a:sym typeface="Symbol" pitchFamily="18" charset="2"/>
              </a:rPr>
              <a:t>PQ not empty</a:t>
            </a:r>
            <a:r>
              <a:rPr lang="en-US" sz="1400" b="1" dirty="0">
                <a:solidFill>
                  <a:schemeClr val="bg1"/>
                </a:solidFill>
                <a:latin typeface="Courier New" pitchFamily="49" charset="0"/>
                <a:sym typeface="Symbol" pitchFamily="18" charset="2"/>
              </a:rPr>
              <a:t>):</a:t>
            </a:r>
          </a:p>
          <a:p>
            <a:pPr>
              <a:lnSpc>
                <a:spcPct val="80000"/>
              </a:lnSpc>
              <a:buFont typeface="Monotype Sorts" charset="2"/>
              <a:buNone/>
            </a:pPr>
            <a:r>
              <a:rPr lang="en-US" sz="1400" b="1" dirty="0">
                <a:solidFill>
                  <a:schemeClr val="bg1"/>
                </a:solidFill>
                <a:latin typeface="Courier New" pitchFamily="49" charset="0"/>
                <a:sym typeface="Symbol" pitchFamily="18" charset="2"/>
              </a:rPr>
              <a:t>5.   v = </a:t>
            </a:r>
            <a:r>
              <a:rPr lang="en-US" sz="1400" b="1" dirty="0" err="1">
                <a:solidFill>
                  <a:schemeClr val="accent3"/>
                </a:solidFill>
                <a:latin typeface="Courier New" pitchFamily="49" charset="0"/>
                <a:sym typeface="Symbol" pitchFamily="18" charset="2"/>
              </a:rPr>
              <a:t>PQ.ExtractMin</a:t>
            </a:r>
            <a:r>
              <a:rPr lang="en-US" sz="1400" b="1" dirty="0">
                <a:solidFill>
                  <a:schemeClr val="accent3"/>
                </a:solidFill>
                <a:latin typeface="Courier New" pitchFamily="49" charset="0"/>
                <a:sym typeface="Symbol" pitchFamily="18" charset="2"/>
              </a:rPr>
              <a:t>()</a:t>
            </a:r>
          </a:p>
          <a:p>
            <a:pPr>
              <a:lnSpc>
                <a:spcPct val="80000"/>
              </a:lnSpc>
              <a:buFont typeface="Monotype Sorts" charset="2"/>
              <a:buNone/>
            </a:pPr>
            <a:r>
              <a:rPr lang="en-US" sz="1400" b="1" dirty="0">
                <a:solidFill>
                  <a:schemeClr val="bg1"/>
                </a:solidFill>
                <a:latin typeface="Courier New" pitchFamily="49" charset="0"/>
                <a:sym typeface="Symbol" pitchFamily="18" charset="2"/>
              </a:rPr>
              <a:t>6.   for each w</a:t>
            </a:r>
            <a:r>
              <a:rPr lang="en-US" sz="1400" b="1" dirty="0">
                <a:solidFill>
                  <a:schemeClr val="bg1"/>
                </a:solidFill>
                <a:latin typeface="Courier New" pitchFamily="49" charset="0"/>
              </a:rPr>
              <a:t> </a:t>
            </a:r>
            <a:r>
              <a:rPr lang="en-US" sz="1400" b="1" dirty="0">
                <a:solidFill>
                  <a:schemeClr val="bg1"/>
                </a:solidFill>
                <a:latin typeface="Courier New" pitchFamily="49" charset="0"/>
                <a:sym typeface="Symbol" pitchFamily="18" charset="2"/>
              </a:rPr>
              <a:t>adj to v</a:t>
            </a:r>
          </a:p>
          <a:p>
            <a:pPr>
              <a:lnSpc>
                <a:spcPct val="80000"/>
              </a:lnSpc>
              <a:buFont typeface="Monotype Sorts" charset="2"/>
              <a:buNone/>
            </a:pPr>
            <a:r>
              <a:rPr lang="en-US" sz="1400" b="1" dirty="0">
                <a:solidFill>
                  <a:schemeClr val="bg1"/>
                </a:solidFill>
                <a:latin typeface="Courier New" pitchFamily="49" charset="0"/>
                <a:sym typeface="Symbol" pitchFamily="18" charset="2"/>
              </a:rPr>
              <a:t>7.     if (w</a:t>
            </a:r>
            <a:r>
              <a:rPr lang="en-US" sz="1400" b="1" dirty="0">
                <a:solidFill>
                  <a:schemeClr val="bg1"/>
                </a:solidFill>
                <a:latin typeface="Courier New" pitchFamily="49" charset="0"/>
              </a:rPr>
              <a:t> </a:t>
            </a:r>
            <a:r>
              <a:rPr lang="en-US" sz="1400" b="1" dirty="0">
                <a:solidFill>
                  <a:schemeClr val="bg1"/>
                </a:solidFill>
                <a:latin typeface="Courier New" pitchFamily="49" charset="0"/>
                <a:sym typeface="Symbol" pitchFamily="18" charset="2"/>
              </a:rPr>
              <a:t>is unseen):</a:t>
            </a:r>
          </a:p>
          <a:p>
            <a:pPr>
              <a:lnSpc>
                <a:spcPct val="80000"/>
              </a:lnSpc>
              <a:buFont typeface="Monotype Sorts" charset="2"/>
              <a:buNone/>
            </a:pPr>
            <a:r>
              <a:rPr lang="en-US" sz="1400" b="1" dirty="0">
                <a:solidFill>
                  <a:schemeClr val="bg1"/>
                </a:solidFill>
                <a:latin typeface="Courier New" pitchFamily="49" charset="0"/>
                <a:sym typeface="Symbol" pitchFamily="18" charset="2"/>
              </a:rPr>
              <a:t>8.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[w] =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[v] + </a:t>
            </a:r>
            <a:r>
              <a:rPr lang="en-US" sz="1400" b="1" dirty="0" err="1">
                <a:solidFill>
                  <a:schemeClr val="bg1"/>
                </a:solidFill>
                <a:latin typeface="Courier New" pitchFamily="49" charset="0"/>
                <a:sym typeface="Symbol" pitchFamily="18" charset="2"/>
              </a:rPr>
              <a:t>wt</a:t>
            </a:r>
            <a:r>
              <a:rPr lang="en-US" sz="1400" b="1" dirty="0">
                <a:solidFill>
                  <a:schemeClr val="bg1"/>
                </a:solidFill>
                <a:latin typeface="Courier New" pitchFamily="49" charset="0"/>
                <a:sym typeface="Symbol" pitchFamily="18" charset="2"/>
              </a:rPr>
              <a:t>(</a:t>
            </a:r>
            <a:r>
              <a:rPr lang="en-US" sz="1400" b="1" dirty="0" err="1">
                <a:solidFill>
                  <a:schemeClr val="bg1"/>
                </a:solidFill>
                <a:latin typeface="Courier New" pitchFamily="49" charset="0"/>
                <a:sym typeface="Symbol" pitchFamily="18" charset="2"/>
              </a:rPr>
              <a:t>v,w</a:t>
            </a:r>
            <a:r>
              <a:rPr lang="en-US" sz="1400" b="1" dirty="0">
                <a:solidFill>
                  <a:schemeClr val="bg1"/>
                </a:solidFill>
                <a:latin typeface="Courier New" pitchFamily="49" charset="0"/>
                <a:sym typeface="Symbol" pitchFamily="18" charset="2"/>
              </a:rPr>
              <a:t>) </a:t>
            </a:r>
          </a:p>
          <a:p>
            <a:pPr>
              <a:lnSpc>
                <a:spcPct val="80000"/>
              </a:lnSpc>
              <a:buFont typeface="Monotype Sorts" charset="2"/>
              <a:buNone/>
            </a:pPr>
            <a:r>
              <a:rPr lang="en-US" sz="1400" b="1" dirty="0">
                <a:solidFill>
                  <a:schemeClr val="bg1"/>
                </a:solidFill>
                <a:latin typeface="Courier New" pitchFamily="49" charset="0"/>
                <a:sym typeface="Symbol" pitchFamily="18" charset="2"/>
              </a:rPr>
              <a:t>9.        </a:t>
            </a:r>
            <a:r>
              <a:rPr lang="en-US" sz="1400" b="1" dirty="0" err="1">
                <a:solidFill>
                  <a:schemeClr val="accent3"/>
                </a:solidFill>
                <a:latin typeface="Courier New" pitchFamily="49" charset="0"/>
                <a:sym typeface="Symbol" pitchFamily="18" charset="2"/>
              </a:rPr>
              <a:t>PQ.Insert</a:t>
            </a:r>
            <a:r>
              <a:rPr lang="en-US" sz="1400" b="1" dirty="0">
                <a:solidFill>
                  <a:schemeClr val="accent3"/>
                </a:solidFill>
                <a:latin typeface="Courier New" pitchFamily="49" charset="0"/>
                <a:sym typeface="Symbol" pitchFamily="18" charset="2"/>
              </a:rPr>
              <a:t>(w, </a:t>
            </a:r>
            <a:r>
              <a:rPr lang="en-US" sz="1400" b="1" dirty="0" err="1">
                <a:solidFill>
                  <a:schemeClr val="accent3"/>
                </a:solidFill>
                <a:latin typeface="Courier New" pitchFamily="49" charset="0"/>
                <a:sym typeface="Symbol" pitchFamily="18" charset="2"/>
              </a:rPr>
              <a:t>dist</a:t>
            </a:r>
            <a:r>
              <a:rPr lang="en-US" sz="1400" b="1" dirty="0">
                <a:solidFill>
                  <a:schemeClr val="accent3"/>
                </a:solidFill>
                <a:latin typeface="Courier New" pitchFamily="49" charset="0"/>
                <a:sym typeface="Symbol" pitchFamily="18" charset="2"/>
              </a:rPr>
              <a:t>[w] )</a:t>
            </a:r>
          </a:p>
          <a:p>
            <a:pPr>
              <a:lnSpc>
                <a:spcPct val="80000"/>
              </a:lnSpc>
              <a:buFont typeface="Monotype Sorts" charset="2"/>
              <a:buNone/>
            </a:pPr>
            <a:r>
              <a:rPr lang="en-US" sz="1400" b="1" dirty="0">
                <a:solidFill>
                  <a:schemeClr val="bg1"/>
                </a:solidFill>
                <a:latin typeface="Courier New" pitchFamily="49" charset="0"/>
                <a:sym typeface="Symbol" pitchFamily="18" charset="2"/>
              </a:rPr>
              <a:t>10.       parent[w] = v</a:t>
            </a:r>
          </a:p>
          <a:p>
            <a:pPr>
              <a:lnSpc>
                <a:spcPct val="80000"/>
              </a:lnSpc>
              <a:buFont typeface="Monotype Sorts" charset="2"/>
              <a:buNone/>
            </a:pPr>
            <a:r>
              <a:rPr lang="en-US" sz="1400" b="1" dirty="0">
                <a:solidFill>
                  <a:schemeClr val="bg1"/>
                </a:solidFill>
                <a:latin typeface="Courier New" pitchFamily="49" charset="0"/>
                <a:sym typeface="Symbol" pitchFamily="18" charset="2"/>
              </a:rPr>
              <a:t>11.    else if (w is fringe &amp;&amp;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[v]+</a:t>
            </a:r>
            <a:r>
              <a:rPr lang="en-US" sz="1400" b="1" dirty="0" err="1">
                <a:solidFill>
                  <a:schemeClr val="bg1"/>
                </a:solidFill>
                <a:latin typeface="Courier New" pitchFamily="49" charset="0"/>
                <a:sym typeface="Symbol" pitchFamily="18" charset="2"/>
              </a:rPr>
              <a:t>wt</a:t>
            </a:r>
            <a:r>
              <a:rPr lang="en-US" sz="1400" b="1" dirty="0">
                <a:solidFill>
                  <a:schemeClr val="bg1"/>
                </a:solidFill>
                <a:latin typeface="Courier New" pitchFamily="49" charset="0"/>
                <a:sym typeface="Symbol" pitchFamily="18" charset="2"/>
              </a:rPr>
              <a:t>(</a:t>
            </a:r>
            <a:r>
              <a:rPr lang="en-US" sz="1400" b="1" dirty="0" err="1">
                <a:solidFill>
                  <a:schemeClr val="bg1"/>
                </a:solidFill>
                <a:latin typeface="Courier New" pitchFamily="49" charset="0"/>
                <a:sym typeface="Symbol" pitchFamily="18" charset="2"/>
              </a:rPr>
              <a:t>v,w</a:t>
            </a:r>
            <a:r>
              <a:rPr lang="en-US" sz="1400" b="1" dirty="0">
                <a:solidFill>
                  <a:schemeClr val="bg1"/>
                </a:solidFill>
                <a:latin typeface="Courier New" pitchFamily="49" charset="0"/>
                <a:sym typeface="Symbol" pitchFamily="18" charset="2"/>
              </a:rPr>
              <a:t>) &lt;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[w]):</a:t>
            </a:r>
          </a:p>
          <a:p>
            <a:pPr>
              <a:lnSpc>
                <a:spcPct val="80000"/>
              </a:lnSpc>
              <a:buFont typeface="Monotype Sorts" charset="2"/>
              <a:buNone/>
            </a:pPr>
            <a:r>
              <a:rPr lang="en-US" sz="1400" b="1" dirty="0">
                <a:solidFill>
                  <a:schemeClr val="bg1"/>
                </a:solidFill>
                <a:latin typeface="Courier New" pitchFamily="49" charset="0"/>
                <a:sym typeface="Symbol" pitchFamily="18" charset="2"/>
              </a:rPr>
              <a:t>12.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[w] = </a:t>
            </a:r>
            <a:r>
              <a:rPr lang="en-US" sz="1400" b="1" dirty="0" err="1">
                <a:solidFill>
                  <a:schemeClr val="bg1"/>
                </a:solidFill>
                <a:latin typeface="Courier New" pitchFamily="49" charset="0"/>
                <a:sym typeface="Symbol" pitchFamily="18" charset="2"/>
              </a:rPr>
              <a:t>dist</a:t>
            </a:r>
            <a:r>
              <a:rPr lang="en-US" sz="1400" b="1" dirty="0">
                <a:solidFill>
                  <a:schemeClr val="bg1"/>
                </a:solidFill>
                <a:latin typeface="Courier New" pitchFamily="49" charset="0"/>
                <a:sym typeface="Symbol" pitchFamily="18" charset="2"/>
              </a:rPr>
              <a:t>[v] + </a:t>
            </a:r>
            <a:r>
              <a:rPr lang="en-US" sz="1400" b="1" dirty="0" err="1">
                <a:solidFill>
                  <a:schemeClr val="bg1"/>
                </a:solidFill>
                <a:latin typeface="Courier New" pitchFamily="49" charset="0"/>
                <a:sym typeface="Symbol" pitchFamily="18" charset="2"/>
              </a:rPr>
              <a:t>wt</a:t>
            </a:r>
            <a:r>
              <a:rPr lang="en-US" sz="1400" b="1" dirty="0">
                <a:solidFill>
                  <a:schemeClr val="bg1"/>
                </a:solidFill>
                <a:latin typeface="Courier New" pitchFamily="49" charset="0"/>
                <a:sym typeface="Symbol" pitchFamily="18" charset="2"/>
              </a:rPr>
              <a:t>(</a:t>
            </a:r>
            <a:r>
              <a:rPr lang="en-US" sz="1400" b="1" dirty="0" err="1">
                <a:solidFill>
                  <a:schemeClr val="bg1"/>
                </a:solidFill>
                <a:latin typeface="Courier New" pitchFamily="49" charset="0"/>
                <a:sym typeface="Symbol" pitchFamily="18" charset="2"/>
              </a:rPr>
              <a:t>v,w</a:t>
            </a:r>
            <a:r>
              <a:rPr lang="en-US" sz="1400" b="1" dirty="0">
                <a:solidFill>
                  <a:schemeClr val="bg1"/>
                </a:solidFill>
                <a:latin typeface="Courier New" pitchFamily="49" charset="0"/>
                <a:sym typeface="Symbol" pitchFamily="18" charset="2"/>
              </a:rPr>
              <a:t>)</a:t>
            </a:r>
          </a:p>
          <a:p>
            <a:pPr>
              <a:lnSpc>
                <a:spcPct val="80000"/>
              </a:lnSpc>
              <a:buFont typeface="Monotype Sorts" charset="2"/>
              <a:buNone/>
            </a:pPr>
            <a:r>
              <a:rPr lang="en-US" sz="1400" b="1" dirty="0">
                <a:solidFill>
                  <a:schemeClr val="accent3"/>
                </a:solidFill>
                <a:latin typeface="Courier New" pitchFamily="49" charset="0"/>
                <a:sym typeface="Symbol" pitchFamily="18" charset="2"/>
              </a:rPr>
              <a:t>13.       </a:t>
            </a:r>
            <a:r>
              <a:rPr lang="en-US" sz="1400" b="1" dirty="0" err="1">
                <a:solidFill>
                  <a:schemeClr val="accent3"/>
                </a:solidFill>
                <a:latin typeface="Courier New" pitchFamily="49" charset="0"/>
                <a:sym typeface="Symbol" pitchFamily="18" charset="2"/>
              </a:rPr>
              <a:t>PQ.decreaseKey</a:t>
            </a:r>
            <a:r>
              <a:rPr lang="en-US" sz="1400" b="1" dirty="0">
                <a:solidFill>
                  <a:schemeClr val="accent3"/>
                </a:solidFill>
                <a:latin typeface="Courier New" pitchFamily="49" charset="0"/>
                <a:sym typeface="Symbol" pitchFamily="18" charset="2"/>
              </a:rPr>
              <a:t>(w, </a:t>
            </a:r>
            <a:r>
              <a:rPr lang="en-US" sz="1400" b="1" dirty="0" err="1">
                <a:solidFill>
                  <a:schemeClr val="accent3"/>
                </a:solidFill>
                <a:latin typeface="Courier New" pitchFamily="49" charset="0"/>
                <a:sym typeface="Symbol" pitchFamily="18" charset="2"/>
              </a:rPr>
              <a:t>dist</a:t>
            </a:r>
            <a:r>
              <a:rPr lang="en-US" sz="1400" b="1" dirty="0">
                <a:solidFill>
                  <a:schemeClr val="accent3"/>
                </a:solidFill>
                <a:latin typeface="Courier New" pitchFamily="49" charset="0"/>
                <a:sym typeface="Symbol" pitchFamily="18" charset="2"/>
              </a:rPr>
              <a:t>[w])</a:t>
            </a:r>
          </a:p>
          <a:p>
            <a:pPr>
              <a:lnSpc>
                <a:spcPct val="80000"/>
              </a:lnSpc>
              <a:buFont typeface="Monotype Sorts" charset="2"/>
              <a:buNone/>
            </a:pPr>
            <a:r>
              <a:rPr lang="en-US" sz="1400" b="1" dirty="0">
                <a:solidFill>
                  <a:schemeClr val="bg1"/>
                </a:solidFill>
                <a:latin typeface="Courier New" pitchFamily="49" charset="0"/>
                <a:sym typeface="Symbol" pitchFamily="18" charset="2"/>
              </a:rPr>
              <a:t>14.       parent[w] = v</a:t>
            </a:r>
          </a:p>
        </p:txBody>
      </p:sp>
    </p:spTree>
    <p:extLst>
      <p:ext uri="{BB962C8B-B14F-4D97-AF65-F5344CB8AC3E}">
        <p14:creationId xmlns:p14="http://schemas.microsoft.com/office/powerpoint/2010/main" val="2920895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custDataLst>
              <p:tags r:id="rId1"/>
            </p:custDataLst>
          </p:nvPr>
        </p:nvSpPr>
        <p:spPr>
          <a:xfrm>
            <a:off x="1141413" y="240448"/>
            <a:ext cx="9905998" cy="647574"/>
          </a:xfrm>
        </p:spPr>
        <p:txBody>
          <a:bodyPr/>
          <a:lstStyle/>
          <a:p>
            <a:pPr algn="ctr"/>
            <a:r>
              <a:rPr lang="en-US" dirty="0">
                <a:sym typeface="Symbol" pitchFamily="18" charset="2"/>
              </a:rPr>
              <a:t>Better PQ Implementations</a:t>
            </a:r>
          </a:p>
        </p:txBody>
      </p:sp>
      <p:sp>
        <p:nvSpPr>
          <p:cNvPr id="72708" name="Rectangle 3"/>
          <p:cNvSpPr>
            <a:spLocks noGrp="1" noChangeArrowheads="1"/>
          </p:cNvSpPr>
          <p:nvPr>
            <p:ph sz="quarter" idx="1"/>
            <p:custDataLst>
              <p:tags r:id="rId2"/>
            </p:custDataLst>
          </p:nvPr>
        </p:nvSpPr>
        <p:spPr>
          <a:xfrm>
            <a:off x="1204546" y="1213338"/>
            <a:ext cx="9842865" cy="5328139"/>
          </a:xfrm>
        </p:spPr>
        <p:txBody>
          <a:bodyPr/>
          <a:lstStyle/>
          <a:p>
            <a:r>
              <a:rPr lang="en-US" dirty="0">
                <a:sym typeface="Symbol" pitchFamily="18" charset="2"/>
              </a:rPr>
              <a:t>Goal: Lower cost of </a:t>
            </a:r>
            <a:r>
              <a:rPr lang="en-US" dirty="0" err="1">
                <a:sym typeface="Symbol" pitchFamily="18" charset="2"/>
              </a:rPr>
              <a:t>PQ.decreaseKey</a:t>
            </a:r>
            <a:r>
              <a:rPr lang="en-US" dirty="0">
                <a:sym typeface="Symbol" pitchFamily="18" charset="2"/>
              </a:rPr>
              <a:t>()</a:t>
            </a:r>
          </a:p>
          <a:p>
            <a:endParaRPr lang="en-US" dirty="0">
              <a:sym typeface="Symbol" pitchFamily="18" charset="2"/>
            </a:endParaRPr>
          </a:p>
          <a:p>
            <a:r>
              <a:rPr lang="en-US" dirty="0">
                <a:sym typeface="Symbol" pitchFamily="18" charset="2"/>
              </a:rPr>
              <a:t>Example of naïve approach first (I will draw manually) </a:t>
            </a:r>
            <a:r>
              <a:rPr lang="en-US" dirty="0">
                <a:sym typeface="Wingdings" pitchFamily="2" charset="2"/>
              </a:rPr>
              <a:t></a:t>
            </a:r>
            <a:endParaRPr lang="en-US" dirty="0">
              <a:sym typeface="Symbol" pitchFamily="18" charset="2"/>
            </a:endParaRPr>
          </a:p>
        </p:txBody>
      </p:sp>
    </p:spTree>
    <p:extLst>
      <p:ext uri="{BB962C8B-B14F-4D97-AF65-F5344CB8AC3E}">
        <p14:creationId xmlns:p14="http://schemas.microsoft.com/office/powerpoint/2010/main" val="30252543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custDataLst>
              <p:tags r:id="rId1"/>
            </p:custDataLst>
          </p:nvPr>
        </p:nvSpPr>
        <p:spPr>
          <a:xfrm>
            <a:off x="1141413" y="249241"/>
            <a:ext cx="9905998" cy="647574"/>
          </a:xfrm>
        </p:spPr>
        <p:txBody>
          <a:bodyPr/>
          <a:lstStyle/>
          <a:p>
            <a:pPr algn="ctr"/>
            <a:r>
              <a:rPr lang="en-US" dirty="0">
                <a:sym typeface="Symbol" pitchFamily="18" charset="2"/>
              </a:rPr>
              <a:t>Better PQ Implementations</a:t>
            </a:r>
          </a:p>
        </p:txBody>
      </p:sp>
      <p:sp>
        <p:nvSpPr>
          <p:cNvPr id="72708" name="Rectangle 3"/>
          <p:cNvSpPr>
            <a:spLocks noGrp="1" noChangeArrowheads="1"/>
          </p:cNvSpPr>
          <p:nvPr>
            <p:ph sz="quarter" idx="1"/>
            <p:custDataLst>
              <p:tags r:id="rId2"/>
            </p:custDataLst>
          </p:nvPr>
        </p:nvSpPr>
        <p:spPr>
          <a:xfrm>
            <a:off x="1141412" y="1230923"/>
            <a:ext cx="9905999" cy="4560278"/>
          </a:xfrm>
        </p:spPr>
        <p:txBody>
          <a:bodyPr/>
          <a:lstStyle/>
          <a:p>
            <a:r>
              <a:rPr lang="en-US" dirty="0">
                <a:sym typeface="Symbol" pitchFamily="18" charset="2"/>
              </a:rPr>
              <a:t>Goal: Lower cost of </a:t>
            </a:r>
            <a:r>
              <a:rPr lang="en-US" dirty="0" err="1">
                <a:sym typeface="Symbol" pitchFamily="18" charset="2"/>
              </a:rPr>
              <a:t>PQ.decreaseKey</a:t>
            </a:r>
            <a:r>
              <a:rPr lang="en-US" dirty="0">
                <a:sym typeface="Symbol" pitchFamily="18" charset="2"/>
              </a:rPr>
              <a:t>()</a:t>
            </a:r>
          </a:p>
          <a:p>
            <a:endParaRPr lang="en-US" dirty="0">
              <a:sym typeface="Symbol" pitchFamily="18" charset="2"/>
            </a:endParaRPr>
          </a:p>
          <a:p>
            <a:r>
              <a:rPr lang="en-US" dirty="0">
                <a:sym typeface="Symbol" pitchFamily="18" charset="2"/>
              </a:rPr>
              <a:t>Indirect Heap </a:t>
            </a:r>
            <a:r>
              <a:rPr lang="en-US" dirty="0">
                <a:sym typeface="Wingdings" pitchFamily="2" charset="2"/>
              </a:rPr>
              <a:t></a:t>
            </a:r>
            <a:endParaRPr lang="en-US" dirty="0">
              <a:sym typeface="Symbol" pitchFamily="18" charset="2"/>
            </a:endParaRPr>
          </a:p>
        </p:txBody>
      </p:sp>
    </p:spTree>
    <p:extLst>
      <p:ext uri="{BB962C8B-B14F-4D97-AF65-F5344CB8AC3E}">
        <p14:creationId xmlns:p14="http://schemas.microsoft.com/office/powerpoint/2010/main" val="3724557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Summary</a:t>
            </a:r>
          </a:p>
        </p:txBody>
      </p:sp>
      <p:sp>
        <p:nvSpPr>
          <p:cNvPr id="6" name="Text Placeholder 5"/>
          <p:cNvSpPr>
            <a:spLocks noGrp="1"/>
          </p:cNvSpPr>
          <p:nvPr>
            <p:ph type="body" idx="1"/>
          </p:nvPr>
        </p:nvSpPr>
        <p:spPr/>
        <p:txBody>
          <a:bodyPr/>
          <a:lstStyle/>
          <a:p>
            <a:endParaRPr lang="en-US"/>
          </a:p>
        </p:txBody>
      </p:sp>
    </p:spTree>
    <p:extLst>
      <p:ext uri="{BB962C8B-B14F-4D97-AF65-F5344CB8AC3E}">
        <p14:creationId xmlns:p14="http://schemas.microsoft.com/office/powerpoint/2010/main" val="3384825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41413" y="222864"/>
            <a:ext cx="9905998" cy="726705"/>
          </a:xfrm>
        </p:spPr>
        <p:txBody>
          <a:bodyPr>
            <a:normAutofit/>
          </a:bodyPr>
          <a:lstStyle/>
          <a:p>
            <a:pPr algn="ctr"/>
            <a:r>
              <a:rPr lang="en-US" dirty="0"/>
              <a:t>What Did We Learn?</a:t>
            </a:r>
          </a:p>
        </p:txBody>
      </p:sp>
      <p:sp>
        <p:nvSpPr>
          <p:cNvPr id="6" name="Content Placeholder 5"/>
          <p:cNvSpPr>
            <a:spLocks noGrp="1"/>
          </p:cNvSpPr>
          <p:nvPr>
            <p:ph sz="quarter" idx="1"/>
          </p:nvPr>
        </p:nvSpPr>
        <p:spPr>
          <a:xfrm>
            <a:off x="1141413" y="1924171"/>
            <a:ext cx="9905999" cy="1091591"/>
          </a:xfrm>
          <a:solidFill>
            <a:schemeClr val="tx1">
              <a:lumMod val="95000"/>
            </a:schemeClr>
          </a:solidFill>
          <a:ln>
            <a:solidFill>
              <a:schemeClr val="bg1"/>
            </a:solidFill>
          </a:ln>
        </p:spPr>
        <p:txBody>
          <a:bodyPr>
            <a:normAutofit/>
          </a:bodyPr>
          <a:lstStyle/>
          <a:p>
            <a:pPr marL="0" indent="0">
              <a:buNone/>
            </a:pPr>
            <a:r>
              <a:rPr lang="en-US" b="1" i="1" u="sng" dirty="0">
                <a:solidFill>
                  <a:schemeClr val="bg1"/>
                </a:solidFill>
              </a:rPr>
              <a:t>Review of Dijkstra’s and Prim’s</a:t>
            </a:r>
            <a:r>
              <a:rPr lang="en-US" dirty="0">
                <a:solidFill>
                  <a:schemeClr val="bg1"/>
                </a:solidFill>
              </a:rPr>
              <a:t>: Almost same algorithm but solve different problems!!</a:t>
            </a:r>
          </a:p>
        </p:txBody>
      </p:sp>
      <p:sp>
        <p:nvSpPr>
          <p:cNvPr id="3" name="Content Placeholder 5">
            <a:extLst>
              <a:ext uri="{FF2B5EF4-FFF2-40B4-BE49-F238E27FC236}">
                <a16:creationId xmlns:a16="http://schemas.microsoft.com/office/drawing/2014/main" id="{4A27E6E9-E493-DD82-FC78-A1CD1FD12CAD}"/>
              </a:ext>
            </a:extLst>
          </p:cNvPr>
          <p:cNvSpPr txBox="1">
            <a:spLocks/>
          </p:cNvSpPr>
          <p:nvPr/>
        </p:nvSpPr>
        <p:spPr>
          <a:xfrm>
            <a:off x="1141412" y="3533164"/>
            <a:ext cx="9905999" cy="81835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Indirect heap</a:t>
            </a:r>
            <a:r>
              <a:rPr lang="en-US" dirty="0">
                <a:solidFill>
                  <a:schemeClr val="bg1"/>
                </a:solidFill>
              </a:rPr>
              <a:t> and better runtime for each algorithm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Extra Problem (If Time Allows)</a:t>
            </a:r>
          </a:p>
        </p:txBody>
      </p:sp>
      <p:sp>
        <p:nvSpPr>
          <p:cNvPr id="6" name="Text Placeholder 5"/>
          <p:cNvSpPr>
            <a:spLocks noGrp="1"/>
          </p:cNvSpPr>
          <p:nvPr>
            <p:ph type="body" idx="1"/>
          </p:nvPr>
        </p:nvSpPr>
        <p:spPr/>
        <p:txBody>
          <a:bodyPr/>
          <a:lstStyle/>
          <a:p>
            <a:endParaRPr lang="en-US"/>
          </a:p>
        </p:txBody>
      </p:sp>
    </p:spTree>
    <p:extLst>
      <p:ext uri="{BB962C8B-B14F-4D97-AF65-F5344CB8AC3E}">
        <p14:creationId xmlns:p14="http://schemas.microsoft.com/office/powerpoint/2010/main" val="25569287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141413" y="428017"/>
            <a:ext cx="9905998" cy="638782"/>
          </a:xfrm>
        </p:spPr>
        <p:txBody>
          <a:bodyPr/>
          <a:lstStyle/>
          <a:p>
            <a:pPr algn="ctr"/>
            <a:r>
              <a:rPr lang="en-US" dirty="0"/>
              <a:t>Solve This Problem</a:t>
            </a:r>
          </a:p>
        </p:txBody>
      </p:sp>
      <p:sp>
        <p:nvSpPr>
          <p:cNvPr id="35843" name="Content Placeholder 2"/>
          <p:cNvSpPr>
            <a:spLocks noGrp="1"/>
          </p:cNvSpPr>
          <p:nvPr>
            <p:ph sz="quarter" idx="1"/>
          </p:nvPr>
        </p:nvSpPr>
        <p:spPr>
          <a:xfrm>
            <a:off x="1141412" y="1801079"/>
            <a:ext cx="9905999" cy="3541714"/>
          </a:xfrm>
        </p:spPr>
        <p:txBody>
          <a:bodyPr>
            <a:normAutofit/>
          </a:bodyPr>
          <a:lstStyle/>
          <a:p>
            <a:r>
              <a:rPr lang="en-US" dirty="0"/>
              <a:t>Suppose </a:t>
            </a:r>
            <a:r>
              <a:rPr lang="en-US" dirty="0" err="1"/>
              <a:t>Floryan</a:t>
            </a:r>
            <a:r>
              <a:rPr lang="en-US" dirty="0"/>
              <a:t> is traveling by flying from city S to city D. </a:t>
            </a:r>
            <a:r>
              <a:rPr lang="en-US" dirty="0" err="1"/>
              <a:t>Floryan</a:t>
            </a:r>
            <a:r>
              <a:rPr lang="en-US" dirty="0"/>
              <a:t> doesn’t mind sitting on planes, but he REALLY dislikes layovers in airports (I mean, you are just SITTING there not making any progress).</a:t>
            </a:r>
          </a:p>
          <a:p>
            <a:endParaRPr lang="en-US" dirty="0"/>
          </a:p>
          <a:p>
            <a:r>
              <a:rPr lang="en-US" dirty="0"/>
              <a:t>Given </a:t>
            </a:r>
            <a:r>
              <a:rPr lang="en-US" dirty="0" err="1"/>
              <a:t>Floryan’s</a:t>
            </a:r>
            <a:r>
              <a:rPr lang="en-US" dirty="0"/>
              <a:t> start city S, destination city D, and a long list of flights (each flight is start city, end city, departure date/time, arrival date/time), can you find the optimal itinerary that minimizes </a:t>
            </a:r>
            <a:r>
              <a:rPr lang="en-US" dirty="0" err="1"/>
              <a:t>Floryan’s</a:t>
            </a:r>
            <a:r>
              <a:rPr lang="en-US" dirty="0"/>
              <a:t> layover time?</a:t>
            </a:r>
          </a:p>
          <a:p>
            <a:endParaRPr lang="en-US" dirty="0"/>
          </a:p>
        </p:txBody>
      </p:sp>
    </p:spTree>
    <p:extLst>
      <p:ext uri="{BB962C8B-B14F-4D97-AF65-F5344CB8AC3E}">
        <p14:creationId xmlns:p14="http://schemas.microsoft.com/office/powerpoint/2010/main" val="31969578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dirty="0"/>
              <a:t>Solution:</a:t>
            </a:r>
          </a:p>
        </p:txBody>
      </p:sp>
      <p:sp>
        <p:nvSpPr>
          <p:cNvPr id="35843" name="Content Placeholder 2"/>
          <p:cNvSpPr>
            <a:spLocks noGrp="1"/>
          </p:cNvSpPr>
          <p:nvPr>
            <p:ph sz="quarter" idx="1"/>
          </p:nvPr>
        </p:nvSpPr>
        <p:spPr/>
        <p:txBody>
          <a:bodyPr>
            <a:normAutofit/>
          </a:bodyPr>
          <a:lstStyle/>
          <a:p>
            <a:endParaRPr lang="en-US" dirty="0"/>
          </a:p>
        </p:txBody>
      </p:sp>
    </p:spTree>
    <p:extLst>
      <p:ext uri="{BB962C8B-B14F-4D97-AF65-F5344CB8AC3E}">
        <p14:creationId xmlns:p14="http://schemas.microsoft.com/office/powerpoint/2010/main" val="3066474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40343</TotalTime>
  <Words>3546</Words>
  <Application>Microsoft Macintosh PowerPoint</Application>
  <PresentationFormat>Widescreen</PresentationFormat>
  <Paragraphs>522</Paragraphs>
  <Slides>49</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Arial</vt:lpstr>
      <vt:lpstr>Calibri</vt:lpstr>
      <vt:lpstr>Cambria Math</vt:lpstr>
      <vt:lpstr>Courier New</vt:lpstr>
      <vt:lpstr>Monotype Sorts</vt:lpstr>
      <vt:lpstr>Symbol</vt:lpstr>
      <vt:lpstr>Tw Cen MT</vt:lpstr>
      <vt:lpstr>Wingdings</vt:lpstr>
      <vt:lpstr>Wingdings 3</vt:lpstr>
      <vt:lpstr>Circuit</vt:lpstr>
      <vt:lpstr>Graphs: Dijkstra’s Algorithm And Prim’s Algorithm</vt:lpstr>
      <vt:lpstr>Topics!</vt:lpstr>
      <vt:lpstr>Shortest Path Problems</vt:lpstr>
      <vt:lpstr>Weighted Shortest Path</vt:lpstr>
      <vt:lpstr>Optimal Substructure</vt:lpstr>
      <vt:lpstr>Optimal Substructure Proof</vt:lpstr>
      <vt:lpstr>Optimal Substructure Proof</vt:lpstr>
      <vt:lpstr>Optimal Substructure Proof</vt:lpstr>
      <vt:lpstr>Optimal Substructure Proof</vt:lpstr>
      <vt:lpstr>Dijkstra’s Algorithm</vt:lpstr>
      <vt:lpstr>Dijkstra’s Algorithm</vt:lpstr>
      <vt:lpstr>Dijkstra’s Algorithm</vt:lpstr>
      <vt:lpstr>Dijkstra’s algorithm Overview</vt:lpstr>
      <vt:lpstr>Example</vt:lpstr>
      <vt:lpstr>Dijkstra’s algorithm Psuedocode</vt:lpstr>
      <vt:lpstr>Dijkstra' Algorithm</vt:lpstr>
      <vt:lpstr>Dijkstra’s Proof of Correctness</vt:lpstr>
      <vt:lpstr>How to Prove Correctness?</vt:lpstr>
      <vt:lpstr>Proof w/ Picture:</vt:lpstr>
      <vt:lpstr>Proof w/ Picture:</vt:lpstr>
      <vt:lpstr>Proof w/ Picture:</vt:lpstr>
      <vt:lpstr>Formulas</vt:lpstr>
      <vt:lpstr>Formulas</vt:lpstr>
      <vt:lpstr>Minimum-Spanning Trees</vt:lpstr>
      <vt:lpstr>Spanning Tree</vt:lpstr>
      <vt:lpstr>Spanning Tree: Example</vt:lpstr>
      <vt:lpstr>Spanning Tree: Example (almost)</vt:lpstr>
      <vt:lpstr>Minimum Spanning Tree</vt:lpstr>
      <vt:lpstr>Minimum Spanning Tree: Optimal Substructure</vt:lpstr>
      <vt:lpstr>Minimum Spanning Tree: Optimal Substructure</vt:lpstr>
      <vt:lpstr>Minimum Spanning Tree: Optimal Substructure</vt:lpstr>
      <vt:lpstr>Minimum Spanning Tree: Optimal Substructure</vt:lpstr>
      <vt:lpstr>Prim’s Algorithm</vt:lpstr>
      <vt:lpstr>Prim’s Algorithm</vt:lpstr>
      <vt:lpstr>Prim’s algorithm</vt:lpstr>
      <vt:lpstr>Prim’s Algorithm for MST</vt:lpstr>
      <vt:lpstr>Example By Hand</vt:lpstr>
      <vt:lpstr>Prim’s Algorithm</vt:lpstr>
      <vt:lpstr>Prim’s Algorithm</vt:lpstr>
      <vt:lpstr>Prim’s algorithm: Greedy Choice Property</vt:lpstr>
      <vt:lpstr>Indirect Heaps</vt:lpstr>
      <vt:lpstr>Compare</vt:lpstr>
      <vt:lpstr>Better PQ Implementations</vt:lpstr>
      <vt:lpstr>Better PQ Implementations</vt:lpstr>
      <vt:lpstr>Summary</vt:lpstr>
      <vt:lpstr>What Did We Learn?</vt:lpstr>
      <vt:lpstr>Extra Problem (If Time Allows)</vt:lpstr>
      <vt:lpstr>Solve This Problem</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250</cp:revision>
  <dcterms:created xsi:type="dcterms:W3CDTF">2023-02-24T14:15:53Z</dcterms:created>
  <dcterms:modified xsi:type="dcterms:W3CDTF">2026-02-11T21:48:10Z</dcterms:modified>
</cp:coreProperties>
</file>