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1"/>
  </p:notesMasterIdLst>
  <p:sldIdLst>
    <p:sldId id="256" r:id="rId2"/>
    <p:sldId id="617" r:id="rId3"/>
    <p:sldId id="664" r:id="rId4"/>
    <p:sldId id="568" r:id="rId5"/>
    <p:sldId id="586" r:id="rId6"/>
    <p:sldId id="673" r:id="rId7"/>
    <p:sldId id="575" r:id="rId8"/>
    <p:sldId id="707" r:id="rId9"/>
    <p:sldId id="708" r:id="rId10"/>
    <p:sldId id="571" r:id="rId11"/>
    <p:sldId id="572" r:id="rId12"/>
    <p:sldId id="717" r:id="rId13"/>
    <p:sldId id="674" r:id="rId14"/>
    <p:sldId id="675" r:id="rId15"/>
    <p:sldId id="682" r:id="rId16"/>
    <p:sldId id="589" r:id="rId17"/>
    <p:sldId id="709" r:id="rId18"/>
    <p:sldId id="710" r:id="rId19"/>
    <p:sldId id="711" r:id="rId20"/>
    <p:sldId id="712" r:id="rId21"/>
    <p:sldId id="576" r:id="rId22"/>
    <p:sldId id="683" r:id="rId23"/>
    <p:sldId id="713" r:id="rId24"/>
    <p:sldId id="700" r:id="rId25"/>
    <p:sldId id="701" r:id="rId26"/>
    <p:sldId id="702" r:id="rId27"/>
    <p:sldId id="714" r:id="rId28"/>
    <p:sldId id="715" r:id="rId29"/>
    <p:sldId id="71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28"/>
    <p:restoredTop sz="94589"/>
  </p:normalViewPr>
  <p:slideViewPr>
    <p:cSldViewPr snapToGrid="0" snapToObjects="1">
      <p:cViewPr varScale="1">
        <p:scale>
          <a:sx n="118" d="100"/>
          <a:sy n="118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CA1C97-6926-BC4F-A686-49C7D9ECAEEF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91221-AE36-7643-BCF1-4FCD92DADD84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2D75A-2258-3E4D-8B74-ED3B7CF0EE1D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863E2-7668-2248-B7B1-87F644C213CA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DE677-3F57-CB47-9D8B-DB34C0C056C2}" type="datetime1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C9457-636A-B84F-99F3-6F08E66759C5}" type="datetime1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DCED1-1B31-D549-A5D7-0B5C1B36EAE8}" type="datetime1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47BD1-6B3E-234F-9B04-75AE98ED1E70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6453-A247-1B45-BFC3-478BB8FA51EE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EFB6-74AC-5345-8825-4F0C1A662957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D34A-F8AE-0743-AB2D-FC647C55B36D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EDE51-0FD8-8544-8FDE-DE92A3964E67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EDD13-75B3-F443-B5CE-FECFE0E1B2CF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0F5C-DCF4-E540-94ED-CC5FF64CADE7}" type="datetime1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4FC2D-7BE9-EB47-B9C7-5D8756FEDE9A}" type="datetime1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F0B8B-D467-0746-8C66-7C0F7A7C5A15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9E7D3-DC5C-3D40-B004-D6411FDAC4D1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76A1B-E11E-C943-B62D-9A3228722D93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Greedy Algorithms: Activity Selection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34470"/>
            <a:ext cx="9905998" cy="625066"/>
          </a:xfrm>
        </p:spPr>
        <p:txBody>
          <a:bodyPr/>
          <a:lstStyle/>
          <a:p>
            <a:pPr algn="ctr"/>
            <a:r>
              <a:rPr lang="en-US" dirty="0"/>
              <a:t>CLRS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3214" y="2010476"/>
            <a:ext cx="4445572" cy="1728153"/>
          </a:xfrm>
        </p:spPr>
        <p:txBody>
          <a:bodyPr>
            <a:normAutofit/>
          </a:bodyPr>
          <a:lstStyle/>
          <a:p>
            <a:r>
              <a:rPr lang="en-US" dirty="0"/>
              <a:t>Chapter 16, Greedy Algorithms</a:t>
            </a:r>
          </a:p>
          <a:p>
            <a:pPr lvl="1"/>
            <a:r>
              <a:rPr lang="en-US" dirty="0"/>
              <a:t>Intro, page 414</a:t>
            </a:r>
          </a:p>
          <a:p>
            <a:pPr lvl="1"/>
            <a:r>
              <a:rPr lang="en-US" dirty="0"/>
              <a:t>Section 16.1, Activity Selection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46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8326-C22D-AE4C-B559-1F292B8DD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Activity Selection</a:t>
            </a:r>
          </a:p>
        </p:txBody>
      </p:sp>
    </p:spTree>
    <p:extLst>
      <p:ext uri="{BB962C8B-B14F-4D97-AF65-F5344CB8AC3E}">
        <p14:creationId xmlns:p14="http://schemas.microsoft.com/office/powerpoint/2010/main" val="352543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240565"/>
            <a:ext cx="9905998" cy="826234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Activity-Selection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B2CD16DF-55B4-BF41-44BD-C6A09C0C74F5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70897" y="1697736"/>
                <a:ext cx="8250206" cy="14752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Activity Selection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: Given a list of activities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A</m:t>
                    </m:r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n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where each activity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is defined by a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start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and </a:t>
                </a:r>
                <a:r>
                  <a:rPr lang="en-US" dirty="0">
                    <a:solidFill>
                      <a:schemeClr val="accent4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finish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. Select the maximum number of activities that can be fit into one schedule</a:t>
                </a: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B2CD16DF-55B4-BF41-44BD-C6A09C0C7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897" y="1697736"/>
                <a:ext cx="8250206" cy="1475232"/>
              </a:xfrm>
              <a:prstGeom prst="rect">
                <a:avLst/>
              </a:prstGeom>
              <a:blipFill>
                <a:blip r:embed="rId2"/>
                <a:stretch>
                  <a:fillRect l="-767" t="-2542" b="-50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B84B4C98-D62F-D2CA-F583-B873E7944F4A}"/>
              </a:ext>
            </a:extLst>
          </p:cNvPr>
          <p:cNvSpPr txBox="1">
            <a:spLocks noChangeArrowheads="1"/>
          </p:cNvSpPr>
          <p:nvPr/>
        </p:nvSpPr>
        <p:spPr>
          <a:xfrm>
            <a:off x="1024128" y="4224528"/>
            <a:ext cx="4983480" cy="1054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We just want the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most activities possible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, they are all equally “good”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6D11ECF-B656-58E0-029E-9E5AFA2F0629}"/>
              </a:ext>
            </a:extLst>
          </p:cNvPr>
          <p:cNvSpPr txBox="1">
            <a:spLocks noChangeArrowheads="1"/>
          </p:cNvSpPr>
          <p:nvPr/>
        </p:nvSpPr>
        <p:spPr>
          <a:xfrm>
            <a:off x="7586472" y="4331208"/>
            <a:ext cx="3649615" cy="841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This problem is sometimes called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Interval Scheduling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5FFEF4-5D1D-633B-BDAC-3EC401EDE7AB}"/>
              </a:ext>
            </a:extLst>
          </p:cNvPr>
          <p:cNvCxnSpPr/>
          <p:nvPr/>
        </p:nvCxnSpPr>
        <p:spPr>
          <a:xfrm flipV="1">
            <a:off x="3794760" y="3429000"/>
            <a:ext cx="329184" cy="67665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BD82E6-32D1-4666-BA39-750B3AFA0A91}"/>
              </a:ext>
            </a:extLst>
          </p:cNvPr>
          <p:cNvCxnSpPr>
            <a:cxnSpLocks/>
          </p:cNvCxnSpPr>
          <p:nvPr/>
        </p:nvCxnSpPr>
        <p:spPr>
          <a:xfrm flipH="1" flipV="1">
            <a:off x="8068058" y="3429000"/>
            <a:ext cx="423670" cy="90220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48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74791"/>
            <a:ext cx="9905998" cy="69821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Activities!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917333818"/>
              </p:ext>
            </p:extLst>
          </p:nvPr>
        </p:nvGraphicFramePr>
        <p:xfrm>
          <a:off x="1943100" y="1456944"/>
          <a:ext cx="8305799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3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30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Start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Finish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/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413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1902"/>
            <a:ext cx="9905998" cy="679930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Generalizing Start, End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980299035"/>
              </p:ext>
            </p:extLst>
          </p:nvPr>
        </p:nvGraphicFramePr>
        <p:xfrm>
          <a:off x="1981200" y="1383792"/>
          <a:ext cx="8229600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8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1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</a:rPr>
                        <a:t>Start</a:t>
                      </a:r>
                      <a:endParaRPr lang="en-US" sz="2400" b="1" i="0" u="none" strike="noStrike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Finish</a:t>
                      </a:r>
                      <a:endParaRPr lang="en-US" sz="2400" b="1" i="0" u="none" strike="noStrike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Len</a:t>
                      </a:r>
                      <a:endParaRPr lang="en-US" sz="2400" b="1" i="0" u="none" strike="noStrike" dirty="0">
                        <a:solidFill>
                          <a:schemeClr val="tx1">
                            <a:lumMod val="95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8886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</a:t>
            </a:r>
          </a:p>
        </p:txBody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72868" y="1350377"/>
            <a:ext cx="7446264" cy="110935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Does this problem have </a:t>
            </a:r>
            <a:r>
              <a:rPr lang="en-US" b="1" i="1" u="sng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optimal substructure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? Yes, but we need to think about the exact nature of the subproblems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01F89-1426-9736-B1D3-D346E4C7BBDA}"/>
              </a:ext>
            </a:extLst>
          </p:cNvPr>
          <p:cNvGrpSpPr/>
          <p:nvPr/>
        </p:nvGrpSpPr>
        <p:grpSpPr>
          <a:xfrm>
            <a:off x="1155192" y="3118104"/>
            <a:ext cx="7964424" cy="1005840"/>
            <a:chOff x="1764792" y="2916936"/>
            <a:chExt cx="7964424" cy="100584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A7E127-5A21-19BB-CE8A-8D1EC70D2CCA}"/>
                </a:ext>
              </a:extLst>
            </p:cNvPr>
            <p:cNvSpPr/>
            <p:nvPr/>
          </p:nvSpPr>
          <p:spPr>
            <a:xfrm>
              <a:off x="1764792" y="2916936"/>
              <a:ext cx="7964424" cy="100584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3EB078-DCF7-01E1-5C70-9382E8E7BBED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161FDA8-0D6C-7DD3-8520-77286657DBFA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052C07B-956F-93C6-4143-87970A982739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D0010DA-4247-1352-27E5-C0A0692ACCA1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6ADCB1-5680-9088-3142-2F76DDE28835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619B581-3AD0-7B5E-A67B-5DA66648E4D9}"/>
              </a:ext>
            </a:extLst>
          </p:cNvPr>
          <p:cNvSpPr txBox="1"/>
          <p:nvPr/>
        </p:nvSpPr>
        <p:spPr>
          <a:xfrm>
            <a:off x="9319931" y="3118104"/>
            <a:ext cx="23150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this is optimal overall</a:t>
            </a:r>
          </a:p>
          <a:p>
            <a:endParaRPr lang="en-US" dirty="0"/>
          </a:p>
          <a:p>
            <a:r>
              <a:rPr lang="en-US" dirty="0"/>
              <a:t>5 activities!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DAD998B-2C3A-62E5-56DB-6DB51DB1A773}"/>
              </a:ext>
            </a:extLst>
          </p:cNvPr>
          <p:cNvGrpSpPr/>
          <p:nvPr/>
        </p:nvGrpSpPr>
        <p:grpSpPr>
          <a:xfrm>
            <a:off x="1155192" y="4663440"/>
            <a:ext cx="7964424" cy="1005840"/>
            <a:chOff x="1764792" y="2916936"/>
            <a:chExt cx="7964424" cy="100584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3F3F70-923D-E6B2-D62B-3B920C6010C8}"/>
                </a:ext>
              </a:extLst>
            </p:cNvPr>
            <p:cNvSpPr/>
            <p:nvPr/>
          </p:nvSpPr>
          <p:spPr>
            <a:xfrm>
              <a:off x="1764792" y="2916936"/>
              <a:ext cx="7964424" cy="100584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4493439-76DD-E59B-CD66-99019BCF8D9A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46B1DD8-8C0C-75FF-3415-74CF16A6A1BA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3BBD594-4077-A320-8FC4-113F8DB70684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2045368-554F-8B97-9B2E-27ACB521F784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098ED18-67D4-E272-5358-F17C18DB004F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4652A57-4CAB-469B-F5E8-FB8306403817}"/>
              </a:ext>
            </a:extLst>
          </p:cNvPr>
          <p:cNvSpPr txBox="1"/>
          <p:nvPr/>
        </p:nvSpPr>
        <p:spPr>
          <a:xfrm>
            <a:off x="9286376" y="4974017"/>
            <a:ext cx="2348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is this optimal too?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E68B7B-BB67-6C1E-5018-F7E183C31F02}"/>
              </a:ext>
            </a:extLst>
          </p:cNvPr>
          <p:cNvSpPr/>
          <p:nvPr/>
        </p:nvSpPr>
        <p:spPr>
          <a:xfrm>
            <a:off x="2828544" y="4791456"/>
            <a:ext cx="6205728" cy="734455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651061-3644-7187-5BC9-A58C0973C354}"/>
              </a:ext>
            </a:extLst>
          </p:cNvPr>
          <p:cNvSpPr txBox="1"/>
          <p:nvPr/>
        </p:nvSpPr>
        <p:spPr>
          <a:xfrm>
            <a:off x="2828544" y="5855095"/>
            <a:ext cx="4666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**Note that subproblem ONLY contains intervals that start after finish time of first activity</a:t>
            </a:r>
          </a:p>
        </p:txBody>
      </p:sp>
    </p:spTree>
    <p:extLst>
      <p:ext uri="{BB962C8B-B14F-4D97-AF65-F5344CB8AC3E}">
        <p14:creationId xmlns:p14="http://schemas.microsoft.com/office/powerpoint/2010/main" val="151684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DC2-5406-0D8C-C079-F3B295907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0C285671-6F0D-FBB9-4DA2-FC5416868B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Proof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BC221D-2A3B-580C-BBD3-E07EA80A77BB}"/>
              </a:ext>
            </a:extLst>
          </p:cNvPr>
          <p:cNvGrpSpPr/>
          <p:nvPr/>
        </p:nvGrpSpPr>
        <p:grpSpPr>
          <a:xfrm>
            <a:off x="1155192" y="1142999"/>
            <a:ext cx="7964424" cy="605292"/>
            <a:chOff x="1764792" y="3127247"/>
            <a:chExt cx="7964424" cy="60529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AF043C-9CD4-A510-4359-105F91B7709C}"/>
                </a:ext>
              </a:extLst>
            </p:cNvPr>
            <p:cNvSpPr/>
            <p:nvPr/>
          </p:nvSpPr>
          <p:spPr>
            <a:xfrm>
              <a:off x="1764792" y="3127247"/>
              <a:ext cx="7964424" cy="605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405A4B0-E6FD-1CF9-554C-34B417D37B10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1062E0-95F9-E5C2-58B5-EAEED4298E18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24EE42E-E246-8299-4385-43FA96E3F7AA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923DE1E-3DCE-7BD4-1361-EFF1394DFE5A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E8581E9-00A4-C904-143A-0D335A08A7B0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83AEF12-A1ED-C9D4-60A2-4F8AD6B6A616}"/>
              </a:ext>
            </a:extLst>
          </p:cNvPr>
          <p:cNvSpPr txBox="1"/>
          <p:nvPr/>
        </p:nvSpPr>
        <p:spPr>
          <a:xfrm>
            <a:off x="9198364" y="1250942"/>
            <a:ext cx="1850635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this is optimal…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538C7-6900-F3F9-FB1B-AED56664D3CB}"/>
              </a:ext>
            </a:extLst>
          </p:cNvPr>
          <p:cNvSpPr txBox="1"/>
          <p:nvPr/>
        </p:nvSpPr>
        <p:spPr>
          <a:xfrm>
            <a:off x="9217943" y="2101334"/>
            <a:ext cx="150413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But this is NOT</a:t>
            </a:r>
          </a:p>
        </p:txBody>
      </p:sp>
      <p:grpSp>
        <p:nvGrpSpPr>
          <p:cNvPr id="34821" name="Group 34820">
            <a:extLst>
              <a:ext uri="{FF2B5EF4-FFF2-40B4-BE49-F238E27FC236}">
                <a16:creationId xmlns:a16="http://schemas.microsoft.com/office/drawing/2014/main" id="{7812A636-C97E-359F-BDA2-79695A8C38D8}"/>
              </a:ext>
            </a:extLst>
          </p:cNvPr>
          <p:cNvGrpSpPr/>
          <p:nvPr/>
        </p:nvGrpSpPr>
        <p:grpSpPr>
          <a:xfrm>
            <a:off x="1155192" y="2005688"/>
            <a:ext cx="7964424" cy="641841"/>
            <a:chOff x="1155192" y="1850240"/>
            <a:chExt cx="7964424" cy="64184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2F1EBD1-62C7-8A04-8A4E-FB6C0B9D4A69}"/>
                </a:ext>
              </a:extLst>
            </p:cNvPr>
            <p:cNvGrpSpPr/>
            <p:nvPr/>
          </p:nvGrpSpPr>
          <p:grpSpPr>
            <a:xfrm>
              <a:off x="1155192" y="1850240"/>
              <a:ext cx="7964424" cy="641841"/>
              <a:chOff x="1764792" y="3139544"/>
              <a:chExt cx="7964424" cy="641841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946875F-1DAE-063A-A884-130AE045650F}"/>
                  </a:ext>
                </a:extLst>
              </p:cNvPr>
              <p:cNvSpPr/>
              <p:nvPr/>
            </p:nvSpPr>
            <p:spPr>
              <a:xfrm>
                <a:off x="1764792" y="3139544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1033F01-3097-E895-CD1F-B337C8CEC8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3736" y="3456432"/>
                <a:ext cx="963168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9A9ECDDA-639E-BDB3-38BF-9BFE5483E9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8" y="3456432"/>
                <a:ext cx="1840992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7987F01-38D1-0D27-F717-E45404159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04632" y="3462528"/>
                <a:ext cx="527304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4F9511E-6921-0AF3-1A13-DC636D361F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2832" y="3456432"/>
                <a:ext cx="527304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E7D6E5F-936D-EDF2-B93C-038FCFDF011F}"/>
                </a:ext>
              </a:extLst>
            </p:cNvPr>
            <p:cNvSpPr/>
            <p:nvPr/>
          </p:nvSpPr>
          <p:spPr>
            <a:xfrm>
              <a:off x="2828544" y="1945886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5FFEDDC7-F72C-5003-871C-C9664EAF3844}"/>
              </a:ext>
            </a:extLst>
          </p:cNvPr>
          <p:cNvSpPr txBox="1"/>
          <p:nvPr/>
        </p:nvSpPr>
        <p:spPr>
          <a:xfrm>
            <a:off x="5794247" y="4608578"/>
            <a:ext cx="532179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Which can be recombined with first activity to produce better than optimal solution. Contradiction!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31F630-FC7B-1FF0-0781-F166B8CF72A3}"/>
              </a:ext>
            </a:extLst>
          </p:cNvPr>
          <p:cNvCxnSpPr/>
          <p:nvPr/>
        </p:nvCxnSpPr>
        <p:spPr>
          <a:xfrm>
            <a:off x="5650992" y="2807208"/>
            <a:ext cx="0" cy="749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C1100A7-4860-4C57-37F4-C06154FDD1D8}"/>
              </a:ext>
            </a:extLst>
          </p:cNvPr>
          <p:cNvSpPr txBox="1"/>
          <p:nvPr/>
        </p:nvSpPr>
        <p:spPr>
          <a:xfrm>
            <a:off x="5794247" y="2877235"/>
            <a:ext cx="2993134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Then there is a better solution for this time frame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C98E66-4203-8580-B7EC-82A00D963C4C}"/>
              </a:ext>
            </a:extLst>
          </p:cNvPr>
          <p:cNvCxnSpPr>
            <a:cxnSpLocks/>
          </p:cNvCxnSpPr>
          <p:nvPr/>
        </p:nvCxnSpPr>
        <p:spPr>
          <a:xfrm>
            <a:off x="5650992" y="4507992"/>
            <a:ext cx="0" cy="813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36D2DD5-FF07-B91E-3A5A-A5205CD18391}"/>
              </a:ext>
            </a:extLst>
          </p:cNvPr>
          <p:cNvGrpSpPr/>
          <p:nvPr/>
        </p:nvGrpSpPr>
        <p:grpSpPr>
          <a:xfrm>
            <a:off x="1155192" y="3707552"/>
            <a:ext cx="7964424" cy="641841"/>
            <a:chOff x="1155192" y="3488096"/>
            <a:chExt cx="7964424" cy="641841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595C037-4825-B310-155D-620E83A37E31}"/>
                </a:ext>
              </a:extLst>
            </p:cNvPr>
            <p:cNvGrpSpPr/>
            <p:nvPr/>
          </p:nvGrpSpPr>
          <p:grpSpPr>
            <a:xfrm>
              <a:off x="1155192" y="3488096"/>
              <a:ext cx="7964424" cy="641841"/>
              <a:chOff x="1155192" y="4393352"/>
              <a:chExt cx="7964424" cy="641841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908A117-EF53-10E2-79E8-CB8D3D0F66E8}"/>
                  </a:ext>
                </a:extLst>
              </p:cNvPr>
              <p:cNvSpPr/>
              <p:nvPr/>
            </p:nvSpPr>
            <p:spPr>
              <a:xfrm>
                <a:off x="1155192" y="4393352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A12B5C5-637E-C35F-777D-F481AA9A85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4136" y="4718305"/>
                <a:ext cx="963168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B3F377-C6DD-E470-DE71-7E11E1FD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1808" y="4718305"/>
                <a:ext cx="609600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7755AA-186A-F229-F9E0-C746022A01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5032" y="4724401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8E8B768-8BA5-F59B-3C03-39DE3B78C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323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748E0FD-08A6-E6EE-AC3F-15761E6C5D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299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46721E-83B0-3A4E-01BC-84715BB36F0E}"/>
                </a:ext>
              </a:extLst>
            </p:cNvPr>
            <p:cNvSpPr/>
            <p:nvPr/>
          </p:nvSpPr>
          <p:spPr>
            <a:xfrm>
              <a:off x="2828544" y="3609541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8CFE13D-9483-600D-4CD1-5C3AC98E082B}"/>
              </a:ext>
            </a:extLst>
          </p:cNvPr>
          <p:cNvGrpSpPr/>
          <p:nvPr/>
        </p:nvGrpSpPr>
        <p:grpSpPr>
          <a:xfrm>
            <a:off x="1155192" y="5480385"/>
            <a:ext cx="7964424" cy="641841"/>
            <a:chOff x="1155192" y="3488096"/>
            <a:chExt cx="7964424" cy="641841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2D238AA-0B2E-222C-9DF8-606CD262D33C}"/>
                </a:ext>
              </a:extLst>
            </p:cNvPr>
            <p:cNvGrpSpPr/>
            <p:nvPr/>
          </p:nvGrpSpPr>
          <p:grpSpPr>
            <a:xfrm>
              <a:off x="1155192" y="3488096"/>
              <a:ext cx="7964424" cy="641841"/>
              <a:chOff x="1155192" y="4393352"/>
              <a:chExt cx="7964424" cy="641841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CDA5EA0C-9676-1188-2908-8FC1C4E53A5F}"/>
                  </a:ext>
                </a:extLst>
              </p:cNvPr>
              <p:cNvSpPr/>
              <p:nvPr/>
            </p:nvSpPr>
            <p:spPr>
              <a:xfrm>
                <a:off x="1155192" y="4393352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BF40232-2E4E-A4BE-EEFB-6CD86F9E9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4136" y="4718305"/>
                <a:ext cx="963168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CAD11B3F-53DA-0E68-02C7-8B1B9DD71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1808" y="4718305"/>
                <a:ext cx="609600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5CF11154-319A-8643-8BF7-999A6E9250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5032" y="4724401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B4DED57-962C-3E5E-E85C-B6645B1C3A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323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A1E2E02C-A337-55C1-BC78-49CE69FA60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299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891C4A4-F20A-21C7-9540-B81345957C0E}"/>
                </a:ext>
              </a:extLst>
            </p:cNvPr>
            <p:cNvSpPr/>
            <p:nvPr/>
          </p:nvSpPr>
          <p:spPr>
            <a:xfrm>
              <a:off x="2828544" y="3609541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471F509-0F20-F41C-A171-880EAC53826F}"/>
              </a:ext>
            </a:extLst>
          </p:cNvPr>
          <p:cNvCxnSpPr>
            <a:cxnSpLocks/>
          </p:cNvCxnSpPr>
          <p:nvPr/>
        </p:nvCxnSpPr>
        <p:spPr>
          <a:xfrm>
            <a:off x="1402080" y="5801305"/>
            <a:ext cx="1426464" cy="0"/>
          </a:xfrm>
          <a:prstGeom prst="line">
            <a:avLst/>
          </a:prstGeom>
          <a:ln cap="rnd">
            <a:solidFill>
              <a:schemeClr val="accent3"/>
            </a:solidFill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22" name="TextBox 34821">
            <a:extLst>
              <a:ext uri="{FF2B5EF4-FFF2-40B4-BE49-F238E27FC236}">
                <a16:creationId xmlns:a16="http://schemas.microsoft.com/office/drawing/2014/main" id="{EFB48896-AD0D-01C2-040E-55F8DDA61690}"/>
              </a:ext>
            </a:extLst>
          </p:cNvPr>
          <p:cNvSpPr txBox="1"/>
          <p:nvPr/>
        </p:nvSpPr>
        <p:spPr>
          <a:xfrm>
            <a:off x="9198365" y="5811434"/>
            <a:ext cx="206399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Q.E.D. Problem has optimal substructure!</a:t>
            </a:r>
          </a:p>
        </p:txBody>
      </p:sp>
    </p:spTree>
    <p:extLst>
      <p:ext uri="{BB962C8B-B14F-4D97-AF65-F5344CB8AC3E}">
        <p14:creationId xmlns:p14="http://schemas.microsoft.com/office/powerpoint/2010/main" val="6015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10" grpId="0" animBg="1"/>
      <p:bldP spid="348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E9B30-1EDF-ECCE-5AFF-4F5D73AAF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CE83992E-2CF4-5A66-AF97-52A43D99B0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20" name="Rectangle 3">
                <a:extLst>
                  <a:ext uri="{FF2B5EF4-FFF2-40B4-BE49-F238E27FC236}">
                    <a16:creationId xmlns:a16="http://schemas.microsoft.com/office/drawing/2014/main" id="{1E37C4FC-36E9-1B81-F31F-632DAE252D43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683258" y="1551487"/>
                <a:ext cx="8825484" cy="110935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 is the optimal solution to some activity selection problem within the time frame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,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−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 is the optimal solution within time frame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  <a:ea typeface="ＭＳ Ｐゴシック" charset="0"/>
                  <a:sym typeface="Math B" charset="0"/>
                </a:endParaRPr>
              </a:p>
            </p:txBody>
          </p:sp>
        </mc:Choice>
        <mc:Fallback xmlns="">
          <p:sp>
            <p:nvSpPr>
              <p:cNvPr id="34820" name="Rectangle 3">
                <a:extLst>
                  <a:ext uri="{FF2B5EF4-FFF2-40B4-BE49-F238E27FC236}">
                    <a16:creationId xmlns:a16="http://schemas.microsoft.com/office/drawing/2014/main" id="{1E37C4FC-36E9-1B81-F31F-632DAE252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683258" y="1551487"/>
                <a:ext cx="8825484" cy="1109359"/>
              </a:xfrm>
              <a:blipFill>
                <a:blip r:embed="rId2"/>
                <a:stretch>
                  <a:fillRect l="-861" t="-2247" b="-1011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AC9F006B-917E-9FCD-21E0-2539AB2238D5}"/>
              </a:ext>
            </a:extLst>
          </p:cNvPr>
          <p:cNvGrpSpPr/>
          <p:nvPr/>
        </p:nvGrpSpPr>
        <p:grpSpPr>
          <a:xfrm>
            <a:off x="2113788" y="3492193"/>
            <a:ext cx="7964424" cy="2524560"/>
            <a:chOff x="2113788" y="3656785"/>
            <a:chExt cx="7964424" cy="2524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8B5CAC3-3787-9C6D-B923-FB5A976BA31F}"/>
                </a:ext>
              </a:extLst>
            </p:cNvPr>
            <p:cNvSpPr/>
            <p:nvPr/>
          </p:nvSpPr>
          <p:spPr>
            <a:xfrm>
              <a:off x="2113788" y="3656785"/>
              <a:ext cx="7964424" cy="252456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5543D2-7C9C-68C0-59FF-4B5791E82AF8}"/>
                </a:ext>
              </a:extLst>
            </p:cNvPr>
            <p:cNvCxnSpPr>
              <a:cxnSpLocks/>
            </p:cNvCxnSpPr>
            <p:nvPr/>
          </p:nvCxnSpPr>
          <p:spPr>
            <a:xfrm>
              <a:off x="2360676" y="4681728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AFC1F29-19F4-6FB9-C251-6105818BBE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2732" y="4681728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D0A2DE-312D-92F7-37CA-17501D99CF29}"/>
                </a:ext>
              </a:extLst>
            </p:cNvPr>
            <p:cNvCxnSpPr>
              <a:cxnSpLocks/>
            </p:cNvCxnSpPr>
            <p:nvPr/>
          </p:nvCxnSpPr>
          <p:spPr>
            <a:xfrm>
              <a:off x="6280404" y="4681728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C4638BF-F6E0-33D3-F663-57B921C00AFA}"/>
                </a:ext>
              </a:extLst>
            </p:cNvPr>
            <p:cNvCxnSpPr>
              <a:cxnSpLocks/>
            </p:cNvCxnSpPr>
            <p:nvPr/>
          </p:nvCxnSpPr>
          <p:spPr>
            <a:xfrm>
              <a:off x="8453628" y="4687824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D77B99-AA5C-A400-7849-B5420444F07C}"/>
                </a:ext>
              </a:extLst>
            </p:cNvPr>
            <p:cNvCxnSpPr>
              <a:cxnSpLocks/>
            </p:cNvCxnSpPr>
            <p:nvPr/>
          </p:nvCxnSpPr>
          <p:spPr>
            <a:xfrm>
              <a:off x="9291828" y="46817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2A9FE7E-9835-0970-8594-B939081C628B}"/>
                </a:ext>
              </a:extLst>
            </p:cNvPr>
            <p:cNvSpPr/>
            <p:nvPr/>
          </p:nvSpPr>
          <p:spPr>
            <a:xfrm>
              <a:off x="3787140" y="4270248"/>
              <a:ext cx="6205728" cy="734455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806E218-0EC2-ABE5-ED7E-E4E13497F329}"/>
                    </a:ext>
                  </a:extLst>
                </p:cNvPr>
                <p:cNvSpPr txBox="1"/>
                <p:nvPr/>
              </p:nvSpPr>
              <p:spPr>
                <a:xfrm>
                  <a:off x="2834387" y="4279392"/>
                  <a:ext cx="4790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806E218-0EC2-ABE5-ED7E-E4E13497F3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387" y="4279392"/>
                  <a:ext cx="47904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7B4E38-AEE7-2721-30B6-86D4F0918801}"/>
                    </a:ext>
                  </a:extLst>
                </p:cNvPr>
                <p:cNvSpPr txBox="1"/>
                <p:nvPr/>
              </p:nvSpPr>
              <p:spPr>
                <a:xfrm>
                  <a:off x="4574795" y="4268143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7B4E38-AEE7-2721-30B6-86D4F0918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795" y="4268143"/>
                  <a:ext cx="48436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ECADFE5-2E0E-D5E4-C651-6565236F9B1C}"/>
                    </a:ext>
                  </a:extLst>
                </p:cNvPr>
                <p:cNvSpPr txBox="1"/>
                <p:nvPr/>
              </p:nvSpPr>
              <p:spPr>
                <a:xfrm>
                  <a:off x="6961379" y="4248388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ECADFE5-2E0E-D5E4-C651-6565236F9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1379" y="4248388"/>
                  <a:ext cx="48436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718F364-0E2C-64B7-3085-C7D24BF03B24}"/>
                    </a:ext>
                  </a:extLst>
                </p:cNvPr>
                <p:cNvSpPr txBox="1"/>
                <p:nvPr/>
              </p:nvSpPr>
              <p:spPr>
                <a:xfrm>
                  <a:off x="9364727" y="4248388"/>
                  <a:ext cx="4984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718F364-0E2C-64B7-3085-C7D24BF03B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4727" y="4248388"/>
                  <a:ext cx="4984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C35526-5733-03E2-7C5A-BBC739407DC3}"/>
                    </a:ext>
                  </a:extLst>
                </p:cNvPr>
                <p:cNvSpPr txBox="1"/>
                <p:nvPr/>
              </p:nvSpPr>
              <p:spPr>
                <a:xfrm>
                  <a:off x="4532376" y="3656785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C35526-5733-03E2-7C5A-BBC739407D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2376" y="3656785"/>
                  <a:ext cx="45256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4B74FE5-8D45-92E6-DB50-39B3C53B295C}"/>
                    </a:ext>
                  </a:extLst>
                </p:cNvPr>
                <p:cNvSpPr txBox="1"/>
                <p:nvPr/>
              </p:nvSpPr>
              <p:spPr>
                <a:xfrm>
                  <a:off x="7253341" y="3656785"/>
                  <a:ext cx="4517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4B74FE5-8D45-92E6-DB50-39B3C53B2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3341" y="3656785"/>
                  <a:ext cx="451790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Elbow Connector 27">
              <a:extLst>
                <a:ext uri="{FF2B5EF4-FFF2-40B4-BE49-F238E27FC236}">
                  <a16:creationId xmlns:a16="http://schemas.microsoft.com/office/drawing/2014/main" id="{8C5F7351-D99C-882C-B9C4-6CCBBDD18CD9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rot="10800000" flipV="1">
              <a:off x="2398882" y="3841450"/>
              <a:ext cx="2133494" cy="712261"/>
            </a:xfrm>
            <a:prstGeom prst="bentConnector3">
              <a:avLst>
                <a:gd name="adj1" fmla="val 100145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>
              <a:extLst>
                <a:ext uri="{FF2B5EF4-FFF2-40B4-BE49-F238E27FC236}">
                  <a16:creationId xmlns:a16="http://schemas.microsoft.com/office/drawing/2014/main" id="{19CA1F12-B6FD-EC23-C039-F139C9617361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>
              <a:off x="7705131" y="3841451"/>
              <a:ext cx="2114001" cy="712261"/>
            </a:xfrm>
            <a:prstGeom prst="bentConnector3">
              <a:avLst>
                <a:gd name="adj1" fmla="val 100175"/>
              </a:avLst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53281AF-517C-BC7E-1153-1538AAE3F2D3}"/>
                    </a:ext>
                  </a:extLst>
                </p:cNvPr>
                <p:cNvSpPr txBox="1"/>
                <p:nvPr/>
              </p:nvSpPr>
              <p:spPr>
                <a:xfrm>
                  <a:off x="5139340" y="5201635"/>
                  <a:ext cx="4414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53281AF-517C-BC7E-1153-1538AAE3F2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340" y="5201635"/>
                  <a:ext cx="44140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879BC633-DFF3-D948-8171-5A8522A83B83}"/>
                </a:ext>
              </a:extLst>
            </p:cNvPr>
            <p:cNvCxnSpPr>
              <a:cxnSpLocks/>
              <a:stCxn id="38" idx="1"/>
            </p:cNvCxnSpPr>
            <p:nvPr/>
          </p:nvCxnSpPr>
          <p:spPr>
            <a:xfrm rot="10800000">
              <a:off x="3787140" y="5093209"/>
              <a:ext cx="1352200" cy="293092"/>
            </a:xfrm>
            <a:prstGeom prst="bentConnector3">
              <a:avLst>
                <a:gd name="adj1" fmla="val 100041"/>
              </a:avLst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A8130C6-F4BB-DF22-2996-4BD4BF332224}"/>
                </a:ext>
              </a:extLst>
            </p:cNvPr>
            <p:cNvCxnSpPr>
              <a:cxnSpLocks/>
            </p:cNvCxnSpPr>
            <p:nvPr/>
          </p:nvCxnSpPr>
          <p:spPr>
            <a:xfrm>
              <a:off x="3369564" y="4907280"/>
              <a:ext cx="726948" cy="0"/>
            </a:xfrm>
            <a:prstGeom prst="line">
              <a:avLst/>
            </a:prstGeom>
            <a:ln cap="rnd">
              <a:solidFill>
                <a:schemeClr val="bg1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7A56CFC-8D21-417C-B5B7-946302B54329}"/>
                </a:ext>
              </a:extLst>
            </p:cNvPr>
            <p:cNvSpPr txBox="1"/>
            <p:nvPr/>
          </p:nvSpPr>
          <p:spPr>
            <a:xfrm>
              <a:off x="2196083" y="5779008"/>
              <a:ext cx="58049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Notice that intervals that cross this gap are NOT considered by the subproblem.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5C9918A4-56B5-E885-1A13-12B6227A90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4387" y="5004703"/>
              <a:ext cx="479042" cy="774305"/>
            </a:xfrm>
            <a:prstGeom prst="straightConnector1">
              <a:avLst/>
            </a:prstGeom>
            <a:ln>
              <a:solidFill>
                <a:schemeClr val="bg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8282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1141413" y="423445"/>
            <a:ext cx="9905998" cy="643354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Greedy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941" y="1751139"/>
            <a:ext cx="9316942" cy="23499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ActivitySelect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Activities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Select some first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to schedule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Eliminate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activities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incompatible selected one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Repeat until no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left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96C2381-B25A-F9CB-341D-2AAE21C4B8A1}"/>
              </a:ext>
            </a:extLst>
          </p:cNvPr>
          <p:cNvSpPr txBox="1">
            <a:spLocks/>
          </p:cNvSpPr>
          <p:nvPr/>
        </p:nvSpPr>
        <p:spPr>
          <a:xfrm>
            <a:off x="5579174" y="4767136"/>
            <a:ext cx="5335587" cy="1271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None/>
            </a:pPr>
            <a:r>
              <a:rPr lang="en-US" sz="2800" b="1" i="1" u="sng" dirty="0">
                <a:ea typeface="ＭＳ Ｐゴシック" charset="0"/>
                <a:cs typeface="ＭＳ Ｐゴシック" charset="0"/>
              </a:rPr>
              <a:t>Hard Part</a:t>
            </a:r>
            <a:r>
              <a:rPr lang="en-US" sz="2800" b="1" dirty="0">
                <a:ea typeface="ＭＳ Ｐゴシック" charset="0"/>
                <a:cs typeface="ＭＳ Ｐゴシック" charset="0"/>
              </a:rPr>
              <a:t>: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What is a good greedy</a:t>
            </a:r>
          </a:p>
          <a:p>
            <a:pPr marL="514350" indent="-514350">
              <a:buFont typeface="Arial" panose="020B0604020202020204" pitchFamily="34" charset="0"/>
              <a:buNone/>
            </a:pPr>
            <a:r>
              <a:rPr lang="en-US" sz="2800" i="1" dirty="0">
                <a:ea typeface="ＭＳ Ｐゴシック" charset="0"/>
                <a:cs typeface="ＭＳ Ｐゴシック" charset="0"/>
              </a:rPr>
              <a:t>choice for selecting next item?</a:t>
            </a:r>
          </a:p>
          <a:p>
            <a:pPr marL="514350" indent="-514350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98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>
          <a:xfrm>
            <a:off x="1143001" y="341149"/>
            <a:ext cx="9905998" cy="725650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Some Possible Greedy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903CD-4AD8-D7D5-6A5C-970798B89E26}"/>
              </a:ext>
            </a:extLst>
          </p:cNvPr>
          <p:cNvSpPr txBox="1">
            <a:spLocks/>
          </p:cNvSpPr>
          <p:nvPr/>
        </p:nvSpPr>
        <p:spPr>
          <a:xfrm>
            <a:off x="1143001" y="1749583"/>
            <a:ext cx="4092003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starts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62D3E1-FF42-8C07-D2F1-532254E97592}"/>
              </a:ext>
            </a:extLst>
          </p:cNvPr>
          <p:cNvSpPr txBox="1">
            <a:spLocks/>
          </p:cNvSpPr>
          <p:nvPr/>
        </p:nvSpPr>
        <p:spPr>
          <a:xfrm>
            <a:off x="1264064" y="3346704"/>
            <a:ext cx="2455227" cy="12402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</a:t>
            </a:r>
            <a:r>
              <a:rPr lang="en-US" dirty="0">
                <a:solidFill>
                  <a:schemeClr val="accent3"/>
                </a:solidFill>
                <a:ea typeface="ＭＳ Ｐゴシック" charset="0"/>
                <a:cs typeface="ＭＳ Ｐゴシック" charset="0"/>
              </a:rPr>
              <a:t>shortest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 activity activity first.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19DE6E-3B05-6540-7ED0-10371F74FB34}"/>
              </a:ext>
            </a:extLst>
          </p:cNvPr>
          <p:cNvSpPr txBox="1">
            <a:spLocks/>
          </p:cNvSpPr>
          <p:nvPr/>
        </p:nvSpPr>
        <p:spPr>
          <a:xfrm>
            <a:off x="5978590" y="1554480"/>
            <a:ext cx="3833780" cy="11507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activity that has the </a:t>
            </a:r>
            <a:r>
              <a:rPr lang="en-US" dirty="0">
                <a:solidFill>
                  <a:schemeClr val="accent5"/>
                </a:solidFill>
                <a:ea typeface="ＭＳ Ｐゴシック" charset="0"/>
                <a:cs typeface="ＭＳ Ｐゴシック" charset="0"/>
              </a:rPr>
              <a:t>least conflicts 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(i.e. overlaps).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3E46439-D613-4055-4705-F4AD29E36592}"/>
              </a:ext>
            </a:extLst>
          </p:cNvPr>
          <p:cNvSpPr txBox="1">
            <a:spLocks/>
          </p:cNvSpPr>
          <p:nvPr/>
        </p:nvSpPr>
        <p:spPr>
          <a:xfrm>
            <a:off x="8362220" y="3374136"/>
            <a:ext cx="3282631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latest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53AF74-FE31-35C8-15DC-5A5994E71F01}"/>
              </a:ext>
            </a:extLst>
          </p:cNvPr>
          <p:cNvSpPr txBox="1">
            <a:spLocks/>
          </p:cNvSpPr>
          <p:nvPr/>
        </p:nvSpPr>
        <p:spPr>
          <a:xfrm>
            <a:off x="2491678" y="4897847"/>
            <a:ext cx="3833780" cy="11507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activity that has the </a:t>
            </a:r>
            <a:r>
              <a:rPr lang="en-US" dirty="0">
                <a:solidFill>
                  <a:schemeClr val="accent5"/>
                </a:solidFill>
                <a:ea typeface="ＭＳ Ｐゴシック" charset="0"/>
                <a:cs typeface="ＭＳ Ｐゴシック" charset="0"/>
              </a:rPr>
              <a:t>MOST conflicts 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(i.e. overlaps)?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7C5DA0-D0D5-5360-99A3-ECDD92C2168F}"/>
              </a:ext>
            </a:extLst>
          </p:cNvPr>
          <p:cNvSpPr txBox="1">
            <a:spLocks/>
          </p:cNvSpPr>
          <p:nvPr/>
        </p:nvSpPr>
        <p:spPr>
          <a:xfrm>
            <a:off x="7101109" y="5214869"/>
            <a:ext cx="2902427" cy="60071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Or something else…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FEB0785-85B0-580D-A958-BC493206D84F}"/>
              </a:ext>
            </a:extLst>
          </p:cNvPr>
          <p:cNvSpPr txBox="1">
            <a:spLocks/>
          </p:cNvSpPr>
          <p:nvPr/>
        </p:nvSpPr>
        <p:spPr>
          <a:xfrm>
            <a:off x="4718369" y="3107550"/>
            <a:ext cx="3364928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275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C24EF6-675F-F924-5338-8060CB061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8552" y="1799913"/>
            <a:ext cx="2829525" cy="5485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/>
              <a:t>Shortest interval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CADCF0-6043-A19C-1EF7-0340ECC6F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41149"/>
            <a:ext cx="9905998" cy="725650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Some Possible Greedy Choices</a:t>
            </a:r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E556ECAA-4365-4A86-6D72-0550139E156F}"/>
              </a:ext>
            </a:extLst>
          </p:cNvPr>
          <p:cNvSpPr txBox="1">
            <a:spLocks/>
          </p:cNvSpPr>
          <p:nvPr/>
        </p:nvSpPr>
        <p:spPr>
          <a:xfrm>
            <a:off x="1823220" y="5651932"/>
            <a:ext cx="2455878" cy="54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Earliest start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81185D75-F621-37D1-BCE7-9EE3A3354FDA}"/>
              </a:ext>
            </a:extLst>
          </p:cNvPr>
          <p:cNvSpPr txBox="1">
            <a:spLocks/>
          </p:cNvSpPr>
          <p:nvPr/>
        </p:nvSpPr>
        <p:spPr>
          <a:xfrm>
            <a:off x="1420183" y="3785793"/>
            <a:ext cx="2455879" cy="54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Fewest conflicts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DF30F2-94DE-7D28-F9DD-D9600C137F2B}"/>
              </a:ext>
            </a:extLst>
          </p:cNvPr>
          <p:cNvGrpSpPr/>
          <p:nvPr/>
        </p:nvGrpSpPr>
        <p:grpSpPr>
          <a:xfrm>
            <a:off x="4676553" y="1480905"/>
            <a:ext cx="5188435" cy="1186543"/>
            <a:chOff x="5105400" y="1643743"/>
            <a:chExt cx="5188435" cy="118654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953E91D-8501-E43E-2771-9D5ADD71229C}"/>
                </a:ext>
              </a:extLst>
            </p:cNvPr>
            <p:cNvSpPr/>
            <p:nvPr/>
          </p:nvSpPr>
          <p:spPr>
            <a:xfrm>
              <a:off x="5105400" y="1643743"/>
              <a:ext cx="5188435" cy="118654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11A03D-48B2-3E2D-78E0-FF413830557C}"/>
                </a:ext>
              </a:extLst>
            </p:cNvPr>
            <p:cNvCxnSpPr/>
            <p:nvPr/>
          </p:nvCxnSpPr>
          <p:spPr>
            <a:xfrm>
              <a:off x="5462856" y="2432652"/>
              <a:ext cx="2020186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DBEEEB2-200D-36F4-9FAC-C0DECB739CD9}"/>
                </a:ext>
              </a:extLst>
            </p:cNvPr>
            <p:cNvCxnSpPr/>
            <p:nvPr/>
          </p:nvCxnSpPr>
          <p:spPr>
            <a:xfrm>
              <a:off x="7901256" y="2432652"/>
              <a:ext cx="2020186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8A7672E-D144-AC8B-CCBA-0267EBFAAA04}"/>
                </a:ext>
              </a:extLst>
            </p:cNvPr>
            <p:cNvCxnSpPr>
              <a:cxnSpLocks/>
            </p:cNvCxnSpPr>
            <p:nvPr/>
          </p:nvCxnSpPr>
          <p:spPr>
            <a:xfrm>
              <a:off x="7150141" y="2051652"/>
              <a:ext cx="1090345" cy="0"/>
            </a:xfrm>
            <a:prstGeom prst="line">
              <a:avLst/>
            </a:prstGeom>
            <a:ln w="34925" cap="rnd">
              <a:solidFill>
                <a:schemeClr val="accent4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63BBCB0-F100-0808-35B4-8E096B9ACD18}"/>
              </a:ext>
            </a:extLst>
          </p:cNvPr>
          <p:cNvGrpSpPr/>
          <p:nvPr/>
        </p:nvGrpSpPr>
        <p:grpSpPr>
          <a:xfrm>
            <a:off x="3749509" y="3273419"/>
            <a:ext cx="7122771" cy="1613955"/>
            <a:chOff x="4655572" y="3088669"/>
            <a:chExt cx="7122771" cy="161395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357461E-8C61-BA1F-03C6-401F69C51E37}"/>
                </a:ext>
              </a:extLst>
            </p:cNvPr>
            <p:cNvCxnSpPr>
              <a:cxnSpLocks/>
            </p:cNvCxnSpPr>
            <p:nvPr/>
          </p:nvCxnSpPr>
          <p:spPr>
            <a:xfrm>
              <a:off x="4820599" y="4348538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77F786D-B5BE-CBA9-9D7F-346DF3B9AA60}"/>
                </a:ext>
              </a:extLst>
            </p:cNvPr>
            <p:cNvCxnSpPr>
              <a:cxnSpLocks/>
            </p:cNvCxnSpPr>
            <p:nvPr/>
          </p:nvCxnSpPr>
          <p:spPr>
            <a:xfrm>
              <a:off x="6604968" y="4348538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959EA0-8D4B-31CF-E117-71F44A3E7DCD}"/>
                </a:ext>
              </a:extLst>
            </p:cNvPr>
            <p:cNvCxnSpPr>
              <a:cxnSpLocks/>
            </p:cNvCxnSpPr>
            <p:nvPr/>
          </p:nvCxnSpPr>
          <p:spPr>
            <a:xfrm>
              <a:off x="8382758" y="4342790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281C72-BACE-A234-C451-CB783AFD128B}"/>
                </a:ext>
              </a:extLst>
            </p:cNvPr>
            <p:cNvCxnSpPr>
              <a:cxnSpLocks/>
            </p:cNvCxnSpPr>
            <p:nvPr/>
          </p:nvCxnSpPr>
          <p:spPr>
            <a:xfrm>
              <a:off x="10089285" y="4342790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601297D-B012-46BC-712E-582AD890CE49}"/>
                </a:ext>
              </a:extLst>
            </p:cNvPr>
            <p:cNvCxnSpPr>
              <a:cxnSpLocks/>
            </p:cNvCxnSpPr>
            <p:nvPr/>
          </p:nvCxnSpPr>
          <p:spPr>
            <a:xfrm>
              <a:off x="5655634" y="4011080"/>
              <a:ext cx="1482230" cy="0"/>
            </a:xfrm>
            <a:prstGeom prst="line">
              <a:avLst/>
            </a:prstGeom>
            <a:ln w="34925" cap="rnd">
              <a:solidFill>
                <a:schemeClr val="accent4">
                  <a:lumMod val="40000"/>
                  <a:lumOff val="6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E4F34C5-D57A-DA4F-7EB2-08AFC33C7481}"/>
                </a:ext>
              </a:extLst>
            </p:cNvPr>
            <p:cNvCxnSpPr>
              <a:cxnSpLocks/>
            </p:cNvCxnSpPr>
            <p:nvPr/>
          </p:nvCxnSpPr>
          <p:spPr>
            <a:xfrm>
              <a:off x="7493547" y="4016217"/>
              <a:ext cx="1482230" cy="0"/>
            </a:xfrm>
            <a:prstGeom prst="line">
              <a:avLst/>
            </a:prstGeom>
            <a:ln w="34925" cap="rnd">
              <a:solidFill>
                <a:schemeClr val="accent4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B7CDBA4-9A39-F687-796C-4D786DDE880C}"/>
                </a:ext>
              </a:extLst>
            </p:cNvPr>
            <p:cNvCxnSpPr>
              <a:cxnSpLocks/>
            </p:cNvCxnSpPr>
            <p:nvPr/>
          </p:nvCxnSpPr>
          <p:spPr>
            <a:xfrm>
              <a:off x="9271970" y="4011080"/>
              <a:ext cx="1482230" cy="0"/>
            </a:xfrm>
            <a:prstGeom prst="line">
              <a:avLst/>
            </a:prstGeom>
            <a:ln w="34925" cap="rnd">
              <a:solidFill>
                <a:schemeClr val="accent4">
                  <a:lumMod val="40000"/>
                  <a:lumOff val="6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C3DFD1D-8FA1-DF13-4A54-9203D1E2923C}"/>
                </a:ext>
              </a:extLst>
            </p:cNvPr>
            <p:cNvCxnSpPr>
              <a:cxnSpLocks/>
            </p:cNvCxnSpPr>
            <p:nvPr/>
          </p:nvCxnSpPr>
          <p:spPr>
            <a:xfrm>
              <a:off x="5657025" y="3662737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D8E5B32-C9DD-146C-0026-82436FDB0B36}"/>
                </a:ext>
              </a:extLst>
            </p:cNvPr>
            <p:cNvCxnSpPr>
              <a:cxnSpLocks/>
            </p:cNvCxnSpPr>
            <p:nvPr/>
          </p:nvCxnSpPr>
          <p:spPr>
            <a:xfrm>
              <a:off x="5655634" y="3336165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119F27-B0F6-19E3-BDB8-091EAA56A620}"/>
                </a:ext>
              </a:extLst>
            </p:cNvPr>
            <p:cNvCxnSpPr>
              <a:cxnSpLocks/>
            </p:cNvCxnSpPr>
            <p:nvPr/>
          </p:nvCxnSpPr>
          <p:spPr>
            <a:xfrm>
              <a:off x="9262728" y="3662737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7AA6774-E16F-4952-2767-F5D9CB32E8DC}"/>
                </a:ext>
              </a:extLst>
            </p:cNvPr>
            <p:cNvCxnSpPr>
              <a:cxnSpLocks/>
            </p:cNvCxnSpPr>
            <p:nvPr/>
          </p:nvCxnSpPr>
          <p:spPr>
            <a:xfrm>
              <a:off x="9261337" y="3336165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4575E57-1C98-8FFB-A807-9811CDC246D1}"/>
                </a:ext>
              </a:extLst>
            </p:cNvPr>
            <p:cNvSpPr/>
            <p:nvPr/>
          </p:nvSpPr>
          <p:spPr>
            <a:xfrm>
              <a:off x="4655572" y="3088669"/>
              <a:ext cx="7122771" cy="1613955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6359A32-6A87-ECCE-2078-20EE1C82D3CA}"/>
              </a:ext>
            </a:extLst>
          </p:cNvPr>
          <p:cNvGrpSpPr/>
          <p:nvPr/>
        </p:nvGrpSpPr>
        <p:grpSpPr>
          <a:xfrm>
            <a:off x="3999882" y="5534166"/>
            <a:ext cx="6687342" cy="905773"/>
            <a:chOff x="4448745" y="5410200"/>
            <a:chExt cx="6687342" cy="905773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69E3261-2F0E-7FB6-7F1A-669FF3D2C870}"/>
                </a:ext>
              </a:extLst>
            </p:cNvPr>
            <p:cNvCxnSpPr>
              <a:cxnSpLocks/>
            </p:cNvCxnSpPr>
            <p:nvPr/>
          </p:nvCxnSpPr>
          <p:spPr>
            <a:xfrm>
              <a:off x="4592031" y="6079367"/>
              <a:ext cx="6348112" cy="0"/>
            </a:xfrm>
            <a:prstGeom prst="line">
              <a:avLst/>
            </a:prstGeom>
            <a:ln w="34925" cap="rnd">
              <a:solidFill>
                <a:schemeClr val="accent4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39B9425-5A0E-778D-E6F4-FA577C142BA9}"/>
                </a:ext>
              </a:extLst>
            </p:cNvPr>
            <p:cNvCxnSpPr>
              <a:cxnSpLocks/>
            </p:cNvCxnSpPr>
            <p:nvPr/>
          </p:nvCxnSpPr>
          <p:spPr>
            <a:xfrm>
              <a:off x="5005656" y="5730251"/>
              <a:ext cx="1467293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BE0C831-821C-67D7-8FBF-31BA8F45F816}"/>
                </a:ext>
              </a:extLst>
            </p:cNvPr>
            <p:cNvCxnSpPr>
              <a:cxnSpLocks/>
            </p:cNvCxnSpPr>
            <p:nvPr/>
          </p:nvCxnSpPr>
          <p:spPr>
            <a:xfrm>
              <a:off x="6961666" y="5730251"/>
              <a:ext cx="1467293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EB8851E-A770-A8B6-1750-2386C3872586}"/>
                </a:ext>
              </a:extLst>
            </p:cNvPr>
            <p:cNvCxnSpPr>
              <a:cxnSpLocks/>
            </p:cNvCxnSpPr>
            <p:nvPr/>
          </p:nvCxnSpPr>
          <p:spPr>
            <a:xfrm>
              <a:off x="8826542" y="5734616"/>
              <a:ext cx="1467293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0B1DD52-A712-7989-9F28-472CE9F632D4}"/>
                </a:ext>
              </a:extLst>
            </p:cNvPr>
            <p:cNvSpPr/>
            <p:nvPr/>
          </p:nvSpPr>
          <p:spPr>
            <a:xfrm>
              <a:off x="4448745" y="5410200"/>
              <a:ext cx="6687342" cy="90577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190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253394"/>
            <a:ext cx="9905998" cy="692757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Example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3D5526-588C-2AF5-B4CF-6615F1079896}"/>
              </a:ext>
            </a:extLst>
          </p:cNvPr>
          <p:cNvGrpSpPr/>
          <p:nvPr/>
        </p:nvGrpSpPr>
        <p:grpSpPr>
          <a:xfrm>
            <a:off x="3009900" y="3355213"/>
            <a:ext cx="6172200" cy="1682496"/>
            <a:chOff x="3063240" y="3246121"/>
            <a:chExt cx="6172200" cy="168249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EDD4E-7C52-657F-783A-F0E34FD0BBF9}"/>
                </a:ext>
              </a:extLst>
            </p:cNvPr>
            <p:cNvSpPr/>
            <p:nvPr/>
          </p:nvSpPr>
          <p:spPr>
            <a:xfrm>
              <a:off x="3063240" y="3246121"/>
              <a:ext cx="6172200" cy="16824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06" name="Line 5"/>
            <p:cNvSpPr>
              <a:spLocks noChangeShapeType="1"/>
            </p:cNvSpPr>
            <p:nvPr/>
          </p:nvSpPr>
          <p:spPr bwMode="auto">
            <a:xfrm>
              <a:off x="3346704" y="4564379"/>
              <a:ext cx="8382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7" name="Line 6"/>
            <p:cNvSpPr>
              <a:spLocks noChangeShapeType="1"/>
            </p:cNvSpPr>
            <p:nvPr/>
          </p:nvSpPr>
          <p:spPr bwMode="auto">
            <a:xfrm>
              <a:off x="4413504" y="4259579"/>
              <a:ext cx="4572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8" name="Line 7"/>
            <p:cNvSpPr>
              <a:spLocks noChangeShapeType="1"/>
            </p:cNvSpPr>
            <p:nvPr/>
          </p:nvSpPr>
          <p:spPr bwMode="auto">
            <a:xfrm>
              <a:off x="3575304" y="3649979"/>
              <a:ext cx="17526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9" name="Line 8"/>
            <p:cNvSpPr>
              <a:spLocks noChangeShapeType="1"/>
            </p:cNvSpPr>
            <p:nvPr/>
          </p:nvSpPr>
          <p:spPr bwMode="auto">
            <a:xfrm>
              <a:off x="5327904" y="4564379"/>
              <a:ext cx="26670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10" name="Line 9"/>
            <p:cNvSpPr>
              <a:spLocks noChangeShapeType="1"/>
            </p:cNvSpPr>
            <p:nvPr/>
          </p:nvSpPr>
          <p:spPr bwMode="auto">
            <a:xfrm>
              <a:off x="3880104" y="3954779"/>
              <a:ext cx="28194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11" name="Line 10"/>
            <p:cNvSpPr>
              <a:spLocks noChangeShapeType="1"/>
            </p:cNvSpPr>
            <p:nvPr/>
          </p:nvSpPr>
          <p:spPr bwMode="auto">
            <a:xfrm>
              <a:off x="7309104" y="3954779"/>
              <a:ext cx="16764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0" name="Text Box 13"/>
            <p:cNvSpPr txBox="1">
              <a:spLocks noChangeArrowheads="1"/>
            </p:cNvSpPr>
            <p:nvPr/>
          </p:nvSpPr>
          <p:spPr bwMode="auto">
            <a:xfrm>
              <a:off x="3575304" y="420954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1</a:t>
              </a:r>
            </a:p>
          </p:txBody>
        </p:sp>
        <p:sp>
          <p:nvSpPr>
            <p:cNvPr id="33801" name="Text Box 14"/>
            <p:cNvSpPr txBox="1">
              <a:spLocks noChangeArrowheads="1"/>
            </p:cNvSpPr>
            <p:nvPr/>
          </p:nvSpPr>
          <p:spPr bwMode="auto">
            <a:xfrm>
              <a:off x="4489704" y="39364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2</a:t>
              </a:r>
            </a:p>
          </p:txBody>
        </p:sp>
        <p:sp>
          <p:nvSpPr>
            <p:cNvPr id="33802" name="Text Box 15"/>
            <p:cNvSpPr txBox="1">
              <a:spLocks noChangeArrowheads="1"/>
            </p:cNvSpPr>
            <p:nvPr/>
          </p:nvSpPr>
          <p:spPr bwMode="auto">
            <a:xfrm>
              <a:off x="4229354" y="33268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dirty="0">
                  <a:solidFill>
                    <a:schemeClr val="accent3"/>
                  </a:solidFill>
                  <a:latin typeface="Courier New" charset="0"/>
                </a:rPr>
                <a:t>3</a:t>
              </a:r>
            </a:p>
          </p:txBody>
        </p:sp>
        <p:sp>
          <p:nvSpPr>
            <p:cNvPr id="33803" name="Text Box 16"/>
            <p:cNvSpPr txBox="1">
              <a:spLocks noChangeArrowheads="1"/>
            </p:cNvSpPr>
            <p:nvPr/>
          </p:nvSpPr>
          <p:spPr bwMode="auto">
            <a:xfrm>
              <a:off x="5023104" y="36316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4</a:t>
              </a:r>
            </a:p>
          </p:txBody>
        </p:sp>
        <p:sp>
          <p:nvSpPr>
            <p:cNvPr id="33804" name="Text Box 17"/>
            <p:cNvSpPr txBox="1">
              <a:spLocks noChangeArrowheads="1"/>
            </p:cNvSpPr>
            <p:nvPr/>
          </p:nvSpPr>
          <p:spPr bwMode="auto">
            <a:xfrm>
              <a:off x="6515354" y="4225416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5</a:t>
              </a:r>
            </a:p>
          </p:txBody>
        </p:sp>
        <p:sp>
          <p:nvSpPr>
            <p:cNvPr id="33805" name="Text Box 18"/>
            <p:cNvSpPr txBox="1">
              <a:spLocks noChangeArrowheads="1"/>
            </p:cNvSpPr>
            <p:nvPr/>
          </p:nvSpPr>
          <p:spPr bwMode="auto">
            <a:xfrm>
              <a:off x="7994904" y="36316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2529759-BE3A-D3C9-7147-FC96B462E3CB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70897" y="1204596"/>
                <a:ext cx="8250206" cy="14752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Activity Selection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: Given a list of activities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A</m:t>
                    </m:r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n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where each activity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is defined by a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start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and </a:t>
                </a:r>
                <a:r>
                  <a:rPr lang="en-US" dirty="0">
                    <a:solidFill>
                      <a:schemeClr val="accent4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finish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. Select the maximum number of activities that can be fit into one schedule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2529759-BE3A-D3C9-7147-FC96B462E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897" y="1204596"/>
                <a:ext cx="8250206" cy="1475232"/>
              </a:xfrm>
              <a:prstGeom prst="rect">
                <a:avLst/>
              </a:prstGeom>
              <a:blipFill>
                <a:blip r:embed="rId2"/>
                <a:stretch>
                  <a:fillRect l="-767" t="-2542" b="-50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BDFBEFF-0739-0A63-3C73-35423D856E9C}"/>
              </a:ext>
            </a:extLst>
          </p:cNvPr>
          <p:cNvSpPr txBox="1"/>
          <p:nvPr/>
        </p:nvSpPr>
        <p:spPr>
          <a:xfrm>
            <a:off x="8093964" y="6035040"/>
            <a:ext cx="2820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optimal solution?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DE48597-385E-2A18-FF14-3A859026100B}"/>
              </a:ext>
            </a:extLst>
          </p:cNvPr>
          <p:cNvCxnSpPr/>
          <p:nvPr/>
        </p:nvCxnSpPr>
        <p:spPr>
          <a:xfrm>
            <a:off x="8439912" y="5276088"/>
            <a:ext cx="492252" cy="685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522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444782"/>
            <a:ext cx="9905998" cy="111884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Activity Selection: A Greedy Algorithm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C8DE4B-3A50-8E06-DBE4-CFF0BA65210A}"/>
              </a:ext>
            </a:extLst>
          </p:cNvPr>
          <p:cNvSpPr txBox="1">
            <a:spLocks/>
          </p:cNvSpPr>
          <p:nvPr/>
        </p:nvSpPr>
        <p:spPr>
          <a:xfrm>
            <a:off x="4037092" y="2659494"/>
            <a:ext cx="4117816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AAF49-B0C9-3FBC-CA65-F8672EDEBA40}"/>
              </a:ext>
            </a:extLst>
          </p:cNvPr>
          <p:cNvSpPr txBox="1"/>
          <p:nvPr/>
        </p:nvSpPr>
        <p:spPr>
          <a:xfrm>
            <a:off x="2313432" y="4773168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Turns out this one is correct. Intuition: This one maximizes the size of the subproblem!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2E0BC-43A6-69AC-6A8F-6AB344CA2613}"/>
              </a:ext>
            </a:extLst>
          </p:cNvPr>
          <p:cNvCxnSpPr/>
          <p:nvPr/>
        </p:nvCxnSpPr>
        <p:spPr>
          <a:xfrm flipV="1">
            <a:off x="5074920" y="3931920"/>
            <a:ext cx="338328" cy="7315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94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25546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Back to Semester at Sea…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1981200" y="5885688"/>
            <a:ext cx="2737104" cy="461665"/>
          </a:xfrm>
          <a:prstGeom prst="rect">
            <a:avLst/>
          </a:prstGeom>
          <a:noFill/>
          <a:ln w="9525">
            <a:solidFill>
              <a:schemeClr val="tx1">
                <a:lumMod val="95000"/>
              </a:schemeClr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400" dirty="0"/>
              <a:t>Solution:  2, 6, 9, 11</a:t>
            </a:r>
          </a:p>
        </p:txBody>
      </p:sp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846F9407-C42A-B522-DE40-6A5D698843D4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463999190"/>
              </p:ext>
            </p:extLst>
          </p:nvPr>
        </p:nvGraphicFramePr>
        <p:xfrm>
          <a:off x="1981200" y="1200150"/>
          <a:ext cx="8229600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8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1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</a:rPr>
                        <a:t>Start</a:t>
                      </a:r>
                      <a:endParaRPr lang="en-US" sz="2400" b="1" i="0" u="none" strike="noStrike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Finish</a:t>
                      </a:r>
                      <a:endParaRPr lang="en-US" sz="2400" b="1" i="0" u="none" strike="noStrike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Len</a:t>
                      </a:r>
                      <a:endParaRPr lang="en-US" sz="2400" b="1" i="0" u="none" strike="noStrike" dirty="0">
                        <a:solidFill>
                          <a:schemeClr val="tx1">
                            <a:lumMod val="95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32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8F2780-8AB4-126F-324C-94D1991D7D14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/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39708076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626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87E94-4EB4-9253-DBA9-73993CD8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28D50C-D279-C0DD-0AE3-112B1F5D0CCC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5CED6EEE-1CE7-9AC8-F44A-403CF88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C42017A-F2CE-0AE4-214D-818A7A70CCB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50802723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793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EBFD-67B3-351D-F0D5-75505EFF9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989EE4-49B4-D672-3462-7EC27B6337CA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EAEED8F9-B25E-BA26-D050-D3CE524C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C582532-250C-EF34-146E-A54F6581461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252326182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2249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2CAA-91A8-8E0A-A219-803B5FD9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DE2821-4403-30C1-78C1-FFFC4A5F4B1F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3FDFF6B3-0663-8337-B81C-EFE42536A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485502C-7957-155D-C0A0-839F1E200AB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968276912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F9043-3287-BA8B-268D-76CC2360A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DBE4CC-7902-94D6-AE0F-2341808CF620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7A8C8F73-7BB1-BEE5-6A39-32032CABF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635B610-46F2-DA6B-954D-4EF830D49E60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769559153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348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1143001" y="245251"/>
            <a:ext cx="9905998" cy="588490"/>
          </a:xfrm>
        </p:spPr>
        <p:txBody>
          <a:bodyPr/>
          <a:lstStyle/>
          <a:p>
            <a:pPr algn="ctr" eaLnBrk="1" hangingPunct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Recursive Greedy Algorithm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1981200" y="4197096"/>
            <a:ext cx="8229600" cy="1847088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eaLnBrk="1" hangingPunct="1"/>
            <a:r>
              <a:rPr lang="en-US" sz="2800" dirty="0">
                <a:latin typeface="Calibri" charset="0"/>
              </a:rPr>
              <a:t>Initial call: RECURSIVE-ACTIVITY-SELECTOR(s, f, 0, n)</a:t>
            </a:r>
          </a:p>
          <a:p>
            <a:pPr eaLnBrk="1" hangingPunct="1"/>
            <a:r>
              <a:rPr lang="en-US" sz="2800" dirty="0">
                <a:latin typeface="Calibri" charset="0"/>
              </a:rPr>
              <a:t>Run time is </a:t>
            </a:r>
            <a:r>
              <a:rPr lang="el-GR" sz="2800" dirty="0">
                <a:latin typeface="Calibri" charset="0"/>
              </a:rPr>
              <a:t>θ</a:t>
            </a:r>
            <a:r>
              <a:rPr lang="en-US" sz="2800" dirty="0">
                <a:latin typeface="Calibri" charset="0"/>
              </a:rPr>
              <a:t>(n), assuming the activities are already sorted by finish times</a:t>
            </a:r>
          </a:p>
        </p:txBody>
      </p:sp>
      <p:sp>
        <p:nvSpPr>
          <p:cNvPr id="24580" name="TextBox 3"/>
          <p:cNvSpPr txBox="1">
            <a:spLocks noChangeArrowheads="1"/>
          </p:cNvSpPr>
          <p:nvPr/>
        </p:nvSpPr>
        <p:spPr bwMode="auto">
          <a:xfrm>
            <a:off x="1440132" y="1575137"/>
            <a:ext cx="9311735" cy="203132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RECURSIVE-ACTIVITY-SELECTOR(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k,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m = k + 1  // start with the activity after last added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while m ≤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s[m]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f[k]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find first activity to finish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m = m + 1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if m ≤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    return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 RECURSIVE-ACTIVITY-SELECTOR(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m,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 else return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Ø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440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1902"/>
            <a:ext cx="9905998" cy="716506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Non-recursive algorithm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450848" y="1592642"/>
            <a:ext cx="4191000" cy="4525963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greedy-interval 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n = </a:t>
            </a:r>
            <a:r>
              <a:rPr lang="en-US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s.length</a:t>
            </a:r>
            <a:endParaRPr lang="en-US" dirty="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= 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k = 1   # last added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m = 2 to n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s[m]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≥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f[k]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= A U 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k = m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return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5862320" y="2452021"/>
            <a:ext cx="5384800" cy="2430717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s is an array of the intervals’ start times</a:t>
            </a:r>
          </a:p>
          <a:p>
            <a:pPr algn="just"/>
            <a:r>
              <a:rPr lang="en-US" dirty="0"/>
              <a:t>f is an array of the intervals’ finish times, </a:t>
            </a:r>
            <a:r>
              <a:rPr lang="en-US" u="sng" dirty="0"/>
              <a:t>sorted</a:t>
            </a:r>
          </a:p>
          <a:p>
            <a:pPr algn="just"/>
            <a:r>
              <a:rPr lang="en-US" dirty="0"/>
              <a:t>A is the array of the intervals to schedule</a:t>
            </a:r>
          </a:p>
          <a:p>
            <a:pPr algn="just"/>
            <a:r>
              <a:rPr lang="en-US" dirty="0"/>
              <a:t>How long does this take?</a:t>
            </a:r>
          </a:p>
        </p:txBody>
      </p:sp>
    </p:spTree>
    <p:extLst>
      <p:ext uri="{BB962C8B-B14F-4D97-AF65-F5344CB8AC3E}">
        <p14:creationId xmlns:p14="http://schemas.microsoft.com/office/powerpoint/2010/main" val="2521905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35B33-E4D1-B7F5-AB38-180EFD455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C5EEA-BD32-BF58-245E-2C67ABD026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Proving Correctness</a:t>
            </a:r>
          </a:p>
        </p:txBody>
      </p:sp>
    </p:spTree>
    <p:extLst>
      <p:ext uri="{BB962C8B-B14F-4D97-AF65-F5344CB8AC3E}">
        <p14:creationId xmlns:p14="http://schemas.microsoft.com/office/powerpoint/2010/main" val="604898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26494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Proving the Greedy Choice Property?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319528" y="3429000"/>
            <a:ext cx="7552944" cy="2398551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Proof Overview:</a:t>
            </a:r>
          </a:p>
          <a:p>
            <a:pPr lvl="1"/>
            <a:r>
              <a:rPr lang="en-US" dirty="0"/>
              <a:t>Assume </a:t>
            </a:r>
            <a:r>
              <a:rPr lang="en-US" b="1" i="1" dirty="0"/>
              <a:t>earliest finish time activity NOT in optimal </a:t>
            </a:r>
            <a:r>
              <a:rPr lang="en-US" dirty="0"/>
              <a:t>schedule</a:t>
            </a:r>
          </a:p>
          <a:p>
            <a:pPr lvl="1"/>
            <a:r>
              <a:rPr lang="en-US" dirty="0"/>
              <a:t>Describe what </a:t>
            </a:r>
            <a:r>
              <a:rPr lang="en-US" b="1" i="1" dirty="0"/>
              <a:t>optimal solution must look like </a:t>
            </a:r>
            <a:r>
              <a:rPr lang="en-US" dirty="0"/>
              <a:t>instead</a:t>
            </a:r>
          </a:p>
          <a:p>
            <a:pPr lvl="1"/>
            <a:r>
              <a:rPr lang="en-US" dirty="0"/>
              <a:t>Show we can </a:t>
            </a:r>
            <a:r>
              <a:rPr lang="en-US" b="1" i="1" dirty="0"/>
              <a:t>switch in the earliest finish time item </a:t>
            </a:r>
            <a:r>
              <a:rPr lang="en-US" dirty="0"/>
              <a:t>without changing the optimality of the solution (take one thing out, put one thing in)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556144-09C8-83CC-63E4-1B3F61C0B0C2}"/>
              </a:ext>
            </a:extLst>
          </p:cNvPr>
          <p:cNvSpPr txBox="1">
            <a:spLocks/>
          </p:cNvSpPr>
          <p:nvPr/>
        </p:nvSpPr>
        <p:spPr>
          <a:xfrm>
            <a:off x="2596038" y="1825977"/>
            <a:ext cx="6996747" cy="102695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Claim</a:t>
            </a:r>
            <a:r>
              <a:rPr lang="en-US" dirty="0">
                <a:solidFill>
                  <a:schemeClr val="bg1"/>
                </a:solidFill>
              </a:rPr>
              <a:t>: The activity with the earliest finish time is guaranteed to be a member of some optimal solution</a:t>
            </a:r>
          </a:p>
        </p:txBody>
      </p:sp>
    </p:spTree>
    <p:extLst>
      <p:ext uri="{BB962C8B-B14F-4D97-AF65-F5344CB8AC3E}">
        <p14:creationId xmlns:p14="http://schemas.microsoft.com/office/powerpoint/2010/main" val="146356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43614"/>
            <a:ext cx="9905998" cy="600681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0DE9B14-A8E7-69E4-8418-AC32825877F0}"/>
              </a:ext>
            </a:extLst>
          </p:cNvPr>
          <p:cNvGrpSpPr/>
          <p:nvPr/>
        </p:nvGrpSpPr>
        <p:grpSpPr>
          <a:xfrm>
            <a:off x="1069783" y="3386554"/>
            <a:ext cx="10049256" cy="2200430"/>
            <a:chOff x="923544" y="3834610"/>
            <a:chExt cx="10049256" cy="22004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E8846C7-0300-C31A-9435-E477EC4A95C0}"/>
                </a:ext>
              </a:extLst>
            </p:cNvPr>
            <p:cNvSpPr/>
            <p:nvPr/>
          </p:nvSpPr>
          <p:spPr>
            <a:xfrm>
              <a:off x="923544" y="3834610"/>
              <a:ext cx="10049256" cy="220043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52C43AF3-5D77-1847-A0EC-D920FFD7ED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19200" y="4114800"/>
              <a:ext cx="9398000" cy="1524000"/>
              <a:chOff x="480" y="2784"/>
              <a:chExt cx="3552" cy="576"/>
            </a:xfrm>
          </p:grpSpPr>
          <p:sp>
            <p:nvSpPr>
              <p:cNvPr id="7" name="Line 5">
                <a:extLst>
                  <a:ext uri="{FF2B5EF4-FFF2-40B4-BE49-F238E27FC236}">
                    <a16:creationId xmlns:a16="http://schemas.microsoft.com/office/drawing/2014/main" id="{92A15536-0AFD-3041-A523-EFF8676CA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3360"/>
                <a:ext cx="528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" name="Line 6">
                <a:extLst>
                  <a:ext uri="{FF2B5EF4-FFF2-40B4-BE49-F238E27FC236}">
                    <a16:creationId xmlns:a16="http://schemas.microsoft.com/office/drawing/2014/main" id="{BE778DAB-5618-CB4C-AA3C-6057C0CCDB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3168"/>
                <a:ext cx="288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Line 7">
                <a:extLst>
                  <a:ext uri="{FF2B5EF4-FFF2-40B4-BE49-F238E27FC236}">
                    <a16:creationId xmlns:a16="http://schemas.microsoft.com/office/drawing/2014/main" id="{9214D03C-2E2A-724F-919E-24421B86C8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2784"/>
                <a:ext cx="1104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Line 8">
                <a:extLst>
                  <a:ext uri="{FF2B5EF4-FFF2-40B4-BE49-F238E27FC236}">
                    <a16:creationId xmlns:a16="http://schemas.microsoft.com/office/drawing/2014/main" id="{5609E356-8A91-864D-B886-8F78055364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3360"/>
                <a:ext cx="1680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" name="Line 9">
                <a:extLst>
                  <a:ext uri="{FF2B5EF4-FFF2-40B4-BE49-F238E27FC236}">
                    <a16:creationId xmlns:a16="http://schemas.microsoft.com/office/drawing/2014/main" id="{A10B497E-415C-2946-9672-A8FEF58C33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6" y="2976"/>
                <a:ext cx="1776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" name="Line 10">
                <a:extLst>
                  <a:ext uri="{FF2B5EF4-FFF2-40B4-BE49-F238E27FC236}">
                    <a16:creationId xmlns:a16="http://schemas.microsoft.com/office/drawing/2014/main" id="{63322160-3718-DE4D-AA1C-A7616139D6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2976"/>
                <a:ext cx="1056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26814C-FCD1-4547-904D-98AD7A457B8F}"/>
                    </a:ext>
                  </a:extLst>
                </p:cNvPr>
                <p:cNvSpPr txBox="1"/>
                <p:nvPr/>
              </p:nvSpPr>
              <p:spPr>
                <a:xfrm>
                  <a:off x="1498600" y="5077768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26814C-FCD1-4547-904D-98AD7A457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5077768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399A464-AA46-C7B7-66F4-7DAC1EDF5BC3}"/>
              </a:ext>
            </a:extLst>
          </p:cNvPr>
          <p:cNvSpPr txBox="1">
            <a:spLocks/>
          </p:cNvSpPr>
          <p:nvPr/>
        </p:nvSpPr>
        <p:spPr>
          <a:xfrm>
            <a:off x="2596038" y="1533369"/>
            <a:ext cx="6996747" cy="102695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Claim</a:t>
            </a:r>
            <a:r>
              <a:rPr lang="en-US" dirty="0">
                <a:solidFill>
                  <a:schemeClr val="bg1"/>
                </a:solidFill>
              </a:rPr>
              <a:t>: The activity with the earliest finish time is guaranteed to be a member of some optimal solution</a:t>
            </a:r>
          </a:p>
        </p:txBody>
      </p:sp>
    </p:spTree>
    <p:extLst>
      <p:ext uri="{BB962C8B-B14F-4D97-AF65-F5344CB8AC3E}">
        <p14:creationId xmlns:p14="http://schemas.microsoft.com/office/powerpoint/2010/main" val="35726430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3060700" y="1379639"/>
                <a:ext cx="6080760" cy="686871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1</a:t>
                </a:r>
                <a:r>
                  <a:rPr lang="en-US" dirty="0">
                    <a:solidFill>
                      <a:schemeClr val="bg1"/>
                    </a:solidFill>
                  </a:rPr>
                  <a:t>: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in the optimal solution.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3060700" y="1379639"/>
                <a:ext cx="6080760" cy="686871"/>
              </a:xfrm>
              <a:blipFill>
                <a:blip r:embed="rId2"/>
                <a:stretch>
                  <a:fillRect l="-1455" t="-17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0F2EB02-5E81-2C01-1CE8-01974ACD7C7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1802" y="2210754"/>
                <a:ext cx="8248396" cy="109066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2</a:t>
                </a:r>
                <a:r>
                  <a:rPr lang="en-US" dirty="0">
                    <a:solidFill>
                      <a:schemeClr val="bg1"/>
                    </a:solidFill>
                  </a:rP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NOT in optimal solution, then solution contains other intervals instead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0F2EB02-5E81-2C01-1CE8-01974ACD7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802" y="2210754"/>
                <a:ext cx="8248396" cy="1090666"/>
              </a:xfrm>
              <a:prstGeom prst="rect">
                <a:avLst/>
              </a:prstGeom>
              <a:blipFill>
                <a:blip r:embed="rId3"/>
                <a:stretch>
                  <a:fillRect l="-107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DDF1436F-1A19-866D-86AC-FBC30D39B93B}"/>
              </a:ext>
            </a:extLst>
          </p:cNvPr>
          <p:cNvGrpSpPr/>
          <p:nvPr/>
        </p:nvGrpSpPr>
        <p:grpSpPr>
          <a:xfrm>
            <a:off x="1196340" y="3785616"/>
            <a:ext cx="9799320" cy="2084832"/>
            <a:chOff x="1045464" y="3429000"/>
            <a:chExt cx="9799320" cy="2084832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96F7642-31A2-B3F7-F2AE-C63C210E41D7}"/>
                </a:ext>
              </a:extLst>
            </p:cNvPr>
            <p:cNvSpPr/>
            <p:nvPr/>
          </p:nvSpPr>
          <p:spPr>
            <a:xfrm>
              <a:off x="1045464" y="3429000"/>
              <a:ext cx="9799320" cy="208483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CBCCC15F-886C-2427-6331-B4A2619888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04060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448F7E41-9A3C-BF80-7C8B-9D88FD61B7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Line 7">
              <a:extLst>
                <a:ext uri="{FF2B5EF4-FFF2-40B4-BE49-F238E27FC236}">
                  <a16:creationId xmlns:a16="http://schemas.microsoft.com/office/drawing/2014/main" id="{70E2F7E2-A33D-77C4-EEA1-B88CF5B57E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0200" y="3693741"/>
              <a:ext cx="2921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0438C438-4647-0676-F74E-2B48BBB9F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9">
              <a:extLst>
                <a:ext uri="{FF2B5EF4-FFF2-40B4-BE49-F238E27FC236}">
                  <a16:creationId xmlns:a16="http://schemas.microsoft.com/office/drawing/2014/main" id="{444DD2A3-4204-B277-0682-34428EC7A8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8200" y="4201741"/>
              <a:ext cx="4699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0">
              <a:extLst>
                <a:ext uri="{FF2B5EF4-FFF2-40B4-BE49-F238E27FC236}">
                  <a16:creationId xmlns:a16="http://schemas.microsoft.com/office/drawing/2014/main" id="{8FF21101-7819-C34F-ACB9-EE4F80DBA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23200" y="4201741"/>
              <a:ext cx="2794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86E17B-AD9D-6E84-5FEC-DD9022702FA2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86E17B-AD9D-6E84-5FEC-DD9022702F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18CC120-F07E-2668-5A8C-7A2932411C47}"/>
                    </a:ext>
                  </a:extLst>
                </p:cNvPr>
                <p:cNvSpPr txBox="1"/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18CC120-F07E-2668-5A8C-7A2932411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5292193-0A31-EBEA-42E7-A46D30C8EC2E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5292193-0A31-EBEA-42E7-A46D30C8E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4630606-230A-0DB5-C66B-15F60EF2EA9C}"/>
              </a:ext>
            </a:extLst>
          </p:cNvPr>
          <p:cNvSpPr txBox="1"/>
          <p:nvPr/>
        </p:nvSpPr>
        <p:spPr>
          <a:xfrm>
            <a:off x="5896864" y="5925738"/>
            <a:ext cx="5152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*Note: This picture is just an EXAMPLE to help you visualize. Not good enough for a proof on its own</a:t>
            </a:r>
          </a:p>
        </p:txBody>
      </p:sp>
    </p:spTree>
    <p:extLst>
      <p:ext uri="{BB962C8B-B14F-4D97-AF65-F5344CB8AC3E}">
        <p14:creationId xmlns:p14="http://schemas.microsoft.com/office/powerpoint/2010/main" val="20713163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BE85B-5C0B-51DC-9815-307C0F14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F243-7FF6-89A5-8ADE-C296F684C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FD481DE-CAC2-CC07-08A2-06DD7C8E0D0C}"/>
              </a:ext>
            </a:extLst>
          </p:cNvPr>
          <p:cNvGrpSpPr/>
          <p:nvPr/>
        </p:nvGrpSpPr>
        <p:grpSpPr>
          <a:xfrm>
            <a:off x="1196340" y="1349828"/>
            <a:ext cx="9799320" cy="1247067"/>
            <a:chOff x="1045464" y="4266764"/>
            <a:chExt cx="9799320" cy="124706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6CDF36A-14A3-9E16-A7B5-4280AF1330E0}"/>
                </a:ext>
              </a:extLst>
            </p:cNvPr>
            <p:cNvSpPr/>
            <p:nvPr/>
          </p:nvSpPr>
          <p:spPr>
            <a:xfrm>
              <a:off x="1045464" y="4266764"/>
              <a:ext cx="9799320" cy="124706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68D74B04-478E-824A-A001-1CA9F80EB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13204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E89B6439-E55E-F313-B450-0ADA6E3BE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CB9012D8-11ED-54D5-D379-8D23FCE542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597ABE8-2EFB-D3F5-39C0-FEAB6F2F2CE4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597ABE8-2EFB-D3F5-39C0-FEAB6F2F2C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FB3119C-9444-3C5F-5875-AF968E3624AD}"/>
                    </a:ext>
                  </a:extLst>
                </p:cNvPr>
                <p:cNvSpPr txBox="1"/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FB3119C-9444-3C5F-5875-AF968E3624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541E697-4D59-5BA6-3AD8-F68A33AD81A1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541E697-4D59-5BA6-3AD8-F68A33AD8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5D1100B-5CDD-1046-5231-4B389579934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30146" y="3063880"/>
                <a:ext cx="8331708" cy="293116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3</a:t>
                </a:r>
                <a:r>
                  <a:rPr lang="en-US" dirty="0">
                    <a:solidFill>
                      <a:schemeClr val="bg1"/>
                    </a:solidFill>
                  </a:rPr>
                  <a:t>: Let’s 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We KNOW THAT: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//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finishes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because greedy selected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>
                    <a:solidFill>
                      <a:schemeClr val="accent4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	//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must start afte</a:t>
                </a:r>
                <a:r>
                  <a:rPr lang="en-US" dirty="0">
                    <a:solidFill>
                      <a:schemeClr val="bg1"/>
                    </a:solidFill>
                  </a:rPr>
                  <a:t>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finishes</a:t>
                </a:r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//combining previous two lines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starts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finishes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			</a:t>
                </a:r>
                <a:r>
                  <a:rPr lang="en-US" dirty="0">
                    <a:solidFill>
                      <a:schemeClr val="bg1"/>
                    </a:solidFill>
                  </a:rPr>
                  <a:t>// </a:t>
                </a:r>
                <a:r>
                  <a:rPr lang="en-US" sz="2400" dirty="0">
                    <a:solidFill>
                      <a:schemeClr val="bg1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can be swapped!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5D1100B-5CDD-1046-5231-4B38957993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30146" y="3063880"/>
                <a:ext cx="8331708" cy="2931160"/>
              </a:xfrm>
              <a:blipFill>
                <a:blip r:embed="rId5"/>
                <a:stretch>
                  <a:fillRect l="-608" t="-429" r="-304" b="-1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728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3DF00-0C7D-3B55-41F6-DFAC30E06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8F303-9A62-88AC-4996-B3FA3D17F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D8B9F4D-4FFF-6BBE-4A35-98CAE36E2299}"/>
              </a:ext>
            </a:extLst>
          </p:cNvPr>
          <p:cNvGrpSpPr/>
          <p:nvPr/>
        </p:nvGrpSpPr>
        <p:grpSpPr>
          <a:xfrm>
            <a:off x="1196340" y="4628733"/>
            <a:ext cx="9799320" cy="1248716"/>
            <a:chOff x="1045464" y="4265115"/>
            <a:chExt cx="9799320" cy="12487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A57913D-842D-0BEB-FBE6-FB24DE1DB08C}"/>
                </a:ext>
              </a:extLst>
            </p:cNvPr>
            <p:cNvSpPr/>
            <p:nvPr/>
          </p:nvSpPr>
          <p:spPr>
            <a:xfrm>
              <a:off x="1045464" y="4266764"/>
              <a:ext cx="9799320" cy="124706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B5ED9E73-7CDD-023D-1772-304AB983AC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13204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9A95CE98-5CAB-5B26-D9F1-A69F50F4EE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2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6565548A-934A-5A0F-AC34-F4ADFC2CD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E01509-2D6B-DD51-1626-C77AC7C38C06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E01509-2D6B-DD51-1626-C77AC7C38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57A8E3E-E538-B002-1C66-5AA13D2BF81F}"/>
                    </a:ext>
                  </a:extLst>
                </p:cNvPr>
                <p:cNvSpPr txBox="1"/>
                <p:nvPr/>
              </p:nvSpPr>
              <p:spPr>
                <a:xfrm>
                  <a:off x="2957576" y="426511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57A8E3E-E538-B002-1C66-5AA13D2BF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576" y="4265115"/>
                  <a:ext cx="8382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E69D6E7-9697-4B27-3E70-C11C4D32A01E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E69D6E7-9697-4B27-3E70-C11C4D32A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78031EB-0059-F0EC-5C5A-03516FC1A48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30146" y="1344808"/>
                <a:ext cx="8331708" cy="612008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	</a:t>
                </a:r>
                <a:r>
                  <a:rPr lang="en-US" dirty="0">
                    <a:solidFill>
                      <a:schemeClr val="bg1"/>
                    </a:solidFill>
                  </a:rPr>
                  <a:t>// </a:t>
                </a:r>
                <a:r>
                  <a:rPr lang="en-US" sz="2400" dirty="0">
                    <a:solidFill>
                      <a:schemeClr val="bg1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can be swapped!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78031EB-0059-F0EC-5C5A-03516FC1A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30146" y="1344808"/>
                <a:ext cx="8331708" cy="612008"/>
              </a:xfrm>
              <a:blipFill>
                <a:blip r:embed="rId5"/>
                <a:stretch>
                  <a:fillRect l="-152" b="-2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6188883-E970-4216-9869-D4649F1564E3}"/>
              </a:ext>
            </a:extLst>
          </p:cNvPr>
          <p:cNvSpPr txBox="1"/>
          <p:nvPr/>
        </p:nvSpPr>
        <p:spPr>
          <a:xfrm>
            <a:off x="1930146" y="1000759"/>
            <a:ext cx="8331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6B41D51-79C3-BAB3-7501-B0EA41F812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17904" y="2777825"/>
                <a:ext cx="9156192" cy="102256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4</a:t>
                </a:r>
                <a:r>
                  <a:rPr lang="en-US" dirty="0">
                    <a:solidFill>
                      <a:schemeClr val="bg1"/>
                    </a:solidFill>
                  </a:rPr>
                  <a:t>: Exchange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o</a:t>
                </a:r>
                <a:r>
                  <a:rPr lang="en-US" b="1" i="1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for </a:t>
                </a:r>
                <a:r>
                  <a:rPr lang="en-US" b="1" i="1" dirty="0">
                    <a:solidFill>
                      <a:schemeClr val="accent3"/>
                    </a:solidFill>
                  </a:rPr>
                  <a:t>i</a:t>
                </a:r>
                <a:r>
                  <a:rPr lang="en-US" b="1" i="1" baseline="-25000" dirty="0">
                    <a:solidFill>
                      <a:schemeClr val="accent3"/>
                    </a:solidFill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. Solution size doesn’t change at all (still optimal) and contradicts our assumption the NO optimal solution contains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6B41D51-79C3-BAB3-7501-B0EA41F81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904" y="2777825"/>
                <a:ext cx="9156192" cy="1022562"/>
              </a:xfrm>
              <a:prstGeom prst="rect">
                <a:avLst/>
              </a:prstGeom>
              <a:blipFill>
                <a:blip r:embed="rId6"/>
                <a:stretch>
                  <a:fillRect l="-1108" t="-1220" r="-1524" b="-36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977FB5B-49A1-ECC9-BD19-83C8CEDFC6BF}"/>
              </a:ext>
            </a:extLst>
          </p:cNvPr>
          <p:cNvSpPr txBox="1">
            <a:spLocks/>
          </p:cNvSpPr>
          <p:nvPr/>
        </p:nvSpPr>
        <p:spPr>
          <a:xfrm>
            <a:off x="6440423" y="6007045"/>
            <a:ext cx="4608576" cy="7064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/>
              <a:t>Q.E.D. Greedy Choice Property Proven</a:t>
            </a:r>
          </a:p>
        </p:txBody>
      </p:sp>
    </p:spTree>
    <p:extLst>
      <p:ext uri="{BB962C8B-B14F-4D97-AF65-F5344CB8AC3E}">
        <p14:creationId xmlns:p14="http://schemas.microsoft.com/office/powerpoint/2010/main" val="3461016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8E3F-DF01-CAF4-62DF-93D8CEFC0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9504-7FAC-E771-B510-1B971A5E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4470"/>
            <a:ext cx="9905998" cy="625066"/>
          </a:xfrm>
        </p:spPr>
        <p:txBody>
          <a:bodyPr/>
          <a:lstStyle/>
          <a:p>
            <a:pPr algn="ctr"/>
            <a:r>
              <a:rPr lang="en-US" dirty="0"/>
              <a:t>What did we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4C686-643A-C2E6-5DCB-110F8DD1F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4535" y="1553276"/>
            <a:ext cx="6422930" cy="3622228"/>
          </a:xfrm>
        </p:spPr>
        <p:txBody>
          <a:bodyPr>
            <a:normAutofit fontScale="92500"/>
          </a:bodyPr>
          <a:lstStyle/>
          <a:p>
            <a:r>
              <a:rPr lang="en-US" dirty="0"/>
              <a:t>Activity Selection</a:t>
            </a:r>
          </a:p>
          <a:p>
            <a:pPr lvl="1"/>
            <a:r>
              <a:rPr lang="en-US" dirty="0"/>
              <a:t>Has many possible Greedy Choices that could be made. Not obvious which was correct.</a:t>
            </a:r>
          </a:p>
          <a:p>
            <a:r>
              <a:rPr lang="en-US" dirty="0"/>
              <a:t>Optimal Substructure:</a:t>
            </a:r>
          </a:p>
          <a:p>
            <a:pPr lvl="1"/>
            <a:r>
              <a:rPr lang="en-US" dirty="0"/>
              <a:t>Was a function of changing the time frame within which the subproblem was solved</a:t>
            </a:r>
          </a:p>
          <a:p>
            <a:r>
              <a:rPr lang="en-US" dirty="0"/>
              <a:t>Greedy Choice Property:</a:t>
            </a:r>
          </a:p>
          <a:p>
            <a:pPr lvl="1"/>
            <a:r>
              <a:rPr lang="en-US" dirty="0"/>
              <a:t>Another example of proving the greedy choice property!</a:t>
            </a:r>
          </a:p>
        </p:txBody>
      </p:sp>
    </p:spTree>
    <p:extLst>
      <p:ext uri="{BB962C8B-B14F-4D97-AF65-F5344CB8AC3E}">
        <p14:creationId xmlns:p14="http://schemas.microsoft.com/office/powerpoint/2010/main" val="22759739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39387</TotalTime>
  <Words>2040</Words>
  <Application>Microsoft Macintosh PowerPoint</Application>
  <PresentationFormat>Widescreen</PresentationFormat>
  <Paragraphs>850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ＭＳ Ｐゴシック</vt:lpstr>
      <vt:lpstr>Arial</vt:lpstr>
      <vt:lpstr>Calibri</vt:lpstr>
      <vt:lpstr>Cambria Math</vt:lpstr>
      <vt:lpstr>Courier New</vt:lpstr>
      <vt:lpstr>Tw Cen MT</vt:lpstr>
      <vt:lpstr>Verdana</vt:lpstr>
      <vt:lpstr>Circuit</vt:lpstr>
      <vt:lpstr>Greedy Algorithms: Activity Selection</vt:lpstr>
      <vt:lpstr>CLRS Readings</vt:lpstr>
      <vt:lpstr>Activity Selection</vt:lpstr>
      <vt:lpstr>Activity-Selection Problem</vt:lpstr>
      <vt:lpstr>The Activities!</vt:lpstr>
      <vt:lpstr>Generalizing Start, End</vt:lpstr>
      <vt:lpstr>Optimal Substructure </vt:lpstr>
      <vt:lpstr>Optimal Substructure Proof </vt:lpstr>
      <vt:lpstr>Optimal Substructure </vt:lpstr>
      <vt:lpstr>Greedy Approach</vt:lpstr>
      <vt:lpstr>Some Possible Greedy Choices</vt:lpstr>
      <vt:lpstr>Some Possible Greedy Choices</vt:lpstr>
      <vt:lpstr>Example</vt:lpstr>
      <vt:lpstr>Activity Selection: A Greedy Algorithm</vt:lpstr>
      <vt:lpstr>Back to Semester at Sea…</vt:lpstr>
      <vt:lpstr>Visualizing these Activities</vt:lpstr>
      <vt:lpstr>Visualizing these Activities</vt:lpstr>
      <vt:lpstr>Visualizing these Activities</vt:lpstr>
      <vt:lpstr>Visualizing these Activities</vt:lpstr>
      <vt:lpstr>Visualizing these Activities</vt:lpstr>
      <vt:lpstr>Recursive Greedy Algorithm</vt:lpstr>
      <vt:lpstr>Non-recursive algorithm</vt:lpstr>
      <vt:lpstr>Proving Correctness</vt:lpstr>
      <vt:lpstr>Proving the Greedy Choice Property?</vt:lpstr>
      <vt:lpstr>Does Greedy Always Find Optimal Solution?</vt:lpstr>
      <vt:lpstr>Does Greedy Always Find Optimal Solution?</vt:lpstr>
      <vt:lpstr>Does Greedy Always Find Optimal Solution?</vt:lpstr>
      <vt:lpstr>Does Greedy Always Find Optimal Solution?</vt:lpstr>
      <vt:lpstr>What did we learn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240</cp:revision>
  <dcterms:created xsi:type="dcterms:W3CDTF">2023-02-24T14:15:53Z</dcterms:created>
  <dcterms:modified xsi:type="dcterms:W3CDTF">2026-03-12T13:11:34Z</dcterms:modified>
</cp:coreProperties>
</file>