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11"/>
  </p:notesMasterIdLst>
  <p:sldIdLst>
    <p:sldId id="256" r:id="rId2"/>
    <p:sldId id="274" r:id="rId3"/>
    <p:sldId id="275" r:id="rId4"/>
    <p:sldId id="276" r:id="rId5"/>
    <p:sldId id="277" r:id="rId6"/>
    <p:sldId id="278" r:id="rId7"/>
    <p:sldId id="279" r:id="rId8"/>
    <p:sldId id="280" r:id="rId9"/>
    <p:sldId id="28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07F81-BC60-2647-88DB-E4BA1627EF84}" v="1" dt="2025-12-09T02:21:38.857"/>
    <p1510:client id="{E9503171-FDC9-DFBB-F9E0-5F72136478C3}" v="8" dt="2025-12-09T13:36:10.5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70"/>
    <p:restoredTop sz="94863"/>
  </p:normalViewPr>
  <p:slideViewPr>
    <p:cSldViewPr snapToGrid="0" snapToObjects="1">
      <p:cViewPr varScale="1">
        <p:scale>
          <a:sx n="120" d="100"/>
          <a:sy n="120" d="100"/>
        </p:scale>
        <p:origin x="11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a:t>
            </a:fld>
            <a:endParaRPr lang="en-US"/>
          </a:p>
        </p:txBody>
      </p:sp>
    </p:spTree>
    <p:extLst>
      <p:ext uri="{BB962C8B-B14F-4D97-AF65-F5344CB8AC3E}">
        <p14:creationId xmlns:p14="http://schemas.microsoft.com/office/powerpoint/2010/main" val="92945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9" name="Google Shape;1249;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0" name="Google Shape;1250;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5"/>
        <p:cNvGrpSpPr/>
        <p:nvPr/>
      </p:nvGrpSpPr>
      <p:grpSpPr>
        <a:xfrm>
          <a:off x="0" y="0"/>
          <a:ext cx="0" cy="0"/>
          <a:chOff x="0" y="0"/>
          <a:chExt cx="0" cy="0"/>
        </a:xfrm>
      </p:grpSpPr>
      <p:sp>
        <p:nvSpPr>
          <p:cNvPr id="1256" name="Google Shape;1256;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7" name="Google Shape;125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4" name="Google Shape;126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9"/>
        <p:cNvGrpSpPr/>
        <p:nvPr/>
      </p:nvGrpSpPr>
      <p:grpSpPr>
        <a:xfrm>
          <a:off x="0" y="0"/>
          <a:ext cx="0" cy="0"/>
          <a:chOff x="0" y="0"/>
          <a:chExt cx="0" cy="0"/>
        </a:xfrm>
      </p:grpSpPr>
      <p:sp>
        <p:nvSpPr>
          <p:cNvPr id="1270" name="Google Shape;1270;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1" name="Google Shape;127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8" name="Google Shape;127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5" name="Google Shape;128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2" name="Google Shape;1292;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9" name="Google Shape;129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AF9C09F-6F51-1D4D-8336-2DF6CB13364D}" type="datetime1">
              <a:rPr lang="en-US" smtClean="0"/>
              <a:t>12/9/25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5A76BF-7EE4-674F-9624-C8339361DC84}" type="datetime1">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B4C80A-C8FC-5C4B-A321-8F1D7B6A3EA5}" type="datetime1">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75160F-80E7-5948-8648-7753ED7C1476}" type="datetime1">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3BCB43-841F-D348-8BD3-FE6084E5C5CB}" type="datetime1">
              <a:rPr lang="en-US" smtClean="0"/>
              <a:t>12/9/25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B563A9-020D-9842-A67D-A654832ADBB0}" type="datetime1">
              <a:rPr lang="en-US" smtClean="0"/>
              <a:t>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163717-0025-D144-A818-6C963234BAF6}" type="datetime1">
              <a:rPr lang="en-US" smtClean="0"/>
              <a:t>12/9/25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5A4C1E5-4DC7-F44D-BC33-2F142A6D0960}" type="datetime1">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3AA14B4-AF0C-684A-8C53-3D9CE01628F3}" type="datetime1">
              <a:rPr lang="en-US" smtClean="0"/>
              <a:t>12/9/25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1F28C9C-78C5-F84A-B8FB-30B85F9CEB5E}" type="datetime1">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1EED654-76B0-9C40-A546-D96C9364225F}" type="datetime1">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C0DA1D-3C6A-6E4B-B615-9C563FA13735}" type="datetime1">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9BBD643-060C-0345-A2D4-C41B2644E3FA}" type="datetime1">
              <a:rPr lang="en-US" smtClean="0"/>
              <a:t>12/9/25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9BFF90E-1CB0-574F-89B5-B1210620F84A}" type="datetime1">
              <a:rPr lang="en-US" smtClean="0"/>
              <a:t>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766AE59-AAB9-C247-9D91-6C406C9DB1EB}" type="datetime1">
              <a:rPr lang="en-US" smtClean="0"/>
              <a:t>12/9/25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B68CEC-AD0D-0143-A3F3-F9177B85766F}" type="datetime1">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E66415-1776-CF4A-9B32-2EC23E2C50A4}" type="datetime1">
              <a:rPr lang="en-US" smtClean="0"/>
              <a:t>12/9/25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8A0788B-D612-3C4B-9846-8736B62FCAA9}" type="datetime1">
              <a:rPr lang="en-US" smtClean="0"/>
              <a:t>12/9/25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7A2C-CECB-EA45-9A8F-28914F6ACB98}"/>
              </a:ext>
            </a:extLst>
          </p:cNvPr>
          <p:cNvSpPr>
            <a:spLocks noGrp="1"/>
          </p:cNvSpPr>
          <p:nvPr>
            <p:ph type="ctrTitle"/>
          </p:nvPr>
        </p:nvSpPr>
        <p:spPr/>
        <p:txBody>
          <a:bodyPr/>
          <a:lstStyle/>
          <a:p>
            <a:pPr algn="ctr"/>
            <a:r>
              <a:rPr lang="en-US" dirty="0"/>
              <a:t>CS 3100 Finale</a:t>
            </a:r>
          </a:p>
        </p:txBody>
      </p:sp>
      <p:sp>
        <p:nvSpPr>
          <p:cNvPr id="3" name="Subtitle 2">
            <a:extLst>
              <a:ext uri="{FF2B5EF4-FFF2-40B4-BE49-F238E27FC236}">
                <a16:creationId xmlns:a16="http://schemas.microsoft.com/office/drawing/2014/main" id="{4CC3BA16-EE93-B74E-A27C-2B68B596BB53}"/>
              </a:ext>
            </a:extLst>
          </p:cNvPr>
          <p:cNvSpPr>
            <a:spLocks noGrp="1"/>
          </p:cNvSpPr>
          <p:nvPr>
            <p:ph type="subTitle" idx="1"/>
          </p:nvPr>
        </p:nvSpPr>
        <p:spPr/>
        <p:txBody>
          <a:bodyPr/>
          <a:lstStyle/>
          <a:p>
            <a:pPr algn="ctr"/>
            <a:r>
              <a:rPr lang="en-US" dirty="0"/>
              <a:t>Data Structures and Algorithms 2</a:t>
            </a:r>
            <a:br>
              <a:rPr lang="en-US" dirty="0"/>
            </a:br>
            <a:r>
              <a:rPr lang="en-US" dirty="0"/>
              <a:t>Mark Floryan and Aaron Bloomfield</a:t>
            </a:r>
            <a:br>
              <a:rPr lang="en-US" dirty="0"/>
            </a:br>
            <a:br>
              <a:rPr lang="en-US" dirty="0"/>
            </a:br>
            <a:endParaRPr lang="en-US" dirty="0"/>
          </a:p>
        </p:txBody>
      </p:sp>
    </p:spTree>
    <p:extLst>
      <p:ext uri="{BB962C8B-B14F-4D97-AF65-F5344CB8AC3E}">
        <p14:creationId xmlns:p14="http://schemas.microsoft.com/office/powerpoint/2010/main" val="44373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p18"/>
          <p:cNvSpPr txBox="1">
            <a:spLocks noGrp="1"/>
          </p:cNvSpPr>
          <p:nvPr>
            <p:ph type="title"/>
          </p:nvPr>
        </p:nvSpPr>
        <p:spPr>
          <a:xfrm>
            <a:off x="126124" y="152400"/>
            <a:ext cx="11813628"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3600"/>
              <a:buFont typeface="Helvetica Neue Light"/>
              <a:buNone/>
            </a:pPr>
            <a:r>
              <a:rPr lang="en-US" sz="3600" dirty="0"/>
              <a:t>Department’s Learning Outcomes for CS3100</a:t>
            </a:r>
            <a:endParaRPr dirty="0"/>
          </a:p>
        </p:txBody>
      </p:sp>
      <p:sp>
        <p:nvSpPr>
          <p:cNvPr id="1253" name="Google Shape;1253;p18"/>
          <p:cNvSpPr txBox="1">
            <a:spLocks noGrp="1"/>
          </p:cNvSpPr>
          <p:nvPr>
            <p:ph type="body" idx="1"/>
          </p:nvPr>
        </p:nvSpPr>
        <p:spPr>
          <a:xfrm>
            <a:off x="609600" y="1295400"/>
            <a:ext cx="10972800" cy="5181600"/>
          </a:xfrm>
          <a:prstGeom prst="rect">
            <a:avLst/>
          </a:prstGeom>
          <a:noFill/>
          <a:ln>
            <a:noFill/>
          </a:ln>
        </p:spPr>
        <p:txBody>
          <a:bodyPr spcFirstLastPara="1" wrap="square" lIns="91425" tIns="45700" rIns="91425" bIns="45700" anchor="ctr" anchorCtr="0">
            <a:normAutofit/>
          </a:bodyPr>
          <a:lstStyle/>
          <a:p>
            <a:pPr algn="just">
              <a:lnSpc>
                <a:spcPct val="100000"/>
              </a:lnSpc>
              <a:spcBef>
                <a:spcPts val="0"/>
              </a:spcBef>
              <a:buClr>
                <a:schemeClr val="tx1">
                  <a:lumMod val="95000"/>
                </a:schemeClr>
              </a:buClr>
              <a:buSzPct val="100000"/>
            </a:pPr>
            <a:r>
              <a:rPr lang="en-US" sz="2400" dirty="0"/>
              <a:t>Understand and implement more advanced data structures, including (but not limited to) graphs and sets (e.g., find-union). Students will be able to analyze the asymptotic complexity of the operations of these structures and use them to solve problems.</a:t>
            </a:r>
            <a:endParaRPr lang="en-US" dirty="0"/>
          </a:p>
          <a:p>
            <a:pPr algn="just">
              <a:lnSpc>
                <a:spcPct val="100000"/>
              </a:lnSpc>
              <a:spcBef>
                <a:spcPts val="444"/>
              </a:spcBef>
              <a:buClr>
                <a:schemeClr val="tx1">
                  <a:lumMod val="95000"/>
                </a:schemeClr>
              </a:buClr>
              <a:buSzPct val="100000"/>
            </a:pPr>
            <a:r>
              <a:rPr lang="en-US" sz="2400" dirty="0"/>
              <a:t>Understand a variety of problem solving paradigms such as dynamic programming, divide-and-conquer, and greedy algorithms. Students will be able to implement a variety of algorithms, including Breadth-First (and Depth-First) Search, Dijkstra’s algorithm, Ford-Fulkerson, and others.</a:t>
            </a:r>
            <a:endParaRPr dirty="0"/>
          </a:p>
          <a:p>
            <a:pPr algn="just">
              <a:lnSpc>
                <a:spcPct val="100000"/>
              </a:lnSpc>
              <a:spcBef>
                <a:spcPts val="444"/>
              </a:spcBef>
              <a:buClr>
                <a:schemeClr val="tx1">
                  <a:lumMod val="95000"/>
                </a:schemeClr>
              </a:buClr>
              <a:buSzPct val="100000"/>
            </a:pPr>
            <a:r>
              <a:rPr lang="en-US" sz="2400" dirty="0"/>
              <a:t>Analyze a new problem and select an appropriate problem-solving technique. Students will be able to construct an algorithm to solve the problem, prove the correctness of their algorithm, and analyze the asymptotic behavior of the algorithm.</a:t>
            </a:r>
            <a:endParaRPr dirty="0"/>
          </a:p>
          <a:p>
            <a:pPr algn="just">
              <a:lnSpc>
                <a:spcPct val="100000"/>
              </a:lnSpc>
              <a:spcBef>
                <a:spcPts val="444"/>
              </a:spcBef>
              <a:buClr>
                <a:schemeClr val="tx1">
                  <a:lumMod val="95000"/>
                </a:schemeClr>
              </a:buClr>
              <a:buSzPct val="100000"/>
            </a:pPr>
            <a:r>
              <a:rPr lang="en-US" sz="2400" dirty="0"/>
              <a:t>Analyze behavior of algorithms with recursive, and other more advanced properties. Solve recurrence relations for their closed form either manually or via the Master Theorem. Prove both upper and lower bounds on the behavior of such algorithms.</a:t>
            </a:r>
            <a:endParaRPr dirty="0"/>
          </a:p>
        </p:txBody>
      </p:sp>
      <p:sp>
        <p:nvSpPr>
          <p:cNvPr id="1254" name="Google Shape;1254;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8"/>
        <p:cNvGrpSpPr/>
        <p:nvPr/>
      </p:nvGrpSpPr>
      <p:grpSpPr>
        <a:xfrm>
          <a:off x="0" y="0"/>
          <a:ext cx="0" cy="0"/>
          <a:chOff x="0" y="0"/>
          <a:chExt cx="0" cy="0"/>
        </a:xfrm>
      </p:grpSpPr>
      <p:sp>
        <p:nvSpPr>
          <p:cNvPr id="1259" name="Google Shape;1259;p19"/>
          <p:cNvSpPr txBox="1">
            <a:spLocks noGrp="1"/>
          </p:cNvSpPr>
          <p:nvPr>
            <p:ph type="title"/>
          </p:nvPr>
        </p:nvSpPr>
        <p:spPr>
          <a:xfrm>
            <a:off x="609600" y="152400"/>
            <a:ext cx="109728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4400"/>
              <a:buFont typeface="Helvetica Neue Light"/>
              <a:buNone/>
            </a:pPr>
            <a:r>
              <a:rPr lang="en-US" sz="4000" dirty="0"/>
              <a:t>List of Topics to Be Covered in CS3100</a:t>
            </a:r>
            <a:endParaRPr sz="4000" dirty="0"/>
          </a:p>
        </p:txBody>
      </p:sp>
      <p:sp>
        <p:nvSpPr>
          <p:cNvPr id="1260" name="Google Shape;1260;p19"/>
          <p:cNvSpPr txBox="1">
            <a:spLocks noGrp="1"/>
          </p:cNvSpPr>
          <p:nvPr>
            <p:ph type="body" idx="1"/>
          </p:nvPr>
        </p:nvSpPr>
        <p:spPr>
          <a:xfrm>
            <a:off x="609600" y="1295400"/>
            <a:ext cx="10972800" cy="5060951"/>
          </a:xfrm>
          <a:prstGeom prst="rect">
            <a:avLst/>
          </a:prstGeom>
          <a:noFill/>
          <a:ln>
            <a:noFill/>
          </a:ln>
        </p:spPr>
        <p:txBody>
          <a:bodyPr spcFirstLastPara="1" wrap="square" lIns="91425" tIns="45700" rIns="91425" bIns="45700" anchor="ctr" anchorCtr="0">
            <a:noAutofit/>
          </a:bodyPr>
          <a:lstStyle/>
          <a:p>
            <a:pPr marL="342900" lvl="0" indent="-317500" algn="l" rtl="0">
              <a:lnSpc>
                <a:spcPct val="100000"/>
              </a:lnSpc>
              <a:spcBef>
                <a:spcPts val="0"/>
              </a:spcBef>
              <a:spcAft>
                <a:spcPts val="0"/>
              </a:spcAft>
              <a:buClr>
                <a:schemeClr val="tx1">
                  <a:lumMod val="95000"/>
                </a:schemeClr>
              </a:buClr>
              <a:buSzPts val="2000"/>
              <a:buChar char="•"/>
            </a:pPr>
            <a:r>
              <a:rPr lang="en-US" sz="2000" dirty="0"/>
              <a:t>Graphs - Definition and Operations</a:t>
            </a:r>
            <a:endParaRPr sz="2800" dirty="0"/>
          </a:p>
          <a:p>
            <a:pPr marL="342900" lvl="0" indent="-317500" algn="l" rtl="0">
              <a:lnSpc>
                <a:spcPct val="100000"/>
              </a:lnSpc>
              <a:spcBef>
                <a:spcPts val="480"/>
              </a:spcBef>
              <a:spcAft>
                <a:spcPts val="0"/>
              </a:spcAft>
              <a:buClr>
                <a:schemeClr val="tx1">
                  <a:lumMod val="95000"/>
                </a:schemeClr>
              </a:buClr>
              <a:buSzPts val="2000"/>
              <a:buChar char="•"/>
            </a:pPr>
            <a:r>
              <a:rPr lang="en-US" sz="2000" dirty="0"/>
              <a:t>Selection of Graph Algorithms. Instructor chosen, but might include:</a:t>
            </a:r>
            <a:endParaRPr sz="2800" dirty="0"/>
          </a:p>
          <a:p>
            <a:pPr marL="742950" lvl="1" indent="-260350" algn="l" rtl="0">
              <a:lnSpc>
                <a:spcPct val="100000"/>
              </a:lnSpc>
              <a:spcBef>
                <a:spcPts val="400"/>
              </a:spcBef>
              <a:spcAft>
                <a:spcPts val="0"/>
              </a:spcAft>
              <a:buClr>
                <a:schemeClr val="tx1">
                  <a:lumMod val="95000"/>
                </a:schemeClr>
              </a:buClr>
              <a:buSzPts val="1600"/>
              <a:buChar char="–"/>
            </a:pPr>
            <a:r>
              <a:rPr lang="en-US" sz="1600" dirty="0"/>
              <a:t>Dijkstra’s Algorithm / Proof</a:t>
            </a:r>
            <a:endParaRPr sz="2400" dirty="0"/>
          </a:p>
          <a:p>
            <a:pPr marL="742950" lvl="1" indent="-260350" algn="l" rtl="0">
              <a:lnSpc>
                <a:spcPct val="100000"/>
              </a:lnSpc>
              <a:spcBef>
                <a:spcPts val="400"/>
              </a:spcBef>
              <a:spcAft>
                <a:spcPts val="0"/>
              </a:spcAft>
              <a:buClr>
                <a:schemeClr val="tx1">
                  <a:lumMod val="95000"/>
                </a:schemeClr>
              </a:buClr>
              <a:buSzPts val="1600"/>
              <a:buChar char="–"/>
            </a:pPr>
            <a:r>
              <a:rPr lang="en-US" sz="1600" dirty="0"/>
              <a:t>Flow Networks</a:t>
            </a:r>
            <a:endParaRPr sz="2400" dirty="0"/>
          </a:p>
          <a:p>
            <a:pPr marL="742950" lvl="1" indent="-260350" algn="l" rtl="0">
              <a:lnSpc>
                <a:spcPct val="100000"/>
              </a:lnSpc>
              <a:spcBef>
                <a:spcPts val="400"/>
              </a:spcBef>
              <a:spcAft>
                <a:spcPts val="0"/>
              </a:spcAft>
              <a:buClr>
                <a:schemeClr val="tx1">
                  <a:lumMod val="95000"/>
                </a:schemeClr>
              </a:buClr>
              <a:buSzPts val="1600"/>
              <a:buChar char="–"/>
            </a:pPr>
            <a:r>
              <a:rPr lang="en-US" sz="1600" dirty="0"/>
              <a:t>Min-Cut and Flow-Value</a:t>
            </a:r>
            <a:endParaRPr sz="2400" dirty="0"/>
          </a:p>
          <a:p>
            <a:pPr marL="742950" lvl="1" indent="-260350" algn="l" rtl="0">
              <a:lnSpc>
                <a:spcPct val="100000"/>
              </a:lnSpc>
              <a:spcBef>
                <a:spcPts val="400"/>
              </a:spcBef>
              <a:spcAft>
                <a:spcPts val="0"/>
              </a:spcAft>
              <a:buClr>
                <a:schemeClr val="tx1">
                  <a:lumMod val="95000"/>
                </a:schemeClr>
              </a:buClr>
              <a:buSzPts val="1600"/>
              <a:buChar char="–"/>
            </a:pPr>
            <a:r>
              <a:rPr lang="en-US" sz="1600" dirty="0"/>
              <a:t>Find-Union data structure, Kruskal’s Algorithm</a:t>
            </a:r>
            <a:endParaRPr sz="2400" dirty="0"/>
          </a:p>
          <a:p>
            <a:pPr marL="342900" lvl="0" indent="-317500" algn="l" rtl="0">
              <a:lnSpc>
                <a:spcPct val="100000"/>
              </a:lnSpc>
              <a:spcBef>
                <a:spcPts val="480"/>
              </a:spcBef>
              <a:spcAft>
                <a:spcPts val="0"/>
              </a:spcAft>
              <a:buClr>
                <a:schemeClr val="tx1">
                  <a:lumMod val="95000"/>
                </a:schemeClr>
              </a:buClr>
              <a:buSzPts val="2000"/>
              <a:buChar char="•"/>
            </a:pPr>
            <a:r>
              <a:rPr lang="en-US" sz="2000" dirty="0"/>
              <a:t>Divide-and-Conquer</a:t>
            </a:r>
            <a:endParaRPr sz="2800" dirty="0"/>
          </a:p>
          <a:p>
            <a:pPr marL="742950" lvl="1" indent="-260350" algn="l" rtl="0">
              <a:lnSpc>
                <a:spcPct val="100000"/>
              </a:lnSpc>
              <a:spcBef>
                <a:spcPts val="400"/>
              </a:spcBef>
              <a:spcAft>
                <a:spcPts val="0"/>
              </a:spcAft>
              <a:buClr>
                <a:schemeClr val="tx1">
                  <a:lumMod val="95000"/>
                </a:schemeClr>
              </a:buClr>
              <a:buSzPts val="1600"/>
              <a:buChar char="–"/>
            </a:pPr>
            <a:r>
              <a:rPr lang="en-US" sz="1600" dirty="0"/>
              <a:t>Recurrence Relations</a:t>
            </a:r>
            <a:endParaRPr sz="2400" dirty="0"/>
          </a:p>
          <a:p>
            <a:pPr marL="342900" lvl="0" indent="-317500" algn="l" rtl="0">
              <a:lnSpc>
                <a:spcPct val="100000"/>
              </a:lnSpc>
              <a:spcBef>
                <a:spcPts val="480"/>
              </a:spcBef>
              <a:spcAft>
                <a:spcPts val="0"/>
              </a:spcAft>
              <a:buClr>
                <a:schemeClr val="tx1">
                  <a:lumMod val="95000"/>
                </a:schemeClr>
              </a:buClr>
              <a:buSzPts val="2000"/>
              <a:buChar char="•"/>
            </a:pPr>
            <a:r>
              <a:rPr lang="en-US" sz="2000" dirty="0"/>
              <a:t>Greedy Algorithms</a:t>
            </a:r>
            <a:endParaRPr sz="2800" dirty="0"/>
          </a:p>
          <a:p>
            <a:pPr marL="342900" lvl="0" indent="-317500" algn="l" rtl="0">
              <a:lnSpc>
                <a:spcPct val="100000"/>
              </a:lnSpc>
              <a:spcBef>
                <a:spcPts val="480"/>
              </a:spcBef>
              <a:spcAft>
                <a:spcPts val="0"/>
              </a:spcAft>
              <a:buClr>
                <a:schemeClr val="tx1">
                  <a:lumMod val="95000"/>
                </a:schemeClr>
              </a:buClr>
              <a:buSzPts val="2000"/>
              <a:buChar char="•"/>
            </a:pPr>
            <a:r>
              <a:rPr lang="en-US" sz="2000" dirty="0"/>
              <a:t>Dynamic Programming</a:t>
            </a:r>
            <a:endParaRPr sz="2800" dirty="0"/>
          </a:p>
          <a:p>
            <a:pPr marL="342900" lvl="0" indent="-317500" algn="l" rtl="0">
              <a:lnSpc>
                <a:spcPct val="100000"/>
              </a:lnSpc>
              <a:spcBef>
                <a:spcPts val="480"/>
              </a:spcBef>
              <a:spcAft>
                <a:spcPts val="0"/>
              </a:spcAft>
              <a:buClr>
                <a:schemeClr val="tx1">
                  <a:lumMod val="95000"/>
                </a:schemeClr>
              </a:buClr>
              <a:buSzPts val="2000"/>
              <a:buChar char="•"/>
            </a:pPr>
            <a:r>
              <a:rPr lang="en-US" sz="2000" dirty="0"/>
              <a:t>Comparisons of Difficulties of Problems through Reductions</a:t>
            </a:r>
            <a:endParaRPr sz="2800" dirty="0"/>
          </a:p>
          <a:p>
            <a:pPr marL="742950" lvl="1" indent="-260350" algn="l" rtl="0">
              <a:lnSpc>
                <a:spcPct val="100000"/>
              </a:lnSpc>
              <a:spcBef>
                <a:spcPts val="400"/>
              </a:spcBef>
              <a:spcAft>
                <a:spcPts val="0"/>
              </a:spcAft>
              <a:buClr>
                <a:schemeClr val="tx1">
                  <a:lumMod val="95000"/>
                </a:schemeClr>
              </a:buClr>
              <a:buSzPts val="1600"/>
              <a:buChar char="–"/>
            </a:pPr>
            <a:r>
              <a:rPr lang="en-US" sz="1600" dirty="0"/>
              <a:t>Can be between problems in P, or involve a discussion of NP</a:t>
            </a:r>
            <a:endParaRPr sz="2400" dirty="0"/>
          </a:p>
          <a:p>
            <a:pPr marL="342900" lvl="0" indent="-317500" algn="l" rtl="0">
              <a:lnSpc>
                <a:spcPct val="100000"/>
              </a:lnSpc>
              <a:spcBef>
                <a:spcPts val="480"/>
              </a:spcBef>
              <a:spcAft>
                <a:spcPts val="0"/>
              </a:spcAft>
              <a:buClr>
                <a:schemeClr val="tx1">
                  <a:lumMod val="95000"/>
                </a:schemeClr>
              </a:buClr>
              <a:buSzPts val="2000"/>
              <a:buChar char="•"/>
            </a:pPr>
            <a:r>
              <a:rPr lang="en-US" sz="2000" dirty="0"/>
              <a:t>Introduction to Machine Learning</a:t>
            </a:r>
            <a:endParaRPr sz="2800" dirty="0"/>
          </a:p>
          <a:p>
            <a:pPr marL="742950" lvl="1" indent="-260350" algn="l" rtl="0">
              <a:lnSpc>
                <a:spcPct val="100000"/>
              </a:lnSpc>
              <a:spcBef>
                <a:spcPts val="400"/>
              </a:spcBef>
              <a:spcAft>
                <a:spcPts val="0"/>
              </a:spcAft>
              <a:buClr>
                <a:schemeClr val="tx1">
                  <a:lumMod val="95000"/>
                </a:schemeClr>
              </a:buClr>
              <a:buSzPts val="1600"/>
              <a:buChar char="–"/>
            </a:pPr>
            <a:r>
              <a:rPr lang="en-US" sz="1600" dirty="0"/>
              <a:t>Overview of ML (training vs. test data, ML process, etc.).</a:t>
            </a:r>
            <a:endParaRPr sz="2400" dirty="0"/>
          </a:p>
          <a:p>
            <a:pPr marL="742950" lvl="1" indent="-260350" algn="l" rtl="0">
              <a:lnSpc>
                <a:spcPct val="100000"/>
              </a:lnSpc>
              <a:spcBef>
                <a:spcPts val="400"/>
              </a:spcBef>
              <a:spcAft>
                <a:spcPts val="0"/>
              </a:spcAft>
              <a:buClr>
                <a:schemeClr val="tx1">
                  <a:lumMod val="95000"/>
                </a:schemeClr>
              </a:buClr>
              <a:buSzPts val="1600"/>
              <a:buChar char="–"/>
            </a:pPr>
            <a:r>
              <a:rPr lang="en-US" sz="1600" dirty="0"/>
              <a:t>Overview of algorithms </a:t>
            </a:r>
            <a:endParaRPr sz="2400" dirty="0"/>
          </a:p>
          <a:p>
            <a:pPr marL="742950" lvl="1" indent="-260350" algn="l" rtl="0">
              <a:lnSpc>
                <a:spcPct val="100000"/>
              </a:lnSpc>
              <a:spcBef>
                <a:spcPts val="400"/>
              </a:spcBef>
              <a:spcAft>
                <a:spcPts val="0"/>
              </a:spcAft>
              <a:buClr>
                <a:schemeClr val="tx1">
                  <a:lumMod val="95000"/>
                </a:schemeClr>
              </a:buClr>
              <a:buSzPts val="1600"/>
              <a:buChar char="–"/>
            </a:pPr>
            <a:r>
              <a:rPr lang="en-US" sz="1600" dirty="0"/>
              <a:t>Ethics of Machine Learning</a:t>
            </a:r>
            <a:endParaRPr sz="2400" dirty="0"/>
          </a:p>
        </p:txBody>
      </p:sp>
      <p:sp>
        <p:nvSpPr>
          <p:cNvPr id="1261" name="Google Shape;1261;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20"/>
          <p:cNvSpPr txBox="1">
            <a:spLocks noGrp="1"/>
          </p:cNvSpPr>
          <p:nvPr>
            <p:ph type="title"/>
          </p:nvPr>
        </p:nvSpPr>
        <p:spPr>
          <a:xfrm>
            <a:off x="609600" y="152400"/>
            <a:ext cx="10972800" cy="838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lt1"/>
              </a:buClr>
              <a:buSzPts val="4400"/>
              <a:buFont typeface="Helvetica Neue Light"/>
              <a:buNone/>
            </a:pPr>
            <a:r>
              <a:rPr lang="en-US"/>
              <a:t>Highlights from our Journey</a:t>
            </a:r>
            <a:endParaRPr/>
          </a:p>
        </p:txBody>
      </p:sp>
      <p:sp>
        <p:nvSpPr>
          <p:cNvPr id="1267" name="Google Shape;1267;p20"/>
          <p:cNvSpPr txBox="1">
            <a:spLocks noGrp="1"/>
          </p:cNvSpPr>
          <p:nvPr>
            <p:ph type="body" idx="1"/>
          </p:nvPr>
        </p:nvSpPr>
        <p:spPr>
          <a:xfrm>
            <a:off x="609600" y="1295400"/>
            <a:ext cx="10972800" cy="5060951"/>
          </a:xfrm>
          <a:prstGeom prst="rect">
            <a:avLst/>
          </a:prstGeom>
          <a:noFill/>
          <a:ln>
            <a:noFill/>
          </a:ln>
        </p:spPr>
        <p:txBody>
          <a:bodyPr spcFirstLastPara="1" wrap="square" lIns="91425" tIns="45700" rIns="91425" bIns="45700" anchor="ctr" anchorCtr="0">
            <a:normAutofit/>
          </a:bodyPr>
          <a:lstStyle/>
          <a:p>
            <a:pPr marL="342900" lvl="0" indent="-342900" algn="l" rtl="0">
              <a:lnSpc>
                <a:spcPct val="100000"/>
              </a:lnSpc>
              <a:spcBef>
                <a:spcPts val="0"/>
              </a:spcBef>
              <a:spcAft>
                <a:spcPts val="0"/>
              </a:spcAft>
              <a:buClr>
                <a:schemeClr val="tx1">
                  <a:lumMod val="95000"/>
                </a:schemeClr>
              </a:buClr>
              <a:buSzPct val="100000"/>
              <a:buChar char="•"/>
            </a:pPr>
            <a:r>
              <a:rPr lang="en-US" dirty="0"/>
              <a:t>Graphs</a:t>
            </a:r>
            <a:endParaRPr dirty="0"/>
          </a:p>
          <a:p>
            <a:pPr marL="742950" lvl="1" indent="-285750" algn="l" rtl="0">
              <a:lnSpc>
                <a:spcPct val="100000"/>
              </a:lnSpc>
              <a:spcBef>
                <a:spcPts val="476"/>
              </a:spcBef>
              <a:spcAft>
                <a:spcPts val="0"/>
              </a:spcAft>
              <a:buClr>
                <a:schemeClr val="tx1">
                  <a:lumMod val="95000"/>
                </a:schemeClr>
              </a:buClr>
              <a:buSzPct val="100000"/>
              <a:buChar char="–"/>
            </a:pPr>
            <a:r>
              <a:rPr lang="en-US" dirty="0"/>
              <a:t>You know an important data structure that models many problems</a:t>
            </a:r>
            <a:endParaRPr dirty="0"/>
          </a:p>
          <a:p>
            <a:pPr marL="742950" lvl="1" indent="-285750" algn="l" rtl="0">
              <a:lnSpc>
                <a:spcPct val="100000"/>
              </a:lnSpc>
              <a:spcBef>
                <a:spcPts val="476"/>
              </a:spcBef>
              <a:spcAft>
                <a:spcPts val="0"/>
              </a:spcAft>
              <a:buClr>
                <a:schemeClr val="tx1">
                  <a:lumMod val="95000"/>
                </a:schemeClr>
              </a:buClr>
              <a:buSzPct val="100000"/>
              <a:buChar char="–"/>
            </a:pPr>
            <a:r>
              <a:rPr lang="en-US" dirty="0"/>
              <a:t>You’ve seen a rich set of algorithms and algorithm design approaches that apply to graph problems</a:t>
            </a:r>
            <a:endParaRPr dirty="0"/>
          </a:p>
          <a:p>
            <a:pPr marL="342900" lvl="0" indent="-342900" algn="l" rtl="0">
              <a:lnSpc>
                <a:spcPct val="100000"/>
              </a:lnSpc>
              <a:spcBef>
                <a:spcPts val="544"/>
              </a:spcBef>
              <a:spcAft>
                <a:spcPts val="0"/>
              </a:spcAft>
              <a:buClr>
                <a:schemeClr val="tx1">
                  <a:lumMod val="95000"/>
                </a:schemeClr>
              </a:buClr>
              <a:buSzPct val="100000"/>
              <a:buChar char="•"/>
            </a:pPr>
            <a:r>
              <a:rPr lang="en-US" dirty="0"/>
              <a:t>Reasoning about Algorithms</a:t>
            </a:r>
            <a:endParaRPr dirty="0"/>
          </a:p>
          <a:p>
            <a:pPr marL="742950" lvl="1" indent="-285750" algn="l" rtl="0">
              <a:lnSpc>
                <a:spcPct val="100000"/>
              </a:lnSpc>
              <a:spcBef>
                <a:spcPts val="476"/>
              </a:spcBef>
              <a:spcAft>
                <a:spcPts val="0"/>
              </a:spcAft>
              <a:buClr>
                <a:schemeClr val="tx1">
                  <a:lumMod val="95000"/>
                </a:schemeClr>
              </a:buClr>
              <a:buSzPct val="100000"/>
              <a:buChar char="–"/>
            </a:pPr>
            <a:r>
              <a:rPr lang="en-US" dirty="0"/>
              <a:t>You know many time-complexity issues</a:t>
            </a:r>
            <a:endParaRPr dirty="0"/>
          </a:p>
          <a:p>
            <a:pPr marL="1143000" lvl="2" indent="-228600" algn="l" rtl="0">
              <a:lnSpc>
                <a:spcPct val="100000"/>
              </a:lnSpc>
              <a:spcBef>
                <a:spcPts val="408"/>
              </a:spcBef>
              <a:spcAft>
                <a:spcPts val="0"/>
              </a:spcAft>
              <a:buClr>
                <a:schemeClr val="tx1">
                  <a:lumMod val="95000"/>
                </a:schemeClr>
              </a:buClr>
              <a:buSzPct val="100000"/>
              <a:buChar char="•"/>
            </a:pPr>
            <a:r>
              <a:rPr lang="en-US" dirty="0"/>
              <a:t>Including exponential vs. polynomial complexity</a:t>
            </a:r>
            <a:endParaRPr dirty="0"/>
          </a:p>
          <a:p>
            <a:pPr marL="1143000" lvl="2" indent="-228600" algn="l" rtl="0">
              <a:lnSpc>
                <a:spcPct val="100000"/>
              </a:lnSpc>
              <a:spcBef>
                <a:spcPts val="408"/>
              </a:spcBef>
              <a:spcAft>
                <a:spcPts val="0"/>
              </a:spcAft>
              <a:buClr>
                <a:schemeClr val="tx1">
                  <a:lumMod val="95000"/>
                </a:schemeClr>
              </a:buClr>
              <a:buSzPct val="100000"/>
              <a:buChar char="•"/>
            </a:pPr>
            <a:r>
              <a:rPr lang="en-US" dirty="0"/>
              <a:t>You can analyze an individual algorithm and also recognize patterns (e.g. what you learned in the divide and conquer section with the master theorem)</a:t>
            </a:r>
            <a:endParaRPr dirty="0"/>
          </a:p>
          <a:p>
            <a:pPr marL="742950" lvl="1" indent="-285750" algn="l" rtl="0">
              <a:lnSpc>
                <a:spcPct val="100000"/>
              </a:lnSpc>
              <a:spcBef>
                <a:spcPts val="476"/>
              </a:spcBef>
              <a:spcAft>
                <a:spcPts val="0"/>
              </a:spcAft>
              <a:buClr>
                <a:schemeClr val="tx1">
                  <a:lumMod val="95000"/>
                </a:schemeClr>
              </a:buClr>
              <a:buSzPct val="100000"/>
              <a:buChar char="–"/>
            </a:pPr>
            <a:r>
              <a:rPr lang="en-US" dirty="0"/>
              <a:t>Correctness: you’re better at making informal arguments and formal proofs</a:t>
            </a:r>
            <a:endParaRPr dirty="0"/>
          </a:p>
          <a:p>
            <a:pPr marL="342900" lvl="0" indent="-342900" algn="l" rtl="0">
              <a:lnSpc>
                <a:spcPct val="100000"/>
              </a:lnSpc>
              <a:spcBef>
                <a:spcPts val="544"/>
              </a:spcBef>
              <a:spcAft>
                <a:spcPts val="0"/>
              </a:spcAft>
              <a:buClr>
                <a:schemeClr val="tx1">
                  <a:lumMod val="95000"/>
                </a:schemeClr>
              </a:buClr>
              <a:buSzPct val="100000"/>
              <a:buChar char="•"/>
            </a:pPr>
            <a:r>
              <a:rPr lang="en-US" dirty="0"/>
              <a:t>Reasoning about problems</a:t>
            </a:r>
            <a:endParaRPr dirty="0"/>
          </a:p>
          <a:p>
            <a:pPr marL="742950" lvl="1" indent="-285750" algn="l" rtl="0">
              <a:lnSpc>
                <a:spcPct val="100000"/>
              </a:lnSpc>
              <a:spcBef>
                <a:spcPts val="476"/>
              </a:spcBef>
              <a:spcAft>
                <a:spcPts val="0"/>
              </a:spcAft>
              <a:buClr>
                <a:schemeClr val="tx1">
                  <a:lumMod val="95000"/>
                </a:schemeClr>
              </a:buClr>
              <a:buSzPct val="100000"/>
              <a:buChar char="–"/>
            </a:pPr>
            <a:r>
              <a:rPr lang="en-US" dirty="0"/>
              <a:t>You've started to learn how to make arguments about a problem’s lower bounds</a:t>
            </a:r>
            <a:endParaRPr dirty="0"/>
          </a:p>
          <a:p>
            <a:pPr marL="1143000" lvl="2" indent="-228600" algn="l" rtl="0">
              <a:lnSpc>
                <a:spcPct val="100000"/>
              </a:lnSpc>
              <a:spcBef>
                <a:spcPts val="408"/>
              </a:spcBef>
              <a:spcAft>
                <a:spcPts val="0"/>
              </a:spcAft>
              <a:buClr>
                <a:schemeClr val="tx1">
                  <a:lumMod val="95000"/>
                </a:schemeClr>
              </a:buClr>
              <a:buSzPct val="100000"/>
              <a:buChar char="•"/>
            </a:pPr>
            <a:r>
              <a:rPr lang="en-US" dirty="0"/>
              <a:t>Prove something about </a:t>
            </a:r>
            <a:r>
              <a:rPr lang="en-US" u="sng" dirty="0"/>
              <a:t>any</a:t>
            </a:r>
            <a:r>
              <a:rPr lang="en-US" dirty="0"/>
              <a:t> algorithm that could solve a given problem</a:t>
            </a:r>
            <a:endParaRPr dirty="0"/>
          </a:p>
        </p:txBody>
      </p:sp>
      <p:sp>
        <p:nvSpPr>
          <p:cNvPr id="1268" name="Google Shape;1268;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2"/>
        <p:cNvGrpSpPr/>
        <p:nvPr/>
      </p:nvGrpSpPr>
      <p:grpSpPr>
        <a:xfrm>
          <a:off x="0" y="0"/>
          <a:ext cx="0" cy="0"/>
          <a:chOff x="0" y="0"/>
          <a:chExt cx="0" cy="0"/>
        </a:xfrm>
      </p:grpSpPr>
      <p:sp>
        <p:nvSpPr>
          <p:cNvPr id="1273" name="Google Shape;1273;p21"/>
          <p:cNvSpPr txBox="1">
            <a:spLocks noGrp="1"/>
          </p:cNvSpPr>
          <p:nvPr>
            <p:ph type="title"/>
          </p:nvPr>
        </p:nvSpPr>
        <p:spPr>
          <a:xfrm>
            <a:off x="609600" y="152400"/>
            <a:ext cx="10972800" cy="838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lt1"/>
              </a:buClr>
              <a:buSzPts val="4400"/>
              <a:buFont typeface="Helvetica Neue Light"/>
              <a:buNone/>
            </a:pPr>
            <a:r>
              <a:rPr lang="en-US"/>
              <a:t>Highlights from our Journey </a:t>
            </a:r>
            <a:endParaRPr/>
          </a:p>
        </p:txBody>
      </p:sp>
      <p:sp>
        <p:nvSpPr>
          <p:cNvPr id="1274" name="Google Shape;1274;p21"/>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ctr" anchorCtr="0">
            <a:normAutofit/>
          </a:bodyPr>
          <a:lstStyle/>
          <a:p>
            <a:pPr marL="342900" lvl="0" indent="-342900" algn="l" rtl="0">
              <a:lnSpc>
                <a:spcPct val="100000"/>
              </a:lnSpc>
              <a:spcBef>
                <a:spcPts val="0"/>
              </a:spcBef>
              <a:spcAft>
                <a:spcPts val="0"/>
              </a:spcAft>
              <a:buClr>
                <a:schemeClr val="tx1">
                  <a:lumMod val="95000"/>
                </a:schemeClr>
              </a:buClr>
              <a:buSzPts val="3200"/>
              <a:buChar char="•"/>
            </a:pPr>
            <a:r>
              <a:rPr lang="en-US" dirty="0"/>
              <a:t>You’ve learned about algorithm design strategies</a:t>
            </a:r>
            <a:endParaRPr dirty="0"/>
          </a:p>
          <a:p>
            <a:pPr marL="742950" lvl="1" indent="-285750" algn="l" rtl="0">
              <a:lnSpc>
                <a:spcPct val="100000"/>
              </a:lnSpc>
              <a:spcBef>
                <a:spcPts val="560"/>
              </a:spcBef>
              <a:spcAft>
                <a:spcPts val="0"/>
              </a:spcAft>
              <a:buClr>
                <a:schemeClr val="tx1">
                  <a:lumMod val="95000"/>
                </a:schemeClr>
              </a:buClr>
              <a:buSzPts val="2800"/>
              <a:buChar char="–"/>
            </a:pPr>
            <a:r>
              <a:rPr lang="en-US" b="1" dirty="0"/>
              <a:t>Search</a:t>
            </a:r>
            <a:r>
              <a:rPr lang="en-US" dirty="0"/>
              <a:t> in graphs</a:t>
            </a:r>
            <a:endParaRPr dirty="0"/>
          </a:p>
          <a:p>
            <a:pPr marL="742950" lvl="1" indent="-285750" algn="l" rtl="0">
              <a:lnSpc>
                <a:spcPct val="100000"/>
              </a:lnSpc>
              <a:spcBef>
                <a:spcPts val="560"/>
              </a:spcBef>
              <a:spcAft>
                <a:spcPts val="0"/>
              </a:spcAft>
              <a:buClr>
                <a:schemeClr val="tx1">
                  <a:lumMod val="95000"/>
                </a:schemeClr>
              </a:buClr>
              <a:buSzPts val="2800"/>
              <a:buChar char="–"/>
            </a:pPr>
            <a:r>
              <a:rPr lang="en-US" b="1" dirty="0"/>
              <a:t>Divide and Conquer</a:t>
            </a:r>
            <a:endParaRPr dirty="0"/>
          </a:p>
          <a:p>
            <a:pPr marL="742950" lvl="1" indent="-285750" algn="l" rtl="0">
              <a:lnSpc>
                <a:spcPct val="100000"/>
              </a:lnSpc>
              <a:spcBef>
                <a:spcPts val="560"/>
              </a:spcBef>
              <a:spcAft>
                <a:spcPts val="0"/>
              </a:spcAft>
              <a:buClr>
                <a:schemeClr val="tx1">
                  <a:lumMod val="95000"/>
                </a:schemeClr>
              </a:buClr>
              <a:buSzPts val="2800"/>
              <a:buChar char="–"/>
            </a:pPr>
            <a:r>
              <a:rPr lang="en-US" dirty="0"/>
              <a:t>Optimization problems: </a:t>
            </a:r>
            <a:r>
              <a:rPr lang="en-US" b="1" dirty="0"/>
              <a:t>Greedy</a:t>
            </a:r>
            <a:r>
              <a:rPr lang="en-US" dirty="0"/>
              <a:t> and </a:t>
            </a:r>
            <a:r>
              <a:rPr lang="en-US" b="1" dirty="0"/>
              <a:t>Dynamic Programming</a:t>
            </a:r>
            <a:endParaRPr dirty="0"/>
          </a:p>
          <a:p>
            <a:pPr marL="742950" lvl="1" indent="-285750" algn="l" rtl="0">
              <a:lnSpc>
                <a:spcPct val="100000"/>
              </a:lnSpc>
              <a:spcBef>
                <a:spcPts val="560"/>
              </a:spcBef>
              <a:spcAft>
                <a:spcPts val="0"/>
              </a:spcAft>
              <a:buClr>
                <a:schemeClr val="tx1">
                  <a:lumMod val="95000"/>
                </a:schemeClr>
              </a:buClr>
              <a:buSzPts val="2800"/>
              <a:buChar char="–"/>
            </a:pPr>
            <a:r>
              <a:rPr lang="en-US" b="1" dirty="0"/>
              <a:t>Network flow </a:t>
            </a:r>
            <a:r>
              <a:rPr lang="en-US" dirty="0"/>
              <a:t>and related problems</a:t>
            </a:r>
            <a:endParaRPr dirty="0"/>
          </a:p>
          <a:p>
            <a:pPr marL="742950" lvl="1" indent="-285750" algn="l" rtl="0">
              <a:lnSpc>
                <a:spcPct val="100000"/>
              </a:lnSpc>
              <a:spcBef>
                <a:spcPts val="560"/>
              </a:spcBef>
              <a:spcAft>
                <a:spcPts val="0"/>
              </a:spcAft>
              <a:buClr>
                <a:schemeClr val="tx1">
                  <a:lumMod val="95000"/>
                </a:schemeClr>
              </a:buClr>
              <a:buSzPts val="2800"/>
              <a:buChar char="–"/>
            </a:pPr>
            <a:r>
              <a:rPr lang="en-US" dirty="0"/>
              <a:t>And one example of </a:t>
            </a:r>
            <a:r>
              <a:rPr lang="en-US" b="1" dirty="0"/>
              <a:t>iterative refinement</a:t>
            </a:r>
            <a:r>
              <a:rPr lang="en-US" dirty="0"/>
              <a:t>: k-means clustering</a:t>
            </a:r>
            <a:endParaRPr dirty="0"/>
          </a:p>
          <a:p>
            <a:pPr marL="342900" lvl="0" indent="-342900" algn="l" rtl="0">
              <a:lnSpc>
                <a:spcPct val="100000"/>
              </a:lnSpc>
              <a:spcBef>
                <a:spcPts val="640"/>
              </a:spcBef>
              <a:spcAft>
                <a:spcPts val="0"/>
              </a:spcAft>
              <a:buClr>
                <a:schemeClr val="tx1">
                  <a:lumMod val="95000"/>
                </a:schemeClr>
              </a:buClr>
              <a:buSzPts val="3200"/>
              <a:buChar char="•"/>
            </a:pPr>
            <a:r>
              <a:rPr lang="en-US" dirty="0"/>
              <a:t>You’ve had an overview of an important “new” area in computing: Machine Learning</a:t>
            </a:r>
            <a:endParaRPr dirty="0"/>
          </a:p>
        </p:txBody>
      </p:sp>
      <p:sp>
        <p:nvSpPr>
          <p:cNvPr id="1275" name="Google Shape;1275;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22"/>
          <p:cNvSpPr txBox="1">
            <a:spLocks noGrp="1"/>
          </p:cNvSpPr>
          <p:nvPr>
            <p:ph type="title"/>
          </p:nvPr>
        </p:nvSpPr>
        <p:spPr>
          <a:xfrm>
            <a:off x="609600" y="152400"/>
            <a:ext cx="10972800" cy="838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lt1"/>
              </a:buClr>
              <a:buSzPts val="4400"/>
              <a:buFont typeface="Helvetica Neue Light"/>
              <a:buNone/>
            </a:pPr>
            <a:r>
              <a:rPr lang="en-US"/>
              <a:t>You’ve Come a Long Way!</a:t>
            </a:r>
            <a:endParaRPr/>
          </a:p>
        </p:txBody>
      </p:sp>
      <p:sp>
        <p:nvSpPr>
          <p:cNvPr id="1281" name="Google Shape;1281;p22"/>
          <p:cNvSpPr txBox="1">
            <a:spLocks noGrp="1"/>
          </p:cNvSpPr>
          <p:nvPr>
            <p:ph type="body" idx="1"/>
          </p:nvPr>
        </p:nvSpPr>
        <p:spPr>
          <a:xfrm>
            <a:off x="609600" y="1600200"/>
            <a:ext cx="10972800" cy="5121300"/>
          </a:xfrm>
          <a:prstGeom prst="rect">
            <a:avLst/>
          </a:prstGeom>
          <a:noFill/>
          <a:ln>
            <a:noFill/>
          </a:ln>
        </p:spPr>
        <p:txBody>
          <a:bodyPr spcFirstLastPara="1" wrap="square" lIns="91425" tIns="45700" rIns="91425" bIns="45700" anchor="ctr" anchorCtr="0">
            <a:normAutofit/>
          </a:bodyPr>
          <a:lstStyle/>
          <a:p>
            <a:pPr marL="342900" lvl="0" indent="-342900" algn="l" rtl="0">
              <a:lnSpc>
                <a:spcPct val="100000"/>
              </a:lnSpc>
              <a:spcBef>
                <a:spcPts val="0"/>
              </a:spcBef>
              <a:spcAft>
                <a:spcPts val="0"/>
              </a:spcAft>
              <a:buClr>
                <a:schemeClr val="tx1">
                  <a:lumMod val="95000"/>
                </a:schemeClr>
              </a:buClr>
              <a:buSzPts val="3200"/>
              <a:buChar char="•"/>
            </a:pPr>
            <a:r>
              <a:rPr lang="en-US" dirty="0"/>
              <a:t>All of this is a significant advance from what you knew at the end of CS2100</a:t>
            </a:r>
            <a:endParaRPr dirty="0"/>
          </a:p>
          <a:p>
            <a:pPr marL="742950" lvl="1" indent="-285750" algn="l" rtl="0">
              <a:lnSpc>
                <a:spcPct val="100000"/>
              </a:lnSpc>
              <a:spcBef>
                <a:spcPts val="560"/>
              </a:spcBef>
              <a:spcAft>
                <a:spcPts val="0"/>
              </a:spcAft>
              <a:buClr>
                <a:schemeClr val="tx1">
                  <a:lumMod val="95000"/>
                </a:schemeClr>
              </a:buClr>
              <a:buSzPts val="2800"/>
              <a:buChar char="–"/>
            </a:pPr>
            <a:r>
              <a:rPr lang="en-US" dirty="0"/>
              <a:t>Yes, you learned more algorithms and data structures</a:t>
            </a:r>
            <a:endParaRPr dirty="0"/>
          </a:p>
          <a:p>
            <a:pPr marL="742950" lvl="1" indent="-285750" algn="l" rtl="0">
              <a:lnSpc>
                <a:spcPct val="100000"/>
              </a:lnSpc>
              <a:spcBef>
                <a:spcPts val="560"/>
              </a:spcBef>
              <a:spcAft>
                <a:spcPts val="0"/>
              </a:spcAft>
              <a:buClr>
                <a:schemeClr val="tx1">
                  <a:lumMod val="95000"/>
                </a:schemeClr>
              </a:buClr>
              <a:buSzPts val="2800"/>
              <a:buChar char="–"/>
            </a:pPr>
            <a:r>
              <a:rPr lang="en-US" dirty="0"/>
              <a:t>But you have higher-level understanding and abilities</a:t>
            </a:r>
            <a:endParaRPr dirty="0"/>
          </a:p>
          <a:p>
            <a:pPr marL="1143000" lvl="2" indent="-228600" algn="l" rtl="0">
              <a:lnSpc>
                <a:spcPct val="100000"/>
              </a:lnSpc>
              <a:spcBef>
                <a:spcPts val="480"/>
              </a:spcBef>
              <a:spcAft>
                <a:spcPts val="0"/>
              </a:spcAft>
              <a:buClr>
                <a:schemeClr val="tx1">
                  <a:lumMod val="95000"/>
                </a:schemeClr>
              </a:buClr>
              <a:buSzPts val="2400"/>
              <a:buChar char="•"/>
            </a:pPr>
            <a:r>
              <a:rPr lang="en-US" dirty="0"/>
              <a:t>Analysis, both logical and mathematical</a:t>
            </a:r>
            <a:endParaRPr dirty="0"/>
          </a:p>
          <a:p>
            <a:pPr marL="1143000" lvl="2" indent="-228600" algn="l" rtl="0">
              <a:lnSpc>
                <a:spcPct val="100000"/>
              </a:lnSpc>
              <a:spcBef>
                <a:spcPts val="480"/>
              </a:spcBef>
              <a:spcAft>
                <a:spcPts val="0"/>
              </a:spcAft>
              <a:buClr>
                <a:schemeClr val="tx1">
                  <a:lumMod val="95000"/>
                </a:schemeClr>
              </a:buClr>
              <a:buSzPts val="2400"/>
              <a:buChar char="•"/>
            </a:pPr>
            <a:r>
              <a:rPr lang="en-US" dirty="0"/>
              <a:t>Types of problems (e.g. optimization problems)</a:t>
            </a:r>
            <a:endParaRPr dirty="0"/>
          </a:p>
          <a:p>
            <a:pPr marL="1143000" lvl="2" indent="-228600" algn="l" rtl="0">
              <a:lnSpc>
                <a:spcPct val="100000"/>
              </a:lnSpc>
              <a:spcBef>
                <a:spcPts val="480"/>
              </a:spcBef>
              <a:spcAft>
                <a:spcPts val="0"/>
              </a:spcAft>
              <a:buClr>
                <a:schemeClr val="tx1">
                  <a:lumMod val="95000"/>
                </a:schemeClr>
              </a:buClr>
              <a:buSzPts val="2400"/>
              <a:buChar char="•"/>
            </a:pPr>
            <a:r>
              <a:rPr lang="en-US" dirty="0"/>
              <a:t>Algorithm design strategies</a:t>
            </a:r>
            <a:endParaRPr dirty="0"/>
          </a:p>
          <a:p>
            <a:pPr marL="1143000" lvl="2" indent="-228600" algn="l" rtl="0">
              <a:lnSpc>
                <a:spcPct val="100000"/>
              </a:lnSpc>
              <a:spcBef>
                <a:spcPts val="480"/>
              </a:spcBef>
              <a:spcAft>
                <a:spcPts val="0"/>
              </a:spcAft>
              <a:buClr>
                <a:schemeClr val="tx1">
                  <a:lumMod val="95000"/>
                </a:schemeClr>
              </a:buClr>
              <a:buSzPts val="2400"/>
              <a:buChar char="•"/>
            </a:pPr>
            <a:r>
              <a:rPr lang="en-US" dirty="0"/>
              <a:t>Relations between different problems and how to solve them</a:t>
            </a:r>
            <a:endParaRPr dirty="0"/>
          </a:p>
          <a:p>
            <a:pPr marL="1828800" lvl="3" indent="-381000" algn="l" rtl="0">
              <a:lnSpc>
                <a:spcPct val="100000"/>
              </a:lnSpc>
              <a:spcBef>
                <a:spcPts val="480"/>
              </a:spcBef>
              <a:spcAft>
                <a:spcPts val="0"/>
              </a:spcAft>
              <a:buClr>
                <a:schemeClr val="tx1">
                  <a:lumMod val="95000"/>
                </a:schemeClr>
              </a:buClr>
              <a:buSzPts val="2400"/>
              <a:buChar char="–"/>
            </a:pPr>
            <a:r>
              <a:rPr lang="en-US" dirty="0"/>
              <a:t>Example: sing graph search in other algorithms like network flow</a:t>
            </a:r>
            <a:endParaRPr dirty="0"/>
          </a:p>
          <a:p>
            <a:pPr marL="1828800" lvl="3" indent="-381000" algn="l" rtl="0">
              <a:lnSpc>
                <a:spcPct val="100000"/>
              </a:lnSpc>
              <a:spcBef>
                <a:spcPts val="480"/>
              </a:spcBef>
              <a:spcAft>
                <a:spcPts val="0"/>
              </a:spcAft>
              <a:buClr>
                <a:schemeClr val="tx1">
                  <a:lumMod val="95000"/>
                </a:schemeClr>
              </a:buClr>
              <a:buSzPts val="2400"/>
              <a:buChar char="–"/>
            </a:pPr>
            <a:r>
              <a:rPr lang="en-US" dirty="0"/>
              <a:t>Example: using network flow for other problems like bipartite matching</a:t>
            </a:r>
            <a:endParaRPr dirty="0"/>
          </a:p>
          <a:p>
            <a:pPr marL="1828800" lvl="3" indent="-381000" algn="l" rtl="0">
              <a:lnSpc>
                <a:spcPct val="100000"/>
              </a:lnSpc>
              <a:spcBef>
                <a:spcPts val="480"/>
              </a:spcBef>
              <a:spcAft>
                <a:spcPts val="0"/>
              </a:spcAft>
              <a:buClr>
                <a:schemeClr val="tx1">
                  <a:lumMod val="95000"/>
                </a:schemeClr>
              </a:buClr>
              <a:buSzPts val="2400"/>
              <a:buChar char="–"/>
            </a:pPr>
            <a:r>
              <a:rPr lang="en-US" dirty="0"/>
              <a:t>Or reductions in general</a:t>
            </a:r>
            <a:endParaRPr dirty="0"/>
          </a:p>
          <a:p>
            <a:pPr marL="457200" lvl="0" indent="-342900" algn="l" rtl="0">
              <a:lnSpc>
                <a:spcPct val="100000"/>
              </a:lnSpc>
              <a:spcBef>
                <a:spcPts val="480"/>
              </a:spcBef>
              <a:spcAft>
                <a:spcPts val="0"/>
              </a:spcAft>
              <a:buClr>
                <a:schemeClr val="tx1">
                  <a:lumMod val="95000"/>
                </a:schemeClr>
              </a:buClr>
              <a:buSzPts val="1800"/>
              <a:buChar char="•"/>
            </a:pPr>
            <a:r>
              <a:rPr lang="en-US" dirty="0"/>
              <a:t>Did we push too hard?  Maybe, but maybe not…</a:t>
            </a:r>
            <a:endParaRPr dirty="0"/>
          </a:p>
        </p:txBody>
      </p:sp>
      <p:sp>
        <p:nvSpPr>
          <p:cNvPr id="1282" name="Google Shape;1282;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sp>
        <p:nvSpPr>
          <p:cNvPr id="1287" name="Google Shape;1287;p23"/>
          <p:cNvSpPr txBox="1">
            <a:spLocks noGrp="1"/>
          </p:cNvSpPr>
          <p:nvPr>
            <p:ph type="title"/>
          </p:nvPr>
        </p:nvSpPr>
        <p:spPr>
          <a:xfrm>
            <a:off x="609600" y="152400"/>
            <a:ext cx="10972800" cy="838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lt1"/>
              </a:buClr>
              <a:buSzPts val="4400"/>
              <a:buFont typeface="Helvetica Neue Light"/>
              <a:buNone/>
            </a:pPr>
            <a:r>
              <a:rPr lang="en-US"/>
              <a:t>We and the CS Department Learning, Too</a:t>
            </a:r>
            <a:endParaRPr/>
          </a:p>
        </p:txBody>
      </p:sp>
      <p:sp>
        <p:nvSpPr>
          <p:cNvPr id="1288" name="Google Shape;1288;p23"/>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ctr" anchorCtr="0">
            <a:normAutofit/>
          </a:bodyPr>
          <a:lstStyle/>
          <a:p>
            <a:pPr marL="342900" lvl="0" indent="-342900" algn="l" rtl="0">
              <a:lnSpc>
                <a:spcPct val="100000"/>
              </a:lnSpc>
              <a:spcBef>
                <a:spcPts val="0"/>
              </a:spcBef>
              <a:spcAft>
                <a:spcPts val="0"/>
              </a:spcAft>
              <a:buClr>
                <a:schemeClr val="tx1">
                  <a:lumMod val="95000"/>
                </a:schemeClr>
              </a:buClr>
              <a:buSzPts val="3200"/>
              <a:buChar char="•"/>
            </a:pPr>
            <a:r>
              <a:rPr lang="en-US" dirty="0"/>
              <a:t>CS3100: successor to long established course CS4102 Algorithms in “old” curriculum</a:t>
            </a:r>
            <a:endParaRPr dirty="0"/>
          </a:p>
          <a:p>
            <a:pPr marL="742950" lvl="1" indent="-285750" algn="l" rtl="0">
              <a:lnSpc>
                <a:spcPct val="100000"/>
              </a:lnSpc>
              <a:spcBef>
                <a:spcPts val="560"/>
              </a:spcBef>
              <a:spcAft>
                <a:spcPts val="0"/>
              </a:spcAft>
              <a:buClr>
                <a:schemeClr val="tx1">
                  <a:lumMod val="95000"/>
                </a:schemeClr>
              </a:buClr>
              <a:buSzPts val="2800"/>
              <a:buChar char="–"/>
            </a:pPr>
            <a:r>
              <a:rPr lang="en-US" dirty="0"/>
              <a:t>Differences: CS4102 students took course later in program, had more programming (have you heard of 2150?)</a:t>
            </a:r>
            <a:endParaRPr dirty="0"/>
          </a:p>
          <a:p>
            <a:pPr marL="742950" lvl="1" indent="-285750" algn="l" rtl="0">
              <a:lnSpc>
                <a:spcPct val="100000"/>
              </a:lnSpc>
              <a:spcBef>
                <a:spcPts val="560"/>
              </a:spcBef>
              <a:spcAft>
                <a:spcPts val="0"/>
              </a:spcAft>
              <a:buClr>
                <a:schemeClr val="tx1">
                  <a:lumMod val="95000"/>
                </a:schemeClr>
              </a:buClr>
              <a:buSzPts val="2800"/>
              <a:buChar char="–"/>
            </a:pPr>
            <a:r>
              <a:rPr lang="en-US" dirty="0"/>
              <a:t>CS2100 was intended to give a deeper intro to data structures than the “old” CS2110</a:t>
            </a:r>
            <a:endParaRPr dirty="0"/>
          </a:p>
          <a:p>
            <a:pPr marL="342900" lvl="0" indent="-342900" algn="l" rtl="0">
              <a:lnSpc>
                <a:spcPct val="100000"/>
              </a:lnSpc>
              <a:spcBef>
                <a:spcPts val="640"/>
              </a:spcBef>
              <a:spcAft>
                <a:spcPts val="0"/>
              </a:spcAft>
              <a:buClr>
                <a:schemeClr val="tx1">
                  <a:lumMod val="95000"/>
                </a:schemeClr>
              </a:buClr>
              <a:buSzPts val="3200"/>
              <a:buChar char="•"/>
            </a:pPr>
            <a:r>
              <a:rPr lang="en-US" dirty="0"/>
              <a:t>New courses piloted pre-pandemic</a:t>
            </a:r>
            <a:endParaRPr dirty="0"/>
          </a:p>
          <a:p>
            <a:pPr marL="342900" lvl="0" indent="-342900" algn="l" rtl="0">
              <a:lnSpc>
                <a:spcPct val="100000"/>
              </a:lnSpc>
              <a:spcBef>
                <a:spcPts val="640"/>
              </a:spcBef>
              <a:spcAft>
                <a:spcPts val="0"/>
              </a:spcAft>
              <a:buClr>
                <a:schemeClr val="tx1">
                  <a:lumMod val="95000"/>
                </a:schemeClr>
              </a:buClr>
              <a:buSzPts val="3200"/>
              <a:buChar char="•"/>
            </a:pPr>
            <a:r>
              <a:rPr lang="en-US" dirty="0"/>
              <a:t>Fall 2025 is 7th offering of CS3100 </a:t>
            </a:r>
            <a:endParaRPr dirty="0"/>
          </a:p>
          <a:p>
            <a:pPr marL="342900" lvl="0" indent="-342900" algn="l" rtl="0">
              <a:lnSpc>
                <a:spcPct val="100000"/>
              </a:lnSpc>
              <a:spcBef>
                <a:spcPts val="640"/>
              </a:spcBef>
              <a:spcAft>
                <a:spcPts val="0"/>
              </a:spcAft>
              <a:buClr>
                <a:schemeClr val="tx1">
                  <a:lumMod val="95000"/>
                </a:schemeClr>
              </a:buClr>
              <a:buSzPts val="3200"/>
              <a:buChar char="•"/>
            </a:pPr>
            <a:r>
              <a:rPr lang="en-US" dirty="0"/>
              <a:t>CS department DSA committee has been evaluating things….</a:t>
            </a:r>
            <a:endParaRPr dirty="0"/>
          </a:p>
        </p:txBody>
      </p:sp>
      <p:sp>
        <p:nvSpPr>
          <p:cNvPr id="1289" name="Google Shape;1289;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p24"/>
          <p:cNvSpPr txBox="1">
            <a:spLocks noGrp="1"/>
          </p:cNvSpPr>
          <p:nvPr>
            <p:ph type="title"/>
          </p:nvPr>
        </p:nvSpPr>
        <p:spPr>
          <a:xfrm>
            <a:off x="609600" y="152400"/>
            <a:ext cx="10972800" cy="838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lt1"/>
              </a:buClr>
              <a:buSzPts val="4400"/>
              <a:buFont typeface="Helvetica Neue Light"/>
              <a:buNone/>
            </a:pPr>
            <a:r>
              <a:rPr lang="en-US"/>
              <a:t>CS DSA Committee’s Thoughts</a:t>
            </a:r>
            <a:endParaRPr/>
          </a:p>
        </p:txBody>
      </p:sp>
      <p:sp>
        <p:nvSpPr>
          <p:cNvPr id="1295" name="Google Shape;1295;p24"/>
          <p:cNvSpPr txBox="1">
            <a:spLocks noGrp="1"/>
          </p:cNvSpPr>
          <p:nvPr>
            <p:ph type="body" idx="1"/>
          </p:nvPr>
        </p:nvSpPr>
        <p:spPr>
          <a:xfrm>
            <a:off x="609600" y="1600200"/>
            <a:ext cx="10972800" cy="5121300"/>
          </a:xfrm>
          <a:prstGeom prst="rect">
            <a:avLst/>
          </a:prstGeom>
          <a:noFill/>
          <a:ln>
            <a:noFill/>
          </a:ln>
        </p:spPr>
        <p:txBody>
          <a:bodyPr spcFirstLastPara="1" wrap="square" lIns="91425" tIns="45700" rIns="91425" bIns="45700" anchor="ctr" anchorCtr="0">
            <a:normAutofit/>
          </a:bodyPr>
          <a:lstStyle/>
          <a:p>
            <a:pPr marL="342900" lvl="0" indent="-342900" algn="l" rtl="0">
              <a:lnSpc>
                <a:spcPct val="100000"/>
              </a:lnSpc>
              <a:spcBef>
                <a:spcPts val="0"/>
              </a:spcBef>
              <a:spcAft>
                <a:spcPts val="0"/>
              </a:spcAft>
              <a:buClr>
                <a:schemeClr val="tx1">
                  <a:lumMod val="95000"/>
                </a:schemeClr>
              </a:buClr>
              <a:buSzPts val="3200"/>
              <a:buChar char="•"/>
            </a:pPr>
            <a:r>
              <a:rPr lang="en-US" dirty="0"/>
              <a:t>Time in the degree program matters more than we thought</a:t>
            </a:r>
            <a:endParaRPr dirty="0"/>
          </a:p>
          <a:p>
            <a:pPr marL="742950" lvl="1" indent="-299085" algn="l" rtl="0">
              <a:lnSpc>
                <a:spcPct val="100000"/>
              </a:lnSpc>
              <a:spcBef>
                <a:spcPts val="518"/>
              </a:spcBef>
              <a:spcAft>
                <a:spcPts val="0"/>
              </a:spcAft>
              <a:buClr>
                <a:schemeClr val="tx1">
                  <a:lumMod val="95000"/>
                </a:schemeClr>
              </a:buClr>
              <a:buSzPts val="2800"/>
              <a:buChar char="–"/>
            </a:pPr>
            <a:r>
              <a:rPr lang="en-US" dirty="0"/>
              <a:t>Now we recommend CS3140 be done before CS3100</a:t>
            </a:r>
            <a:endParaRPr dirty="0"/>
          </a:p>
          <a:p>
            <a:pPr marL="342900" lvl="0" indent="-342900" algn="l" rtl="0">
              <a:lnSpc>
                <a:spcPct val="100000"/>
              </a:lnSpc>
              <a:spcBef>
                <a:spcPts val="592"/>
              </a:spcBef>
              <a:spcAft>
                <a:spcPts val="0"/>
              </a:spcAft>
              <a:buClr>
                <a:schemeClr val="tx1">
                  <a:lumMod val="95000"/>
                </a:schemeClr>
              </a:buClr>
              <a:buSzPts val="3200"/>
              <a:buChar char="•"/>
            </a:pPr>
            <a:r>
              <a:rPr lang="en-US" dirty="0"/>
              <a:t>More students enter CS3100 with varying pre-req experiences than the old CS4102 (due to place-out tests, transfer, </a:t>
            </a:r>
            <a:r>
              <a:rPr lang="en-US" dirty="0" err="1"/>
              <a:t>etc</a:t>
            </a:r>
            <a:r>
              <a:rPr lang="en-US" dirty="0"/>
              <a:t>)</a:t>
            </a:r>
            <a:endParaRPr dirty="0"/>
          </a:p>
          <a:p>
            <a:pPr marL="342900" lvl="0" indent="-342900" algn="l" rtl="0">
              <a:lnSpc>
                <a:spcPct val="100000"/>
              </a:lnSpc>
              <a:spcBef>
                <a:spcPts val="592"/>
              </a:spcBef>
              <a:spcAft>
                <a:spcPts val="0"/>
              </a:spcAft>
              <a:buClr>
                <a:schemeClr val="tx1">
                  <a:lumMod val="95000"/>
                </a:schemeClr>
              </a:buClr>
              <a:buSzPts val="3200"/>
              <a:buChar char="•"/>
            </a:pPr>
            <a:r>
              <a:rPr lang="en-US" dirty="0"/>
              <a:t>Too much of a step-up from UVA’s CS2100 to CS3100?</a:t>
            </a:r>
            <a:endParaRPr dirty="0"/>
          </a:p>
          <a:p>
            <a:pPr marL="742950" lvl="1" indent="-299085" algn="l" rtl="0">
              <a:lnSpc>
                <a:spcPct val="100000"/>
              </a:lnSpc>
              <a:spcBef>
                <a:spcPts val="518"/>
              </a:spcBef>
              <a:spcAft>
                <a:spcPts val="0"/>
              </a:spcAft>
              <a:buClr>
                <a:schemeClr val="tx1">
                  <a:lumMod val="95000"/>
                </a:schemeClr>
              </a:buClr>
              <a:buSzPts val="2800"/>
              <a:buChar char="–"/>
            </a:pPr>
            <a:r>
              <a:rPr lang="en-US" dirty="0"/>
              <a:t>Seems CS2100 does a series of small programs, and perhaps needs some larger ones at the end with less “scaffolding”</a:t>
            </a:r>
            <a:endParaRPr dirty="0"/>
          </a:p>
          <a:p>
            <a:pPr marL="742950" lvl="1" indent="-299085" algn="l" rtl="0">
              <a:lnSpc>
                <a:spcPct val="100000"/>
              </a:lnSpc>
              <a:spcBef>
                <a:spcPts val="518"/>
              </a:spcBef>
              <a:spcAft>
                <a:spcPts val="0"/>
              </a:spcAft>
              <a:buClr>
                <a:schemeClr val="tx1">
                  <a:lumMod val="95000"/>
                </a:schemeClr>
              </a:buClr>
              <a:buSzPts val="2800"/>
              <a:buChar char="–"/>
            </a:pPr>
            <a:r>
              <a:rPr lang="en-US" dirty="0"/>
              <a:t>Perhaps CS3100 needs to start with smaller programs/problems with some scaffolding</a:t>
            </a:r>
            <a:endParaRPr dirty="0"/>
          </a:p>
          <a:p>
            <a:pPr marL="742950" lvl="1" indent="-299085" algn="l" rtl="0">
              <a:lnSpc>
                <a:spcPct val="100000"/>
              </a:lnSpc>
              <a:spcBef>
                <a:spcPts val="518"/>
              </a:spcBef>
              <a:spcAft>
                <a:spcPts val="0"/>
              </a:spcAft>
              <a:buClr>
                <a:schemeClr val="tx1">
                  <a:lumMod val="95000"/>
                </a:schemeClr>
              </a:buClr>
              <a:buSzPts val="2800"/>
              <a:buChar char="–"/>
            </a:pPr>
            <a:r>
              <a:rPr lang="en-US" dirty="0"/>
              <a:t>So adjustments at end of CS2100 and CS3100 may help improve things</a:t>
            </a:r>
            <a:endParaRPr dirty="0"/>
          </a:p>
          <a:p>
            <a:pPr marL="342900" lvl="0" indent="-342900" algn="l" rtl="0">
              <a:lnSpc>
                <a:spcPct val="100000"/>
              </a:lnSpc>
              <a:spcBef>
                <a:spcPts val="592"/>
              </a:spcBef>
              <a:spcAft>
                <a:spcPts val="0"/>
              </a:spcAft>
              <a:buClr>
                <a:schemeClr val="tx1">
                  <a:lumMod val="95000"/>
                </a:schemeClr>
              </a:buClr>
              <a:buSzPts val="3200"/>
              <a:buChar char="•"/>
            </a:pPr>
            <a:r>
              <a:rPr lang="en-US" dirty="0"/>
              <a:t>Your thoughts?</a:t>
            </a:r>
            <a:endParaRPr dirty="0"/>
          </a:p>
        </p:txBody>
      </p:sp>
      <p:sp>
        <p:nvSpPr>
          <p:cNvPr id="1296" name="Google Shape;1296;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26"/>
          <p:cNvSpPr txBox="1">
            <a:spLocks noGrp="1"/>
          </p:cNvSpPr>
          <p:nvPr>
            <p:ph type="title"/>
          </p:nvPr>
        </p:nvSpPr>
        <p:spPr>
          <a:xfrm>
            <a:off x="609600" y="152400"/>
            <a:ext cx="10972800" cy="838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lt1"/>
              </a:buClr>
              <a:buSzPts val="4400"/>
              <a:buFont typeface="Helvetica Neue Light"/>
              <a:buNone/>
            </a:pPr>
            <a:r>
              <a:rPr lang="en-US"/>
              <a:t>Finale – Thank You!</a:t>
            </a:r>
            <a:endParaRPr/>
          </a:p>
        </p:txBody>
      </p:sp>
      <p:sp>
        <p:nvSpPr>
          <p:cNvPr id="1302" name="Google Shape;1302;p26"/>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ctr" anchorCtr="0">
            <a:normAutofit/>
          </a:bodyPr>
          <a:lstStyle/>
          <a:p>
            <a:pPr marL="342900" lvl="0" indent="-388620" algn="l" rtl="0">
              <a:lnSpc>
                <a:spcPct val="100000"/>
              </a:lnSpc>
              <a:spcBef>
                <a:spcPts val="0"/>
              </a:spcBef>
              <a:spcAft>
                <a:spcPts val="0"/>
              </a:spcAft>
              <a:buClr>
                <a:schemeClr val="tx1">
                  <a:lumMod val="95000"/>
                </a:schemeClr>
              </a:buClr>
              <a:buSzPts val="3200"/>
              <a:buChar char="•"/>
            </a:pPr>
            <a:r>
              <a:rPr lang="en-US" dirty="0"/>
              <a:t>Thanks for your hard work this semester!</a:t>
            </a:r>
            <a:endParaRPr dirty="0"/>
          </a:p>
          <a:p>
            <a:pPr marL="342900" lvl="0" indent="-388620" algn="l" rtl="0">
              <a:lnSpc>
                <a:spcPct val="100000"/>
              </a:lnSpc>
              <a:spcBef>
                <a:spcPts val="496"/>
              </a:spcBef>
              <a:spcAft>
                <a:spcPts val="0"/>
              </a:spcAft>
              <a:buClr>
                <a:schemeClr val="tx1">
                  <a:lumMod val="95000"/>
                </a:schemeClr>
              </a:buClr>
              <a:buSzPts val="3200"/>
              <a:buChar char="•"/>
            </a:pPr>
            <a:r>
              <a:rPr lang="en-US" dirty="0"/>
              <a:t>Complete the SET and our survey and give us constructive feedback to make the course better in the future</a:t>
            </a:r>
            <a:endParaRPr dirty="0"/>
          </a:p>
          <a:p>
            <a:pPr marL="742950" lvl="1" indent="-325755" algn="l" rtl="0">
              <a:lnSpc>
                <a:spcPct val="100000"/>
              </a:lnSpc>
              <a:spcBef>
                <a:spcPts val="434"/>
              </a:spcBef>
              <a:spcAft>
                <a:spcPts val="0"/>
              </a:spcAft>
              <a:buClr>
                <a:schemeClr val="tx1">
                  <a:lumMod val="95000"/>
                </a:schemeClr>
              </a:buClr>
              <a:buSzPts val="2800"/>
              <a:buChar char="–"/>
            </a:pPr>
            <a:r>
              <a:rPr lang="en-US" dirty="0"/>
              <a:t>This is the generic end-of-course survey sent by UVA to each student in each course</a:t>
            </a:r>
            <a:endParaRPr dirty="0"/>
          </a:p>
          <a:p>
            <a:pPr marL="342900" lvl="0" indent="-388620" algn="l" rtl="0">
              <a:lnSpc>
                <a:spcPct val="100000"/>
              </a:lnSpc>
              <a:spcBef>
                <a:spcPts val="496"/>
              </a:spcBef>
              <a:spcAft>
                <a:spcPts val="0"/>
              </a:spcAft>
              <a:buClr>
                <a:schemeClr val="tx1">
                  <a:lumMod val="95000"/>
                </a:schemeClr>
              </a:buClr>
              <a:buSzPts val="3200"/>
              <a:buChar char="•"/>
            </a:pPr>
            <a:r>
              <a:rPr lang="en-US" dirty="0"/>
              <a:t>All the best with end of term and finals!</a:t>
            </a:r>
            <a:endParaRPr dirty="0"/>
          </a:p>
          <a:p>
            <a:pPr marL="342900" lvl="0" indent="-388620" algn="l" rtl="0">
              <a:lnSpc>
                <a:spcPct val="100000"/>
              </a:lnSpc>
              <a:spcBef>
                <a:spcPts val="496"/>
              </a:spcBef>
              <a:spcAft>
                <a:spcPts val="0"/>
              </a:spcAft>
              <a:buClr>
                <a:schemeClr val="tx1">
                  <a:lumMod val="95000"/>
                </a:schemeClr>
              </a:buClr>
              <a:buSzPts val="3200"/>
              <a:buChar char="•"/>
            </a:pPr>
            <a:r>
              <a:rPr lang="en-US" dirty="0"/>
              <a:t>Have a great winter break!</a:t>
            </a:r>
            <a:endParaRPr dirty="0"/>
          </a:p>
        </p:txBody>
      </p:sp>
      <p:sp>
        <p:nvSpPr>
          <p:cNvPr id="1303" name="Google Shape;1303;p2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45220</TotalTime>
  <Words>815</Words>
  <Application>Microsoft Macintosh PowerPoint</Application>
  <PresentationFormat>Widescreen</PresentationFormat>
  <Paragraphs>88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Helvetica Neue Light</vt:lpstr>
      <vt:lpstr>Tw Cen MT</vt:lpstr>
      <vt:lpstr>Circuit</vt:lpstr>
      <vt:lpstr>CS 3100 Finale</vt:lpstr>
      <vt:lpstr>Department’s Learning Outcomes for CS3100</vt:lpstr>
      <vt:lpstr>List of Topics to Be Covered in CS3100</vt:lpstr>
      <vt:lpstr>Highlights from our Journey</vt:lpstr>
      <vt:lpstr>Highlights from our Journey </vt:lpstr>
      <vt:lpstr>You’ve Come a Long Way!</vt:lpstr>
      <vt:lpstr>We and the CS Department Learning, Too</vt:lpstr>
      <vt:lpstr>CS DSA Committee’s Thoughts</vt:lpstr>
      <vt:lpstr>Finale –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283</cp:revision>
  <dcterms:created xsi:type="dcterms:W3CDTF">2023-02-24T14:15:53Z</dcterms:created>
  <dcterms:modified xsi:type="dcterms:W3CDTF">2025-12-09T13:47:39Z</dcterms:modified>
</cp:coreProperties>
</file>