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46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300" r:id="rId21"/>
    <p:sldId id="276" r:id="rId22"/>
    <p:sldId id="277" r:id="rId23"/>
    <p:sldId id="278" r:id="rId24"/>
    <p:sldId id="302" r:id="rId25"/>
    <p:sldId id="303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AC81C3C-6F0A-BBC4-B03A-BA00E2D65BE2}" v="21" dt="2026-01-12T16:42:49.6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loryan, Mark Richard (mrf8t)" userId="S::mrf8t@virginia.edu::84df7658-78de-49d2-867c-6a4155f83d0f" providerId="AD" clId="Web-{9AC81C3C-6F0A-BBC4-B03A-BA00E2D65BE2}"/>
    <pc:docChg chg="modSld">
      <pc:chgData name="Floryan, Mark Richard (mrf8t)" userId="S::mrf8t@virginia.edu::84df7658-78de-49d2-867c-6a4155f83d0f" providerId="AD" clId="Web-{9AC81C3C-6F0A-BBC4-B03A-BA00E2D65BE2}" dt="2026-01-12T16:42:49.668" v="19" actId="20577"/>
      <pc:docMkLst>
        <pc:docMk/>
      </pc:docMkLst>
      <pc:sldChg chg="modSp">
        <pc:chgData name="Floryan, Mark Richard (mrf8t)" userId="S::mrf8t@virginia.edu::84df7658-78de-49d2-867c-6a4155f83d0f" providerId="AD" clId="Web-{9AC81C3C-6F0A-BBC4-B03A-BA00E2D65BE2}" dt="2026-01-12T16:02:48.822" v="3" actId="20577"/>
        <pc:sldMkLst>
          <pc:docMk/>
          <pc:sldMk cId="0" sldId="257"/>
        </pc:sldMkLst>
        <pc:spChg chg="mod">
          <ac:chgData name="Floryan, Mark Richard (mrf8t)" userId="S::mrf8t@virginia.edu::84df7658-78de-49d2-867c-6a4155f83d0f" providerId="AD" clId="Web-{9AC81C3C-6F0A-BBC4-B03A-BA00E2D65BE2}" dt="2026-01-12T16:02:48.822" v="3" actId="20577"/>
          <ac:spMkLst>
            <pc:docMk/>
            <pc:sldMk cId="0" sldId="257"/>
            <ac:spMk id="90" creationId="{00000000-0000-0000-0000-000000000000}"/>
          </ac:spMkLst>
        </pc:spChg>
      </pc:sldChg>
      <pc:sldChg chg="modSp">
        <pc:chgData name="Floryan, Mark Richard (mrf8t)" userId="S::mrf8t@virginia.edu::84df7658-78de-49d2-867c-6a4155f83d0f" providerId="AD" clId="Web-{9AC81C3C-6F0A-BBC4-B03A-BA00E2D65BE2}" dt="2026-01-12T16:42:49.668" v="19" actId="20577"/>
        <pc:sldMkLst>
          <pc:docMk/>
          <pc:sldMk cId="0" sldId="273"/>
        </pc:sldMkLst>
        <pc:spChg chg="mod">
          <ac:chgData name="Floryan, Mark Richard (mrf8t)" userId="S::mrf8t@virginia.edu::84df7658-78de-49d2-867c-6a4155f83d0f" providerId="AD" clId="Web-{9AC81C3C-6F0A-BBC4-B03A-BA00E2D65BE2}" dt="2026-01-12T16:42:49.668" v="19" actId="20577"/>
          <ac:spMkLst>
            <pc:docMk/>
            <pc:sldMk cId="0" sldId="273"/>
            <ac:spMk id="286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/>
              <a:t>Euclid – first algorithm (Euclidean algorithm for computing gcds)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/>
              <a:t>Al-Khwarizmi – where the word “algebra” comes from, introduced positional number system (major improvement over systems like Roman numerals)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/>
              <a:t>Gauss – mathematician (numerous contributions: e.g., Gaussian elimination)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/>
              <a:t>Ada Lovelace – wrote the first computer algorithm for calculating Bernoulli numbers (for Babbage’s proposed general computer, the Analytical Engine)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/>
              <a:t>Alan Turing – abstract models for computing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/>
              <a:t>Radia Perlman – algorithm based on SP and MSTs that revolutionized internet network routing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/>
              <a:t>Stephen Cook – theory of NP hardness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/>
              <a:t>Edsger Dijkstra – graph algorithms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/>
              <a:t>Don Knuth – asymptotic notation, Art of Computer Programming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333333"/>
              </a:solidFill>
              <a:highlight>
                <a:srgbClr val="F7F7F7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" name="Google Shape;94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1" name="Google Shape;11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" name="Google Shape;140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7" name="Google Shape;147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Euclid – first algorithm (Euclidean algorithm for computing gcds)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Al-Khwarizmi – where the word “algebra” comes from, introduced positional number system (major improvement over systems like Roman numerals)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Gauss – mathematician (numerous contributions: e.g., Gaussian elimination)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Ada Lovelace – wrote the first computer algorithm for calculating Bernoulli numbers (for Babbage’s proposed general computer, the Analytical Engine)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Alan Turing – abstract models for computing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Radia Perlman – algorithm based on SP and MSTs that revolutionized internet network routing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Stephen Cook – theory of NP hardness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Edsger Dijkstra – graph algorithms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Don Knuth – asymptotic notation, Art of Computer Programming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3" name="Google Shape;183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8" name="Google Shape;198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3" name="Google Shape;223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3" name="Google Shape;28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>
          <a:extLst>
            <a:ext uri="{FF2B5EF4-FFF2-40B4-BE49-F238E27FC236}">
              <a16:creationId xmlns:a16="http://schemas.microsoft.com/office/drawing/2014/main" id="{66AA4747-2430-CEE7-AD0F-9AB5A11B1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2f652350f26_0_42:notes">
            <a:extLst>
              <a:ext uri="{FF2B5EF4-FFF2-40B4-BE49-F238E27FC236}">
                <a16:creationId xmlns:a16="http://schemas.microsoft.com/office/drawing/2014/main" id="{C6710C39-5CA7-4B7B-05C7-DBE3C1CD80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2f652350f26_0_42:notes">
            <a:extLst>
              <a:ext uri="{FF2B5EF4-FFF2-40B4-BE49-F238E27FC236}">
                <a16:creationId xmlns:a16="http://schemas.microsoft.com/office/drawing/2014/main" id="{822C969D-987D-BE97-30FE-3DDEA1C05E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g2f652350f26_0_42:notes">
            <a:extLst>
              <a:ext uri="{FF2B5EF4-FFF2-40B4-BE49-F238E27FC236}">
                <a16:creationId xmlns:a16="http://schemas.microsoft.com/office/drawing/2014/main" id="{F4167634-97D8-57CD-0403-AA0971A171F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1265501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2f652350f26_0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2f652350f26_0_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g2f652350f26_0_4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17B8CBA9-EA6A-9DC3-C8DB-1FCBABFEB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3:notes">
            <a:extLst>
              <a:ext uri="{FF2B5EF4-FFF2-40B4-BE49-F238E27FC236}">
                <a16:creationId xmlns:a16="http://schemas.microsoft.com/office/drawing/2014/main" id="{F3EFBF1B-61EA-35F3-900B-D65D65BF32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23:notes">
            <a:extLst>
              <a:ext uri="{FF2B5EF4-FFF2-40B4-BE49-F238E27FC236}">
                <a16:creationId xmlns:a16="http://schemas.microsoft.com/office/drawing/2014/main" id="{EE5B0463-79C8-C437-FF97-06D0E8B196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259551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E62390F7-C7AE-9FD1-BD2B-72BCA4EBB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3:notes">
            <a:extLst>
              <a:ext uri="{FF2B5EF4-FFF2-40B4-BE49-F238E27FC236}">
                <a16:creationId xmlns:a16="http://schemas.microsoft.com/office/drawing/2014/main" id="{386963E8-4060-6762-E8AD-9F5A4B8980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23:notes">
            <a:extLst>
              <a:ext uri="{FF2B5EF4-FFF2-40B4-BE49-F238E27FC236}">
                <a16:creationId xmlns:a16="http://schemas.microsoft.com/office/drawing/2014/main" id="{D83B77D3-D84A-0C29-D69C-0071856D71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8355716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2f606204d2d_2_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7" name="Google Shape;367;g2f606204d2d_2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2f652350f26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g2f652350f26_0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3" name="Google Shape;383;g2f652350f26_0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30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2f652350f26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2f652350f26_0_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2" name="Google Shape;392;g2f652350f26_0_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31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2f652350f26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0" name="Google Shape;400;g2f652350f26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1" name="Google Shape;401;g2f652350f26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32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2f606204d2d_2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g2f606204d2d_2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2f606204d2d_2_9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7" name="Google Shape;417;g2f606204d2d_2_9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g2f606204d2d_2_5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g2f606204d2d_2_5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2f606204d2d_2_66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g2f606204d2d_2_6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2f606204d2d_2_90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6" name="Google Shape;496;g2f606204d2d_2_9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g2f606204d2d_2_107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0" name="Google Shape;520;g2f606204d2d_2_10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g2f606204d2d_2_96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8" name="Google Shape;528;g2f606204d2d_2_9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2f606204d2d_2_9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44" name="Google Shape;544;g2f606204d2d_2_97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5" name="Google Shape;545;g2f606204d2d_2_97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40</a:t>
            </a:fld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2f652350f2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2f652350f26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g2f652350f26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41</a:t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g2f652350f26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6" name="Google Shape;576;g2f652350f26_0_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7" name="Google Shape;577;g2f652350f26_0_3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42</a:t>
            </a:fld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p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4" name="Google Shape;584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1" name="Google Shape;591;p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B667E878-355D-4441-B511-AE928A0501C6}" type="datetime1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C5492C-27DC-5C47-AC47-CE96BF0E2CE2}" type="datetime1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086E6-3506-8346-B2A2-39B93D6F9BBB}" type="datetime1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8DB26-B606-D24E-93A7-1C0CAAE9922E}" type="datetime1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9AF02-59B7-8B4C-9E28-585E87573D85}" type="datetime1">
              <a:rPr lang="en-US" smtClean="0"/>
              <a:t>1/12/26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9221C4-233E-A548-BD5F-C4B7B0DF1763}" type="datetime1">
              <a:rPr lang="en-US" smtClean="0"/>
              <a:t>1/12/26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CA351-58DF-CB4A-9E11-A4435E0C8C66}" type="datetime1">
              <a:rPr lang="en-US" smtClean="0"/>
              <a:t>1/12/26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1850F-72C2-E64B-B809-47309D26F833}" type="datetime1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40A0D5-3CB6-744B-9110-0293C4829AA2}" type="datetime1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1916B3-28DC-6D46-843F-AE8FD78F333C}" type="datetime1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C2C9-2837-2E4B-A031-2FDC04F2083E}" type="datetime1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E94928-1436-FE47-9957-E8353B2844DB}" type="datetime1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F7082-5F05-284B-9F6E-A3673EBACDBA}" type="datetime1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E1C22A-4047-DB43-A137-4114C5752274}" type="datetime1">
              <a:rPr lang="en-US" smtClean="0"/>
              <a:t>1/12/26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68370-F6B3-8C43-8B6C-F22693B03CFF}" type="datetime1">
              <a:rPr lang="en-US" smtClean="0"/>
              <a:t>1/12/26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98D05-44B2-2A42-83F3-15ACB08AA28F}" type="datetime1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62580-CF48-EB40-AD4C-F76BB2834BB6}" type="datetime1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1_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0" y="1779371"/>
            <a:ext cx="12192000" cy="2002440"/>
          </a:xfrm>
          <a:prstGeom prst="rect">
            <a:avLst/>
          </a:prstGeom>
          <a:solidFill>
            <a:srgbClr val="E57200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alibri"/>
              <a:buNone/>
              <a:defRPr sz="6000"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1524000" y="3980980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4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BA02B023-3B97-E941-BE08-35171F239380}" type="datetime1">
              <a:rPr lang="en-US" smtClean="0"/>
              <a:t>1/12/26</a:t>
            </a:fld>
            <a:endParaRPr/>
          </a:p>
        </p:txBody>
      </p:sp>
      <p:sp>
        <p:nvSpPr>
          <p:cNvPr id="19" name="Google Shape;19;p4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145393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7162B8-4484-2A47-8277-6450CC53F81E}" type="datetime1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  <p:sldLayoutId id="2147484024" r:id="rId18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jpeg"/><Relationship Id="rId12" Type="http://schemas.openxmlformats.org/officeDocument/2006/relationships/image" Target="../media/image1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jpeg"/><Relationship Id="rId11" Type="http://schemas.openxmlformats.org/officeDocument/2006/relationships/image" Target="../media/image11.jpeg"/><Relationship Id="rId5" Type="http://schemas.openxmlformats.org/officeDocument/2006/relationships/image" Target="../media/image5.jpeg"/><Relationship Id="rId10" Type="http://schemas.openxmlformats.org/officeDocument/2006/relationships/image" Target="../media/image10.jpeg"/><Relationship Id="rId4" Type="http://schemas.openxmlformats.org/officeDocument/2006/relationships/image" Target="../media/image4.jpeg"/><Relationship Id="rId9" Type="http://schemas.openxmlformats.org/officeDocument/2006/relationships/image" Target="../media/image9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jpeg"/><Relationship Id="rId12" Type="http://schemas.openxmlformats.org/officeDocument/2006/relationships/image" Target="../media/image1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11" Type="http://schemas.openxmlformats.org/officeDocument/2006/relationships/image" Target="../media/image11.jpeg"/><Relationship Id="rId5" Type="http://schemas.openxmlformats.org/officeDocument/2006/relationships/image" Target="../media/image6.jpeg"/><Relationship Id="rId10" Type="http://schemas.openxmlformats.org/officeDocument/2006/relationships/image" Target="../media/image9.jpeg"/><Relationship Id="rId4" Type="http://schemas.openxmlformats.org/officeDocument/2006/relationships/image" Target="../media/image4.jpeg"/><Relationship Id="rId9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eg"/><Relationship Id="rId3" Type="http://schemas.openxmlformats.org/officeDocument/2006/relationships/image" Target="../media/image14.jpeg"/><Relationship Id="rId7" Type="http://schemas.openxmlformats.org/officeDocument/2006/relationships/image" Target="../media/image1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eg"/><Relationship Id="rId11" Type="http://schemas.openxmlformats.org/officeDocument/2006/relationships/image" Target="../media/image22.jpeg"/><Relationship Id="rId5" Type="http://schemas.openxmlformats.org/officeDocument/2006/relationships/image" Target="../media/image16.jpeg"/><Relationship Id="rId10" Type="http://schemas.openxmlformats.org/officeDocument/2006/relationships/image" Target="../media/image21.jpeg"/><Relationship Id="rId4" Type="http://schemas.openxmlformats.org/officeDocument/2006/relationships/image" Target="../media/image15.jpeg"/><Relationship Id="rId9" Type="http://schemas.openxmlformats.org/officeDocument/2006/relationships/image" Target="../media/image20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cDA3_5982h8?t=4m4s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mailto:cs3100@cshelpdesk.atlassian.net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uva-cs.github.io/dsa2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bookcentral-proquest-com.proxy1.library.virginia.edu/lib/UVA/detail.action?docID=6925615" TargetMode="External"/><Relationship Id="rId4" Type="http://schemas.openxmlformats.org/officeDocument/2006/relationships/hyperlink" Target="https://search.lib.virginia.edu/catalog/u6757775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overleaf.com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mailto:cs3100@cshelpdesk.atlassian.net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 txBox="1">
            <a:spLocks noGrp="1"/>
          </p:cNvSpPr>
          <p:nvPr>
            <p:ph type="ctrTitle"/>
          </p:nvPr>
        </p:nvSpPr>
        <p:spPr>
          <a:xfrm>
            <a:off x="0" y="1779371"/>
            <a:ext cx="12192000" cy="200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alibri"/>
              <a:buNone/>
            </a:pPr>
            <a:r>
              <a:rPr lang="en-US"/>
              <a:t>Data Structures and Algorithms 2</a:t>
            </a:r>
            <a:br>
              <a:rPr lang="en-US"/>
            </a:br>
            <a:br>
              <a:rPr lang="en-US" sz="1100"/>
            </a:br>
            <a:r>
              <a:rPr lang="en-US" sz="4400"/>
              <a:t>Introduction and Logistics</a:t>
            </a:r>
            <a:endParaRPr/>
          </a:p>
        </p:txBody>
      </p:sp>
      <p:sp>
        <p:nvSpPr>
          <p:cNvPr id="90" name="Google Shape;90;p1"/>
          <p:cNvSpPr txBox="1">
            <a:spLocks noGrp="1"/>
          </p:cNvSpPr>
          <p:nvPr>
            <p:ph type="subTitle" idx="1"/>
          </p:nvPr>
        </p:nvSpPr>
        <p:spPr>
          <a:xfrm>
            <a:off x="1524000" y="4191000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indent="0">
              <a:spcBef>
                <a:spcPts val="0"/>
              </a:spcBef>
            </a:pPr>
            <a:r>
              <a:rPr lang="en-US" dirty="0"/>
              <a:t>Co-instructors:  Aaron Bloomfield and Mark Floryan</a:t>
            </a:r>
            <a:endParaRPr dirty="0"/>
          </a:p>
          <a:p>
            <a:pPr marL="0" indent="0"/>
            <a:r>
              <a:rPr lang="en-US"/>
              <a:t>Spring 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04313" y="3924300"/>
            <a:ext cx="1905000" cy="190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2" descr="Image result for al khwarizmi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677232" y="108332"/>
            <a:ext cx="2248321" cy="30043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2" descr="Image result for alan turi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6192" y="1302536"/>
            <a:ext cx="2623331" cy="262333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2" descr="Image result for edsger dijkstra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797937" y="-44182"/>
            <a:ext cx="2295123" cy="3060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2" descr="Image result for donald knuth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314826" y="4250051"/>
            <a:ext cx="2314574" cy="25654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2" descr="Sir Tony Hoare IMG 5125.jp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60020" y="4053301"/>
            <a:ext cx="2705100" cy="27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2" descr="Image result for ada lovelace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956225" y="1066800"/>
            <a:ext cx="2857500" cy="285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"/>
          <p:cNvSpPr txBox="1"/>
          <p:nvPr/>
        </p:nvSpPr>
        <p:spPr>
          <a:xfrm>
            <a:off x="381000" y="108332"/>
            <a:ext cx="6417000" cy="103464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F6000"/>
              </a:buClr>
              <a:buSzPts val="4400"/>
              <a:buFont typeface="Calibri"/>
              <a:buNone/>
            </a:pPr>
            <a:r>
              <a:rPr lang="en-US" sz="4400" b="0" i="0" u="none" strike="noStrike" cap="none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Who’s Who in Algorithms?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106" name="Google Shape;106;p2" descr="Image result for stephen cook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153400" y="4672341"/>
            <a:ext cx="3048000" cy="228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2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454454" y="2835628"/>
            <a:ext cx="1736405" cy="220997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2" descr="A person with long hair smiling&#10;&#10;Description automatically generated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6162713" y="2607007"/>
            <a:ext cx="2226238" cy="256541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 descr="A person wearing glasses smiling&#10;&#10;AI-generated content may be incorrect.">
            <a:extLst>
              <a:ext uri="{FF2B5EF4-FFF2-40B4-BE49-F238E27FC236}">
                <a16:creationId xmlns:a16="http://schemas.microsoft.com/office/drawing/2014/main" id="{DB82F713-2935-6699-0A12-FAEB072A065A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71051" y="2940915"/>
            <a:ext cx="1932053" cy="185540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114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04313" y="3924300"/>
            <a:ext cx="1905000" cy="190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3" descr="Image result for al khwarizmi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677232" y="108332"/>
            <a:ext cx="2248321" cy="30043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3" descr="Image result for edsger dijkstra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797937" y="-44182"/>
            <a:ext cx="2295123" cy="3060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3" descr="Image result for alan turi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6192" y="1302536"/>
            <a:ext cx="2623331" cy="262333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3" descr="Image result for donald knuth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314826" y="4250051"/>
            <a:ext cx="2314574" cy="25654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3" descr="Image result for stephen cook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153400" y="4672341"/>
            <a:ext cx="3048000" cy="228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3" descr="Sir Tony Hoare IMG 5125.jp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60020" y="4053301"/>
            <a:ext cx="2705100" cy="27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3" descr="Image result for ada lovelace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2956225" y="1066800"/>
            <a:ext cx="2857500" cy="285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3"/>
          <p:cNvSpPr txBox="1"/>
          <p:nvPr/>
        </p:nvSpPr>
        <p:spPr>
          <a:xfrm>
            <a:off x="659468" y="5756850"/>
            <a:ext cx="20637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Tony Hoare</a:t>
            </a:r>
            <a:endParaRPr/>
          </a:p>
        </p:txBody>
      </p:sp>
      <p:sp>
        <p:nvSpPr>
          <p:cNvPr id="125" name="Google Shape;125;p3"/>
          <p:cNvSpPr txBox="1"/>
          <p:nvPr/>
        </p:nvSpPr>
        <p:spPr>
          <a:xfrm>
            <a:off x="4251684" y="6197026"/>
            <a:ext cx="2465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Donald Knuth</a:t>
            </a:r>
            <a:endParaRPr/>
          </a:p>
        </p:txBody>
      </p:sp>
      <p:sp>
        <p:nvSpPr>
          <p:cNvPr id="126" name="Google Shape;126;p3"/>
          <p:cNvSpPr txBox="1"/>
          <p:nvPr/>
        </p:nvSpPr>
        <p:spPr>
          <a:xfrm>
            <a:off x="8182833" y="6070834"/>
            <a:ext cx="24951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Stephen Cook</a:t>
            </a:r>
            <a:endParaRPr/>
          </a:p>
        </p:txBody>
      </p:sp>
      <p:sp>
        <p:nvSpPr>
          <p:cNvPr id="127" name="Google Shape;127;p3"/>
          <p:cNvSpPr txBox="1"/>
          <p:nvPr/>
        </p:nvSpPr>
        <p:spPr>
          <a:xfrm>
            <a:off x="175568" y="3339537"/>
            <a:ext cx="2349212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Alan Turing</a:t>
            </a:r>
            <a:endParaRPr/>
          </a:p>
        </p:txBody>
      </p:sp>
      <p:sp>
        <p:nvSpPr>
          <p:cNvPr id="128" name="Google Shape;128;p3"/>
          <p:cNvSpPr txBox="1"/>
          <p:nvPr/>
        </p:nvSpPr>
        <p:spPr>
          <a:xfrm>
            <a:off x="2460512" y="4746968"/>
            <a:ext cx="21822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Aaron Bloomfield</a:t>
            </a:r>
            <a:endParaRPr sz="32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3"/>
          <p:cNvSpPr txBox="1"/>
          <p:nvPr/>
        </p:nvSpPr>
        <p:spPr>
          <a:xfrm>
            <a:off x="3510675" y="3339525"/>
            <a:ext cx="23700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Ada Lovelace</a:t>
            </a:r>
            <a:endParaRPr/>
          </a:p>
        </p:txBody>
      </p:sp>
      <p:pic>
        <p:nvPicPr>
          <p:cNvPr id="130" name="Google Shape;130;p3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454454" y="2835628"/>
            <a:ext cx="1736405" cy="220997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3"/>
          <p:cNvSpPr txBox="1"/>
          <p:nvPr/>
        </p:nvSpPr>
        <p:spPr>
          <a:xfrm>
            <a:off x="9829615" y="385735"/>
            <a:ext cx="23766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Al-</a:t>
            </a:r>
            <a:endParaRPr sz="32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Khwarizmi</a:t>
            </a:r>
            <a:endParaRPr/>
          </a:p>
        </p:txBody>
      </p:sp>
      <p:sp>
        <p:nvSpPr>
          <p:cNvPr id="132" name="Google Shape;132;p3"/>
          <p:cNvSpPr txBox="1"/>
          <p:nvPr/>
        </p:nvSpPr>
        <p:spPr>
          <a:xfrm>
            <a:off x="8459056" y="3609060"/>
            <a:ext cx="17832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Ray Pettit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3"/>
          <p:cNvSpPr txBox="1"/>
          <p:nvPr/>
        </p:nvSpPr>
        <p:spPr>
          <a:xfrm>
            <a:off x="10993136" y="4367541"/>
            <a:ext cx="11784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Gauss</a:t>
            </a:r>
            <a:endParaRPr/>
          </a:p>
        </p:txBody>
      </p:sp>
      <p:pic>
        <p:nvPicPr>
          <p:cNvPr id="135" name="Google Shape;135;p3" descr="A person with long hair smiling&#10;&#10;Description automatically generated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6162713" y="2607007"/>
            <a:ext cx="2226238" cy="2565415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3"/>
          <p:cNvSpPr txBox="1"/>
          <p:nvPr/>
        </p:nvSpPr>
        <p:spPr>
          <a:xfrm>
            <a:off x="6405063" y="4071325"/>
            <a:ext cx="25923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Radia</a:t>
            </a:r>
            <a:endParaRPr sz="32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Perlman</a:t>
            </a:r>
            <a:endParaRPr/>
          </a:p>
        </p:txBody>
      </p:sp>
      <p:sp>
        <p:nvSpPr>
          <p:cNvPr id="137" name="Google Shape;137;p3"/>
          <p:cNvSpPr txBox="1"/>
          <p:nvPr/>
        </p:nvSpPr>
        <p:spPr>
          <a:xfrm>
            <a:off x="7449779" y="1481811"/>
            <a:ext cx="26382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Edsger</a:t>
            </a:r>
            <a:endParaRPr sz="32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Dijkstra</a:t>
            </a:r>
            <a:endParaRPr/>
          </a:p>
        </p:txBody>
      </p:sp>
      <p:pic>
        <p:nvPicPr>
          <p:cNvPr id="3" name="Picture 2" descr="A person wearing glasses smiling&#10;&#10;AI-generated content may be incorrect.">
            <a:extLst>
              <a:ext uri="{FF2B5EF4-FFF2-40B4-BE49-F238E27FC236}">
                <a16:creationId xmlns:a16="http://schemas.microsoft.com/office/drawing/2014/main" id="{651B6003-48CD-70BF-2DD3-570647A6755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71051" y="2940915"/>
            <a:ext cx="1932053" cy="1855401"/>
          </a:xfrm>
          <a:prstGeom prst="rect">
            <a:avLst/>
          </a:prstGeom>
        </p:spPr>
      </p:pic>
      <p:sp>
        <p:nvSpPr>
          <p:cNvPr id="4" name="Google Shape;136;p3">
            <a:extLst>
              <a:ext uri="{FF2B5EF4-FFF2-40B4-BE49-F238E27FC236}">
                <a16:creationId xmlns:a16="http://schemas.microsoft.com/office/drawing/2014/main" id="{4A9B3875-2E42-BBF9-7FB4-8DAAD4F18B07}"/>
              </a:ext>
            </a:extLst>
          </p:cNvPr>
          <p:cNvSpPr txBox="1"/>
          <p:nvPr/>
        </p:nvSpPr>
        <p:spPr>
          <a:xfrm>
            <a:off x="8537761" y="3773739"/>
            <a:ext cx="2592300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Mark</a:t>
            </a:r>
            <a:b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</a:rPr>
            </a:b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Floryan</a:t>
            </a:r>
          </a:p>
        </p:txBody>
      </p:sp>
      <p:sp>
        <p:nvSpPr>
          <p:cNvPr id="2" name="Google Shape;104;p2">
            <a:extLst>
              <a:ext uri="{FF2B5EF4-FFF2-40B4-BE49-F238E27FC236}">
                <a16:creationId xmlns:a16="http://schemas.microsoft.com/office/drawing/2014/main" id="{3C15B9AE-EA3E-B613-8BD6-E7B3B154363C}"/>
              </a:ext>
            </a:extLst>
          </p:cNvPr>
          <p:cNvSpPr txBox="1"/>
          <p:nvPr/>
        </p:nvSpPr>
        <p:spPr>
          <a:xfrm>
            <a:off x="381000" y="108332"/>
            <a:ext cx="6417000" cy="103464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F6000"/>
              </a:buClr>
              <a:buSzPts val="4400"/>
              <a:buFont typeface="Calibri"/>
              <a:buNone/>
            </a:pPr>
            <a:r>
              <a:rPr lang="en-US" sz="4400" b="0" i="0" u="none" strike="noStrike" cap="none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Who’s Who in Algorithms?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4"/>
          <p:cNvSpPr txBox="1"/>
          <p:nvPr/>
        </p:nvSpPr>
        <p:spPr>
          <a:xfrm>
            <a:off x="595423" y="595423"/>
            <a:ext cx="11295256" cy="589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</a:pPr>
            <a:r>
              <a:rPr lang="en-US" sz="4400">
                <a:latin typeface="Calibri"/>
                <a:ea typeface="Calibri"/>
                <a:cs typeface="Calibri"/>
                <a:sym typeface="Calibri"/>
              </a:rPr>
              <a:t>Who’s Who in Algorithms?</a:t>
            </a:r>
            <a:endParaRPr lang="en-US" sz="4400">
              <a:latin typeface="Calibri"/>
              <a:ea typeface="Calibri"/>
              <a:cs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endParaRPr sz="2600">
              <a:latin typeface="Calibri"/>
              <a:ea typeface="Calibri"/>
              <a:cs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Euclid – father of geometry, logic, number theory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Al-Khwarizmi – algebra, solution to linear and quadratic equations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Gauss – fundamental theorem of algebra, numeric analysis</a:t>
            </a:r>
            <a:endParaRPr sz="2600">
              <a:latin typeface="Calibri"/>
              <a:ea typeface="Calibri"/>
              <a:cs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Ada Lovelace – first computer program, more than number crunching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Alan Turing – breaking </a:t>
            </a:r>
            <a:r>
              <a:rPr lang="en-US" sz="2600" err="1">
                <a:latin typeface="Calibri"/>
                <a:ea typeface="Calibri"/>
                <a:cs typeface="Calibri"/>
                <a:sym typeface="Calibri"/>
              </a:rPr>
              <a:t>Engima</a:t>
            </a: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, Turing Machine (abstract model of computation) </a:t>
            </a:r>
            <a:endParaRPr sz="2600">
              <a:latin typeface="Calibri"/>
              <a:ea typeface="Calibri"/>
              <a:cs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 err="1">
                <a:latin typeface="Calibri"/>
                <a:ea typeface="Calibri"/>
                <a:cs typeface="Calibri"/>
                <a:sym typeface="Calibri"/>
              </a:rPr>
              <a:t>Edsger</a:t>
            </a: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 Dijkstra – structured programming languages, graph algorithms</a:t>
            </a:r>
            <a:endParaRPr sz="2600">
              <a:latin typeface="Calibri"/>
              <a:ea typeface="Calibri"/>
              <a:cs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Tony Hoare – Algol, Hoare logic, null reference, quicksort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Stephen Cook – polynomial time reduction, NP-completeness, proof complexity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Donald Knuth – analysis of algorithms, TAOCP, </a:t>
            </a:r>
            <a:r>
              <a:rPr lang="en-US" sz="2600" err="1">
                <a:latin typeface="Calibri"/>
                <a:ea typeface="Calibri"/>
                <a:cs typeface="Calibri"/>
                <a:sym typeface="Calibri"/>
              </a:rPr>
              <a:t>TeX</a:t>
            </a: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, literate programming</a:t>
            </a:r>
            <a:endParaRPr sz="2600">
              <a:latin typeface="Calibri"/>
              <a:ea typeface="Calibri"/>
              <a:cs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Radia Perlman – spanning tree algorithm and protocol (STP), LOGO-</a:t>
            </a:r>
            <a:r>
              <a:rPr lang="en-US" sz="2600" err="1">
                <a:latin typeface="Calibri"/>
                <a:ea typeface="Calibri"/>
                <a:cs typeface="Calibri"/>
                <a:sym typeface="Calibri"/>
              </a:rPr>
              <a:t>Tortis</a:t>
            </a: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 language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endParaRPr sz="3200"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5"/>
          <p:cNvSpPr txBox="1">
            <a:spLocks noGrp="1"/>
          </p:cNvSpPr>
          <p:nvPr>
            <p:ph type="title"/>
          </p:nvPr>
        </p:nvSpPr>
        <p:spPr>
          <a:xfrm>
            <a:off x="29410" y="136525"/>
            <a:ext cx="12192000" cy="85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>
                <a:solidFill>
                  <a:schemeClr val="tx1">
                    <a:lumMod val="95000"/>
                  </a:schemeClr>
                </a:solidFill>
              </a:rPr>
              <a:t>A Historic Perspective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cxnSp>
        <p:nvCxnSpPr>
          <p:cNvPr id="151" name="Google Shape;151;p5"/>
          <p:cNvCxnSpPr/>
          <p:nvPr/>
        </p:nvCxnSpPr>
        <p:spPr>
          <a:xfrm>
            <a:off x="457200" y="4076700"/>
            <a:ext cx="11125200" cy="0"/>
          </a:xfrm>
          <a:prstGeom prst="straightConnector1">
            <a:avLst/>
          </a:prstGeom>
          <a:noFill/>
          <a:ln w="76200" cap="flat" cmpd="sng">
            <a:solidFill>
              <a:schemeClr val="tx1">
                <a:lumMod val="95000"/>
              </a:schemeClr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152" name="Google Shape;152;p5"/>
          <p:cNvCxnSpPr/>
          <p:nvPr/>
        </p:nvCxnSpPr>
        <p:spPr>
          <a:xfrm>
            <a:off x="1143000" y="3810000"/>
            <a:ext cx="0" cy="533400"/>
          </a:xfrm>
          <a:prstGeom prst="straightConnector1">
            <a:avLst/>
          </a:prstGeom>
          <a:noFill/>
          <a:ln w="76200" cap="flat" cmpd="sng">
            <a:solidFill>
              <a:schemeClr val="tx1">
                <a:lumMod val="9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53" name="Google Shape;153;p5"/>
          <p:cNvCxnSpPr/>
          <p:nvPr/>
        </p:nvCxnSpPr>
        <p:spPr>
          <a:xfrm>
            <a:off x="3482101" y="3810000"/>
            <a:ext cx="0" cy="533400"/>
          </a:xfrm>
          <a:prstGeom prst="straightConnector1">
            <a:avLst/>
          </a:prstGeom>
          <a:noFill/>
          <a:ln w="76200" cap="flat" cmpd="sng">
            <a:solidFill>
              <a:schemeClr val="tx1">
                <a:lumMod val="9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54" name="Google Shape;154;p5"/>
          <p:cNvCxnSpPr/>
          <p:nvPr/>
        </p:nvCxnSpPr>
        <p:spPr>
          <a:xfrm>
            <a:off x="5741110" y="3810000"/>
            <a:ext cx="0" cy="533400"/>
          </a:xfrm>
          <a:prstGeom prst="straightConnector1">
            <a:avLst/>
          </a:prstGeom>
          <a:noFill/>
          <a:ln w="76200" cap="flat" cmpd="sng">
            <a:solidFill>
              <a:schemeClr val="tx1">
                <a:lumMod val="9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55" name="Google Shape;155;p5" descr="Image result for al khwarizmi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89050" y="1763835"/>
            <a:ext cx="1378150" cy="18415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5" descr="Image result for ada lovelac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885830" y="2123500"/>
            <a:ext cx="1485899" cy="14858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5" descr="Image result for alan turi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96200" y="4911784"/>
            <a:ext cx="1489016" cy="14890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5" descr="Image result for edsger dijkstra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372600" y="4899752"/>
            <a:ext cx="1116762" cy="14890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5" descr="Image result for donald knuth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676746" y="4899752"/>
            <a:ext cx="1340599" cy="148588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5" descr="Image result for stephen cook"/>
          <p:cNvPicPr preferRelativeResize="0"/>
          <p:nvPr/>
        </p:nvPicPr>
        <p:blipFill rotWithShape="1">
          <a:blip r:embed="rId8">
            <a:alphaModFix/>
          </a:blip>
          <a:srcRect l="26369" r="13302" b="2108"/>
          <a:stretch/>
        </p:blipFill>
        <p:spPr>
          <a:xfrm>
            <a:off x="9205594" y="2103001"/>
            <a:ext cx="1220954" cy="14858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5" descr="Euclid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569951" y="1883003"/>
            <a:ext cx="1146098" cy="1722385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5"/>
          <p:cNvSpPr txBox="1"/>
          <p:nvPr/>
        </p:nvSpPr>
        <p:spPr>
          <a:xfrm>
            <a:off x="689189" y="4419212"/>
            <a:ext cx="90762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300 BC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63" name="Google Shape;163;p5"/>
          <p:cNvSpPr txBox="1"/>
          <p:nvPr/>
        </p:nvSpPr>
        <p:spPr>
          <a:xfrm>
            <a:off x="3195003" y="4419212"/>
            <a:ext cx="574196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800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64" name="Google Shape;164;p5"/>
          <p:cNvSpPr txBox="1"/>
          <p:nvPr/>
        </p:nvSpPr>
        <p:spPr>
          <a:xfrm>
            <a:off x="5366253" y="4419212"/>
            <a:ext cx="704039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1600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cxnSp>
        <p:nvCxnSpPr>
          <p:cNvPr id="165" name="Google Shape;165;p5"/>
          <p:cNvCxnSpPr/>
          <p:nvPr/>
        </p:nvCxnSpPr>
        <p:spPr>
          <a:xfrm>
            <a:off x="7648263" y="3810000"/>
            <a:ext cx="0" cy="533400"/>
          </a:xfrm>
          <a:prstGeom prst="straightConnector1">
            <a:avLst/>
          </a:prstGeom>
          <a:noFill/>
          <a:ln w="76200" cap="flat" cmpd="sng">
            <a:solidFill>
              <a:schemeClr val="tx1">
                <a:lumMod val="9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66" name="Google Shape;166;p5"/>
          <p:cNvSpPr txBox="1"/>
          <p:nvPr/>
        </p:nvSpPr>
        <p:spPr>
          <a:xfrm>
            <a:off x="7273406" y="4419212"/>
            <a:ext cx="704039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1800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cxnSp>
        <p:nvCxnSpPr>
          <p:cNvPr id="167" name="Google Shape;167;p5"/>
          <p:cNvCxnSpPr/>
          <p:nvPr/>
        </p:nvCxnSpPr>
        <p:spPr>
          <a:xfrm>
            <a:off x="8846013" y="3810000"/>
            <a:ext cx="0" cy="533400"/>
          </a:xfrm>
          <a:prstGeom prst="straightConnector1">
            <a:avLst/>
          </a:prstGeom>
          <a:noFill/>
          <a:ln w="76200" cap="flat" cmpd="sng">
            <a:solidFill>
              <a:schemeClr val="tx1">
                <a:lumMod val="9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68" name="Google Shape;168;p5"/>
          <p:cNvSpPr txBox="1"/>
          <p:nvPr/>
        </p:nvSpPr>
        <p:spPr>
          <a:xfrm>
            <a:off x="8471156" y="4419212"/>
            <a:ext cx="704039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1900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69" name="Google Shape;169;p5"/>
          <p:cNvSpPr txBox="1"/>
          <p:nvPr/>
        </p:nvSpPr>
        <p:spPr>
          <a:xfrm>
            <a:off x="770942" y="1452920"/>
            <a:ext cx="74411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Euclid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70" name="Google Shape;170;p5"/>
          <p:cNvSpPr txBox="1"/>
          <p:nvPr/>
        </p:nvSpPr>
        <p:spPr>
          <a:xfrm>
            <a:off x="2971800" y="1452920"/>
            <a:ext cx="141641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Al-Khwarizmi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71" name="Google Shape;171;p5"/>
          <p:cNvSpPr txBox="1"/>
          <p:nvPr/>
        </p:nvSpPr>
        <p:spPr>
          <a:xfrm>
            <a:off x="5347016" y="1452920"/>
            <a:ext cx="74251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Gauss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72" name="Google Shape;172;p5"/>
          <p:cNvSpPr txBox="1"/>
          <p:nvPr/>
        </p:nvSpPr>
        <p:spPr>
          <a:xfrm>
            <a:off x="6940408" y="1452920"/>
            <a:ext cx="141570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Ada Lovelace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73" name="Google Shape;173;p5"/>
          <p:cNvSpPr txBox="1"/>
          <p:nvPr/>
        </p:nvSpPr>
        <p:spPr>
          <a:xfrm>
            <a:off x="8977788" y="1575824"/>
            <a:ext cx="148540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Stephen Cook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74" name="Google Shape;174;p5"/>
          <p:cNvSpPr txBox="1"/>
          <p:nvPr/>
        </p:nvSpPr>
        <p:spPr>
          <a:xfrm>
            <a:off x="7820925" y="6488675"/>
            <a:ext cx="1340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Alan Turing</a:t>
            </a:r>
            <a:endParaRPr/>
          </a:p>
        </p:txBody>
      </p:sp>
      <p:sp>
        <p:nvSpPr>
          <p:cNvPr id="175" name="Google Shape;175;p5"/>
          <p:cNvSpPr txBox="1"/>
          <p:nvPr/>
        </p:nvSpPr>
        <p:spPr>
          <a:xfrm>
            <a:off x="9153400" y="6488675"/>
            <a:ext cx="1651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Edsger Dijkstra</a:t>
            </a:r>
            <a:endParaRPr/>
          </a:p>
        </p:txBody>
      </p:sp>
      <p:sp>
        <p:nvSpPr>
          <p:cNvPr id="176" name="Google Shape;176;p5"/>
          <p:cNvSpPr txBox="1"/>
          <p:nvPr/>
        </p:nvSpPr>
        <p:spPr>
          <a:xfrm>
            <a:off x="10804713" y="6480281"/>
            <a:ext cx="118295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Don Knuth</a:t>
            </a:r>
            <a:endParaRPr/>
          </a:p>
        </p:txBody>
      </p:sp>
      <p:pic>
        <p:nvPicPr>
          <p:cNvPr id="177" name="Google Shape;177;p5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5010420" y="1818879"/>
            <a:ext cx="1415701" cy="18035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5" descr="A person with long hair smiling&#10;&#10;Description automatically generated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601336" y="2103001"/>
            <a:ext cx="1289446" cy="1485899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5"/>
          <p:cNvSpPr txBox="1"/>
          <p:nvPr/>
        </p:nvSpPr>
        <p:spPr>
          <a:xfrm>
            <a:off x="10557874" y="1615201"/>
            <a:ext cx="153779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Radia Perlman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6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052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What Is an Algorithm?</a:t>
            </a:r>
            <a:endParaRPr/>
          </a:p>
        </p:txBody>
      </p:sp>
      <p:sp>
        <p:nvSpPr>
          <p:cNvPr id="187" name="Google Shape;187;p6"/>
          <p:cNvSpPr txBox="1">
            <a:spLocks noGrp="1"/>
          </p:cNvSpPr>
          <p:nvPr>
            <p:ph type="body" idx="1"/>
          </p:nvPr>
        </p:nvSpPr>
        <p:spPr>
          <a:xfrm>
            <a:off x="1423876" y="1495659"/>
            <a:ext cx="9344247" cy="4150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/>
              <a:t>In mathematics and computer science, an algorithm is </a:t>
            </a:r>
            <a:r>
              <a:rPr lang="en-US">
                <a:solidFill>
                  <a:schemeClr val="accent5"/>
                </a:solidFill>
              </a:rPr>
              <a:t>a finite sequence of well-defined, computer-implementable instructions</a:t>
            </a:r>
            <a:r>
              <a:rPr lang="en-US"/>
              <a:t>, typically to solve a class of problems or to perform a computation. Algorithms are </a:t>
            </a:r>
            <a:r>
              <a:rPr lang="en-US">
                <a:solidFill>
                  <a:schemeClr val="accent5"/>
                </a:solidFill>
              </a:rPr>
              <a:t>unambiguous specifications </a:t>
            </a:r>
            <a:r>
              <a:rPr lang="en-US"/>
              <a:t>for performing calculation, data processing, automated reasoning, and other tasks. [Wikipedia Jan 2020] </a:t>
            </a:r>
          </a:p>
          <a:p>
            <a:pPr lvl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/>
              <a:t>An algorithm is </a:t>
            </a:r>
            <a:r>
              <a:rPr lang="en-US">
                <a:solidFill>
                  <a:schemeClr val="accent5"/>
                </a:solidFill>
              </a:rPr>
              <a:t>a step by step procedure </a:t>
            </a:r>
            <a:r>
              <a:rPr lang="en-US"/>
              <a:t>to solve logical and mathematical problems. [Simple English Wikipedia Aug 2019]</a:t>
            </a:r>
            <a:br>
              <a:rPr lang="en-US"/>
            </a:b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/>
              <a:t>Being </a:t>
            </a:r>
            <a:r>
              <a:rPr lang="en-US" u="sng"/>
              <a:t>unambiguous</a:t>
            </a:r>
            <a:r>
              <a:rPr lang="en-US"/>
              <a:t> is not always easy!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u="sng">
                <a:solidFill>
                  <a:schemeClr val="hlink"/>
                </a:solidFill>
                <a:hlinkClick r:id="rId3"/>
              </a:rPr>
              <a:t>An example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7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Goals</a:t>
            </a:r>
            <a:endParaRPr/>
          </a:p>
        </p:txBody>
      </p:sp>
      <p:sp>
        <p:nvSpPr>
          <p:cNvPr id="194" name="Google Shape;194;p7"/>
          <p:cNvSpPr txBox="1">
            <a:spLocks noGrp="1"/>
          </p:cNvSpPr>
          <p:nvPr>
            <p:ph type="body" idx="1"/>
          </p:nvPr>
        </p:nvSpPr>
        <p:spPr>
          <a:xfrm>
            <a:off x="838200" y="1894274"/>
            <a:ext cx="10515600" cy="4609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 sz="3200"/>
              <a:t>Create an awesome learning experience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endParaRPr sz="320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 sz="3200"/>
              <a:t>Instill enthusiasm for problem solving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endParaRPr sz="320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 sz="3200"/>
              <a:t>Give broad perspective on computer science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endParaRPr sz="320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 sz="3200"/>
              <a:t>Have fun!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endParaRPr sz="32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8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Co-Instructors</a:t>
            </a:r>
            <a:endParaRPr/>
          </a:p>
        </p:txBody>
      </p:sp>
      <p:sp>
        <p:nvSpPr>
          <p:cNvPr id="202" name="Google Shape;202;p8"/>
          <p:cNvSpPr txBox="1"/>
          <p:nvPr/>
        </p:nvSpPr>
        <p:spPr>
          <a:xfrm>
            <a:off x="8717627" y="1953858"/>
            <a:ext cx="2864773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Prof. Floryan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Rice 203</a:t>
            </a:r>
            <a:endParaRPr sz="24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mrf8t@virginia.edu</a:t>
            </a:r>
            <a:b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</a:rPr>
            </a:br>
            <a:b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</a:rPr>
            </a:br>
            <a: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Email or Piazza</a:t>
            </a:r>
            <a:endParaRPr sz="24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8"/>
          <p:cNvSpPr/>
          <p:nvPr/>
        </p:nvSpPr>
        <p:spPr>
          <a:xfrm>
            <a:off x="1601912" y="4508647"/>
            <a:ext cx="8534400" cy="2031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1" algn="ctr"/>
            <a:r>
              <a:rPr lang="en-US" sz="2800" b="0" i="0" u="none" strike="noStrike" cap="non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Office Hours TBD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, and start next week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457200" marR="0" lvl="1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1" algn="ctr"/>
            <a:r>
              <a:rPr lang="en-US" sz="2800" b="0" i="0" u="none" strike="noStrike" cap="non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See 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Canvas</a:t>
            </a:r>
            <a:r>
              <a:rPr lang="en-US" sz="2800" b="0" i="0" u="none" strike="noStrike" cap="non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for </a:t>
            </a:r>
            <a:r>
              <a:rPr lang="en-US" sz="2800" b="0" i="0" u="none" strike="noStrike" cap="non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office 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hour times</a:t>
            </a:r>
            <a:endParaRPr sz="2800" b="0" i="0" u="none" strike="noStrike" cap="none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sng" strike="noStrike" cap="non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cs3100@cshelpdesk.atlassian.net</a:t>
            </a:r>
            <a:r>
              <a:rPr lang="en-US" sz="2800" b="0" i="0" u="none" strike="noStrike" cap="non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sz="1800" b="0" i="0" u="none" strike="noStrike" cap="none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8"/>
          <p:cNvSpPr txBox="1"/>
          <p:nvPr/>
        </p:nvSpPr>
        <p:spPr>
          <a:xfrm>
            <a:off x="3000373" y="1944840"/>
            <a:ext cx="3248027" cy="21486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Prof. Bloomfield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Rice 402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2400" err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aaron@virginia.edu</a:t>
            </a:r>
            <a:b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Email or Piazza</a:t>
            </a:r>
            <a:endParaRPr sz="24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7" name="Google Shape;207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7273" y="1968749"/>
            <a:ext cx="2031325" cy="2031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 descr="A person wearing glasses smiling&#10;&#10;AI-generated content may be incorrect.">
            <a:extLst>
              <a:ext uri="{FF2B5EF4-FFF2-40B4-BE49-F238E27FC236}">
                <a16:creationId xmlns:a16="http://schemas.microsoft.com/office/drawing/2014/main" id="{F49353C7-8ADA-3A9B-48E3-18E52A344C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6743" y="2007577"/>
            <a:ext cx="2035757" cy="203575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9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Overview of Platforms</a:t>
            </a:r>
            <a:endParaRPr/>
          </a:p>
        </p:txBody>
      </p:sp>
      <p:sp>
        <p:nvSpPr>
          <p:cNvPr id="213" name="Google Shape;213;p9"/>
          <p:cNvSpPr txBox="1">
            <a:spLocks noGrp="1"/>
          </p:cNvSpPr>
          <p:nvPr>
            <p:ph type="body" idx="1"/>
          </p:nvPr>
        </p:nvSpPr>
        <p:spPr>
          <a:xfrm>
            <a:off x="2018414" y="1787949"/>
            <a:ext cx="8550349" cy="4609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/>
              <a:t>Canvas</a:t>
            </a:r>
            <a:endParaRPr lang="en-US"/>
          </a:p>
          <a:p>
            <a:pPr marL="777875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Font typeface="Arial"/>
              <a:buChar char="•"/>
            </a:pPr>
            <a:r>
              <a:rPr lang="en-US"/>
              <a:t>Mostly for linking to other things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None/>
            </a:pPr>
            <a:r>
              <a:rPr lang="en-US" b="1"/>
              <a:t>Course Webpage</a:t>
            </a:r>
            <a:endParaRPr b="1"/>
          </a:p>
          <a:p>
            <a:pPr marL="777875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Font typeface="Arial"/>
              <a:buChar char="•"/>
            </a:pPr>
            <a:r>
              <a:rPr lang="en-US" u="sng">
                <a:solidFill>
                  <a:schemeClr val="hlink"/>
                </a:solidFill>
                <a:hlinkClick r:id="rId3"/>
              </a:rPr>
              <a:t>https://uva-cs.github.io/dsa2/</a:t>
            </a:r>
            <a:endParaRPr/>
          </a:p>
          <a:p>
            <a:pPr marL="777875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Font typeface="Arial"/>
              <a:buChar char="•"/>
            </a:pPr>
            <a:r>
              <a:rPr lang="en-US"/>
              <a:t>Contains syllabus, coursework instructions, lecture slides, lecture recordings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None/>
            </a:pPr>
            <a:r>
              <a:rPr lang="en-US" b="1" err="1"/>
              <a:t>Gradescope</a:t>
            </a:r>
            <a:r>
              <a:rPr lang="en-US" b="1"/>
              <a:t> (linked through Canvas)</a:t>
            </a:r>
            <a:endParaRPr/>
          </a:p>
          <a:p>
            <a:pPr marL="777875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Font typeface="Arial"/>
              <a:buChar char="•"/>
            </a:pPr>
            <a:r>
              <a:rPr lang="en-US"/>
              <a:t>For submitting all assignments, viewing grades, requesting regrades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None/>
            </a:pPr>
            <a:r>
              <a:rPr lang="en-US" b="1"/>
              <a:t>Piazza (available through Canvas)</a:t>
            </a:r>
            <a:endParaRPr b="1"/>
          </a:p>
          <a:p>
            <a:pPr marL="777875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</a:pPr>
            <a:r>
              <a:rPr lang="en-US"/>
              <a:t>For Q&amp;A about content and assignments</a:t>
            </a:r>
            <a:endParaRPr/>
          </a:p>
          <a:p>
            <a:pPr marL="777875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</a:pPr>
            <a:r>
              <a:rPr lang="en-US"/>
              <a:t>Instructors, TAs and other students read and answer, so ask here rather than email instructors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0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Requirements</a:t>
            </a:r>
            <a:endParaRPr/>
          </a:p>
        </p:txBody>
      </p:sp>
      <p:sp>
        <p:nvSpPr>
          <p:cNvPr id="219" name="Google Shape;219;p10"/>
          <p:cNvSpPr txBox="1">
            <a:spLocks noGrp="1"/>
          </p:cNvSpPr>
          <p:nvPr>
            <p:ph type="body" idx="1"/>
          </p:nvPr>
        </p:nvSpPr>
        <p:spPr>
          <a:xfrm>
            <a:off x="733450" y="1715550"/>
            <a:ext cx="10974000" cy="460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</a:pPr>
            <a:r>
              <a:rPr lang="en-US" sz="2800"/>
              <a:t>Discrete Math and Theory 1 (CS 2120 or CS 2102) with C- or higher</a:t>
            </a:r>
            <a:endParaRPr lang="en-US"/>
          </a:p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</a:pPr>
            <a:r>
              <a:rPr lang="en-US" sz="2800"/>
              <a:t>Data Structures and Algorithms 1 (CS 2100) with C- or higher</a:t>
            </a:r>
            <a:endParaRPr sz="2800"/>
          </a:p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</a:pPr>
            <a:r>
              <a:rPr lang="en-US" sz="2800"/>
              <a:t>Logarithms, exponents, summations, derivatives, limits &amp; series (Calc I)</a:t>
            </a:r>
            <a:endParaRPr sz="2800"/>
          </a:p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</a:pPr>
            <a:r>
              <a:rPr lang="en-US" sz="2800"/>
              <a:t>Tenacity</a:t>
            </a:r>
            <a:endParaRPr sz="2800"/>
          </a:p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</a:pPr>
            <a:r>
              <a:rPr lang="en-US" sz="2800"/>
              <a:t>Inquisitiveness</a:t>
            </a:r>
            <a:endParaRPr sz="2800"/>
          </a:p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</a:pPr>
            <a:r>
              <a:rPr lang="en-US" sz="2800"/>
              <a:t>Creativity</a:t>
            </a:r>
            <a:endParaRPr sz="28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/>
              <a:t>Note: CS2100 and CS2120 pre-req taken seriously. Don’t meet it?</a:t>
            </a:r>
            <a:r>
              <a:rPr lang="en-US"/>
              <a:t> </a:t>
            </a:r>
            <a:r>
              <a:rPr lang="en-US" sz="2800"/>
              <a:t> Need approval or you will be dropped (after add deadline). </a:t>
            </a:r>
            <a:r>
              <a:rPr lang="en-US"/>
              <a:t>☹</a:t>
            </a:r>
            <a:endParaRPr sz="28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1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Warning</a:t>
            </a:r>
            <a:endParaRPr/>
          </a:p>
        </p:txBody>
      </p:sp>
      <p:sp>
        <p:nvSpPr>
          <p:cNvPr id="227" name="Google Shape;227;p11"/>
          <p:cNvSpPr txBox="1">
            <a:spLocks noGrp="1"/>
          </p:cNvSpPr>
          <p:nvPr>
            <p:ph type="body" idx="1"/>
          </p:nvPr>
        </p:nvSpPr>
        <p:spPr>
          <a:xfrm>
            <a:off x="2050311" y="1409653"/>
            <a:ext cx="8614144" cy="243826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/>
              <a:t>This can be a very </a:t>
            </a:r>
            <a:r>
              <a:rPr lang="en-US" sz="2800" u="sng"/>
              <a:t>challenging</a:t>
            </a:r>
            <a:r>
              <a:rPr lang="en-US" sz="2800"/>
              <a:t> class</a:t>
            </a:r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sz="2400"/>
              <a:t>Hard material that combines problem-solving, logic, math and programming</a:t>
            </a:r>
            <a:endParaRPr sz="240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sz="2400"/>
              <a:t>“Holy grail” of computer science</a:t>
            </a:r>
            <a:endParaRPr sz="240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sz="2400"/>
              <a:t>Useful in practice</a:t>
            </a:r>
            <a:endParaRPr sz="240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sz="2400"/>
              <a:t>Job interviews</a:t>
            </a:r>
            <a:endParaRPr sz="24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/>
              <a:t>Lots of opportunities to succeed!</a:t>
            </a:r>
            <a:endParaRPr sz="2800"/>
          </a:p>
        </p:txBody>
      </p:sp>
      <p:sp>
        <p:nvSpPr>
          <p:cNvPr id="228" name="Google Shape;228;p11"/>
          <p:cNvSpPr txBox="1"/>
          <p:nvPr/>
        </p:nvSpPr>
        <p:spPr>
          <a:xfrm>
            <a:off x="2430616" y="4596825"/>
            <a:ext cx="3525902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Hopefully not you…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pic>
        <p:nvPicPr>
          <p:cNvPr id="229" name="Google Shape;229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26807" y="5181600"/>
            <a:ext cx="7138386" cy="1382782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11"/>
          <p:cNvSpPr/>
          <p:nvPr/>
        </p:nvSpPr>
        <p:spPr>
          <a:xfrm>
            <a:off x="9296400" y="3847922"/>
            <a:ext cx="1668517" cy="1000125"/>
          </a:xfrm>
          <a:prstGeom prst="wedgeRoundRectCallout">
            <a:avLst>
              <a:gd name="adj1" fmla="val -41523"/>
              <a:gd name="adj2" fmla="val 113967"/>
              <a:gd name="adj3" fmla="val 16667"/>
            </a:avLst>
          </a:prstGeom>
          <a:solidFill>
            <a:schemeClr val="lt1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 Quit!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2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“Learning Sources”</a:t>
            </a:r>
            <a:endParaRPr/>
          </a:p>
        </p:txBody>
      </p:sp>
      <p:sp>
        <p:nvSpPr>
          <p:cNvPr id="237" name="Google Shape;237;p12"/>
          <p:cNvSpPr txBox="1">
            <a:spLocks noGrp="1"/>
          </p:cNvSpPr>
          <p:nvPr>
            <p:ph type="body" idx="1"/>
          </p:nvPr>
        </p:nvSpPr>
        <p:spPr>
          <a:xfrm>
            <a:off x="1133061" y="5334001"/>
            <a:ext cx="10972800" cy="1147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457200" lvl="0" indent="-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/>
              <a:t>All of these are important.</a:t>
            </a:r>
            <a:endParaRPr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/>
              <a:t>Realistically, IMHO it’s impossible to get all the “book knowledge”</a:t>
            </a:r>
            <a:br>
              <a:rPr lang="en-US"/>
            </a:br>
            <a:r>
              <a:rPr lang="en-US"/>
              <a:t>from lectures and slides!</a:t>
            </a:r>
            <a:endParaRPr/>
          </a:p>
          <a:p>
            <a:pPr marL="685800" lvl="1" indent="-8763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/>
          </a:p>
        </p:txBody>
      </p:sp>
      <p:sp>
        <p:nvSpPr>
          <p:cNvPr id="238" name="Google Shape;238;p12"/>
          <p:cNvSpPr txBox="1"/>
          <p:nvPr/>
        </p:nvSpPr>
        <p:spPr>
          <a:xfrm>
            <a:off x="1143000" y="1740406"/>
            <a:ext cx="89916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From what sources will you learn?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39" name="Google Shape;239;p12"/>
          <p:cNvSpPr txBox="1"/>
          <p:nvPr/>
        </p:nvSpPr>
        <p:spPr>
          <a:xfrm>
            <a:off x="1166191" y="3037820"/>
            <a:ext cx="5105400" cy="523220"/>
          </a:xfrm>
          <a:prstGeom prst="rect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What you get from the slides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40" name="Google Shape;240;p12"/>
          <p:cNvSpPr txBox="1"/>
          <p:nvPr/>
        </p:nvSpPr>
        <p:spPr>
          <a:xfrm>
            <a:off x="1166191" y="3561040"/>
            <a:ext cx="5105400" cy="523220"/>
          </a:xfrm>
          <a:prstGeom prst="rect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Explanations you read in CLRS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41" name="Google Shape;241;p12"/>
          <p:cNvSpPr txBox="1"/>
          <p:nvPr/>
        </p:nvSpPr>
        <p:spPr>
          <a:xfrm>
            <a:off x="1166191" y="2514600"/>
            <a:ext cx="5105400" cy="523220"/>
          </a:xfrm>
          <a:prstGeom prst="rect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What we say in lectures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42" name="Google Shape;242;p12"/>
          <p:cNvSpPr txBox="1"/>
          <p:nvPr/>
        </p:nvSpPr>
        <p:spPr>
          <a:xfrm>
            <a:off x="1166191" y="4084260"/>
            <a:ext cx="5105400" cy="523220"/>
          </a:xfrm>
          <a:prstGeom prst="rect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Activities you do in/out of class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43" name="Google Shape;243;p12"/>
          <p:cNvSpPr txBox="1"/>
          <p:nvPr/>
        </p:nvSpPr>
        <p:spPr>
          <a:xfrm>
            <a:off x="1166191" y="4607480"/>
            <a:ext cx="5105400" cy="523220"/>
          </a:xfrm>
          <a:prstGeom prst="rect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Assignments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pic>
        <p:nvPicPr>
          <p:cNvPr id="244" name="Google Shape;244;p12" descr="A close up of a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97111" y="2477200"/>
            <a:ext cx="2247089" cy="2572140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p12"/>
          <p:cNvSpPr/>
          <p:nvPr/>
        </p:nvSpPr>
        <p:spPr>
          <a:xfrm>
            <a:off x="6717899" y="3370855"/>
            <a:ext cx="1359408" cy="78483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000" b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13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Textbook</a:t>
            </a:r>
            <a:endParaRPr/>
          </a:p>
        </p:txBody>
      </p:sp>
      <p:sp>
        <p:nvSpPr>
          <p:cNvPr id="252" name="Google Shape;252;p13"/>
          <p:cNvSpPr txBox="1">
            <a:spLocks noGrp="1"/>
          </p:cNvSpPr>
          <p:nvPr>
            <p:ph type="body" idx="1"/>
          </p:nvPr>
        </p:nvSpPr>
        <p:spPr>
          <a:xfrm>
            <a:off x="960478" y="1217425"/>
            <a:ext cx="109728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/>
              <a:t>You </a:t>
            </a:r>
            <a:r>
              <a:rPr lang="en-US" u="sng"/>
              <a:t>really need to</a:t>
            </a:r>
            <a:r>
              <a:rPr lang="en-US"/>
              <a:t> read and study material other than the slides.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/>
              <a:t>There are options, but a textbook is the easiest option.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/>
              <a:t>We’ll post readings from CLRS, urge you to read them.</a:t>
            </a:r>
            <a:br>
              <a:rPr lang="en-US"/>
            </a:br>
            <a:r>
              <a:rPr lang="en-US" b="1"/>
              <a:t>Note: </a:t>
            </a:r>
            <a:r>
              <a:rPr lang="en-US"/>
              <a:t>We will also have some resources posted on Collab site.</a:t>
            </a:r>
            <a:endParaRPr/>
          </a:p>
          <a:p>
            <a:pPr marL="685800" lvl="1" indent="-8763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/>
          </a:p>
        </p:txBody>
      </p:sp>
      <p:pic>
        <p:nvPicPr>
          <p:cNvPr id="253" name="Google Shape;253;p13" descr="A book cover of a book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57501" y="2843935"/>
            <a:ext cx="1815955" cy="2068286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13"/>
          <p:cNvSpPr txBox="1"/>
          <p:nvPr/>
        </p:nvSpPr>
        <p:spPr>
          <a:xfrm>
            <a:off x="882504" y="5146368"/>
            <a:ext cx="7093692" cy="9541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err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Cormen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 et al. (CLRS) </a:t>
            </a:r>
            <a:r>
              <a:rPr lang="en-US" sz="2800" i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Introduction to Algorithms</a:t>
            </a:r>
            <a:br>
              <a:rPr lang="en-US" sz="2800" i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800" u="sng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4th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 Edition. (3</a:t>
            </a:r>
            <a:r>
              <a:rPr lang="en-US" sz="2800" baseline="300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rd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 edition OK, but…)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55" name="Google Shape;255;p13"/>
          <p:cNvSpPr/>
          <p:nvPr/>
        </p:nvSpPr>
        <p:spPr>
          <a:xfrm>
            <a:off x="6043102" y="2843935"/>
            <a:ext cx="4984741" cy="1682965"/>
          </a:xfrm>
          <a:prstGeom prst="wedgeRoundRectCallout">
            <a:avLst>
              <a:gd name="adj1" fmla="val -94800"/>
              <a:gd name="adj2" fmla="val 32446"/>
              <a:gd name="adj3" fmla="val 16667"/>
            </a:avLst>
          </a:prstGeom>
          <a:solidFill>
            <a:srgbClr val="8296B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Freely accessible online via the </a:t>
            </a:r>
            <a:r>
              <a:rPr lang="en-US" sz="3200" b="0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UVA librar</a:t>
            </a:r>
            <a:r>
              <a:rPr lang="en-US" sz="3200" b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br>
              <a:rPr lang="en-US" sz="3200" b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3200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Follow this link!</a:t>
            </a:r>
            <a:endParaRPr sz="3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3"/>
          <p:cNvSpPr txBox="1"/>
          <p:nvPr/>
        </p:nvSpPr>
        <p:spPr>
          <a:xfrm>
            <a:off x="7370243" y="5778329"/>
            <a:ext cx="3657600" cy="830997"/>
          </a:xfrm>
          <a:prstGeom prst="rect">
            <a:avLst/>
          </a:prstGeom>
          <a:noFill/>
          <a:ln w="635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We may also ask you to read other online materials!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4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Units and Assignments</a:t>
            </a:r>
            <a:endParaRPr/>
          </a:p>
        </p:txBody>
      </p:sp>
      <p:sp>
        <p:nvSpPr>
          <p:cNvPr id="263" name="Google Shape;263;p14"/>
          <p:cNvSpPr txBox="1">
            <a:spLocks noGrp="1"/>
          </p:cNvSpPr>
          <p:nvPr>
            <p:ph type="body" idx="1"/>
          </p:nvPr>
        </p:nvSpPr>
        <p:spPr>
          <a:xfrm>
            <a:off x="838200" y="1543400"/>
            <a:ext cx="4648200" cy="51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/>
              <a:t>Five Units:</a:t>
            </a:r>
            <a:endParaRPr/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Calibri"/>
              <a:buAutoNum type="arabicPeriod"/>
            </a:pPr>
            <a:r>
              <a:rPr lang="en-US"/>
              <a:t>Graph Algorithms</a:t>
            </a:r>
            <a:endParaRPr/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Calibri"/>
              <a:buAutoNum type="arabicPeriod"/>
            </a:pPr>
            <a:r>
              <a:rPr lang="en-US"/>
              <a:t>Divide and Conquer</a:t>
            </a:r>
            <a:endParaRPr/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Calibri"/>
              <a:buAutoNum type="arabicPeriod"/>
            </a:pPr>
            <a:r>
              <a:rPr lang="en-US"/>
              <a:t>Greedy Algorithms</a:t>
            </a:r>
            <a:endParaRPr/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Calibri"/>
              <a:buAutoNum type="arabicPeriod"/>
            </a:pPr>
            <a:r>
              <a:rPr lang="en-US"/>
              <a:t>Dynamic Programming</a:t>
            </a:r>
            <a:endParaRPr/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Calibri"/>
              <a:buAutoNum type="arabicPeriod"/>
            </a:pPr>
            <a:r>
              <a:rPr lang="en-US"/>
              <a:t>Reductions, including Network Flow &amp; Machine Learning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</p:txBody>
      </p:sp>
      <p:pic>
        <p:nvPicPr>
          <p:cNvPr id="264" name="Google Shape;264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88115" y="3886200"/>
            <a:ext cx="3505200" cy="2480733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14"/>
          <p:cNvSpPr txBox="1"/>
          <p:nvPr/>
        </p:nvSpPr>
        <p:spPr>
          <a:xfrm>
            <a:off x="6019800" y="1543400"/>
            <a:ext cx="5334000" cy="51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 b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Course work for each unit will include: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457200" marR="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Quiz (in-class, closed book)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1 Programming Assignment (PA)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2 Weekly Problem Sets (PS)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279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None/>
            </a:pP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Additional coursework: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“PS0”, a warm-up exercise on using LaTeX typesetting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Surveys, activities along the way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5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Course Learning Objectives</a:t>
            </a:r>
            <a:endParaRPr/>
          </a:p>
        </p:txBody>
      </p:sp>
      <p:sp>
        <p:nvSpPr>
          <p:cNvPr id="272" name="Google Shape;272;p15"/>
          <p:cNvSpPr txBox="1">
            <a:spLocks noGrp="1"/>
          </p:cNvSpPr>
          <p:nvPr>
            <p:ph type="body" idx="1"/>
          </p:nvPr>
        </p:nvSpPr>
        <p:spPr>
          <a:xfrm>
            <a:off x="838200" y="1543400"/>
            <a:ext cx="10515600" cy="512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None/>
            </a:pPr>
            <a:r>
              <a:rPr lang="en-US" sz="2600" b="0" i="0" u="none" strike="noStrik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By the end of this course, students will:</a:t>
            </a:r>
            <a:endParaRPr sz="3900">
              <a:solidFill>
                <a:schemeClr val="tx1">
                  <a:lumMod val="95000"/>
                </a:schemeClr>
              </a:solidFill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sz="2600" b="1" i="0" u="none" strike="noStrik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Understand and implement more advanced data structures, </a:t>
            </a:r>
            <a:r>
              <a:rPr lang="en-US" sz="2600" b="0" i="0" u="none" strike="noStrik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including (but not limited to) graphs and sets (e.g., find-union).  Be able to analyze the asymptotic complexity of the operations of these structures and use them to solve problems.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sz="2600" b="1" i="0" u="none" strike="noStrik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Understand a variety of problem solving paradigms such as dynamic programming, divide-and-conquer, and greedy algorithms. </a:t>
            </a:r>
            <a:r>
              <a:rPr lang="en-US" sz="2600" b="0" i="0" u="none" strike="noStrik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Be able to implement a variety of algorithms, including Breadth-First (and Depth-First) Search, Dijkstra’s algorithm, Ford-Fulkerson, and others.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sz="2600" b="1" i="0" u="none" strike="noStrik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Analyze a new problem and select an appropriate problem-solving technique.</a:t>
            </a:r>
            <a:r>
              <a:rPr lang="en-US" sz="2600" b="0" i="0" u="none" strike="noStrik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 Be able to construct an algorithm to solve the problem, prove the correctness of their algorithm, and analyze the asymptotic behavior of the algorithm.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sz="2600" b="1" i="0" u="none" strike="noStrik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Analyze behavior of algorithms with recursive, and other more advanced properties. </a:t>
            </a:r>
            <a:r>
              <a:rPr lang="en-US" sz="2600" b="0" i="0" u="none" strike="noStrik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Solve recurrence relations for their closed form either manually or via the Master Theorem. Prove both upper and lower bounds on the behavior of such algorithms.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sz="2600" b="0" i="0" u="none" strike="noStrike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None/>
            </a:pPr>
            <a:r>
              <a:rPr lang="en-US" sz="2600" b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Note: </a:t>
            </a:r>
            <a:r>
              <a:rPr lang="en-US" sz="26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department course specification also includes an introduction to machine learning and topics on ethics and machine learning.</a:t>
            </a:r>
            <a:endParaRPr sz="2600" b="0" i="0" u="none" strike="noStrike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just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6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Grading Breakdown</a:t>
            </a:r>
            <a:endParaRPr/>
          </a:p>
        </p:txBody>
      </p:sp>
      <p:sp>
        <p:nvSpPr>
          <p:cNvPr id="279" name="Google Shape;279;p16"/>
          <p:cNvSpPr txBox="1">
            <a:spLocks noGrp="1"/>
          </p:cNvSpPr>
          <p:nvPr>
            <p:ph type="body" idx="1"/>
          </p:nvPr>
        </p:nvSpPr>
        <p:spPr>
          <a:xfrm>
            <a:off x="2347137" y="1354667"/>
            <a:ext cx="8071884" cy="527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 b="1"/>
              <a:t>Note: </a:t>
            </a:r>
            <a:r>
              <a:rPr lang="en-US" sz="2800"/>
              <a:t>each assignment gets a numeric score, and they’re combined to get an overall course score from 0-100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800"/>
          </a:p>
          <a:p>
            <a:pPr marL="457200" indent="-457200">
              <a:lnSpc>
                <a:spcPct val="90000"/>
              </a:lnSpc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/>
              <a:t>Exams: 60%</a:t>
            </a:r>
          </a:p>
          <a:p>
            <a:pPr marL="914400" lvl="1" algn="l">
              <a:lnSpc>
                <a:spcPct val="90000"/>
              </a:lnSpc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400"/>
              <a:t>Each unit has one quiz; two quizzes are like a midterm</a:t>
            </a:r>
          </a:p>
          <a:p>
            <a:pPr marL="457200" indent="-457200">
              <a:lnSpc>
                <a:spcPct val="90000"/>
              </a:lnSpc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/>
              <a:t>Programming Assignments (PAs): 20%</a:t>
            </a:r>
          </a:p>
          <a:p>
            <a:pPr marL="914400" lvl="1" algn="l">
              <a:lnSpc>
                <a:spcPct val="90000"/>
              </a:lnSpc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400"/>
              <a:t>Reminder: one per unit</a:t>
            </a:r>
            <a:endParaRPr sz="2400"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/>
              <a:t>Problem Sets (PSs): 20%</a:t>
            </a:r>
            <a:endParaRPr sz="2800"/>
          </a:p>
          <a:p>
            <a:pPr marL="914400" lvl="1" indent="-457200">
              <a:lnSpc>
                <a:spcPct val="90000"/>
              </a:lnSpc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400">
                <a:latin typeface="TW Cen MT"/>
              </a:rPr>
              <a:t>Reminder: </a:t>
            </a:r>
            <a:r>
              <a:rPr lang="en-US" sz="2400"/>
              <a:t>two per unit</a:t>
            </a:r>
          </a:p>
          <a:p>
            <a:pPr marL="0" indent="0">
              <a:lnSpc>
                <a:spcPct val="90000"/>
              </a:lnSpc>
              <a:buNone/>
            </a:pPr>
            <a:endParaRPr lang="en-US" sz="28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800" i="1"/>
              <a:t>Your final grade average cannot be more than 10% higher than your quiz average!</a:t>
            </a:r>
            <a:endParaRPr sz="2800" i="1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8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7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Quizzes</a:t>
            </a:r>
            <a:endParaRPr/>
          </a:p>
        </p:txBody>
      </p:sp>
      <p:sp>
        <p:nvSpPr>
          <p:cNvPr id="286" name="Google Shape;286;p17"/>
          <p:cNvSpPr txBox="1">
            <a:spLocks noGrp="1"/>
          </p:cNvSpPr>
          <p:nvPr>
            <p:ph type="body" idx="1"/>
          </p:nvPr>
        </p:nvSpPr>
        <p:spPr>
          <a:xfrm>
            <a:off x="838200" y="1543400"/>
            <a:ext cx="10515600" cy="481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b="1" dirty="0"/>
              <a:t>In-person, in your assigned section’s classroom</a:t>
            </a:r>
            <a:endParaRPr dirty="0"/>
          </a:p>
          <a:p>
            <a:pPr marL="457200" indent="-443865">
              <a:lnSpc>
                <a:spcPct val="90000"/>
              </a:lnSpc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dirty="0"/>
              <a:t>February 26th: Quiz 1 (Graphs), Quiz 2 (Divide and Conquer)</a:t>
            </a:r>
            <a:endParaRPr dirty="0"/>
          </a:p>
          <a:p>
            <a:pPr marL="457200" indent="-443865">
              <a:lnSpc>
                <a:spcPct val="90000"/>
              </a:lnSpc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dirty="0"/>
              <a:t>April 9th: Quiz 3 (Greedy), Quiz 4 (Dynamic Programming) </a:t>
            </a:r>
            <a:endParaRPr dirty="0"/>
          </a:p>
          <a:p>
            <a:pPr marL="457200" indent="-443865">
              <a:lnSpc>
                <a:spcPct val="90000"/>
              </a:lnSpc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b="1" dirty="0"/>
              <a:t>Saturday, May 2nd (7-10 pm)</a:t>
            </a:r>
            <a:r>
              <a:rPr lang="en-US" dirty="0"/>
              <a:t>: Quiz 5 (Network Flow, Machine Learning), Re-take questions</a:t>
            </a:r>
            <a:endParaRPr dirty="0"/>
          </a:p>
          <a:p>
            <a:pPr marL="685800" lvl="1" indent="-202565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75000"/>
              <a:buChar char="•"/>
            </a:pPr>
            <a:r>
              <a:rPr lang="en-US" dirty="0"/>
              <a:t>You must be physically present on that date!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None/>
            </a:pP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None/>
            </a:pPr>
            <a:r>
              <a:rPr lang="en-US" b="1" dirty="0"/>
              <a:t>“Re-take” Opportunity for Quizzes 1-4</a:t>
            </a:r>
            <a:endParaRPr b="1" dirty="0"/>
          </a:p>
          <a:p>
            <a:pPr marL="457200" lvl="0" indent="-443865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dirty="0"/>
              <a:t>During final exam period (along with Quiz 5)</a:t>
            </a:r>
            <a:endParaRPr dirty="0"/>
          </a:p>
          <a:p>
            <a:pPr marL="457200" lvl="0" indent="-443865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dirty="0"/>
              <a:t>Available only if you made a reasonable first attempt on quiz</a:t>
            </a:r>
            <a:endParaRPr dirty="0"/>
          </a:p>
          <a:p>
            <a:pPr marL="457200" lvl="0" indent="-443865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dirty="0"/>
              <a:t>Answer 2-3 questions on that unit</a:t>
            </a:r>
            <a:endParaRPr dirty="0"/>
          </a:p>
          <a:p>
            <a:pPr marL="457200" lvl="0" indent="-443865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dirty="0"/>
              <a:t>Grade on those questions will replace up to 10 missing points on score from first attempt of that unit’s quiz</a:t>
            </a:r>
            <a:endParaRPr dirty="0"/>
          </a:p>
          <a:p>
            <a:pPr marL="1143000" lvl="1" indent="-44577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/>
              <a:t>Example: First attempt score is a 75/100. You get 5 of 10 on re-take. Final score: 80/100.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19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Problem Sets (PSs)</a:t>
            </a:r>
            <a:endParaRPr/>
          </a:p>
        </p:txBody>
      </p:sp>
      <p:sp>
        <p:nvSpPr>
          <p:cNvPr id="293" name="Google Shape;293;p19"/>
          <p:cNvSpPr txBox="1">
            <a:spLocks noGrp="1"/>
          </p:cNvSpPr>
          <p:nvPr>
            <p:ph type="body" idx="1"/>
          </p:nvPr>
        </p:nvSpPr>
        <p:spPr>
          <a:xfrm>
            <a:off x="838200" y="1543400"/>
            <a:ext cx="10515600" cy="4609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/>
              <a:t>Goal: </a:t>
            </a:r>
            <a:r>
              <a:rPr lang="en-US"/>
              <a:t>Think carefully and practice problem solving with techniques discussed during the unit</a:t>
            </a:r>
            <a:endParaRPr b="1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/>
              <a:t>Grading:  </a:t>
            </a:r>
            <a:r>
              <a:rPr lang="en-US"/>
              <a:t>We will assign points for each question based on a rubric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/>
              <a:t>What are they like?</a:t>
            </a:r>
            <a:r>
              <a:rPr lang="en-US"/>
              <a:t>  A set of approximately 2-3 questions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/>
              <a:t>Concept-level questions, details of what we've studied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/>
              <a:t>Design an algorithm for a given problem (pseudocode, words)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/>
              <a:t>Analyze an algorithm (mathematically), provide a proof of correctness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None/>
            </a:pPr>
            <a:r>
              <a:rPr lang="en-US" b="1"/>
              <a:t>Collaborate?  </a:t>
            </a:r>
            <a:r>
              <a:rPr lang="en-US"/>
              <a:t>Yes, in groups of up to 5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Font typeface="Arial"/>
              <a:buChar char="•"/>
            </a:pPr>
            <a:r>
              <a:rPr lang="en-US"/>
              <a:t>But everyone must prepare and submit an individual write-up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Font typeface="Arial"/>
              <a:buChar char="•"/>
            </a:pPr>
            <a:r>
              <a:rPr lang="en-US"/>
              <a:t>Submissions must be formatted in LaTeX!  (more later)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20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Programming Assignment (PAs)</a:t>
            </a:r>
            <a:endParaRPr/>
          </a:p>
        </p:txBody>
      </p:sp>
      <p:sp>
        <p:nvSpPr>
          <p:cNvPr id="300" name="Google Shape;300;p20"/>
          <p:cNvSpPr txBox="1">
            <a:spLocks noGrp="1"/>
          </p:cNvSpPr>
          <p:nvPr>
            <p:ph type="body" idx="1"/>
          </p:nvPr>
        </p:nvSpPr>
        <p:spPr>
          <a:xfrm>
            <a:off x="1775636" y="1903228"/>
            <a:ext cx="9882963" cy="4453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/>
              <a:t>Goal:</a:t>
            </a:r>
            <a:r>
              <a:rPr lang="en-US"/>
              <a:t> Explore one or more topics from a unit by applying and 		implementing it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/>
              <a:t>Grading: </a:t>
            </a:r>
            <a:r>
              <a:rPr lang="en-US"/>
              <a:t> Primarily based on passing test-cases on </a:t>
            </a:r>
            <a:r>
              <a:rPr lang="en-US" err="1"/>
              <a:t>Gradescope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/>
              <a:t>Include comments: any sources, collaborators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/>
              <a:t>We may ask you to answer short discussion questions about your solution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None/>
            </a:pPr>
            <a:r>
              <a:rPr lang="en-US" b="1"/>
              <a:t>Languages accepted: </a:t>
            </a:r>
            <a:r>
              <a:rPr lang="en-US"/>
              <a:t>Python (3.10 or newer), Java (21 or newer)</a:t>
            </a:r>
            <a:endParaRPr b="1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None/>
            </a:pPr>
            <a:r>
              <a:rPr lang="en-US" b="1"/>
              <a:t>Collaborate?  </a:t>
            </a:r>
            <a:r>
              <a:rPr lang="en-US"/>
              <a:t>Not in writing or debugging the code, but…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/>
              <a:t>Can discuss </a:t>
            </a:r>
            <a:r>
              <a:rPr lang="en-US" b="1"/>
              <a:t>the problem </a:t>
            </a:r>
            <a:r>
              <a:rPr lang="en-US"/>
              <a:t>and </a:t>
            </a:r>
            <a:r>
              <a:rPr lang="en-US" b="1"/>
              <a:t>the overall strategy </a:t>
            </a:r>
            <a:r>
              <a:rPr lang="en-US"/>
              <a:t>with other students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/>
              <a:t>Must list these people in your submission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/>
              <a:t>Cannot share code, look at each other’s code! (Read syllabus carefully!)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>
          <a:extLst>
            <a:ext uri="{FF2B5EF4-FFF2-40B4-BE49-F238E27FC236}">
              <a16:creationId xmlns:a16="http://schemas.microsoft.com/office/drawing/2014/main" id="{DC9BAA81-4240-1557-7DAA-10C5A6178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f652350f26_0_42">
            <a:extLst>
              <a:ext uri="{FF2B5EF4-FFF2-40B4-BE49-F238E27FC236}">
                <a16:creationId xmlns:a16="http://schemas.microsoft.com/office/drawing/2014/main" id="{14AB43F6-3ECA-2D88-1B71-95645A2FAE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Extension Policy</a:t>
            </a:r>
            <a:endParaRPr/>
          </a:p>
        </p:txBody>
      </p:sp>
      <p:sp>
        <p:nvSpPr>
          <p:cNvPr id="308" name="Google Shape;308;g2f652350f26_0_42">
            <a:extLst>
              <a:ext uri="{FF2B5EF4-FFF2-40B4-BE49-F238E27FC236}">
                <a16:creationId xmlns:a16="http://schemas.microsoft.com/office/drawing/2014/main" id="{14BFDCC1-6F0A-CCDB-1C7D-4EED864EEA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55158" y="1354801"/>
            <a:ext cx="10449748" cy="5178000"/>
          </a:xfrm>
          <a:prstGeom prst="rect">
            <a:avLst/>
          </a:prstGeom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2800"/>
              <a:t>Anybody can request </a:t>
            </a:r>
            <a:r>
              <a:rPr lang="en-US" sz="2800" b="1" i="1">
                <a:solidFill>
                  <a:schemeClr val="accent5"/>
                </a:solidFill>
              </a:rPr>
              <a:t>up to 8</a:t>
            </a:r>
            <a:r>
              <a:rPr lang="en-US" sz="2800">
                <a:solidFill>
                  <a:schemeClr val="accent5"/>
                </a:solidFill>
              </a:rPr>
              <a:t> </a:t>
            </a:r>
            <a:r>
              <a:rPr lang="en-US" sz="2800"/>
              <a:t>extensions on any homework or programming assignment for any reason</a:t>
            </a:r>
          </a:p>
          <a:p>
            <a:pPr marL="285750" indent="-285750">
              <a:lnSpc>
                <a:spcPct val="100000"/>
              </a:lnSpc>
              <a:spcBef>
                <a:spcPts val="300"/>
              </a:spcBef>
            </a:pPr>
            <a:r>
              <a:rPr lang="en-US" sz="2800"/>
              <a:t>Request an extension via an online extension system, and a 4-day (96 hour) extension is automatically granted</a:t>
            </a:r>
          </a:p>
          <a:p>
            <a:pPr lvl="1">
              <a:lnSpc>
                <a:spcPct val="100000"/>
              </a:lnSpc>
              <a:spcBef>
                <a:spcPts val="300"/>
              </a:spcBef>
              <a:buFont typeface="Arial"/>
              <a:buChar char="•"/>
            </a:pPr>
            <a:r>
              <a:rPr lang="en-US"/>
              <a:t>Can be done as early as you would like</a:t>
            </a:r>
          </a:p>
          <a:p>
            <a:pPr lvl="1">
              <a:lnSpc>
                <a:spcPct val="100000"/>
              </a:lnSpc>
              <a:spcBef>
                <a:spcPts val="300"/>
              </a:spcBef>
              <a:buFont typeface="Arial"/>
              <a:buChar char="•"/>
            </a:pPr>
            <a:r>
              <a:rPr lang="en-US"/>
              <a:t>Strictly closes 3 days (72 hours) after the (original) due date!</a:t>
            </a:r>
          </a:p>
          <a:p>
            <a:pPr lvl="1">
              <a:lnSpc>
                <a:spcPct val="100000"/>
              </a:lnSpc>
              <a:spcBef>
                <a:spcPts val="300"/>
              </a:spcBef>
              <a:buFont typeface="Arial"/>
              <a:buChar char="•"/>
            </a:pPr>
            <a:r>
              <a:rPr lang="en-US"/>
              <a:t>You can "undo" an extension request, but only up to 3 days after the (original) due date</a:t>
            </a:r>
          </a:p>
          <a:p>
            <a:pPr marL="285750" lvl="0" indent="-285750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lang="en-US" sz="2800"/>
              <a:t>A late penalty kicks in after the deadline (or deadline + extension): -25% per day (or fraction thereof)</a:t>
            </a:r>
            <a:endParaRPr sz="2800"/>
          </a:p>
        </p:txBody>
      </p:sp>
    </p:spTree>
    <p:extLst>
      <p:ext uri="{BB962C8B-B14F-4D97-AF65-F5344CB8AC3E}">
        <p14:creationId xmlns:p14="http://schemas.microsoft.com/office/powerpoint/2010/main" val="1723335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f652350f26_0_42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Extension Policy</a:t>
            </a:r>
            <a:endParaRPr/>
          </a:p>
        </p:txBody>
      </p:sp>
      <p:sp>
        <p:nvSpPr>
          <p:cNvPr id="308" name="Google Shape;308;g2f652350f26_0_42"/>
          <p:cNvSpPr txBox="1">
            <a:spLocks noGrp="1"/>
          </p:cNvSpPr>
          <p:nvPr>
            <p:ph type="body" idx="1"/>
          </p:nvPr>
        </p:nvSpPr>
        <p:spPr>
          <a:xfrm>
            <a:off x="955158" y="1354801"/>
            <a:ext cx="10449748" cy="5178000"/>
          </a:xfrm>
          <a:prstGeom prst="rect">
            <a:avLst/>
          </a:prstGeom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 marL="342900" indent="-342900" algn="just">
              <a:lnSpc>
                <a:spcPct val="100000"/>
              </a:lnSpc>
              <a:spcBef>
                <a:spcPts val="300"/>
              </a:spcBef>
            </a:pPr>
            <a:r>
              <a:rPr lang="en-US" sz="2800"/>
              <a:t>Pros:</a:t>
            </a:r>
          </a:p>
          <a:p>
            <a:pPr lvl="1" algn="just">
              <a:lnSpc>
                <a:spcPct val="100000"/>
              </a:lnSpc>
              <a:spcBef>
                <a:spcPts val="300"/>
              </a:spcBef>
              <a:buFont typeface="Arial"/>
              <a:buChar char="•"/>
            </a:pPr>
            <a:r>
              <a:rPr lang="en-US"/>
              <a:t>Flexibility in deadlines</a:t>
            </a:r>
          </a:p>
          <a:p>
            <a:pPr lvl="1" algn="just">
              <a:lnSpc>
                <a:spcPct val="100000"/>
              </a:lnSpc>
              <a:spcBef>
                <a:spcPts val="300"/>
              </a:spcBef>
              <a:buFont typeface="Arial"/>
              <a:buChar char="•"/>
            </a:pPr>
            <a:r>
              <a:rPr lang="en-US"/>
              <a:t>This covers </a:t>
            </a:r>
            <a:r>
              <a:rPr lang="en-US" b="1" i="1"/>
              <a:t>ALL</a:t>
            </a:r>
            <a:r>
              <a:rPr lang="en-US"/>
              <a:t> accommodations: travel, holidays, being busy, family emergencies, SDAC (generally), dog ate your homework, religious observances, interviews, thunderstorms, power outages, temporal dislocation, etc.</a:t>
            </a:r>
          </a:p>
          <a:p>
            <a:pPr marL="285750" indent="-285750" algn="just">
              <a:lnSpc>
                <a:spcPct val="100000"/>
              </a:lnSpc>
              <a:spcBef>
                <a:spcPts val="300"/>
              </a:spcBef>
            </a:pPr>
            <a:r>
              <a:rPr lang="en-US" sz="2800"/>
              <a:t>Cons:</a:t>
            </a:r>
          </a:p>
          <a:p>
            <a:pPr marL="742950" lvl="1" indent="-285750" algn="just">
              <a:lnSpc>
                <a:spcPct val="100000"/>
              </a:lnSpc>
              <a:spcBef>
                <a:spcPts val="300"/>
              </a:spcBef>
            </a:pPr>
            <a:r>
              <a:rPr lang="en-US"/>
              <a:t>TA office hours are optimized for the actual due date</a:t>
            </a:r>
          </a:p>
          <a:p>
            <a:pPr marL="742950" lvl="1" indent="-285750" algn="just">
              <a:lnSpc>
                <a:spcPct val="100000"/>
              </a:lnSpc>
              <a:spcBef>
                <a:spcPts val="300"/>
              </a:spcBef>
            </a:pPr>
            <a:r>
              <a:rPr lang="en-US"/>
              <a:t>TAs will prioritize the current assignment, not the late one</a:t>
            </a:r>
          </a:p>
          <a:p>
            <a:pPr marL="742950" lvl="1" indent="-285750" algn="just">
              <a:lnSpc>
                <a:spcPct val="100000"/>
              </a:lnSpc>
              <a:spcBef>
                <a:spcPts val="300"/>
              </a:spcBef>
            </a:pPr>
            <a:r>
              <a:rPr lang="en-US"/>
              <a:t>Late submission means </a:t>
            </a:r>
            <a:r>
              <a:rPr lang="en-US" i="1"/>
              <a:t>very</a:t>
            </a:r>
            <a:r>
              <a:rPr lang="en-US"/>
              <a:t> late grading return</a:t>
            </a:r>
          </a:p>
          <a:p>
            <a:pPr marL="742950" lvl="1" indent="-285750" algn="just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lang="en-US"/>
              <a:t>You won’t be as prepared for the quizzes</a:t>
            </a:r>
            <a:endParaRPr/>
          </a:p>
          <a:p>
            <a:pPr marL="742950" lvl="1" indent="-285750" algn="just">
              <a:lnSpc>
                <a:spcPct val="100000"/>
              </a:lnSpc>
              <a:spcBef>
                <a:spcPts val="300"/>
              </a:spcBef>
            </a:pPr>
            <a:r>
              <a:rPr lang="en-US"/>
              <a:t>If you use them all early, you will not have </a:t>
            </a:r>
            <a:r>
              <a:rPr lang="en-US" i="1"/>
              <a:t>any </a:t>
            </a:r>
            <a:r>
              <a:rPr lang="en-US"/>
              <a:t>flexibility for the later assignments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3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PS0 – LaTeX Warmup</a:t>
            </a:r>
            <a:endParaRPr/>
          </a:p>
        </p:txBody>
      </p:sp>
      <p:sp>
        <p:nvSpPr>
          <p:cNvPr id="315" name="Google Shape;315;p23"/>
          <p:cNvSpPr txBox="1">
            <a:spLocks noGrp="1"/>
          </p:cNvSpPr>
          <p:nvPr>
            <p:ph type="body" idx="1"/>
          </p:nvPr>
        </p:nvSpPr>
        <p:spPr>
          <a:xfrm>
            <a:off x="838200" y="1543400"/>
            <a:ext cx="10515600" cy="4609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indent="-457200">
              <a:lnSpc>
                <a:spcPct val="100000"/>
              </a:lnSpc>
              <a:spcBef>
                <a:spcPts val="0"/>
              </a:spcBef>
              <a:buClr>
                <a:schemeClr val="tx1">
                  <a:lumMod val="95000"/>
                </a:schemeClr>
              </a:buClr>
              <a:buSzPts val="3600"/>
            </a:pPr>
            <a:r>
              <a:rPr lang="en-US" sz="3200">
                <a:latin typeface="TW Cen MT"/>
              </a:rPr>
              <a:t>PS0 is out, due next week</a:t>
            </a:r>
          </a:p>
          <a:p>
            <a:pPr marL="457200" indent="-457200">
              <a:lnSpc>
                <a:spcPct val="100000"/>
              </a:lnSpc>
              <a:spcBef>
                <a:spcPts val="0"/>
              </a:spcBef>
              <a:buSzPts val="3600"/>
            </a:pPr>
            <a:r>
              <a:rPr lang="en-US" sz="3200">
                <a:latin typeface="TW Cen MT"/>
              </a:rPr>
              <a:t>Learning LaTeX</a:t>
            </a:r>
          </a:p>
          <a:p>
            <a:pPr marL="914400" lvl="1" indent="-457200">
              <a:lnSpc>
                <a:spcPct val="100000"/>
              </a:lnSpc>
              <a:spcBef>
                <a:spcPts val="0"/>
              </a:spcBef>
              <a:buSzPts val="3600"/>
            </a:pPr>
            <a:r>
              <a:rPr lang="en-US" sz="2800">
                <a:latin typeface="TW Cen MT"/>
              </a:rPr>
              <a:t>LaTeX (pronounced “LAH-tech”) is a markup language where you mix text and commands in a .</a:t>
            </a:r>
            <a:r>
              <a:rPr lang="en-US" sz="2800" err="1">
                <a:latin typeface="TW Cen MT"/>
              </a:rPr>
              <a:t>tex</a:t>
            </a:r>
            <a:r>
              <a:rPr lang="en-US" sz="2800">
                <a:latin typeface="TW Cen MT"/>
              </a:rPr>
              <a:t> file, run process the file to get a publication-quality PDF output file</a:t>
            </a:r>
          </a:p>
          <a:p>
            <a:pPr marL="914400" lvl="1" indent="-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</a:pPr>
            <a:r>
              <a:rPr lang="en-US" sz="2800">
                <a:latin typeface="TW Cen MT"/>
              </a:rPr>
              <a:t>Created to format mathematical symbols and texts</a:t>
            </a:r>
          </a:p>
          <a:p>
            <a:pPr marL="914400" lvl="1" indent="-457200">
              <a:lnSpc>
                <a:spcPct val="100000"/>
              </a:lnSpc>
              <a:spcBef>
                <a:spcPts val="0"/>
              </a:spcBef>
              <a:buSzPts val="3600"/>
            </a:pPr>
            <a:r>
              <a:rPr lang="en-US" sz="2800">
                <a:latin typeface="TW Cen MT"/>
              </a:rPr>
              <a:t>You can create .</a:t>
            </a:r>
            <a:r>
              <a:rPr lang="en-US" sz="2800" err="1">
                <a:latin typeface="TW Cen MT"/>
              </a:rPr>
              <a:t>tex</a:t>
            </a:r>
            <a:r>
              <a:rPr lang="en-US" sz="2800">
                <a:latin typeface="TW Cen MT"/>
              </a:rPr>
              <a:t> files and run LaTeX in the cloud using a site called Overleaf at </a:t>
            </a:r>
            <a:r>
              <a:rPr lang="en-US" sz="2800">
                <a:latin typeface="TW Cen MT"/>
                <a:hlinkClick r:id="rId3"/>
              </a:rPr>
              <a:t>https://overleaf.com</a:t>
            </a:r>
            <a:r>
              <a:rPr lang="en-US" sz="2800">
                <a:latin typeface="TW Cen MT"/>
              </a:rPr>
              <a:t> </a:t>
            </a:r>
          </a:p>
          <a:p>
            <a:pPr marL="457200" indent="-457200">
              <a:lnSpc>
                <a:spcPct val="100000"/>
              </a:lnSpc>
              <a:spcBef>
                <a:spcPts val="0"/>
              </a:spcBef>
              <a:buSzPts val="3600"/>
            </a:pPr>
            <a:r>
              <a:rPr lang="en-US" sz="3200">
                <a:latin typeface="TW Cen MT"/>
              </a:rPr>
              <a:t>PS0 is due next week (Wednesday at 11:59 pm)</a:t>
            </a:r>
          </a:p>
          <a:p>
            <a:pPr marL="1066800" lvl="1" indent="-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prstClr val="black"/>
              </a:buClr>
              <a:buSzPts val="2400"/>
            </a:pPr>
            <a:endParaRPr lang="en-US" sz="3200">
              <a:latin typeface="TW Cen MT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24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Academic Integrity</a:t>
            </a:r>
            <a:endParaRPr/>
          </a:p>
        </p:txBody>
      </p:sp>
      <p:sp>
        <p:nvSpPr>
          <p:cNvPr id="322" name="Google Shape;322;p24"/>
          <p:cNvSpPr txBox="1">
            <a:spLocks noGrp="1"/>
          </p:cNvSpPr>
          <p:nvPr>
            <p:ph type="body" idx="1"/>
          </p:nvPr>
        </p:nvSpPr>
        <p:spPr>
          <a:xfrm>
            <a:off x="1205634" y="1653365"/>
            <a:ext cx="7039721" cy="4756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sz="2400" b="1"/>
              <a:t>Collaboration Encouraged!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sz="2400" b="1"/>
              <a:t>For PSs:</a:t>
            </a:r>
            <a:r>
              <a:rPr lang="en-US" sz="2400"/>
              <a:t> groups of up to 5 per assignment (you + 4)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000"/>
              <a:buChar char="•"/>
            </a:pPr>
            <a:r>
              <a:rPr lang="en-US" sz="2000"/>
              <a:t>List your collaborators (by name and UVA computing ID)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000"/>
              <a:buChar char="•"/>
            </a:pPr>
            <a:r>
              <a:rPr lang="en-US" sz="2000"/>
              <a:t>OK to discuss problem, approach to solution, even details about solution, but… collaboration is "whiteboard only"</a:t>
            </a:r>
            <a:endParaRPr sz="200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000"/>
              <a:buChar char="•"/>
            </a:pPr>
            <a:r>
              <a:rPr lang="en-US" sz="2000"/>
              <a:t>Write-ups (.</a:t>
            </a:r>
            <a:r>
              <a:rPr lang="en-US" sz="2000" err="1"/>
              <a:t>tex</a:t>
            </a:r>
            <a:r>
              <a:rPr lang="en-US" sz="2000"/>
              <a:t> files) must be created </a:t>
            </a:r>
            <a:r>
              <a:rPr lang="en-US" sz="2000" b="1"/>
              <a:t>independently</a:t>
            </a:r>
            <a:endParaRPr sz="2000" b="1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F0000"/>
              </a:buClr>
              <a:buSzPts val="2000"/>
              <a:buChar char="•"/>
            </a:pPr>
            <a:r>
              <a:rPr lang="en-US" sz="2000" b="1">
                <a:solidFill>
                  <a:srgbClr val="FF0000"/>
                </a:solidFill>
              </a:rPr>
              <a:t>DO NOT </a:t>
            </a:r>
            <a:r>
              <a:rPr lang="en-US" sz="2000">
                <a:solidFill>
                  <a:srgbClr val="FF0000"/>
                </a:solidFill>
              </a:rPr>
              <a:t>share written notes / pictures / code / </a:t>
            </a:r>
            <a:r>
              <a:rPr lang="en-US" sz="2000" err="1">
                <a:solidFill>
                  <a:srgbClr val="FF0000"/>
                </a:solidFill>
              </a:rPr>
              <a:t>etc</a:t>
            </a:r>
            <a:endParaRPr sz="2000">
              <a:solidFill>
                <a:srgbClr val="FF0000"/>
              </a:solidFill>
            </a:endParaRPr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F0000"/>
              </a:buClr>
              <a:buSzPts val="2000"/>
              <a:buChar char="•"/>
            </a:pPr>
            <a:r>
              <a:rPr lang="en-US" sz="2000" b="1">
                <a:solidFill>
                  <a:srgbClr val="FF0000"/>
                </a:solidFill>
              </a:rPr>
              <a:t>DO NOT </a:t>
            </a:r>
            <a:r>
              <a:rPr lang="en-US" sz="2000">
                <a:solidFill>
                  <a:srgbClr val="FF0000"/>
                </a:solidFill>
              </a:rPr>
              <a:t>share documents (ex: Overleaf)</a:t>
            </a:r>
            <a:endParaRPr sz="2000">
              <a:solidFill>
                <a:srgbClr val="FF0000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</a:pPr>
            <a:r>
              <a:rPr lang="en-US" sz="2400">
                <a:solidFill>
                  <a:schemeClr val="tx1">
                    <a:lumMod val="95000"/>
                  </a:schemeClr>
                </a:solidFill>
              </a:rPr>
              <a:t>Be able to explain any solution you submit!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</a:pPr>
            <a:r>
              <a:rPr lang="en-US" sz="2400">
                <a:solidFill>
                  <a:schemeClr val="tx1">
                    <a:lumMod val="95000"/>
                  </a:schemeClr>
                </a:solidFill>
              </a:rPr>
              <a:t>See syllabus about online code examples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sz="2400" b="1">
              <a:solidFill>
                <a:srgbClr val="000000"/>
              </a:solidFill>
            </a:endParaRPr>
          </a:p>
        </p:txBody>
      </p:sp>
      <p:grpSp>
        <p:nvGrpSpPr>
          <p:cNvPr id="323" name="Google Shape;323;p24"/>
          <p:cNvGrpSpPr/>
          <p:nvPr/>
        </p:nvGrpSpPr>
        <p:grpSpPr>
          <a:xfrm>
            <a:off x="8399161" y="4212265"/>
            <a:ext cx="2640369" cy="2362201"/>
            <a:chOff x="8326527" y="4343400"/>
            <a:chExt cx="2640369" cy="2362201"/>
          </a:xfrm>
        </p:grpSpPr>
        <p:pic>
          <p:nvPicPr>
            <p:cNvPr id="324" name="Google Shape;324;p2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26527" y="4676829"/>
              <a:ext cx="2640369" cy="1477638"/>
            </a:xfrm>
            <a:prstGeom prst="rect">
              <a:avLst/>
            </a:prstGeom>
            <a:solidFill>
              <a:srgbClr val="ECECEC"/>
            </a:solidFill>
            <a:ln w="88900" cap="sq" cmpd="sng">
              <a:solidFill>
                <a:srgbClr val="FFFFFF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</p:spPr>
        </p:pic>
        <p:sp>
          <p:nvSpPr>
            <p:cNvPr id="325" name="Google Shape;325;p24"/>
            <p:cNvSpPr/>
            <p:nvPr/>
          </p:nvSpPr>
          <p:spPr>
            <a:xfrm>
              <a:off x="8501503" y="4343400"/>
              <a:ext cx="2362201" cy="2362201"/>
            </a:xfrm>
            <a:prstGeom prst="noSmoking">
              <a:avLst>
                <a:gd name="adj" fmla="val 9414"/>
              </a:avLst>
            </a:prstGeom>
            <a:solidFill>
              <a:srgbClr val="C00000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6" name="Google Shape;326;p24"/>
          <p:cNvGrpSpPr/>
          <p:nvPr/>
        </p:nvGrpSpPr>
        <p:grpSpPr>
          <a:xfrm>
            <a:off x="8399161" y="1779713"/>
            <a:ext cx="2552183" cy="2362201"/>
            <a:chOff x="8425303" y="1501219"/>
            <a:chExt cx="2552183" cy="2362201"/>
          </a:xfrm>
        </p:grpSpPr>
        <p:pic>
          <p:nvPicPr>
            <p:cNvPr id="327" name="Google Shape;327;p24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8425303" y="1599509"/>
              <a:ext cx="2552183" cy="1979023"/>
            </a:xfrm>
            <a:prstGeom prst="rect">
              <a:avLst/>
            </a:prstGeom>
            <a:solidFill>
              <a:srgbClr val="ECECEC"/>
            </a:solidFill>
            <a:ln w="88900" cap="sq" cmpd="sng">
              <a:solidFill>
                <a:srgbClr val="FFFFFF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</p:spPr>
        </p:pic>
        <p:sp>
          <p:nvSpPr>
            <p:cNvPr id="328" name="Google Shape;328;p24"/>
            <p:cNvSpPr/>
            <p:nvPr/>
          </p:nvSpPr>
          <p:spPr>
            <a:xfrm>
              <a:off x="8501503" y="1501219"/>
              <a:ext cx="2362201" cy="2362201"/>
            </a:xfrm>
            <a:prstGeom prst="noSmoking">
              <a:avLst>
                <a:gd name="adj" fmla="val 9414"/>
              </a:avLst>
            </a:prstGeom>
            <a:solidFill>
              <a:srgbClr val="C00000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821CCEDA-DFB1-131D-EC3A-0D641017C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3">
            <a:extLst>
              <a:ext uri="{FF2B5EF4-FFF2-40B4-BE49-F238E27FC236}">
                <a16:creationId xmlns:a16="http://schemas.microsoft.com/office/drawing/2014/main" id="{11A76828-170C-0D2E-822A-506C32F432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algn="ctr">
              <a:spcBef>
                <a:spcPts val="0"/>
              </a:spcBef>
            </a:pPr>
            <a:r>
              <a:rPr lang="en-US"/>
              <a:t>Generative AI Usage</a:t>
            </a:r>
          </a:p>
        </p:txBody>
      </p:sp>
      <p:sp>
        <p:nvSpPr>
          <p:cNvPr id="315" name="Google Shape;315;p23">
            <a:extLst>
              <a:ext uri="{FF2B5EF4-FFF2-40B4-BE49-F238E27FC236}">
                <a16:creationId xmlns:a16="http://schemas.microsoft.com/office/drawing/2014/main" id="{A6962AAB-8F24-E87E-ED96-0EAB357768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543400"/>
            <a:ext cx="10515600" cy="4609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indent="-457200" algn="just">
              <a:lnSpc>
                <a:spcPct val="100000"/>
              </a:lnSpc>
              <a:spcBef>
                <a:spcPts val="0"/>
              </a:spcBef>
              <a:buClr>
                <a:schemeClr val="tx1">
                  <a:lumMod val="95000"/>
                </a:schemeClr>
              </a:buClr>
              <a:buSzPts val="3600"/>
            </a:pPr>
            <a:r>
              <a:rPr lang="en-US" sz="3200">
                <a:latin typeface="TW Cen MT"/>
              </a:rPr>
              <a:t>You  may use generative AI to check your answers on the problem sets and programming assignments</a:t>
            </a:r>
            <a:endParaRPr lang="en-US" err="1"/>
          </a:p>
          <a:p>
            <a:pPr marL="457200" indent="-457200" algn="just">
              <a:lnSpc>
                <a:spcPct val="100000"/>
              </a:lnSpc>
              <a:spcBef>
                <a:spcPts val="0"/>
              </a:spcBef>
              <a:buClr>
                <a:schemeClr val="tx1">
                  <a:lumMod val="95000"/>
                </a:schemeClr>
              </a:buClr>
              <a:buSzPts val="3600"/>
            </a:pPr>
            <a:r>
              <a:rPr lang="en-US" sz="3200">
                <a:latin typeface="TW Cen MT"/>
              </a:rPr>
              <a:t>Note that the grades are 60% quizzes, and the way to learn how to solve the problem is to work through the problem sets</a:t>
            </a:r>
          </a:p>
          <a:p>
            <a:pPr marL="457200" indent="-457200" algn="just">
              <a:lnSpc>
                <a:spcPct val="100000"/>
              </a:lnSpc>
              <a:spcBef>
                <a:spcPts val="0"/>
              </a:spcBef>
              <a:buClr>
                <a:schemeClr val="tx1">
                  <a:lumMod val="95000"/>
                </a:schemeClr>
              </a:buClr>
              <a:buSzPts val="3600"/>
            </a:pPr>
            <a:r>
              <a:rPr lang="en-US" sz="3200">
                <a:latin typeface="TW Cen MT"/>
              </a:rPr>
              <a:t>We are going to SPECIFICALLY put problems on the quizzes that test whether you did the assignments yourselves</a:t>
            </a:r>
          </a:p>
          <a:p>
            <a:pPr marL="457200" indent="-457200" algn="just">
              <a:lnSpc>
                <a:spcPct val="100000"/>
              </a:lnSpc>
              <a:spcBef>
                <a:spcPts val="0"/>
              </a:spcBef>
              <a:buClr>
                <a:schemeClr val="tx1">
                  <a:lumMod val="95000"/>
                </a:schemeClr>
              </a:buClr>
              <a:buSzPts val="3600"/>
            </a:pPr>
            <a:r>
              <a:rPr lang="en-US" sz="3200">
                <a:latin typeface="TW Cen MT"/>
              </a:rPr>
              <a:t>The TAs can also help you understand how to work through the problems</a:t>
            </a:r>
            <a:endParaRPr lang="en-US"/>
          </a:p>
          <a:p>
            <a:pPr marL="1066800" lvl="1" indent="-457200" algn="just">
              <a:lnSpc>
                <a:spcPct val="100000"/>
              </a:lnSpc>
              <a:buClr>
                <a:prstClr val="black"/>
              </a:buClr>
              <a:buSzPts val="2400"/>
            </a:pPr>
            <a:endParaRPr lang="en-US" sz="3200">
              <a:latin typeface="TW Cen MT"/>
            </a:endParaRPr>
          </a:p>
        </p:txBody>
      </p:sp>
    </p:spTree>
    <p:extLst>
      <p:ext uri="{BB962C8B-B14F-4D97-AF65-F5344CB8AC3E}">
        <p14:creationId xmlns:p14="http://schemas.microsoft.com/office/powerpoint/2010/main" val="886381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D54FC284-562D-6B85-7DF3-9480812A7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3">
            <a:extLst>
              <a:ext uri="{FF2B5EF4-FFF2-40B4-BE49-F238E27FC236}">
                <a16:creationId xmlns:a16="http://schemas.microsoft.com/office/drawing/2014/main" id="{DE95803F-7F08-7413-536A-FE7E2ED1232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algn="ctr">
              <a:spcBef>
                <a:spcPts val="0"/>
              </a:spcBef>
            </a:pPr>
            <a:r>
              <a:rPr lang="en-US"/>
              <a:t>Generative AI Usage</a:t>
            </a:r>
          </a:p>
        </p:txBody>
      </p:sp>
      <p:sp>
        <p:nvSpPr>
          <p:cNvPr id="315" name="Google Shape;315;p23">
            <a:extLst>
              <a:ext uri="{FF2B5EF4-FFF2-40B4-BE49-F238E27FC236}">
                <a16:creationId xmlns:a16="http://schemas.microsoft.com/office/drawing/2014/main" id="{69C6569E-2802-3116-3AFA-8B3EDF0B19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543400"/>
            <a:ext cx="10515600" cy="4609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indent="-457200" algn="just">
              <a:lnSpc>
                <a:spcPct val="100000"/>
              </a:lnSpc>
              <a:spcBef>
                <a:spcPts val="0"/>
              </a:spcBef>
              <a:buClr>
                <a:schemeClr val="tx1">
                  <a:lumMod val="95000"/>
                </a:schemeClr>
              </a:buClr>
              <a:buSzPts val="3600"/>
            </a:pPr>
            <a:r>
              <a:rPr lang="en-US" sz="3200">
                <a:latin typeface="TW Cen MT"/>
              </a:rPr>
              <a:t>You may use Generative AI to check your answers on the assignments</a:t>
            </a:r>
          </a:p>
          <a:p>
            <a:pPr lvl="1" algn="just">
              <a:lnSpc>
                <a:spcPct val="100000"/>
              </a:lnSpc>
              <a:spcBef>
                <a:spcPts val="0"/>
              </a:spcBef>
              <a:buClr>
                <a:srgbClr val="F2F2F2"/>
              </a:buClr>
              <a:buSzPts val="3600"/>
            </a:pPr>
            <a:r>
              <a:rPr lang="en-US" sz="2800">
                <a:latin typeface="TW Cen MT"/>
              </a:rPr>
              <a:t>Note: it is often wrong for these types of questions!</a:t>
            </a:r>
          </a:p>
          <a:p>
            <a:pPr marL="457200" indent="-457200" algn="just">
              <a:lnSpc>
                <a:spcPct val="100000"/>
              </a:lnSpc>
              <a:spcBef>
                <a:spcPts val="0"/>
              </a:spcBef>
              <a:buClr>
                <a:srgbClr val="F2F2F2"/>
              </a:buClr>
              <a:buSzPts val="3600"/>
            </a:pPr>
            <a:r>
              <a:rPr lang="en-US" sz="3200">
                <a:solidFill>
                  <a:srgbClr val="FF0000"/>
                </a:solidFill>
                <a:latin typeface="TW Cen MT"/>
              </a:rPr>
              <a:t>Warning:</a:t>
            </a:r>
            <a:r>
              <a:rPr lang="en-US" sz="3200">
                <a:latin typeface="TW Cen MT"/>
              </a:rPr>
              <a:t> if you use Generative AI to do your assignments, you will get a very low quiz grade</a:t>
            </a:r>
            <a:endParaRPr lang="en-US">
              <a:latin typeface="Tw Cen MT" panose="020B0602020104020603"/>
            </a:endParaRPr>
          </a:p>
          <a:p>
            <a:pPr marL="914400" lvl="1" indent="-457200" algn="just">
              <a:lnSpc>
                <a:spcPct val="100000"/>
              </a:lnSpc>
              <a:spcBef>
                <a:spcPts val="0"/>
              </a:spcBef>
              <a:buClr>
                <a:srgbClr val="F2F2F2"/>
              </a:buClr>
              <a:buSzPts val="3600"/>
            </a:pPr>
            <a:r>
              <a:rPr lang="en-US" sz="2800">
                <a:latin typeface="TW Cen MT"/>
              </a:rPr>
              <a:t>The quiz questions are like the homework questions, and the only real way to learn them is to do them</a:t>
            </a:r>
          </a:p>
          <a:p>
            <a:pPr marL="457200" indent="-457200" algn="just">
              <a:lnSpc>
                <a:spcPct val="100000"/>
              </a:lnSpc>
              <a:spcBef>
                <a:spcPts val="0"/>
              </a:spcBef>
              <a:buClr>
                <a:schemeClr val="tx1">
                  <a:lumMod val="95000"/>
                </a:schemeClr>
              </a:buClr>
              <a:buSzPts val="3600"/>
            </a:pPr>
            <a:r>
              <a:rPr lang="en-US" sz="3200">
                <a:latin typeface="TW Cen MT"/>
              </a:rPr>
              <a:t>Recall that your final average cannot be more than 10% higher than your quiz grade</a:t>
            </a:r>
          </a:p>
        </p:txBody>
      </p:sp>
    </p:spTree>
    <p:extLst>
      <p:ext uri="{BB962C8B-B14F-4D97-AF65-F5344CB8AC3E}">
        <p14:creationId xmlns:p14="http://schemas.microsoft.com/office/powerpoint/2010/main" val="9431597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29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Feedback</a:t>
            </a:r>
            <a:endParaRPr/>
          </a:p>
        </p:txBody>
      </p:sp>
      <p:sp>
        <p:nvSpPr>
          <p:cNvPr id="355" name="Google Shape;355;p29"/>
          <p:cNvSpPr txBox="1">
            <a:spLocks noGrp="1"/>
          </p:cNvSpPr>
          <p:nvPr>
            <p:ph type="body" idx="1"/>
          </p:nvPr>
        </p:nvSpPr>
        <p:spPr>
          <a:xfrm>
            <a:off x="838200" y="1903228"/>
            <a:ext cx="10759440" cy="4249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 sz="3200"/>
              <a:t>We professors are not course dictators, more like civil servants.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 sz="3200"/>
              <a:t>We’re open to any suggestion to help you learn.</a:t>
            </a:r>
            <a:endParaRPr sz="32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 sz="3200"/>
              <a:t>Let us know!</a:t>
            </a:r>
            <a:endParaRPr sz="320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Char char="•"/>
            </a:pPr>
            <a:r>
              <a:rPr lang="en-US" sz="2800"/>
              <a:t>In person</a:t>
            </a:r>
            <a:endParaRPr sz="280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Char char="•"/>
            </a:pPr>
            <a:r>
              <a:rPr lang="en-US" sz="2800"/>
              <a:t>Anonymous feedback</a:t>
            </a:r>
            <a:endParaRPr sz="280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Char char="•"/>
            </a:pPr>
            <a:r>
              <a:rPr lang="en-US" sz="2800"/>
              <a:t>Course staff email: </a:t>
            </a:r>
            <a:r>
              <a:rPr lang="en-US" sz="2800" u="sng">
                <a:solidFill>
                  <a:schemeClr val="hlink"/>
                </a:solidFill>
                <a:hlinkClick r:id="rId3"/>
              </a:rPr>
              <a:t>cs3100@cshelpdesk.atlassian.net</a:t>
            </a:r>
            <a:r>
              <a:rPr lang="en-US" sz="2800"/>
              <a:t> </a:t>
            </a:r>
            <a:endParaRPr sz="2400"/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8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31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Who is your instructor?</a:t>
            </a:r>
            <a:endParaRPr/>
          </a:p>
        </p:txBody>
      </p:sp>
      <p:sp>
        <p:nvSpPr>
          <p:cNvPr id="362" name="Google Shape;362;p31"/>
          <p:cNvSpPr txBox="1">
            <a:spLocks noGrp="1"/>
          </p:cNvSpPr>
          <p:nvPr>
            <p:ph type="body" idx="1"/>
          </p:nvPr>
        </p:nvSpPr>
        <p:spPr>
          <a:xfrm>
            <a:off x="2016050" y="1354667"/>
            <a:ext cx="8839792" cy="50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  <a:p>
            <a:r>
              <a:rPr lang="en-US"/>
              <a:t>Mark Floryan</a:t>
            </a:r>
            <a:endParaRPr/>
          </a:p>
          <a:p>
            <a:r>
              <a:rPr lang="en-US"/>
              <a:t>Education: Ph.D., Computer Science, University of Massachusetts</a:t>
            </a:r>
            <a:endParaRPr/>
          </a:p>
          <a:p>
            <a:r>
              <a:rPr lang="en-US"/>
              <a:t>Main Research Area: AIED, Intelligent Tutoring Systems, Game Design. These days mostly CS Education stuff </a:t>
            </a:r>
          </a:p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</a:pPr>
            <a:r>
              <a:rPr lang="en-US"/>
              <a:t>Work History:</a:t>
            </a:r>
            <a:endParaRPr/>
          </a:p>
          <a:p>
            <a:pPr marL="788670" lvl="1" indent="-342900">
              <a:buSzPts val="2400"/>
            </a:pPr>
            <a:r>
              <a:rPr lang="en-US"/>
              <a:t>UVa: I've been here for 12 years</a:t>
            </a:r>
          </a:p>
          <a:p>
            <a:pPr marL="788670" lvl="1" indent="-342900">
              <a:buSzPts val="2400"/>
            </a:pPr>
            <a:r>
              <a:rPr lang="en-US"/>
              <a:t>Game Development: 3 years</a:t>
            </a:r>
            <a:endParaRPr/>
          </a:p>
          <a:p>
            <a:pPr marL="1190625" lvl="2" indent="-285750">
              <a:buSzPts val="2000"/>
            </a:pPr>
            <a:r>
              <a:rPr lang="en-US" err="1"/>
              <a:t>Hitpoint</a:t>
            </a:r>
            <a:r>
              <a:rPr lang="en-US"/>
              <a:t> Studios (Massachusetts)</a:t>
            </a:r>
          </a:p>
          <a:p>
            <a:pPr marL="790575" lvl="1" indent="-342900">
              <a:buSzPts val="2000"/>
            </a:pPr>
            <a:r>
              <a:rPr lang="en-US"/>
              <a:t>Grad Student Researcher</a:t>
            </a:r>
            <a:br>
              <a:rPr lang="en-US"/>
            </a:br>
            <a:r>
              <a:rPr lang="en-US"/>
              <a:t> </a:t>
            </a:r>
          </a:p>
        </p:txBody>
      </p:sp>
      <p:pic>
        <p:nvPicPr>
          <p:cNvPr id="2" name="Picture 1" descr="Disney Fairies Hidden Treasures (Windows) News and Videos">
            <a:extLst>
              <a:ext uri="{FF2B5EF4-FFF2-40B4-BE49-F238E27FC236}">
                <a16:creationId xmlns:a16="http://schemas.microsoft.com/office/drawing/2014/main" id="{55258017-D3A7-E9D2-4807-53C84DEEB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6890" y="3754694"/>
            <a:ext cx="4544538" cy="258777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f606204d2d_2_4"/>
          <p:cNvSpPr txBox="1">
            <a:spLocks noGrp="1"/>
          </p:cNvSpPr>
          <p:nvPr>
            <p:ph type="title"/>
          </p:nvPr>
        </p:nvSpPr>
        <p:spPr>
          <a:xfrm>
            <a:off x="0" y="319224"/>
            <a:ext cx="12192000" cy="13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Who is your instructor?</a:t>
            </a:r>
            <a:endParaRPr/>
          </a:p>
        </p:txBody>
      </p:sp>
      <p:sp>
        <p:nvSpPr>
          <p:cNvPr id="370" name="Google Shape;370;g2f606204d2d_2_4"/>
          <p:cNvSpPr txBox="1">
            <a:spLocks noGrp="1"/>
          </p:cNvSpPr>
          <p:nvPr>
            <p:ph type="body" idx="1"/>
          </p:nvPr>
        </p:nvSpPr>
        <p:spPr>
          <a:xfrm>
            <a:off x="929767" y="1264186"/>
            <a:ext cx="7806070" cy="50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lang="en-US" sz="28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/>
              <a:t>Aaron Bloomfield</a:t>
            </a:r>
            <a:endParaRPr sz="28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/>
              <a:t>Education: Ph.D., Computer Science, University of Pennsylvania</a:t>
            </a:r>
            <a:endParaRPr sz="28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/>
              <a:t>Main Research Area: computer science </a:t>
            </a:r>
            <a:br>
              <a:rPr lang="en-US" sz="2800"/>
            </a:br>
            <a:r>
              <a:rPr lang="en-US" sz="2800"/>
              <a:t>education.  Previously: graphics, haptics, </a:t>
            </a:r>
            <a:br>
              <a:rPr lang="en-US" sz="2800"/>
            </a:br>
            <a:r>
              <a:rPr lang="en-US" sz="2800"/>
              <a:t>virtual reality</a:t>
            </a:r>
            <a:endParaRPr sz="2800"/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800"/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2800"/>
              <a:t>Has been at UVA for 21 years</a:t>
            </a:r>
            <a:endParaRPr sz="2800"/>
          </a:p>
        </p:txBody>
      </p:sp>
      <p:pic>
        <p:nvPicPr>
          <p:cNvPr id="372" name="Google Shape;372;g2f606204d2d_2_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81436" y="3103251"/>
            <a:ext cx="4682726" cy="3435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32"/>
          <p:cNvSpPr txBox="1">
            <a:spLocks noGrp="1"/>
          </p:cNvSpPr>
          <p:nvPr>
            <p:ph type="title"/>
          </p:nvPr>
        </p:nvSpPr>
        <p:spPr>
          <a:xfrm>
            <a:off x="0" y="3064476"/>
            <a:ext cx="12192000" cy="1778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alibri"/>
              <a:buNone/>
            </a:pPr>
            <a:r>
              <a:rPr lang="en-US"/>
              <a:t>Motivating problems</a:t>
            </a:r>
            <a:endParaRPr/>
          </a:p>
        </p:txBody>
      </p:sp>
      <p:sp>
        <p:nvSpPr>
          <p:cNvPr id="378" name="Google Shape;378;p32"/>
          <p:cNvSpPr txBox="1">
            <a:spLocks noGrp="1"/>
          </p:cNvSpPr>
          <p:nvPr>
            <p:ph type="body" idx="1"/>
          </p:nvPr>
        </p:nvSpPr>
        <p:spPr>
          <a:xfrm>
            <a:off x="831850" y="4959178"/>
            <a:ext cx="10515600" cy="113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2f652350f26_0_7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Problem 1: Map routing</a:t>
            </a:r>
            <a:endParaRPr/>
          </a:p>
        </p:txBody>
      </p:sp>
      <p:sp>
        <p:nvSpPr>
          <p:cNvPr id="386" name="Google Shape;386;g2f652350f26_0_7"/>
          <p:cNvSpPr txBox="1">
            <a:spLocks noGrp="1"/>
          </p:cNvSpPr>
          <p:nvPr>
            <p:ph type="body" idx="1"/>
          </p:nvPr>
        </p:nvSpPr>
        <p:spPr>
          <a:xfrm>
            <a:off x="1316665" y="1670991"/>
            <a:ext cx="2989800" cy="4608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How does a GPS program find the shortest path from here to there?</a:t>
            </a: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Notice the three road types</a:t>
            </a:r>
            <a:endParaRPr/>
          </a:p>
        </p:txBody>
      </p:sp>
      <p:pic>
        <p:nvPicPr>
          <p:cNvPr id="388" name="Google Shape;388;g2f652350f26_0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42254" y="1543400"/>
            <a:ext cx="6853846" cy="5147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2f652350f26_0_15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Map routing</a:t>
            </a:r>
            <a:endParaRPr/>
          </a:p>
        </p:txBody>
      </p:sp>
      <p:sp>
        <p:nvSpPr>
          <p:cNvPr id="395" name="Google Shape;395;g2f652350f26_0_15"/>
          <p:cNvSpPr txBox="1">
            <a:spLocks noGrp="1"/>
          </p:cNvSpPr>
          <p:nvPr>
            <p:ph type="body" idx="1"/>
          </p:nvPr>
        </p:nvSpPr>
        <p:spPr>
          <a:xfrm>
            <a:off x="1032350" y="1354801"/>
            <a:ext cx="4196100" cy="4757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One solution:</a:t>
            </a:r>
            <a:endParaRPr/>
          </a:p>
          <a:p>
            <a:pPr marL="457200" lvl="0" indent="-406400" algn="just" rtl="0">
              <a:spcBef>
                <a:spcPts val="1000"/>
              </a:spcBef>
              <a:spcAft>
                <a:spcPts val="0"/>
              </a:spcAft>
              <a:buSzPts val="2800"/>
              <a:buChar char="●"/>
            </a:pPr>
            <a:r>
              <a:rPr lang="en-US"/>
              <a:t>Get to a highway</a:t>
            </a:r>
            <a:endParaRPr/>
          </a:p>
          <a:p>
            <a:pPr marL="457200" lvl="0" indent="-406400" algn="just" rtl="0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-US"/>
              <a:t>Get as close as you can to the destination on highways</a:t>
            </a:r>
            <a:endParaRPr/>
          </a:p>
          <a:p>
            <a:pPr marL="457200" lvl="0" indent="-406400" algn="just" rtl="0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-US"/>
              <a:t>Then as close as you can on main roads</a:t>
            </a:r>
            <a:endParaRPr/>
          </a:p>
          <a:p>
            <a:pPr marL="457200" lvl="0" indent="-406400" algn="just" rtl="0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-US"/>
              <a:t>Then arrive via side roads</a:t>
            </a: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But how to find the shortest path on highways?</a:t>
            </a:r>
            <a:endParaRPr/>
          </a:p>
        </p:txBody>
      </p:sp>
      <p:pic>
        <p:nvPicPr>
          <p:cNvPr id="397" name="Google Shape;397;g2f652350f26_0_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28450" y="1798175"/>
            <a:ext cx="6767175" cy="424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2f652350f26_0_22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Shortest Path</a:t>
            </a:r>
            <a:endParaRPr/>
          </a:p>
        </p:txBody>
      </p:sp>
      <p:sp>
        <p:nvSpPr>
          <p:cNvPr id="404" name="Google Shape;404;g2f652350f26_0_22"/>
          <p:cNvSpPr txBox="1">
            <a:spLocks noGrp="1"/>
          </p:cNvSpPr>
          <p:nvPr>
            <p:ph type="body" idx="1"/>
          </p:nvPr>
        </p:nvSpPr>
        <p:spPr>
          <a:xfrm>
            <a:off x="1288651" y="1519612"/>
            <a:ext cx="6030300" cy="4608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Formally: given a weighted graph, what is the shortest path from a start vertex to one (or many) end vertices?</a:t>
            </a: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The solution to the weighted version is Dijkstra’s Shortest Path algorithm</a:t>
            </a: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Similar applications: Internet routing (unweighted version)</a:t>
            </a:r>
            <a:endParaRPr/>
          </a:p>
        </p:txBody>
      </p:sp>
      <p:pic>
        <p:nvPicPr>
          <p:cNvPr id="406" name="Google Shape;406;g2f652350f26_0_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58591" y="1444414"/>
            <a:ext cx="4064550" cy="454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2f606204d2d_2_21"/>
          <p:cNvSpPr txBox="1"/>
          <p:nvPr/>
        </p:nvSpPr>
        <p:spPr>
          <a:xfrm>
            <a:off x="1854602" y="2286001"/>
            <a:ext cx="85485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412" name="Google Shape;412;g2f606204d2d_2_21"/>
          <p:cNvSpPr txBox="1">
            <a:spLocks noGrp="1"/>
          </p:cNvSpPr>
          <p:nvPr>
            <p:ph type="title"/>
          </p:nvPr>
        </p:nvSpPr>
        <p:spPr>
          <a:xfrm>
            <a:off x="0" y="-10449"/>
            <a:ext cx="12192000" cy="13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Helvetica Neue Light"/>
              <a:buNone/>
            </a:pPr>
            <a:r>
              <a:rPr lang="en-US"/>
              <a:t>Problem 2: Log Cutting</a:t>
            </a:r>
            <a:endParaRPr/>
          </a:p>
        </p:txBody>
      </p:sp>
      <p:sp>
        <p:nvSpPr>
          <p:cNvPr id="413" name="Google Shape;413;g2f606204d2d_2_21"/>
          <p:cNvSpPr txBox="1"/>
          <p:nvPr/>
        </p:nvSpPr>
        <p:spPr>
          <a:xfrm>
            <a:off x="609600" y="1295400"/>
            <a:ext cx="10972800" cy="363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Arial"/>
              <a:buChar char="•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You own a company that gets some item in bulk, and cuts it to customers’ requests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marR="0" lvl="1" indent="-431800" algn="just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Calibri"/>
              <a:buChar char="–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Cloth, pipes, logs, lumber, etc.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431800" algn="just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Calibri"/>
              <a:buChar char="•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Assume you own a series of lengths, and customer orders arrive for a different (smaller) set of lengths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431800" algn="just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Calibri"/>
              <a:buChar char="•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What is the most profitable way to cut the item?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14" name="Google Shape;414;g2f606204d2d_2_21" descr="Image result for log"/>
          <p:cNvPicPr preferRelativeResize="0"/>
          <p:nvPr/>
        </p:nvPicPr>
        <p:blipFill rotWithShape="1">
          <a:blip r:embed="rId3">
            <a:alphaModFix/>
          </a:blip>
          <a:srcRect l="38121" r="37587"/>
          <a:stretch/>
        </p:blipFill>
        <p:spPr>
          <a:xfrm rot="5400000">
            <a:off x="5315803" y="2569976"/>
            <a:ext cx="1407992" cy="57964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0" name="Google Shape;420;g2f606204d2d_2_930" descr="Image result for log"/>
          <p:cNvPicPr preferRelativeResize="0"/>
          <p:nvPr/>
        </p:nvPicPr>
        <p:blipFill rotWithShape="1">
          <a:blip r:embed="rId3">
            <a:alphaModFix/>
          </a:blip>
          <a:srcRect l="38121" r="37587"/>
          <a:stretch/>
        </p:blipFill>
        <p:spPr>
          <a:xfrm rot="5400000">
            <a:off x="5315803" y="2569976"/>
            <a:ext cx="1407992" cy="5796457"/>
          </a:xfrm>
          <a:prstGeom prst="rect">
            <a:avLst/>
          </a:prstGeom>
          <a:noFill/>
          <a:ln>
            <a:noFill/>
          </a:ln>
        </p:spPr>
      </p:pic>
      <p:sp>
        <p:nvSpPr>
          <p:cNvPr id="421" name="Google Shape;421;g2f606204d2d_2_930"/>
          <p:cNvSpPr txBox="1"/>
          <p:nvPr/>
        </p:nvSpPr>
        <p:spPr>
          <a:xfrm>
            <a:off x="1854602" y="1905001"/>
            <a:ext cx="85485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422" name="Google Shape;422;g2f606204d2d_2_930"/>
          <p:cNvSpPr/>
          <p:nvPr/>
        </p:nvSpPr>
        <p:spPr>
          <a:xfrm>
            <a:off x="33528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423" name="Google Shape;423;g2f606204d2d_2_930"/>
          <p:cNvSpPr/>
          <p:nvPr/>
        </p:nvSpPr>
        <p:spPr>
          <a:xfrm>
            <a:off x="38862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424" name="Google Shape;424;g2f606204d2d_2_930"/>
          <p:cNvSpPr/>
          <p:nvPr/>
        </p:nvSpPr>
        <p:spPr>
          <a:xfrm>
            <a:off x="44196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  <p:sp>
        <p:nvSpPr>
          <p:cNvPr id="425" name="Google Shape;425;g2f606204d2d_2_930"/>
          <p:cNvSpPr/>
          <p:nvPr/>
        </p:nvSpPr>
        <p:spPr>
          <a:xfrm>
            <a:off x="49530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/>
          </a:p>
        </p:txBody>
      </p:sp>
      <p:sp>
        <p:nvSpPr>
          <p:cNvPr id="426" name="Google Shape;426;g2f606204d2d_2_930"/>
          <p:cNvSpPr/>
          <p:nvPr/>
        </p:nvSpPr>
        <p:spPr>
          <a:xfrm>
            <a:off x="54864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  <p:sp>
        <p:nvSpPr>
          <p:cNvPr id="427" name="Google Shape;427;g2f606204d2d_2_930"/>
          <p:cNvSpPr/>
          <p:nvPr/>
        </p:nvSpPr>
        <p:spPr>
          <a:xfrm>
            <a:off x="60198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/>
          </a:p>
        </p:txBody>
      </p:sp>
      <p:sp>
        <p:nvSpPr>
          <p:cNvPr id="428" name="Google Shape;428;g2f606204d2d_2_930"/>
          <p:cNvSpPr/>
          <p:nvPr/>
        </p:nvSpPr>
        <p:spPr>
          <a:xfrm>
            <a:off x="65532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/>
          </a:p>
        </p:txBody>
      </p:sp>
      <p:sp>
        <p:nvSpPr>
          <p:cNvPr id="429" name="Google Shape;429;g2f606204d2d_2_930"/>
          <p:cNvSpPr/>
          <p:nvPr/>
        </p:nvSpPr>
        <p:spPr>
          <a:xfrm>
            <a:off x="70866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endParaRPr/>
          </a:p>
        </p:txBody>
      </p:sp>
      <p:sp>
        <p:nvSpPr>
          <p:cNvPr id="430" name="Google Shape;430;g2f606204d2d_2_930"/>
          <p:cNvSpPr/>
          <p:nvPr/>
        </p:nvSpPr>
        <p:spPr>
          <a:xfrm>
            <a:off x="76200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24</a:t>
            </a:r>
            <a:endParaRPr/>
          </a:p>
        </p:txBody>
      </p:sp>
      <p:sp>
        <p:nvSpPr>
          <p:cNvPr id="431" name="Google Shape;431;g2f606204d2d_2_930"/>
          <p:cNvSpPr/>
          <p:nvPr/>
        </p:nvSpPr>
        <p:spPr>
          <a:xfrm>
            <a:off x="81534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30</a:t>
            </a:r>
            <a:endParaRPr/>
          </a:p>
        </p:txBody>
      </p:sp>
      <p:sp>
        <p:nvSpPr>
          <p:cNvPr id="432" name="Google Shape;432;g2f606204d2d_2_930"/>
          <p:cNvSpPr txBox="1"/>
          <p:nvPr/>
        </p:nvSpPr>
        <p:spPr>
          <a:xfrm>
            <a:off x="8269257" y="4043149"/>
            <a:ext cx="418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33" name="Google Shape;433;g2f606204d2d_2_930"/>
          <p:cNvSpPr txBox="1"/>
          <p:nvPr/>
        </p:nvSpPr>
        <p:spPr>
          <a:xfrm>
            <a:off x="7735857" y="4027227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34" name="Google Shape;434;g2f606204d2d_2_930"/>
          <p:cNvSpPr txBox="1"/>
          <p:nvPr/>
        </p:nvSpPr>
        <p:spPr>
          <a:xfrm>
            <a:off x="7202457" y="4027227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35" name="Google Shape;435;g2f606204d2d_2_930"/>
          <p:cNvSpPr txBox="1"/>
          <p:nvPr/>
        </p:nvSpPr>
        <p:spPr>
          <a:xfrm>
            <a:off x="6669057" y="4027227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36" name="Google Shape;436;g2f606204d2d_2_930"/>
          <p:cNvSpPr txBox="1"/>
          <p:nvPr/>
        </p:nvSpPr>
        <p:spPr>
          <a:xfrm>
            <a:off x="6135657" y="4027227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37" name="Google Shape;437;g2f606204d2d_2_930"/>
          <p:cNvSpPr txBox="1"/>
          <p:nvPr/>
        </p:nvSpPr>
        <p:spPr>
          <a:xfrm>
            <a:off x="5602257" y="4038600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38" name="Google Shape;438;g2f606204d2d_2_930"/>
          <p:cNvSpPr txBox="1"/>
          <p:nvPr/>
        </p:nvSpPr>
        <p:spPr>
          <a:xfrm>
            <a:off x="5068857" y="4038600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39" name="Google Shape;439;g2f606204d2d_2_930"/>
          <p:cNvSpPr txBox="1"/>
          <p:nvPr/>
        </p:nvSpPr>
        <p:spPr>
          <a:xfrm>
            <a:off x="4535457" y="4027227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40" name="Google Shape;440;g2f606204d2d_2_930"/>
          <p:cNvSpPr txBox="1"/>
          <p:nvPr/>
        </p:nvSpPr>
        <p:spPr>
          <a:xfrm>
            <a:off x="4002057" y="4038600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41" name="Google Shape;441;g2f606204d2d_2_930"/>
          <p:cNvSpPr txBox="1"/>
          <p:nvPr/>
        </p:nvSpPr>
        <p:spPr>
          <a:xfrm>
            <a:off x="3468657" y="4043149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42" name="Google Shape;442;g2f606204d2d_2_930"/>
          <p:cNvSpPr txBox="1"/>
          <p:nvPr/>
        </p:nvSpPr>
        <p:spPr>
          <a:xfrm>
            <a:off x="2466276" y="4050394"/>
            <a:ext cx="886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Length: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43" name="Google Shape;443;g2f606204d2d_2_930"/>
          <p:cNvSpPr txBox="1"/>
          <p:nvPr/>
        </p:nvSpPr>
        <p:spPr>
          <a:xfrm>
            <a:off x="2524743" y="3587250"/>
            <a:ext cx="712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Price: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444" name="Google Shape;444;g2f606204d2d_2_930"/>
          <p:cNvSpPr txBox="1">
            <a:spLocks noGrp="1"/>
          </p:cNvSpPr>
          <p:nvPr>
            <p:ph type="title"/>
          </p:nvPr>
        </p:nvSpPr>
        <p:spPr>
          <a:xfrm>
            <a:off x="0" y="287262"/>
            <a:ext cx="12192000" cy="13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Helvetica Neue Light"/>
              <a:buNone/>
            </a:pPr>
            <a:r>
              <a:rPr lang="en-US"/>
              <a:t>Log Cutting</a:t>
            </a:r>
            <a:endParaRPr/>
          </a:p>
        </p:txBody>
      </p:sp>
      <p:sp>
        <p:nvSpPr>
          <p:cNvPr id="445" name="Google Shape;445;g2f606204d2d_2_930"/>
          <p:cNvSpPr txBox="1"/>
          <p:nvPr/>
        </p:nvSpPr>
        <p:spPr>
          <a:xfrm>
            <a:off x="609600" y="1219200"/>
            <a:ext cx="10972800" cy="22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Arial"/>
              <a:buChar char="•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 variant of that problem: how to cut the log to maximize profit</a:t>
            </a:r>
            <a:endParaRPr sz="2400" b="0" i="0" u="none" strike="noStrike" cap="none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g2f606204d2d_2_534"/>
          <p:cNvSpPr txBox="1">
            <a:spLocks noGrp="1"/>
          </p:cNvSpPr>
          <p:nvPr>
            <p:ph type="title"/>
          </p:nvPr>
        </p:nvSpPr>
        <p:spPr>
          <a:xfrm>
            <a:off x="0" y="245400"/>
            <a:ext cx="12192000" cy="13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Helvetica Neue Light"/>
              <a:buNone/>
            </a:pPr>
            <a:r>
              <a:rPr lang="en-US"/>
              <a:t>Greedy Algorithm</a:t>
            </a:r>
            <a:endParaRPr/>
          </a:p>
        </p:txBody>
      </p:sp>
      <p:sp>
        <p:nvSpPr>
          <p:cNvPr id="452" name="Google Shape;452;g2f606204d2d_2_534"/>
          <p:cNvSpPr txBox="1"/>
          <p:nvPr/>
        </p:nvSpPr>
        <p:spPr>
          <a:xfrm>
            <a:off x="6758334" y="3927709"/>
            <a:ext cx="2297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Greedy:	Lengths: 3, 3</a:t>
            </a:r>
            <a:endParaRPr>
              <a:solidFill>
                <a:schemeClr val="accent5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	Profit: 52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453" name="Google Shape;453;g2f606204d2d_2_534"/>
          <p:cNvSpPr txBox="1"/>
          <p:nvPr/>
        </p:nvSpPr>
        <p:spPr>
          <a:xfrm>
            <a:off x="6758323" y="4741425"/>
            <a:ext cx="27432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Better:	Lengths: 2, 2, 2</a:t>
            </a:r>
            <a:endParaRPr>
              <a:solidFill>
                <a:schemeClr val="accent4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	Profit: 54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54" name="Google Shape;454;g2f606204d2d_2_534"/>
          <p:cNvSpPr/>
          <p:nvPr/>
        </p:nvSpPr>
        <p:spPr>
          <a:xfrm>
            <a:off x="33528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455" name="Google Shape;455;g2f606204d2d_2_534"/>
          <p:cNvSpPr/>
          <p:nvPr/>
        </p:nvSpPr>
        <p:spPr>
          <a:xfrm>
            <a:off x="38862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/>
          </a:p>
        </p:txBody>
      </p:sp>
      <p:sp>
        <p:nvSpPr>
          <p:cNvPr id="456" name="Google Shape;456;g2f606204d2d_2_534"/>
          <p:cNvSpPr/>
          <p:nvPr/>
        </p:nvSpPr>
        <p:spPr>
          <a:xfrm>
            <a:off x="44196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26</a:t>
            </a:r>
            <a:endParaRPr/>
          </a:p>
        </p:txBody>
      </p:sp>
      <p:sp>
        <p:nvSpPr>
          <p:cNvPr id="457" name="Google Shape;457;g2f606204d2d_2_534"/>
          <p:cNvSpPr/>
          <p:nvPr/>
        </p:nvSpPr>
        <p:spPr>
          <a:xfrm>
            <a:off x="49530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30</a:t>
            </a:r>
            <a:endParaRPr/>
          </a:p>
        </p:txBody>
      </p:sp>
      <p:sp>
        <p:nvSpPr>
          <p:cNvPr id="458" name="Google Shape;458;g2f606204d2d_2_534"/>
          <p:cNvSpPr/>
          <p:nvPr/>
        </p:nvSpPr>
        <p:spPr>
          <a:xfrm>
            <a:off x="54864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48</a:t>
            </a:r>
            <a:endParaRPr/>
          </a:p>
        </p:txBody>
      </p:sp>
      <p:sp>
        <p:nvSpPr>
          <p:cNvPr id="459" name="Google Shape;459;g2f606204d2d_2_534"/>
          <p:cNvSpPr txBox="1"/>
          <p:nvPr/>
        </p:nvSpPr>
        <p:spPr>
          <a:xfrm>
            <a:off x="5602257" y="45449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60" name="Google Shape;460;g2f606204d2d_2_534"/>
          <p:cNvSpPr txBox="1"/>
          <p:nvPr/>
        </p:nvSpPr>
        <p:spPr>
          <a:xfrm>
            <a:off x="5068857" y="45449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61" name="Google Shape;461;g2f606204d2d_2_534"/>
          <p:cNvSpPr txBox="1"/>
          <p:nvPr/>
        </p:nvSpPr>
        <p:spPr>
          <a:xfrm>
            <a:off x="4535457" y="4533601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62" name="Google Shape;462;g2f606204d2d_2_534"/>
          <p:cNvSpPr txBox="1"/>
          <p:nvPr/>
        </p:nvSpPr>
        <p:spPr>
          <a:xfrm>
            <a:off x="4002057" y="45449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63" name="Google Shape;463;g2f606204d2d_2_534"/>
          <p:cNvSpPr txBox="1"/>
          <p:nvPr/>
        </p:nvSpPr>
        <p:spPr>
          <a:xfrm>
            <a:off x="3468657" y="4549523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64" name="Google Shape;464;g2f606204d2d_2_534"/>
          <p:cNvSpPr txBox="1"/>
          <p:nvPr/>
        </p:nvSpPr>
        <p:spPr>
          <a:xfrm>
            <a:off x="2466276" y="4556768"/>
            <a:ext cx="886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Length: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65" name="Google Shape;465;g2f606204d2d_2_534"/>
          <p:cNvSpPr txBox="1"/>
          <p:nvPr/>
        </p:nvSpPr>
        <p:spPr>
          <a:xfrm>
            <a:off x="2429881" y="4093608"/>
            <a:ext cx="712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Price: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466" name="Google Shape;466;g2f606204d2d_2_534"/>
          <p:cNvSpPr/>
          <p:nvPr/>
        </p:nvSpPr>
        <p:spPr>
          <a:xfrm>
            <a:off x="60198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50</a:t>
            </a:r>
            <a:endParaRPr/>
          </a:p>
        </p:txBody>
      </p:sp>
      <p:sp>
        <p:nvSpPr>
          <p:cNvPr id="467" name="Google Shape;467;g2f606204d2d_2_534"/>
          <p:cNvSpPr txBox="1"/>
          <p:nvPr/>
        </p:nvSpPr>
        <p:spPr>
          <a:xfrm>
            <a:off x="6135657" y="45449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68" name="Google Shape;468;g2f606204d2d_2_534"/>
          <p:cNvSpPr txBox="1"/>
          <p:nvPr/>
        </p:nvSpPr>
        <p:spPr>
          <a:xfrm>
            <a:off x="2742314" y="1419847"/>
            <a:ext cx="7088372" cy="22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indent="-342900">
              <a:buClr>
                <a:schemeClr val="tx1">
                  <a:lumMod val="95000"/>
                </a:schemeClr>
              </a:buClr>
              <a:buSzPts val="3200"/>
              <a:buFont typeface="Arial"/>
              <a:buChar char="•"/>
            </a:pPr>
            <a:r>
              <a:rPr lang="en-US" sz="32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Greedy algorithms</a:t>
            </a:r>
            <a:r>
              <a:rPr lang="en-US" sz="3200">
                <a:latin typeface="Calibri"/>
                <a:ea typeface="Calibri"/>
                <a:cs typeface="Calibri"/>
                <a:sym typeface="Calibri"/>
              </a:rPr>
              <a:t> build a solution by picking the best option “right now</a:t>
            </a:r>
            <a:endParaRPr lang="en-US">
              <a:latin typeface="Tw Cen MT" panose="020B0602020104020603"/>
              <a:ea typeface="Calibri"/>
              <a:cs typeface="Calibri"/>
            </a:endParaRPr>
          </a:p>
          <a:p>
            <a:pPr marL="800100" marR="0" lvl="1" indent="-342900" algn="l"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3200"/>
              <a:buFont typeface="Arial"/>
              <a:buChar char="–"/>
            </a:pPr>
            <a:r>
              <a:rPr lang="en-US" sz="2800">
                <a:latin typeface="Calibri"/>
                <a:ea typeface="Calibri"/>
                <a:cs typeface="Calibri"/>
                <a:sym typeface="Calibri"/>
              </a:rPr>
              <a:t>Select</a:t>
            </a:r>
            <a:r>
              <a:rPr lang="en-US" sz="2800" b="0" i="0" u="none" strike="noStrike" cap="none">
                <a:latin typeface="Calibri"/>
                <a:ea typeface="Calibri"/>
                <a:cs typeface="Calibri"/>
                <a:sym typeface="Calibri"/>
              </a:rPr>
              <a:t> the most profitable cut first</a:t>
            </a:r>
            <a:endParaRPr lang="en-US"/>
          </a:p>
          <a:p>
            <a:pPr marL="1143000" marR="0" lvl="2" indent="-762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69" name="Google Shape;469;g2f606204d2d_2_534" descr="Image result for log"/>
          <p:cNvPicPr preferRelativeResize="0"/>
          <p:nvPr/>
        </p:nvPicPr>
        <p:blipFill rotWithShape="1">
          <a:blip r:embed="rId3">
            <a:alphaModFix/>
          </a:blip>
          <a:srcRect l="38121" r="37587"/>
          <a:stretch/>
        </p:blipFill>
        <p:spPr>
          <a:xfrm rot="5400000">
            <a:off x="4537042" y="3621007"/>
            <a:ext cx="831915" cy="34248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2f606204d2d_2_660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Helvetica Neue Light"/>
              <a:buNone/>
            </a:pPr>
            <a:r>
              <a:rPr lang="en-US"/>
              <a:t>Recursive Algorithm</a:t>
            </a:r>
            <a:endParaRPr/>
          </a:p>
        </p:txBody>
      </p:sp>
      <p:sp>
        <p:nvSpPr>
          <p:cNvPr id="476" name="Google Shape;476;g2f606204d2d_2_660"/>
          <p:cNvSpPr txBox="1"/>
          <p:nvPr/>
        </p:nvSpPr>
        <p:spPr>
          <a:xfrm>
            <a:off x="6758334" y="3927709"/>
            <a:ext cx="2297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Greedy:	Lengths: 3, 3</a:t>
            </a:r>
            <a:endParaRPr>
              <a:solidFill>
                <a:schemeClr val="accent5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	Profit: 52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477" name="Google Shape;477;g2f606204d2d_2_660"/>
          <p:cNvSpPr txBox="1"/>
          <p:nvPr/>
        </p:nvSpPr>
        <p:spPr>
          <a:xfrm>
            <a:off x="6758323" y="4741425"/>
            <a:ext cx="27432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Better:	Lengths: 2, 2, 2</a:t>
            </a:r>
            <a:endParaRPr>
              <a:solidFill>
                <a:schemeClr val="accent4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	Profit: 54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78" name="Google Shape;478;g2f606204d2d_2_660"/>
          <p:cNvSpPr/>
          <p:nvPr/>
        </p:nvSpPr>
        <p:spPr>
          <a:xfrm>
            <a:off x="33528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479" name="Google Shape;479;g2f606204d2d_2_660"/>
          <p:cNvSpPr/>
          <p:nvPr/>
        </p:nvSpPr>
        <p:spPr>
          <a:xfrm>
            <a:off x="38862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/>
          </a:p>
        </p:txBody>
      </p:sp>
      <p:sp>
        <p:nvSpPr>
          <p:cNvPr id="480" name="Google Shape;480;g2f606204d2d_2_660"/>
          <p:cNvSpPr/>
          <p:nvPr/>
        </p:nvSpPr>
        <p:spPr>
          <a:xfrm>
            <a:off x="44196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26</a:t>
            </a:r>
            <a:endParaRPr/>
          </a:p>
        </p:txBody>
      </p:sp>
      <p:sp>
        <p:nvSpPr>
          <p:cNvPr id="481" name="Google Shape;481;g2f606204d2d_2_660"/>
          <p:cNvSpPr/>
          <p:nvPr/>
        </p:nvSpPr>
        <p:spPr>
          <a:xfrm>
            <a:off x="49530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30</a:t>
            </a:r>
            <a:endParaRPr/>
          </a:p>
        </p:txBody>
      </p:sp>
      <p:sp>
        <p:nvSpPr>
          <p:cNvPr id="482" name="Google Shape;482;g2f606204d2d_2_660"/>
          <p:cNvSpPr/>
          <p:nvPr/>
        </p:nvSpPr>
        <p:spPr>
          <a:xfrm>
            <a:off x="54864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48</a:t>
            </a:r>
            <a:endParaRPr/>
          </a:p>
        </p:txBody>
      </p:sp>
      <p:sp>
        <p:nvSpPr>
          <p:cNvPr id="483" name="Google Shape;483;g2f606204d2d_2_660"/>
          <p:cNvSpPr txBox="1"/>
          <p:nvPr/>
        </p:nvSpPr>
        <p:spPr>
          <a:xfrm>
            <a:off x="5602257" y="45449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84" name="Google Shape;484;g2f606204d2d_2_660"/>
          <p:cNvSpPr txBox="1"/>
          <p:nvPr/>
        </p:nvSpPr>
        <p:spPr>
          <a:xfrm>
            <a:off x="5068857" y="45449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85" name="Google Shape;485;g2f606204d2d_2_660"/>
          <p:cNvSpPr txBox="1"/>
          <p:nvPr/>
        </p:nvSpPr>
        <p:spPr>
          <a:xfrm>
            <a:off x="4535457" y="4533601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86" name="Google Shape;486;g2f606204d2d_2_660"/>
          <p:cNvSpPr txBox="1"/>
          <p:nvPr/>
        </p:nvSpPr>
        <p:spPr>
          <a:xfrm>
            <a:off x="4002057" y="45449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87" name="Google Shape;487;g2f606204d2d_2_660"/>
          <p:cNvSpPr txBox="1"/>
          <p:nvPr/>
        </p:nvSpPr>
        <p:spPr>
          <a:xfrm>
            <a:off x="3468657" y="4549523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88" name="Google Shape;488;g2f606204d2d_2_660"/>
          <p:cNvSpPr txBox="1"/>
          <p:nvPr/>
        </p:nvSpPr>
        <p:spPr>
          <a:xfrm>
            <a:off x="2466276" y="4556768"/>
            <a:ext cx="886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Length: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89" name="Google Shape;489;g2f606204d2d_2_660"/>
          <p:cNvSpPr txBox="1"/>
          <p:nvPr/>
        </p:nvSpPr>
        <p:spPr>
          <a:xfrm>
            <a:off x="2429881" y="4093608"/>
            <a:ext cx="712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Price:</a:t>
            </a:r>
            <a:endParaRPr lang="en-US"/>
          </a:p>
        </p:txBody>
      </p:sp>
      <p:sp>
        <p:nvSpPr>
          <p:cNvPr id="490" name="Google Shape;490;g2f606204d2d_2_660"/>
          <p:cNvSpPr/>
          <p:nvPr/>
        </p:nvSpPr>
        <p:spPr>
          <a:xfrm>
            <a:off x="60198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50</a:t>
            </a:r>
            <a:endParaRPr/>
          </a:p>
        </p:txBody>
      </p:sp>
      <p:sp>
        <p:nvSpPr>
          <p:cNvPr id="491" name="Google Shape;491;g2f606204d2d_2_660"/>
          <p:cNvSpPr txBox="1"/>
          <p:nvPr/>
        </p:nvSpPr>
        <p:spPr>
          <a:xfrm>
            <a:off x="6135657" y="45449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92" name="Google Shape;492;g2f606204d2d_2_660"/>
          <p:cNvSpPr txBox="1"/>
          <p:nvPr/>
        </p:nvSpPr>
        <p:spPr>
          <a:xfrm>
            <a:off x="609600" y="1600200"/>
            <a:ext cx="10972800" cy="22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indent="-342900">
              <a:buClr>
                <a:schemeClr val="tx1">
                  <a:lumMod val="95000"/>
                </a:schemeClr>
              </a:buClr>
              <a:buSzPts val="3200"/>
              <a:buFont typeface="Arial"/>
              <a:buChar char="•"/>
            </a:pPr>
            <a:r>
              <a:rPr lang="en-US" sz="32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A recursive algorithm </a:t>
            </a: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will try e</a:t>
            </a:r>
            <a:r>
              <a:rPr lang="en-US" sz="3200">
                <a:latin typeface="Calibri"/>
                <a:ea typeface="Calibri"/>
                <a:cs typeface="Calibri"/>
                <a:sym typeface="Calibri"/>
              </a:rPr>
              <a:t>very single possibility recursively</a:t>
            </a:r>
            <a:endParaRPr lang="en-US" sz="2800">
              <a:latin typeface="Calibri"/>
              <a:ea typeface="Calibri"/>
              <a:cs typeface="Calibri"/>
              <a:sym typeface="Calibri"/>
            </a:endParaRPr>
          </a:p>
          <a:p>
            <a:pPr marL="800100" lvl="1" indent="-342900">
              <a:buClr>
                <a:srgbClr val="F2F2F2"/>
              </a:buClr>
              <a:buSzPts val="3200"/>
              <a:buFont typeface="Arial"/>
              <a:buChar char="•"/>
            </a:pPr>
            <a:r>
              <a:rPr lang="en-US" sz="2800">
                <a:latin typeface="Calibri"/>
                <a:ea typeface="Calibri"/>
                <a:cs typeface="Calibri"/>
                <a:sym typeface="Calibri"/>
              </a:rPr>
              <a:t>Running times can be exponential (for some recursive algorithms)</a:t>
            </a:r>
            <a:endParaRPr lang="en-US" sz="2800">
              <a:latin typeface="Calibri"/>
              <a:ea typeface="Calibri"/>
              <a:cs typeface="Calibri"/>
            </a:endParaRPr>
          </a:p>
          <a:p>
            <a:pPr marL="800100" marR="0" lvl="1" indent="-342900" algn="l"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3200"/>
              <a:buFont typeface="Calibri"/>
              <a:buChar char="–"/>
            </a:pPr>
            <a:r>
              <a:rPr lang="en-US" sz="2800">
                <a:latin typeface="Calibri"/>
                <a:ea typeface="Calibri"/>
                <a:cs typeface="Calibri"/>
                <a:sym typeface="Calibri"/>
              </a:rPr>
              <a:t>But produces a better solution that greedy, just </a:t>
            </a:r>
            <a:r>
              <a:rPr lang="en-US" sz="2800" err="1">
                <a:latin typeface="Calibri"/>
                <a:ea typeface="Calibri"/>
                <a:cs typeface="Calibri"/>
                <a:sym typeface="Calibri"/>
              </a:rPr>
              <a:t>sloooooooooow</a:t>
            </a:r>
            <a:endParaRPr sz="2800">
              <a:latin typeface="Calibri"/>
              <a:ea typeface="Calibri"/>
              <a:cs typeface="Calibri"/>
            </a:endParaRPr>
          </a:p>
          <a:p>
            <a:pPr marL="1143000" marR="0" lvl="2" indent="-762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latin typeface="Calibri"/>
              <a:ea typeface="Calibri"/>
              <a:cs typeface="Calibri"/>
            </a:endParaRPr>
          </a:p>
        </p:txBody>
      </p:sp>
      <p:pic>
        <p:nvPicPr>
          <p:cNvPr id="493" name="Google Shape;493;g2f606204d2d_2_660" descr="Image result for log"/>
          <p:cNvPicPr preferRelativeResize="0"/>
          <p:nvPr/>
        </p:nvPicPr>
        <p:blipFill rotWithShape="1">
          <a:blip r:embed="rId3">
            <a:alphaModFix/>
          </a:blip>
          <a:srcRect l="38121" r="37587"/>
          <a:stretch/>
        </p:blipFill>
        <p:spPr>
          <a:xfrm rot="5400000">
            <a:off x="4537042" y="3621007"/>
            <a:ext cx="831915" cy="34248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2f606204d2d_2_906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Helvetica Neue Light"/>
              <a:buNone/>
            </a:pPr>
            <a:r>
              <a:rPr lang="en-US"/>
              <a:t>Dynamic Programming</a:t>
            </a:r>
            <a:endParaRPr/>
          </a:p>
        </p:txBody>
      </p:sp>
      <p:sp>
        <p:nvSpPr>
          <p:cNvPr id="500" name="Google Shape;500;g2f606204d2d_2_906"/>
          <p:cNvSpPr txBox="1"/>
          <p:nvPr/>
        </p:nvSpPr>
        <p:spPr>
          <a:xfrm>
            <a:off x="6758334" y="4918309"/>
            <a:ext cx="2297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Greedy:	Lengths: 3, 3</a:t>
            </a:r>
            <a:endParaRPr>
              <a:solidFill>
                <a:schemeClr val="accent5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	Profit: 52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501" name="Google Shape;501;g2f606204d2d_2_906"/>
          <p:cNvSpPr txBox="1"/>
          <p:nvPr/>
        </p:nvSpPr>
        <p:spPr>
          <a:xfrm>
            <a:off x="6758324" y="5732025"/>
            <a:ext cx="2619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Better:	Lengths: 2, 2, 2</a:t>
            </a:r>
            <a:endParaRPr>
              <a:solidFill>
                <a:schemeClr val="accent4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	Profit: 54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502" name="Google Shape;502;g2f606204d2d_2_906"/>
          <p:cNvSpPr/>
          <p:nvPr/>
        </p:nvSpPr>
        <p:spPr>
          <a:xfrm>
            <a:off x="3352800" y="50021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503" name="Google Shape;503;g2f606204d2d_2_906"/>
          <p:cNvSpPr/>
          <p:nvPr/>
        </p:nvSpPr>
        <p:spPr>
          <a:xfrm>
            <a:off x="3886200" y="50021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/>
          </a:p>
        </p:txBody>
      </p:sp>
      <p:sp>
        <p:nvSpPr>
          <p:cNvPr id="504" name="Google Shape;504;g2f606204d2d_2_906"/>
          <p:cNvSpPr/>
          <p:nvPr/>
        </p:nvSpPr>
        <p:spPr>
          <a:xfrm>
            <a:off x="4419600" y="50021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26</a:t>
            </a:r>
            <a:endParaRPr/>
          </a:p>
        </p:txBody>
      </p:sp>
      <p:sp>
        <p:nvSpPr>
          <p:cNvPr id="505" name="Google Shape;505;g2f606204d2d_2_906"/>
          <p:cNvSpPr/>
          <p:nvPr/>
        </p:nvSpPr>
        <p:spPr>
          <a:xfrm>
            <a:off x="4953000" y="50021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30</a:t>
            </a:r>
            <a:endParaRPr/>
          </a:p>
        </p:txBody>
      </p:sp>
      <p:sp>
        <p:nvSpPr>
          <p:cNvPr id="506" name="Google Shape;506;g2f606204d2d_2_906"/>
          <p:cNvSpPr/>
          <p:nvPr/>
        </p:nvSpPr>
        <p:spPr>
          <a:xfrm>
            <a:off x="5486400" y="50021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48</a:t>
            </a:r>
            <a:endParaRPr/>
          </a:p>
        </p:txBody>
      </p:sp>
      <p:sp>
        <p:nvSpPr>
          <p:cNvPr id="507" name="Google Shape;507;g2f606204d2d_2_906"/>
          <p:cNvSpPr txBox="1"/>
          <p:nvPr/>
        </p:nvSpPr>
        <p:spPr>
          <a:xfrm>
            <a:off x="5602257" y="55355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508" name="Google Shape;508;g2f606204d2d_2_906"/>
          <p:cNvSpPr txBox="1"/>
          <p:nvPr/>
        </p:nvSpPr>
        <p:spPr>
          <a:xfrm>
            <a:off x="5068857" y="55355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509" name="Google Shape;509;g2f606204d2d_2_906"/>
          <p:cNvSpPr txBox="1"/>
          <p:nvPr/>
        </p:nvSpPr>
        <p:spPr>
          <a:xfrm>
            <a:off x="4535457" y="5524201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510" name="Google Shape;510;g2f606204d2d_2_906"/>
          <p:cNvSpPr txBox="1"/>
          <p:nvPr/>
        </p:nvSpPr>
        <p:spPr>
          <a:xfrm>
            <a:off x="4002057" y="55355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511" name="Google Shape;511;g2f606204d2d_2_906"/>
          <p:cNvSpPr txBox="1"/>
          <p:nvPr/>
        </p:nvSpPr>
        <p:spPr>
          <a:xfrm>
            <a:off x="3468657" y="5540123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512" name="Google Shape;512;g2f606204d2d_2_906"/>
          <p:cNvSpPr txBox="1"/>
          <p:nvPr/>
        </p:nvSpPr>
        <p:spPr>
          <a:xfrm>
            <a:off x="2466276" y="5547368"/>
            <a:ext cx="886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Length: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513" name="Google Shape;513;g2f606204d2d_2_906"/>
          <p:cNvSpPr txBox="1"/>
          <p:nvPr/>
        </p:nvSpPr>
        <p:spPr>
          <a:xfrm>
            <a:off x="2429881" y="5084208"/>
            <a:ext cx="712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Price:</a:t>
            </a:r>
            <a:endParaRPr/>
          </a:p>
        </p:txBody>
      </p:sp>
      <p:sp>
        <p:nvSpPr>
          <p:cNvPr id="514" name="Google Shape;514;g2f606204d2d_2_906"/>
          <p:cNvSpPr/>
          <p:nvPr/>
        </p:nvSpPr>
        <p:spPr>
          <a:xfrm>
            <a:off x="6019800" y="50021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50</a:t>
            </a:r>
            <a:endParaRPr/>
          </a:p>
        </p:txBody>
      </p:sp>
      <p:sp>
        <p:nvSpPr>
          <p:cNvPr id="515" name="Google Shape;515;g2f606204d2d_2_906"/>
          <p:cNvSpPr txBox="1"/>
          <p:nvPr/>
        </p:nvSpPr>
        <p:spPr>
          <a:xfrm>
            <a:off x="6135657" y="55355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516" name="Google Shape;516;g2f606204d2d_2_906"/>
          <p:cNvSpPr txBox="1"/>
          <p:nvPr/>
        </p:nvSpPr>
        <p:spPr>
          <a:xfrm>
            <a:off x="609600" y="1600200"/>
            <a:ext cx="10972800" cy="302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Arial"/>
              <a:buChar char="•"/>
            </a:pPr>
            <a:r>
              <a:rPr lang="en-US" sz="32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Dynamic programming (DP) </a:t>
            </a: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is like recursion, but it saves previously computed answers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Calibri"/>
              <a:buChar char="•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DP Fibonacci (1, 1, 2, 3, 5, 8, 13, …) where </a:t>
            </a:r>
            <a:r>
              <a:rPr lang="en-US" sz="3200" i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F(n)=F(n-1)+F(n-2)</a:t>
            </a:r>
            <a:endParaRPr sz="3200" i="1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marR="0" lvl="1" indent="-431800" algn="l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Calibri"/>
              <a:buChar char="–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Recursive Fibonacci runs in exponential time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marR="0" lvl="1" indent="-431800" algn="l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Calibri"/>
              <a:buChar char="–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Dynamic programming Fibonacci runs linear time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marR="0" lvl="1" indent="-431800" algn="l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Calibri"/>
              <a:buChar char="–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(Formulaic Fibonacci runs in constant time) 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17" name="Google Shape;517;g2f606204d2d_2_906" descr="Image result for log"/>
          <p:cNvPicPr preferRelativeResize="0"/>
          <p:nvPr/>
        </p:nvPicPr>
        <p:blipFill rotWithShape="1">
          <a:blip r:embed="rId3">
            <a:alphaModFix/>
          </a:blip>
          <a:srcRect l="38121" r="37587"/>
          <a:stretch/>
        </p:blipFill>
        <p:spPr>
          <a:xfrm rot="5400000">
            <a:off x="4537042" y="4611607"/>
            <a:ext cx="831915" cy="34248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2f606204d2d_2_1074"/>
          <p:cNvSpPr txBox="1"/>
          <p:nvPr/>
        </p:nvSpPr>
        <p:spPr>
          <a:xfrm>
            <a:off x="1854602" y="2286001"/>
            <a:ext cx="85485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523" name="Google Shape;523;g2f606204d2d_2_1074"/>
          <p:cNvSpPr txBox="1">
            <a:spLocks noGrp="1"/>
          </p:cNvSpPr>
          <p:nvPr>
            <p:ph type="title"/>
          </p:nvPr>
        </p:nvSpPr>
        <p:spPr>
          <a:xfrm>
            <a:off x="0" y="149041"/>
            <a:ext cx="12192000" cy="914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Problem 3: Closest Pair of Points</a:t>
            </a:r>
            <a:endParaRPr/>
          </a:p>
        </p:txBody>
      </p:sp>
      <p:sp>
        <p:nvSpPr>
          <p:cNvPr id="524" name="Google Shape;524;g2f606204d2d_2_1074"/>
          <p:cNvSpPr txBox="1"/>
          <p:nvPr/>
        </p:nvSpPr>
        <p:spPr>
          <a:xfrm>
            <a:off x="631521" y="1193172"/>
            <a:ext cx="3660000" cy="496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431800" algn="just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Calibri"/>
              <a:buChar char="•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ATC (Air Traffic Control) wants to monitor planes that are too close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431800" algn="just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Calibri"/>
              <a:buChar char="•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We can do this by finding the two closest planes (points) in the airspace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25" name="Google Shape;525;g2f606204d2d_2_10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44685" y="1548203"/>
            <a:ext cx="7518001" cy="4228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g2f606204d2d_2_961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Closest Pair of Points</a:t>
            </a:r>
            <a:endParaRPr/>
          </a:p>
        </p:txBody>
      </p:sp>
      <p:sp>
        <p:nvSpPr>
          <p:cNvPr id="532" name="Google Shape;532;g2f606204d2d_2_961"/>
          <p:cNvSpPr/>
          <p:nvPr/>
        </p:nvSpPr>
        <p:spPr>
          <a:xfrm>
            <a:off x="6096000" y="1354801"/>
            <a:ext cx="5181600" cy="5181600"/>
          </a:xfrm>
          <a:prstGeom prst="rect">
            <a:avLst/>
          </a:prstGeom>
          <a:noFill/>
          <a:ln w="12700" cap="flat" cmpd="sng">
            <a:solidFill>
              <a:schemeClr val="tx1">
                <a:lumMod val="9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g2f606204d2d_2_961"/>
          <p:cNvSpPr/>
          <p:nvPr/>
        </p:nvSpPr>
        <p:spPr>
          <a:xfrm>
            <a:off x="6590070" y="1659601"/>
            <a:ext cx="304800" cy="304800"/>
          </a:xfrm>
          <a:prstGeom prst="ellipse">
            <a:avLst/>
          </a:prstGeom>
          <a:solidFill>
            <a:srgbClr val="FFCC66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534" name="Google Shape;534;g2f606204d2d_2_961"/>
          <p:cNvSpPr/>
          <p:nvPr/>
        </p:nvSpPr>
        <p:spPr>
          <a:xfrm>
            <a:off x="9372600" y="1507201"/>
            <a:ext cx="304800" cy="304800"/>
          </a:xfrm>
          <a:prstGeom prst="ellipse">
            <a:avLst/>
          </a:prstGeom>
          <a:solidFill>
            <a:srgbClr val="FFCC66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535" name="Google Shape;535;g2f606204d2d_2_961"/>
          <p:cNvSpPr/>
          <p:nvPr/>
        </p:nvSpPr>
        <p:spPr>
          <a:xfrm>
            <a:off x="6693309" y="5440105"/>
            <a:ext cx="304800" cy="304800"/>
          </a:xfrm>
          <a:prstGeom prst="ellipse">
            <a:avLst/>
          </a:prstGeom>
          <a:solidFill>
            <a:srgbClr val="FFCC66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536" name="Google Shape;536;g2f606204d2d_2_961"/>
          <p:cNvSpPr/>
          <p:nvPr/>
        </p:nvSpPr>
        <p:spPr>
          <a:xfrm>
            <a:off x="10439400" y="2989413"/>
            <a:ext cx="304800" cy="304800"/>
          </a:xfrm>
          <a:prstGeom prst="ellipse">
            <a:avLst/>
          </a:prstGeom>
          <a:solidFill>
            <a:srgbClr val="FFCC66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537" name="Google Shape;537;g2f606204d2d_2_961"/>
          <p:cNvSpPr/>
          <p:nvPr/>
        </p:nvSpPr>
        <p:spPr>
          <a:xfrm>
            <a:off x="7266039" y="2650201"/>
            <a:ext cx="304800" cy="304800"/>
          </a:xfrm>
          <a:prstGeom prst="ellipse">
            <a:avLst/>
          </a:prstGeom>
          <a:solidFill>
            <a:srgbClr val="FFCC66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538" name="Google Shape;538;g2f606204d2d_2_961"/>
          <p:cNvSpPr/>
          <p:nvPr/>
        </p:nvSpPr>
        <p:spPr>
          <a:xfrm>
            <a:off x="8817077" y="3294213"/>
            <a:ext cx="304800" cy="304800"/>
          </a:xfrm>
          <a:prstGeom prst="ellipse">
            <a:avLst/>
          </a:prstGeom>
          <a:solidFill>
            <a:srgbClr val="FFCC66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  <p:sp>
        <p:nvSpPr>
          <p:cNvPr id="539" name="Google Shape;539;g2f606204d2d_2_961"/>
          <p:cNvSpPr/>
          <p:nvPr/>
        </p:nvSpPr>
        <p:spPr>
          <a:xfrm>
            <a:off x="7855973" y="4712517"/>
            <a:ext cx="304800" cy="304800"/>
          </a:xfrm>
          <a:prstGeom prst="ellipse">
            <a:avLst/>
          </a:prstGeom>
          <a:solidFill>
            <a:srgbClr val="FFCC66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/>
          </a:p>
        </p:txBody>
      </p:sp>
      <p:sp>
        <p:nvSpPr>
          <p:cNvPr id="540" name="Google Shape;540;g2f606204d2d_2_961"/>
          <p:cNvSpPr/>
          <p:nvPr/>
        </p:nvSpPr>
        <p:spPr>
          <a:xfrm>
            <a:off x="9372600" y="5744905"/>
            <a:ext cx="304800" cy="304800"/>
          </a:xfrm>
          <a:prstGeom prst="ellipse">
            <a:avLst/>
          </a:prstGeom>
          <a:solidFill>
            <a:srgbClr val="FFCC66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  <p:sp>
        <p:nvSpPr>
          <p:cNvPr id="541" name="Google Shape;541;g2f606204d2d_2_961"/>
          <p:cNvSpPr txBox="1"/>
          <p:nvPr/>
        </p:nvSpPr>
        <p:spPr>
          <a:xfrm>
            <a:off x="1189665" y="1659601"/>
            <a:ext cx="4659300" cy="3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Given: </a:t>
            </a:r>
            <a:r>
              <a:rPr lang="en-US" sz="2800" b="0" i="0" u="none" strike="noStrike" cap="non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 list of points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Return: 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The pair of points with smallest distance apart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Naive algorithm: consider all possible pairs of points: </a:t>
            </a:r>
            <a:r>
              <a:rPr lang="en-US" sz="2800" err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Θ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-US" sz="2800" i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</a:t>
            </a:r>
            <a:r>
              <a:rPr lang="en-US" sz="2800" baseline="300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That’s slow; can we do better?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g2f606204d2d_2_976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94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Closest Pair of Points: Divide and Conquer</a:t>
            </a: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0369B1A-6364-850A-565B-8F2D1D3547BE}"/>
              </a:ext>
            </a:extLst>
          </p:cNvPr>
          <p:cNvGrpSpPr/>
          <p:nvPr/>
        </p:nvGrpSpPr>
        <p:grpSpPr>
          <a:xfrm>
            <a:off x="5971953" y="1178843"/>
            <a:ext cx="5181684" cy="5186515"/>
            <a:chOff x="5334000" y="1519085"/>
            <a:chExt cx="5181684" cy="5186515"/>
          </a:xfrm>
        </p:grpSpPr>
        <p:sp>
          <p:nvSpPr>
            <p:cNvPr id="548" name="Google Shape;548;g2f606204d2d_2_976"/>
            <p:cNvSpPr/>
            <p:nvPr/>
          </p:nvSpPr>
          <p:spPr>
            <a:xfrm>
              <a:off x="7696200" y="1524000"/>
              <a:ext cx="2819400" cy="5181600"/>
            </a:xfrm>
            <a:prstGeom prst="rect">
              <a:avLst/>
            </a:prstGeom>
            <a:noFill/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9" name="Google Shape;549;g2f606204d2d_2_976"/>
            <p:cNvSpPr/>
            <p:nvPr/>
          </p:nvSpPr>
          <p:spPr>
            <a:xfrm>
              <a:off x="5828070" y="1828800"/>
              <a:ext cx="304800" cy="304800"/>
            </a:xfrm>
            <a:prstGeom prst="ellipse">
              <a:avLst/>
            </a:prstGeom>
            <a:solidFill>
              <a:srgbClr val="FFCC66"/>
            </a:solidFill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sp>
          <p:nvSpPr>
            <p:cNvPr id="550" name="Google Shape;550;g2f606204d2d_2_976"/>
            <p:cNvSpPr/>
            <p:nvPr/>
          </p:nvSpPr>
          <p:spPr>
            <a:xfrm>
              <a:off x="8610600" y="1676400"/>
              <a:ext cx="304800" cy="304800"/>
            </a:xfrm>
            <a:prstGeom prst="ellipse">
              <a:avLst/>
            </a:prstGeom>
            <a:solidFill>
              <a:srgbClr val="FFCC66"/>
            </a:solidFill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551" name="Google Shape;551;g2f606204d2d_2_976"/>
            <p:cNvSpPr/>
            <p:nvPr/>
          </p:nvSpPr>
          <p:spPr>
            <a:xfrm>
              <a:off x="5931309" y="5609304"/>
              <a:ext cx="304800" cy="304800"/>
            </a:xfrm>
            <a:prstGeom prst="ellipse">
              <a:avLst/>
            </a:prstGeom>
            <a:solidFill>
              <a:srgbClr val="FFCC66"/>
            </a:solidFill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552" name="Google Shape;552;g2f606204d2d_2_976"/>
            <p:cNvSpPr/>
            <p:nvPr/>
          </p:nvSpPr>
          <p:spPr>
            <a:xfrm>
              <a:off x="9677400" y="3158612"/>
              <a:ext cx="304800" cy="304800"/>
            </a:xfrm>
            <a:prstGeom prst="ellipse">
              <a:avLst/>
            </a:prstGeom>
            <a:solidFill>
              <a:srgbClr val="FFCC66"/>
            </a:solidFill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</p:txBody>
        </p:sp>
        <p:sp>
          <p:nvSpPr>
            <p:cNvPr id="553" name="Google Shape;553;g2f606204d2d_2_976"/>
            <p:cNvSpPr/>
            <p:nvPr/>
          </p:nvSpPr>
          <p:spPr>
            <a:xfrm>
              <a:off x="6504039" y="2819400"/>
              <a:ext cx="304800" cy="304800"/>
            </a:xfrm>
            <a:prstGeom prst="ellipse">
              <a:avLst/>
            </a:prstGeom>
            <a:solidFill>
              <a:srgbClr val="FFCC66"/>
            </a:solidFill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554" name="Google Shape;554;g2f606204d2d_2_976"/>
            <p:cNvSpPr/>
            <p:nvPr/>
          </p:nvSpPr>
          <p:spPr>
            <a:xfrm>
              <a:off x="8055077" y="3463412"/>
              <a:ext cx="304800" cy="304800"/>
            </a:xfrm>
            <a:prstGeom prst="ellipse">
              <a:avLst/>
            </a:prstGeom>
            <a:solidFill>
              <a:srgbClr val="FFCC66"/>
            </a:solidFill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/>
            </a:p>
          </p:txBody>
        </p:sp>
        <p:sp>
          <p:nvSpPr>
            <p:cNvPr id="555" name="Google Shape;555;g2f606204d2d_2_976"/>
            <p:cNvSpPr/>
            <p:nvPr/>
          </p:nvSpPr>
          <p:spPr>
            <a:xfrm>
              <a:off x="7093973" y="4881716"/>
              <a:ext cx="304800" cy="304800"/>
            </a:xfrm>
            <a:prstGeom prst="ellipse">
              <a:avLst/>
            </a:prstGeom>
            <a:solidFill>
              <a:srgbClr val="FFCC66"/>
            </a:solidFill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/>
            </a:p>
          </p:txBody>
        </p:sp>
        <p:sp>
          <p:nvSpPr>
            <p:cNvPr id="556" name="Google Shape;556;g2f606204d2d_2_976"/>
            <p:cNvSpPr/>
            <p:nvPr/>
          </p:nvSpPr>
          <p:spPr>
            <a:xfrm>
              <a:off x="8610600" y="5914104"/>
              <a:ext cx="304800" cy="304800"/>
            </a:xfrm>
            <a:prstGeom prst="ellipse">
              <a:avLst/>
            </a:prstGeom>
            <a:solidFill>
              <a:srgbClr val="FFCC66"/>
            </a:solidFill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/>
            </a:p>
          </p:txBody>
        </p:sp>
        <p:sp>
          <p:nvSpPr>
            <p:cNvPr id="557" name="Google Shape;557;g2f606204d2d_2_976"/>
            <p:cNvSpPr/>
            <p:nvPr/>
          </p:nvSpPr>
          <p:spPr>
            <a:xfrm>
              <a:off x="5334000" y="1519085"/>
              <a:ext cx="2209800" cy="5181600"/>
            </a:xfrm>
            <a:prstGeom prst="rect">
              <a:avLst/>
            </a:prstGeom>
            <a:noFill/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8" name="Google Shape;558;g2f606204d2d_2_976"/>
            <p:cNvSpPr txBox="1"/>
            <p:nvPr/>
          </p:nvSpPr>
          <p:spPr>
            <a:xfrm>
              <a:off x="5334000" y="6336268"/>
              <a:ext cx="11184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err="1">
                  <a:solidFill>
                    <a:schemeClr val="tx1">
                      <a:lumMod val="95000"/>
                    </a:schemeClr>
                  </a:solidFill>
                  <a:latin typeface="Calibri"/>
                  <a:ea typeface="Calibri"/>
                  <a:cs typeface="Calibri"/>
                  <a:sym typeface="Calibri"/>
                </a:rPr>
                <a:t>LeftPoints</a:t>
              </a:r>
              <a:endParaRPr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9" name="Google Shape;559;g2f606204d2d_2_976"/>
            <p:cNvSpPr txBox="1"/>
            <p:nvPr/>
          </p:nvSpPr>
          <p:spPr>
            <a:xfrm>
              <a:off x="9272184" y="6336268"/>
              <a:ext cx="12435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err="1">
                  <a:solidFill>
                    <a:schemeClr val="tx1">
                      <a:lumMod val="95000"/>
                    </a:schemeClr>
                  </a:solidFill>
                  <a:latin typeface="Calibri"/>
                  <a:ea typeface="Calibri"/>
                  <a:cs typeface="Calibri"/>
                  <a:sym typeface="Calibri"/>
                </a:rPr>
                <a:t>RightPoints</a:t>
              </a:r>
              <a:endParaRPr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0" name="Google Shape;560;g2f606204d2d_2_976"/>
            <p:cNvSpPr/>
            <p:nvPr/>
          </p:nvSpPr>
          <p:spPr>
            <a:xfrm rot="-1914972">
              <a:off x="5889986" y="1546813"/>
              <a:ext cx="919274" cy="1904468"/>
            </a:xfrm>
            <a:prstGeom prst="ellipse">
              <a:avLst/>
            </a:prstGeom>
            <a:noFill/>
            <a:ln w="127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1" name="Google Shape;561;g2f606204d2d_2_976"/>
            <p:cNvSpPr/>
            <p:nvPr/>
          </p:nvSpPr>
          <p:spPr>
            <a:xfrm rot="-6016498">
              <a:off x="8664372" y="2322776"/>
              <a:ext cx="771980" cy="2302819"/>
            </a:xfrm>
            <a:prstGeom prst="ellipse">
              <a:avLst/>
            </a:prstGeom>
            <a:noFill/>
            <a:ln w="127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2" name="Google Shape;562;g2f606204d2d_2_976"/>
            <p:cNvSpPr/>
            <p:nvPr/>
          </p:nvSpPr>
          <p:spPr>
            <a:xfrm rot="-3369489">
              <a:off x="7636663" y="4353165"/>
              <a:ext cx="816660" cy="2402138"/>
            </a:xfrm>
            <a:prstGeom prst="ellipse">
              <a:avLst/>
            </a:prstGeom>
            <a:noFill/>
            <a:ln w="1270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3" name="Google Shape;563;g2f606204d2d_2_976"/>
            <p:cNvSpPr txBox="1"/>
            <p:nvPr/>
          </p:nvSpPr>
          <p:spPr>
            <a:xfrm>
              <a:off x="7810338" y="5292602"/>
              <a:ext cx="469200" cy="5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?</a:t>
              </a:r>
              <a:endParaRPr>
                <a:solidFill>
                  <a:schemeClr val="accent1"/>
                </a:solidFill>
              </a:endParaRPr>
            </a:p>
          </p:txBody>
        </p:sp>
      </p:grpSp>
      <p:sp>
        <p:nvSpPr>
          <p:cNvPr id="564" name="Google Shape;564;g2f606204d2d_2_976"/>
          <p:cNvSpPr txBox="1"/>
          <p:nvPr/>
        </p:nvSpPr>
        <p:spPr>
          <a:xfrm>
            <a:off x="1521796" y="1323271"/>
            <a:ext cx="4659300" cy="483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Basic idea: split the area into halves, and then repeat (recurse) on the halves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When recombining, only consider the points “close” to the split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Running time: </a:t>
            </a:r>
            <a:r>
              <a:rPr lang="en-US" sz="2800" err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Θ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-US" sz="2800" i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 log </a:t>
            </a:r>
            <a:r>
              <a:rPr lang="en-US" sz="2800" i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(Similar to </a:t>
            </a:r>
            <a:r>
              <a:rPr lang="en-US" sz="2800" err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mergesort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g2f652350f26_0_0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Problem 4: Reductions</a:t>
            </a:r>
            <a:endParaRPr/>
          </a:p>
        </p:txBody>
      </p:sp>
      <p:sp>
        <p:nvSpPr>
          <p:cNvPr id="571" name="Google Shape;571;g2f652350f26_0_0"/>
          <p:cNvSpPr txBox="1">
            <a:spLocks noGrp="1"/>
          </p:cNvSpPr>
          <p:nvPr>
            <p:ph type="body" idx="1"/>
          </p:nvPr>
        </p:nvSpPr>
        <p:spPr>
          <a:xfrm>
            <a:off x="880726" y="1415807"/>
            <a:ext cx="5183100" cy="4956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Imagine we have a “black box” solution for a problem </a:t>
            </a:r>
            <a:r>
              <a:rPr lang="en-US" b="1" i="1"/>
              <a:t>A</a:t>
            </a:r>
            <a:endParaRPr b="1" i="1"/>
          </a:p>
          <a:p>
            <a:pPr marL="457200" lvl="0" indent="-406400" algn="just" rtl="0">
              <a:spcBef>
                <a:spcPts val="1000"/>
              </a:spcBef>
              <a:spcAft>
                <a:spcPts val="0"/>
              </a:spcAft>
              <a:buSzPts val="2800"/>
              <a:buChar char="●"/>
            </a:pPr>
            <a:r>
              <a:rPr lang="en-US"/>
              <a:t>A library routine in a programming language</a:t>
            </a: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endParaRPr sz="1400"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How can we adapt that to solve a similar problem </a:t>
            </a:r>
            <a:r>
              <a:rPr lang="en-US" b="1" i="1"/>
              <a:t>B</a:t>
            </a:r>
            <a:r>
              <a:rPr lang="en-US"/>
              <a:t>?</a:t>
            </a: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endParaRPr sz="1400"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This is called a </a:t>
            </a:r>
            <a:r>
              <a:rPr lang="en-US" i="1"/>
              <a:t>reduction</a:t>
            </a:r>
            <a:endParaRPr i="1"/>
          </a:p>
          <a:p>
            <a:pPr marL="457200" lvl="0" indent="-406400" algn="just" rtl="0">
              <a:spcBef>
                <a:spcPts val="1000"/>
              </a:spcBef>
              <a:spcAft>
                <a:spcPts val="0"/>
              </a:spcAft>
              <a:buSzPts val="2800"/>
              <a:buChar char="●"/>
            </a:pPr>
            <a:r>
              <a:rPr lang="en-US"/>
              <a:t>Converting one problem to another one to use an existing solution</a:t>
            </a:r>
            <a:endParaRPr/>
          </a:p>
        </p:txBody>
      </p:sp>
      <p:pic>
        <p:nvPicPr>
          <p:cNvPr id="573" name="Google Shape;573;g2f652350f26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23267" y="1365631"/>
            <a:ext cx="5297208" cy="5056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f652350f26_0_33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Semester topics</a:t>
            </a:r>
            <a:endParaRPr/>
          </a:p>
        </p:txBody>
      </p:sp>
      <p:sp>
        <p:nvSpPr>
          <p:cNvPr id="580" name="Google Shape;580;g2f652350f26_0_33"/>
          <p:cNvSpPr txBox="1">
            <a:spLocks noGrp="1"/>
          </p:cNvSpPr>
          <p:nvPr>
            <p:ph type="body" idx="1"/>
          </p:nvPr>
        </p:nvSpPr>
        <p:spPr>
          <a:xfrm>
            <a:off x="2097272" y="1745418"/>
            <a:ext cx="7997456" cy="3740981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We’ve seen examples of the five modules this semester:</a:t>
            </a:r>
            <a:endParaRPr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457200" lvl="0" indent="-406400" algn="l" rtl="0">
              <a:spcBef>
                <a:spcPts val="1000"/>
              </a:spcBef>
              <a:spcAft>
                <a:spcPts val="0"/>
              </a:spcAft>
              <a:buSzPts val="2800"/>
              <a:buAutoNum type="arabicPeriod"/>
            </a:pPr>
            <a:r>
              <a:rPr lang="en-US"/>
              <a:t>Graphs (shortest path, Internet routing)</a:t>
            </a:r>
            <a:endParaRPr/>
          </a:p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en-US"/>
              <a:t>Divide &amp; conquer (closest pair of points, </a:t>
            </a:r>
            <a:r>
              <a:rPr lang="en-US" err="1"/>
              <a:t>mergesort</a:t>
            </a:r>
            <a:r>
              <a:rPr lang="en-US"/>
              <a:t>)</a:t>
            </a:r>
            <a:endParaRPr/>
          </a:p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en-US"/>
              <a:t>Greedy (shortest path, first take at log cutting)</a:t>
            </a:r>
            <a:endParaRPr/>
          </a:p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en-US"/>
              <a:t>Dynamic programming (better log cutting solution, Fibonacci)</a:t>
            </a:r>
            <a:endParaRPr/>
          </a:p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en-US"/>
              <a:t>Reductions</a:t>
            </a:r>
            <a:endParaRPr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42"/>
          <p:cNvSpPr txBox="1">
            <a:spLocks noGrp="1"/>
          </p:cNvSpPr>
          <p:nvPr>
            <p:ph type="title"/>
          </p:nvPr>
        </p:nvSpPr>
        <p:spPr>
          <a:xfrm>
            <a:off x="0" y="3064476"/>
            <a:ext cx="12192000" cy="1778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alibri"/>
              <a:buNone/>
            </a:pPr>
            <a:r>
              <a:rPr lang="en-US"/>
              <a:t>Next Steps</a:t>
            </a:r>
            <a:endParaRPr/>
          </a:p>
        </p:txBody>
      </p:sp>
      <p:sp>
        <p:nvSpPr>
          <p:cNvPr id="587" name="Google Shape;587;p42"/>
          <p:cNvSpPr txBox="1">
            <a:spLocks noGrp="1"/>
          </p:cNvSpPr>
          <p:nvPr>
            <p:ph type="body" idx="1"/>
          </p:nvPr>
        </p:nvSpPr>
        <p:spPr>
          <a:xfrm>
            <a:off x="831850" y="4959178"/>
            <a:ext cx="10515600" cy="113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43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02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Review</a:t>
            </a:r>
            <a:endParaRPr/>
          </a:p>
        </p:txBody>
      </p:sp>
      <p:sp>
        <p:nvSpPr>
          <p:cNvPr id="594" name="Google Shape;594;p43"/>
          <p:cNvSpPr txBox="1">
            <a:spLocks noGrp="1"/>
          </p:cNvSpPr>
          <p:nvPr>
            <p:ph type="body" idx="1"/>
          </p:nvPr>
        </p:nvSpPr>
        <p:spPr>
          <a:xfrm>
            <a:off x="1379574" y="1309484"/>
            <a:ext cx="9432851" cy="4609044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/>
              <a:t>Next class we will:</a:t>
            </a:r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/>
              <a:t>Review how we analyze algorithms, including</a:t>
            </a:r>
            <a:endParaRPr sz="2800"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sz="2400"/>
              <a:t>Asymptotic notation, order classes, worst-case, etc.</a:t>
            </a:r>
            <a:endParaRPr sz="2400"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/>
              <a:t>Remind you how all this works by applying/reviewing it with sorting and searching you did in previous course</a:t>
            </a:r>
            <a:endParaRPr sz="2800"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sz="2400"/>
              <a:t>Sequential search, binary search</a:t>
            </a:r>
            <a:endParaRPr sz="2400"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sz="2400"/>
              <a:t>Sorting: insertion, quicksort, maybe </a:t>
            </a:r>
            <a:r>
              <a:rPr lang="en-US" sz="2400" err="1"/>
              <a:t>mergesort</a:t>
            </a:r>
            <a:endParaRPr sz="2400"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/>
              <a:t>Review and/or introduce proofs from CS 2120</a:t>
            </a:r>
            <a:endParaRPr sz="2800"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sz="2400"/>
              <a:t>Proof by induction</a:t>
            </a:r>
            <a:endParaRPr sz="2400"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sz="2400"/>
              <a:t>Introduce you to how this can be used for proving algorithm correctness</a:t>
            </a:r>
            <a:endParaRPr sz="240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0</TotalTime>
  <Words>3175</Words>
  <Application>Microsoft Macintosh PowerPoint</Application>
  <PresentationFormat>Widescreen</PresentationFormat>
  <Paragraphs>470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1" baseType="lpstr">
      <vt:lpstr>Arial</vt:lpstr>
      <vt:lpstr>Calibri</vt:lpstr>
      <vt:lpstr>Helvetica Neue Light</vt:lpstr>
      <vt:lpstr>Roboto</vt:lpstr>
      <vt:lpstr>Tw Cen MT</vt:lpstr>
      <vt:lpstr>Tw Cen MT</vt:lpstr>
      <vt:lpstr>Circuit</vt:lpstr>
      <vt:lpstr>Data Structures and Algorithms 2  Introduction and Logistics</vt:lpstr>
      <vt:lpstr>PowerPoint Presentation</vt:lpstr>
      <vt:lpstr>PowerPoint Presentation</vt:lpstr>
      <vt:lpstr>PowerPoint Presentation</vt:lpstr>
      <vt:lpstr>A Historic Perspective</vt:lpstr>
      <vt:lpstr>What Is an Algorithm?</vt:lpstr>
      <vt:lpstr>Goals</vt:lpstr>
      <vt:lpstr>Co-Instructors</vt:lpstr>
      <vt:lpstr>Overview of Platforms</vt:lpstr>
      <vt:lpstr>Requirements</vt:lpstr>
      <vt:lpstr>Warning</vt:lpstr>
      <vt:lpstr>“Learning Sources”</vt:lpstr>
      <vt:lpstr>Textbook</vt:lpstr>
      <vt:lpstr>Units and Assignments</vt:lpstr>
      <vt:lpstr>Course Learning Objectives</vt:lpstr>
      <vt:lpstr>Grading Breakdown</vt:lpstr>
      <vt:lpstr>Quizzes</vt:lpstr>
      <vt:lpstr>Problem Sets (PSs)</vt:lpstr>
      <vt:lpstr>Programming Assignment (PAs)</vt:lpstr>
      <vt:lpstr>Extension Policy</vt:lpstr>
      <vt:lpstr>Extension Policy</vt:lpstr>
      <vt:lpstr>PS0 – LaTeX Warmup</vt:lpstr>
      <vt:lpstr>Academic Integrity</vt:lpstr>
      <vt:lpstr>Generative AI Usage</vt:lpstr>
      <vt:lpstr>Generative AI Usage</vt:lpstr>
      <vt:lpstr>Feedback</vt:lpstr>
      <vt:lpstr>Who is your instructor?</vt:lpstr>
      <vt:lpstr>Who is your instructor?</vt:lpstr>
      <vt:lpstr>Motivating problems</vt:lpstr>
      <vt:lpstr>Problem 1: Map routing</vt:lpstr>
      <vt:lpstr>Map routing</vt:lpstr>
      <vt:lpstr>Shortest Path</vt:lpstr>
      <vt:lpstr>Problem 2: Log Cutting</vt:lpstr>
      <vt:lpstr>Log Cutting</vt:lpstr>
      <vt:lpstr>Greedy Algorithm</vt:lpstr>
      <vt:lpstr>Recursive Algorithm</vt:lpstr>
      <vt:lpstr>Dynamic Programming</vt:lpstr>
      <vt:lpstr>Problem 3: Closest Pair of Points</vt:lpstr>
      <vt:lpstr>Closest Pair of Points</vt:lpstr>
      <vt:lpstr>Closest Pair of Points: Divide and Conquer</vt:lpstr>
      <vt:lpstr>Problem 4: Reductions</vt:lpstr>
      <vt:lpstr>Semester topics</vt:lpstr>
      <vt:lpstr>Next Steps</vt:lpstr>
      <vt:lpstr>Review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16</cp:revision>
  <dcterms:created xsi:type="dcterms:W3CDTF">2023-02-24T14:15:53Z</dcterms:created>
  <dcterms:modified xsi:type="dcterms:W3CDTF">2026-01-12T16:44:49Z</dcterms:modified>
</cp:coreProperties>
</file>